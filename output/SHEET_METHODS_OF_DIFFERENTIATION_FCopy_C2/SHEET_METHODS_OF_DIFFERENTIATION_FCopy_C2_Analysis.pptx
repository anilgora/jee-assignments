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lsx" ContentType="application/vnd.openxmlformats-officedocument.spreadsheetml.sheet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charts/chart1.xml" ContentType="application/vnd.openxmlformats-officedocument.drawingml.chart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ppt/notesSlides/notesSlide24.xml" ContentType="application/vnd.openxmlformats-officedocument.presentationml.notesSlide+xml"/>
  <Override PartName="/ppt/notesSlides/notesSlide25.xml" ContentType="application/vnd.openxmlformats-officedocument.presentationml.notesSlide+xml"/>
  <Override PartName="/ppt/notesSlides/notesSlide26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00.xml" ContentType="application/vnd.openxmlformats-officedocument.presentationml.slide+xml"/>
  <Override PartName="/ppt/slides/slide101.xml" ContentType="application/vnd.openxmlformats-officedocument.presentationml.slide+xml"/>
  <Override PartName="/ppt/slides/slide102.xml" ContentType="application/vnd.openxmlformats-officedocument.presentationml.slide+xml"/>
  <Override PartName="/ppt/slides/slide103.xml" ContentType="application/vnd.openxmlformats-officedocument.presentationml.slide+xml"/>
  <Override PartName="/ppt/slides/slide104.xml" ContentType="application/vnd.openxmlformats-officedocument.presentationml.slide+xml"/>
  <Override PartName="/ppt/slides/slide105.xml" ContentType="application/vnd.openxmlformats-officedocument.presentationml.slide+xml"/>
  <Override PartName="/ppt/slides/slide106.xml" ContentType="application/vnd.openxmlformats-officedocument.presentationml.slide+xml"/>
  <Override PartName="/ppt/slides/slide107.xml" ContentType="application/vnd.openxmlformats-officedocument.presentationml.slide+xml"/>
  <Override PartName="/ppt/slides/slide108.xml" ContentType="application/vnd.openxmlformats-officedocument.presentationml.slide+xml"/>
  <Override PartName="/ppt/slides/slide109.xml" ContentType="application/vnd.openxmlformats-officedocument.presentationml.slide+xml"/>
  <Override PartName="/ppt/slides/slide11.xml" ContentType="application/vnd.openxmlformats-officedocument.presentationml.slide+xml"/>
  <Override PartName="/ppt/slides/slide110.xml" ContentType="application/vnd.openxmlformats-officedocument.presentationml.slide+xml"/>
  <Override PartName="/ppt/slides/slide111.xml" ContentType="application/vnd.openxmlformats-officedocument.presentationml.slide+xml"/>
  <Override PartName="/ppt/slides/slide112.xml" ContentType="application/vnd.openxmlformats-officedocument.presentationml.slide+xml"/>
  <Override PartName="/ppt/slides/slide113.xml" ContentType="application/vnd.openxmlformats-officedocument.presentationml.slide+xml"/>
  <Override PartName="/ppt/slides/slide114.xml" ContentType="application/vnd.openxmlformats-officedocument.presentationml.slide+xml"/>
  <Override PartName="/ppt/slides/slide115.xml" ContentType="application/vnd.openxmlformats-officedocument.presentationml.slide+xml"/>
  <Override PartName="/ppt/slides/slide116.xml" ContentType="application/vnd.openxmlformats-officedocument.presentationml.slide+xml"/>
  <Override PartName="/ppt/slides/slide117.xml" ContentType="application/vnd.openxmlformats-officedocument.presentationml.slide+xml"/>
  <Override PartName="/ppt/slides/slide118.xml" ContentType="application/vnd.openxmlformats-officedocument.presentationml.slide+xml"/>
  <Override PartName="/ppt/slides/slide119.xml" ContentType="application/vnd.openxmlformats-officedocument.presentationml.slide+xml"/>
  <Override PartName="/ppt/slides/slide12.xml" ContentType="application/vnd.openxmlformats-officedocument.presentationml.slide+xml"/>
  <Override PartName="/ppt/slides/slide120.xml" ContentType="application/vnd.openxmlformats-officedocument.presentationml.slide+xml"/>
  <Override PartName="/ppt/slides/slide121.xml" ContentType="application/vnd.openxmlformats-officedocument.presentationml.slide+xml"/>
  <Override PartName="/ppt/slides/slide122.xml" ContentType="application/vnd.openxmlformats-officedocument.presentationml.slide+xml"/>
  <Override PartName="/ppt/slides/slide123.xml" ContentType="application/vnd.openxmlformats-officedocument.presentationml.slide+xml"/>
  <Override PartName="/ppt/slides/slide124.xml" ContentType="application/vnd.openxmlformats-officedocument.presentationml.slide+xml"/>
  <Override PartName="/ppt/slides/slide125.xml" ContentType="application/vnd.openxmlformats-officedocument.presentationml.slide+xml"/>
  <Override PartName="/ppt/slides/slide126.xml" ContentType="application/vnd.openxmlformats-officedocument.presentationml.slide+xml"/>
  <Override PartName="/ppt/slides/slide127.xml" ContentType="application/vnd.openxmlformats-officedocument.presentationml.slide+xml"/>
  <Override PartName="/ppt/slides/slide128.xml" ContentType="application/vnd.openxmlformats-officedocument.presentationml.slide+xml"/>
  <Override PartName="/ppt/slides/slide129.xml" ContentType="application/vnd.openxmlformats-officedocument.presentationml.slide+xml"/>
  <Override PartName="/ppt/slides/slide13.xml" ContentType="application/vnd.openxmlformats-officedocument.presentationml.slide+xml"/>
  <Override PartName="/ppt/slides/slide130.xml" ContentType="application/vnd.openxmlformats-officedocument.presentationml.slide+xml"/>
  <Override PartName="/ppt/slides/slide131.xml" ContentType="application/vnd.openxmlformats-officedocument.presentationml.slide+xml"/>
  <Override PartName="/ppt/slides/slide132.xml" ContentType="application/vnd.openxmlformats-officedocument.presentationml.slide+xml"/>
  <Override PartName="/ppt/slides/slide133.xml" ContentType="application/vnd.openxmlformats-officedocument.presentationml.slide+xml"/>
  <Override PartName="/ppt/slides/slide134.xml" ContentType="application/vnd.openxmlformats-officedocument.presentationml.slide+xml"/>
  <Override PartName="/ppt/slides/slide135.xml" ContentType="application/vnd.openxmlformats-officedocument.presentationml.slide+xml"/>
  <Override PartName="/ppt/slides/slide136.xml" ContentType="application/vnd.openxmlformats-officedocument.presentationml.slide+xml"/>
  <Override PartName="/ppt/slides/slide137.xml" ContentType="application/vnd.openxmlformats-officedocument.presentationml.slide+xml"/>
  <Override PartName="/ppt/slides/slide138.xml" ContentType="application/vnd.openxmlformats-officedocument.presentationml.slide+xml"/>
  <Override PartName="/ppt/slides/slide139.xml" ContentType="application/vnd.openxmlformats-officedocument.presentationml.slide+xml"/>
  <Override PartName="/ppt/slides/slide14.xml" ContentType="application/vnd.openxmlformats-officedocument.presentationml.slide+xml"/>
  <Override PartName="/ppt/slides/slide140.xml" ContentType="application/vnd.openxmlformats-officedocument.presentationml.slide+xml"/>
  <Override PartName="/ppt/slides/slide141.xml" ContentType="application/vnd.openxmlformats-officedocument.presentationml.slide+xml"/>
  <Override PartName="/ppt/slides/slide142.xml" ContentType="application/vnd.openxmlformats-officedocument.presentationml.slide+xml"/>
  <Override PartName="/ppt/slides/slide143.xml" ContentType="application/vnd.openxmlformats-officedocument.presentationml.slide+xml"/>
  <Override PartName="/ppt/slides/slide144.xml" ContentType="application/vnd.openxmlformats-officedocument.presentationml.slide+xml"/>
  <Override PartName="/ppt/slides/slide145.xml" ContentType="application/vnd.openxmlformats-officedocument.presentationml.slide+xml"/>
  <Override PartName="/ppt/slides/slide146.xml" ContentType="application/vnd.openxmlformats-officedocument.presentationml.slide+xml"/>
  <Override PartName="/ppt/slides/slide147.xml" ContentType="application/vnd.openxmlformats-officedocument.presentationml.slide+xml"/>
  <Override PartName="/ppt/slides/slide148.xml" ContentType="application/vnd.openxmlformats-officedocument.presentationml.slide+xml"/>
  <Override PartName="/ppt/slides/slide149.xml" ContentType="application/vnd.openxmlformats-officedocument.presentationml.slide+xml"/>
  <Override PartName="/ppt/slides/slide15.xml" ContentType="application/vnd.openxmlformats-officedocument.presentationml.slide+xml"/>
  <Override PartName="/ppt/slides/slide150.xml" ContentType="application/vnd.openxmlformats-officedocument.presentationml.slide+xml"/>
  <Override PartName="/ppt/slides/slide151.xml" ContentType="application/vnd.openxmlformats-officedocument.presentationml.slide+xml"/>
  <Override PartName="/ppt/slides/slide152.xml" ContentType="application/vnd.openxmlformats-officedocument.presentationml.slide+xml"/>
  <Override PartName="/ppt/slides/slide153.xml" ContentType="application/vnd.openxmlformats-officedocument.presentationml.slide+xml"/>
  <Override PartName="/ppt/slides/slide154.xml" ContentType="application/vnd.openxmlformats-officedocument.presentationml.slide+xml"/>
  <Override PartName="/ppt/slides/slide155.xml" ContentType="application/vnd.openxmlformats-officedocument.presentationml.slide+xml"/>
  <Override PartName="/ppt/slides/slide156.xml" ContentType="application/vnd.openxmlformats-officedocument.presentationml.slide+xml"/>
  <Override PartName="/ppt/slides/slide157.xml" ContentType="application/vnd.openxmlformats-officedocument.presentationml.slide+xml"/>
  <Override PartName="/ppt/slides/slide158.xml" ContentType="application/vnd.openxmlformats-officedocument.presentationml.slide+xml"/>
  <Override PartName="/ppt/slides/slide159.xml" ContentType="application/vnd.openxmlformats-officedocument.presentationml.slide+xml"/>
  <Override PartName="/ppt/slides/slide16.xml" ContentType="application/vnd.openxmlformats-officedocument.presentationml.slide+xml"/>
  <Override PartName="/ppt/slides/slide160.xml" ContentType="application/vnd.openxmlformats-officedocument.presentationml.slide+xml"/>
  <Override PartName="/ppt/slides/slide161.xml" ContentType="application/vnd.openxmlformats-officedocument.presentationml.slide+xml"/>
  <Override PartName="/ppt/slides/slide162.xml" ContentType="application/vnd.openxmlformats-officedocument.presentationml.slide+xml"/>
  <Override PartName="/ppt/slides/slide163.xml" ContentType="application/vnd.openxmlformats-officedocument.presentationml.slide+xml"/>
  <Override PartName="/ppt/slides/slide164.xml" ContentType="application/vnd.openxmlformats-officedocument.presentationml.slide+xml"/>
  <Override PartName="/ppt/slides/slide165.xml" ContentType="application/vnd.openxmlformats-officedocument.presentationml.slide+xml"/>
  <Override PartName="/ppt/slides/slide166.xml" ContentType="application/vnd.openxmlformats-officedocument.presentationml.slide+xml"/>
  <Override PartName="/ppt/slides/slide167.xml" ContentType="application/vnd.openxmlformats-officedocument.presentationml.slide+xml"/>
  <Override PartName="/ppt/slides/slide168.xml" ContentType="application/vnd.openxmlformats-officedocument.presentationml.slide+xml"/>
  <Override PartName="/ppt/slides/slide169.xml" ContentType="application/vnd.openxmlformats-officedocument.presentationml.slide+xml"/>
  <Override PartName="/ppt/slides/slide17.xml" ContentType="application/vnd.openxmlformats-officedocument.presentationml.slide+xml"/>
  <Override PartName="/ppt/slides/slide170.xml" ContentType="application/vnd.openxmlformats-officedocument.presentationml.slide+xml"/>
  <Override PartName="/ppt/slides/slide171.xml" ContentType="application/vnd.openxmlformats-officedocument.presentationml.slide+xml"/>
  <Override PartName="/ppt/slides/slide172.xml" ContentType="application/vnd.openxmlformats-officedocument.presentationml.slide+xml"/>
  <Override PartName="/ppt/slides/slide173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slides/slide4.xml" ContentType="application/vnd.openxmlformats-officedocument.presentationml.slide+xml"/>
  <Override PartName="/ppt/slides/slide40.xml" ContentType="application/vnd.openxmlformats-officedocument.presentationml.slide+xml"/>
  <Override PartName="/ppt/slides/slide41.xml" ContentType="application/vnd.openxmlformats-officedocument.presentationml.slide+xml"/>
  <Override PartName="/ppt/slides/slide42.xml" ContentType="application/vnd.openxmlformats-officedocument.presentationml.slide+xml"/>
  <Override PartName="/ppt/slides/slide43.xml" ContentType="application/vnd.openxmlformats-officedocument.presentationml.slide+xml"/>
  <Override PartName="/ppt/slides/slide44.xml" ContentType="application/vnd.openxmlformats-officedocument.presentationml.slide+xml"/>
  <Override PartName="/ppt/slides/slide45.xml" ContentType="application/vnd.openxmlformats-officedocument.presentationml.slide+xml"/>
  <Override PartName="/ppt/slides/slide46.xml" ContentType="application/vnd.openxmlformats-officedocument.presentationml.slide+xml"/>
  <Override PartName="/ppt/slides/slide47.xml" ContentType="application/vnd.openxmlformats-officedocument.presentationml.slide+xml"/>
  <Override PartName="/ppt/slides/slide48.xml" ContentType="application/vnd.openxmlformats-officedocument.presentationml.slide+xml"/>
  <Override PartName="/ppt/slides/slide49.xml" ContentType="application/vnd.openxmlformats-officedocument.presentationml.slide+xml"/>
  <Override PartName="/ppt/slides/slide5.xml" ContentType="application/vnd.openxmlformats-officedocument.presentationml.slide+xml"/>
  <Override PartName="/ppt/slides/slide50.xml" ContentType="application/vnd.openxmlformats-officedocument.presentationml.slide+xml"/>
  <Override PartName="/ppt/slides/slide51.xml" ContentType="application/vnd.openxmlformats-officedocument.presentationml.slide+xml"/>
  <Override PartName="/ppt/slides/slide52.xml" ContentType="application/vnd.openxmlformats-officedocument.presentationml.slide+xml"/>
  <Override PartName="/ppt/slides/slide53.xml" ContentType="application/vnd.openxmlformats-officedocument.presentationml.slide+xml"/>
  <Override PartName="/ppt/slides/slide54.xml" ContentType="application/vnd.openxmlformats-officedocument.presentationml.slide+xml"/>
  <Override PartName="/ppt/slides/slide55.xml" ContentType="application/vnd.openxmlformats-officedocument.presentationml.slide+xml"/>
  <Override PartName="/ppt/slides/slide56.xml" ContentType="application/vnd.openxmlformats-officedocument.presentationml.slide+xml"/>
  <Override PartName="/ppt/slides/slide57.xml" ContentType="application/vnd.openxmlformats-officedocument.presentationml.slide+xml"/>
  <Override PartName="/ppt/slides/slide58.xml" ContentType="application/vnd.openxmlformats-officedocument.presentationml.slide+xml"/>
  <Override PartName="/ppt/slides/slide59.xml" ContentType="application/vnd.openxmlformats-officedocument.presentationml.slide+xml"/>
  <Override PartName="/ppt/slides/slide6.xml" ContentType="application/vnd.openxmlformats-officedocument.presentationml.slide+xml"/>
  <Override PartName="/ppt/slides/slide60.xml" ContentType="application/vnd.openxmlformats-officedocument.presentationml.slide+xml"/>
  <Override PartName="/ppt/slides/slide61.xml" ContentType="application/vnd.openxmlformats-officedocument.presentationml.slide+xml"/>
  <Override PartName="/ppt/slides/slide62.xml" ContentType="application/vnd.openxmlformats-officedocument.presentationml.slide+xml"/>
  <Override PartName="/ppt/slides/slide63.xml" ContentType="application/vnd.openxmlformats-officedocument.presentationml.slide+xml"/>
  <Override PartName="/ppt/slides/slide64.xml" ContentType="application/vnd.openxmlformats-officedocument.presentationml.slide+xml"/>
  <Override PartName="/ppt/slides/slide65.xml" ContentType="application/vnd.openxmlformats-officedocument.presentationml.slide+xml"/>
  <Override PartName="/ppt/slides/slide66.xml" ContentType="application/vnd.openxmlformats-officedocument.presentationml.slide+xml"/>
  <Override PartName="/ppt/slides/slide67.xml" ContentType="application/vnd.openxmlformats-officedocument.presentationml.slide+xml"/>
  <Override PartName="/ppt/slides/slide68.xml" ContentType="application/vnd.openxmlformats-officedocument.presentationml.slide+xml"/>
  <Override PartName="/ppt/slides/slide69.xml" ContentType="application/vnd.openxmlformats-officedocument.presentationml.slide+xml"/>
  <Override PartName="/ppt/slides/slide7.xml" ContentType="application/vnd.openxmlformats-officedocument.presentationml.slide+xml"/>
  <Override PartName="/ppt/slides/slide70.xml" ContentType="application/vnd.openxmlformats-officedocument.presentationml.slide+xml"/>
  <Override PartName="/ppt/slides/slide71.xml" ContentType="application/vnd.openxmlformats-officedocument.presentationml.slide+xml"/>
  <Override PartName="/ppt/slides/slide72.xml" ContentType="application/vnd.openxmlformats-officedocument.presentationml.slide+xml"/>
  <Override PartName="/ppt/slides/slide73.xml" ContentType="application/vnd.openxmlformats-officedocument.presentationml.slide+xml"/>
  <Override PartName="/ppt/slides/slide74.xml" ContentType="application/vnd.openxmlformats-officedocument.presentationml.slide+xml"/>
  <Override PartName="/ppt/slides/slide75.xml" ContentType="application/vnd.openxmlformats-officedocument.presentationml.slide+xml"/>
  <Override PartName="/ppt/slides/slide76.xml" ContentType="application/vnd.openxmlformats-officedocument.presentationml.slide+xml"/>
  <Override PartName="/ppt/slides/slide77.xml" ContentType="application/vnd.openxmlformats-officedocument.presentationml.slide+xml"/>
  <Override PartName="/ppt/slides/slide78.xml" ContentType="application/vnd.openxmlformats-officedocument.presentationml.slide+xml"/>
  <Override PartName="/ppt/slides/slide79.xml" ContentType="application/vnd.openxmlformats-officedocument.presentationml.slide+xml"/>
  <Override PartName="/ppt/slides/slide8.xml" ContentType="application/vnd.openxmlformats-officedocument.presentationml.slide+xml"/>
  <Override PartName="/ppt/slides/slide80.xml" ContentType="application/vnd.openxmlformats-officedocument.presentationml.slide+xml"/>
  <Override PartName="/ppt/slides/slide81.xml" ContentType="application/vnd.openxmlformats-officedocument.presentationml.slide+xml"/>
  <Override PartName="/ppt/slides/slide82.xml" ContentType="application/vnd.openxmlformats-officedocument.presentationml.slide+xml"/>
  <Override PartName="/ppt/slides/slide83.xml" ContentType="application/vnd.openxmlformats-officedocument.presentationml.slide+xml"/>
  <Override PartName="/ppt/slides/slide84.xml" ContentType="application/vnd.openxmlformats-officedocument.presentationml.slide+xml"/>
  <Override PartName="/ppt/slides/slide85.xml" ContentType="application/vnd.openxmlformats-officedocument.presentationml.slide+xml"/>
  <Override PartName="/ppt/slides/slide86.xml" ContentType="application/vnd.openxmlformats-officedocument.presentationml.slide+xml"/>
  <Override PartName="/ppt/slides/slide87.xml" ContentType="application/vnd.openxmlformats-officedocument.presentationml.slide+xml"/>
  <Override PartName="/ppt/slides/slide88.xml" ContentType="application/vnd.openxmlformats-officedocument.presentationml.slide+xml"/>
  <Override PartName="/ppt/slides/slide89.xml" ContentType="application/vnd.openxmlformats-officedocument.presentationml.slide+xml"/>
  <Override PartName="/ppt/slides/slide9.xml" ContentType="application/vnd.openxmlformats-officedocument.presentationml.slide+xml"/>
  <Override PartName="/ppt/slides/slide90.xml" ContentType="application/vnd.openxmlformats-officedocument.presentationml.slide+xml"/>
  <Override PartName="/ppt/slides/slide91.xml" ContentType="application/vnd.openxmlformats-officedocument.presentationml.slide+xml"/>
  <Override PartName="/ppt/slides/slide92.xml" ContentType="application/vnd.openxmlformats-officedocument.presentationml.slide+xml"/>
  <Override PartName="/ppt/slides/slide93.xml" ContentType="application/vnd.openxmlformats-officedocument.presentationml.slide+xml"/>
  <Override PartName="/ppt/slides/slide94.xml" ContentType="application/vnd.openxmlformats-officedocument.presentationml.slide+xml"/>
  <Override PartName="/ppt/slides/slide95.xml" ContentType="application/vnd.openxmlformats-officedocument.presentationml.slide+xml"/>
  <Override PartName="/ppt/slides/slide96.xml" ContentType="application/vnd.openxmlformats-officedocument.presentationml.slide+xml"/>
  <Override PartName="/ppt/slides/slide97.xml" ContentType="application/vnd.openxmlformats-officedocument.presentationml.slide+xml"/>
  <Override PartName="/ppt/slides/slide98.xml" ContentType="application/vnd.openxmlformats-officedocument.presentationml.slide+xml"/>
  <Override PartName="/ppt/slides/slide9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2"/>
    <p:sldId id="261" r:id="rId13"/>
    <p:sldId id="262" r:id="rId14"/>
    <p:sldId id="263" r:id="rId15"/>
    <p:sldId id="264" r:id="rId16"/>
    <p:sldId id="265" r:id="rId17"/>
    <p:sldId id="266" r:id="rId18"/>
    <p:sldId id="267" r:id="rId19"/>
    <p:sldId id="268" r:id="rId20"/>
    <p:sldId id="269" r:id="rId21"/>
    <p:sldId id="270" r:id="rId22"/>
    <p:sldId id="271" r:id="rId23"/>
    <p:sldId id="272" r:id="rId24"/>
    <p:sldId id="273" r:id="rId25"/>
    <p:sldId id="274" r:id="rId26"/>
    <p:sldId id="275" r:id="rId27"/>
    <p:sldId id="276" r:id="rId28"/>
    <p:sldId id="277" r:id="rId29"/>
    <p:sldId id="278" r:id="rId30"/>
    <p:sldId id="279" r:id="rId31"/>
    <p:sldId id="280" r:id="rId32"/>
    <p:sldId id="281" r:id="rId33"/>
    <p:sldId id="282" r:id="rId34"/>
    <p:sldId id="283" r:id="rId35"/>
    <p:sldId id="284" r:id="rId36"/>
    <p:sldId id="285" r:id="rId37"/>
    <p:sldId id="286" r:id="rId38"/>
    <p:sldId id="287" r:id="rId39"/>
    <p:sldId id="288" r:id="rId40"/>
    <p:sldId id="289" r:id="rId41"/>
    <p:sldId id="290" r:id="rId42"/>
    <p:sldId id="291" r:id="rId43"/>
    <p:sldId id="292" r:id="rId44"/>
    <p:sldId id="293" r:id="rId45"/>
    <p:sldId id="294" r:id="rId46"/>
    <p:sldId id="295" r:id="rId47"/>
    <p:sldId id="296" r:id="rId48"/>
    <p:sldId id="297" r:id="rId49"/>
    <p:sldId id="298" r:id="rId50"/>
    <p:sldId id="299" r:id="rId51"/>
    <p:sldId id="300" r:id="rId52"/>
    <p:sldId id="301" r:id="rId53"/>
    <p:sldId id="302" r:id="rId54"/>
    <p:sldId id="303" r:id="rId55"/>
    <p:sldId id="304" r:id="rId56"/>
    <p:sldId id="305" r:id="rId57"/>
    <p:sldId id="306" r:id="rId58"/>
    <p:sldId id="307" r:id="rId59"/>
    <p:sldId id="308" r:id="rId60"/>
    <p:sldId id="309" r:id="rId61"/>
    <p:sldId id="310" r:id="rId62"/>
    <p:sldId id="311" r:id="rId63"/>
    <p:sldId id="312" r:id="rId64"/>
    <p:sldId id="313" r:id="rId65"/>
    <p:sldId id="314" r:id="rId66"/>
    <p:sldId id="315" r:id="rId67"/>
    <p:sldId id="316" r:id="rId68"/>
    <p:sldId id="317" r:id="rId69"/>
    <p:sldId id="318" r:id="rId70"/>
    <p:sldId id="319" r:id="rId71"/>
    <p:sldId id="320" r:id="rId72"/>
    <p:sldId id="321" r:id="rId73"/>
    <p:sldId id="322" r:id="rId74"/>
    <p:sldId id="323" r:id="rId75"/>
    <p:sldId id="324" r:id="rId76"/>
    <p:sldId id="325" r:id="rId77"/>
    <p:sldId id="326" r:id="rId78"/>
    <p:sldId id="327" r:id="rId79"/>
    <p:sldId id="328" r:id="rId80"/>
    <p:sldId id="329" r:id="rId81"/>
    <p:sldId id="330" r:id="rId82"/>
    <p:sldId id="331" r:id="rId83"/>
    <p:sldId id="332" r:id="rId84"/>
    <p:sldId id="333" r:id="rId85"/>
    <p:sldId id="334" r:id="rId86"/>
    <p:sldId id="335" r:id="rId87"/>
    <p:sldId id="336" r:id="rId88"/>
    <p:sldId id="337" r:id="rId89"/>
    <p:sldId id="338" r:id="rId90"/>
    <p:sldId id="339" r:id="rId91"/>
    <p:sldId id="340" r:id="rId92"/>
    <p:sldId id="341" r:id="rId93"/>
    <p:sldId id="342" r:id="rId94"/>
    <p:sldId id="343" r:id="rId95"/>
    <p:sldId id="344" r:id="rId96"/>
    <p:sldId id="345" r:id="rId97"/>
    <p:sldId id="346" r:id="rId98"/>
    <p:sldId id="347" r:id="rId99"/>
    <p:sldId id="348" r:id="rId100"/>
    <p:sldId id="349" r:id="rId101"/>
    <p:sldId id="350" r:id="rId102"/>
    <p:sldId id="351" r:id="rId103"/>
    <p:sldId id="352" r:id="rId104"/>
    <p:sldId id="353" r:id="rId105"/>
    <p:sldId id="354" r:id="rId106"/>
    <p:sldId id="355" r:id="rId107"/>
    <p:sldId id="356" r:id="rId108"/>
    <p:sldId id="357" r:id="rId109"/>
    <p:sldId id="358" r:id="rId110"/>
    <p:sldId id="359" r:id="rId111"/>
    <p:sldId id="360" r:id="rId112"/>
    <p:sldId id="361" r:id="rId113"/>
    <p:sldId id="362" r:id="rId114"/>
    <p:sldId id="363" r:id="rId115"/>
    <p:sldId id="364" r:id="rId116"/>
    <p:sldId id="365" r:id="rId117"/>
    <p:sldId id="366" r:id="rId118"/>
    <p:sldId id="367" r:id="rId119"/>
    <p:sldId id="368" r:id="rId120"/>
    <p:sldId id="369" r:id="rId121"/>
    <p:sldId id="370" r:id="rId122"/>
    <p:sldId id="371" r:id="rId123"/>
    <p:sldId id="372" r:id="rId124"/>
    <p:sldId id="373" r:id="rId125"/>
    <p:sldId id="374" r:id="rId126"/>
    <p:sldId id="375" r:id="rId127"/>
    <p:sldId id="376" r:id="rId128"/>
    <p:sldId id="377" r:id="rId129"/>
    <p:sldId id="378" r:id="rId130"/>
    <p:sldId id="379" r:id="rId131"/>
    <p:sldId id="380" r:id="rId132"/>
    <p:sldId id="381" r:id="rId133"/>
    <p:sldId id="382" r:id="rId134"/>
    <p:sldId id="383" r:id="rId135"/>
    <p:sldId id="384" r:id="rId136"/>
    <p:sldId id="385" r:id="rId137"/>
    <p:sldId id="386" r:id="rId138"/>
    <p:sldId id="387" r:id="rId139"/>
    <p:sldId id="388" r:id="rId140"/>
    <p:sldId id="389" r:id="rId141"/>
    <p:sldId id="390" r:id="rId142"/>
    <p:sldId id="391" r:id="rId143"/>
    <p:sldId id="392" r:id="rId144"/>
    <p:sldId id="393" r:id="rId145"/>
    <p:sldId id="394" r:id="rId146"/>
    <p:sldId id="395" r:id="rId147"/>
    <p:sldId id="396" r:id="rId148"/>
    <p:sldId id="397" r:id="rId149"/>
    <p:sldId id="398" r:id="rId150"/>
    <p:sldId id="399" r:id="rId151"/>
    <p:sldId id="400" r:id="rId152"/>
    <p:sldId id="401" r:id="rId153"/>
    <p:sldId id="402" r:id="rId154"/>
    <p:sldId id="403" r:id="rId155"/>
    <p:sldId id="404" r:id="rId156"/>
    <p:sldId id="405" r:id="rId157"/>
    <p:sldId id="406" r:id="rId158"/>
    <p:sldId id="407" r:id="rId159"/>
    <p:sldId id="408" r:id="rId160"/>
    <p:sldId id="409" r:id="rId161"/>
    <p:sldId id="410" r:id="rId162"/>
    <p:sldId id="411" r:id="rId163"/>
    <p:sldId id="412" r:id="rId164"/>
    <p:sldId id="413" r:id="rId165"/>
    <p:sldId id="414" r:id="rId166"/>
    <p:sldId id="415" r:id="rId167"/>
    <p:sldId id="416" r:id="rId168"/>
    <p:sldId id="417" r:id="rId169"/>
    <p:sldId id="418" r:id="rId170"/>
    <p:sldId id="419" r:id="rId171"/>
    <p:sldId id="420" r:id="rId172"/>
    <p:sldId id="421" r:id="rId173"/>
    <p:sldId id="422" r:id="rId174"/>
    <p:sldId id="423" r:id="rId175"/>
    <p:sldId id="424" r:id="rId176"/>
    <p:sldId id="425" r:id="rId177"/>
    <p:sldId id="426" r:id="rId178"/>
    <p:sldId id="427" r:id="rId179"/>
    <p:sldId id="428" r:id="rId180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notesMaster" Target="notesMasters/notesMaster1.xml"/><Relationship Id="rId12" Type="http://schemas.openxmlformats.org/officeDocument/2006/relationships/slide" Target="slides/slide5.xml"/><Relationship Id="rId13" Type="http://schemas.openxmlformats.org/officeDocument/2006/relationships/slide" Target="slides/slide6.xml"/><Relationship Id="rId14" Type="http://schemas.openxmlformats.org/officeDocument/2006/relationships/slide" Target="slides/slide7.xml"/><Relationship Id="rId15" Type="http://schemas.openxmlformats.org/officeDocument/2006/relationships/slide" Target="slides/slide8.xml"/><Relationship Id="rId16" Type="http://schemas.openxmlformats.org/officeDocument/2006/relationships/slide" Target="slides/slide9.xml"/><Relationship Id="rId17" Type="http://schemas.openxmlformats.org/officeDocument/2006/relationships/slide" Target="slides/slide10.xml"/><Relationship Id="rId18" Type="http://schemas.openxmlformats.org/officeDocument/2006/relationships/slide" Target="slides/slide11.xml"/><Relationship Id="rId19" Type="http://schemas.openxmlformats.org/officeDocument/2006/relationships/slide" Target="slides/slide12.xml"/><Relationship Id="rId20" Type="http://schemas.openxmlformats.org/officeDocument/2006/relationships/slide" Target="slides/slide13.xml"/><Relationship Id="rId21" Type="http://schemas.openxmlformats.org/officeDocument/2006/relationships/slide" Target="slides/slide14.xml"/><Relationship Id="rId22" Type="http://schemas.openxmlformats.org/officeDocument/2006/relationships/slide" Target="slides/slide15.xml"/><Relationship Id="rId23" Type="http://schemas.openxmlformats.org/officeDocument/2006/relationships/slide" Target="slides/slide16.xml"/><Relationship Id="rId24" Type="http://schemas.openxmlformats.org/officeDocument/2006/relationships/slide" Target="slides/slide17.xml"/><Relationship Id="rId25" Type="http://schemas.openxmlformats.org/officeDocument/2006/relationships/slide" Target="slides/slide18.xml"/><Relationship Id="rId26" Type="http://schemas.openxmlformats.org/officeDocument/2006/relationships/slide" Target="slides/slide19.xml"/><Relationship Id="rId27" Type="http://schemas.openxmlformats.org/officeDocument/2006/relationships/slide" Target="slides/slide20.xml"/><Relationship Id="rId28" Type="http://schemas.openxmlformats.org/officeDocument/2006/relationships/slide" Target="slides/slide21.xml"/><Relationship Id="rId29" Type="http://schemas.openxmlformats.org/officeDocument/2006/relationships/slide" Target="slides/slide22.xml"/><Relationship Id="rId30" Type="http://schemas.openxmlformats.org/officeDocument/2006/relationships/slide" Target="slides/slide23.xml"/><Relationship Id="rId31" Type="http://schemas.openxmlformats.org/officeDocument/2006/relationships/slide" Target="slides/slide24.xml"/><Relationship Id="rId32" Type="http://schemas.openxmlformats.org/officeDocument/2006/relationships/slide" Target="slides/slide25.xml"/><Relationship Id="rId33" Type="http://schemas.openxmlformats.org/officeDocument/2006/relationships/slide" Target="slides/slide26.xml"/><Relationship Id="rId34" Type="http://schemas.openxmlformats.org/officeDocument/2006/relationships/slide" Target="slides/slide27.xml"/><Relationship Id="rId35" Type="http://schemas.openxmlformats.org/officeDocument/2006/relationships/slide" Target="slides/slide28.xml"/><Relationship Id="rId36" Type="http://schemas.openxmlformats.org/officeDocument/2006/relationships/slide" Target="slides/slide29.xml"/><Relationship Id="rId37" Type="http://schemas.openxmlformats.org/officeDocument/2006/relationships/slide" Target="slides/slide30.xml"/><Relationship Id="rId38" Type="http://schemas.openxmlformats.org/officeDocument/2006/relationships/slide" Target="slides/slide31.xml"/><Relationship Id="rId39" Type="http://schemas.openxmlformats.org/officeDocument/2006/relationships/slide" Target="slides/slide32.xml"/><Relationship Id="rId40" Type="http://schemas.openxmlformats.org/officeDocument/2006/relationships/slide" Target="slides/slide33.xml"/><Relationship Id="rId41" Type="http://schemas.openxmlformats.org/officeDocument/2006/relationships/slide" Target="slides/slide34.xml"/><Relationship Id="rId42" Type="http://schemas.openxmlformats.org/officeDocument/2006/relationships/slide" Target="slides/slide35.xml"/><Relationship Id="rId43" Type="http://schemas.openxmlformats.org/officeDocument/2006/relationships/slide" Target="slides/slide36.xml"/><Relationship Id="rId44" Type="http://schemas.openxmlformats.org/officeDocument/2006/relationships/slide" Target="slides/slide37.xml"/><Relationship Id="rId45" Type="http://schemas.openxmlformats.org/officeDocument/2006/relationships/slide" Target="slides/slide38.xml"/><Relationship Id="rId46" Type="http://schemas.openxmlformats.org/officeDocument/2006/relationships/slide" Target="slides/slide39.xml"/><Relationship Id="rId47" Type="http://schemas.openxmlformats.org/officeDocument/2006/relationships/slide" Target="slides/slide40.xml"/><Relationship Id="rId48" Type="http://schemas.openxmlformats.org/officeDocument/2006/relationships/slide" Target="slides/slide41.xml"/><Relationship Id="rId49" Type="http://schemas.openxmlformats.org/officeDocument/2006/relationships/slide" Target="slides/slide42.xml"/><Relationship Id="rId50" Type="http://schemas.openxmlformats.org/officeDocument/2006/relationships/slide" Target="slides/slide43.xml"/><Relationship Id="rId51" Type="http://schemas.openxmlformats.org/officeDocument/2006/relationships/slide" Target="slides/slide44.xml"/><Relationship Id="rId52" Type="http://schemas.openxmlformats.org/officeDocument/2006/relationships/slide" Target="slides/slide45.xml"/><Relationship Id="rId53" Type="http://schemas.openxmlformats.org/officeDocument/2006/relationships/slide" Target="slides/slide46.xml"/><Relationship Id="rId54" Type="http://schemas.openxmlformats.org/officeDocument/2006/relationships/slide" Target="slides/slide47.xml"/><Relationship Id="rId55" Type="http://schemas.openxmlformats.org/officeDocument/2006/relationships/slide" Target="slides/slide48.xml"/><Relationship Id="rId56" Type="http://schemas.openxmlformats.org/officeDocument/2006/relationships/slide" Target="slides/slide49.xml"/><Relationship Id="rId57" Type="http://schemas.openxmlformats.org/officeDocument/2006/relationships/slide" Target="slides/slide50.xml"/><Relationship Id="rId58" Type="http://schemas.openxmlformats.org/officeDocument/2006/relationships/slide" Target="slides/slide51.xml"/><Relationship Id="rId59" Type="http://schemas.openxmlformats.org/officeDocument/2006/relationships/slide" Target="slides/slide52.xml"/><Relationship Id="rId60" Type="http://schemas.openxmlformats.org/officeDocument/2006/relationships/slide" Target="slides/slide53.xml"/><Relationship Id="rId61" Type="http://schemas.openxmlformats.org/officeDocument/2006/relationships/slide" Target="slides/slide54.xml"/><Relationship Id="rId62" Type="http://schemas.openxmlformats.org/officeDocument/2006/relationships/slide" Target="slides/slide55.xml"/><Relationship Id="rId63" Type="http://schemas.openxmlformats.org/officeDocument/2006/relationships/slide" Target="slides/slide56.xml"/><Relationship Id="rId64" Type="http://schemas.openxmlformats.org/officeDocument/2006/relationships/slide" Target="slides/slide57.xml"/><Relationship Id="rId65" Type="http://schemas.openxmlformats.org/officeDocument/2006/relationships/slide" Target="slides/slide58.xml"/><Relationship Id="rId66" Type="http://schemas.openxmlformats.org/officeDocument/2006/relationships/slide" Target="slides/slide59.xml"/><Relationship Id="rId67" Type="http://schemas.openxmlformats.org/officeDocument/2006/relationships/slide" Target="slides/slide60.xml"/><Relationship Id="rId68" Type="http://schemas.openxmlformats.org/officeDocument/2006/relationships/slide" Target="slides/slide61.xml"/><Relationship Id="rId69" Type="http://schemas.openxmlformats.org/officeDocument/2006/relationships/slide" Target="slides/slide62.xml"/><Relationship Id="rId70" Type="http://schemas.openxmlformats.org/officeDocument/2006/relationships/slide" Target="slides/slide63.xml"/><Relationship Id="rId71" Type="http://schemas.openxmlformats.org/officeDocument/2006/relationships/slide" Target="slides/slide64.xml"/><Relationship Id="rId72" Type="http://schemas.openxmlformats.org/officeDocument/2006/relationships/slide" Target="slides/slide65.xml"/><Relationship Id="rId73" Type="http://schemas.openxmlformats.org/officeDocument/2006/relationships/slide" Target="slides/slide66.xml"/><Relationship Id="rId74" Type="http://schemas.openxmlformats.org/officeDocument/2006/relationships/slide" Target="slides/slide67.xml"/><Relationship Id="rId75" Type="http://schemas.openxmlformats.org/officeDocument/2006/relationships/slide" Target="slides/slide68.xml"/><Relationship Id="rId76" Type="http://schemas.openxmlformats.org/officeDocument/2006/relationships/slide" Target="slides/slide69.xml"/><Relationship Id="rId77" Type="http://schemas.openxmlformats.org/officeDocument/2006/relationships/slide" Target="slides/slide70.xml"/><Relationship Id="rId78" Type="http://schemas.openxmlformats.org/officeDocument/2006/relationships/slide" Target="slides/slide71.xml"/><Relationship Id="rId79" Type="http://schemas.openxmlformats.org/officeDocument/2006/relationships/slide" Target="slides/slide72.xml"/><Relationship Id="rId80" Type="http://schemas.openxmlformats.org/officeDocument/2006/relationships/slide" Target="slides/slide73.xml"/><Relationship Id="rId81" Type="http://schemas.openxmlformats.org/officeDocument/2006/relationships/slide" Target="slides/slide74.xml"/><Relationship Id="rId82" Type="http://schemas.openxmlformats.org/officeDocument/2006/relationships/slide" Target="slides/slide75.xml"/><Relationship Id="rId83" Type="http://schemas.openxmlformats.org/officeDocument/2006/relationships/slide" Target="slides/slide76.xml"/><Relationship Id="rId84" Type="http://schemas.openxmlformats.org/officeDocument/2006/relationships/slide" Target="slides/slide77.xml"/><Relationship Id="rId85" Type="http://schemas.openxmlformats.org/officeDocument/2006/relationships/slide" Target="slides/slide78.xml"/><Relationship Id="rId86" Type="http://schemas.openxmlformats.org/officeDocument/2006/relationships/slide" Target="slides/slide79.xml"/><Relationship Id="rId87" Type="http://schemas.openxmlformats.org/officeDocument/2006/relationships/slide" Target="slides/slide80.xml"/><Relationship Id="rId88" Type="http://schemas.openxmlformats.org/officeDocument/2006/relationships/slide" Target="slides/slide81.xml"/><Relationship Id="rId89" Type="http://schemas.openxmlformats.org/officeDocument/2006/relationships/slide" Target="slides/slide82.xml"/><Relationship Id="rId90" Type="http://schemas.openxmlformats.org/officeDocument/2006/relationships/slide" Target="slides/slide83.xml"/><Relationship Id="rId91" Type="http://schemas.openxmlformats.org/officeDocument/2006/relationships/slide" Target="slides/slide84.xml"/><Relationship Id="rId92" Type="http://schemas.openxmlformats.org/officeDocument/2006/relationships/slide" Target="slides/slide85.xml"/><Relationship Id="rId93" Type="http://schemas.openxmlformats.org/officeDocument/2006/relationships/slide" Target="slides/slide86.xml"/><Relationship Id="rId94" Type="http://schemas.openxmlformats.org/officeDocument/2006/relationships/slide" Target="slides/slide87.xml"/><Relationship Id="rId95" Type="http://schemas.openxmlformats.org/officeDocument/2006/relationships/slide" Target="slides/slide88.xml"/><Relationship Id="rId96" Type="http://schemas.openxmlformats.org/officeDocument/2006/relationships/slide" Target="slides/slide89.xml"/><Relationship Id="rId97" Type="http://schemas.openxmlformats.org/officeDocument/2006/relationships/slide" Target="slides/slide90.xml"/><Relationship Id="rId98" Type="http://schemas.openxmlformats.org/officeDocument/2006/relationships/slide" Target="slides/slide91.xml"/><Relationship Id="rId99" Type="http://schemas.openxmlformats.org/officeDocument/2006/relationships/slide" Target="slides/slide92.xml"/><Relationship Id="rId100" Type="http://schemas.openxmlformats.org/officeDocument/2006/relationships/slide" Target="slides/slide93.xml"/><Relationship Id="rId101" Type="http://schemas.openxmlformats.org/officeDocument/2006/relationships/slide" Target="slides/slide94.xml"/><Relationship Id="rId102" Type="http://schemas.openxmlformats.org/officeDocument/2006/relationships/slide" Target="slides/slide95.xml"/><Relationship Id="rId103" Type="http://schemas.openxmlformats.org/officeDocument/2006/relationships/slide" Target="slides/slide96.xml"/><Relationship Id="rId104" Type="http://schemas.openxmlformats.org/officeDocument/2006/relationships/slide" Target="slides/slide97.xml"/><Relationship Id="rId105" Type="http://schemas.openxmlformats.org/officeDocument/2006/relationships/slide" Target="slides/slide98.xml"/><Relationship Id="rId106" Type="http://schemas.openxmlformats.org/officeDocument/2006/relationships/slide" Target="slides/slide99.xml"/><Relationship Id="rId107" Type="http://schemas.openxmlformats.org/officeDocument/2006/relationships/slide" Target="slides/slide100.xml"/><Relationship Id="rId108" Type="http://schemas.openxmlformats.org/officeDocument/2006/relationships/slide" Target="slides/slide101.xml"/><Relationship Id="rId109" Type="http://schemas.openxmlformats.org/officeDocument/2006/relationships/slide" Target="slides/slide102.xml"/><Relationship Id="rId110" Type="http://schemas.openxmlformats.org/officeDocument/2006/relationships/slide" Target="slides/slide103.xml"/><Relationship Id="rId111" Type="http://schemas.openxmlformats.org/officeDocument/2006/relationships/slide" Target="slides/slide104.xml"/><Relationship Id="rId112" Type="http://schemas.openxmlformats.org/officeDocument/2006/relationships/slide" Target="slides/slide105.xml"/><Relationship Id="rId113" Type="http://schemas.openxmlformats.org/officeDocument/2006/relationships/slide" Target="slides/slide106.xml"/><Relationship Id="rId114" Type="http://schemas.openxmlformats.org/officeDocument/2006/relationships/slide" Target="slides/slide107.xml"/><Relationship Id="rId115" Type="http://schemas.openxmlformats.org/officeDocument/2006/relationships/slide" Target="slides/slide108.xml"/><Relationship Id="rId116" Type="http://schemas.openxmlformats.org/officeDocument/2006/relationships/slide" Target="slides/slide109.xml"/><Relationship Id="rId117" Type="http://schemas.openxmlformats.org/officeDocument/2006/relationships/slide" Target="slides/slide110.xml"/><Relationship Id="rId118" Type="http://schemas.openxmlformats.org/officeDocument/2006/relationships/slide" Target="slides/slide111.xml"/><Relationship Id="rId119" Type="http://schemas.openxmlformats.org/officeDocument/2006/relationships/slide" Target="slides/slide112.xml"/><Relationship Id="rId120" Type="http://schemas.openxmlformats.org/officeDocument/2006/relationships/slide" Target="slides/slide113.xml"/><Relationship Id="rId121" Type="http://schemas.openxmlformats.org/officeDocument/2006/relationships/slide" Target="slides/slide114.xml"/><Relationship Id="rId122" Type="http://schemas.openxmlformats.org/officeDocument/2006/relationships/slide" Target="slides/slide115.xml"/><Relationship Id="rId123" Type="http://schemas.openxmlformats.org/officeDocument/2006/relationships/slide" Target="slides/slide116.xml"/><Relationship Id="rId124" Type="http://schemas.openxmlformats.org/officeDocument/2006/relationships/slide" Target="slides/slide117.xml"/><Relationship Id="rId125" Type="http://schemas.openxmlformats.org/officeDocument/2006/relationships/slide" Target="slides/slide118.xml"/><Relationship Id="rId126" Type="http://schemas.openxmlformats.org/officeDocument/2006/relationships/slide" Target="slides/slide119.xml"/><Relationship Id="rId127" Type="http://schemas.openxmlformats.org/officeDocument/2006/relationships/slide" Target="slides/slide120.xml"/><Relationship Id="rId128" Type="http://schemas.openxmlformats.org/officeDocument/2006/relationships/slide" Target="slides/slide121.xml"/><Relationship Id="rId129" Type="http://schemas.openxmlformats.org/officeDocument/2006/relationships/slide" Target="slides/slide122.xml"/><Relationship Id="rId130" Type="http://schemas.openxmlformats.org/officeDocument/2006/relationships/slide" Target="slides/slide123.xml"/><Relationship Id="rId131" Type="http://schemas.openxmlformats.org/officeDocument/2006/relationships/slide" Target="slides/slide124.xml"/><Relationship Id="rId132" Type="http://schemas.openxmlformats.org/officeDocument/2006/relationships/slide" Target="slides/slide125.xml"/><Relationship Id="rId133" Type="http://schemas.openxmlformats.org/officeDocument/2006/relationships/slide" Target="slides/slide126.xml"/><Relationship Id="rId134" Type="http://schemas.openxmlformats.org/officeDocument/2006/relationships/slide" Target="slides/slide127.xml"/><Relationship Id="rId135" Type="http://schemas.openxmlformats.org/officeDocument/2006/relationships/slide" Target="slides/slide128.xml"/><Relationship Id="rId136" Type="http://schemas.openxmlformats.org/officeDocument/2006/relationships/slide" Target="slides/slide129.xml"/><Relationship Id="rId137" Type="http://schemas.openxmlformats.org/officeDocument/2006/relationships/slide" Target="slides/slide130.xml"/><Relationship Id="rId138" Type="http://schemas.openxmlformats.org/officeDocument/2006/relationships/slide" Target="slides/slide131.xml"/><Relationship Id="rId139" Type="http://schemas.openxmlformats.org/officeDocument/2006/relationships/slide" Target="slides/slide132.xml"/><Relationship Id="rId140" Type="http://schemas.openxmlformats.org/officeDocument/2006/relationships/slide" Target="slides/slide133.xml"/><Relationship Id="rId141" Type="http://schemas.openxmlformats.org/officeDocument/2006/relationships/slide" Target="slides/slide134.xml"/><Relationship Id="rId142" Type="http://schemas.openxmlformats.org/officeDocument/2006/relationships/slide" Target="slides/slide135.xml"/><Relationship Id="rId143" Type="http://schemas.openxmlformats.org/officeDocument/2006/relationships/slide" Target="slides/slide136.xml"/><Relationship Id="rId144" Type="http://schemas.openxmlformats.org/officeDocument/2006/relationships/slide" Target="slides/slide137.xml"/><Relationship Id="rId145" Type="http://schemas.openxmlformats.org/officeDocument/2006/relationships/slide" Target="slides/slide138.xml"/><Relationship Id="rId146" Type="http://schemas.openxmlformats.org/officeDocument/2006/relationships/slide" Target="slides/slide139.xml"/><Relationship Id="rId147" Type="http://schemas.openxmlformats.org/officeDocument/2006/relationships/slide" Target="slides/slide140.xml"/><Relationship Id="rId148" Type="http://schemas.openxmlformats.org/officeDocument/2006/relationships/slide" Target="slides/slide141.xml"/><Relationship Id="rId149" Type="http://schemas.openxmlformats.org/officeDocument/2006/relationships/slide" Target="slides/slide142.xml"/><Relationship Id="rId150" Type="http://schemas.openxmlformats.org/officeDocument/2006/relationships/slide" Target="slides/slide143.xml"/><Relationship Id="rId151" Type="http://schemas.openxmlformats.org/officeDocument/2006/relationships/slide" Target="slides/slide144.xml"/><Relationship Id="rId152" Type="http://schemas.openxmlformats.org/officeDocument/2006/relationships/slide" Target="slides/slide145.xml"/><Relationship Id="rId153" Type="http://schemas.openxmlformats.org/officeDocument/2006/relationships/slide" Target="slides/slide146.xml"/><Relationship Id="rId154" Type="http://schemas.openxmlformats.org/officeDocument/2006/relationships/slide" Target="slides/slide147.xml"/><Relationship Id="rId155" Type="http://schemas.openxmlformats.org/officeDocument/2006/relationships/slide" Target="slides/slide148.xml"/><Relationship Id="rId156" Type="http://schemas.openxmlformats.org/officeDocument/2006/relationships/slide" Target="slides/slide149.xml"/><Relationship Id="rId157" Type="http://schemas.openxmlformats.org/officeDocument/2006/relationships/slide" Target="slides/slide150.xml"/><Relationship Id="rId158" Type="http://schemas.openxmlformats.org/officeDocument/2006/relationships/slide" Target="slides/slide151.xml"/><Relationship Id="rId159" Type="http://schemas.openxmlformats.org/officeDocument/2006/relationships/slide" Target="slides/slide152.xml"/><Relationship Id="rId160" Type="http://schemas.openxmlformats.org/officeDocument/2006/relationships/slide" Target="slides/slide153.xml"/><Relationship Id="rId161" Type="http://schemas.openxmlformats.org/officeDocument/2006/relationships/slide" Target="slides/slide154.xml"/><Relationship Id="rId162" Type="http://schemas.openxmlformats.org/officeDocument/2006/relationships/slide" Target="slides/slide155.xml"/><Relationship Id="rId163" Type="http://schemas.openxmlformats.org/officeDocument/2006/relationships/slide" Target="slides/slide156.xml"/><Relationship Id="rId164" Type="http://schemas.openxmlformats.org/officeDocument/2006/relationships/slide" Target="slides/slide157.xml"/><Relationship Id="rId165" Type="http://schemas.openxmlformats.org/officeDocument/2006/relationships/slide" Target="slides/slide158.xml"/><Relationship Id="rId166" Type="http://schemas.openxmlformats.org/officeDocument/2006/relationships/slide" Target="slides/slide159.xml"/><Relationship Id="rId167" Type="http://schemas.openxmlformats.org/officeDocument/2006/relationships/slide" Target="slides/slide160.xml"/><Relationship Id="rId168" Type="http://schemas.openxmlformats.org/officeDocument/2006/relationships/slide" Target="slides/slide161.xml"/><Relationship Id="rId169" Type="http://schemas.openxmlformats.org/officeDocument/2006/relationships/slide" Target="slides/slide162.xml"/><Relationship Id="rId170" Type="http://schemas.openxmlformats.org/officeDocument/2006/relationships/slide" Target="slides/slide163.xml"/><Relationship Id="rId171" Type="http://schemas.openxmlformats.org/officeDocument/2006/relationships/slide" Target="slides/slide164.xml"/><Relationship Id="rId172" Type="http://schemas.openxmlformats.org/officeDocument/2006/relationships/slide" Target="slides/slide165.xml"/><Relationship Id="rId173" Type="http://schemas.openxmlformats.org/officeDocument/2006/relationships/slide" Target="slides/slide166.xml"/><Relationship Id="rId174" Type="http://schemas.openxmlformats.org/officeDocument/2006/relationships/slide" Target="slides/slide167.xml"/><Relationship Id="rId175" Type="http://schemas.openxmlformats.org/officeDocument/2006/relationships/slide" Target="slides/slide168.xml"/><Relationship Id="rId176" Type="http://schemas.openxmlformats.org/officeDocument/2006/relationships/slide" Target="slides/slide169.xml"/><Relationship Id="rId177" Type="http://schemas.openxmlformats.org/officeDocument/2006/relationships/slide" Target="slides/slide170.xml"/><Relationship Id="rId178" Type="http://schemas.openxmlformats.org/officeDocument/2006/relationships/slide" Target="slides/slide171.xml"/><Relationship Id="rId179" Type="http://schemas.openxmlformats.org/officeDocument/2006/relationships/slide" Target="slides/slide172.xml"/><Relationship Id="rId180" Type="http://schemas.openxmlformats.org/officeDocument/2006/relationships/slide" Target="slides/slide173.xml"/></Relationships>
</file>

<file path=ppt/charts/_rels/chart1.xml.rels><?xml version='1.0' encoding='UTF-8' standalone='yes'?>
<Relationships xmlns="http://schemas.openxmlformats.org/package/2006/relationships"><Relationship Id="rId1" Type="http://schemas.openxmlformats.org/officeDocument/2006/relationships/package" Target="../embeddings/Microsoft_Excel_Sheet1.xlsx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chart>
    <c:autoTitleDeleted val="1"/>
    <c:plotArea>
      <c:barChart>
        <c:barDir val="col"/>
        <c:grouping val="clustered"/>
        <c:ser>
          <c:idx val="0"/>
          <c:order val="0"/>
          <c:tx>
            <c:strRef>
              <c:f>Sheet1!$B$1</c:f>
              <c:strCache>
                <c:ptCount val="1"/>
                <c:pt idx="0">
                  <c:v>Level</c:v>
                </c:pt>
              </c:strCache>
            </c:strRef>
          </c:tx>
          <c:dPt>
            <c:idx val="0"/>
            <c:spPr>
              <a:solidFill>
                <a:srgbClr val="FFD966"/>
              </a:solidFill>
              <a:ln w="9525">
                <a:solidFill>
                  <a:srgbClr val="111827"/>
                </a:solidFill>
              </a:ln>
            </c:spPr>
          </c:dPt>
          <c:dPt>
            <c:idx val="1"/>
            <c:spPr>
              <a:solidFill>
                <a:srgbClr val="FFD966"/>
              </a:solidFill>
              <a:ln w="9525">
                <a:solidFill>
                  <a:srgbClr val="111827"/>
                </a:solidFill>
              </a:ln>
            </c:spPr>
          </c:dPt>
          <c:dPt>
            <c:idx val="2"/>
            <c:spPr>
              <a:solidFill>
                <a:srgbClr val="FFD966"/>
              </a:solidFill>
              <a:ln w="9525">
                <a:solidFill>
                  <a:srgbClr val="111827"/>
                </a:solidFill>
              </a:ln>
            </c:spPr>
          </c:dPt>
          <c:dPt>
            <c:idx val="3"/>
            <c:spPr>
              <a:solidFill>
                <a:srgbClr val="F6B26B"/>
              </a:solidFill>
              <a:ln w="9525">
                <a:solidFill>
                  <a:srgbClr val="111827"/>
                </a:solidFill>
              </a:ln>
            </c:spPr>
          </c:dPt>
          <c:dPt>
            <c:idx val="4"/>
            <c:spPr>
              <a:solidFill>
                <a:srgbClr val="FFD966"/>
              </a:solidFill>
              <a:ln w="9525">
                <a:solidFill>
                  <a:srgbClr val="111827"/>
                </a:solidFill>
              </a:ln>
            </c:spPr>
          </c:dPt>
          <c:dPt>
            <c:idx val="5"/>
            <c:spPr>
              <a:solidFill>
                <a:srgbClr val="FFD966"/>
              </a:solidFill>
              <a:ln w="9525">
                <a:solidFill>
                  <a:srgbClr val="111827"/>
                </a:solidFill>
              </a:ln>
            </c:spPr>
          </c:dPt>
          <c:dPt>
            <c:idx val="6"/>
            <c:spPr>
              <a:solidFill>
                <a:srgbClr val="F6B26B"/>
              </a:solidFill>
              <a:ln w="9525">
                <a:solidFill>
                  <a:srgbClr val="111827"/>
                </a:solidFill>
              </a:ln>
            </c:spPr>
          </c:dPt>
          <c:dPt>
            <c:idx val="7"/>
            <c:spPr>
              <a:solidFill>
                <a:srgbClr val="F6B26B"/>
              </a:solidFill>
              <a:ln w="9525">
                <a:solidFill>
                  <a:srgbClr val="111827"/>
                </a:solidFill>
              </a:ln>
            </c:spPr>
          </c:dPt>
          <c:dPt>
            <c:idx val="8"/>
            <c:spPr>
              <a:solidFill>
                <a:srgbClr val="FFD966"/>
              </a:solidFill>
              <a:ln w="9525">
                <a:solidFill>
                  <a:srgbClr val="111827"/>
                </a:solidFill>
              </a:ln>
            </c:spPr>
          </c:dPt>
          <c:dPt>
            <c:idx val="9"/>
            <c:spPr>
              <a:solidFill>
                <a:srgbClr val="FFD966"/>
              </a:solidFill>
              <a:ln w="9525">
                <a:solidFill>
                  <a:srgbClr val="111827"/>
                </a:solidFill>
              </a:ln>
            </c:spPr>
          </c:dPt>
          <c:dPt>
            <c:idx val="10"/>
            <c:spPr>
              <a:solidFill>
                <a:srgbClr val="F6B26B"/>
              </a:solidFill>
              <a:ln w="9525">
                <a:solidFill>
                  <a:srgbClr val="111827"/>
                </a:solidFill>
              </a:ln>
            </c:spPr>
          </c:dPt>
          <c:dPt>
            <c:idx val="11"/>
            <c:spPr>
              <a:solidFill>
                <a:srgbClr val="F6B26B"/>
              </a:solidFill>
              <a:ln w="9525">
                <a:solidFill>
                  <a:srgbClr val="111827"/>
                </a:solidFill>
              </a:ln>
            </c:spPr>
          </c:dPt>
          <c:dPt>
            <c:idx val="12"/>
            <c:spPr>
              <a:solidFill>
                <a:srgbClr val="F6B26B"/>
              </a:solidFill>
              <a:ln w="9525">
                <a:solidFill>
                  <a:srgbClr val="111827"/>
                </a:solidFill>
              </a:ln>
            </c:spPr>
          </c:dPt>
          <c:dPt>
            <c:idx val="13"/>
            <c:spPr>
              <a:solidFill>
                <a:srgbClr val="FFD966"/>
              </a:solidFill>
              <a:ln w="9525">
                <a:solidFill>
                  <a:srgbClr val="111827"/>
                </a:solidFill>
              </a:ln>
            </c:spPr>
          </c:dPt>
          <c:dPt>
            <c:idx val="14"/>
            <c:spPr>
              <a:solidFill>
                <a:srgbClr val="FFD966"/>
              </a:solidFill>
              <a:ln w="9525">
                <a:solidFill>
                  <a:srgbClr val="111827"/>
                </a:solidFill>
              </a:ln>
            </c:spPr>
          </c:dPt>
          <c:dPt>
            <c:idx val="15"/>
            <c:spPr>
              <a:solidFill>
                <a:srgbClr val="F6B26B"/>
              </a:solidFill>
              <a:ln w="9525">
                <a:solidFill>
                  <a:srgbClr val="111827"/>
                </a:solidFill>
              </a:ln>
            </c:spPr>
          </c:dPt>
          <c:dPt>
            <c:idx val="16"/>
            <c:spPr>
              <a:solidFill>
                <a:srgbClr val="FFD966"/>
              </a:solidFill>
              <a:ln w="9525">
                <a:solidFill>
                  <a:srgbClr val="111827"/>
                </a:solidFill>
              </a:ln>
            </c:spPr>
          </c:dPt>
          <c:dPt>
            <c:idx val="17"/>
            <c:spPr>
              <a:solidFill>
                <a:srgbClr val="FFD966"/>
              </a:solidFill>
              <a:ln w="9525">
                <a:solidFill>
                  <a:srgbClr val="111827"/>
                </a:solidFill>
              </a:ln>
            </c:spPr>
          </c:dPt>
          <c:dPt>
            <c:idx val="18"/>
            <c:spPr>
              <a:solidFill>
                <a:srgbClr val="FFD966"/>
              </a:solidFill>
              <a:ln w="9525">
                <a:solidFill>
                  <a:srgbClr val="111827"/>
                </a:solidFill>
              </a:ln>
            </c:spPr>
          </c:dPt>
          <c:dPt>
            <c:idx val="19"/>
            <c:spPr>
              <a:solidFill>
                <a:srgbClr val="F6B26B"/>
              </a:solidFill>
              <a:ln w="9525">
                <a:solidFill>
                  <a:srgbClr val="111827"/>
                </a:solidFill>
              </a:ln>
            </c:spPr>
          </c:dPt>
          <c:dPt>
            <c:idx val="20"/>
            <c:spPr>
              <a:solidFill>
                <a:srgbClr val="FFD966"/>
              </a:solidFill>
              <a:ln w="9525">
                <a:solidFill>
                  <a:srgbClr val="111827"/>
                </a:solidFill>
              </a:ln>
            </c:spPr>
          </c:dPt>
          <c:dPt>
            <c:idx val="21"/>
            <c:spPr>
              <a:solidFill>
                <a:srgbClr val="B6D7A8"/>
              </a:solidFill>
              <a:ln w="9525">
                <a:solidFill>
                  <a:srgbClr val="111827"/>
                </a:solidFill>
              </a:ln>
            </c:spPr>
          </c:dPt>
          <c:dPt>
            <c:idx val="22"/>
            <c:spPr>
              <a:solidFill>
                <a:srgbClr val="B6D7A8"/>
              </a:solidFill>
              <a:ln w="9525">
                <a:solidFill>
                  <a:srgbClr val="111827"/>
                </a:solidFill>
              </a:ln>
            </c:spPr>
          </c:dPt>
          <c:dPt>
            <c:idx val="23"/>
            <c:spPr>
              <a:solidFill>
                <a:srgbClr val="FFD966"/>
              </a:solidFill>
              <a:ln w="9525">
                <a:solidFill>
                  <a:srgbClr val="111827"/>
                </a:solidFill>
              </a:ln>
            </c:spPr>
          </c:dPt>
          <c:dPt>
            <c:idx val="24"/>
            <c:spPr>
              <a:solidFill>
                <a:srgbClr val="FFD966"/>
              </a:solidFill>
              <a:ln w="9525">
                <a:solidFill>
                  <a:srgbClr val="111827"/>
                </a:solidFill>
              </a:ln>
            </c:spPr>
          </c:dPt>
          <c:dPt>
            <c:idx val="25"/>
            <c:spPr>
              <a:solidFill>
                <a:srgbClr val="FFD966"/>
              </a:solidFill>
              <a:ln w="9525">
                <a:solidFill>
                  <a:srgbClr val="111827"/>
                </a:solidFill>
              </a:ln>
            </c:spPr>
          </c:dPt>
          <c:cat>
            <c:strRef>
              <c:f>Sheet1!$A$2:$A$27</c:f>
              <c:strCache>
                <c:ptCount val="26"/>
                <c:pt idx="0">
                  <c:v>Q1</c:v>
                </c:pt>
                <c:pt idx="1">
                  <c:v>Q2</c:v>
                </c:pt>
                <c:pt idx="2">
                  <c:v>Q3</c:v>
                </c:pt>
                <c:pt idx="3">
                  <c:v>Q4</c:v>
                </c:pt>
                <c:pt idx="4">
                  <c:v>Q5</c:v>
                </c:pt>
                <c:pt idx="5">
                  <c:v>Q6</c:v>
                </c:pt>
                <c:pt idx="6">
                  <c:v>Q7</c:v>
                </c:pt>
                <c:pt idx="7">
                  <c:v>Q8</c:v>
                </c:pt>
                <c:pt idx="8">
                  <c:v>Q9</c:v>
                </c:pt>
                <c:pt idx="9">
                  <c:v>Q10</c:v>
                </c:pt>
                <c:pt idx="10">
                  <c:v>Q11</c:v>
                </c:pt>
                <c:pt idx="11">
                  <c:v>Q12</c:v>
                </c:pt>
                <c:pt idx="12">
                  <c:v>Q13</c:v>
                </c:pt>
                <c:pt idx="13">
                  <c:v>Q14</c:v>
                </c:pt>
                <c:pt idx="14">
                  <c:v>Q15</c:v>
                </c:pt>
                <c:pt idx="15">
                  <c:v>Q16</c:v>
                </c:pt>
                <c:pt idx="16">
                  <c:v>Q17</c:v>
                </c:pt>
                <c:pt idx="17">
                  <c:v>Q18</c:v>
                </c:pt>
                <c:pt idx="18">
                  <c:v>Q19</c:v>
                </c:pt>
                <c:pt idx="19">
                  <c:v>Q20</c:v>
                </c:pt>
                <c:pt idx="20">
                  <c:v>Q21</c:v>
                </c:pt>
                <c:pt idx="21">
                  <c:v>Q22</c:v>
                </c:pt>
                <c:pt idx="22">
                  <c:v>Q23</c:v>
                </c:pt>
                <c:pt idx="23">
                  <c:v>Q24</c:v>
                </c:pt>
                <c:pt idx="24">
                  <c:v>Q25</c:v>
                </c:pt>
                <c:pt idx="25">
                  <c:v>Q26</c:v>
                </c:pt>
              </c:strCache>
            </c:strRef>
          </c:cat>
          <c:val>
            <c:numRef>
              <c:f>Sheet1!$B$2:$B$27</c:f>
              <c:numCache>
                <c:formatCode>General</c:formatCode>
                <c:ptCount val="26"/>
                <c:pt idx="0">
                  <c:v>2.0</c:v>
                </c:pt>
                <c:pt idx="1">
                  <c:v>2.0</c:v>
                </c:pt>
                <c:pt idx="2">
                  <c:v>2.0</c:v>
                </c:pt>
                <c:pt idx="3">
                  <c:v>3.0</c:v>
                </c:pt>
                <c:pt idx="4">
                  <c:v>2.0</c:v>
                </c:pt>
                <c:pt idx="5">
                  <c:v>2.0</c:v>
                </c:pt>
                <c:pt idx="6">
                  <c:v>3.0</c:v>
                </c:pt>
                <c:pt idx="7">
                  <c:v>3.0</c:v>
                </c:pt>
                <c:pt idx="8">
                  <c:v>2.0</c:v>
                </c:pt>
                <c:pt idx="9">
                  <c:v>2.0</c:v>
                </c:pt>
                <c:pt idx="10">
                  <c:v>3.0</c:v>
                </c:pt>
                <c:pt idx="11">
                  <c:v>3.0</c:v>
                </c:pt>
                <c:pt idx="12">
                  <c:v>3.0</c:v>
                </c:pt>
                <c:pt idx="13">
                  <c:v>2.0</c:v>
                </c:pt>
                <c:pt idx="14">
                  <c:v>2.0</c:v>
                </c:pt>
                <c:pt idx="15">
                  <c:v>3.0</c:v>
                </c:pt>
                <c:pt idx="16">
                  <c:v>2.0</c:v>
                </c:pt>
                <c:pt idx="17">
                  <c:v>2.0</c:v>
                </c:pt>
                <c:pt idx="18">
                  <c:v>2.0</c:v>
                </c:pt>
                <c:pt idx="19">
                  <c:v>3.0</c:v>
                </c:pt>
                <c:pt idx="20">
                  <c:v>2.0</c:v>
                </c:pt>
                <c:pt idx="21">
                  <c:v>1.0</c:v>
                </c:pt>
                <c:pt idx="22">
                  <c:v>1.0</c:v>
                </c:pt>
                <c:pt idx="23">
                  <c:v>2.0</c:v>
                </c:pt>
                <c:pt idx="24">
                  <c:v>2.0</c:v>
                </c:pt>
                <c:pt idx="25">
                  <c:v>2.0</c:v>
                </c:pt>
              </c:numCache>
            </c:numRef>
          </c:val>
        </c:ser>
        <c:dLbls>
          <c:numFmt formatCode="0.0#" sourceLinked="0"/>
          <c:txPr>
            <a:bodyPr/>
            <a:lstStyle/>
            <a:p>
              <a:pPr>
                <a:defRPr sz="2000" b="1">
                  <a:solidFill>
                    <a:srgbClr val="111827"/>
                  </a:solidFill>
                  <a:latin typeface="Arial"/>
                </a:defRPr>
              </a:pPr>
            </a:p>
          </c:txPr>
          <c:dLblPos val="outEnd"/>
          <c:showLegendKey val="0"/>
          <c:showVal val="1"/>
          <c:showCatName val="0"/>
          <c:showSerName val="0"/>
          <c:showPercent val="0"/>
          <c:showBubbleSize val="0"/>
          <c:showLeaderLines val="1"/>
        </c:dLbls>
        <c:gapWidth val="40"/>
        <c:axId val="-2068027336"/>
        <c:axId val="-2113994440"/>
      </c:barChart>
      <c:catAx>
        <c:axId val="-2068027336"/>
        <c:scaling>
          <c:orientation val="minMax"/>
        </c:scaling>
        <c:delete val="0"/>
        <c:axPos val="b"/>
        <c:majorTickMark val="out"/>
        <c:minorTickMark val="none"/>
        <c:tickLblPos val="nextTo"/>
        <c:txPr>
          <a:bodyPr/>
          <a:lstStyle/>
          <a:p>
            <a:pPr>
              <a:defRPr sz="2000" b="1">
                <a:latin typeface="Arial"/>
              </a:defRPr>
            </a:pPr>
          </a:p>
        </c:txPr>
        <c:crossAx val="-2113994440"/>
        <c:crosses val="autoZero"/>
        <c:auto val="1"/>
        <c:lblAlgn val="ctr"/>
        <c:lblOffset val="100"/>
        <c:noMultiLvlLbl val="0"/>
      </c:catAx>
      <c:valAx>
        <c:axId val="-2113994440"/>
        <c:scaling>
          <c:max val="5.5"/>
          <c:min val="0.0"/>
        </c:scaling>
        <c:delete val="0"/>
        <c:axPos val="l"/>
        <c:majorGridlines>
          <c:spPr>
            <a:ln>
              <a:solidFill>
                <a:srgbClr val="D1D5DB"/>
              </a:solidFill>
            </a:ln>
          </c:spPr>
        </c:majorGridlines>
        <c:title>
          <c:tx>
            <c:rich>
              <a:bodyPr/>
              <a:lstStyle/>
              <a:p>
                <a:r>
                  <a:rPr sz="2000"/>
                  <a:t>Level</a:t>
                </a:r>
              </a:p>
            </c:rich>
          </c:tx>
          <c:layout/>
          <c:overlay val="0"/>
        </c:title>
        <c:majorTickMark val="out"/>
        <c:minorTickMark val="none"/>
        <c:tickLblPos val="nextTo"/>
        <c:txPr>
          <a:bodyPr/>
          <a:lstStyle/>
          <a:p>
            <a:pPr>
              <a:defRPr sz="2000">
                <a:latin typeface="Arial"/>
              </a:defRPr>
            </a:pPr>
          </a:p>
        </c:txPr>
        <c:crossAx val="-2068027336"/>
        <c:crosses val="autoZero"/>
        <c:majorUnit val="1.0"/>
      </c:valAx>
    </c:plotArea>
    <c:dispBlanksAs val="gap"/>
  </c:chart>
  <c:txPr>
    <a:bodyPr/>
    <a:lstStyle/>
    <a:p>
      <a:pPr>
        <a:defRPr sz="1800"/>
      </a:pPr>
      <a:endParaRPr lang="en-US"/>
    </a:p>
  </c:txPr>
  <c:externalData r:id="rId1">
    <c:autoUpdate val="0"/>
  </c:externalData>
</c:chartSpace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p="http://schemas.openxmlformats.org/presentationml/2006/main" xmlns:r="http://schemas.openxmlformats.org/officeDocument/2006/relationships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F89C1C7-3DCD-1040-A9CF-14679D8B5DDD}" type="datetimeFigureOut">
              <a:rPr lang="en-US" smtClean="0"/>
              <a:t>10/17/16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B5E49A5-4136-284D-997B-48E1D791AD6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2325218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0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7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3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0.xml"/></Relationships>
</file>

<file path=ppt/notesSlides/_rels/notesSlide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7.xml"/></Relationships>
</file>

<file path=ppt/notesSlides/_rels/notesSlide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4.xml"/></Relationships>
</file>

<file path=ppt/notesSlides/_rels/notesSlide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1.xml"/></Relationships>
</file>

<file path=ppt/notesSlides/_rels/notesSlide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6.xml"/></Relationships>
</file>

<file path=ppt/notesSlides/_rels/notesSlide1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3.xml"/></Relationships>
</file>

<file path=ppt/notesSlides/_rels/notesSlide1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9.xml"/></Relationships>
</file>

<file path=ppt/notesSlides/_rels/notesSlide1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6.xml"/></Relationships>
</file>

<file path=ppt/notesSlides/_rels/notesSlide1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83.xml"/></Relationships>
</file>

<file path=ppt/notesSlides/_rels/notesSlide1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90.xml"/></Relationships>
</file>

<file path=ppt/notesSlides/_rels/notesSlide1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94.xml"/></Relationships>
</file>

<file path=ppt/notesSlides/_rels/notesSlide1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00.xml"/></Relationships>
</file>

<file path=ppt/notesSlides/_rels/notesSlide1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06.xml"/></Relationships>
</file>

<file path=ppt/notesSlides/_rels/notesSlide1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13.xml"/></Relationships>
</file>

<file path=ppt/notesSlides/_rels/notesSlide1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19.xml"/></Relationships>
</file>

<file path=ppt/notesSlides/_rels/notesSlide2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25.xml"/></Relationships>
</file>

<file path=ppt/notesSlides/_rels/notesSlide2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33.xml"/></Relationships>
</file>

<file path=ppt/notesSlides/_rels/notesSlide2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39.xml"/></Relationships>
</file>

<file path=ppt/notesSlides/_rels/notesSlide2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44.xml"/></Relationships>
</file>

<file path=ppt/notesSlides/_rels/notesSlide2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48.xml"/></Relationships>
</file>

<file path=ppt/notesSlides/_rels/notesSlide2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54.xml"/></Relationships>
</file>

<file path=ppt/notesSlides/_rels/notesSlide2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59.xml"/></Relationships>
</file>

<file path=ppt/notesSlides/notesSlide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Solution copied from the PDF in full and checked step by step - it is correct.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Solution copied from the PDF in full and checked step by step - it is correct.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Solution copied from the PDF in full and checked step by step - it is correct.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Solution copied from the PDF in full and checked step by step - it is correct.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Solution copied from the PDF in full and checked step by step - it is correct.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Solution copied from the PDF in full and checked step by step - it is correct.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Solution copied from the PDF in full and checked step by step - it is correct.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Solution copied from the PDF in full and checked step by step - it is correct.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Solution copied from the PDF in full and checked step by step - it is correct.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Solution copied from the PDF in full and checked step by step - it is correct.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Solution taken from the PDF but CORRECTED by Claude.</a:t>
            </a:r>
          </a:p>
          <a:p>
            <a:r>
              <a:t>WHAT WAS WRONG IN THE PDF AND WHAT CHANGED: The PDF expands the first determinant as (mr - qn) - (br - qc) + (bn + cm). The last term should be (bn - cm) (cofactor A31 = bn - cm). The PDF's intermediate determinants also contain typos (q-x, r+x, 'c3 + c3 - x4', 's(0)' for f(0)); the structure is unchanged. Corrected the expansion and the typos.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Solution copied from the PDF in full and checked step by step - it is correct.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Solution copied from the PDF in full and checked step by step - it is correct.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Solution copied from the PDF in full and checked step by step - it is correct.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Solution copied from the PDF in full and checked step by step - it is correct.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Solution copied from the PDF in full and checked step by step - it is correct.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Solution copied from the PDF in full and checked step by step - it is correct.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8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Solution copied from the PDF in full and checked step by step - it is correct.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9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Solution copied from the PDF in full and checked step by step - it is correct.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0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Solution copied from the PDF in full and checked step by step - it is correct.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Solution copied from the PDF in full and checked step by step - it is correct.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Solution copied from the PDF in full and checked step by step - it is correct.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Solution taken from the PDF but CORRECTED by Claude.</a:t>
            </a:r>
          </a:p>
          <a:p>
            <a:r>
              <a:t>WHAT WAS WRONG IN THE PDF AND WHAT CHANGED: The PDF writes g(x) = 9/(x-3)^3 near x = 0, i.e. it uses the x &gt; 3 branch where the limit point is x = 0 &lt; 3; its denominator (x-3)^3 + 9 would be -18 at 0 instead of 36. The correct branch near 0 is g = 9/(3-x)^3 (which gives g(0) = 1/3 as in the paragraph). The value of the limit, 0, is unchanged.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Solution copied from the PDF in full and checked step by step - it is correct.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Solution taken from the PDF but CORRECTED by Claude.</a:t>
            </a:r>
          </a:p>
          <a:p>
            <a:r>
              <a:t>WHAT WAS WRONG IN THE PDF AND WHAT CHANGED: The PDF substitutes sec^2 x = t and then writes f = 1/(t^2 + t + 1); but f = 1/(sec^2 x + sec x + 1) = 1/(t + sqrt(t) + 1) with t = sec^2 x, so t^2 is wrong. The correct substitution is t = sec x &gt;= 1, giving f = 1/(t^2 + t + 1) with t^2 + t + 1 &gt;= 3 and the same range (0, 1/3]. The final answer is unchanged.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Solution taken from the PDF but CORRECTED by Claude.</a:t>
            </a:r>
          </a:p>
          <a:p>
            <a:r>
              <a:t>WHAT WAS WRONG IN THE PDF AND WHAT CHANGED: Part (B): the PDF says 'f(xy) = f(x) + f(y) and f differentiable =&gt; f(x) = ln x'. That is not right for x, y in R: ln x is not defined for x &lt;= 0, and the equation with x = y = 0 forces f(0) = 0 and then f(y) = f(0*y) - f(0) = 0 for all y, so f is identically 0. The required value f(e) + f(1/e) = f(1) = 0 is correct either way (x = y = 1 gives f(1) = 0; take y = 1/x). Rewritten without assuming f = ln x. Parts (A), (C), (D) agree with the PDF (in (D) the domain (0, pi/2) is stated).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3.xml"/></Relationships>
</file>

<file path=ppt/slides/_rels/slide1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4.xml"/></Relationships>
</file>

<file path=ppt/slides/_rels/slide2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5.xml"/></Relationships>
</file>

<file path=ppt/slides/_rels/slide3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6.xml"/></Relationships>
</file>

<file path=ppt/slides/_rels/slide3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7.xml"/></Relationships>
</file>

<file path=ppt/slides/_rels/slide4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8.xml"/></Relationships>
</file>

<file path=ppt/slides/_rels/slide5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9.xml"/></Relationships>
</file>

<file path=ppt/slides/_rels/slide5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0.xml"/></Relationships>
</file>

<file path=ppt/slides/_rels/slide6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1.xml"/></Relationships>
</file>

<file path=ppt/slides/_rels/slide7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2.xml"/></Relationships>
</file>

<file path=ppt/slides/_rels/slide7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3.xml"/></Relationships>
</file>

<file path=ppt/slides/_rels/slide8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4.xml"/></Relationships>
</file>

<file path=ppt/slides/_rels/slide9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5.xml"/></Relationships>
</file>

<file path=ppt/slides/_rels/slide9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6.xml"/></Relationships>
</file>

<file path=ppt/slides/_rels/slide10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7.xml"/></Relationships>
</file>

<file path=ppt/slides/_rels/slide10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8.xml"/></Relationships>
</file>

<file path=ppt/slides/_rels/slide1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9.xml"/></Relationships>
</file>

<file path=ppt/slides/_rels/slide12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0.xml"/></Relationships>
</file>

<file path=ppt/slides/_rels/slide12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1.xml"/></Relationships>
</file>

<file path=ppt/slides/_rels/slide13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2.xml"/></Relationships>
</file>

<file path=ppt/slides/_rels/slide14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3.xml"/></Relationships>
</file>

<file path=ppt/slides/_rels/slide14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4.xml"/></Relationships>
</file>

<file path=ppt/slides/_rels/slide14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5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5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5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5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5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5.xml"/></Relationships>
</file>

<file path=ppt/slides/_rels/slide15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5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5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5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5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6.xml"/></Relationships>
</file>

<file path=ppt/slides/_rels/slide16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6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6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6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6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6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6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6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6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6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7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7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7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chart" Target="../charts/chart1.xml"/></Relationships>
</file>

<file path=ppt/slides/_rels/slide17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FFFFFF"/>
          </a:fontRef>
        </p:style>
        <p:txBody>
          <a:bodyPr rtlCol="0" anchor="ctr"/>
          <a:lstStyle>
            <a:lvl1pPr>
              <a:defRPr sz="4000">
                <a:solidFill>
                  <a:srgbClr val="FFFFFF"/>
                </a:solidFill>
              </a:defRPr>
            </a:lvl1pPr>
          </a:lstStyle>
          <a:p>
            <a:pPr algn="ctr">
              <a:defRPr sz="4000">
                <a:solidFill>
                  <a:srgbClr val="FFFFFF"/>
                </a:solidFill>
              </a:defRPr>
            </a:pPr>
            <a:r>
              <a:rPr sz="4000" b="1">
                <a:solidFill>
                  <a:srgbClr val="FFFFFF"/>
                </a:solidFill>
                <a:latin typeface="Arial"/>
              </a:rPr>
              <a:t>SHEET Methods of Differentiation (C2) — Paper Analysis</a:t>
            </a:r>
            <a:endParaRPr sz="4000">
              <a:solidFill>
                <a:srgbClr val="FFFFFF"/>
              </a:solidFill>
            </a:endParaRPr>
          </a:p>
          <a:p>
            <a:pPr algn="ctr"/>
            <a:r>
              <a:rPr sz="2200">
                <a:solidFill>
                  <a:srgbClr val="FFFFFF"/>
                </a:solidFill>
                <a:latin typeface="Arial"/>
              </a:rPr>
              <a:t>Exercise C-II (Methods of Differentiation) · detailed solutions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914400" y="1463040"/>
            <a:ext cx="10362895" cy="4114800"/>
          </a:xfrm>
          <a:prstGeom prst="rect">
            <a:avLst/>
          </a:prstGeom>
          <a:noFill/>
        </p:spPr>
        <p:txBody>
          <a:bodyPr wrap="square">
            <a:spAutoFit/>
          </a:bodyPr>
          <a:lstStyle>
            <a:lvl1pPr>
              <a:defRPr sz="2800">
                <a:solidFill>
                  <a:srgbClr val="FFFFFF"/>
                </a:solidFill>
              </a:defRPr>
            </a:lvl1pPr>
          </a:lstStyle>
          <a:p>
            <a:pPr algn="ctr">
              <a:spcAft>
                <a:spcPts val="1000"/>
              </a:spcAft>
              <a:defRPr sz="2800">
                <a:solidFill>
                  <a:srgbClr val="FFFFFF"/>
                </a:solidFill>
              </a:defRPr>
            </a:pPr>
            <a:r>
              <a:rPr sz="2800" b="0">
                <a:solidFill>
                  <a:srgbClr val="93C5FD"/>
                </a:solidFill>
                <a:latin typeface="Arial"/>
              </a:rPr>
              <a:t>Section 1</a:t>
            </a:r>
            <a:endParaRPr sz="2800">
              <a:solidFill>
                <a:srgbClr val="FFFFFF"/>
              </a:solidFill>
            </a:endParaRPr>
          </a:p>
          <a:p>
            <a:pPr algn="ctr">
              <a:spcAft>
                <a:spcPts val="1000"/>
              </a:spcAft>
              <a:defRPr sz="2800">
                <a:solidFill>
                  <a:srgbClr val="FFFFFF"/>
                </a:solidFill>
              </a:defRPr>
            </a:pPr>
            <a:r>
              <a:rPr sz="4400" b="1">
                <a:solidFill>
                  <a:srgbClr val="FFFFFF"/>
                </a:solidFill>
                <a:latin typeface="Arial"/>
              </a:rPr>
              <a:t>Subjective Type</a:t>
            </a:r>
            <a:endParaRPr sz="2800">
              <a:solidFill>
                <a:srgbClr val="FFFFFF"/>
              </a:solidFill>
            </a:endParaRPr>
          </a:p>
          <a:p>
            <a:pPr algn="ctr">
              <a:spcAft>
                <a:spcPts val="1000"/>
              </a:spcAft>
              <a:defRPr sz="2800">
                <a:solidFill>
                  <a:srgbClr val="FFFFFF"/>
                </a:solidFill>
              </a:defRPr>
            </a:pPr>
            <a:r>
              <a:rPr sz="3200" b="1">
                <a:solidFill>
                  <a:srgbClr val="FFFFFF"/>
                </a:solidFill>
                <a:latin typeface="Arial"/>
              </a:rPr>
              <a:t>Q01 – Q02</a:t>
            </a:r>
            <a:endParaRPr sz="2800">
              <a:solidFill>
                <a:srgbClr val="FFFFFF"/>
              </a:solidFill>
            </a:endParaRPr>
          </a:p>
          <a:p>
            <a:pPr algn="ctr">
              <a:spcAft>
                <a:spcPts val="1000"/>
              </a:spcAft>
              <a:defRPr sz="2800">
                <a:solidFill>
                  <a:srgbClr val="FFFFFF"/>
                </a:solidFill>
              </a:defRPr>
            </a:pPr>
            <a:r>
              <a:rPr sz="2800" b="0">
                <a:solidFill>
                  <a:srgbClr val="FFFFFF"/>
                </a:solidFill>
                <a:latin typeface="Arial"/>
              </a:rPr>
              <a:t>4 marks each (no marks printed in the paper: JEE Advanced default assumed)</a:t>
            </a:r>
            <a:endParaRPr sz="2800">
              <a:solidFill>
                <a:srgbClr val="FFFFFF"/>
              </a:solidFill>
            </a:endParaRPr>
          </a:p>
          <a:p>
            <a:pPr algn="ctr">
              <a:spcAft>
                <a:spcPts val="1000"/>
              </a:spcAft>
              <a:defRPr sz="2800">
                <a:solidFill>
                  <a:srgbClr val="FFFFFF"/>
                </a:solidFill>
              </a:defRPr>
            </a:pPr>
            <a:r>
              <a:rPr sz="2800" b="0">
                <a:solidFill>
                  <a:srgbClr val="FFFFFF"/>
                </a:solidFill>
                <a:latin typeface="Arial"/>
              </a:rPr>
              <a:t>Prove / find; complete solution with alternate method and result</a:t>
            </a:r>
            <a:endParaRPr sz="2800">
              <a:solidFill>
                <a:srgbClr val="FFFFFF"/>
              </a:solidFill>
            </a:endParaRP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FFFFFF"/>
          </a:fontRef>
        </p:style>
        <p:txBody>
          <a:bodyPr rtlCol="0" anchor="ctr" lIns="731520"/>
          <a:lstStyle>
            <a:lvl1pPr>
              <a:defRPr sz="3200">
                <a:solidFill>
                  <a:srgbClr val="FFFFFF"/>
                </a:solidFill>
              </a:defRPr>
            </a:lvl1pPr>
          </a:lstStyle>
          <a:p>
            <a:pPr algn="l">
              <a:defRPr sz="3200">
                <a:solidFill>
                  <a:srgbClr val="FFFFFF"/>
                </a:solidFill>
              </a:defRPr>
            </a:pPr>
            <a:r>
              <a:rPr sz="3200" b="1">
                <a:solidFill>
                  <a:srgbClr val="FFFFFF"/>
                </a:solidFill>
                <a:latin typeface="Arial"/>
              </a:rPr>
              <a:t>Question 01</a:t>
            </a:r>
            <a:endParaRPr sz="3200">
              <a:solidFill>
                <a:srgbClr val="FFFFFF"/>
              </a:solidFill>
            </a:endParaRPr>
          </a:p>
        </p:txBody>
      </p:sp>
      <p:sp>
        <p:nvSpPr>
          <p:cNvPr id="3" name="Rounded Rectangle 2"/>
          <p:cNvSpPr/>
          <p:nvPr/>
        </p:nvSpPr>
        <p:spPr>
          <a:xfrm>
            <a:off x="7894015" y="246887"/>
            <a:ext cx="3840480" cy="603504"/>
          </a:xfrm>
          <a:prstGeom prst="roundRect">
            <a:avLst>
              <a:gd name="adj" fmla="val 50000"/>
            </a:avLst>
          </a:prstGeom>
          <a:solidFill>
            <a:srgbClr val="FFD966"/>
          </a:solidFill>
          <a:ln w="1905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111827"/>
          </a:fontRef>
        </p:style>
        <p:txBody>
          <a:bodyPr rtlCol="0" anchor="ctr" wrap="square" lIns="228600" rIns="228600" tIns="18288" bIns="18288"/>
          <a:lstStyle>
            <a:lvl1pPr>
              <a:defRPr sz="2400">
                <a:solidFill>
                  <a:srgbClr val="111827"/>
                </a:solidFill>
              </a:defRPr>
            </a:lvl1pPr>
          </a:lstStyle>
          <a:p>
            <a:pPr algn="ctr">
              <a:defRPr sz="2400">
                <a:solidFill>
                  <a:srgbClr val="111827"/>
                </a:solidFill>
              </a:defRPr>
            </a:pPr>
            <a:r>
              <a:rPr sz="2400" b="1">
                <a:solidFill>
                  <a:srgbClr val="111827"/>
                </a:solidFill>
                <a:latin typeface="Arial"/>
              </a:rPr>
              <a:t>Level 2  ·  4 Marks</a:t>
            </a:r>
            <a:endParaRPr sz="2400">
              <a:solidFill>
                <a:srgbClr val="111827"/>
              </a:solidFill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4" name="Rounded Rectangle 3"/>
              <p:cNvSpPr/>
              <p:nvPr/>
            </p:nvSpPr>
            <p:spPr>
              <a:xfrm>
                <a:off x="731520" y="1280160"/>
                <a:ext cx="10725912" cy="1737360"/>
              </a:xfrm>
              <a:prstGeom prst="roundRect">
                <a:avLst>
                  <a:gd name="adj" fmla="val 8000"/>
                </a:avLst>
              </a:prstGeom>
              <a:solidFill>
                <a:srgbClr val="E0ECFF"/>
              </a:solidFill>
              <a:ln w="25400">
                <a:solidFill>
                  <a:srgbClr val="1D4ED8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>
                  <a:spcAft>
                    <a:spcPts val="500"/>
                  </a:spcAft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If </a:t>
                </a:r>
                <a14:m>
                  <m:oMath xmlns:m="http://schemas.openxmlformats.org/officeDocument/2006/math">
                    <m:rad>
                      <m:radPr>
                        <m:degHide m:val="on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radPr>
                      <m:deg/>
                      <m:e>
                        <m:sSup>
                          <m:e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𝑥</m:t>
                            </m:r>
                          </m:e>
                          <m:sup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2</m:t>
                            </m:r>
                          </m:sup>
                        </m:sSup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+</m:t>
                        </m:r>
                        <m:sSup>
                          <m:e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𝑦</m:t>
                            </m:r>
                          </m:e>
                          <m:sup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2</m:t>
                            </m:r>
                          </m:sup>
                        </m:sSup>
                      </m:e>
                    </m:rad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𝑒</m:t>
                        </m:r>
                      </m:e>
                      <m:sup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arcsin</m:t>
                        </m:r>
                        <m:f>
                          <m:fPr>
                            <m:type m:val="bar"/>
                            <m:ctrlP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fPr>
                          <m:num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𝑦</m:t>
                            </m:r>
                          </m:num>
                          <m:den>
                            <m:rad>
                              <m:radPr>
                                <m:degHide m:val="on"/>
                                <m:ctrlPr>
                                  <a:rPr lang="en-IN" sz="2400" i="1">
                                    <a:solidFill>
                                      <a:srgbClr val="111827"/>
                                    </a:solidFill>
                                    <a:latin typeface="Cambria Math" panose="02040503050406030204" pitchFamily="18" charset="0"/>
                                  </a:rPr>
                                </m:ctrlPr>
                              </m:radPr>
                              <m:deg/>
                              <m:e>
                                <m:sSup>
                                  <m:e>
                                    <m:r>
                                      <a:rPr lang="en-IN" sz="2400" i="1">
                                        <a:solidFill>
                                          <a:srgbClr val="111827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𝑥</m:t>
                                    </m:r>
                                  </m:e>
                                  <m:sup>
                                    <m:r>
                                      <a:rPr lang="en-IN" sz="2400" i="1">
                                        <a:solidFill>
                                          <a:srgbClr val="111827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2</m:t>
                                    </m:r>
                                  </m:sup>
                                </m:sSup>
                                <m:r>
                                  <m:rPr>
                                    <m:sty m:val="p"/>
                                  </m:rPr>
                                  <a:rPr lang="en-IN" sz="2400">
                                    <a:solidFill>
                                      <a:srgbClr val="111827"/>
                                    </a:solidFill>
                                    <a:latin typeface="Cambria Math" panose="02040503050406030204" pitchFamily="18" charset="0"/>
                                  </a:rPr>
                                  <m:t>+</m:t>
                                </m:r>
                                <m:sSup>
                                  <m:e>
                                    <m:r>
                                      <a:rPr lang="en-IN" sz="2400" i="1">
                                        <a:solidFill>
                                          <a:srgbClr val="111827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𝑦</m:t>
                                    </m:r>
                                  </m:e>
                                  <m:sup>
                                    <m:r>
                                      <a:rPr lang="en-IN" sz="2400" i="1">
                                        <a:solidFill>
                                          <a:srgbClr val="111827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2</m:t>
                                    </m:r>
                                  </m:sup>
                                </m:sSup>
                              </m:e>
                            </m:rad>
                          </m:den>
                        </m:f>
                      </m:sup>
                    </m:sSup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prove that </a:t>
                </a:r>
                <a14:m>
                  <m:oMath xmlns:m="http://schemas.openxmlformats.org/officeDocument/2006/math"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sSup>
                          <m:e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𝑑</m:t>
                            </m:r>
                          </m:e>
                          <m:sup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2</m:t>
                            </m:r>
                          </m:sup>
                        </m:s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𝑦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𝑑</m:t>
                        </m:r>
                        <m:sSup>
                          <m:e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𝑥</m:t>
                            </m:r>
                          </m:e>
                          <m:sup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2</m:t>
                            </m:r>
                          </m:sup>
                        </m:sSup>
                      </m:den>
                    </m:f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(</m:t>
                        </m:r>
                        <m:sSup>
                          <m:e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𝑥</m:t>
                            </m:r>
                          </m:e>
                          <m:sup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2</m:t>
                            </m:r>
                          </m:sup>
                        </m:sSup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+</m:t>
                        </m:r>
                        <m:sSup>
                          <m:e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𝑦</m:t>
                            </m:r>
                          </m:e>
                          <m:sup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2</m:t>
                            </m:r>
                          </m:sup>
                        </m:sSup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)</m:t>
                        </m:r>
                      </m:num>
                      <m:den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(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−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𝑦</m:t>
                        </m:r>
                        <m:sSup>
                          <m:e>
                            <m:r>
                              <m:rPr>
                                <m:sty m:val="p"/>
                              </m:rPr>
                              <a:rPr lang="en-IN" sz="2400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)</m:t>
                            </m:r>
                          </m:e>
                          <m:sup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3</m:t>
                            </m:r>
                          </m:sup>
                        </m:sSup>
                      </m:den>
                    </m:f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&gt;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0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Choice>
        <mc:Fallback>
          <p:sp>
            <p:nvSpPr>
              <p:cNvPr id="4" name="Rounded Rectangle 3"/>
              <p:cNvSpPr/>
              <p:nvPr/>
            </p:nvSpPr>
            <p:spPr>
              <a:xfrm>
                <a:off x="731520" y="1280160"/>
                <a:ext cx="10725912" cy="1737360"/>
              </a:xfrm>
              <a:prstGeom prst="roundRect">
                <a:avLst>
                  <a:gd name="adj" fmla="val 8000"/>
                </a:avLst>
              </a:prstGeom>
              <a:solidFill>
                <a:srgbClr val="E0ECFF"/>
              </a:solidFill>
              <a:ln w="25400">
                <a:solidFill>
                  <a:srgbClr val="1D4ED8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>
                  <a:spcAft>
                    <a:spcPts val="500"/>
                  </a:spcAft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If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$\sqrt{x^2+y^2}=e^{\arcsin\frac{y}{\sqrt{x^2+y^2}}}$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prove that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$\frac{d^2y}{dx^2}=\frac{2(x^2+y^2)}{(x-y)^3}$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$x&gt;0$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Fallback>
      </mc:AlternateContent>
      <p:sp>
        <p:nvSpPr>
          <p:cNvPr id="5" name="Rectangle 4"/>
          <p:cNvSpPr/>
          <p:nvPr/>
        </p:nvSpPr>
        <p:spPr>
          <a:xfrm>
            <a:off x="731520" y="3246120"/>
            <a:ext cx="10725912" cy="2194560"/>
          </a:xfrm>
          <a:prstGeom prst="rect">
            <a:avLst/>
          </a:prstGeom>
          <a:solidFill>
            <a:srgbClr val="FFFFFF"/>
          </a:solidFill>
          <a:ln w="19050">
            <a:solidFill>
              <a:srgbClr val="6B728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111827"/>
          </a:fontRef>
        </p:style>
        <p:txBody>
          <a:bodyPr rtlCol="0" anchor="t" wrap="square" lIns="228600" rIns="228600" tIns="137160" bIns="73152"/>
          <a:lstStyle>
            <a:lvl1pPr>
              <a:defRPr sz="2400">
                <a:solidFill>
                  <a:srgbClr val="111827"/>
                </a:solidFill>
              </a:defRPr>
            </a:lvl1pPr>
          </a:lstStyle>
          <a:p>
            <a:pPr algn="l">
              <a:spcAft>
                <a:spcPts val="200"/>
              </a:spcAft>
              <a:defRPr sz="2400">
                <a:solidFill>
                  <a:srgbClr val="111827"/>
                </a:solidFill>
              </a:defRPr>
            </a:pPr>
            <a:r>
              <a:rPr sz="2400" b="0">
                <a:solidFill>
                  <a:srgbClr val="111827"/>
                </a:solidFill>
                <a:latin typeface="Arial"/>
              </a:rPr>
              <a:t>Subjective Type(4 Marks)</a:t>
            </a:r>
            <a:endParaRPr sz="2400">
              <a:solidFill>
                <a:srgbClr val="111827"/>
              </a:solidFill>
            </a:endParaRPr>
          </a:p>
          <a:p>
            <a:pPr algn="l">
              <a:spcAft>
                <a:spcPts val="200"/>
              </a:spcAft>
              <a:defRPr sz="2400">
                <a:solidFill>
                  <a:srgbClr val="111827"/>
                </a:solidFill>
              </a:defRPr>
            </a:pPr>
            <a:r>
              <a:rPr sz="2400" b="0">
                <a:solidFill>
                  <a:srgbClr val="111827"/>
                </a:solidFill>
                <a:latin typeface="Arial"/>
              </a:rPr>
              <a:t>Concept(s) : Differentiation of inverse trigonometric and exponential functions, Second order derivative of implicit functions</a:t>
            </a:r>
            <a:endParaRPr sz="2400">
              <a:solidFill>
                <a:srgbClr val="111827"/>
              </a:solidFill>
            </a:endParaRPr>
          </a:p>
          <a:p>
            <a:pPr algn="l">
              <a:spcAft>
                <a:spcPts val="200"/>
              </a:spcAft>
              <a:defRPr sz="2400">
                <a:solidFill>
                  <a:srgbClr val="111827"/>
                </a:solidFill>
              </a:defRPr>
            </a:pPr>
            <a:r>
              <a:rPr sz="2400" b="0">
                <a:solidFill>
                  <a:srgbClr val="111827"/>
                </a:solidFill>
                <a:latin typeface="Arial"/>
              </a:rPr>
              <a:t>Difficulty Level: Level 2(A level below Average JEE Advanced Level)</a:t>
            </a:r>
            <a:endParaRPr sz="2400">
              <a:solidFill>
                <a:srgbClr val="111827"/>
              </a:solidFill>
            </a:endParaRP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FFFFFF"/>
          </a:fontRef>
        </p:style>
        <p:txBody>
          <a:bodyPr rtlCol="0" anchor="ctr" lIns="731520"/>
          <a:lstStyle>
            <a:lvl1pPr>
              <a:defRPr sz="3200">
                <a:solidFill>
                  <a:srgbClr val="FFFFFF"/>
                </a:solidFill>
              </a:defRPr>
            </a:lvl1pPr>
          </a:lstStyle>
          <a:p>
            <a:pPr algn="l">
              <a:defRPr sz="3200">
                <a:solidFill>
                  <a:srgbClr val="FFFFFF"/>
                </a:solidFill>
              </a:defRPr>
            </a:pPr>
            <a:r>
              <a:rPr sz="3200" b="1">
                <a:solidFill>
                  <a:srgbClr val="FFFFFF"/>
                </a:solidFill>
                <a:latin typeface="Arial"/>
              </a:rPr>
              <a:t>Question 01</a:t>
            </a:r>
            <a:endParaRPr sz="3200">
              <a:solidFill>
                <a:srgbClr val="FFFFFF"/>
              </a:solidFill>
            </a:endParaRPr>
          </a:p>
        </p:txBody>
      </p:sp>
      <p:sp>
        <p:nvSpPr>
          <p:cNvPr id="3" name="Rounded Rectangle 2"/>
          <p:cNvSpPr/>
          <p:nvPr/>
        </p:nvSpPr>
        <p:spPr>
          <a:xfrm>
            <a:off x="7894015" y="246887"/>
            <a:ext cx="3840480" cy="603504"/>
          </a:xfrm>
          <a:prstGeom prst="roundRect">
            <a:avLst>
              <a:gd name="adj" fmla="val 50000"/>
            </a:avLst>
          </a:prstGeom>
          <a:solidFill>
            <a:srgbClr val="FFD966"/>
          </a:solidFill>
          <a:ln w="1905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111827"/>
          </a:fontRef>
        </p:style>
        <p:txBody>
          <a:bodyPr rtlCol="0" anchor="ctr" wrap="square" lIns="228600" rIns="228600" tIns="18288" bIns="18288"/>
          <a:lstStyle>
            <a:lvl1pPr>
              <a:defRPr sz="2400">
                <a:solidFill>
                  <a:srgbClr val="111827"/>
                </a:solidFill>
              </a:defRPr>
            </a:lvl1pPr>
          </a:lstStyle>
          <a:p>
            <a:pPr algn="ctr">
              <a:defRPr sz="2400">
                <a:solidFill>
                  <a:srgbClr val="111827"/>
                </a:solidFill>
              </a:defRPr>
            </a:pPr>
            <a:r>
              <a:rPr sz="2400" b="1">
                <a:solidFill>
                  <a:srgbClr val="111827"/>
                </a:solidFill>
                <a:latin typeface="Arial"/>
              </a:rPr>
              <a:t>Level 2  ·  4 Marks</a:t>
            </a:r>
            <a:endParaRPr sz="2400">
              <a:solidFill>
                <a:srgbClr val="111827"/>
              </a:solidFill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4" name="Rounded Rectangle 3"/>
              <p:cNvSpPr/>
              <p:nvPr/>
            </p:nvSpPr>
            <p:spPr>
              <a:xfrm>
                <a:off x="731520" y="1280160"/>
                <a:ext cx="10725912" cy="1328928"/>
              </a:xfrm>
              <a:prstGeom prst="roundRect">
                <a:avLst>
                  <a:gd name="adj" fmla="val 8000"/>
                </a:avLst>
              </a:prstGeom>
              <a:solidFill>
                <a:srgbClr val="FDE68A"/>
              </a:solidFill>
              <a:ln w="31750">
                <a:solidFill>
                  <a:srgbClr val="D97706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78350F"/>
              </a:fontRef>
            </p:style>
            <p:txBody>
              <a:bodyPr rtlCol="0" anchor="ctr" wrap="square" lIns="228600" rIns="228600" tIns="54864" bIns="73152"/>
              <a:lstStyle>
                <a:lvl1pPr>
                  <a:defRPr sz="2400">
                    <a:solidFill>
                      <a:srgbClr val="78350F"/>
                    </a:solidFill>
                  </a:defRPr>
                </a:lvl1pPr>
              </a:lstStyle>
              <a:p>
                <a:pPr algn="l">
                  <a:defRPr sz="2400">
                    <a:solidFill>
                      <a:srgbClr val="78350F"/>
                    </a:solidFill>
                  </a:defRPr>
                </a:pPr>
                <a:r>
                  <a:rPr sz="2400" b="1">
                    <a:solidFill>
                      <a:srgbClr val="78350F"/>
                    </a:solidFill>
                    <a:latin typeface="Arial"/>
                  </a:rPr>
                  <a:t>Key idea:  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For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&gt;</m:t>
                    </m:r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0</m:t>
                    </m:r>
                  </m:oMath>
                </a14:m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,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arcsin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𝑦</m:t>
                        </m:r>
                      </m:num>
                      <m:den>
                        <m:rad>
                          <m:radPr>
                            <m:degHide m:val="on"/>
                            <m:ctrlPr>
                              <a:rPr lang="en-IN" sz="2400" i="1">
                                <a:solidFill>
                                  <a:srgbClr val="78350F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radPr>
                          <m:deg/>
                          <m:e>
                            <m:sSup>
                              <m:e>
                                <m:r>
                                  <a:rPr lang="en-IN" sz="2400" i="1">
                                    <a:solidFill>
                                      <a:srgbClr val="78350F"/>
                                    </a:solidFill>
                                    <a:latin typeface="Cambria Math" panose="02040503050406030204" pitchFamily="18" charset="0"/>
                                  </a:rPr>
                                  <m:t>𝑥</m:t>
                                </m:r>
                              </m:e>
                              <m:sup>
                                <m:r>
                                  <a:rPr lang="en-IN" sz="2400" i="1">
                                    <a:solidFill>
                                      <a:srgbClr val="78350F"/>
                                    </a:solidFill>
                                    <a:latin typeface="Cambria Math" panose="02040503050406030204" pitchFamily="18" charset="0"/>
                                  </a:rPr>
                                  <m:t>2</m:t>
                                </m:r>
                              </m:sup>
                            </m:sSup>
                            <m:r>
                              <m:rPr>
                                <m:sty m:val="p"/>
                              </m:rPr>
                              <a:rPr lang="en-IN" sz="2400">
                                <a:solidFill>
                                  <a:srgbClr val="78350F"/>
                                </a:solidFill>
                                <a:latin typeface="Cambria Math" panose="02040503050406030204" pitchFamily="18" charset="0"/>
                              </a:rPr>
                              <m:t>+</m:t>
                            </m:r>
                            <m:sSup>
                              <m:e>
                                <m:r>
                                  <a:rPr lang="en-IN" sz="2400" i="1">
                                    <a:solidFill>
                                      <a:srgbClr val="78350F"/>
                                    </a:solidFill>
                                    <a:latin typeface="Cambria Math" panose="02040503050406030204" pitchFamily="18" charset="0"/>
                                  </a:rPr>
                                  <m:t>𝑦</m:t>
                                </m:r>
                              </m:e>
                              <m:sup>
                                <m:r>
                                  <a:rPr lang="en-IN" sz="2400" i="1">
                                    <a:solidFill>
                                      <a:srgbClr val="78350F"/>
                                    </a:solidFill>
                                    <a:latin typeface="Cambria Math" panose="02040503050406030204" pitchFamily="18" charset="0"/>
                                  </a:rPr>
                                  <m:t>2</m:t>
                                </m:r>
                              </m:sup>
                            </m:sSup>
                          </m:e>
                        </m:rad>
                      </m:den>
                    </m:f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=</m:t>
                    </m:r>
                    <m:sSup>
                      <m:e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tan</m:t>
                        </m:r>
                      </m:e>
                      <m:sup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−</m:t>
                        </m:r>
                        <m: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sup>
                    </m:sSup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𝑦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</m:den>
                    </m:f>
                  </m:oMath>
                </a14:m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, so the relation becomes </a:t>
                </a:r>
                <a14:m>
                  <m:oMath xmlns:m="http://schemas.openxmlformats.org/officeDocument/2006/math"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den>
                    </m:f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ln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(</m:t>
                    </m:r>
                    <m:sSup>
                      <m:e>
                        <m: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  <m:sup>
                        <m: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+</m:t>
                    </m:r>
                    <m:sSup>
                      <m:e>
                        <m: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𝑦</m:t>
                        </m:r>
                      </m:e>
                      <m:sup>
                        <m: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=</m:t>
                    </m:r>
                    <m:sSup>
                      <m:e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tan</m:t>
                        </m:r>
                      </m:e>
                      <m:sup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−</m:t>
                        </m:r>
                        <m: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sup>
                    </m:sSup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𝑦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</m:den>
                    </m:f>
                  </m:oMath>
                </a14:m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.</a:t>
                </a:r>
                <a:endParaRPr sz="2400">
                  <a:solidFill>
                    <a:srgbClr val="78350F"/>
                  </a:solidFill>
                </a:endParaRPr>
              </a:p>
            </p:txBody>
          </p:sp>
        </mc:Choice>
        <mc:Fallback>
          <p:sp>
            <p:nvSpPr>
              <p:cNvPr id="4" name="Rounded Rectangle 3"/>
              <p:cNvSpPr/>
              <p:nvPr/>
            </p:nvSpPr>
            <p:spPr>
              <a:xfrm>
                <a:off x="731520" y="1280160"/>
                <a:ext cx="10725912" cy="1328928"/>
              </a:xfrm>
              <a:prstGeom prst="roundRect">
                <a:avLst>
                  <a:gd name="adj" fmla="val 8000"/>
                </a:avLst>
              </a:prstGeom>
              <a:solidFill>
                <a:srgbClr val="FDE68A"/>
              </a:solidFill>
              <a:ln w="31750">
                <a:solidFill>
                  <a:srgbClr val="D97706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78350F"/>
              </a:fontRef>
            </p:style>
            <p:txBody>
              <a:bodyPr rtlCol="0" anchor="ctr" wrap="square" lIns="228600" rIns="228600" tIns="54864" bIns="73152"/>
              <a:lstStyle>
                <a:lvl1pPr>
                  <a:defRPr sz="2400">
                    <a:solidFill>
                      <a:srgbClr val="78350F"/>
                    </a:solidFill>
                  </a:defRPr>
                </a:lvl1pPr>
              </a:lstStyle>
              <a:p>
                <a:pPr algn="l">
                  <a:defRPr sz="2400">
                    <a:solidFill>
                      <a:srgbClr val="78350F"/>
                    </a:solidFill>
                  </a:defRPr>
                </a:pPr>
                <a:r>
                  <a:rPr sz="2400" b="1">
                    <a:solidFill>
                      <a:srgbClr val="78350F"/>
                    </a:solidFill>
                    <a:latin typeface="Arial"/>
                  </a:rPr>
                  <a:t>Key idea:  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For </a:t>
                </a:r>
                <a:r>
                  <a:rPr lang="en-IN" sz="2400">
                    <a:solidFill>
                      <a:srgbClr val="78350F"/>
                    </a:solidFill>
                    <a:latin typeface="Cambria Math" panose="02040503050406030204" pitchFamily="18" charset="0"/>
                  </a:rPr>
                  <a:t>$x&gt;0$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, </a:t>
                </a:r>
                <a:r>
                  <a:rPr lang="en-IN" sz="2400">
                    <a:solidFill>
                      <a:srgbClr val="78350F"/>
                    </a:solidFill>
                    <a:latin typeface="Cambria Math" panose="02040503050406030204" pitchFamily="18" charset="0"/>
                  </a:rPr>
                  <a:t>$\arcsin\frac{y}{\sqrt{x^2+y^2}}=\tan^{-1}\frac yx$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, so the relation becomes </a:t>
                </a:r>
                <a:r>
                  <a:rPr lang="en-IN" sz="2400">
                    <a:solidFill>
                      <a:srgbClr val="78350F"/>
                    </a:solidFill>
                    <a:latin typeface="Cambria Math" panose="02040503050406030204" pitchFamily="18" charset="0"/>
                  </a:rPr>
                  <a:t>$\frac12\ln(x^2+y^2)=\tan^{-1}\frac yx$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.</a:t>
                </a:r>
                <a:endParaRPr sz="2400">
                  <a:solidFill>
                    <a:srgbClr val="78350F"/>
                  </a:solidFill>
                </a:endParaRP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5" name="Rectangle 4"/>
              <p:cNvSpPr/>
              <p:nvPr/>
            </p:nvSpPr>
            <p:spPr>
              <a:xfrm>
                <a:off x="731520" y="2746248"/>
                <a:ext cx="10725912" cy="3928872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Take logarithms: </a:t>
                </a:r>
                <a14:m>
                  <m:oMath xmlns:m="http://schemas.openxmlformats.org/officeDocument/2006/math"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den>
                    </m:f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ln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𝑦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sSup>
                      <m:e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sin</m:t>
                        </m:r>
                      </m:e>
                      <m:sup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−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sup>
                    </m:sSup>
                    <m:d>
                      <m:dPr>
                        <m:begChr m:val="("/>
                        <m:sepChr m:val=""/>
                        <m:endChr m:val=")"/>
                        <m:grow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f>
                          <m:fPr>
                            <m:type m:val="bar"/>
                            <m:ctrlP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fPr>
                          <m:num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𝑦</m:t>
                            </m:r>
                          </m:num>
                          <m:den>
                            <m:rad>
                              <m:radPr>
                                <m:degHide m:val="on"/>
                                <m:ctrlPr>
                                  <a:rPr lang="en-IN" sz="2400" i="1">
                                    <a:solidFill>
                                      <a:srgbClr val="111827"/>
                                    </a:solidFill>
                                    <a:latin typeface="Cambria Math" panose="02040503050406030204" pitchFamily="18" charset="0"/>
                                  </a:rPr>
                                </m:ctrlPr>
                              </m:radPr>
                              <m:deg/>
                              <m:e>
                                <m:sSup>
                                  <m:e>
                                    <m:r>
                                      <a:rPr lang="en-IN" sz="2400" i="1">
                                        <a:solidFill>
                                          <a:srgbClr val="111827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𝑥</m:t>
                                    </m:r>
                                  </m:e>
                                  <m:sup>
                                    <m:r>
                                      <a:rPr lang="en-IN" sz="2400" i="1">
                                        <a:solidFill>
                                          <a:srgbClr val="111827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2</m:t>
                                    </m:r>
                                  </m:sup>
                                </m:sSup>
                                <m:r>
                                  <m:rPr>
                                    <m:sty m:val="p"/>
                                  </m:rPr>
                                  <a:rPr lang="en-IN" sz="2400">
                                    <a:solidFill>
                                      <a:srgbClr val="111827"/>
                                    </a:solidFill>
                                    <a:latin typeface="Cambria Math" panose="02040503050406030204" pitchFamily="18" charset="0"/>
                                  </a:rPr>
                                  <m:t>+</m:t>
                                </m:r>
                                <m:sSup>
                                  <m:e>
                                    <m:r>
                                      <a:rPr lang="en-IN" sz="2400" i="1">
                                        <a:solidFill>
                                          <a:srgbClr val="111827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𝑦</m:t>
                                    </m:r>
                                  </m:e>
                                  <m:sup>
                                    <m:r>
                                      <a:rPr lang="en-IN" sz="2400" i="1">
                                        <a:solidFill>
                                          <a:srgbClr val="111827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2</m:t>
                                    </m:r>
                                  </m:sup>
                                </m:sSup>
                              </m:e>
                            </m:rad>
                          </m:den>
                        </m:f>
                      </m:e>
                    </m:d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For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&gt;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0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</a:t>
                </a:r>
                <a14:m>
                  <m:oMath xmlns:m="http://schemas.openxmlformats.org/officeDocument/2006/math">
                    <m:rad>
                      <m:radPr>
                        <m:degHide m:val="on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radPr>
                      <m:deg/>
                      <m:e>
                        <m:sSup>
                          <m:e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𝑥</m:t>
                            </m:r>
                          </m:e>
                          <m:sup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2</m:t>
                            </m:r>
                          </m:sup>
                        </m:sSup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+</m:t>
                        </m:r>
                        <m:sSup>
                          <m:e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𝑦</m:t>
                            </m:r>
                          </m:e>
                          <m:sup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2</m:t>
                            </m:r>
                          </m:sup>
                        </m:sSup>
                      </m:e>
                    </m:rad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ad>
                      <m:radPr>
                        <m:degHide m:val="on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radPr>
                      <m:deg/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+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(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𝑦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/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  <m:sSup>
                          <m:e>
                            <m:r>
                              <m:rPr>
                                <m:sty m:val="p"/>
                              </m:rPr>
                              <a:rPr lang="en-IN" sz="2400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)</m:t>
                            </m:r>
                          </m:e>
                          <m:sup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2</m:t>
                            </m:r>
                          </m:sup>
                        </m:sSup>
                      </m:e>
                    </m:rad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so </a:t>
                </a:r>
                <a14:m>
                  <m:oMath xmlns:m="http://schemas.openxmlformats.org/officeDocument/2006/math">
                    <m:sSup>
                      <m:e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sin</m:t>
                        </m:r>
                      </m:e>
                      <m:sup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−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sup>
                    </m:sSup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𝑦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/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</m:num>
                      <m:den>
                        <m:rad>
                          <m:radPr>
                            <m:degHide m:val="on"/>
                            <m:ctrlP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radPr>
                          <m:deg/>
                          <m:e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1</m:t>
                            </m:r>
                            <m:r>
                              <m:rPr>
                                <m:sty m:val="p"/>
                              </m:rPr>
                              <a:rPr lang="en-IN" sz="2400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+</m:t>
                            </m:r>
                            <m:r>
                              <m:rPr>
                                <m:sty m:val="p"/>
                              </m:rPr>
                              <a:rPr lang="en-IN" sz="2400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(</m:t>
                            </m:r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𝑦</m:t>
                            </m:r>
                            <m:r>
                              <m:rPr>
                                <m:sty m:val="p"/>
                              </m:rPr>
                              <a:rPr lang="en-IN" sz="2400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/</m:t>
                            </m:r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𝑥</m:t>
                            </m:r>
                            <m:sSup>
                              <m:e>
                                <m:r>
                                  <m:rPr>
                                    <m:sty m:val="p"/>
                                  </m:rPr>
                                  <a:rPr lang="en-IN" sz="2400">
                                    <a:solidFill>
                                      <a:srgbClr val="111827"/>
                                    </a:solidFill>
                                    <a:latin typeface="Cambria Math" panose="02040503050406030204" pitchFamily="18" charset="0"/>
                                  </a:rPr>
                                  <m:t>)</m:t>
                                </m:r>
                              </m:e>
                              <m:sup>
                                <m:r>
                                  <a:rPr lang="en-IN" sz="2400" i="1">
                                    <a:solidFill>
                                      <a:srgbClr val="111827"/>
                                    </a:solidFill>
                                    <a:latin typeface="Cambria Math" panose="02040503050406030204" pitchFamily="18" charset="0"/>
                                  </a:rPr>
                                  <m:t>2</m:t>
                                </m:r>
                              </m:sup>
                            </m:sSup>
                          </m:e>
                        </m:rad>
                      </m:den>
                    </m:f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sSup>
                      <m:e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tan</m:t>
                        </m:r>
                      </m:e>
                      <m:sup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−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sup>
                    </m:sSup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𝑦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</m:den>
                    </m:f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 Hence </a:t>
                </a:r>
                <a14:m>
                  <m:oMath xmlns:m="http://schemas.openxmlformats.org/officeDocument/2006/math"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den>
                    </m:f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ln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𝑦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sSup>
                      <m:e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tan</m:t>
                        </m:r>
                      </m:e>
                      <m:sup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−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sup>
                    </m:sSup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𝑦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</m:den>
                    </m:f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Differentiate with respect to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: </a:t>
                </a:r>
                <a14:m>
                  <m:oMath xmlns:m="http://schemas.openxmlformats.org/officeDocument/2006/math"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+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𝑦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 </m:t>
                        </m:r>
                        <m:sSup>
                          <m:e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𝑦</m:t>
                            </m:r>
                          </m:e>
                          <m:sup>
                            <m:r>
                              <m:rPr>
                                <m:sty m:val="p"/>
                              </m:rPr>
                              <a:rPr lang="en-IN" sz="2400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′</m:t>
                            </m:r>
                          </m:sup>
                        </m:sSup>
                      </m:num>
                      <m:den>
                        <m:sSup>
                          <m:e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𝑥</m:t>
                            </m:r>
                          </m:e>
                          <m:sup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2</m:t>
                            </m:r>
                          </m:sup>
                        </m:sSup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+</m:t>
                        </m:r>
                        <m:sSup>
                          <m:e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𝑦</m:t>
                            </m:r>
                          </m:e>
                          <m:sup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2</m:t>
                            </m:r>
                          </m:sup>
                        </m:sSup>
                      </m:den>
                    </m:f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 </m:t>
                        </m:r>
                        <m:sSup>
                          <m:e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𝑦</m:t>
                            </m:r>
                          </m:e>
                          <m:sup>
                            <m:r>
                              <m:rPr>
                                <m:sty m:val="p"/>
                              </m:rPr>
                              <a:rPr lang="en-IN" sz="2400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′</m:t>
                            </m:r>
                          </m:sup>
                        </m:sSup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−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𝑦</m:t>
                        </m:r>
                      </m:num>
                      <m:den>
                        <m:sSup>
                          <m:e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𝑥</m:t>
                            </m:r>
                          </m:e>
                          <m:sup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2</m:t>
                            </m:r>
                          </m:sup>
                        </m:sSup>
                      </m:den>
                    </m:f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⋅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sSup>
                          <m:e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𝑥</m:t>
                            </m:r>
                          </m:e>
                          <m:sup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2</m:t>
                            </m:r>
                          </m:sup>
                        </m:sSup>
                      </m:num>
                      <m:den>
                        <m:sSup>
                          <m:e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𝑥</m:t>
                            </m:r>
                          </m:e>
                          <m:sup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2</m:t>
                            </m:r>
                          </m:sup>
                        </m:sSup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+</m:t>
                        </m:r>
                        <m:sSup>
                          <m:e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𝑦</m:t>
                            </m:r>
                          </m:e>
                          <m:sup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2</m:t>
                            </m:r>
                          </m:sup>
                        </m:sSup>
                      </m:den>
                    </m:f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Cancel </a:t>
                </a:r>
                <a14:m>
                  <m:oMath xmlns:m="http://schemas.openxmlformats.org/officeDocument/2006/math"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𝑦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: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𝑦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 </m:t>
                    </m:r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𝑦</m:t>
                        </m:r>
                      </m:e>
                      <m:sup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′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 </m:t>
                    </m:r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𝑦</m:t>
                        </m:r>
                      </m:e>
                      <m:sup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′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𝑦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so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𝑦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 </m:t>
                    </m:r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𝑦</m:t>
                        </m:r>
                      </m:e>
                      <m:sup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′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𝑦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Choice>
        <mc:Fallback>
          <p:sp>
            <p:nvSpPr>
              <p:cNvPr id="5" name="Rectangle 4"/>
              <p:cNvSpPr/>
              <p:nvPr/>
            </p:nvSpPr>
            <p:spPr>
              <a:xfrm>
                <a:off x="731520" y="2746248"/>
                <a:ext cx="10725912" cy="3928872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Take logarithms: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$\frac12\ln(x^2+y^2)=\sin^{-1}\left(\frac{y}{\sqrt{x^2+y^2}}\right)$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For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$x&gt;0$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$\sqrt{x^2+y^2}=x\sqrt{1+(y/x)^2}$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so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$\sin^{-1}\frac{y/x}{\sqrt{1+(y/x)^2}}=\tan^{-1}\frac yx$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 Hence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$\frac12\ln(x^2+y^2)=\tan^{-1}\frac yx$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Differentiate with respect to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$x$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: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$\frac{x+y\,y'}{x^2+y^2}=\frac{x\,y'-y}{x^2}\cdot\frac{x^2}{x^2+y^2}$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Cancel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$x^2+y^2$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: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$x+y\,y'=x\,y'-y$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so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$(y-x)\,y'=-(x+y)$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Fallback>
      </mc:AlternateContent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FFFFFF"/>
          </a:fontRef>
        </p:style>
        <p:txBody>
          <a:bodyPr rtlCol="0" anchor="ctr" lIns="731520"/>
          <a:lstStyle>
            <a:lvl1pPr>
              <a:defRPr sz="3200">
                <a:solidFill>
                  <a:srgbClr val="FFFFFF"/>
                </a:solidFill>
              </a:defRPr>
            </a:lvl1pPr>
          </a:lstStyle>
          <a:p>
            <a:pPr algn="l">
              <a:defRPr sz="3200">
                <a:solidFill>
                  <a:srgbClr val="FFFFFF"/>
                </a:solidFill>
              </a:defRPr>
            </a:pPr>
            <a:r>
              <a:rPr sz="3200" b="1">
                <a:solidFill>
                  <a:srgbClr val="FFFFFF"/>
                </a:solidFill>
                <a:latin typeface="Arial"/>
              </a:rPr>
              <a:t>Question 01</a:t>
            </a:r>
            <a:endParaRPr sz="3200">
              <a:solidFill>
                <a:srgbClr val="FFFFFF"/>
              </a:solidFill>
            </a:endParaRPr>
          </a:p>
        </p:txBody>
      </p:sp>
      <p:sp>
        <p:nvSpPr>
          <p:cNvPr id="3" name="Rounded Rectangle 2"/>
          <p:cNvSpPr/>
          <p:nvPr/>
        </p:nvSpPr>
        <p:spPr>
          <a:xfrm>
            <a:off x="7894015" y="246887"/>
            <a:ext cx="3840480" cy="603504"/>
          </a:xfrm>
          <a:prstGeom prst="roundRect">
            <a:avLst>
              <a:gd name="adj" fmla="val 50000"/>
            </a:avLst>
          </a:prstGeom>
          <a:solidFill>
            <a:srgbClr val="FFD966"/>
          </a:solidFill>
          <a:ln w="1905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111827"/>
          </a:fontRef>
        </p:style>
        <p:txBody>
          <a:bodyPr rtlCol="0" anchor="ctr" wrap="square" lIns="228600" rIns="228600" tIns="18288" bIns="18288"/>
          <a:lstStyle>
            <a:lvl1pPr>
              <a:defRPr sz="2400">
                <a:solidFill>
                  <a:srgbClr val="111827"/>
                </a:solidFill>
              </a:defRPr>
            </a:lvl1pPr>
          </a:lstStyle>
          <a:p>
            <a:pPr algn="ctr">
              <a:defRPr sz="2400">
                <a:solidFill>
                  <a:srgbClr val="111827"/>
                </a:solidFill>
              </a:defRPr>
            </a:pPr>
            <a:r>
              <a:rPr sz="2400" b="1">
                <a:solidFill>
                  <a:srgbClr val="111827"/>
                </a:solidFill>
                <a:latin typeface="Arial"/>
              </a:rPr>
              <a:t>Level 2  ·  4 Marks</a:t>
            </a:r>
            <a:endParaRPr sz="2400">
              <a:solidFill>
                <a:srgbClr val="111827"/>
              </a:solidFill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4" name="Rectangle 3"/>
              <p:cNvSpPr/>
              <p:nvPr/>
            </p:nvSpPr>
            <p:spPr>
              <a:xfrm>
                <a:off x="731520" y="1353312"/>
                <a:ext cx="10725912" cy="4434840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Therefore </a:t>
                </a:r>
                <a14:m>
                  <m:oMath xmlns:m="http://schemas.openxmlformats.org/officeDocument/2006/math"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𝑦</m:t>
                        </m:r>
                      </m:e>
                      <m:sup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′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+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𝑦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−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𝑦</m:t>
                        </m:r>
                      </m:den>
                    </m:f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−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𝑦</m:t>
                        </m:r>
                      </m:den>
                    </m:f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Differentiate again: </a:t>
                </a:r>
                <a14:m>
                  <m:oMath xmlns:m="http://schemas.openxmlformats.org/officeDocument/2006/math"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𝑦</m:t>
                        </m:r>
                      </m:e>
                      <m:sup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″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  <m:d>
                          <m:dPr>
                            <m:begChr m:val="["/>
                            <m:sepChr m:val=""/>
                            <m:endChr m:val="]"/>
                            <m:grow/>
                            <m:ctrlP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r>
                              <m:rPr>
                                <m:sty m:val="p"/>
                              </m:rPr>
                              <a:rPr lang="en-IN" sz="2400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(</m:t>
                            </m:r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𝑥</m:t>
                            </m:r>
                            <m:r>
                              <m:rPr>
                                <m:sty m:val="p"/>
                              </m:rPr>
                              <a:rPr lang="en-IN" sz="2400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−</m:t>
                            </m:r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𝑦</m:t>
                            </m:r>
                            <m:r>
                              <m:rPr>
                                <m:sty m:val="p"/>
                              </m:rPr>
                              <a:rPr lang="en-IN" sz="2400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)</m:t>
                            </m:r>
                            <m:r>
                              <m:rPr>
                                <m:sty m:val="p"/>
                              </m:rPr>
                              <a:rPr lang="en-IN" sz="2400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−</m:t>
                            </m:r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𝑥</m:t>
                            </m:r>
                            <m:r>
                              <m:rPr>
                                <m:sty m:val="p"/>
                              </m:rPr>
                              <a:rPr lang="en-IN" sz="2400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(</m:t>
                            </m:r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1</m:t>
                            </m:r>
                            <m:r>
                              <m:rPr>
                                <m:sty m:val="p"/>
                              </m:rPr>
                              <a:rPr lang="en-IN" sz="2400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−</m:t>
                            </m:r>
                            <m:sSup>
                              <m:e>
                                <m:r>
                                  <a:rPr lang="en-IN" sz="2400" i="1">
                                    <a:solidFill>
                                      <a:srgbClr val="111827"/>
                                    </a:solidFill>
                                    <a:latin typeface="Cambria Math" panose="02040503050406030204" pitchFamily="18" charset="0"/>
                                  </a:rPr>
                                  <m:t>𝑦</m:t>
                                </m:r>
                              </m:e>
                              <m:sup>
                                <m:r>
                                  <m:rPr>
                                    <m:sty m:val="p"/>
                                  </m:rPr>
                                  <a:rPr lang="en-IN" sz="2400">
                                    <a:solidFill>
                                      <a:srgbClr val="111827"/>
                                    </a:solidFill>
                                    <a:latin typeface="Cambria Math" panose="02040503050406030204" pitchFamily="18" charset="0"/>
                                  </a:rPr>
                                  <m:t>′</m:t>
                                </m:r>
                              </m:sup>
                            </m:sSup>
                            <m:r>
                              <m:rPr>
                                <m:sty m:val="p"/>
                              </m:rPr>
                              <a:rPr lang="en-IN" sz="2400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)</m:t>
                            </m:r>
                          </m:e>
                        </m:d>
                      </m:num>
                      <m:den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(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−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𝑦</m:t>
                        </m:r>
                        <m:sSup>
                          <m:e>
                            <m:r>
                              <m:rPr>
                                <m:sty m:val="p"/>
                              </m:rPr>
                              <a:rPr lang="en-IN" sz="2400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)</m:t>
                            </m:r>
                          </m:e>
                          <m:sup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2</m:t>
                            </m:r>
                          </m:sup>
                        </m:sSup>
                      </m:den>
                    </m:f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Now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𝑦</m:t>
                        </m:r>
                      </m:e>
                      <m:sup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′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(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−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𝑦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)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−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(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+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𝑦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)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−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𝑦</m:t>
                        </m:r>
                      </m:den>
                    </m:f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−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𝑦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−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𝑦</m:t>
                        </m:r>
                      </m:den>
                    </m:f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So </a:t>
                </a:r>
                <a14:m>
                  <m:oMath xmlns:m="http://schemas.openxmlformats.org/officeDocument/2006/math"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𝑦</m:t>
                        </m:r>
                      </m:e>
                      <m:sup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″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num>
                      <m:den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(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−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𝑦</m:t>
                        </m:r>
                        <m:sSup>
                          <m:e>
                            <m:r>
                              <m:rPr>
                                <m:sty m:val="p"/>
                              </m:rPr>
                              <a:rPr lang="en-IN" sz="2400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)</m:t>
                            </m:r>
                          </m:e>
                          <m:sup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2</m:t>
                            </m:r>
                          </m:sup>
                        </m:sSup>
                      </m:den>
                    </m:f>
                    <m:d>
                      <m:dPr>
                        <m:begChr m:val="["/>
                        <m:sepChr m:val=""/>
                        <m:endChr m:val="]"/>
                        <m:grow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−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𝑦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+</m:t>
                        </m:r>
                        <m:f>
                          <m:fPr>
                            <m:type m:val="bar"/>
                            <m:ctrlP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fPr>
                          <m:num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2</m:t>
                            </m:r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𝑥</m:t>
                            </m:r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𝑦</m:t>
                            </m:r>
                          </m:num>
                          <m:den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𝑥</m:t>
                            </m:r>
                            <m:r>
                              <m:rPr>
                                <m:sty m:val="p"/>
                              </m:rPr>
                              <a:rPr lang="en-IN" sz="2400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−</m:t>
                            </m:r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𝑦</m:t>
                            </m:r>
                          </m:den>
                        </m:f>
                      </m:e>
                    </m:d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14:m>
                  <m:oMath xmlns:m="http://schemas.openxmlformats.org/officeDocument/2006/math"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𝑦</m:t>
                        </m:r>
                      </m:e>
                      <m:sup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″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num>
                      <m:den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(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−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𝑦</m:t>
                        </m:r>
                        <m:sSup>
                          <m:e>
                            <m:r>
                              <m:rPr>
                                <m:sty m:val="p"/>
                              </m:rPr>
                              <a:rPr lang="en-IN" sz="2400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)</m:t>
                            </m:r>
                          </m:e>
                          <m:sup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3</m:t>
                            </m:r>
                          </m:sup>
                        </m:sSup>
                      </m:den>
                    </m:f>
                    <m:d>
                      <m:dPr>
                        <m:begChr m:val="["/>
                        <m:sepChr m:val=""/>
                        <m:endChr m:val="]"/>
                        <m:grow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(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−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𝑦</m:t>
                        </m:r>
                        <m:sSup>
                          <m:e>
                            <m:r>
                              <m:rPr>
                                <m:sty m:val="p"/>
                              </m:rPr>
                              <a:rPr lang="en-IN" sz="2400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)</m:t>
                            </m:r>
                          </m:e>
                          <m:sup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2</m:t>
                            </m:r>
                          </m:sup>
                        </m:sSup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+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𝑦</m:t>
                        </m:r>
                      </m:e>
                    </m:d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𝑦</m:t>
                    </m:r>
                    <m:sSup>
                      <m:e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)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𝑦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𝑦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hence </a:t>
                </a:r>
                <a14:m>
                  <m:oMath xmlns:m="http://schemas.openxmlformats.org/officeDocument/2006/math"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sSup>
                          <m:e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𝑑</m:t>
                            </m:r>
                          </m:e>
                          <m:sup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2</m:t>
                            </m:r>
                          </m:sup>
                        </m:s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𝑦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𝑑</m:t>
                        </m:r>
                        <m:sSup>
                          <m:e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𝑥</m:t>
                            </m:r>
                          </m:e>
                          <m:sup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2</m:t>
                            </m:r>
                          </m:sup>
                        </m:sSup>
                      </m:den>
                    </m:f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(</m:t>
                        </m:r>
                        <m:sSup>
                          <m:e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𝑥</m:t>
                            </m:r>
                          </m:e>
                          <m:sup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2</m:t>
                            </m:r>
                          </m:sup>
                        </m:sSup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+</m:t>
                        </m:r>
                        <m:sSup>
                          <m:e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𝑦</m:t>
                            </m:r>
                          </m:e>
                          <m:sup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2</m:t>
                            </m:r>
                          </m:sup>
                        </m:sSup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)</m:t>
                        </m:r>
                      </m:num>
                      <m:den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(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−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𝑦</m:t>
                        </m:r>
                        <m:sSup>
                          <m:e>
                            <m:r>
                              <m:rPr>
                                <m:sty m:val="p"/>
                              </m:rPr>
                              <a:rPr lang="en-IN" sz="2400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)</m:t>
                            </m:r>
                          </m:e>
                          <m:sup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3</m:t>
                            </m:r>
                          </m:sup>
                        </m:sSup>
                      </m:den>
                    </m:f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 Proved.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Choice>
        <mc:Fallback>
          <p:sp>
            <p:nvSpPr>
              <p:cNvPr id="4" name="Rectangle 3"/>
              <p:cNvSpPr/>
              <p:nvPr/>
            </p:nvSpPr>
            <p:spPr>
              <a:xfrm>
                <a:off x="731520" y="1353312"/>
                <a:ext cx="10725912" cy="4434840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Therefore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$y'=\frac{x+y}{x-y}=-1+\frac{2x}{x-y}$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Differentiate again: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$y''=\frac{2\left[(x-y)-x(1-y')\right]}{(x-y)^2}$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Now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$1-y'=\frac{(x-y)-(x+y)}{x-y}=\frac{-2y}{x-y}$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So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$y''=\frac{2}{(x-y)^2}\left[x-y+\frac{2xy}{x-y}\right]$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$y''=\frac{2}{(x-y)^3}\left[(x-y)^2+2xy\right]$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$(x-y)^2+2xy=x^2+y^2$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hence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$\frac{d^2y}{dx^2}=\frac{2(x^2+y^2)}{(x-y)^3}$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 Proved.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5" name="Rounded Rectangle 4"/>
              <p:cNvSpPr/>
              <p:nvPr/>
            </p:nvSpPr>
            <p:spPr>
              <a:xfrm>
                <a:off x="731520" y="5897880"/>
                <a:ext cx="10725912" cy="777240"/>
              </a:xfrm>
              <a:prstGeom prst="roundRect">
                <a:avLst>
                  <a:gd name="adj" fmla="val 8000"/>
                </a:avLst>
              </a:prstGeom>
              <a:solidFill>
                <a:srgbClr val="DCFCE7"/>
              </a:solidFill>
              <a:ln w="25400">
                <a:solidFill>
                  <a:srgbClr val="15803D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5803D"/>
              </a:fontRef>
            </p:style>
            <p:txBody>
              <a:bodyPr rtlCol="0" anchor="ctr" wrap="square" lIns="228600" rIns="228600" tIns="18288" bIns="73152"/>
              <a:lstStyle>
                <a:lvl1pPr>
                  <a:defRPr sz="2800">
                    <a:solidFill>
                      <a:srgbClr val="15803D"/>
                    </a:solidFill>
                  </a:defRPr>
                </a:lvl1pPr>
              </a:lstStyle>
              <a:p>
                <a:pPr algn="ctr">
                  <a:defRPr sz="2800">
                    <a:solidFill>
                      <a:srgbClr val="15803D"/>
                    </a:solidFill>
                  </a:defRPr>
                </a:pPr>
                <a:r>
                  <a:rPr sz="2800" b="1">
                    <a:solidFill>
                      <a:srgbClr val="15803D"/>
                    </a:solidFill>
                    <a:latin typeface="Arial"/>
                  </a:rPr>
                  <a:t>Correct Answer: Proved: </a:t>
                </a:r>
                <a14:m>
                  <m:oMath xmlns:m="http://schemas.openxmlformats.org/officeDocument/2006/math">
                    <m:f>
                      <m:fPr>
                        <m:type m:val="bar"/>
                        <m:ctrlPr>
                          <a:rPr lang="en-IN" sz="2800" i="1">
                            <a:solidFill>
                              <a:srgbClr val="15803D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sSup>
                          <m:e>
                            <m:r>
                              <a:rPr lang="en-IN" sz="2800" i="1">
                                <a:solidFill>
                                  <a:srgbClr val="15803D"/>
                                </a:solidFill>
                                <a:latin typeface="Cambria Math" panose="02040503050406030204" pitchFamily="18" charset="0"/>
                              </a:rPr>
                              <m:t>𝑑</m:t>
                            </m:r>
                          </m:e>
                          <m:sup>
                            <m:r>
                              <a:rPr lang="en-IN" sz="2800" i="1">
                                <a:solidFill>
                                  <a:srgbClr val="15803D"/>
                                </a:solidFill>
                                <a:latin typeface="Cambria Math" panose="02040503050406030204" pitchFamily="18" charset="0"/>
                              </a:rPr>
                              <m:t>2</m:t>
                            </m:r>
                          </m:sup>
                        </m:sSup>
                        <m:r>
                          <a:rPr lang="en-IN" sz="2800" i="1">
                            <a:solidFill>
                              <a:srgbClr val="15803D"/>
                            </a:solidFill>
                            <a:latin typeface="Cambria Math" panose="02040503050406030204" pitchFamily="18" charset="0"/>
                          </a:rPr>
                          <m:t>𝑦</m:t>
                        </m:r>
                      </m:num>
                      <m:den>
                        <m:r>
                          <a:rPr lang="en-IN" sz="2800" i="1">
                            <a:solidFill>
                              <a:srgbClr val="15803D"/>
                            </a:solidFill>
                            <a:latin typeface="Cambria Math" panose="02040503050406030204" pitchFamily="18" charset="0"/>
                          </a:rPr>
                          <m:t>𝑑</m:t>
                        </m:r>
                        <m:sSup>
                          <m:e>
                            <m:r>
                              <a:rPr lang="en-IN" sz="2800" i="1">
                                <a:solidFill>
                                  <a:srgbClr val="15803D"/>
                                </a:solidFill>
                                <a:latin typeface="Cambria Math" panose="02040503050406030204" pitchFamily="18" charset="0"/>
                              </a:rPr>
                              <m:t>𝑥</m:t>
                            </m:r>
                          </m:e>
                          <m:sup>
                            <m:r>
                              <a:rPr lang="en-IN" sz="2800" i="1">
                                <a:solidFill>
                                  <a:srgbClr val="15803D"/>
                                </a:solidFill>
                                <a:latin typeface="Cambria Math" panose="02040503050406030204" pitchFamily="18" charset="0"/>
                              </a:rPr>
                              <m:t>2</m:t>
                            </m:r>
                          </m:sup>
                        </m:sSup>
                      </m:den>
                    </m:f>
                    <m:r>
                      <m:rPr>
                        <m:sty m:val="p"/>
                      </m:rPr>
                      <a:rPr lang="en-IN" sz="2800">
                        <a:solidFill>
                          <a:srgbClr val="15803D"/>
                        </a:solidFill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type m:val="bar"/>
                        <m:ctrlPr>
                          <a:rPr lang="en-IN" sz="2800" i="1">
                            <a:solidFill>
                              <a:srgbClr val="15803D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800" i="1">
                            <a:solidFill>
                              <a:srgbClr val="15803D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  <m:r>
                          <m:rPr>
                            <m:sty m:val="p"/>
                          </m:rPr>
                          <a:rPr lang="en-IN" sz="2800">
                            <a:solidFill>
                              <a:srgbClr val="15803D"/>
                            </a:solidFill>
                            <a:latin typeface="Cambria Math" panose="02040503050406030204" pitchFamily="18" charset="0"/>
                          </a:rPr>
                          <m:t>(</m:t>
                        </m:r>
                        <m:sSup>
                          <m:e>
                            <m:r>
                              <a:rPr lang="en-IN" sz="2800" i="1">
                                <a:solidFill>
                                  <a:srgbClr val="15803D"/>
                                </a:solidFill>
                                <a:latin typeface="Cambria Math" panose="02040503050406030204" pitchFamily="18" charset="0"/>
                              </a:rPr>
                              <m:t>𝑥</m:t>
                            </m:r>
                          </m:e>
                          <m:sup>
                            <m:r>
                              <a:rPr lang="en-IN" sz="2800" i="1">
                                <a:solidFill>
                                  <a:srgbClr val="15803D"/>
                                </a:solidFill>
                                <a:latin typeface="Cambria Math" panose="02040503050406030204" pitchFamily="18" charset="0"/>
                              </a:rPr>
                              <m:t>2</m:t>
                            </m:r>
                          </m:sup>
                        </m:sSup>
                        <m:r>
                          <m:rPr>
                            <m:sty m:val="p"/>
                          </m:rPr>
                          <a:rPr lang="en-IN" sz="2800">
                            <a:solidFill>
                              <a:srgbClr val="15803D"/>
                            </a:solidFill>
                            <a:latin typeface="Cambria Math" panose="02040503050406030204" pitchFamily="18" charset="0"/>
                          </a:rPr>
                          <m:t>+</m:t>
                        </m:r>
                        <m:sSup>
                          <m:e>
                            <m:r>
                              <a:rPr lang="en-IN" sz="2800" i="1">
                                <a:solidFill>
                                  <a:srgbClr val="15803D"/>
                                </a:solidFill>
                                <a:latin typeface="Cambria Math" panose="02040503050406030204" pitchFamily="18" charset="0"/>
                              </a:rPr>
                              <m:t>𝑦</m:t>
                            </m:r>
                          </m:e>
                          <m:sup>
                            <m:r>
                              <a:rPr lang="en-IN" sz="2800" i="1">
                                <a:solidFill>
                                  <a:srgbClr val="15803D"/>
                                </a:solidFill>
                                <a:latin typeface="Cambria Math" panose="02040503050406030204" pitchFamily="18" charset="0"/>
                              </a:rPr>
                              <m:t>2</m:t>
                            </m:r>
                          </m:sup>
                        </m:sSup>
                        <m:r>
                          <m:rPr>
                            <m:sty m:val="p"/>
                          </m:rPr>
                          <a:rPr lang="en-IN" sz="2800">
                            <a:solidFill>
                              <a:srgbClr val="15803D"/>
                            </a:solidFill>
                            <a:latin typeface="Cambria Math" panose="02040503050406030204" pitchFamily="18" charset="0"/>
                          </a:rPr>
                          <m:t>)</m:t>
                        </m:r>
                      </m:num>
                      <m:den>
                        <m:r>
                          <m:rPr>
                            <m:sty m:val="p"/>
                          </m:rPr>
                          <a:rPr lang="en-IN" sz="2800">
                            <a:solidFill>
                              <a:srgbClr val="15803D"/>
                            </a:solidFill>
                            <a:latin typeface="Cambria Math" panose="02040503050406030204" pitchFamily="18" charset="0"/>
                          </a:rPr>
                          <m:t>(</m:t>
                        </m:r>
                        <m:r>
                          <a:rPr lang="en-IN" sz="2800" i="1">
                            <a:solidFill>
                              <a:srgbClr val="15803D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  <m:r>
                          <m:rPr>
                            <m:sty m:val="p"/>
                          </m:rPr>
                          <a:rPr lang="en-IN" sz="2800">
                            <a:solidFill>
                              <a:srgbClr val="15803D"/>
                            </a:solidFill>
                            <a:latin typeface="Cambria Math" panose="02040503050406030204" pitchFamily="18" charset="0"/>
                          </a:rPr>
                          <m:t>−</m:t>
                        </m:r>
                        <m:r>
                          <a:rPr lang="en-IN" sz="2800" i="1">
                            <a:solidFill>
                              <a:srgbClr val="15803D"/>
                            </a:solidFill>
                            <a:latin typeface="Cambria Math" panose="02040503050406030204" pitchFamily="18" charset="0"/>
                          </a:rPr>
                          <m:t>𝑦</m:t>
                        </m:r>
                        <m:sSup>
                          <m:e>
                            <m:r>
                              <m:rPr>
                                <m:sty m:val="p"/>
                              </m:rPr>
                              <a:rPr lang="en-IN" sz="2800">
                                <a:solidFill>
                                  <a:srgbClr val="15803D"/>
                                </a:solidFill>
                                <a:latin typeface="Cambria Math" panose="02040503050406030204" pitchFamily="18" charset="0"/>
                              </a:rPr>
                              <m:t>)</m:t>
                            </m:r>
                          </m:e>
                          <m:sup>
                            <m:r>
                              <a:rPr lang="en-IN" sz="2800" i="1">
                                <a:solidFill>
                                  <a:srgbClr val="15803D"/>
                                </a:solidFill>
                                <a:latin typeface="Cambria Math" panose="02040503050406030204" pitchFamily="18" charset="0"/>
                              </a:rPr>
                              <m:t>3</m:t>
                            </m:r>
                          </m:sup>
                        </m:sSup>
                      </m:den>
                    </m:f>
                  </m:oMath>
                </a14:m>
                <a:endParaRPr sz="2800">
                  <a:solidFill>
                    <a:srgbClr val="15803D"/>
                  </a:solidFill>
                </a:endParaRPr>
              </a:p>
            </p:txBody>
          </p:sp>
        </mc:Choice>
        <mc:Fallback>
          <p:sp>
            <p:nvSpPr>
              <p:cNvPr id="5" name="Rounded Rectangle 4"/>
              <p:cNvSpPr/>
              <p:nvPr/>
            </p:nvSpPr>
            <p:spPr>
              <a:xfrm>
                <a:off x="731520" y="5897880"/>
                <a:ext cx="10725912" cy="777240"/>
              </a:xfrm>
              <a:prstGeom prst="roundRect">
                <a:avLst>
                  <a:gd name="adj" fmla="val 8000"/>
                </a:avLst>
              </a:prstGeom>
              <a:solidFill>
                <a:srgbClr val="DCFCE7"/>
              </a:solidFill>
              <a:ln w="25400">
                <a:solidFill>
                  <a:srgbClr val="15803D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5803D"/>
              </a:fontRef>
            </p:style>
            <p:txBody>
              <a:bodyPr rtlCol="0" anchor="ctr" wrap="square" lIns="228600" rIns="228600" tIns="18288" bIns="73152"/>
              <a:lstStyle>
                <a:lvl1pPr>
                  <a:defRPr sz="2800">
                    <a:solidFill>
                      <a:srgbClr val="15803D"/>
                    </a:solidFill>
                  </a:defRPr>
                </a:lvl1pPr>
              </a:lstStyle>
              <a:p>
                <a:pPr algn="ctr">
                  <a:defRPr sz="2800">
                    <a:solidFill>
                      <a:srgbClr val="15803D"/>
                    </a:solidFill>
                  </a:defRPr>
                </a:pPr>
                <a:r>
                  <a:rPr sz="2800" b="1">
                    <a:solidFill>
                      <a:srgbClr val="15803D"/>
                    </a:solidFill>
                    <a:latin typeface="Arial"/>
                  </a:rPr>
                  <a:t>Correct Answer: Proved: </a:t>
                </a:r>
                <a:r>
                  <a:rPr lang="en-IN" sz="2800">
                    <a:solidFill>
                      <a:srgbClr val="15803D"/>
                    </a:solidFill>
                    <a:latin typeface="Cambria Math" panose="02040503050406030204" pitchFamily="18" charset="0"/>
                  </a:rPr>
                  <a:t>$\frac{d^2y}{dx^2}=\frac{2(x^2+y^2)}{(x-y)^3}$</a:t>
                </a:r>
                <a:endParaRPr sz="2800">
                  <a:solidFill>
                    <a:srgbClr val="15803D"/>
                  </a:solidFill>
                </a:endParaRPr>
              </a:p>
            </p:txBody>
          </p:sp>
        </mc:Fallback>
      </mc:AlternateContent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FFFFFF"/>
          </a:fontRef>
        </p:style>
        <p:txBody>
          <a:bodyPr rtlCol="0" anchor="ctr" lIns="731520"/>
          <a:lstStyle>
            <a:lvl1pPr>
              <a:defRPr sz="3200">
                <a:solidFill>
                  <a:srgbClr val="FFFFFF"/>
                </a:solidFill>
              </a:defRPr>
            </a:lvl1pPr>
          </a:lstStyle>
          <a:p>
            <a:pPr algn="l">
              <a:defRPr sz="3200">
                <a:solidFill>
                  <a:srgbClr val="FFFFFF"/>
                </a:solidFill>
              </a:defRPr>
            </a:pPr>
            <a:r>
              <a:rPr sz="3200" b="1">
                <a:solidFill>
                  <a:srgbClr val="FFFFFF"/>
                </a:solidFill>
                <a:latin typeface="Arial"/>
              </a:rPr>
              <a:t>Question 01</a:t>
            </a:r>
            <a:endParaRPr sz="3200">
              <a:solidFill>
                <a:srgbClr val="FFFFFF"/>
              </a:solidFill>
            </a:endParaRPr>
          </a:p>
        </p:txBody>
      </p:sp>
      <p:sp>
        <p:nvSpPr>
          <p:cNvPr id="3" name="Rounded Rectangle 2"/>
          <p:cNvSpPr/>
          <p:nvPr/>
        </p:nvSpPr>
        <p:spPr>
          <a:xfrm>
            <a:off x="7894015" y="246887"/>
            <a:ext cx="3840480" cy="603504"/>
          </a:xfrm>
          <a:prstGeom prst="roundRect">
            <a:avLst>
              <a:gd name="adj" fmla="val 50000"/>
            </a:avLst>
          </a:prstGeom>
          <a:solidFill>
            <a:srgbClr val="FFD966"/>
          </a:solidFill>
          <a:ln w="1905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111827"/>
          </a:fontRef>
        </p:style>
        <p:txBody>
          <a:bodyPr rtlCol="0" anchor="ctr" wrap="square" lIns="228600" rIns="228600" tIns="18288" bIns="18288"/>
          <a:lstStyle>
            <a:lvl1pPr>
              <a:defRPr sz="2400">
                <a:solidFill>
                  <a:srgbClr val="111827"/>
                </a:solidFill>
              </a:defRPr>
            </a:lvl1pPr>
          </a:lstStyle>
          <a:p>
            <a:pPr algn="ctr">
              <a:defRPr sz="2400">
                <a:solidFill>
                  <a:srgbClr val="111827"/>
                </a:solidFill>
              </a:defRPr>
            </a:pPr>
            <a:r>
              <a:rPr sz="2400" b="1">
                <a:solidFill>
                  <a:srgbClr val="111827"/>
                </a:solidFill>
                <a:latin typeface="Arial"/>
              </a:rPr>
              <a:t>Level 2  ·  4 Marks</a:t>
            </a:r>
            <a:endParaRPr sz="2400">
              <a:solidFill>
                <a:srgbClr val="111827"/>
              </a:solidFill>
            </a:endParaRPr>
          </a:p>
        </p:txBody>
      </p:sp>
      <p:sp>
        <p:nvSpPr>
          <p:cNvPr id="4" name="Rounded Rectangle 3"/>
          <p:cNvSpPr/>
          <p:nvPr/>
        </p:nvSpPr>
        <p:spPr>
          <a:xfrm>
            <a:off x="3520440" y="265176"/>
            <a:ext cx="4206240" cy="566928"/>
          </a:xfrm>
          <a:prstGeom prst="roundRect">
            <a:avLst>
              <a:gd name="adj" fmla="val 50000"/>
            </a:avLst>
          </a:prstGeom>
          <a:solidFill>
            <a:srgbClr val="FDE68A"/>
          </a:solidFill>
          <a:ln w="25400">
            <a:solidFill>
              <a:srgbClr val="D9770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78350F"/>
          </a:fontRef>
        </p:style>
        <p:txBody>
          <a:bodyPr rtlCol="0" anchor="ctr" wrap="square" lIns="228600" rIns="228600" tIns="18288" bIns="18288"/>
          <a:lstStyle>
            <a:lvl1pPr>
              <a:defRPr sz="2200">
                <a:solidFill>
                  <a:srgbClr val="78350F"/>
                </a:solidFill>
              </a:defRPr>
            </a:lvl1pPr>
          </a:lstStyle>
          <a:p>
            <a:pPr algn="ctr">
              <a:defRPr sz="2200">
                <a:solidFill>
                  <a:srgbClr val="78350F"/>
                </a:solidFill>
              </a:defRPr>
            </a:pPr>
            <a:r>
              <a:rPr sz="2200" b="1">
                <a:solidFill>
                  <a:srgbClr val="78350F"/>
                </a:solidFill>
                <a:latin typeface="Arial"/>
              </a:rPr>
              <a:t>Alternate Solution</a:t>
            </a:r>
            <a:endParaRPr sz="2200">
              <a:solidFill>
                <a:srgbClr val="78350F"/>
              </a:solidFill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5" name="Rounded Rectangle 4"/>
              <p:cNvSpPr/>
              <p:nvPr/>
            </p:nvSpPr>
            <p:spPr>
              <a:xfrm>
                <a:off x="731520" y="1280160"/>
                <a:ext cx="10725912" cy="1109472"/>
              </a:xfrm>
              <a:prstGeom prst="roundRect">
                <a:avLst>
                  <a:gd name="adj" fmla="val 8000"/>
                </a:avLst>
              </a:prstGeom>
              <a:solidFill>
                <a:srgbClr val="FDE68A"/>
              </a:solidFill>
              <a:ln w="31750">
                <a:solidFill>
                  <a:srgbClr val="D97706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78350F"/>
              </a:fontRef>
            </p:style>
            <p:txBody>
              <a:bodyPr rtlCol="0" anchor="ctr" wrap="square" lIns="228600" rIns="228600" tIns="54864" bIns="73152"/>
              <a:lstStyle>
                <a:lvl1pPr>
                  <a:defRPr sz="2400">
                    <a:solidFill>
                      <a:srgbClr val="78350F"/>
                    </a:solidFill>
                  </a:defRPr>
                </a:lvl1pPr>
              </a:lstStyle>
              <a:p>
                <a:pPr algn="l">
                  <a:defRPr sz="2400">
                    <a:solidFill>
                      <a:srgbClr val="78350F"/>
                    </a:solidFill>
                  </a:defRPr>
                </a:pPr>
                <a:r>
                  <a:rPr sz="2400" b="1">
                    <a:solidFill>
                      <a:srgbClr val="78350F"/>
                    </a:solidFill>
                    <a:latin typeface="Arial"/>
                  </a:rPr>
                  <a:t>Idea:  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Polar form: the relation says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𝑟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=</m:t>
                    </m:r>
                    <m:sSup>
                      <m:e>
                        <m: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𝑒</m:t>
                        </m:r>
                      </m:e>
                      <m:sup>
                        <m: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θ</m:t>
                        </m:r>
                      </m:sup>
                    </m:sSup>
                  </m:oMath>
                </a14:m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 (a logarithmic spiral), so differentiate with the parameter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θ</m:t>
                    </m:r>
                  </m:oMath>
                </a14:m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.</a:t>
                </a:r>
                <a:endParaRPr sz="2400">
                  <a:solidFill>
                    <a:srgbClr val="78350F"/>
                  </a:solidFill>
                </a:endParaRPr>
              </a:p>
            </p:txBody>
          </p:sp>
        </mc:Choice>
        <mc:Fallback>
          <p:sp>
            <p:nvSpPr>
              <p:cNvPr id="5" name="Rounded Rectangle 4"/>
              <p:cNvSpPr/>
              <p:nvPr/>
            </p:nvSpPr>
            <p:spPr>
              <a:xfrm>
                <a:off x="731520" y="1280160"/>
                <a:ext cx="10725912" cy="1109472"/>
              </a:xfrm>
              <a:prstGeom prst="roundRect">
                <a:avLst>
                  <a:gd name="adj" fmla="val 8000"/>
                </a:avLst>
              </a:prstGeom>
              <a:solidFill>
                <a:srgbClr val="FDE68A"/>
              </a:solidFill>
              <a:ln w="31750">
                <a:solidFill>
                  <a:srgbClr val="D97706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78350F"/>
              </a:fontRef>
            </p:style>
            <p:txBody>
              <a:bodyPr rtlCol="0" anchor="ctr" wrap="square" lIns="228600" rIns="228600" tIns="54864" bIns="73152"/>
              <a:lstStyle>
                <a:lvl1pPr>
                  <a:defRPr sz="2400">
                    <a:solidFill>
                      <a:srgbClr val="78350F"/>
                    </a:solidFill>
                  </a:defRPr>
                </a:lvl1pPr>
              </a:lstStyle>
              <a:p>
                <a:pPr algn="l">
                  <a:defRPr sz="2400">
                    <a:solidFill>
                      <a:srgbClr val="78350F"/>
                    </a:solidFill>
                  </a:defRPr>
                </a:pPr>
                <a:r>
                  <a:rPr sz="2400" b="1">
                    <a:solidFill>
                      <a:srgbClr val="78350F"/>
                    </a:solidFill>
                    <a:latin typeface="Arial"/>
                  </a:rPr>
                  <a:t>Idea:  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Polar form: the relation says </a:t>
                </a:r>
                <a:r>
                  <a:rPr lang="en-IN" sz="2400">
                    <a:solidFill>
                      <a:srgbClr val="78350F"/>
                    </a:solidFill>
                    <a:latin typeface="Cambria Math" panose="02040503050406030204" pitchFamily="18" charset="0"/>
                  </a:rPr>
                  <a:t>$r=e^{\theta}$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 (a logarithmic spiral), so differentiate with the parameter </a:t>
                </a:r>
                <a:r>
                  <a:rPr lang="en-IN" sz="2400">
                    <a:solidFill>
                      <a:srgbClr val="78350F"/>
                    </a:solidFill>
                    <a:latin typeface="Cambria Math" panose="02040503050406030204" pitchFamily="18" charset="0"/>
                  </a:rPr>
                  <a:t>$\theta$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.</a:t>
                </a:r>
                <a:endParaRPr sz="2400">
                  <a:solidFill>
                    <a:srgbClr val="78350F"/>
                  </a:solidFill>
                </a:endParaRP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6" name="Rectangle 5"/>
              <p:cNvSpPr/>
              <p:nvPr/>
            </p:nvSpPr>
            <p:spPr>
              <a:xfrm>
                <a:off x="731520" y="2526792"/>
                <a:ext cx="10725912" cy="4148328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For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&gt;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0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arcsin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𝑦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𝑟</m:t>
                        </m:r>
                      </m:den>
                    </m:f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θ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where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𝑟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cos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θ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𝑦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𝑟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sin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θ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so the relation is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𝑟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𝑒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θ</m:t>
                        </m:r>
                      </m:sup>
                    </m:sSup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Hence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𝑒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θ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cos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θ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𝑦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𝑒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θ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sin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θ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14:m>
                  <m:oMath xmlns:m="http://schemas.openxmlformats.org/officeDocument/2006/math"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𝑑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𝑑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θ</m:t>
                        </m:r>
                      </m:den>
                    </m:f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𝑒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θ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cos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θ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sin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θ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and </a:t>
                </a:r>
                <a14:m>
                  <m:oMath xmlns:m="http://schemas.openxmlformats.org/officeDocument/2006/math"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𝑑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𝑦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𝑑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θ</m:t>
                        </m:r>
                      </m:den>
                    </m:f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𝑒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θ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cos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θ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sin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θ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14:m>
                  <m:oMath xmlns:m="http://schemas.openxmlformats.org/officeDocument/2006/math"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𝑑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𝑦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𝑑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</m:den>
                    </m:f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cos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θ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+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sin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θ</m:t>
                        </m:r>
                      </m:num>
                      <m:den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cos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θ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−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sin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θ</m:t>
                        </m:r>
                      </m:den>
                    </m:f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tan</m:t>
                    </m:r>
                    <m:d>
                      <m:dPr>
                        <m:begChr m:val="("/>
                        <m:sepChr m:val=""/>
                        <m:endChr m:val=")"/>
                        <m:grow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θ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+</m:t>
                        </m:r>
                        <m:f>
                          <m:fPr>
                            <m:type m:val="bar"/>
                            <m:ctrlP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fPr>
                          <m:num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π</m:t>
                            </m:r>
                          </m:num>
                          <m:den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4</m:t>
                            </m:r>
                          </m:den>
                        </m:f>
                      </m:e>
                    </m:d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Choice>
        <mc:Fallback>
          <p:sp>
            <p:nvSpPr>
              <p:cNvPr id="6" name="Rectangle 5"/>
              <p:cNvSpPr/>
              <p:nvPr/>
            </p:nvSpPr>
            <p:spPr>
              <a:xfrm>
                <a:off x="731520" y="2526792"/>
                <a:ext cx="10725912" cy="4148328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For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$x&gt;0$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$\arcsin\frac yr=\theta$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where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$x=r\cos\theta$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$y=r\sin\theta$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so the relation is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$r=e^{\theta}$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Hence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$x=e^{\theta}\cos\theta$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$y=e^{\theta}\sin\theta$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$\frac{dx}{d\theta}=e^{\theta}(\cos\theta-\sin\theta)$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and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$\frac{dy}{d\theta}=e^{\theta}(\cos\theta+\sin\theta)$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$\frac{dy}{dx}=\frac{\cos\theta+\sin\theta}{\cos\theta-\sin\theta}=\tan\left(\theta+\frac\pi4\right)$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Fallback>
      </mc:AlternateContent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FFFFFF"/>
          </a:fontRef>
        </p:style>
        <p:txBody>
          <a:bodyPr rtlCol="0" anchor="ctr" lIns="731520"/>
          <a:lstStyle>
            <a:lvl1pPr>
              <a:defRPr sz="3200">
                <a:solidFill>
                  <a:srgbClr val="FFFFFF"/>
                </a:solidFill>
              </a:defRPr>
            </a:lvl1pPr>
          </a:lstStyle>
          <a:p>
            <a:pPr algn="l">
              <a:defRPr sz="3200">
                <a:solidFill>
                  <a:srgbClr val="FFFFFF"/>
                </a:solidFill>
              </a:defRPr>
            </a:pPr>
            <a:r>
              <a:rPr sz="3200" b="1">
                <a:solidFill>
                  <a:srgbClr val="FFFFFF"/>
                </a:solidFill>
                <a:latin typeface="Arial"/>
              </a:rPr>
              <a:t>Question 01</a:t>
            </a:r>
            <a:endParaRPr sz="3200">
              <a:solidFill>
                <a:srgbClr val="FFFFFF"/>
              </a:solidFill>
            </a:endParaRPr>
          </a:p>
        </p:txBody>
      </p:sp>
      <p:sp>
        <p:nvSpPr>
          <p:cNvPr id="3" name="Rounded Rectangle 2"/>
          <p:cNvSpPr/>
          <p:nvPr/>
        </p:nvSpPr>
        <p:spPr>
          <a:xfrm>
            <a:off x="7894015" y="246887"/>
            <a:ext cx="3840480" cy="603504"/>
          </a:xfrm>
          <a:prstGeom prst="roundRect">
            <a:avLst>
              <a:gd name="adj" fmla="val 50000"/>
            </a:avLst>
          </a:prstGeom>
          <a:solidFill>
            <a:srgbClr val="FFD966"/>
          </a:solidFill>
          <a:ln w="1905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111827"/>
          </a:fontRef>
        </p:style>
        <p:txBody>
          <a:bodyPr rtlCol="0" anchor="ctr" wrap="square" lIns="228600" rIns="228600" tIns="18288" bIns="18288"/>
          <a:lstStyle>
            <a:lvl1pPr>
              <a:defRPr sz="2400">
                <a:solidFill>
                  <a:srgbClr val="111827"/>
                </a:solidFill>
              </a:defRPr>
            </a:lvl1pPr>
          </a:lstStyle>
          <a:p>
            <a:pPr algn="ctr">
              <a:defRPr sz="2400">
                <a:solidFill>
                  <a:srgbClr val="111827"/>
                </a:solidFill>
              </a:defRPr>
            </a:pPr>
            <a:r>
              <a:rPr sz="2400" b="1">
                <a:solidFill>
                  <a:srgbClr val="111827"/>
                </a:solidFill>
                <a:latin typeface="Arial"/>
              </a:rPr>
              <a:t>Level 2  ·  4 Marks</a:t>
            </a:r>
            <a:endParaRPr sz="2400">
              <a:solidFill>
                <a:srgbClr val="111827"/>
              </a:solidFill>
            </a:endParaRPr>
          </a:p>
        </p:txBody>
      </p:sp>
      <p:sp>
        <p:nvSpPr>
          <p:cNvPr id="4" name="Rounded Rectangle 3"/>
          <p:cNvSpPr/>
          <p:nvPr/>
        </p:nvSpPr>
        <p:spPr>
          <a:xfrm>
            <a:off x="3520440" y="265176"/>
            <a:ext cx="4206240" cy="566928"/>
          </a:xfrm>
          <a:prstGeom prst="roundRect">
            <a:avLst>
              <a:gd name="adj" fmla="val 50000"/>
            </a:avLst>
          </a:prstGeom>
          <a:solidFill>
            <a:srgbClr val="FDE68A"/>
          </a:solidFill>
          <a:ln w="25400">
            <a:solidFill>
              <a:srgbClr val="D9770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78350F"/>
          </a:fontRef>
        </p:style>
        <p:txBody>
          <a:bodyPr rtlCol="0" anchor="ctr" wrap="square" lIns="228600" rIns="228600" tIns="18288" bIns="18288"/>
          <a:lstStyle>
            <a:lvl1pPr>
              <a:defRPr sz="2200">
                <a:solidFill>
                  <a:srgbClr val="78350F"/>
                </a:solidFill>
              </a:defRPr>
            </a:lvl1pPr>
          </a:lstStyle>
          <a:p>
            <a:pPr algn="ctr">
              <a:defRPr sz="2200">
                <a:solidFill>
                  <a:srgbClr val="78350F"/>
                </a:solidFill>
              </a:defRPr>
            </a:pPr>
            <a:r>
              <a:rPr sz="2200" b="1">
                <a:solidFill>
                  <a:srgbClr val="78350F"/>
                </a:solidFill>
                <a:latin typeface="Arial"/>
              </a:rPr>
              <a:t>Alternate Solution</a:t>
            </a:r>
            <a:endParaRPr sz="2200">
              <a:solidFill>
                <a:srgbClr val="78350F"/>
              </a:solidFill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5" name="Rectangle 4"/>
              <p:cNvSpPr/>
              <p:nvPr/>
            </p:nvSpPr>
            <p:spPr>
              <a:xfrm>
                <a:off x="731520" y="1353312"/>
                <a:ext cx="10725912" cy="4434840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14:m>
                  <m:oMath xmlns:m="http://schemas.openxmlformats.org/officeDocument/2006/math"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sSup>
                          <m:e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𝑑</m:t>
                            </m:r>
                          </m:e>
                          <m:sup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2</m:t>
                            </m:r>
                          </m:sup>
                        </m:s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𝑦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𝑑</m:t>
                        </m:r>
                        <m:sSup>
                          <m:e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𝑥</m:t>
                            </m:r>
                          </m:e>
                          <m:sup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2</m:t>
                            </m:r>
                          </m:sup>
                        </m:sSup>
                      </m:den>
                    </m:f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𝑑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𝑑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θ</m:t>
                        </m:r>
                      </m:den>
                    </m:f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tan</m:t>
                    </m:r>
                    <m:d>
                      <m:dPr>
                        <m:begChr m:val="("/>
                        <m:sepChr m:val=""/>
                        <m:endChr m:val=")"/>
                        <m:grow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θ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+</m:t>
                        </m:r>
                        <m:f>
                          <m:fPr>
                            <m:type m:val="bar"/>
                            <m:ctrlP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fPr>
                          <m:num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π</m:t>
                            </m:r>
                          </m:num>
                          <m:den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4</m:t>
                            </m:r>
                          </m:den>
                        </m:f>
                      </m:e>
                    </m:d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/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𝑑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𝑑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θ</m:t>
                        </m:r>
                      </m:den>
                    </m:f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sSup>
                          <m:e>
                            <m:r>
                              <m:rPr>
                                <m:sty m:val="p"/>
                              </m:rPr>
                              <a:rPr lang="en-IN" sz="2400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sec</m:t>
                            </m:r>
                          </m:e>
                          <m:sup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2</m:t>
                            </m:r>
                          </m:sup>
                        </m:sSup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(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θ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+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π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/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4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)</m:t>
                        </m:r>
                      </m:num>
                      <m:den>
                        <m:sSup>
                          <m:e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𝑒</m:t>
                            </m:r>
                          </m:e>
                          <m:sup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θ</m:t>
                            </m:r>
                          </m:sup>
                        </m:sSup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(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cos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θ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−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sin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θ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)</m:t>
                        </m:r>
                      </m:den>
                    </m:f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14:m>
                  <m:oMath xmlns:m="http://schemas.openxmlformats.org/officeDocument/2006/math">
                    <m:sSup>
                      <m:e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sec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d>
                      <m:dPr>
                        <m:begChr m:val="("/>
                        <m:sepChr m:val=""/>
                        <m:endChr m:val=")"/>
                        <m:grow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θ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+</m:t>
                        </m:r>
                        <m:f>
                          <m:fPr>
                            <m:type m:val="bar"/>
                            <m:ctrlP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fPr>
                          <m:num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π</m:t>
                            </m:r>
                          </m:num>
                          <m:den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4</m:t>
                            </m:r>
                          </m:den>
                        </m:f>
                      </m:e>
                    </m:d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num>
                      <m:den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(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cos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θ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−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sin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θ</m:t>
                        </m:r>
                        <m:sSup>
                          <m:e>
                            <m:r>
                              <m:rPr>
                                <m:sty m:val="p"/>
                              </m:rPr>
                              <a:rPr lang="en-IN" sz="2400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)</m:t>
                            </m:r>
                          </m:e>
                          <m:sup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2</m:t>
                            </m:r>
                          </m:sup>
                        </m:sSup>
                      </m:den>
                    </m:f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so </a:t>
                </a:r>
                <a14:m>
                  <m:oMath xmlns:m="http://schemas.openxmlformats.org/officeDocument/2006/math"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sSup>
                          <m:e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𝑑</m:t>
                            </m:r>
                          </m:e>
                          <m:sup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2</m:t>
                            </m:r>
                          </m:sup>
                        </m:s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𝑦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𝑑</m:t>
                        </m:r>
                        <m:sSup>
                          <m:e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𝑥</m:t>
                            </m:r>
                          </m:e>
                          <m:sup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2</m:t>
                            </m:r>
                          </m:sup>
                        </m:sSup>
                      </m:den>
                    </m:f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num>
                      <m:den>
                        <m:sSup>
                          <m:e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𝑒</m:t>
                            </m:r>
                          </m:e>
                          <m:sup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θ</m:t>
                            </m:r>
                          </m:sup>
                        </m:sSup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(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cos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θ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−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sin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θ</m:t>
                        </m:r>
                        <m:sSup>
                          <m:e>
                            <m:r>
                              <m:rPr>
                                <m:sty m:val="p"/>
                              </m:rPr>
                              <a:rPr lang="en-IN" sz="2400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)</m:t>
                            </m:r>
                          </m:e>
                          <m:sup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3</m:t>
                            </m:r>
                          </m:sup>
                        </m:sSup>
                      </m:den>
                    </m:f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Since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𝑦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𝑒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θ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cos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θ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sin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θ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and </a:t>
                </a:r>
                <a14:m>
                  <m:oMath xmlns:m="http://schemas.openxmlformats.org/officeDocument/2006/math"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𝑦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𝑒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θ</m:t>
                        </m:r>
                      </m:sup>
                    </m:sSup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we get </a:t>
                </a:r>
                <a14:m>
                  <m:oMath xmlns:m="http://schemas.openxmlformats.org/officeDocument/2006/math"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(</m:t>
                        </m:r>
                        <m:sSup>
                          <m:e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𝑥</m:t>
                            </m:r>
                          </m:e>
                          <m:sup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2</m:t>
                            </m:r>
                          </m:sup>
                        </m:sSup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+</m:t>
                        </m:r>
                        <m:sSup>
                          <m:e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𝑦</m:t>
                            </m:r>
                          </m:e>
                          <m:sup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2</m:t>
                            </m:r>
                          </m:sup>
                        </m:sSup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)</m:t>
                        </m:r>
                      </m:num>
                      <m:den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(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−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𝑦</m:t>
                        </m:r>
                        <m:sSup>
                          <m:e>
                            <m:r>
                              <m:rPr>
                                <m:sty m:val="p"/>
                              </m:rPr>
                              <a:rPr lang="en-IN" sz="2400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)</m:t>
                            </m:r>
                          </m:e>
                          <m:sup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3</m:t>
                            </m:r>
                          </m:sup>
                        </m:sSup>
                      </m:den>
                    </m:f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  <m:sSup>
                          <m:e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𝑒</m:t>
                            </m:r>
                          </m:e>
                          <m:sup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2</m:t>
                            </m:r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θ</m:t>
                            </m:r>
                          </m:sup>
                        </m:sSup>
                      </m:num>
                      <m:den>
                        <m:sSup>
                          <m:e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𝑒</m:t>
                            </m:r>
                          </m:e>
                          <m:sup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3</m:t>
                            </m:r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θ</m:t>
                            </m:r>
                          </m:sup>
                        </m:sSup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(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cos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θ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−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sin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θ</m:t>
                        </m:r>
                        <m:sSup>
                          <m:e>
                            <m:r>
                              <m:rPr>
                                <m:sty m:val="p"/>
                              </m:rPr>
                              <a:rPr lang="en-IN" sz="2400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)</m:t>
                            </m:r>
                          </m:e>
                          <m:sup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3</m:t>
                            </m:r>
                          </m:sup>
                        </m:sSup>
                      </m:den>
                    </m:f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the same value.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Choice>
        <mc:Fallback>
          <p:sp>
            <p:nvSpPr>
              <p:cNvPr id="5" name="Rectangle 4"/>
              <p:cNvSpPr/>
              <p:nvPr/>
            </p:nvSpPr>
            <p:spPr>
              <a:xfrm>
                <a:off x="731520" y="1353312"/>
                <a:ext cx="10725912" cy="4434840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$\frac{d^2y}{dx^2}=\frac{d}{d\theta}\tan\left(\theta+\frac\pi4\right)\Big/\frac{dx}{d\theta}=\frac{\sec^2(\theta+\pi/4)}{e^{\theta}(\cos\theta-\sin\theta)}$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$\sec^2\left(\theta+\frac\pi4\right)=\frac{2}{(\cos\theta-\sin\theta)^2}$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so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$\frac{d^2y}{dx^2}=\frac{2}{e^{\theta}(\cos\theta-\sin\theta)^3}$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Since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$x-y=e^{\theta}(\cos\theta-\sin\theta)$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and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$x^2+y^2=e^{2\theta}$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we get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$\frac{2(x^2+y^2)}{(x-y)^3}=\frac{2e^{2\theta}}{e^{3\theta}(\cos\theta-\sin\theta)^3}$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the same value.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6" name="Rounded Rectangle 5"/>
              <p:cNvSpPr/>
              <p:nvPr/>
            </p:nvSpPr>
            <p:spPr>
              <a:xfrm>
                <a:off x="731520" y="5897880"/>
                <a:ext cx="10725912" cy="777240"/>
              </a:xfrm>
              <a:prstGeom prst="roundRect">
                <a:avLst>
                  <a:gd name="adj" fmla="val 8000"/>
                </a:avLst>
              </a:prstGeom>
              <a:solidFill>
                <a:srgbClr val="DCFCE7"/>
              </a:solidFill>
              <a:ln w="25400">
                <a:solidFill>
                  <a:srgbClr val="15803D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5803D"/>
              </a:fontRef>
            </p:style>
            <p:txBody>
              <a:bodyPr rtlCol="0" anchor="ctr" wrap="square" lIns="228600" rIns="228600" tIns="18288" bIns="73152"/>
              <a:lstStyle>
                <a:lvl1pPr>
                  <a:defRPr sz="2800">
                    <a:solidFill>
                      <a:srgbClr val="15803D"/>
                    </a:solidFill>
                  </a:defRPr>
                </a:lvl1pPr>
              </a:lstStyle>
              <a:p>
                <a:pPr algn="ctr">
                  <a:defRPr sz="2800">
                    <a:solidFill>
                      <a:srgbClr val="15803D"/>
                    </a:solidFill>
                  </a:defRPr>
                </a:pPr>
                <a:r>
                  <a:rPr sz="2800" b="1">
                    <a:solidFill>
                      <a:srgbClr val="15803D"/>
                    </a:solidFill>
                    <a:latin typeface="Arial"/>
                  </a:rPr>
                  <a:t>Same answer: Proved: </a:t>
                </a:r>
                <a14:m>
                  <m:oMath xmlns:m="http://schemas.openxmlformats.org/officeDocument/2006/math">
                    <m:f>
                      <m:fPr>
                        <m:type m:val="bar"/>
                        <m:ctrlPr>
                          <a:rPr lang="en-IN" sz="2800" i="1">
                            <a:solidFill>
                              <a:srgbClr val="15803D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sSup>
                          <m:e>
                            <m:r>
                              <a:rPr lang="en-IN" sz="2800" i="1">
                                <a:solidFill>
                                  <a:srgbClr val="15803D"/>
                                </a:solidFill>
                                <a:latin typeface="Cambria Math" panose="02040503050406030204" pitchFamily="18" charset="0"/>
                              </a:rPr>
                              <m:t>𝑑</m:t>
                            </m:r>
                          </m:e>
                          <m:sup>
                            <m:r>
                              <a:rPr lang="en-IN" sz="2800" i="1">
                                <a:solidFill>
                                  <a:srgbClr val="15803D"/>
                                </a:solidFill>
                                <a:latin typeface="Cambria Math" panose="02040503050406030204" pitchFamily="18" charset="0"/>
                              </a:rPr>
                              <m:t>2</m:t>
                            </m:r>
                          </m:sup>
                        </m:sSup>
                        <m:r>
                          <a:rPr lang="en-IN" sz="2800" i="1">
                            <a:solidFill>
                              <a:srgbClr val="15803D"/>
                            </a:solidFill>
                            <a:latin typeface="Cambria Math" panose="02040503050406030204" pitchFamily="18" charset="0"/>
                          </a:rPr>
                          <m:t>𝑦</m:t>
                        </m:r>
                      </m:num>
                      <m:den>
                        <m:r>
                          <a:rPr lang="en-IN" sz="2800" i="1">
                            <a:solidFill>
                              <a:srgbClr val="15803D"/>
                            </a:solidFill>
                            <a:latin typeface="Cambria Math" panose="02040503050406030204" pitchFamily="18" charset="0"/>
                          </a:rPr>
                          <m:t>𝑑</m:t>
                        </m:r>
                        <m:sSup>
                          <m:e>
                            <m:r>
                              <a:rPr lang="en-IN" sz="2800" i="1">
                                <a:solidFill>
                                  <a:srgbClr val="15803D"/>
                                </a:solidFill>
                                <a:latin typeface="Cambria Math" panose="02040503050406030204" pitchFamily="18" charset="0"/>
                              </a:rPr>
                              <m:t>𝑥</m:t>
                            </m:r>
                          </m:e>
                          <m:sup>
                            <m:r>
                              <a:rPr lang="en-IN" sz="2800" i="1">
                                <a:solidFill>
                                  <a:srgbClr val="15803D"/>
                                </a:solidFill>
                                <a:latin typeface="Cambria Math" panose="02040503050406030204" pitchFamily="18" charset="0"/>
                              </a:rPr>
                              <m:t>2</m:t>
                            </m:r>
                          </m:sup>
                        </m:sSup>
                      </m:den>
                    </m:f>
                    <m:r>
                      <m:rPr>
                        <m:sty m:val="p"/>
                      </m:rPr>
                      <a:rPr lang="en-IN" sz="2800">
                        <a:solidFill>
                          <a:srgbClr val="15803D"/>
                        </a:solidFill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type m:val="bar"/>
                        <m:ctrlPr>
                          <a:rPr lang="en-IN" sz="2800" i="1">
                            <a:solidFill>
                              <a:srgbClr val="15803D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800" i="1">
                            <a:solidFill>
                              <a:srgbClr val="15803D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  <m:r>
                          <m:rPr>
                            <m:sty m:val="p"/>
                          </m:rPr>
                          <a:rPr lang="en-IN" sz="2800">
                            <a:solidFill>
                              <a:srgbClr val="15803D"/>
                            </a:solidFill>
                            <a:latin typeface="Cambria Math" panose="02040503050406030204" pitchFamily="18" charset="0"/>
                          </a:rPr>
                          <m:t>(</m:t>
                        </m:r>
                        <m:sSup>
                          <m:e>
                            <m:r>
                              <a:rPr lang="en-IN" sz="2800" i="1">
                                <a:solidFill>
                                  <a:srgbClr val="15803D"/>
                                </a:solidFill>
                                <a:latin typeface="Cambria Math" panose="02040503050406030204" pitchFamily="18" charset="0"/>
                              </a:rPr>
                              <m:t>𝑥</m:t>
                            </m:r>
                          </m:e>
                          <m:sup>
                            <m:r>
                              <a:rPr lang="en-IN" sz="2800" i="1">
                                <a:solidFill>
                                  <a:srgbClr val="15803D"/>
                                </a:solidFill>
                                <a:latin typeface="Cambria Math" panose="02040503050406030204" pitchFamily="18" charset="0"/>
                              </a:rPr>
                              <m:t>2</m:t>
                            </m:r>
                          </m:sup>
                        </m:sSup>
                        <m:r>
                          <m:rPr>
                            <m:sty m:val="p"/>
                          </m:rPr>
                          <a:rPr lang="en-IN" sz="2800">
                            <a:solidFill>
                              <a:srgbClr val="15803D"/>
                            </a:solidFill>
                            <a:latin typeface="Cambria Math" panose="02040503050406030204" pitchFamily="18" charset="0"/>
                          </a:rPr>
                          <m:t>+</m:t>
                        </m:r>
                        <m:sSup>
                          <m:e>
                            <m:r>
                              <a:rPr lang="en-IN" sz="2800" i="1">
                                <a:solidFill>
                                  <a:srgbClr val="15803D"/>
                                </a:solidFill>
                                <a:latin typeface="Cambria Math" panose="02040503050406030204" pitchFamily="18" charset="0"/>
                              </a:rPr>
                              <m:t>𝑦</m:t>
                            </m:r>
                          </m:e>
                          <m:sup>
                            <m:r>
                              <a:rPr lang="en-IN" sz="2800" i="1">
                                <a:solidFill>
                                  <a:srgbClr val="15803D"/>
                                </a:solidFill>
                                <a:latin typeface="Cambria Math" panose="02040503050406030204" pitchFamily="18" charset="0"/>
                              </a:rPr>
                              <m:t>2</m:t>
                            </m:r>
                          </m:sup>
                        </m:sSup>
                        <m:r>
                          <m:rPr>
                            <m:sty m:val="p"/>
                          </m:rPr>
                          <a:rPr lang="en-IN" sz="2800">
                            <a:solidFill>
                              <a:srgbClr val="15803D"/>
                            </a:solidFill>
                            <a:latin typeface="Cambria Math" panose="02040503050406030204" pitchFamily="18" charset="0"/>
                          </a:rPr>
                          <m:t>)</m:t>
                        </m:r>
                      </m:num>
                      <m:den>
                        <m:r>
                          <m:rPr>
                            <m:sty m:val="p"/>
                          </m:rPr>
                          <a:rPr lang="en-IN" sz="2800">
                            <a:solidFill>
                              <a:srgbClr val="15803D"/>
                            </a:solidFill>
                            <a:latin typeface="Cambria Math" panose="02040503050406030204" pitchFamily="18" charset="0"/>
                          </a:rPr>
                          <m:t>(</m:t>
                        </m:r>
                        <m:r>
                          <a:rPr lang="en-IN" sz="2800" i="1">
                            <a:solidFill>
                              <a:srgbClr val="15803D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  <m:r>
                          <m:rPr>
                            <m:sty m:val="p"/>
                          </m:rPr>
                          <a:rPr lang="en-IN" sz="2800">
                            <a:solidFill>
                              <a:srgbClr val="15803D"/>
                            </a:solidFill>
                            <a:latin typeface="Cambria Math" panose="02040503050406030204" pitchFamily="18" charset="0"/>
                          </a:rPr>
                          <m:t>−</m:t>
                        </m:r>
                        <m:r>
                          <a:rPr lang="en-IN" sz="2800" i="1">
                            <a:solidFill>
                              <a:srgbClr val="15803D"/>
                            </a:solidFill>
                            <a:latin typeface="Cambria Math" panose="02040503050406030204" pitchFamily="18" charset="0"/>
                          </a:rPr>
                          <m:t>𝑦</m:t>
                        </m:r>
                        <m:sSup>
                          <m:e>
                            <m:r>
                              <m:rPr>
                                <m:sty m:val="p"/>
                              </m:rPr>
                              <a:rPr lang="en-IN" sz="2800">
                                <a:solidFill>
                                  <a:srgbClr val="15803D"/>
                                </a:solidFill>
                                <a:latin typeface="Cambria Math" panose="02040503050406030204" pitchFamily="18" charset="0"/>
                              </a:rPr>
                              <m:t>)</m:t>
                            </m:r>
                          </m:e>
                          <m:sup>
                            <m:r>
                              <a:rPr lang="en-IN" sz="2800" i="1">
                                <a:solidFill>
                                  <a:srgbClr val="15803D"/>
                                </a:solidFill>
                                <a:latin typeface="Cambria Math" panose="02040503050406030204" pitchFamily="18" charset="0"/>
                              </a:rPr>
                              <m:t>3</m:t>
                            </m:r>
                          </m:sup>
                        </m:sSup>
                      </m:den>
                    </m:f>
                  </m:oMath>
                </a14:m>
                <a:endParaRPr sz="2800">
                  <a:solidFill>
                    <a:srgbClr val="15803D"/>
                  </a:solidFill>
                </a:endParaRPr>
              </a:p>
            </p:txBody>
          </p:sp>
        </mc:Choice>
        <mc:Fallback>
          <p:sp>
            <p:nvSpPr>
              <p:cNvPr id="6" name="Rounded Rectangle 5"/>
              <p:cNvSpPr/>
              <p:nvPr/>
            </p:nvSpPr>
            <p:spPr>
              <a:xfrm>
                <a:off x="731520" y="5897880"/>
                <a:ext cx="10725912" cy="777240"/>
              </a:xfrm>
              <a:prstGeom prst="roundRect">
                <a:avLst>
                  <a:gd name="adj" fmla="val 8000"/>
                </a:avLst>
              </a:prstGeom>
              <a:solidFill>
                <a:srgbClr val="DCFCE7"/>
              </a:solidFill>
              <a:ln w="25400">
                <a:solidFill>
                  <a:srgbClr val="15803D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5803D"/>
              </a:fontRef>
            </p:style>
            <p:txBody>
              <a:bodyPr rtlCol="0" anchor="ctr" wrap="square" lIns="228600" rIns="228600" tIns="18288" bIns="73152"/>
              <a:lstStyle>
                <a:lvl1pPr>
                  <a:defRPr sz="2800">
                    <a:solidFill>
                      <a:srgbClr val="15803D"/>
                    </a:solidFill>
                  </a:defRPr>
                </a:lvl1pPr>
              </a:lstStyle>
              <a:p>
                <a:pPr algn="ctr">
                  <a:defRPr sz="2800">
                    <a:solidFill>
                      <a:srgbClr val="15803D"/>
                    </a:solidFill>
                  </a:defRPr>
                </a:pPr>
                <a:r>
                  <a:rPr sz="2800" b="1">
                    <a:solidFill>
                      <a:srgbClr val="15803D"/>
                    </a:solidFill>
                    <a:latin typeface="Arial"/>
                  </a:rPr>
                  <a:t>Same answer: Proved: </a:t>
                </a:r>
                <a:r>
                  <a:rPr lang="en-IN" sz="2800">
                    <a:solidFill>
                      <a:srgbClr val="15803D"/>
                    </a:solidFill>
                    <a:latin typeface="Cambria Math" panose="02040503050406030204" pitchFamily="18" charset="0"/>
                  </a:rPr>
                  <a:t>$\frac{d^2y}{dx^2}=\frac{2(x^2+y^2)}{(x-y)^3}$</a:t>
                </a:r>
                <a:endParaRPr sz="2800">
                  <a:solidFill>
                    <a:srgbClr val="15803D"/>
                  </a:solidFill>
                </a:endParaRPr>
              </a:p>
            </p:txBody>
          </p:sp>
        </mc:Fallback>
      </mc:AlternateContent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FFFFFF"/>
          </a:fontRef>
        </p:style>
        <p:txBody>
          <a:bodyPr rtlCol="0" anchor="ctr" lIns="731520"/>
          <a:lstStyle>
            <a:lvl1pPr>
              <a:defRPr sz="3200">
                <a:solidFill>
                  <a:srgbClr val="FFFFFF"/>
                </a:solidFill>
              </a:defRPr>
            </a:lvl1pPr>
          </a:lstStyle>
          <a:p>
            <a:pPr algn="l">
              <a:defRPr sz="3200">
                <a:solidFill>
                  <a:srgbClr val="FFFFFF"/>
                </a:solidFill>
              </a:defRPr>
            </a:pPr>
            <a:r>
              <a:rPr sz="3200" b="1">
                <a:solidFill>
                  <a:srgbClr val="FFFFFF"/>
                </a:solidFill>
                <a:latin typeface="Arial"/>
              </a:rPr>
              <a:t>Question 01</a:t>
            </a:r>
            <a:endParaRPr sz="3200">
              <a:solidFill>
                <a:srgbClr val="FFFFFF"/>
              </a:solidFill>
            </a:endParaRPr>
          </a:p>
        </p:txBody>
      </p:sp>
      <p:sp>
        <p:nvSpPr>
          <p:cNvPr id="3" name="Rounded Rectangle 2"/>
          <p:cNvSpPr/>
          <p:nvPr/>
        </p:nvSpPr>
        <p:spPr>
          <a:xfrm>
            <a:off x="7894015" y="246887"/>
            <a:ext cx="3840480" cy="603504"/>
          </a:xfrm>
          <a:prstGeom prst="roundRect">
            <a:avLst>
              <a:gd name="adj" fmla="val 50000"/>
            </a:avLst>
          </a:prstGeom>
          <a:solidFill>
            <a:srgbClr val="FFD966"/>
          </a:solidFill>
          <a:ln w="1905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111827"/>
          </a:fontRef>
        </p:style>
        <p:txBody>
          <a:bodyPr rtlCol="0" anchor="ctr" wrap="square" lIns="228600" rIns="228600" tIns="18288" bIns="18288"/>
          <a:lstStyle>
            <a:lvl1pPr>
              <a:defRPr sz="2400">
                <a:solidFill>
                  <a:srgbClr val="111827"/>
                </a:solidFill>
              </a:defRPr>
            </a:lvl1pPr>
          </a:lstStyle>
          <a:p>
            <a:pPr algn="ctr">
              <a:defRPr sz="2400">
                <a:solidFill>
                  <a:srgbClr val="111827"/>
                </a:solidFill>
              </a:defRPr>
            </a:pPr>
            <a:r>
              <a:rPr sz="2400" b="1">
                <a:solidFill>
                  <a:srgbClr val="111827"/>
                </a:solidFill>
                <a:latin typeface="Arial"/>
              </a:rPr>
              <a:t>Level 2  ·  4 Marks</a:t>
            </a:r>
            <a:endParaRPr sz="2400">
              <a:solidFill>
                <a:srgbClr val="111827"/>
              </a:solidFill>
            </a:endParaRPr>
          </a:p>
        </p:txBody>
      </p:sp>
      <p:sp>
        <p:nvSpPr>
          <p:cNvPr id="4" name="Rounded Rectangle 3"/>
          <p:cNvSpPr/>
          <p:nvPr/>
        </p:nvSpPr>
        <p:spPr>
          <a:xfrm>
            <a:off x="3520440" y="265176"/>
            <a:ext cx="4206240" cy="566928"/>
          </a:xfrm>
          <a:prstGeom prst="roundRect">
            <a:avLst>
              <a:gd name="adj" fmla="val 50000"/>
            </a:avLst>
          </a:prstGeom>
          <a:solidFill>
            <a:srgbClr val="E0ECFF"/>
          </a:solidFill>
          <a:ln w="25400">
            <a:solidFill>
              <a:srgbClr val="1D4ED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0B1F3A"/>
          </a:fontRef>
        </p:style>
        <p:txBody>
          <a:bodyPr rtlCol="0" anchor="ctr" wrap="square" lIns="228600" rIns="228600" tIns="18288" bIns="18288"/>
          <a:lstStyle>
            <a:lvl1pPr>
              <a:defRPr sz="2200">
                <a:solidFill>
                  <a:srgbClr val="0B1F3A"/>
                </a:solidFill>
              </a:defRPr>
            </a:lvl1pPr>
          </a:lstStyle>
          <a:p>
            <a:pPr algn="ctr">
              <a:defRPr sz="2200">
                <a:solidFill>
                  <a:srgbClr val="0B1F3A"/>
                </a:solidFill>
              </a:defRPr>
            </a:pPr>
            <a:r>
              <a:rPr sz="2200" b="1">
                <a:solidFill>
                  <a:srgbClr val="0B1F3A"/>
                </a:solidFill>
                <a:latin typeface="Arial"/>
              </a:rPr>
              <a:t>Useful Result / Pattern</a:t>
            </a:r>
            <a:endParaRPr sz="2200">
              <a:solidFill>
                <a:srgbClr val="0B1F3A"/>
              </a:solidFill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5" name="Rectangle 4"/>
              <p:cNvSpPr/>
              <p:nvPr/>
            </p:nvSpPr>
            <p:spPr>
              <a:xfrm>
                <a:off x="731520" y="1353312"/>
                <a:ext cx="10725912" cy="5321808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14:m>
                  <m:oMath xmlns:m="http://schemas.openxmlformats.org/officeDocument/2006/math">
                    <m:sSup>
                      <m:e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sin</m:t>
                        </m:r>
                      </m:e>
                      <m:sup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−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sup>
                    </m:sSup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𝑡</m:t>
                        </m:r>
                      </m:num>
                      <m:den>
                        <m:rad>
                          <m:radPr>
                            <m:degHide m:val="on"/>
                            <m:ctrlP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radPr>
                          <m:deg/>
                          <m:e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1</m:t>
                            </m:r>
                            <m:r>
                              <m:rPr>
                                <m:sty m:val="p"/>
                              </m:rPr>
                              <a:rPr lang="en-IN" sz="2400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+</m:t>
                            </m:r>
                            <m:sSup>
                              <m:e>
                                <m:r>
                                  <a:rPr lang="en-IN" sz="2400" i="1">
                                    <a:solidFill>
                                      <a:srgbClr val="111827"/>
                                    </a:solidFill>
                                    <a:latin typeface="Cambria Math" panose="02040503050406030204" pitchFamily="18" charset="0"/>
                                  </a:rPr>
                                  <m:t>𝑡</m:t>
                                </m:r>
                              </m:e>
                              <m:sup>
                                <m:r>
                                  <a:rPr lang="en-IN" sz="2400" i="1">
                                    <a:solidFill>
                                      <a:srgbClr val="111827"/>
                                    </a:solidFill>
                                    <a:latin typeface="Cambria Math" panose="02040503050406030204" pitchFamily="18" charset="0"/>
                                  </a:rPr>
                                  <m:t>2</m:t>
                                </m:r>
                              </m:sup>
                            </m:sSup>
                          </m:e>
                        </m:rad>
                      </m:den>
                    </m:f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sSup>
                      <m:e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tan</m:t>
                        </m:r>
                      </m:e>
                      <m:sup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−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sup>
                    </m:sSup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𝑡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for every real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𝑡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; and </a:t>
                </a:r>
                <a14:m>
                  <m:oMath xmlns:m="http://schemas.openxmlformats.org/officeDocument/2006/math">
                    <m:sSup>
                      <m:e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cos</m:t>
                        </m:r>
                      </m:e>
                      <m:sup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−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sup>
                    </m:sSup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num>
                      <m:den>
                        <m:rad>
                          <m:radPr>
                            <m:degHide m:val="on"/>
                            <m:ctrlP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radPr>
                          <m:deg/>
                          <m:e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1</m:t>
                            </m:r>
                            <m:r>
                              <m:rPr>
                                <m:sty m:val="p"/>
                              </m:rPr>
                              <a:rPr lang="en-IN" sz="2400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+</m:t>
                            </m:r>
                            <m:sSup>
                              <m:e>
                                <m:r>
                                  <a:rPr lang="en-IN" sz="2400" i="1">
                                    <a:solidFill>
                                      <a:srgbClr val="111827"/>
                                    </a:solidFill>
                                    <a:latin typeface="Cambria Math" panose="02040503050406030204" pitchFamily="18" charset="0"/>
                                  </a:rPr>
                                  <m:t>𝑡</m:t>
                                </m:r>
                              </m:e>
                              <m:sup>
                                <m:r>
                                  <a:rPr lang="en-IN" sz="2400" i="1">
                                    <a:solidFill>
                                      <a:srgbClr val="111827"/>
                                    </a:solidFill>
                                    <a:latin typeface="Cambria Math" panose="02040503050406030204" pitchFamily="18" charset="0"/>
                                  </a:rPr>
                                  <m:t>2</m:t>
                                </m:r>
                              </m:sup>
                            </m:sSup>
                          </m:e>
                        </m:rad>
                      </m:den>
                    </m:f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sSup>
                      <m:e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tan</m:t>
                        </m:r>
                      </m:e>
                      <m:sup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−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|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𝑡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|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Curves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𝑟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𝑒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𝑘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θ</m:t>
                        </m:r>
                      </m:sup>
                    </m:sSup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satisfy </a:t>
                </a:r>
                <a14:m>
                  <m:oMath xmlns:m="http://schemas.openxmlformats.org/officeDocument/2006/math"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den>
                    </m:f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ln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𝑦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𝑘</m:t>
                    </m:r>
                    <m:sSup>
                      <m:e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tan</m:t>
                        </m:r>
                      </m:e>
                      <m:sup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−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sup>
                    </m:sSup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𝑦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</m:den>
                    </m:f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(for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&gt;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0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); the tangent makes a constant angle with the radius vector. Here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𝑘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and </a:t>
                </a:r>
                <a14:m>
                  <m:oMath xmlns:m="http://schemas.openxmlformats.org/officeDocument/2006/math"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𝑦</m:t>
                        </m:r>
                      </m:e>
                      <m:sup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′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tan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θ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π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4</m:t>
                        </m:r>
                      </m:den>
                    </m:f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If </a:t>
                </a:r>
                <a14:m>
                  <m:oMath xmlns:m="http://schemas.openxmlformats.org/officeDocument/2006/math"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𝑦</m:t>
                        </m:r>
                      </m:e>
                      <m:sup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′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𝐹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,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𝑦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is homogeneous of degree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0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differentiate once more and substitute </a:t>
                </a:r>
                <a14:m>
                  <m:oMath xmlns:m="http://schemas.openxmlformats.org/officeDocument/2006/math"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𝑦</m:t>
                        </m:r>
                      </m:e>
                      <m:sup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′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𝐹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: the derivatives disappear and a rational expression in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,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𝑦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remains.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Choice>
        <mc:Fallback>
          <p:sp>
            <p:nvSpPr>
              <p:cNvPr id="5" name="Rectangle 4"/>
              <p:cNvSpPr/>
              <p:nvPr/>
            </p:nvSpPr>
            <p:spPr>
              <a:xfrm>
                <a:off x="731520" y="1353312"/>
                <a:ext cx="10725912" cy="5321808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$\sin^{-1}\frac{t}{\sqrt{1+t^2}}=\tan^{-1}t$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for every real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$t$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; and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$\cos^{-1}\frac{1}{\sqrt{1+t^2}}=\tan^{-1}|t|$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Curves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$r=e^{k\theta}$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satisfy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$\frac12\ln(x^2+y^2)=k\tan^{-1}\frac yx$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(for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$x&gt;0$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); the tangent makes a constant angle with the radius vector. Here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$k=1$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and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$y'=\tan(\theta+\frac\pi4)$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If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$y'=F(x,y)$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is homogeneous of degree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$0$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differentiate once more and substitute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$y'=F$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: the derivatives disappear and a rational expression in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$x,y$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remains.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Fallback>
      </mc:AlternateContent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FFFFFF"/>
          </a:fontRef>
        </p:style>
        <p:txBody>
          <a:bodyPr rtlCol="0" anchor="ctr" lIns="731520"/>
          <a:lstStyle>
            <a:lvl1pPr>
              <a:defRPr sz="3200">
                <a:solidFill>
                  <a:srgbClr val="FFFFFF"/>
                </a:solidFill>
              </a:defRPr>
            </a:lvl1pPr>
          </a:lstStyle>
          <a:p>
            <a:pPr algn="l">
              <a:defRPr sz="3200">
                <a:solidFill>
                  <a:srgbClr val="FFFFFF"/>
                </a:solidFill>
              </a:defRPr>
            </a:pPr>
            <a:r>
              <a:rPr sz="3200" b="1">
                <a:solidFill>
                  <a:srgbClr val="FFFFFF"/>
                </a:solidFill>
                <a:latin typeface="Arial"/>
              </a:rPr>
              <a:t>Question 02</a:t>
            </a:r>
            <a:endParaRPr sz="3200">
              <a:solidFill>
                <a:srgbClr val="FFFFFF"/>
              </a:solidFill>
            </a:endParaRPr>
          </a:p>
        </p:txBody>
      </p:sp>
      <p:sp>
        <p:nvSpPr>
          <p:cNvPr id="3" name="Rounded Rectangle 2"/>
          <p:cNvSpPr/>
          <p:nvPr/>
        </p:nvSpPr>
        <p:spPr>
          <a:xfrm>
            <a:off x="7894015" y="246887"/>
            <a:ext cx="3840480" cy="603504"/>
          </a:xfrm>
          <a:prstGeom prst="roundRect">
            <a:avLst>
              <a:gd name="adj" fmla="val 50000"/>
            </a:avLst>
          </a:prstGeom>
          <a:solidFill>
            <a:srgbClr val="FFD966"/>
          </a:solidFill>
          <a:ln w="1905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111827"/>
          </a:fontRef>
        </p:style>
        <p:txBody>
          <a:bodyPr rtlCol="0" anchor="ctr" wrap="square" lIns="228600" rIns="228600" tIns="18288" bIns="18288"/>
          <a:lstStyle>
            <a:lvl1pPr>
              <a:defRPr sz="2400">
                <a:solidFill>
                  <a:srgbClr val="111827"/>
                </a:solidFill>
              </a:defRPr>
            </a:lvl1pPr>
          </a:lstStyle>
          <a:p>
            <a:pPr algn="ctr">
              <a:defRPr sz="2400">
                <a:solidFill>
                  <a:srgbClr val="111827"/>
                </a:solidFill>
              </a:defRPr>
            </a:pPr>
            <a:r>
              <a:rPr sz="2400" b="1">
                <a:solidFill>
                  <a:srgbClr val="111827"/>
                </a:solidFill>
                <a:latin typeface="Arial"/>
              </a:rPr>
              <a:t>Level 2  ·  4 Marks</a:t>
            </a:r>
            <a:endParaRPr sz="2400">
              <a:solidFill>
                <a:srgbClr val="111827"/>
              </a:solidFill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4" name="Rounded Rectangle 3"/>
              <p:cNvSpPr/>
              <p:nvPr/>
            </p:nvSpPr>
            <p:spPr>
              <a:xfrm>
                <a:off x="731520" y="1280160"/>
                <a:ext cx="10725912" cy="1737360"/>
              </a:xfrm>
              <a:prstGeom prst="roundRect">
                <a:avLst>
                  <a:gd name="adj" fmla="val 8000"/>
                </a:avLst>
              </a:prstGeom>
              <a:solidFill>
                <a:srgbClr val="E0ECFF"/>
              </a:solidFill>
              <a:ln w="25400">
                <a:solidFill>
                  <a:srgbClr val="1D4ED8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>
                  <a:spcAft>
                    <a:spcPts val="500"/>
                  </a:spcAft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Find a polynomial function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𝑓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such that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𝑓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𝑓</m:t>
                        </m:r>
                      </m:e>
                      <m:sup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′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 </m:t>
                    </m:r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𝑓</m:t>
                        </m:r>
                      </m:e>
                      <m:sup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″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Choice>
        <mc:Fallback>
          <p:sp>
            <p:nvSpPr>
              <p:cNvPr id="4" name="Rounded Rectangle 3"/>
              <p:cNvSpPr/>
              <p:nvPr/>
            </p:nvSpPr>
            <p:spPr>
              <a:xfrm>
                <a:off x="731520" y="1280160"/>
                <a:ext cx="10725912" cy="1737360"/>
              </a:xfrm>
              <a:prstGeom prst="roundRect">
                <a:avLst>
                  <a:gd name="adj" fmla="val 8000"/>
                </a:avLst>
              </a:prstGeom>
              <a:solidFill>
                <a:srgbClr val="E0ECFF"/>
              </a:solidFill>
              <a:ln w="25400">
                <a:solidFill>
                  <a:srgbClr val="1D4ED8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>
                  <a:spcAft>
                    <a:spcPts val="500"/>
                  </a:spcAft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Find a polynomial function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$f(x)$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such that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$f(2x)=f'(x)\,f''(x)$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Fallback>
      </mc:AlternateContent>
      <p:sp>
        <p:nvSpPr>
          <p:cNvPr id="5" name="Rectangle 4"/>
          <p:cNvSpPr/>
          <p:nvPr/>
        </p:nvSpPr>
        <p:spPr>
          <a:xfrm>
            <a:off x="731520" y="3246120"/>
            <a:ext cx="10725912" cy="2194560"/>
          </a:xfrm>
          <a:prstGeom prst="rect">
            <a:avLst/>
          </a:prstGeom>
          <a:solidFill>
            <a:srgbClr val="FFFFFF"/>
          </a:solidFill>
          <a:ln w="19050">
            <a:solidFill>
              <a:srgbClr val="6B728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111827"/>
          </a:fontRef>
        </p:style>
        <p:txBody>
          <a:bodyPr rtlCol="0" anchor="t" wrap="square" lIns="228600" rIns="228600" tIns="137160" bIns="73152"/>
          <a:lstStyle>
            <a:lvl1pPr>
              <a:defRPr sz="2400">
                <a:solidFill>
                  <a:srgbClr val="111827"/>
                </a:solidFill>
              </a:defRPr>
            </a:lvl1pPr>
          </a:lstStyle>
          <a:p>
            <a:pPr algn="l">
              <a:spcAft>
                <a:spcPts val="200"/>
              </a:spcAft>
              <a:defRPr sz="2400">
                <a:solidFill>
                  <a:srgbClr val="111827"/>
                </a:solidFill>
              </a:defRPr>
            </a:pPr>
            <a:r>
              <a:rPr sz="2400" b="0">
                <a:solidFill>
                  <a:srgbClr val="111827"/>
                </a:solidFill>
                <a:latin typeface="Arial"/>
              </a:rPr>
              <a:t>Subjective Type(4 Marks)</a:t>
            </a:r>
            <a:endParaRPr sz="2400">
              <a:solidFill>
                <a:srgbClr val="111827"/>
              </a:solidFill>
            </a:endParaRPr>
          </a:p>
          <a:p>
            <a:pPr algn="l">
              <a:spcAft>
                <a:spcPts val="200"/>
              </a:spcAft>
              <a:defRPr sz="2400">
                <a:solidFill>
                  <a:srgbClr val="111827"/>
                </a:solidFill>
              </a:defRPr>
            </a:pPr>
            <a:r>
              <a:rPr sz="2400" b="0">
                <a:solidFill>
                  <a:srgbClr val="111827"/>
                </a:solidFill>
                <a:latin typeface="Arial"/>
              </a:rPr>
              <a:t>Concept(s) : Polynomial functions and degree comparison, Derivatives of a polynomial</a:t>
            </a:r>
            <a:endParaRPr sz="2400">
              <a:solidFill>
                <a:srgbClr val="111827"/>
              </a:solidFill>
            </a:endParaRPr>
          </a:p>
          <a:p>
            <a:pPr algn="l">
              <a:spcAft>
                <a:spcPts val="200"/>
              </a:spcAft>
              <a:defRPr sz="2400">
                <a:solidFill>
                  <a:srgbClr val="111827"/>
                </a:solidFill>
              </a:defRPr>
            </a:pPr>
            <a:r>
              <a:rPr sz="2400" b="0">
                <a:solidFill>
                  <a:srgbClr val="111827"/>
                </a:solidFill>
                <a:latin typeface="Arial"/>
              </a:rPr>
              <a:t>Difficulty Level: Level 2(A level below Average JEE Advanced Level)</a:t>
            </a:r>
            <a:endParaRPr sz="2400">
              <a:solidFill>
                <a:srgbClr val="111827"/>
              </a:solidFill>
            </a:endParaRP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FFFFFF"/>
          </a:fontRef>
        </p:style>
        <p:txBody>
          <a:bodyPr rtlCol="0" anchor="ctr" lIns="731520"/>
          <a:lstStyle>
            <a:lvl1pPr>
              <a:defRPr sz="3200">
                <a:solidFill>
                  <a:srgbClr val="FFFFFF"/>
                </a:solidFill>
              </a:defRPr>
            </a:lvl1pPr>
          </a:lstStyle>
          <a:p>
            <a:pPr algn="l">
              <a:defRPr sz="3200">
                <a:solidFill>
                  <a:srgbClr val="FFFFFF"/>
                </a:solidFill>
              </a:defRPr>
            </a:pPr>
            <a:r>
              <a:rPr sz="3200" b="1">
                <a:solidFill>
                  <a:srgbClr val="FFFFFF"/>
                </a:solidFill>
                <a:latin typeface="Arial"/>
              </a:rPr>
              <a:t>Question 02</a:t>
            </a:r>
            <a:endParaRPr sz="3200">
              <a:solidFill>
                <a:srgbClr val="FFFFFF"/>
              </a:solidFill>
            </a:endParaRPr>
          </a:p>
        </p:txBody>
      </p:sp>
      <p:sp>
        <p:nvSpPr>
          <p:cNvPr id="3" name="Rounded Rectangle 2"/>
          <p:cNvSpPr/>
          <p:nvPr/>
        </p:nvSpPr>
        <p:spPr>
          <a:xfrm>
            <a:off x="7894015" y="246887"/>
            <a:ext cx="3840480" cy="603504"/>
          </a:xfrm>
          <a:prstGeom prst="roundRect">
            <a:avLst>
              <a:gd name="adj" fmla="val 50000"/>
            </a:avLst>
          </a:prstGeom>
          <a:solidFill>
            <a:srgbClr val="FFD966"/>
          </a:solidFill>
          <a:ln w="1905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111827"/>
          </a:fontRef>
        </p:style>
        <p:txBody>
          <a:bodyPr rtlCol="0" anchor="ctr" wrap="square" lIns="228600" rIns="228600" tIns="18288" bIns="18288"/>
          <a:lstStyle>
            <a:lvl1pPr>
              <a:defRPr sz="2400">
                <a:solidFill>
                  <a:srgbClr val="111827"/>
                </a:solidFill>
              </a:defRPr>
            </a:lvl1pPr>
          </a:lstStyle>
          <a:p>
            <a:pPr algn="ctr">
              <a:defRPr sz="2400">
                <a:solidFill>
                  <a:srgbClr val="111827"/>
                </a:solidFill>
              </a:defRPr>
            </a:pPr>
            <a:r>
              <a:rPr sz="2400" b="1">
                <a:solidFill>
                  <a:srgbClr val="111827"/>
                </a:solidFill>
                <a:latin typeface="Arial"/>
              </a:rPr>
              <a:t>Level 2  ·  4 Marks</a:t>
            </a:r>
            <a:endParaRPr sz="2400">
              <a:solidFill>
                <a:srgbClr val="111827"/>
              </a:solidFill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4" name="Rounded Rectangle 3"/>
              <p:cNvSpPr/>
              <p:nvPr/>
            </p:nvSpPr>
            <p:spPr>
              <a:xfrm>
                <a:off x="731520" y="1280160"/>
                <a:ext cx="10725912" cy="1109472"/>
              </a:xfrm>
              <a:prstGeom prst="roundRect">
                <a:avLst>
                  <a:gd name="adj" fmla="val 8000"/>
                </a:avLst>
              </a:prstGeom>
              <a:solidFill>
                <a:srgbClr val="FDE68A"/>
              </a:solidFill>
              <a:ln w="31750">
                <a:solidFill>
                  <a:srgbClr val="D97706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78350F"/>
              </a:fontRef>
            </p:style>
            <p:txBody>
              <a:bodyPr rtlCol="0" anchor="ctr" wrap="square" lIns="228600" rIns="228600" tIns="54864" bIns="73152"/>
              <a:lstStyle>
                <a:lvl1pPr>
                  <a:defRPr sz="2400">
                    <a:solidFill>
                      <a:srgbClr val="78350F"/>
                    </a:solidFill>
                  </a:defRPr>
                </a:lvl1pPr>
              </a:lstStyle>
              <a:p>
                <a:pPr algn="l">
                  <a:defRPr sz="2400">
                    <a:solidFill>
                      <a:srgbClr val="78350F"/>
                    </a:solidFill>
                  </a:defRPr>
                </a:pPr>
                <a:r>
                  <a:rPr sz="2400" b="1">
                    <a:solidFill>
                      <a:srgbClr val="78350F"/>
                    </a:solidFill>
                    <a:latin typeface="Arial"/>
                  </a:rPr>
                  <a:t>Key idea:  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Comparing degrees of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𝑓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2</m:t>
                    </m:r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 and </a:t>
                </a:r>
                <a14:m>
                  <m:oMath xmlns:m="http://schemas.openxmlformats.org/officeDocument/2006/math">
                    <m:sSup>
                      <m:e>
                        <m: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𝑓</m:t>
                        </m:r>
                      </m:e>
                      <m:sup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′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)</m:t>
                    </m:r>
                    <m:sSup>
                      <m:e>
                        <m: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𝑓</m:t>
                        </m:r>
                      </m:e>
                      <m:sup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″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 gives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𝑛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𝑛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1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𝑛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2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, so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𝑓</m:t>
                    </m:r>
                  </m:oMath>
                </a14:m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 is a cubic.</a:t>
                </a:r>
                <a:endParaRPr sz="2400">
                  <a:solidFill>
                    <a:srgbClr val="78350F"/>
                  </a:solidFill>
                </a:endParaRPr>
              </a:p>
            </p:txBody>
          </p:sp>
        </mc:Choice>
        <mc:Fallback>
          <p:sp>
            <p:nvSpPr>
              <p:cNvPr id="4" name="Rounded Rectangle 3"/>
              <p:cNvSpPr/>
              <p:nvPr/>
            </p:nvSpPr>
            <p:spPr>
              <a:xfrm>
                <a:off x="731520" y="1280160"/>
                <a:ext cx="10725912" cy="1109472"/>
              </a:xfrm>
              <a:prstGeom prst="roundRect">
                <a:avLst>
                  <a:gd name="adj" fmla="val 8000"/>
                </a:avLst>
              </a:prstGeom>
              <a:solidFill>
                <a:srgbClr val="FDE68A"/>
              </a:solidFill>
              <a:ln w="31750">
                <a:solidFill>
                  <a:srgbClr val="D97706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78350F"/>
              </a:fontRef>
            </p:style>
            <p:txBody>
              <a:bodyPr rtlCol="0" anchor="ctr" wrap="square" lIns="228600" rIns="228600" tIns="54864" bIns="73152"/>
              <a:lstStyle>
                <a:lvl1pPr>
                  <a:defRPr sz="2400">
                    <a:solidFill>
                      <a:srgbClr val="78350F"/>
                    </a:solidFill>
                  </a:defRPr>
                </a:lvl1pPr>
              </a:lstStyle>
              <a:p>
                <a:pPr algn="l">
                  <a:defRPr sz="2400">
                    <a:solidFill>
                      <a:srgbClr val="78350F"/>
                    </a:solidFill>
                  </a:defRPr>
                </a:pPr>
                <a:r>
                  <a:rPr sz="2400" b="1">
                    <a:solidFill>
                      <a:srgbClr val="78350F"/>
                    </a:solidFill>
                    <a:latin typeface="Arial"/>
                  </a:rPr>
                  <a:t>Key idea:  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Comparing degrees of </a:t>
                </a:r>
                <a:r>
                  <a:rPr lang="en-IN" sz="2400">
                    <a:solidFill>
                      <a:srgbClr val="78350F"/>
                    </a:solidFill>
                    <a:latin typeface="Cambria Math" panose="02040503050406030204" pitchFamily="18" charset="0"/>
                  </a:rPr>
                  <a:t>$f(2x)$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 and </a:t>
                </a:r>
                <a:r>
                  <a:rPr lang="en-IN" sz="2400">
                    <a:solidFill>
                      <a:srgbClr val="78350F"/>
                    </a:solidFill>
                    <a:latin typeface="Cambria Math" panose="02040503050406030204" pitchFamily="18" charset="0"/>
                  </a:rPr>
                  <a:t>$f'(x)f''(x)$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 gives </a:t>
                </a:r>
                <a:r>
                  <a:rPr lang="en-IN" sz="2400">
                    <a:solidFill>
                      <a:srgbClr val="78350F"/>
                    </a:solidFill>
                    <a:latin typeface="Cambria Math" panose="02040503050406030204" pitchFamily="18" charset="0"/>
                  </a:rPr>
                  <a:t>$n=(n-1)+(n-2)$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, so </a:t>
                </a:r>
                <a:r>
                  <a:rPr lang="en-IN" sz="2400">
                    <a:solidFill>
                      <a:srgbClr val="78350F"/>
                    </a:solidFill>
                    <a:latin typeface="Cambria Math" panose="02040503050406030204" pitchFamily="18" charset="0"/>
                  </a:rPr>
                  <a:t>$f$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 is a cubic.</a:t>
                </a:r>
                <a:endParaRPr sz="2400">
                  <a:solidFill>
                    <a:srgbClr val="78350F"/>
                  </a:solidFill>
                </a:endParaRP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5" name="Rectangle 4"/>
              <p:cNvSpPr/>
              <p:nvPr/>
            </p:nvSpPr>
            <p:spPr>
              <a:xfrm>
                <a:off x="731520" y="2526792"/>
                <a:ext cx="10725912" cy="4148328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Let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𝑓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sSub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𝑎</m:t>
                        </m:r>
                      </m:e>
                      <m:sub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0</m:t>
                        </m:r>
                      </m:sub>
                    </m:sSub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𝑛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sSub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𝑎</m:t>
                        </m:r>
                      </m:e>
                      <m:sub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sub>
                    </m:sSub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𝑛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−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…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sSub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𝑎</m:t>
                        </m:r>
                      </m:e>
                      <m:sub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𝑛</m:t>
                        </m:r>
                      </m:sub>
                    </m:sSub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with </a:t>
                </a:r>
                <a14:m>
                  <m:oMath xmlns:m="http://schemas.openxmlformats.org/officeDocument/2006/math">
                    <m:sSub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𝑎</m:t>
                        </m:r>
                      </m:e>
                      <m:sub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0</m:t>
                        </m:r>
                      </m:sub>
                    </m:sSub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≠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0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The degrees are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𝑛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for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𝑓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𝑛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for </a:t>
                </a:r>
                <a14:m>
                  <m:oMath xmlns:m="http://schemas.openxmlformats.org/officeDocument/2006/math"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𝑓</m:t>
                        </m:r>
                      </m:e>
                      <m:sup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′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and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𝑛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for </a:t>
                </a:r>
                <a14:m>
                  <m:oMath xmlns:m="http://schemas.openxmlformats.org/officeDocument/2006/math"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𝑓</m:t>
                        </m:r>
                      </m:e>
                      <m:sup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″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Equating the highest powers on both sides: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𝑛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𝑛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𝑛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so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𝑛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3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Let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𝑓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sSub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𝑎</m:t>
                        </m:r>
                      </m:e>
                      <m:sub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0</m:t>
                        </m:r>
                      </m:sub>
                    </m:sSub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3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sSub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𝑎</m:t>
                        </m:r>
                      </m:e>
                      <m:sub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sub>
                    </m:sSub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sSub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𝑎</m:t>
                        </m:r>
                      </m:e>
                      <m:sub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b>
                    </m:sSub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sSub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𝑎</m:t>
                        </m:r>
                      </m:e>
                      <m:sub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3</m:t>
                        </m:r>
                      </m:sub>
                    </m:sSub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 The relation becomes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8</m:t>
                    </m:r>
                    <m:sSub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𝑎</m:t>
                        </m:r>
                      </m:e>
                      <m:sub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0</m:t>
                        </m:r>
                      </m:sub>
                    </m:sSub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3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4</m:t>
                    </m:r>
                    <m:sSub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𝑎</m:t>
                        </m:r>
                      </m:e>
                      <m:sub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sub>
                    </m:sSub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  <m:sSub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𝑎</m:t>
                        </m:r>
                      </m:e>
                      <m:sub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b>
                    </m:sSub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sSub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𝑎</m:t>
                        </m:r>
                      </m:e>
                      <m:sub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3</m:t>
                        </m:r>
                      </m:sub>
                    </m:sSub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3</m:t>
                    </m:r>
                    <m:sSub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𝑎</m:t>
                        </m:r>
                      </m:e>
                      <m:sub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0</m:t>
                        </m:r>
                      </m:sub>
                    </m:sSub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  <m:sSub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𝑎</m:t>
                        </m:r>
                      </m:e>
                      <m:sub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sub>
                    </m:sSub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sSub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𝑎</m:t>
                        </m:r>
                      </m:e>
                      <m:sub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b>
                    </m:sSub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6</m:t>
                    </m:r>
                    <m:sSub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𝑎</m:t>
                        </m:r>
                      </m:e>
                      <m:sub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0</m:t>
                        </m:r>
                      </m:sub>
                    </m:sSub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  <m:sSub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𝑎</m:t>
                        </m:r>
                      </m:e>
                      <m:sub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sub>
                    </m:sSub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Choice>
        <mc:Fallback>
          <p:sp>
            <p:nvSpPr>
              <p:cNvPr id="5" name="Rectangle 4"/>
              <p:cNvSpPr/>
              <p:nvPr/>
            </p:nvSpPr>
            <p:spPr>
              <a:xfrm>
                <a:off x="731520" y="2526792"/>
                <a:ext cx="10725912" cy="4148328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Let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$f(x)=a_0x^n+a_1x^{n-1}+\dots+a_n$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with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$a_0\neq0$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The degrees are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$n$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for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$f(2x)$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$n-1$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for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$f'(x)$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and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$n-2$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for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$f''(x)$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Equating the highest powers on both sides: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$n=(n-1)+(n-2)$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so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$n=3$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Let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$f(x)=a_0x^3+a_1x^2+a_2x+a_3$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 The relation becomes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$8a_0x^3+4a_1x^2+2a_2x+a_3=(3a_0x^2+2a_1x+a_2)(6a_0x+2a_1)$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Fallback>
      </mc:AlternateContent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FFFFFF"/>
          </a:fontRef>
        </p:style>
        <p:txBody>
          <a:bodyPr rtlCol="0" anchor="ctr" lIns="731520"/>
          <a:lstStyle>
            <a:lvl1pPr>
              <a:defRPr sz="3200">
                <a:solidFill>
                  <a:srgbClr val="FFFFFF"/>
                </a:solidFill>
              </a:defRPr>
            </a:lvl1pPr>
          </a:lstStyle>
          <a:p>
            <a:pPr algn="l">
              <a:defRPr sz="3200">
                <a:solidFill>
                  <a:srgbClr val="FFFFFF"/>
                </a:solidFill>
              </a:defRPr>
            </a:pPr>
            <a:r>
              <a:rPr sz="3200" b="1">
                <a:solidFill>
                  <a:srgbClr val="FFFFFF"/>
                </a:solidFill>
                <a:latin typeface="Arial"/>
              </a:rPr>
              <a:t>Question 02</a:t>
            </a:r>
            <a:endParaRPr sz="3200">
              <a:solidFill>
                <a:srgbClr val="FFFFFF"/>
              </a:solidFill>
            </a:endParaRPr>
          </a:p>
        </p:txBody>
      </p:sp>
      <p:sp>
        <p:nvSpPr>
          <p:cNvPr id="3" name="Rounded Rectangle 2"/>
          <p:cNvSpPr/>
          <p:nvPr/>
        </p:nvSpPr>
        <p:spPr>
          <a:xfrm>
            <a:off x="7894015" y="246887"/>
            <a:ext cx="3840480" cy="603504"/>
          </a:xfrm>
          <a:prstGeom prst="roundRect">
            <a:avLst>
              <a:gd name="adj" fmla="val 50000"/>
            </a:avLst>
          </a:prstGeom>
          <a:solidFill>
            <a:srgbClr val="FFD966"/>
          </a:solidFill>
          <a:ln w="1905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111827"/>
          </a:fontRef>
        </p:style>
        <p:txBody>
          <a:bodyPr rtlCol="0" anchor="ctr" wrap="square" lIns="228600" rIns="228600" tIns="18288" bIns="18288"/>
          <a:lstStyle>
            <a:lvl1pPr>
              <a:defRPr sz="2400">
                <a:solidFill>
                  <a:srgbClr val="111827"/>
                </a:solidFill>
              </a:defRPr>
            </a:lvl1pPr>
          </a:lstStyle>
          <a:p>
            <a:pPr algn="ctr">
              <a:defRPr sz="2400">
                <a:solidFill>
                  <a:srgbClr val="111827"/>
                </a:solidFill>
              </a:defRPr>
            </a:pPr>
            <a:r>
              <a:rPr sz="2400" b="1">
                <a:solidFill>
                  <a:srgbClr val="111827"/>
                </a:solidFill>
                <a:latin typeface="Arial"/>
              </a:rPr>
              <a:t>Level 2  ·  4 Marks</a:t>
            </a:r>
            <a:endParaRPr sz="2400">
              <a:solidFill>
                <a:srgbClr val="111827"/>
              </a:solidFill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4" name="Rectangle 3"/>
              <p:cNvSpPr/>
              <p:nvPr/>
            </p:nvSpPr>
            <p:spPr>
              <a:xfrm>
                <a:off x="731520" y="1353312"/>
                <a:ext cx="10725912" cy="4434840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Coefficient of </a:t>
                </a:r>
                <a14:m>
                  <m:oMath xmlns:m="http://schemas.openxmlformats.org/officeDocument/2006/math"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3</m:t>
                        </m:r>
                      </m:sup>
                    </m:sSup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: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8</m:t>
                    </m:r>
                    <m:sSub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𝑎</m:t>
                        </m:r>
                      </m:e>
                      <m:sub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0</m:t>
                        </m:r>
                      </m:sub>
                    </m:sSub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18</m:t>
                    </m:r>
                    <m:sSub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𝑎</m:t>
                        </m:r>
                      </m:e>
                      <m:sub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0</m:t>
                        </m:r>
                      </m:sub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bSup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so </a:t>
                </a:r>
                <a14:m>
                  <m:oMath xmlns:m="http://schemas.openxmlformats.org/officeDocument/2006/math">
                    <m:sSub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𝑎</m:t>
                        </m:r>
                      </m:e>
                      <m:sub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0</m:t>
                        </m:r>
                      </m:sub>
                    </m:sSub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4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9</m:t>
                        </m:r>
                      </m:den>
                    </m:f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Coefficient of </a:t>
                </a:r>
                <a14:m>
                  <m:oMath xmlns:m="http://schemas.openxmlformats.org/officeDocument/2006/math"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: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4</m:t>
                    </m:r>
                    <m:sSub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𝑎</m:t>
                        </m:r>
                      </m:e>
                      <m:sub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sub>
                    </m:sSub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18</m:t>
                    </m:r>
                    <m:sSub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𝑎</m:t>
                        </m:r>
                      </m:e>
                      <m:sub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0</m:t>
                        </m:r>
                      </m:sub>
                    </m:sSub>
                    <m:sSub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𝑎</m:t>
                        </m:r>
                      </m:e>
                      <m:sub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sub>
                    </m:sSub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8</m:t>
                    </m:r>
                    <m:sSub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𝑎</m:t>
                        </m:r>
                      </m:e>
                      <m:sub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sub>
                    </m:sSub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so </a:t>
                </a:r>
                <a14:m>
                  <m:oMath xmlns:m="http://schemas.openxmlformats.org/officeDocument/2006/math">
                    <m:sSub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𝑎</m:t>
                        </m:r>
                      </m:e>
                      <m:sub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sub>
                    </m:sSub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0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Coefficient of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: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  <m:sSub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𝑎</m:t>
                        </m:r>
                      </m:e>
                      <m:sub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b>
                    </m:sSub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6</m:t>
                    </m:r>
                    <m:sSub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𝑎</m:t>
                        </m:r>
                      </m:e>
                      <m:sub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0</m:t>
                        </m:r>
                      </m:sub>
                    </m:sSub>
                    <m:sSub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𝑎</m:t>
                        </m:r>
                      </m:e>
                      <m:sub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b>
                    </m:sSub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8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3</m:t>
                        </m:r>
                      </m:den>
                    </m:f>
                    <m:sSub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𝑎</m:t>
                        </m:r>
                      </m:e>
                      <m:sub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b>
                    </m:sSub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so </a:t>
                </a:r>
                <a14:m>
                  <m:oMath xmlns:m="http://schemas.openxmlformats.org/officeDocument/2006/math">
                    <m:sSub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𝑎</m:t>
                        </m:r>
                      </m:e>
                      <m:sub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b>
                    </m:sSub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0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 Constant term: </a:t>
                </a:r>
                <a14:m>
                  <m:oMath xmlns:m="http://schemas.openxmlformats.org/officeDocument/2006/math">
                    <m:sSub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𝑎</m:t>
                        </m:r>
                      </m:e>
                      <m:sub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3</m:t>
                        </m:r>
                      </m:sub>
                    </m:sSub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  <m:sSub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𝑎</m:t>
                        </m:r>
                      </m:e>
                      <m:sub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sub>
                    </m:sSub>
                    <m:sSub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𝑎</m:t>
                        </m:r>
                      </m:e>
                      <m:sub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b>
                    </m:sSub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0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Hence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𝑓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4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9</m:t>
                        </m:r>
                      </m:den>
                    </m:f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3</m:t>
                        </m:r>
                      </m:sup>
                    </m:sSup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 Check: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𝑓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32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9</m:t>
                        </m:r>
                      </m:den>
                    </m:f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3</m:t>
                        </m:r>
                      </m:sup>
                    </m:sSup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and </a:t>
                </a:r>
                <a14:m>
                  <m:oMath xmlns:m="http://schemas.openxmlformats.org/officeDocument/2006/math"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𝑓</m:t>
                        </m:r>
                      </m:e>
                      <m:sup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′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𝑓</m:t>
                        </m:r>
                      </m:e>
                      <m:sup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″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4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3</m:t>
                        </m:r>
                      </m:den>
                    </m:f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⋅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8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3</m:t>
                        </m:r>
                      </m:den>
                    </m:f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32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9</m:t>
                        </m:r>
                      </m:den>
                    </m:f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3</m:t>
                        </m:r>
                      </m:sup>
                    </m:sSup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 (The zero polynomial also satisfies the relation trivially.)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Choice>
        <mc:Fallback>
          <p:sp>
            <p:nvSpPr>
              <p:cNvPr id="4" name="Rectangle 3"/>
              <p:cNvSpPr/>
              <p:nvPr/>
            </p:nvSpPr>
            <p:spPr>
              <a:xfrm>
                <a:off x="731520" y="1353312"/>
                <a:ext cx="10725912" cy="4434840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Coefficient of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$x^3$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: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$8a_0=18a_0^2$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so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$a_0=\frac49$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Coefficient of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$x^2$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: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$4a_1=18a_0a_1=8a_1$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so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$a_1=0$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Coefficient of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$x$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: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$2a_2=6a_0a_2=\frac83a_2$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so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$a_2=0$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 Constant term: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$a_3=2a_1a_2=0$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Hence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$f(x)=\frac49x^3$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 Check: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$f(2x)=\frac{32}{9}x^3$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and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$f'(x)f''(x)=\frac43x^2\cdot\frac83x=\frac{32}{9}x^3$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 (The zero polynomial also satisfies the relation trivially.)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5" name="Rounded Rectangle 4"/>
              <p:cNvSpPr/>
              <p:nvPr/>
            </p:nvSpPr>
            <p:spPr>
              <a:xfrm>
                <a:off x="731520" y="5897880"/>
                <a:ext cx="10725912" cy="777240"/>
              </a:xfrm>
              <a:prstGeom prst="roundRect">
                <a:avLst>
                  <a:gd name="adj" fmla="val 8000"/>
                </a:avLst>
              </a:prstGeom>
              <a:solidFill>
                <a:srgbClr val="DCFCE7"/>
              </a:solidFill>
              <a:ln w="25400">
                <a:solidFill>
                  <a:srgbClr val="15803D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5803D"/>
              </a:fontRef>
            </p:style>
            <p:txBody>
              <a:bodyPr rtlCol="0" anchor="ctr" wrap="square" lIns="228600" rIns="228600" tIns="18288" bIns="73152"/>
              <a:lstStyle>
                <a:lvl1pPr>
                  <a:defRPr sz="2800">
                    <a:solidFill>
                      <a:srgbClr val="15803D"/>
                    </a:solidFill>
                  </a:defRPr>
                </a:lvl1pPr>
              </a:lstStyle>
              <a:p>
                <a:pPr algn="ctr">
                  <a:defRPr sz="2800">
                    <a:solidFill>
                      <a:srgbClr val="15803D"/>
                    </a:solidFill>
                  </a:defRPr>
                </a:pPr>
                <a:r>
                  <a:rPr sz="2800" b="1">
                    <a:solidFill>
                      <a:srgbClr val="15803D"/>
                    </a:solidFill>
                    <a:latin typeface="Arial"/>
                  </a:rPr>
                  <a:t>Correct Answer: </a:t>
                </a:r>
                <a14:m>
                  <m:oMath xmlns:m="http://schemas.openxmlformats.org/officeDocument/2006/math">
                    <m:r>
                      <a:rPr lang="en-IN" sz="2800" i="1">
                        <a:solidFill>
                          <a:srgbClr val="15803D"/>
                        </a:solidFill>
                        <a:latin typeface="Cambria Math" panose="02040503050406030204" pitchFamily="18" charset="0"/>
                      </a:rPr>
                      <m:t>𝑓</m:t>
                    </m:r>
                    <m:r>
                      <m:rPr>
                        <m:sty m:val="p"/>
                      </m:rPr>
                      <a:rPr lang="en-IN" sz="2800">
                        <a:solidFill>
                          <a:srgbClr val="15803D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800" i="1">
                        <a:solidFill>
                          <a:srgbClr val="15803D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800">
                        <a:solidFill>
                          <a:srgbClr val="15803D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800">
                        <a:solidFill>
                          <a:srgbClr val="15803D"/>
                        </a:solidFill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type m:val="bar"/>
                        <m:ctrlPr>
                          <a:rPr lang="en-IN" sz="2800" i="1">
                            <a:solidFill>
                              <a:srgbClr val="15803D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800" i="1">
                            <a:solidFill>
                              <a:srgbClr val="15803D"/>
                            </a:solidFill>
                            <a:latin typeface="Cambria Math" panose="02040503050406030204" pitchFamily="18" charset="0"/>
                          </a:rPr>
                          <m:t>4</m:t>
                        </m:r>
                        <m:sSup>
                          <m:e>
                            <m:r>
                              <a:rPr lang="en-IN" sz="2800" i="1">
                                <a:solidFill>
                                  <a:srgbClr val="15803D"/>
                                </a:solidFill>
                                <a:latin typeface="Cambria Math" panose="02040503050406030204" pitchFamily="18" charset="0"/>
                              </a:rPr>
                              <m:t>𝑥</m:t>
                            </m:r>
                          </m:e>
                          <m:sup>
                            <m:r>
                              <a:rPr lang="en-IN" sz="2800" i="1">
                                <a:solidFill>
                                  <a:srgbClr val="15803D"/>
                                </a:solidFill>
                                <a:latin typeface="Cambria Math" panose="02040503050406030204" pitchFamily="18" charset="0"/>
                              </a:rPr>
                              <m:t>3</m:t>
                            </m:r>
                          </m:sup>
                        </m:sSup>
                      </m:num>
                      <m:den>
                        <m:r>
                          <a:rPr lang="en-IN" sz="2800" i="1">
                            <a:solidFill>
                              <a:srgbClr val="15803D"/>
                            </a:solidFill>
                            <a:latin typeface="Cambria Math" panose="02040503050406030204" pitchFamily="18" charset="0"/>
                          </a:rPr>
                          <m:t>9</m:t>
                        </m:r>
                      </m:den>
                    </m:f>
                  </m:oMath>
                </a14:m>
                <a:endParaRPr sz="2800">
                  <a:solidFill>
                    <a:srgbClr val="15803D"/>
                  </a:solidFill>
                </a:endParaRPr>
              </a:p>
            </p:txBody>
          </p:sp>
        </mc:Choice>
        <mc:Fallback>
          <p:sp>
            <p:nvSpPr>
              <p:cNvPr id="5" name="Rounded Rectangle 4"/>
              <p:cNvSpPr/>
              <p:nvPr/>
            </p:nvSpPr>
            <p:spPr>
              <a:xfrm>
                <a:off x="731520" y="5897880"/>
                <a:ext cx="10725912" cy="777240"/>
              </a:xfrm>
              <a:prstGeom prst="roundRect">
                <a:avLst>
                  <a:gd name="adj" fmla="val 8000"/>
                </a:avLst>
              </a:prstGeom>
              <a:solidFill>
                <a:srgbClr val="DCFCE7"/>
              </a:solidFill>
              <a:ln w="25400">
                <a:solidFill>
                  <a:srgbClr val="15803D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5803D"/>
              </a:fontRef>
            </p:style>
            <p:txBody>
              <a:bodyPr rtlCol="0" anchor="ctr" wrap="square" lIns="228600" rIns="228600" tIns="18288" bIns="73152"/>
              <a:lstStyle>
                <a:lvl1pPr>
                  <a:defRPr sz="2800">
                    <a:solidFill>
                      <a:srgbClr val="15803D"/>
                    </a:solidFill>
                  </a:defRPr>
                </a:lvl1pPr>
              </a:lstStyle>
              <a:p>
                <a:pPr algn="ctr">
                  <a:defRPr sz="2800">
                    <a:solidFill>
                      <a:srgbClr val="15803D"/>
                    </a:solidFill>
                  </a:defRPr>
                </a:pPr>
                <a:r>
                  <a:rPr sz="2800" b="1">
                    <a:solidFill>
                      <a:srgbClr val="15803D"/>
                    </a:solidFill>
                    <a:latin typeface="Arial"/>
                  </a:rPr>
                  <a:t>Correct Answer: </a:t>
                </a:r>
                <a:r>
                  <a:rPr lang="en-IN" sz="2800">
                    <a:solidFill>
                      <a:srgbClr val="15803D"/>
                    </a:solidFill>
                    <a:latin typeface="Cambria Math" panose="02040503050406030204" pitchFamily="18" charset="0"/>
                  </a:rPr>
                  <a:t>$f(x)=\frac{4x^3}{9}$</a:t>
                </a:r>
                <a:endParaRPr sz="2800">
                  <a:solidFill>
                    <a:srgbClr val="15803D"/>
                  </a:solidFill>
                </a:endParaRPr>
              </a:p>
            </p:txBody>
          </p:sp>
        </mc:Fallback>
      </mc:AlternateContent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FFFFFF"/>
          </a:fontRef>
        </p:style>
        <p:txBody>
          <a:bodyPr rtlCol="0" anchor="ctr" lIns="731520"/>
          <a:lstStyle>
            <a:lvl1pPr>
              <a:defRPr sz="3200">
                <a:solidFill>
                  <a:srgbClr val="FFFFFF"/>
                </a:solidFill>
              </a:defRPr>
            </a:lvl1pPr>
          </a:lstStyle>
          <a:p>
            <a:pPr algn="l">
              <a:defRPr sz="3200">
                <a:solidFill>
                  <a:srgbClr val="FFFFFF"/>
                </a:solidFill>
              </a:defRPr>
            </a:pPr>
            <a:r>
              <a:rPr sz="3200" b="1">
                <a:solidFill>
                  <a:srgbClr val="FFFFFF"/>
                </a:solidFill>
                <a:latin typeface="Arial"/>
              </a:rPr>
              <a:t>Question 02</a:t>
            </a:r>
            <a:endParaRPr sz="3200">
              <a:solidFill>
                <a:srgbClr val="FFFFFF"/>
              </a:solidFill>
            </a:endParaRPr>
          </a:p>
        </p:txBody>
      </p:sp>
      <p:sp>
        <p:nvSpPr>
          <p:cNvPr id="3" name="Rounded Rectangle 2"/>
          <p:cNvSpPr/>
          <p:nvPr/>
        </p:nvSpPr>
        <p:spPr>
          <a:xfrm>
            <a:off x="7894015" y="246887"/>
            <a:ext cx="3840480" cy="603504"/>
          </a:xfrm>
          <a:prstGeom prst="roundRect">
            <a:avLst>
              <a:gd name="adj" fmla="val 50000"/>
            </a:avLst>
          </a:prstGeom>
          <a:solidFill>
            <a:srgbClr val="FFD966"/>
          </a:solidFill>
          <a:ln w="1905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111827"/>
          </a:fontRef>
        </p:style>
        <p:txBody>
          <a:bodyPr rtlCol="0" anchor="ctr" wrap="square" lIns="228600" rIns="228600" tIns="18288" bIns="18288"/>
          <a:lstStyle>
            <a:lvl1pPr>
              <a:defRPr sz="2400">
                <a:solidFill>
                  <a:srgbClr val="111827"/>
                </a:solidFill>
              </a:defRPr>
            </a:lvl1pPr>
          </a:lstStyle>
          <a:p>
            <a:pPr algn="ctr">
              <a:defRPr sz="2400">
                <a:solidFill>
                  <a:srgbClr val="111827"/>
                </a:solidFill>
              </a:defRPr>
            </a:pPr>
            <a:r>
              <a:rPr sz="2400" b="1">
                <a:solidFill>
                  <a:srgbClr val="111827"/>
                </a:solidFill>
                <a:latin typeface="Arial"/>
              </a:rPr>
              <a:t>Level 2  ·  4 Marks</a:t>
            </a:r>
            <a:endParaRPr sz="2400">
              <a:solidFill>
                <a:srgbClr val="111827"/>
              </a:solidFill>
            </a:endParaRPr>
          </a:p>
        </p:txBody>
      </p:sp>
      <p:sp>
        <p:nvSpPr>
          <p:cNvPr id="4" name="Rounded Rectangle 3"/>
          <p:cNvSpPr/>
          <p:nvPr/>
        </p:nvSpPr>
        <p:spPr>
          <a:xfrm>
            <a:off x="3520440" y="265176"/>
            <a:ext cx="4206240" cy="566928"/>
          </a:xfrm>
          <a:prstGeom prst="roundRect">
            <a:avLst>
              <a:gd name="adj" fmla="val 50000"/>
            </a:avLst>
          </a:prstGeom>
          <a:solidFill>
            <a:srgbClr val="FDE68A"/>
          </a:solidFill>
          <a:ln w="25400">
            <a:solidFill>
              <a:srgbClr val="D9770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78350F"/>
          </a:fontRef>
        </p:style>
        <p:txBody>
          <a:bodyPr rtlCol="0" anchor="ctr" wrap="square" lIns="228600" rIns="228600" tIns="18288" bIns="18288"/>
          <a:lstStyle>
            <a:lvl1pPr>
              <a:defRPr sz="2200">
                <a:solidFill>
                  <a:srgbClr val="78350F"/>
                </a:solidFill>
              </a:defRPr>
            </a:lvl1pPr>
          </a:lstStyle>
          <a:p>
            <a:pPr algn="ctr">
              <a:defRPr sz="2200">
                <a:solidFill>
                  <a:srgbClr val="78350F"/>
                </a:solidFill>
              </a:defRPr>
            </a:pPr>
            <a:r>
              <a:rPr sz="2200" b="1">
                <a:solidFill>
                  <a:srgbClr val="78350F"/>
                </a:solidFill>
                <a:latin typeface="Arial"/>
              </a:rPr>
              <a:t>Alternate Solution</a:t>
            </a:r>
            <a:endParaRPr sz="2200">
              <a:solidFill>
                <a:srgbClr val="78350F"/>
              </a:solidFill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5" name="Rounded Rectangle 4"/>
              <p:cNvSpPr/>
              <p:nvPr/>
            </p:nvSpPr>
            <p:spPr>
              <a:xfrm>
                <a:off x="731520" y="1280160"/>
                <a:ext cx="10725912" cy="1481328"/>
              </a:xfrm>
              <a:prstGeom prst="roundRect">
                <a:avLst>
                  <a:gd name="adj" fmla="val 8000"/>
                </a:avLst>
              </a:prstGeom>
              <a:solidFill>
                <a:srgbClr val="FDE68A"/>
              </a:solidFill>
              <a:ln w="31750">
                <a:solidFill>
                  <a:srgbClr val="D97706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78350F"/>
              </a:fontRef>
            </p:style>
            <p:txBody>
              <a:bodyPr rtlCol="0" anchor="ctr" wrap="square" lIns="228600" rIns="228600" tIns="54864" bIns="73152"/>
              <a:lstStyle>
                <a:lvl1pPr>
                  <a:defRPr sz="2400">
                    <a:solidFill>
                      <a:srgbClr val="78350F"/>
                    </a:solidFill>
                  </a:defRPr>
                </a:lvl1pPr>
              </a:lstStyle>
              <a:p>
                <a:pPr algn="l">
                  <a:defRPr sz="2400">
                    <a:solidFill>
                      <a:srgbClr val="78350F"/>
                    </a:solidFill>
                  </a:defRPr>
                </a:pPr>
                <a:r>
                  <a:rPr sz="2400" b="1">
                    <a:solidFill>
                      <a:srgbClr val="78350F"/>
                    </a:solidFill>
                    <a:latin typeface="Arial"/>
                  </a:rPr>
                  <a:t>Idea:  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Centre the cubic at its point of inflection,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𝑢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𝑠</m:t>
                    </m:r>
                  </m:oMath>
                </a14:m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, so that </a:t>
                </a:r>
                <a14:m>
                  <m:oMath xmlns:m="http://schemas.openxmlformats.org/officeDocument/2006/math">
                    <m:sSup>
                      <m:e>
                        <m: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𝑓</m:t>
                        </m:r>
                      </m:e>
                      <m:sup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″</m:t>
                        </m:r>
                      </m:sup>
                    </m:sSup>
                  </m:oMath>
                </a14:m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 becomes a pure multiple of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𝑢</m:t>
                    </m:r>
                  </m:oMath>
                </a14:m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 and the </a:t>
                </a:r>
                <a14:m>
                  <m:oMath xmlns:m="http://schemas.openxmlformats.org/officeDocument/2006/math">
                    <m:sSup>
                      <m:e>
                        <m: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𝑢</m:t>
                        </m:r>
                      </m:e>
                      <m:sup>
                        <m: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</m:oMath>
                </a14:m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 term vanishes at once.</a:t>
                </a:r>
                <a:endParaRPr sz="2400">
                  <a:solidFill>
                    <a:srgbClr val="78350F"/>
                  </a:solidFill>
                </a:endParaRPr>
              </a:p>
            </p:txBody>
          </p:sp>
        </mc:Choice>
        <mc:Fallback>
          <p:sp>
            <p:nvSpPr>
              <p:cNvPr id="5" name="Rounded Rectangle 4"/>
              <p:cNvSpPr/>
              <p:nvPr/>
            </p:nvSpPr>
            <p:spPr>
              <a:xfrm>
                <a:off x="731520" y="1280160"/>
                <a:ext cx="10725912" cy="1481328"/>
              </a:xfrm>
              <a:prstGeom prst="roundRect">
                <a:avLst>
                  <a:gd name="adj" fmla="val 8000"/>
                </a:avLst>
              </a:prstGeom>
              <a:solidFill>
                <a:srgbClr val="FDE68A"/>
              </a:solidFill>
              <a:ln w="31750">
                <a:solidFill>
                  <a:srgbClr val="D97706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78350F"/>
              </a:fontRef>
            </p:style>
            <p:txBody>
              <a:bodyPr rtlCol="0" anchor="ctr" wrap="square" lIns="228600" rIns="228600" tIns="54864" bIns="73152"/>
              <a:lstStyle>
                <a:lvl1pPr>
                  <a:defRPr sz="2400">
                    <a:solidFill>
                      <a:srgbClr val="78350F"/>
                    </a:solidFill>
                  </a:defRPr>
                </a:lvl1pPr>
              </a:lstStyle>
              <a:p>
                <a:pPr algn="l">
                  <a:defRPr sz="2400">
                    <a:solidFill>
                      <a:srgbClr val="78350F"/>
                    </a:solidFill>
                  </a:defRPr>
                </a:pPr>
                <a:r>
                  <a:rPr sz="2400" b="1">
                    <a:solidFill>
                      <a:srgbClr val="78350F"/>
                    </a:solidFill>
                    <a:latin typeface="Arial"/>
                  </a:rPr>
                  <a:t>Idea:  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Centre the cubic at its point of inflection, </a:t>
                </a:r>
                <a:r>
                  <a:rPr lang="en-IN" sz="2400">
                    <a:solidFill>
                      <a:srgbClr val="78350F"/>
                    </a:solidFill>
                    <a:latin typeface="Cambria Math" panose="02040503050406030204" pitchFamily="18" charset="0"/>
                  </a:rPr>
                  <a:t>$u=x+s$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, so that </a:t>
                </a:r>
                <a:r>
                  <a:rPr lang="en-IN" sz="2400">
                    <a:solidFill>
                      <a:srgbClr val="78350F"/>
                    </a:solidFill>
                    <a:latin typeface="Cambria Math" panose="02040503050406030204" pitchFamily="18" charset="0"/>
                  </a:rPr>
                  <a:t>$f''$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 becomes a pure multiple of </a:t>
                </a:r>
                <a:r>
                  <a:rPr lang="en-IN" sz="2400">
                    <a:solidFill>
                      <a:srgbClr val="78350F"/>
                    </a:solidFill>
                    <a:latin typeface="Cambria Math" panose="02040503050406030204" pitchFamily="18" charset="0"/>
                  </a:rPr>
                  <a:t>$u$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 and the </a:t>
                </a:r>
                <a:r>
                  <a:rPr lang="en-IN" sz="2400">
                    <a:solidFill>
                      <a:srgbClr val="78350F"/>
                    </a:solidFill>
                    <a:latin typeface="Cambria Math" panose="02040503050406030204" pitchFamily="18" charset="0"/>
                  </a:rPr>
                  <a:t>$u^2$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 term vanishes at once.</a:t>
                </a:r>
                <a:endParaRPr sz="2400">
                  <a:solidFill>
                    <a:srgbClr val="78350F"/>
                  </a:solidFill>
                </a:endParaRP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6" name="Rectangle 5"/>
              <p:cNvSpPr/>
              <p:nvPr/>
            </p:nvSpPr>
            <p:spPr>
              <a:xfrm>
                <a:off x="731520" y="2898648"/>
                <a:ext cx="10725912" cy="3776472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After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𝑛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3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</a:t>
                </a:r>
                <a14:m>
                  <m:oMath xmlns:m="http://schemas.openxmlformats.org/officeDocument/2006/math"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𝑓</m:t>
                        </m:r>
                      </m:e>
                      <m:sup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″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6</m:t>
                    </m:r>
                    <m:sSub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𝑎</m:t>
                        </m:r>
                      </m:e>
                      <m:sub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0</m:t>
                        </m:r>
                      </m:sub>
                    </m:sSub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  <m:sSub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𝑎</m:t>
                        </m:r>
                      </m:e>
                      <m:sub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sub>
                    </m:sSub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6</m:t>
                    </m:r>
                    <m:sSub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𝑎</m:t>
                        </m:r>
                      </m:e>
                      <m:sub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0</m:t>
                        </m:r>
                      </m:sub>
                    </m:sSub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𝑢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with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𝑢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𝑠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𝑠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sSub>
                          <m:e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𝑎</m:t>
                            </m:r>
                          </m:e>
                          <m:sub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1</m:t>
                            </m:r>
                          </m:sub>
                        </m:sSub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3</m:t>
                        </m:r>
                        <m:sSub>
                          <m:e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𝑎</m:t>
                            </m:r>
                          </m:e>
                          <m:sub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0</m:t>
                            </m:r>
                          </m:sub>
                        </m:sSub>
                      </m:den>
                    </m:f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 Then </a:t>
                </a:r>
                <a14:m>
                  <m:oMath xmlns:m="http://schemas.openxmlformats.org/officeDocument/2006/math"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𝑓</m:t>
                        </m:r>
                      </m:e>
                      <m:sup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′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3</m:t>
                    </m:r>
                    <m:sSub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𝑎</m:t>
                        </m:r>
                      </m:e>
                      <m:sub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0</m:t>
                        </m:r>
                      </m:sub>
                    </m:sSub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𝑢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𝑡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and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𝑓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sSub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𝑎</m:t>
                        </m:r>
                      </m:e>
                      <m:sub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0</m:t>
                        </m:r>
                      </m:sub>
                    </m:sSub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𝑢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3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𝑡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𝑢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𝑤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The right side is </a:t>
                </a:r>
                <a14:m>
                  <m:oMath xmlns:m="http://schemas.openxmlformats.org/officeDocument/2006/math"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𝑓</m:t>
                        </m:r>
                      </m:e>
                      <m:sup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′</m:t>
                        </m:r>
                      </m:sup>
                    </m:sSup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𝑓</m:t>
                        </m:r>
                      </m:e>
                      <m:sup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″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3</m:t>
                    </m:r>
                    <m:sSub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𝑎</m:t>
                        </m:r>
                      </m:e>
                      <m:sub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0</m:t>
                        </m:r>
                      </m:sub>
                    </m:sSub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𝑢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𝑡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6</m:t>
                    </m:r>
                    <m:sSub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𝑎</m:t>
                        </m:r>
                      </m:e>
                      <m:sub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0</m:t>
                        </m:r>
                      </m:sub>
                    </m:sSub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𝑢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18</m:t>
                    </m:r>
                    <m:sSub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𝑎</m:t>
                        </m:r>
                      </m:e>
                      <m:sub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0</m:t>
                        </m:r>
                      </m:sub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bSup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𝑢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3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6</m:t>
                    </m:r>
                    <m:sSub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𝑎</m:t>
                        </m:r>
                      </m:e>
                      <m:sub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0</m:t>
                        </m:r>
                      </m:sub>
                    </m:sSub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𝑡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 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𝑢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an odd function of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𝑢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On the left,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𝑓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sSub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𝑎</m:t>
                        </m:r>
                      </m:e>
                      <m:sub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0</m:t>
                        </m:r>
                      </m:sub>
                    </m:sSub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𝑠</m:t>
                    </m:r>
                    <m:sSup>
                      <m:e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)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3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𝑡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𝑠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𝑤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with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𝑠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𝑢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𝑠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: </a:t>
                </a:r>
                <a14:m>
                  <m:oMath xmlns:m="http://schemas.openxmlformats.org/officeDocument/2006/math">
                    <m:sSub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𝑎</m:t>
                        </m:r>
                      </m:e>
                      <m:sub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0</m:t>
                        </m:r>
                      </m:sub>
                    </m:sSub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𝑢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𝑠</m:t>
                    </m:r>
                    <m:sSup>
                      <m:e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)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3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𝑡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𝑢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𝑠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𝑤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Choice>
        <mc:Fallback>
          <p:sp>
            <p:nvSpPr>
              <p:cNvPr id="6" name="Rectangle 5"/>
              <p:cNvSpPr/>
              <p:nvPr/>
            </p:nvSpPr>
            <p:spPr>
              <a:xfrm>
                <a:off x="731520" y="2898648"/>
                <a:ext cx="10725912" cy="3776472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After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$n=3$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$f''(x)=6a_0x+2a_1=6a_0u$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with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$u=x+s$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$s=\frac{a_1}{3a_0}$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 Then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$f'=3a_0u^2+t$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and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$f=a_0u^3+tu+w$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The right side is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$f'f''=(3a_0u^2+t)(6a_0u)=18a_0^2u^3+6a_0t\,u$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an odd function of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$u$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On the left,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$f(2x)=a_0(2x+s)^3+t(2x+s)+w$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with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$2x+s=2u-s$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: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$a_0(2u-s)^3+t(2u-s)+w$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Fallback>
      </mc:AlternateContent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FFFFFF"/>
          </a:fontRef>
        </p:style>
        <p:txBody>
          <a:bodyPr rtlCol="0" anchor="ctr" lIns="731520"/>
          <a:lstStyle>
            <a:lvl1pPr>
              <a:defRPr sz="3200">
                <a:solidFill>
                  <a:srgbClr val="FFFFFF"/>
                </a:solidFill>
              </a:defRPr>
            </a:lvl1pPr>
          </a:lstStyle>
          <a:p>
            <a:pPr algn="l">
              <a:defRPr sz="3200">
                <a:solidFill>
                  <a:srgbClr val="FFFFFF"/>
                </a:solidFill>
              </a:defRPr>
            </a:pPr>
            <a:r>
              <a:rPr sz="3200" b="1">
                <a:solidFill>
                  <a:srgbClr val="FFFFFF"/>
                </a:solidFill>
                <a:latin typeface="Arial"/>
              </a:rPr>
              <a:t>Question 02</a:t>
            </a:r>
            <a:endParaRPr sz="3200">
              <a:solidFill>
                <a:srgbClr val="FFFFFF"/>
              </a:solidFill>
            </a:endParaRPr>
          </a:p>
        </p:txBody>
      </p:sp>
      <p:sp>
        <p:nvSpPr>
          <p:cNvPr id="3" name="Rounded Rectangle 2"/>
          <p:cNvSpPr/>
          <p:nvPr/>
        </p:nvSpPr>
        <p:spPr>
          <a:xfrm>
            <a:off x="7894015" y="246887"/>
            <a:ext cx="3840480" cy="603504"/>
          </a:xfrm>
          <a:prstGeom prst="roundRect">
            <a:avLst>
              <a:gd name="adj" fmla="val 50000"/>
            </a:avLst>
          </a:prstGeom>
          <a:solidFill>
            <a:srgbClr val="FFD966"/>
          </a:solidFill>
          <a:ln w="1905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111827"/>
          </a:fontRef>
        </p:style>
        <p:txBody>
          <a:bodyPr rtlCol="0" anchor="ctr" wrap="square" lIns="228600" rIns="228600" tIns="18288" bIns="18288"/>
          <a:lstStyle>
            <a:lvl1pPr>
              <a:defRPr sz="2400">
                <a:solidFill>
                  <a:srgbClr val="111827"/>
                </a:solidFill>
              </a:defRPr>
            </a:lvl1pPr>
          </a:lstStyle>
          <a:p>
            <a:pPr algn="ctr">
              <a:defRPr sz="2400">
                <a:solidFill>
                  <a:srgbClr val="111827"/>
                </a:solidFill>
              </a:defRPr>
            </a:pPr>
            <a:r>
              <a:rPr sz="2400" b="1">
                <a:solidFill>
                  <a:srgbClr val="111827"/>
                </a:solidFill>
                <a:latin typeface="Arial"/>
              </a:rPr>
              <a:t>Level 2  ·  4 Marks</a:t>
            </a:r>
            <a:endParaRPr sz="2400">
              <a:solidFill>
                <a:srgbClr val="111827"/>
              </a:solidFill>
            </a:endParaRPr>
          </a:p>
        </p:txBody>
      </p:sp>
      <p:sp>
        <p:nvSpPr>
          <p:cNvPr id="4" name="Rounded Rectangle 3"/>
          <p:cNvSpPr/>
          <p:nvPr/>
        </p:nvSpPr>
        <p:spPr>
          <a:xfrm>
            <a:off x="3520440" y="265176"/>
            <a:ext cx="4206240" cy="566928"/>
          </a:xfrm>
          <a:prstGeom prst="roundRect">
            <a:avLst>
              <a:gd name="adj" fmla="val 50000"/>
            </a:avLst>
          </a:prstGeom>
          <a:solidFill>
            <a:srgbClr val="FDE68A"/>
          </a:solidFill>
          <a:ln w="25400">
            <a:solidFill>
              <a:srgbClr val="D9770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78350F"/>
          </a:fontRef>
        </p:style>
        <p:txBody>
          <a:bodyPr rtlCol="0" anchor="ctr" wrap="square" lIns="228600" rIns="228600" tIns="18288" bIns="18288"/>
          <a:lstStyle>
            <a:lvl1pPr>
              <a:defRPr sz="2200">
                <a:solidFill>
                  <a:srgbClr val="78350F"/>
                </a:solidFill>
              </a:defRPr>
            </a:lvl1pPr>
          </a:lstStyle>
          <a:p>
            <a:pPr algn="ctr">
              <a:defRPr sz="2200">
                <a:solidFill>
                  <a:srgbClr val="78350F"/>
                </a:solidFill>
              </a:defRPr>
            </a:pPr>
            <a:r>
              <a:rPr sz="2200" b="1">
                <a:solidFill>
                  <a:srgbClr val="78350F"/>
                </a:solidFill>
                <a:latin typeface="Arial"/>
              </a:rPr>
              <a:t>Alternate Solution</a:t>
            </a:r>
            <a:endParaRPr sz="2200">
              <a:solidFill>
                <a:srgbClr val="78350F"/>
              </a:solidFill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5" name="Rectangle 4"/>
              <p:cNvSpPr/>
              <p:nvPr/>
            </p:nvSpPr>
            <p:spPr>
              <a:xfrm>
                <a:off x="731520" y="1353312"/>
                <a:ext cx="10725912" cy="4434840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Compare the coefficients of </a:t>
                </a:r>
                <a14:m>
                  <m:oMath xmlns:m="http://schemas.openxmlformats.org/officeDocument/2006/math"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𝑢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: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12</m:t>
                    </m:r>
                    <m:sSub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𝑎</m:t>
                        </m:r>
                      </m:e>
                      <m:sub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0</m:t>
                        </m:r>
                      </m:sub>
                    </m:sSub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𝑠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0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so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𝑠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0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(the inflection point is at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0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).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With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𝑠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0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: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8</m:t>
                    </m:r>
                    <m:sSub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𝑎</m:t>
                        </m:r>
                      </m:e>
                      <m:sub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0</m:t>
                        </m:r>
                      </m:sub>
                    </m:sSub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𝑢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3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𝑡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𝑢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𝑤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18</m:t>
                    </m:r>
                    <m:sSub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𝑎</m:t>
                        </m:r>
                      </m:e>
                      <m:sub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0</m:t>
                        </m:r>
                      </m:sub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bSup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𝑢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3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6</m:t>
                    </m:r>
                    <m:sSub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𝑎</m:t>
                        </m:r>
                      </m:e>
                      <m:sub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0</m:t>
                        </m:r>
                      </m:sub>
                    </m:sSub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𝑡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𝑢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 Then </a:t>
                </a:r>
                <a14:m>
                  <m:oMath xmlns:m="http://schemas.openxmlformats.org/officeDocument/2006/math"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𝑢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3</m:t>
                        </m:r>
                      </m:sup>
                    </m:sSup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: </a:t>
                </a:r>
                <a14:m>
                  <m:oMath xmlns:m="http://schemas.openxmlformats.org/officeDocument/2006/math">
                    <m:sSub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𝑎</m:t>
                        </m:r>
                      </m:e>
                      <m:sub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0</m:t>
                        </m:r>
                      </m:sub>
                    </m:sSub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4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9</m:t>
                        </m:r>
                      </m:den>
                    </m:f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;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𝑢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: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𝑡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8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3</m:t>
                        </m:r>
                      </m:den>
                    </m:f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𝑡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so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𝑡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0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; constant: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𝑤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0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Hence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𝑓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4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9</m:t>
                        </m:r>
                      </m:den>
                    </m:f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3</m:t>
                        </m:r>
                      </m:sup>
                    </m:sSup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the same answer.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Choice>
        <mc:Fallback>
          <p:sp>
            <p:nvSpPr>
              <p:cNvPr id="5" name="Rectangle 4"/>
              <p:cNvSpPr/>
              <p:nvPr/>
            </p:nvSpPr>
            <p:spPr>
              <a:xfrm>
                <a:off x="731520" y="1353312"/>
                <a:ext cx="10725912" cy="4434840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Compare the coefficients of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$u^2$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: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$-12a_0s=0$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so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$s=0$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(the inflection point is at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$x=0$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).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With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$s=0$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: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$8a_0u^3+2tu+w=18a_0^2u^3+6a_0tu$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 Then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$u^3$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: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$a_0=\frac49$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;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$u$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: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$2t=\frac83t$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so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$t=0$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; constant: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$w=0$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Hence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$f(x)=\frac49x^3$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the same answer.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6" name="Rounded Rectangle 5"/>
              <p:cNvSpPr/>
              <p:nvPr/>
            </p:nvSpPr>
            <p:spPr>
              <a:xfrm>
                <a:off x="731520" y="5897880"/>
                <a:ext cx="10725912" cy="777240"/>
              </a:xfrm>
              <a:prstGeom prst="roundRect">
                <a:avLst>
                  <a:gd name="adj" fmla="val 8000"/>
                </a:avLst>
              </a:prstGeom>
              <a:solidFill>
                <a:srgbClr val="DCFCE7"/>
              </a:solidFill>
              <a:ln w="25400">
                <a:solidFill>
                  <a:srgbClr val="15803D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5803D"/>
              </a:fontRef>
            </p:style>
            <p:txBody>
              <a:bodyPr rtlCol="0" anchor="ctr" wrap="square" lIns="228600" rIns="228600" tIns="18288" bIns="73152"/>
              <a:lstStyle>
                <a:lvl1pPr>
                  <a:defRPr sz="2800">
                    <a:solidFill>
                      <a:srgbClr val="15803D"/>
                    </a:solidFill>
                  </a:defRPr>
                </a:lvl1pPr>
              </a:lstStyle>
              <a:p>
                <a:pPr algn="ctr">
                  <a:defRPr sz="2800">
                    <a:solidFill>
                      <a:srgbClr val="15803D"/>
                    </a:solidFill>
                  </a:defRPr>
                </a:pPr>
                <a:r>
                  <a:rPr sz="2800" b="1">
                    <a:solidFill>
                      <a:srgbClr val="15803D"/>
                    </a:solidFill>
                    <a:latin typeface="Arial"/>
                  </a:rPr>
                  <a:t>Same answer: </a:t>
                </a:r>
                <a14:m>
                  <m:oMath xmlns:m="http://schemas.openxmlformats.org/officeDocument/2006/math">
                    <m:r>
                      <a:rPr lang="en-IN" sz="2800" i="1">
                        <a:solidFill>
                          <a:srgbClr val="15803D"/>
                        </a:solidFill>
                        <a:latin typeface="Cambria Math" panose="02040503050406030204" pitchFamily="18" charset="0"/>
                      </a:rPr>
                      <m:t>𝑓</m:t>
                    </m:r>
                    <m:r>
                      <m:rPr>
                        <m:sty m:val="p"/>
                      </m:rPr>
                      <a:rPr lang="en-IN" sz="2800">
                        <a:solidFill>
                          <a:srgbClr val="15803D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800" i="1">
                        <a:solidFill>
                          <a:srgbClr val="15803D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800">
                        <a:solidFill>
                          <a:srgbClr val="15803D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800">
                        <a:solidFill>
                          <a:srgbClr val="15803D"/>
                        </a:solidFill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type m:val="bar"/>
                        <m:ctrlPr>
                          <a:rPr lang="en-IN" sz="2800" i="1">
                            <a:solidFill>
                              <a:srgbClr val="15803D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800" i="1">
                            <a:solidFill>
                              <a:srgbClr val="15803D"/>
                            </a:solidFill>
                            <a:latin typeface="Cambria Math" panose="02040503050406030204" pitchFamily="18" charset="0"/>
                          </a:rPr>
                          <m:t>4</m:t>
                        </m:r>
                        <m:sSup>
                          <m:e>
                            <m:r>
                              <a:rPr lang="en-IN" sz="2800" i="1">
                                <a:solidFill>
                                  <a:srgbClr val="15803D"/>
                                </a:solidFill>
                                <a:latin typeface="Cambria Math" panose="02040503050406030204" pitchFamily="18" charset="0"/>
                              </a:rPr>
                              <m:t>𝑥</m:t>
                            </m:r>
                          </m:e>
                          <m:sup>
                            <m:r>
                              <a:rPr lang="en-IN" sz="2800" i="1">
                                <a:solidFill>
                                  <a:srgbClr val="15803D"/>
                                </a:solidFill>
                                <a:latin typeface="Cambria Math" panose="02040503050406030204" pitchFamily="18" charset="0"/>
                              </a:rPr>
                              <m:t>3</m:t>
                            </m:r>
                          </m:sup>
                        </m:sSup>
                      </m:num>
                      <m:den>
                        <m:r>
                          <a:rPr lang="en-IN" sz="2800" i="1">
                            <a:solidFill>
                              <a:srgbClr val="15803D"/>
                            </a:solidFill>
                            <a:latin typeface="Cambria Math" panose="02040503050406030204" pitchFamily="18" charset="0"/>
                          </a:rPr>
                          <m:t>9</m:t>
                        </m:r>
                      </m:den>
                    </m:f>
                  </m:oMath>
                </a14:m>
                <a:endParaRPr sz="2800">
                  <a:solidFill>
                    <a:srgbClr val="15803D"/>
                  </a:solidFill>
                </a:endParaRPr>
              </a:p>
            </p:txBody>
          </p:sp>
        </mc:Choice>
        <mc:Fallback>
          <p:sp>
            <p:nvSpPr>
              <p:cNvPr id="6" name="Rounded Rectangle 5"/>
              <p:cNvSpPr/>
              <p:nvPr/>
            </p:nvSpPr>
            <p:spPr>
              <a:xfrm>
                <a:off x="731520" y="5897880"/>
                <a:ext cx="10725912" cy="777240"/>
              </a:xfrm>
              <a:prstGeom prst="roundRect">
                <a:avLst>
                  <a:gd name="adj" fmla="val 8000"/>
                </a:avLst>
              </a:prstGeom>
              <a:solidFill>
                <a:srgbClr val="DCFCE7"/>
              </a:solidFill>
              <a:ln w="25400">
                <a:solidFill>
                  <a:srgbClr val="15803D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5803D"/>
              </a:fontRef>
            </p:style>
            <p:txBody>
              <a:bodyPr rtlCol="0" anchor="ctr" wrap="square" lIns="228600" rIns="228600" tIns="18288" bIns="73152"/>
              <a:lstStyle>
                <a:lvl1pPr>
                  <a:defRPr sz="2800">
                    <a:solidFill>
                      <a:srgbClr val="15803D"/>
                    </a:solidFill>
                  </a:defRPr>
                </a:lvl1pPr>
              </a:lstStyle>
              <a:p>
                <a:pPr algn="ctr">
                  <a:defRPr sz="2800">
                    <a:solidFill>
                      <a:srgbClr val="15803D"/>
                    </a:solidFill>
                  </a:defRPr>
                </a:pPr>
                <a:r>
                  <a:rPr sz="2800" b="1">
                    <a:solidFill>
                      <a:srgbClr val="15803D"/>
                    </a:solidFill>
                    <a:latin typeface="Arial"/>
                  </a:rPr>
                  <a:t>Same answer: </a:t>
                </a:r>
                <a:r>
                  <a:rPr lang="en-IN" sz="2800">
                    <a:solidFill>
                      <a:srgbClr val="15803D"/>
                    </a:solidFill>
                    <a:latin typeface="Cambria Math" panose="02040503050406030204" pitchFamily="18" charset="0"/>
                  </a:rPr>
                  <a:t>$f(x)=\frac{4x^3}{9}$</a:t>
                </a:r>
                <a:endParaRPr sz="2800">
                  <a:solidFill>
                    <a:srgbClr val="15803D"/>
                  </a:solidFill>
                </a:endParaRPr>
              </a:p>
            </p:txBody>
          </p:sp>
        </mc:Fallback>
      </mc:AlternateContent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FFFFFF"/>
          </a:fontRef>
        </p:style>
        <p:txBody>
          <a:bodyPr rtlCol="0" anchor="ctr" lIns="731520"/>
          <a:lstStyle>
            <a:lvl1pPr>
              <a:defRPr sz="3200">
                <a:solidFill>
                  <a:srgbClr val="FFFFFF"/>
                </a:solidFill>
              </a:defRPr>
            </a:lvl1pPr>
          </a:lstStyle>
          <a:p>
            <a:pPr algn="l">
              <a:defRPr sz="3200">
                <a:solidFill>
                  <a:srgbClr val="FFFFFF"/>
                </a:solidFill>
              </a:defRPr>
            </a:pPr>
            <a:r>
              <a:rPr sz="3200" b="1">
                <a:solidFill>
                  <a:srgbClr val="FFFFFF"/>
                </a:solidFill>
                <a:latin typeface="Arial"/>
              </a:rPr>
              <a:t>Question 02</a:t>
            </a:r>
            <a:endParaRPr sz="3200">
              <a:solidFill>
                <a:srgbClr val="FFFFFF"/>
              </a:solidFill>
            </a:endParaRPr>
          </a:p>
        </p:txBody>
      </p:sp>
      <p:sp>
        <p:nvSpPr>
          <p:cNvPr id="3" name="Rounded Rectangle 2"/>
          <p:cNvSpPr/>
          <p:nvPr/>
        </p:nvSpPr>
        <p:spPr>
          <a:xfrm>
            <a:off x="7894015" y="246887"/>
            <a:ext cx="3840480" cy="603504"/>
          </a:xfrm>
          <a:prstGeom prst="roundRect">
            <a:avLst>
              <a:gd name="adj" fmla="val 50000"/>
            </a:avLst>
          </a:prstGeom>
          <a:solidFill>
            <a:srgbClr val="FFD966"/>
          </a:solidFill>
          <a:ln w="1905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111827"/>
          </a:fontRef>
        </p:style>
        <p:txBody>
          <a:bodyPr rtlCol="0" anchor="ctr" wrap="square" lIns="228600" rIns="228600" tIns="18288" bIns="18288"/>
          <a:lstStyle>
            <a:lvl1pPr>
              <a:defRPr sz="2400">
                <a:solidFill>
                  <a:srgbClr val="111827"/>
                </a:solidFill>
              </a:defRPr>
            </a:lvl1pPr>
          </a:lstStyle>
          <a:p>
            <a:pPr algn="ctr">
              <a:defRPr sz="2400">
                <a:solidFill>
                  <a:srgbClr val="111827"/>
                </a:solidFill>
              </a:defRPr>
            </a:pPr>
            <a:r>
              <a:rPr sz="2400" b="1">
                <a:solidFill>
                  <a:srgbClr val="111827"/>
                </a:solidFill>
                <a:latin typeface="Arial"/>
              </a:rPr>
              <a:t>Level 2  ·  4 Marks</a:t>
            </a:r>
            <a:endParaRPr sz="2400">
              <a:solidFill>
                <a:srgbClr val="111827"/>
              </a:solidFill>
            </a:endParaRPr>
          </a:p>
        </p:txBody>
      </p:sp>
      <p:sp>
        <p:nvSpPr>
          <p:cNvPr id="4" name="Rounded Rectangle 3"/>
          <p:cNvSpPr/>
          <p:nvPr/>
        </p:nvSpPr>
        <p:spPr>
          <a:xfrm>
            <a:off x="3520440" y="265176"/>
            <a:ext cx="4206240" cy="566928"/>
          </a:xfrm>
          <a:prstGeom prst="roundRect">
            <a:avLst>
              <a:gd name="adj" fmla="val 50000"/>
            </a:avLst>
          </a:prstGeom>
          <a:solidFill>
            <a:srgbClr val="E0ECFF"/>
          </a:solidFill>
          <a:ln w="25400">
            <a:solidFill>
              <a:srgbClr val="1D4ED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0B1F3A"/>
          </a:fontRef>
        </p:style>
        <p:txBody>
          <a:bodyPr rtlCol="0" anchor="ctr" wrap="square" lIns="228600" rIns="228600" tIns="18288" bIns="18288"/>
          <a:lstStyle>
            <a:lvl1pPr>
              <a:defRPr sz="2200">
                <a:solidFill>
                  <a:srgbClr val="0B1F3A"/>
                </a:solidFill>
              </a:defRPr>
            </a:lvl1pPr>
          </a:lstStyle>
          <a:p>
            <a:pPr algn="ctr">
              <a:defRPr sz="2200">
                <a:solidFill>
                  <a:srgbClr val="0B1F3A"/>
                </a:solidFill>
              </a:defRPr>
            </a:pPr>
            <a:r>
              <a:rPr sz="2200" b="1">
                <a:solidFill>
                  <a:srgbClr val="0B1F3A"/>
                </a:solidFill>
                <a:latin typeface="Arial"/>
              </a:rPr>
              <a:t>Useful Result / Pattern</a:t>
            </a:r>
            <a:endParaRPr sz="2200">
              <a:solidFill>
                <a:srgbClr val="0B1F3A"/>
              </a:solidFill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5" name="Rectangle 4"/>
              <p:cNvSpPr/>
              <p:nvPr/>
            </p:nvSpPr>
            <p:spPr>
              <a:xfrm>
                <a:off x="731520" y="1353312"/>
                <a:ext cx="10725912" cy="5321808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If a polynomial identity equates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𝑓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𝑘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to a product of derivatives, compare degrees first: here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𝑛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𝑛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𝑛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forces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𝑛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3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; for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𝑓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𝑓</m:t>
                        </m:r>
                      </m:e>
                      <m:sup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′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𝑓</m:t>
                        </m:r>
                      </m:e>
                      <m:sup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″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the same idea gives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𝑛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𝑛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3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(impossible, so only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𝑓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≡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0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).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A cubic is symmetric about its point of inflection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sSub>
                          <m:e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𝑎</m:t>
                            </m:r>
                          </m:e>
                          <m:sub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1</m:t>
                            </m:r>
                          </m:sub>
                        </m:sSub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3</m:t>
                        </m:r>
                        <m:sSub>
                          <m:e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𝑎</m:t>
                            </m:r>
                          </m:e>
                          <m:sub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0</m:t>
                            </m:r>
                          </m:sub>
                        </m:sSub>
                      </m:den>
                    </m:f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; shifting to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𝑢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𝑠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removes the </a:t>
                </a:r>
                <a14:m>
                  <m:oMath xmlns:m="http://schemas.openxmlformats.org/officeDocument/2006/math"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𝑢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term.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For a power function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𝑓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𝑐</m:t>
                    </m:r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𝑛</m:t>
                        </m:r>
                      </m:sup>
                    </m:sSup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: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𝑓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𝑛</m:t>
                        </m:r>
                      </m:sup>
                    </m:sSup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𝑐</m:t>
                    </m:r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𝑛</m:t>
                        </m:r>
                      </m:sup>
                    </m:sSup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and </a:t>
                </a:r>
                <a14:m>
                  <m:oMath xmlns:m="http://schemas.openxmlformats.org/officeDocument/2006/math"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𝑓</m:t>
                        </m:r>
                      </m:e>
                      <m:sup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′</m:t>
                        </m:r>
                      </m:sup>
                    </m:sSup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𝑓</m:t>
                        </m:r>
                      </m:e>
                      <m:sup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″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𝑐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𝑛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𝑛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𝑛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−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3</m:t>
                        </m:r>
                      </m:sup>
                    </m:sSup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which is the quickest way to guess the answer once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𝑛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3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is known.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Choice>
        <mc:Fallback>
          <p:sp>
            <p:nvSpPr>
              <p:cNvPr id="5" name="Rectangle 4"/>
              <p:cNvSpPr/>
              <p:nvPr/>
            </p:nvSpPr>
            <p:spPr>
              <a:xfrm>
                <a:off x="731520" y="1353312"/>
                <a:ext cx="10725912" cy="5321808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If a polynomial identity equates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$f(kx)$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to a product of derivatives, compare degrees first: here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$n=(n-1)+(n-2)$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forces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$n=3$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; for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$f(x^2)=f'(x)f''(x)$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the same idea gives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$2n=2n-3$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(impossible, so only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$f\equiv0$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).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A cubic is symmetric about its point of inflection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$x=-\frac{a_1}{3a_0}$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; shifting to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$u=x+s$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removes the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$u^2$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term.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For a power function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$f=cx^n$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: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$f(2x)=2^ncx^n$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and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$f'f''=c^2n^2(n-1)x^{2n-3}$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which is the quickest way to guess the answer once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$n=3$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is known.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Fallback>
      </mc:AlternateContent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914400" y="1463040"/>
            <a:ext cx="10362895" cy="4114800"/>
          </a:xfrm>
          <a:prstGeom prst="rect">
            <a:avLst/>
          </a:prstGeom>
          <a:noFill/>
        </p:spPr>
        <p:txBody>
          <a:bodyPr wrap="square">
            <a:spAutoFit/>
          </a:bodyPr>
          <a:lstStyle>
            <a:lvl1pPr>
              <a:defRPr sz="2800">
                <a:solidFill>
                  <a:srgbClr val="FFFFFF"/>
                </a:solidFill>
              </a:defRPr>
            </a:lvl1pPr>
          </a:lstStyle>
          <a:p>
            <a:pPr algn="ctr">
              <a:spcAft>
                <a:spcPts val="1000"/>
              </a:spcAft>
              <a:defRPr sz="2800">
                <a:solidFill>
                  <a:srgbClr val="FFFFFF"/>
                </a:solidFill>
              </a:defRPr>
            </a:pPr>
            <a:r>
              <a:rPr sz="2800" b="0">
                <a:solidFill>
                  <a:srgbClr val="93C5FD"/>
                </a:solidFill>
                <a:latin typeface="Arial"/>
              </a:rPr>
              <a:t>Section 2</a:t>
            </a:r>
            <a:endParaRPr sz="2800">
              <a:solidFill>
                <a:srgbClr val="FFFFFF"/>
              </a:solidFill>
            </a:endParaRPr>
          </a:p>
          <a:p>
            <a:pPr algn="ctr">
              <a:spcAft>
                <a:spcPts val="1000"/>
              </a:spcAft>
              <a:defRPr sz="2800">
                <a:solidFill>
                  <a:srgbClr val="FFFFFF"/>
                </a:solidFill>
              </a:defRPr>
            </a:pPr>
            <a:r>
              <a:rPr sz="4400" b="1">
                <a:solidFill>
                  <a:srgbClr val="FFFFFF"/>
                </a:solidFill>
                <a:latin typeface="Arial"/>
              </a:rPr>
              <a:t>Numerical Type</a:t>
            </a:r>
            <a:endParaRPr sz="2800">
              <a:solidFill>
                <a:srgbClr val="FFFFFF"/>
              </a:solidFill>
            </a:endParaRPr>
          </a:p>
          <a:p>
            <a:pPr algn="ctr">
              <a:spcAft>
                <a:spcPts val="1000"/>
              </a:spcAft>
              <a:defRPr sz="2800">
                <a:solidFill>
                  <a:srgbClr val="FFFFFF"/>
                </a:solidFill>
              </a:defRPr>
            </a:pPr>
            <a:r>
              <a:rPr sz="3200" b="1">
                <a:solidFill>
                  <a:srgbClr val="FFFFFF"/>
                </a:solidFill>
                <a:latin typeface="Arial"/>
              </a:rPr>
              <a:t>Q03 – Q04</a:t>
            </a:r>
            <a:endParaRPr sz="2800">
              <a:solidFill>
                <a:srgbClr val="FFFFFF"/>
              </a:solidFill>
            </a:endParaRPr>
          </a:p>
          <a:p>
            <a:pPr algn="ctr">
              <a:spcAft>
                <a:spcPts val="1000"/>
              </a:spcAft>
              <a:defRPr sz="2800">
                <a:solidFill>
                  <a:srgbClr val="FFFFFF"/>
                </a:solidFill>
              </a:defRPr>
            </a:pPr>
            <a:r>
              <a:rPr sz="2800" b="0">
                <a:solidFill>
                  <a:srgbClr val="FFFFFF"/>
                </a:solidFill>
                <a:latin typeface="Arial"/>
              </a:rPr>
              <a:t>4 marks each (no marks printed in the paper: JEE Advanced default assumed)</a:t>
            </a:r>
            <a:endParaRPr sz="2800">
              <a:solidFill>
                <a:srgbClr val="FFFFFF"/>
              </a:solidFill>
            </a:endParaRPr>
          </a:p>
          <a:p>
            <a:pPr algn="ctr">
              <a:spcAft>
                <a:spcPts val="1000"/>
              </a:spcAft>
              <a:defRPr sz="2800">
                <a:solidFill>
                  <a:srgbClr val="FFFFFF"/>
                </a:solidFill>
              </a:defRPr>
            </a:pPr>
            <a:r>
              <a:rPr sz="2800" b="0">
                <a:solidFill>
                  <a:srgbClr val="FFFFFF"/>
                </a:solidFill>
                <a:latin typeface="Arial"/>
              </a:rPr>
              <a:t>Numerical value answer; complete solution with alternate method and result</a:t>
            </a:r>
            <a:endParaRPr sz="2800">
              <a:solidFill>
                <a:srgbClr val="FFFFFF"/>
              </a:solidFill>
            </a:endParaRP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FFFFFF"/>
          </a:fontRef>
        </p:style>
        <p:txBody>
          <a:bodyPr rtlCol="0" anchor="ctr" lIns="731520"/>
          <a:lstStyle>
            <a:lvl1pPr>
              <a:defRPr sz="3200">
                <a:solidFill>
                  <a:srgbClr val="FFFFFF"/>
                </a:solidFill>
              </a:defRPr>
            </a:lvl1pPr>
          </a:lstStyle>
          <a:p>
            <a:pPr algn="l">
              <a:defRPr sz="3200">
                <a:solidFill>
                  <a:srgbClr val="FFFFFF"/>
                </a:solidFill>
              </a:defRPr>
            </a:pPr>
            <a:r>
              <a:rPr sz="3200" b="1">
                <a:solidFill>
                  <a:srgbClr val="FFFFFF"/>
                </a:solidFill>
                <a:latin typeface="Arial"/>
              </a:rPr>
              <a:t>Question 03</a:t>
            </a:r>
            <a:endParaRPr sz="3200">
              <a:solidFill>
                <a:srgbClr val="FFFFFF"/>
              </a:solidFill>
            </a:endParaRPr>
          </a:p>
        </p:txBody>
      </p:sp>
      <p:sp>
        <p:nvSpPr>
          <p:cNvPr id="3" name="Rounded Rectangle 2"/>
          <p:cNvSpPr/>
          <p:nvPr/>
        </p:nvSpPr>
        <p:spPr>
          <a:xfrm>
            <a:off x="7894015" y="246887"/>
            <a:ext cx="3840480" cy="603504"/>
          </a:xfrm>
          <a:prstGeom prst="roundRect">
            <a:avLst>
              <a:gd name="adj" fmla="val 50000"/>
            </a:avLst>
          </a:prstGeom>
          <a:solidFill>
            <a:srgbClr val="FFD966"/>
          </a:solidFill>
          <a:ln w="1905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111827"/>
          </a:fontRef>
        </p:style>
        <p:txBody>
          <a:bodyPr rtlCol="0" anchor="ctr" wrap="square" lIns="228600" rIns="228600" tIns="18288" bIns="18288"/>
          <a:lstStyle>
            <a:lvl1pPr>
              <a:defRPr sz="2400">
                <a:solidFill>
                  <a:srgbClr val="111827"/>
                </a:solidFill>
              </a:defRPr>
            </a:lvl1pPr>
          </a:lstStyle>
          <a:p>
            <a:pPr algn="ctr">
              <a:defRPr sz="2400">
                <a:solidFill>
                  <a:srgbClr val="111827"/>
                </a:solidFill>
              </a:defRPr>
            </a:pPr>
            <a:r>
              <a:rPr sz="2400" b="1">
                <a:solidFill>
                  <a:srgbClr val="111827"/>
                </a:solidFill>
                <a:latin typeface="Arial"/>
              </a:rPr>
              <a:t>Level 2  ·  4 Marks</a:t>
            </a:r>
            <a:endParaRPr sz="2400">
              <a:solidFill>
                <a:srgbClr val="111827"/>
              </a:solidFill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4" name="Rounded Rectangle 3"/>
              <p:cNvSpPr/>
              <p:nvPr/>
            </p:nvSpPr>
            <p:spPr>
              <a:xfrm>
                <a:off x="731520" y="1280160"/>
                <a:ext cx="10725912" cy="1737360"/>
              </a:xfrm>
              <a:prstGeom prst="roundRect">
                <a:avLst>
                  <a:gd name="adj" fmla="val 8000"/>
                </a:avLst>
              </a:prstGeom>
              <a:solidFill>
                <a:srgbClr val="E0ECFF"/>
              </a:solidFill>
              <a:ln w="25400">
                <a:solidFill>
                  <a:srgbClr val="1D4ED8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>
                  <a:spcAft>
                    <a:spcPts val="500"/>
                  </a:spcAft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If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𝑦</m:t>
                        </m:r>
                      </m:e>
                      <m:sup>
                        <m:f>
                          <m:fPr>
                            <m:type m:val="bar"/>
                            <m:ctrlP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fPr>
                          <m:num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1</m:t>
                            </m:r>
                          </m:num>
                          <m:den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5</m:t>
                            </m:r>
                          </m:den>
                        </m:f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𝑦</m:t>
                        </m:r>
                      </m:e>
                      <m:sup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−</m:t>
                        </m:r>
                        <m:f>
                          <m:fPr>
                            <m:type m:val="bar"/>
                            <m:ctrlP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fPr>
                          <m:num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1</m:t>
                            </m:r>
                          </m:num>
                          <m:den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5</m:t>
                            </m:r>
                          </m:den>
                        </m:f>
                      </m:sup>
                    </m:sSup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then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sSup>
                          <m:e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𝑑</m:t>
                            </m:r>
                          </m:e>
                          <m:sup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2</m:t>
                            </m:r>
                          </m:sup>
                        </m:s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𝑦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𝑑</m:t>
                        </m:r>
                        <m:sSup>
                          <m:e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𝑥</m:t>
                            </m:r>
                          </m:e>
                          <m:sup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2</m:t>
                            </m:r>
                          </m:sup>
                        </m:sSup>
                      </m:den>
                    </m:f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𝑑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𝑦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𝑑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</m:den>
                    </m:f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𝑘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𝑦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 Find the value of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𝑘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Choice>
        <mc:Fallback>
          <p:sp>
            <p:nvSpPr>
              <p:cNvPr id="4" name="Rounded Rectangle 3"/>
              <p:cNvSpPr/>
              <p:nvPr/>
            </p:nvSpPr>
            <p:spPr>
              <a:xfrm>
                <a:off x="731520" y="1280160"/>
                <a:ext cx="10725912" cy="1737360"/>
              </a:xfrm>
              <a:prstGeom prst="roundRect">
                <a:avLst>
                  <a:gd name="adj" fmla="val 8000"/>
                </a:avLst>
              </a:prstGeom>
              <a:solidFill>
                <a:srgbClr val="E0ECFF"/>
              </a:solidFill>
              <a:ln w="25400">
                <a:solidFill>
                  <a:srgbClr val="1D4ED8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>
                  <a:spcAft>
                    <a:spcPts val="500"/>
                  </a:spcAft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If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$2x=y^{\frac15}+y^{-\frac15}$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then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$(x^2-1)\frac{d^2y}{dx^2}+x\frac{dy}{dx}=ky$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 Find the value of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$k$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Fallback>
      </mc:AlternateContent>
      <p:sp>
        <p:nvSpPr>
          <p:cNvPr id="5" name="Rectangle 4"/>
          <p:cNvSpPr/>
          <p:nvPr/>
        </p:nvSpPr>
        <p:spPr>
          <a:xfrm>
            <a:off x="731520" y="3246120"/>
            <a:ext cx="10725912" cy="2194560"/>
          </a:xfrm>
          <a:prstGeom prst="rect">
            <a:avLst/>
          </a:prstGeom>
          <a:solidFill>
            <a:srgbClr val="FFFFFF"/>
          </a:solidFill>
          <a:ln w="19050">
            <a:solidFill>
              <a:srgbClr val="6B728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111827"/>
          </a:fontRef>
        </p:style>
        <p:txBody>
          <a:bodyPr rtlCol="0" anchor="t" wrap="square" lIns="228600" rIns="228600" tIns="137160" bIns="73152"/>
          <a:lstStyle>
            <a:lvl1pPr>
              <a:defRPr sz="2400">
                <a:solidFill>
                  <a:srgbClr val="111827"/>
                </a:solidFill>
              </a:defRPr>
            </a:lvl1pPr>
          </a:lstStyle>
          <a:p>
            <a:pPr algn="l">
              <a:spcAft>
                <a:spcPts val="200"/>
              </a:spcAft>
              <a:defRPr sz="2400">
                <a:solidFill>
                  <a:srgbClr val="111827"/>
                </a:solidFill>
              </a:defRPr>
            </a:pPr>
            <a:r>
              <a:rPr sz="2400" b="0">
                <a:solidFill>
                  <a:srgbClr val="111827"/>
                </a:solidFill>
                <a:latin typeface="Arial"/>
              </a:rPr>
              <a:t>Numerical Type (4 Marks)</a:t>
            </a:r>
            <a:endParaRPr sz="2400">
              <a:solidFill>
                <a:srgbClr val="111827"/>
              </a:solidFill>
            </a:endParaRPr>
          </a:p>
          <a:p>
            <a:pPr algn="l">
              <a:spcAft>
                <a:spcPts val="200"/>
              </a:spcAft>
              <a:defRPr sz="2400">
                <a:solidFill>
                  <a:srgbClr val="111827"/>
                </a:solidFill>
              </a:defRPr>
            </a:pPr>
            <a:r>
              <a:rPr sz="2400" b="0">
                <a:solidFill>
                  <a:srgbClr val="111827"/>
                </a:solidFill>
                <a:latin typeface="Arial"/>
              </a:rPr>
              <a:t>Concept(s) : Second order derivative of implicit functions, Differentiation of inverse functions</a:t>
            </a:r>
            <a:endParaRPr sz="2400">
              <a:solidFill>
                <a:srgbClr val="111827"/>
              </a:solidFill>
            </a:endParaRPr>
          </a:p>
          <a:p>
            <a:pPr algn="l">
              <a:spcAft>
                <a:spcPts val="200"/>
              </a:spcAft>
              <a:defRPr sz="2400">
                <a:solidFill>
                  <a:srgbClr val="111827"/>
                </a:solidFill>
              </a:defRPr>
            </a:pPr>
            <a:r>
              <a:rPr sz="2400" b="0">
                <a:solidFill>
                  <a:srgbClr val="111827"/>
                </a:solidFill>
                <a:latin typeface="Arial"/>
              </a:rPr>
              <a:t>Difficulty Level: Level 2(A level below Average JEE Advanced Level)</a:t>
            </a:r>
            <a:endParaRPr sz="2400">
              <a:solidFill>
                <a:srgbClr val="111827"/>
              </a:solidFill>
            </a:endParaRP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FFFFFF"/>
          </a:fontRef>
        </p:style>
        <p:txBody>
          <a:bodyPr rtlCol="0" anchor="ctr" lIns="731520"/>
          <a:lstStyle>
            <a:lvl1pPr>
              <a:defRPr sz="3200">
                <a:solidFill>
                  <a:srgbClr val="FFFFFF"/>
                </a:solidFill>
              </a:defRPr>
            </a:lvl1pPr>
          </a:lstStyle>
          <a:p>
            <a:pPr algn="l">
              <a:defRPr sz="3200">
                <a:solidFill>
                  <a:srgbClr val="FFFFFF"/>
                </a:solidFill>
              </a:defRPr>
            </a:pPr>
            <a:r>
              <a:rPr sz="3200" b="1">
                <a:solidFill>
                  <a:srgbClr val="FFFFFF"/>
                </a:solidFill>
                <a:latin typeface="Arial"/>
              </a:rPr>
              <a:t>Question 03</a:t>
            </a:r>
            <a:endParaRPr sz="3200">
              <a:solidFill>
                <a:srgbClr val="FFFFFF"/>
              </a:solidFill>
            </a:endParaRPr>
          </a:p>
        </p:txBody>
      </p:sp>
      <p:sp>
        <p:nvSpPr>
          <p:cNvPr id="3" name="Rounded Rectangle 2"/>
          <p:cNvSpPr/>
          <p:nvPr/>
        </p:nvSpPr>
        <p:spPr>
          <a:xfrm>
            <a:off x="7894015" y="246887"/>
            <a:ext cx="3840480" cy="603504"/>
          </a:xfrm>
          <a:prstGeom prst="roundRect">
            <a:avLst>
              <a:gd name="adj" fmla="val 50000"/>
            </a:avLst>
          </a:prstGeom>
          <a:solidFill>
            <a:srgbClr val="FFD966"/>
          </a:solidFill>
          <a:ln w="1905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111827"/>
          </a:fontRef>
        </p:style>
        <p:txBody>
          <a:bodyPr rtlCol="0" anchor="ctr" wrap="square" lIns="228600" rIns="228600" tIns="18288" bIns="18288"/>
          <a:lstStyle>
            <a:lvl1pPr>
              <a:defRPr sz="2400">
                <a:solidFill>
                  <a:srgbClr val="111827"/>
                </a:solidFill>
              </a:defRPr>
            </a:lvl1pPr>
          </a:lstStyle>
          <a:p>
            <a:pPr algn="ctr">
              <a:defRPr sz="2400">
                <a:solidFill>
                  <a:srgbClr val="111827"/>
                </a:solidFill>
              </a:defRPr>
            </a:pPr>
            <a:r>
              <a:rPr sz="2400" b="1">
                <a:solidFill>
                  <a:srgbClr val="111827"/>
                </a:solidFill>
                <a:latin typeface="Arial"/>
              </a:rPr>
              <a:t>Level 2  ·  4 Marks</a:t>
            </a:r>
            <a:endParaRPr sz="2400">
              <a:solidFill>
                <a:srgbClr val="111827"/>
              </a:solidFill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4" name="Rounded Rectangle 3"/>
              <p:cNvSpPr/>
              <p:nvPr/>
            </p:nvSpPr>
            <p:spPr>
              <a:xfrm>
                <a:off x="731520" y="1280160"/>
                <a:ext cx="10725912" cy="1219200"/>
              </a:xfrm>
              <a:prstGeom prst="roundRect">
                <a:avLst>
                  <a:gd name="adj" fmla="val 8000"/>
                </a:avLst>
              </a:prstGeom>
              <a:solidFill>
                <a:srgbClr val="FDE68A"/>
              </a:solidFill>
              <a:ln w="31750">
                <a:solidFill>
                  <a:srgbClr val="D97706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78350F"/>
              </a:fontRef>
            </p:style>
            <p:txBody>
              <a:bodyPr rtlCol="0" anchor="ctr" wrap="square" lIns="228600" rIns="228600" tIns="54864" bIns="73152"/>
              <a:lstStyle>
                <a:lvl1pPr>
                  <a:defRPr sz="2400">
                    <a:solidFill>
                      <a:srgbClr val="78350F"/>
                    </a:solidFill>
                  </a:defRPr>
                </a:lvl1pPr>
              </a:lstStyle>
              <a:p>
                <a:pPr algn="l">
                  <a:defRPr sz="2400">
                    <a:solidFill>
                      <a:srgbClr val="78350F"/>
                    </a:solidFill>
                  </a:defRPr>
                </a:pPr>
                <a:r>
                  <a:rPr sz="2400" b="1">
                    <a:solidFill>
                      <a:srgbClr val="78350F"/>
                    </a:solidFill>
                    <a:latin typeface="Arial"/>
                  </a:rPr>
                  <a:t>Key idea:  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Differentiating with respect to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𝑦</m:t>
                    </m:r>
                  </m:oMath>
                </a14:m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 gives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5</m:t>
                    </m:r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𝑦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=</m:t>
                    </m:r>
                    <m:rad>
                      <m:radPr>
                        <m:degHide m:val="on"/>
                        <m:ctrlP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</m:ctrlPr>
                      </m:radPr>
                      <m:deg/>
                      <m:e>
                        <m:sSup>
                          <m:e>
                            <m:r>
                              <a:rPr lang="en-IN" sz="2400" i="1">
                                <a:solidFill>
                                  <a:srgbClr val="78350F"/>
                                </a:solidFill>
                                <a:latin typeface="Cambria Math" panose="02040503050406030204" pitchFamily="18" charset="0"/>
                              </a:rPr>
                              <m:t>𝑥</m:t>
                            </m:r>
                          </m:e>
                          <m:sup>
                            <m:r>
                              <a:rPr lang="en-IN" sz="2400" i="1">
                                <a:solidFill>
                                  <a:srgbClr val="78350F"/>
                                </a:solidFill>
                                <a:latin typeface="Cambria Math" panose="02040503050406030204" pitchFamily="18" charset="0"/>
                              </a:rPr>
                              <m:t>2</m:t>
                            </m:r>
                          </m:sup>
                        </m:sSup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−</m:t>
                        </m:r>
                        <m: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e>
                    </m:rad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 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𝑑</m:t>
                        </m:r>
                        <m: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𝑦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𝑑</m:t>
                        </m:r>
                        <m: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</m:den>
                    </m:f>
                  </m:oMath>
                </a14:m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, which turns the next derivative into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25</m:t>
                    </m:r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𝑦</m:t>
                    </m:r>
                  </m:oMath>
                </a14:m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.</a:t>
                </a:r>
                <a:endParaRPr sz="2400">
                  <a:solidFill>
                    <a:srgbClr val="78350F"/>
                  </a:solidFill>
                </a:endParaRPr>
              </a:p>
            </p:txBody>
          </p:sp>
        </mc:Choice>
        <mc:Fallback>
          <p:sp>
            <p:nvSpPr>
              <p:cNvPr id="4" name="Rounded Rectangle 3"/>
              <p:cNvSpPr/>
              <p:nvPr/>
            </p:nvSpPr>
            <p:spPr>
              <a:xfrm>
                <a:off x="731520" y="1280160"/>
                <a:ext cx="10725912" cy="1219200"/>
              </a:xfrm>
              <a:prstGeom prst="roundRect">
                <a:avLst>
                  <a:gd name="adj" fmla="val 8000"/>
                </a:avLst>
              </a:prstGeom>
              <a:solidFill>
                <a:srgbClr val="FDE68A"/>
              </a:solidFill>
              <a:ln w="31750">
                <a:solidFill>
                  <a:srgbClr val="D97706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78350F"/>
              </a:fontRef>
            </p:style>
            <p:txBody>
              <a:bodyPr rtlCol="0" anchor="ctr" wrap="square" lIns="228600" rIns="228600" tIns="54864" bIns="73152"/>
              <a:lstStyle>
                <a:lvl1pPr>
                  <a:defRPr sz="2400">
                    <a:solidFill>
                      <a:srgbClr val="78350F"/>
                    </a:solidFill>
                  </a:defRPr>
                </a:lvl1pPr>
              </a:lstStyle>
              <a:p>
                <a:pPr algn="l">
                  <a:defRPr sz="2400">
                    <a:solidFill>
                      <a:srgbClr val="78350F"/>
                    </a:solidFill>
                  </a:defRPr>
                </a:pPr>
                <a:r>
                  <a:rPr sz="2400" b="1">
                    <a:solidFill>
                      <a:srgbClr val="78350F"/>
                    </a:solidFill>
                    <a:latin typeface="Arial"/>
                  </a:rPr>
                  <a:t>Key idea:  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Differentiating with respect to </a:t>
                </a:r>
                <a:r>
                  <a:rPr lang="en-IN" sz="2400">
                    <a:solidFill>
                      <a:srgbClr val="78350F"/>
                    </a:solidFill>
                    <a:latin typeface="Cambria Math" panose="02040503050406030204" pitchFamily="18" charset="0"/>
                  </a:rPr>
                  <a:t>$y$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 gives </a:t>
                </a:r>
                <a:r>
                  <a:rPr lang="en-IN" sz="2400">
                    <a:solidFill>
                      <a:srgbClr val="78350F"/>
                    </a:solidFill>
                    <a:latin typeface="Cambria Math" panose="02040503050406030204" pitchFamily="18" charset="0"/>
                  </a:rPr>
                  <a:t>$5y=\sqrt{x^2-1}\,\frac{dy}{dx}$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, which turns the next derivative into </a:t>
                </a:r>
                <a:r>
                  <a:rPr lang="en-IN" sz="2400">
                    <a:solidFill>
                      <a:srgbClr val="78350F"/>
                    </a:solidFill>
                    <a:latin typeface="Cambria Math" panose="02040503050406030204" pitchFamily="18" charset="0"/>
                  </a:rPr>
                  <a:t>$25y$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.</a:t>
                </a:r>
                <a:endParaRPr sz="2400">
                  <a:solidFill>
                    <a:srgbClr val="78350F"/>
                  </a:solidFill>
                </a:endParaRP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5" name="Rectangle 4"/>
              <p:cNvSpPr/>
              <p:nvPr/>
            </p:nvSpPr>
            <p:spPr>
              <a:xfrm>
                <a:off x="731520" y="2636520"/>
                <a:ext cx="10725912" cy="4038599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Differentiate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𝑦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/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5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𝑦</m:t>
                        </m:r>
                      </m:e>
                      <m:sup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−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/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5</m:t>
                        </m:r>
                      </m:sup>
                    </m:sSup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with respect to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𝑦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: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𝑑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𝑑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𝑦</m:t>
                        </m:r>
                      </m:den>
                    </m:f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5</m:t>
                        </m:r>
                      </m:den>
                    </m:f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𝑦</m:t>
                        </m:r>
                      </m:e>
                      <m:sup>
                        <m:f>
                          <m:fPr>
                            <m:type m:val="bar"/>
                            <m:ctrlP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fPr>
                          <m:num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1</m:t>
                            </m:r>
                          </m:num>
                          <m:den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5</m:t>
                            </m:r>
                          </m:den>
                        </m:f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−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5</m:t>
                        </m:r>
                      </m:den>
                    </m:f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𝑦</m:t>
                        </m:r>
                      </m:e>
                      <m:sup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−</m:t>
                        </m:r>
                        <m:f>
                          <m:fPr>
                            <m:type m:val="bar"/>
                            <m:ctrlP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fPr>
                          <m:num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1</m:t>
                            </m:r>
                          </m:num>
                          <m:den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5</m:t>
                            </m:r>
                          </m:den>
                        </m:f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−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5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𝑦</m:t>
                        </m:r>
                      </m:den>
                    </m:f>
                    <m:d>
                      <m:dPr>
                        <m:begChr m:val="("/>
                        <m:sepChr m:val=""/>
                        <m:endChr m:val=")"/>
                        <m:grow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sSup>
                          <m:e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𝑦</m:t>
                            </m:r>
                          </m:e>
                          <m:sup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1</m:t>
                            </m:r>
                            <m:r>
                              <m:rPr>
                                <m:sty m:val="p"/>
                              </m:rPr>
                              <a:rPr lang="en-IN" sz="2400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/</m:t>
                            </m:r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5</m:t>
                            </m:r>
                          </m:sup>
                        </m:sSup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−</m:t>
                        </m:r>
                        <m:sSup>
                          <m:e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𝑦</m:t>
                            </m:r>
                          </m:e>
                          <m:sup>
                            <m:r>
                              <m:rPr>
                                <m:sty m:val="p"/>
                              </m:rPr>
                              <a:rPr lang="en-IN" sz="2400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−</m:t>
                            </m:r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1</m:t>
                            </m:r>
                            <m:r>
                              <m:rPr>
                                <m:sty m:val="p"/>
                              </m:rPr>
                              <a:rPr lang="en-IN" sz="2400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/</m:t>
                            </m:r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5</m:t>
                            </m:r>
                          </m:sup>
                        </m:sSup>
                      </m:e>
                    </m:d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14:m>
                  <m:oMath xmlns:m="http://schemas.openxmlformats.org/officeDocument/2006/math"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𝑦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/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5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𝑦</m:t>
                        </m:r>
                      </m:e>
                      <m:sup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−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/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5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ad>
                      <m:radPr>
                        <m:degHide m:val="on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radPr>
                      <m:deg/>
                      <m:e>
                        <m:sSup>
                          <m:e>
                            <m:d>
                              <m:dPr>
                                <m:begChr m:val="("/>
                                <m:sepChr m:val=""/>
                                <m:endChr m:val=")"/>
                                <m:grow/>
                                <m:ctrlPr>
                                  <a:rPr lang="en-IN" sz="2400" i="1">
                                    <a:solidFill>
                                      <a:srgbClr val="111827"/>
                                    </a:solidFill>
                                    <a:latin typeface="Cambria Math" panose="02040503050406030204" pitchFamily="18" charset="0"/>
                                  </a:rPr>
                                </m:ctrlPr>
                              </m:dPr>
                              <m:e>
                                <m:sSup>
                                  <m:e>
                                    <m:r>
                                      <a:rPr lang="en-IN" sz="2400" i="1">
                                        <a:solidFill>
                                          <a:srgbClr val="111827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𝑦</m:t>
                                    </m:r>
                                  </m:e>
                                  <m:sup>
                                    <m:r>
                                      <a:rPr lang="en-IN" sz="2400" i="1">
                                        <a:solidFill>
                                          <a:srgbClr val="111827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1</m:t>
                                    </m:r>
                                    <m:r>
                                      <m:rPr>
                                        <m:sty m:val="p"/>
                                      </m:rPr>
                                      <a:rPr lang="en-IN" sz="2400">
                                        <a:solidFill>
                                          <a:srgbClr val="111827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/</m:t>
                                    </m:r>
                                    <m:r>
                                      <a:rPr lang="en-IN" sz="2400" i="1">
                                        <a:solidFill>
                                          <a:srgbClr val="111827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5</m:t>
                                    </m:r>
                                  </m:sup>
                                </m:sSup>
                                <m:r>
                                  <m:rPr>
                                    <m:sty m:val="p"/>
                                  </m:rPr>
                                  <a:rPr lang="en-IN" sz="2400">
                                    <a:solidFill>
                                      <a:srgbClr val="111827"/>
                                    </a:solidFill>
                                    <a:latin typeface="Cambria Math" panose="02040503050406030204" pitchFamily="18" charset="0"/>
                                  </a:rPr>
                                  <m:t>+</m:t>
                                </m:r>
                                <m:sSup>
                                  <m:e>
                                    <m:r>
                                      <a:rPr lang="en-IN" sz="2400" i="1">
                                        <a:solidFill>
                                          <a:srgbClr val="111827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𝑦</m:t>
                                    </m:r>
                                  </m:e>
                                  <m:sup>
                                    <m:r>
                                      <m:rPr>
                                        <m:sty m:val="p"/>
                                      </m:rPr>
                                      <a:rPr lang="en-IN" sz="2400">
                                        <a:solidFill>
                                          <a:srgbClr val="111827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−</m:t>
                                    </m:r>
                                    <m:r>
                                      <a:rPr lang="en-IN" sz="2400" i="1">
                                        <a:solidFill>
                                          <a:srgbClr val="111827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1</m:t>
                                    </m:r>
                                    <m:r>
                                      <m:rPr>
                                        <m:sty m:val="p"/>
                                      </m:rPr>
                                      <a:rPr lang="en-IN" sz="2400">
                                        <a:solidFill>
                                          <a:srgbClr val="111827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/</m:t>
                                    </m:r>
                                    <m:r>
                                      <a:rPr lang="en-IN" sz="2400" i="1">
                                        <a:solidFill>
                                          <a:srgbClr val="111827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5</m:t>
                                    </m:r>
                                  </m:sup>
                                </m:sSup>
                              </m:e>
                            </m:d>
                          </m:e>
                          <m:sup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2</m:t>
                            </m:r>
                          </m:sup>
                        </m:sSup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−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4</m:t>
                        </m:r>
                      </m:e>
                    </m:rad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ad>
                      <m:radPr>
                        <m:degHide m:val="on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radPr>
                      <m:deg/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4</m:t>
                        </m:r>
                        <m:sSup>
                          <m:e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𝑥</m:t>
                            </m:r>
                          </m:e>
                          <m:sup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2</m:t>
                            </m:r>
                          </m:sup>
                        </m:sSup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−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4</m:t>
                        </m:r>
                      </m:e>
                    </m:rad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So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10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𝑦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𝑑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𝑑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𝑦</m:t>
                        </m:r>
                      </m:den>
                    </m:f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ad>
                      <m:radPr>
                        <m:degHide m:val="on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radPr>
                      <m:deg/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4</m:t>
                        </m:r>
                        <m:sSup>
                          <m:e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𝑥</m:t>
                            </m:r>
                          </m:e>
                          <m:sup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2</m:t>
                            </m:r>
                          </m:sup>
                        </m:sSup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−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4</m:t>
                        </m:r>
                      </m:e>
                    </m:rad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  <m:rad>
                      <m:radPr>
                        <m:degHide m:val="on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radPr>
                      <m:deg/>
                      <m:e>
                        <m:sSup>
                          <m:e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𝑥</m:t>
                            </m:r>
                          </m:e>
                          <m:sup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2</m:t>
                            </m:r>
                          </m:sup>
                        </m:sSup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−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e>
                    </m:rad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i.e.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5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𝑦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ad>
                      <m:radPr>
                        <m:degHide m:val="on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radPr>
                      <m:deg/>
                      <m:e>
                        <m:sSup>
                          <m:e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𝑥</m:t>
                            </m:r>
                          </m:e>
                          <m:sup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2</m:t>
                            </m:r>
                          </m:sup>
                        </m:sSup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−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e>
                    </m:rad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 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𝑑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𝑦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𝑑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</m:den>
                    </m:f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 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Differentiate (1) with respect to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: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5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𝑑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𝑦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𝑑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</m:den>
                    </m:f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ad>
                      <m:radPr>
                        <m:degHide m:val="on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radPr>
                      <m:deg/>
                      <m:e>
                        <m:sSup>
                          <m:e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𝑥</m:t>
                            </m:r>
                          </m:e>
                          <m:sup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2</m:t>
                            </m:r>
                          </m:sup>
                        </m:sSup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−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e>
                    </m:rad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sSup>
                          <m:e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𝑑</m:t>
                            </m:r>
                          </m:e>
                          <m:sup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2</m:t>
                            </m:r>
                          </m:sup>
                        </m:s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𝑦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𝑑</m:t>
                        </m:r>
                        <m:sSup>
                          <m:e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𝑥</m:t>
                            </m:r>
                          </m:e>
                          <m:sup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2</m:t>
                            </m:r>
                          </m:sup>
                        </m:sSup>
                      </m:den>
                    </m:f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</m:num>
                      <m:den>
                        <m:rad>
                          <m:radPr>
                            <m:degHide m:val="on"/>
                            <m:ctrlP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radPr>
                          <m:deg/>
                          <m:e>
                            <m:sSup>
                              <m:e>
                                <m:r>
                                  <a:rPr lang="en-IN" sz="2400" i="1">
                                    <a:solidFill>
                                      <a:srgbClr val="111827"/>
                                    </a:solidFill>
                                    <a:latin typeface="Cambria Math" panose="02040503050406030204" pitchFamily="18" charset="0"/>
                                  </a:rPr>
                                  <m:t>𝑥</m:t>
                                </m:r>
                              </m:e>
                              <m:sup>
                                <m:r>
                                  <a:rPr lang="en-IN" sz="2400" i="1">
                                    <a:solidFill>
                                      <a:srgbClr val="111827"/>
                                    </a:solidFill>
                                    <a:latin typeface="Cambria Math" panose="02040503050406030204" pitchFamily="18" charset="0"/>
                                  </a:rPr>
                                  <m:t>2</m:t>
                                </m:r>
                              </m:sup>
                            </m:sSup>
                            <m:r>
                              <m:rPr>
                                <m:sty m:val="p"/>
                              </m:rPr>
                              <a:rPr lang="en-IN" sz="2400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−</m:t>
                            </m:r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1</m:t>
                            </m:r>
                          </m:e>
                        </m:rad>
                      </m:den>
                    </m:f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𝑑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𝑦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𝑑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</m:den>
                    </m:f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Choice>
        <mc:Fallback>
          <p:sp>
            <p:nvSpPr>
              <p:cNvPr id="5" name="Rectangle 4"/>
              <p:cNvSpPr/>
              <p:nvPr/>
            </p:nvSpPr>
            <p:spPr>
              <a:xfrm>
                <a:off x="731520" y="2636520"/>
                <a:ext cx="10725912" cy="4038599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Differentiate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$2x=y^{1/5}+y^{-1/5}$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with respect to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$y$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: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$2\frac{dx}{dy}=\frac15y^{\frac15-1}-\frac15y^{-\frac15-1}=\frac{1}{5y}\left(y^{1/5}-y^{-1/5}\right)$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$y^{1/5}-y^{-1/5}=\sqrt{\left(y^{1/5}+y^{-1/5}\right)^2-4}=\sqrt{4x^2-4}$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So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$10y\frac{dx}{dy}=\sqrt{4x^2-4}=2\sqrt{x^2-1}$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i.e.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$5y=\sqrt{x^2-1}\,\frac{dy}{dx}$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$\quad(1)$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Differentiate (1) with respect to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$x$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: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$5\frac{dy}{dx}=\sqrt{x^2-1}\frac{d^2y}{dx^2}+\frac{x}{\sqrt{x^2-1}}\frac{dy}{dx}$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Fallback>
      </mc:AlternateContent>
    </p:spTree>
  </p:cSld>
  <p:clrMapOvr>
    <a:masterClrMapping/>
  </p:clrMapOvr>
</p:sld>
</file>

<file path=ppt/slides/slide1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FFFFFF"/>
          </a:fontRef>
        </p:style>
        <p:txBody>
          <a:bodyPr rtlCol="0" anchor="ctr" lIns="731520"/>
          <a:lstStyle>
            <a:lvl1pPr>
              <a:defRPr sz="3200">
                <a:solidFill>
                  <a:srgbClr val="FFFFFF"/>
                </a:solidFill>
              </a:defRPr>
            </a:lvl1pPr>
          </a:lstStyle>
          <a:p>
            <a:pPr algn="l">
              <a:defRPr sz="3200">
                <a:solidFill>
                  <a:srgbClr val="FFFFFF"/>
                </a:solidFill>
              </a:defRPr>
            </a:pPr>
            <a:r>
              <a:rPr sz="3200" b="1">
                <a:solidFill>
                  <a:srgbClr val="FFFFFF"/>
                </a:solidFill>
                <a:latin typeface="Arial"/>
              </a:rPr>
              <a:t>Question 03</a:t>
            </a:r>
            <a:endParaRPr sz="3200">
              <a:solidFill>
                <a:srgbClr val="FFFFFF"/>
              </a:solidFill>
            </a:endParaRPr>
          </a:p>
        </p:txBody>
      </p:sp>
      <p:sp>
        <p:nvSpPr>
          <p:cNvPr id="3" name="Rounded Rectangle 2"/>
          <p:cNvSpPr/>
          <p:nvPr/>
        </p:nvSpPr>
        <p:spPr>
          <a:xfrm>
            <a:off x="7894015" y="246887"/>
            <a:ext cx="3840480" cy="603504"/>
          </a:xfrm>
          <a:prstGeom prst="roundRect">
            <a:avLst>
              <a:gd name="adj" fmla="val 50000"/>
            </a:avLst>
          </a:prstGeom>
          <a:solidFill>
            <a:srgbClr val="FFD966"/>
          </a:solidFill>
          <a:ln w="1905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111827"/>
          </a:fontRef>
        </p:style>
        <p:txBody>
          <a:bodyPr rtlCol="0" anchor="ctr" wrap="square" lIns="228600" rIns="228600" tIns="18288" bIns="18288"/>
          <a:lstStyle>
            <a:lvl1pPr>
              <a:defRPr sz="2400">
                <a:solidFill>
                  <a:srgbClr val="111827"/>
                </a:solidFill>
              </a:defRPr>
            </a:lvl1pPr>
          </a:lstStyle>
          <a:p>
            <a:pPr algn="ctr">
              <a:defRPr sz="2400">
                <a:solidFill>
                  <a:srgbClr val="111827"/>
                </a:solidFill>
              </a:defRPr>
            </a:pPr>
            <a:r>
              <a:rPr sz="2400" b="1">
                <a:solidFill>
                  <a:srgbClr val="111827"/>
                </a:solidFill>
                <a:latin typeface="Arial"/>
              </a:rPr>
              <a:t>Level 2  ·  4 Marks</a:t>
            </a:r>
            <a:endParaRPr sz="2400">
              <a:solidFill>
                <a:srgbClr val="111827"/>
              </a:solidFill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4" name="Rectangle 3"/>
              <p:cNvSpPr/>
              <p:nvPr/>
            </p:nvSpPr>
            <p:spPr>
              <a:xfrm>
                <a:off x="731520" y="1353312"/>
                <a:ext cx="10725912" cy="4434840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Multiply by </a:t>
                </a:r>
                <a14:m>
                  <m:oMath xmlns:m="http://schemas.openxmlformats.org/officeDocument/2006/math">
                    <m:rad>
                      <m:radPr>
                        <m:degHide m:val="on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radPr>
                      <m:deg/>
                      <m:e>
                        <m:sSup>
                          <m:e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𝑥</m:t>
                            </m:r>
                          </m:e>
                          <m:sup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2</m:t>
                            </m:r>
                          </m:sup>
                        </m:sSup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−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e>
                    </m:rad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: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sSup>
                          <m:e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𝑑</m:t>
                            </m:r>
                          </m:e>
                          <m:sup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2</m:t>
                            </m:r>
                          </m:sup>
                        </m:s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𝑦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𝑑</m:t>
                        </m:r>
                        <m:sSup>
                          <m:e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𝑥</m:t>
                            </m:r>
                          </m:e>
                          <m:sup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2</m:t>
                            </m:r>
                          </m:sup>
                        </m:sSup>
                      </m:den>
                    </m:f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𝑑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𝑦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𝑑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</m:den>
                    </m:f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5</m:t>
                    </m:r>
                    <m:rad>
                      <m:radPr>
                        <m:degHide m:val="on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radPr>
                      <m:deg/>
                      <m:e>
                        <m:sSup>
                          <m:e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𝑥</m:t>
                            </m:r>
                          </m:e>
                          <m:sup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2</m:t>
                            </m:r>
                          </m:sup>
                        </m:sSup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−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e>
                    </m:rad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 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𝑑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𝑦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𝑑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</m:den>
                    </m:f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By (1), </a:t>
                </a:r>
                <a14:m>
                  <m:oMath xmlns:m="http://schemas.openxmlformats.org/officeDocument/2006/math">
                    <m:rad>
                      <m:radPr>
                        <m:degHide m:val="on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radPr>
                      <m:deg/>
                      <m:e>
                        <m:sSup>
                          <m:e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𝑥</m:t>
                            </m:r>
                          </m:e>
                          <m:sup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2</m:t>
                            </m:r>
                          </m:sup>
                        </m:sSup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−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e>
                    </m:rad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 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𝑑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𝑦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𝑑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</m:den>
                    </m:f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5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𝑦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so the right side is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25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𝑦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Hence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𝑘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25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Choice>
        <mc:Fallback>
          <p:sp>
            <p:nvSpPr>
              <p:cNvPr id="4" name="Rectangle 3"/>
              <p:cNvSpPr/>
              <p:nvPr/>
            </p:nvSpPr>
            <p:spPr>
              <a:xfrm>
                <a:off x="731520" y="1353312"/>
                <a:ext cx="10725912" cy="4434840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Multiply by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$\sqrt{x^2-1}$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: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$(x^2-1)\frac{d^2y}{dx^2}+x\frac{dy}{dx}=5\sqrt{x^2-1}\,\frac{dy}{dx}$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By (1),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$\sqrt{x^2-1}\,\frac{dy}{dx}=5y$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so the right side is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$25y$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Hence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$k=25$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5" name="Rounded Rectangle 4"/>
              <p:cNvSpPr/>
              <p:nvPr/>
            </p:nvSpPr>
            <p:spPr>
              <a:xfrm>
                <a:off x="731520" y="5897880"/>
                <a:ext cx="10725912" cy="777240"/>
              </a:xfrm>
              <a:prstGeom prst="roundRect">
                <a:avLst>
                  <a:gd name="adj" fmla="val 8000"/>
                </a:avLst>
              </a:prstGeom>
              <a:solidFill>
                <a:srgbClr val="DCFCE7"/>
              </a:solidFill>
              <a:ln w="25400">
                <a:solidFill>
                  <a:srgbClr val="15803D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5803D"/>
              </a:fontRef>
            </p:style>
            <p:txBody>
              <a:bodyPr rtlCol="0" anchor="ctr" wrap="square" lIns="228600" rIns="228600" tIns="18288" bIns="73152"/>
              <a:lstStyle>
                <a:lvl1pPr>
                  <a:defRPr sz="2800">
                    <a:solidFill>
                      <a:srgbClr val="15803D"/>
                    </a:solidFill>
                  </a:defRPr>
                </a:lvl1pPr>
              </a:lstStyle>
              <a:p>
                <a:pPr algn="ctr">
                  <a:defRPr sz="2800">
                    <a:solidFill>
                      <a:srgbClr val="15803D"/>
                    </a:solidFill>
                  </a:defRPr>
                </a:pPr>
                <a:r>
                  <a:rPr sz="2800" b="1">
                    <a:solidFill>
                      <a:srgbClr val="15803D"/>
                    </a:solidFill>
                    <a:latin typeface="Arial"/>
                  </a:rPr>
                  <a:t>Correct Answer: </a:t>
                </a:r>
                <a14:m>
                  <m:oMath xmlns:m="http://schemas.openxmlformats.org/officeDocument/2006/math">
                    <m:r>
                      <a:rPr lang="en-IN" sz="2800" i="1">
                        <a:solidFill>
                          <a:srgbClr val="15803D"/>
                        </a:solidFill>
                        <a:latin typeface="Cambria Math" panose="02040503050406030204" pitchFamily="18" charset="0"/>
                      </a:rPr>
                      <m:t>𝑘</m:t>
                    </m:r>
                    <m:r>
                      <m:rPr>
                        <m:sty m:val="p"/>
                      </m:rPr>
                      <a:rPr lang="en-IN" sz="2800">
                        <a:solidFill>
                          <a:srgbClr val="15803D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800" i="1">
                        <a:solidFill>
                          <a:srgbClr val="15803D"/>
                        </a:solidFill>
                        <a:latin typeface="Cambria Math" panose="02040503050406030204" pitchFamily="18" charset="0"/>
                      </a:rPr>
                      <m:t>25</m:t>
                    </m:r>
                  </m:oMath>
                </a14:m>
                <a:endParaRPr sz="2800">
                  <a:solidFill>
                    <a:srgbClr val="15803D"/>
                  </a:solidFill>
                </a:endParaRPr>
              </a:p>
            </p:txBody>
          </p:sp>
        </mc:Choice>
        <mc:Fallback>
          <p:sp>
            <p:nvSpPr>
              <p:cNvPr id="5" name="Rounded Rectangle 4"/>
              <p:cNvSpPr/>
              <p:nvPr/>
            </p:nvSpPr>
            <p:spPr>
              <a:xfrm>
                <a:off x="731520" y="5897880"/>
                <a:ext cx="10725912" cy="777240"/>
              </a:xfrm>
              <a:prstGeom prst="roundRect">
                <a:avLst>
                  <a:gd name="adj" fmla="val 8000"/>
                </a:avLst>
              </a:prstGeom>
              <a:solidFill>
                <a:srgbClr val="DCFCE7"/>
              </a:solidFill>
              <a:ln w="25400">
                <a:solidFill>
                  <a:srgbClr val="15803D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5803D"/>
              </a:fontRef>
            </p:style>
            <p:txBody>
              <a:bodyPr rtlCol="0" anchor="ctr" wrap="square" lIns="228600" rIns="228600" tIns="18288" bIns="73152"/>
              <a:lstStyle>
                <a:lvl1pPr>
                  <a:defRPr sz="2800">
                    <a:solidFill>
                      <a:srgbClr val="15803D"/>
                    </a:solidFill>
                  </a:defRPr>
                </a:lvl1pPr>
              </a:lstStyle>
              <a:p>
                <a:pPr algn="ctr">
                  <a:defRPr sz="2800">
                    <a:solidFill>
                      <a:srgbClr val="15803D"/>
                    </a:solidFill>
                  </a:defRPr>
                </a:pPr>
                <a:r>
                  <a:rPr sz="2800" b="1">
                    <a:solidFill>
                      <a:srgbClr val="15803D"/>
                    </a:solidFill>
                    <a:latin typeface="Arial"/>
                  </a:rPr>
                  <a:t>Correct Answer: </a:t>
                </a:r>
                <a:r>
                  <a:rPr lang="en-IN" sz="2800">
                    <a:solidFill>
                      <a:srgbClr val="15803D"/>
                    </a:solidFill>
                    <a:latin typeface="Cambria Math" panose="02040503050406030204" pitchFamily="18" charset="0"/>
                  </a:rPr>
                  <a:t>$k=25$</a:t>
                </a:r>
                <a:endParaRPr sz="2800">
                  <a:solidFill>
                    <a:srgbClr val="15803D"/>
                  </a:solidFill>
                </a:endParaRPr>
              </a:p>
            </p:txBody>
          </p:sp>
        </mc:Fallback>
      </mc:AlternateContent>
    </p:spTree>
  </p:cSld>
  <p:clrMapOvr>
    <a:masterClrMapping/>
  </p:clrMapOvr>
</p:sld>
</file>

<file path=ppt/slides/slide1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FFFFFF"/>
          </a:fontRef>
        </p:style>
        <p:txBody>
          <a:bodyPr rtlCol="0" anchor="ctr" lIns="731520"/>
          <a:lstStyle>
            <a:lvl1pPr>
              <a:defRPr sz="3200">
                <a:solidFill>
                  <a:srgbClr val="FFFFFF"/>
                </a:solidFill>
              </a:defRPr>
            </a:lvl1pPr>
          </a:lstStyle>
          <a:p>
            <a:pPr algn="l">
              <a:defRPr sz="3200">
                <a:solidFill>
                  <a:srgbClr val="FFFFFF"/>
                </a:solidFill>
              </a:defRPr>
            </a:pPr>
            <a:r>
              <a:rPr sz="3200" b="1">
                <a:solidFill>
                  <a:srgbClr val="FFFFFF"/>
                </a:solidFill>
                <a:latin typeface="Arial"/>
              </a:rPr>
              <a:t>Question 03</a:t>
            </a:r>
            <a:endParaRPr sz="3200">
              <a:solidFill>
                <a:srgbClr val="FFFFFF"/>
              </a:solidFill>
            </a:endParaRPr>
          </a:p>
        </p:txBody>
      </p:sp>
      <p:sp>
        <p:nvSpPr>
          <p:cNvPr id="3" name="Rounded Rectangle 2"/>
          <p:cNvSpPr/>
          <p:nvPr/>
        </p:nvSpPr>
        <p:spPr>
          <a:xfrm>
            <a:off x="7894015" y="246887"/>
            <a:ext cx="3840480" cy="603504"/>
          </a:xfrm>
          <a:prstGeom prst="roundRect">
            <a:avLst>
              <a:gd name="adj" fmla="val 50000"/>
            </a:avLst>
          </a:prstGeom>
          <a:solidFill>
            <a:srgbClr val="FFD966"/>
          </a:solidFill>
          <a:ln w="1905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111827"/>
          </a:fontRef>
        </p:style>
        <p:txBody>
          <a:bodyPr rtlCol="0" anchor="ctr" wrap="square" lIns="228600" rIns="228600" tIns="18288" bIns="18288"/>
          <a:lstStyle>
            <a:lvl1pPr>
              <a:defRPr sz="2400">
                <a:solidFill>
                  <a:srgbClr val="111827"/>
                </a:solidFill>
              </a:defRPr>
            </a:lvl1pPr>
          </a:lstStyle>
          <a:p>
            <a:pPr algn="ctr">
              <a:defRPr sz="2400">
                <a:solidFill>
                  <a:srgbClr val="111827"/>
                </a:solidFill>
              </a:defRPr>
            </a:pPr>
            <a:r>
              <a:rPr sz="2400" b="1">
                <a:solidFill>
                  <a:srgbClr val="111827"/>
                </a:solidFill>
                <a:latin typeface="Arial"/>
              </a:rPr>
              <a:t>Level 2  ·  4 Marks</a:t>
            </a:r>
            <a:endParaRPr sz="2400">
              <a:solidFill>
                <a:srgbClr val="111827"/>
              </a:solidFill>
            </a:endParaRPr>
          </a:p>
        </p:txBody>
      </p:sp>
      <p:sp>
        <p:nvSpPr>
          <p:cNvPr id="4" name="Rounded Rectangle 3"/>
          <p:cNvSpPr/>
          <p:nvPr/>
        </p:nvSpPr>
        <p:spPr>
          <a:xfrm>
            <a:off x="3520440" y="265176"/>
            <a:ext cx="4206240" cy="566928"/>
          </a:xfrm>
          <a:prstGeom prst="roundRect">
            <a:avLst>
              <a:gd name="adj" fmla="val 50000"/>
            </a:avLst>
          </a:prstGeom>
          <a:solidFill>
            <a:srgbClr val="FDE68A"/>
          </a:solidFill>
          <a:ln w="25400">
            <a:solidFill>
              <a:srgbClr val="D9770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78350F"/>
          </a:fontRef>
        </p:style>
        <p:txBody>
          <a:bodyPr rtlCol="0" anchor="ctr" wrap="square" lIns="228600" rIns="228600" tIns="18288" bIns="18288"/>
          <a:lstStyle>
            <a:lvl1pPr>
              <a:defRPr sz="2200">
                <a:solidFill>
                  <a:srgbClr val="78350F"/>
                </a:solidFill>
              </a:defRPr>
            </a:lvl1pPr>
          </a:lstStyle>
          <a:p>
            <a:pPr algn="ctr">
              <a:defRPr sz="2200">
                <a:solidFill>
                  <a:srgbClr val="78350F"/>
                </a:solidFill>
              </a:defRPr>
            </a:pPr>
            <a:r>
              <a:rPr sz="2200" b="1">
                <a:solidFill>
                  <a:srgbClr val="78350F"/>
                </a:solidFill>
                <a:latin typeface="Arial"/>
              </a:rPr>
              <a:t>Alternate Solution</a:t>
            </a:r>
            <a:endParaRPr sz="2200">
              <a:solidFill>
                <a:srgbClr val="78350F"/>
              </a:solidFill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5" name="Rounded Rectangle 4"/>
              <p:cNvSpPr/>
              <p:nvPr/>
            </p:nvSpPr>
            <p:spPr>
              <a:xfrm>
                <a:off x="731520" y="1280160"/>
                <a:ext cx="10725912" cy="1219200"/>
              </a:xfrm>
              <a:prstGeom prst="roundRect">
                <a:avLst>
                  <a:gd name="adj" fmla="val 8000"/>
                </a:avLst>
              </a:prstGeom>
              <a:solidFill>
                <a:srgbClr val="FDE68A"/>
              </a:solidFill>
              <a:ln w="31750">
                <a:solidFill>
                  <a:srgbClr val="D97706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78350F"/>
              </a:fontRef>
            </p:style>
            <p:txBody>
              <a:bodyPr rtlCol="0" anchor="ctr" wrap="square" lIns="228600" rIns="228600" tIns="54864" bIns="73152"/>
              <a:lstStyle>
                <a:lvl1pPr>
                  <a:defRPr sz="2400">
                    <a:solidFill>
                      <a:srgbClr val="78350F"/>
                    </a:solidFill>
                  </a:defRPr>
                </a:lvl1pPr>
              </a:lstStyle>
              <a:p>
                <a:pPr algn="l">
                  <a:defRPr sz="2400">
                    <a:solidFill>
                      <a:srgbClr val="78350F"/>
                    </a:solidFill>
                  </a:defRPr>
                </a:pPr>
                <a:r>
                  <a:rPr sz="2400" b="1">
                    <a:solidFill>
                      <a:srgbClr val="78350F"/>
                    </a:solidFill>
                    <a:latin typeface="Arial"/>
                  </a:rPr>
                  <a:t>Idea:  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Put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cosh</m:t>
                    </m:r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𝑡</m:t>
                    </m:r>
                  </m:oMath>
                </a14:m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: then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𝑦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=</m:t>
                    </m:r>
                    <m:sSup>
                      <m:e>
                        <m: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𝑒</m:t>
                        </m:r>
                      </m:e>
                      <m:sup>
                        <m: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5</m:t>
                        </m:r>
                        <m: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𝑡</m:t>
                        </m:r>
                      </m:sup>
                    </m:sSup>
                  </m:oMath>
                </a14:m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, and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(</m:t>
                    </m:r>
                    <m:sSup>
                      <m:e>
                        <m: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  <m:sup>
                        <m: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1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)</m:t>
                    </m:r>
                    <m:sSup>
                      <m:e>
                        <m: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𝑦</m:t>
                        </m:r>
                      </m:e>
                      <m:sup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″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sSup>
                      <m:e>
                        <m: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𝑦</m:t>
                        </m:r>
                      </m:e>
                      <m:sup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′</m:t>
                        </m:r>
                      </m:sup>
                    </m:sSup>
                  </m:oMath>
                </a14:m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 is exactly </a:t>
                </a:r>
                <a14:m>
                  <m:oMath xmlns:m="http://schemas.openxmlformats.org/officeDocument/2006/math"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sSup>
                          <m:e>
                            <m:r>
                              <a:rPr lang="en-IN" sz="2400" i="1">
                                <a:solidFill>
                                  <a:srgbClr val="78350F"/>
                                </a:solidFill>
                                <a:latin typeface="Cambria Math" panose="02040503050406030204" pitchFamily="18" charset="0"/>
                              </a:rPr>
                              <m:t>𝑑</m:t>
                            </m:r>
                          </m:e>
                          <m:sup>
                            <m:r>
                              <a:rPr lang="en-IN" sz="2400" i="1">
                                <a:solidFill>
                                  <a:srgbClr val="78350F"/>
                                </a:solidFill>
                                <a:latin typeface="Cambria Math" panose="02040503050406030204" pitchFamily="18" charset="0"/>
                              </a:rPr>
                              <m:t>2</m:t>
                            </m:r>
                          </m:sup>
                        </m:sSup>
                        <m: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𝑦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𝑑</m:t>
                        </m:r>
                        <m:sSup>
                          <m:e>
                            <m:r>
                              <a:rPr lang="en-IN" sz="2400" i="1">
                                <a:solidFill>
                                  <a:srgbClr val="78350F"/>
                                </a:solidFill>
                                <a:latin typeface="Cambria Math" panose="02040503050406030204" pitchFamily="18" charset="0"/>
                              </a:rPr>
                              <m:t>𝑡</m:t>
                            </m:r>
                          </m:e>
                          <m:sup>
                            <m:r>
                              <a:rPr lang="en-IN" sz="2400" i="1">
                                <a:solidFill>
                                  <a:srgbClr val="78350F"/>
                                </a:solidFill>
                                <a:latin typeface="Cambria Math" panose="02040503050406030204" pitchFamily="18" charset="0"/>
                              </a:rPr>
                              <m:t>2</m:t>
                            </m:r>
                          </m:sup>
                        </m:sSup>
                      </m:den>
                    </m:f>
                  </m:oMath>
                </a14:m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.</a:t>
                </a:r>
                <a:endParaRPr sz="2400">
                  <a:solidFill>
                    <a:srgbClr val="78350F"/>
                  </a:solidFill>
                </a:endParaRPr>
              </a:p>
            </p:txBody>
          </p:sp>
        </mc:Choice>
        <mc:Fallback>
          <p:sp>
            <p:nvSpPr>
              <p:cNvPr id="5" name="Rounded Rectangle 4"/>
              <p:cNvSpPr/>
              <p:nvPr/>
            </p:nvSpPr>
            <p:spPr>
              <a:xfrm>
                <a:off x="731520" y="1280160"/>
                <a:ext cx="10725912" cy="1219200"/>
              </a:xfrm>
              <a:prstGeom prst="roundRect">
                <a:avLst>
                  <a:gd name="adj" fmla="val 8000"/>
                </a:avLst>
              </a:prstGeom>
              <a:solidFill>
                <a:srgbClr val="FDE68A"/>
              </a:solidFill>
              <a:ln w="31750">
                <a:solidFill>
                  <a:srgbClr val="D97706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78350F"/>
              </a:fontRef>
            </p:style>
            <p:txBody>
              <a:bodyPr rtlCol="0" anchor="ctr" wrap="square" lIns="228600" rIns="228600" tIns="54864" bIns="73152"/>
              <a:lstStyle>
                <a:lvl1pPr>
                  <a:defRPr sz="2400">
                    <a:solidFill>
                      <a:srgbClr val="78350F"/>
                    </a:solidFill>
                  </a:defRPr>
                </a:lvl1pPr>
              </a:lstStyle>
              <a:p>
                <a:pPr algn="l">
                  <a:defRPr sz="2400">
                    <a:solidFill>
                      <a:srgbClr val="78350F"/>
                    </a:solidFill>
                  </a:defRPr>
                </a:pPr>
                <a:r>
                  <a:rPr sz="2400" b="1">
                    <a:solidFill>
                      <a:srgbClr val="78350F"/>
                    </a:solidFill>
                    <a:latin typeface="Arial"/>
                  </a:rPr>
                  <a:t>Idea:  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Put </a:t>
                </a:r>
                <a:r>
                  <a:rPr lang="en-IN" sz="2400">
                    <a:solidFill>
                      <a:srgbClr val="78350F"/>
                    </a:solidFill>
                    <a:latin typeface="Cambria Math" panose="02040503050406030204" pitchFamily="18" charset="0"/>
                  </a:rPr>
                  <a:t>$x=\cosh t$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: then </a:t>
                </a:r>
                <a:r>
                  <a:rPr lang="en-IN" sz="2400">
                    <a:solidFill>
                      <a:srgbClr val="78350F"/>
                    </a:solidFill>
                    <a:latin typeface="Cambria Math" panose="02040503050406030204" pitchFamily="18" charset="0"/>
                  </a:rPr>
                  <a:t>$y=e^{5t}$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, and </a:t>
                </a:r>
                <a:r>
                  <a:rPr lang="en-IN" sz="2400">
                    <a:solidFill>
                      <a:srgbClr val="78350F"/>
                    </a:solidFill>
                    <a:latin typeface="Cambria Math" panose="02040503050406030204" pitchFamily="18" charset="0"/>
                  </a:rPr>
                  <a:t>$(x^2-1)y''+xy'$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 is exactly </a:t>
                </a:r>
                <a:r>
                  <a:rPr lang="en-IN" sz="2400">
                    <a:solidFill>
                      <a:srgbClr val="78350F"/>
                    </a:solidFill>
                    <a:latin typeface="Cambria Math" panose="02040503050406030204" pitchFamily="18" charset="0"/>
                  </a:rPr>
                  <a:t>$\frac{d^2y}{dt^2}$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.</a:t>
                </a:r>
                <a:endParaRPr sz="2400">
                  <a:solidFill>
                    <a:srgbClr val="78350F"/>
                  </a:solidFill>
                </a:endParaRP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6" name="Rectangle 5"/>
              <p:cNvSpPr/>
              <p:nvPr/>
            </p:nvSpPr>
            <p:spPr>
              <a:xfrm>
                <a:off x="731520" y="2636520"/>
                <a:ext cx="10725912" cy="4038599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Let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cosh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𝑡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(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𝑡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&gt;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0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). Then </a:t>
                </a:r>
                <a14:m>
                  <m:oMath xmlns:m="http://schemas.openxmlformats.org/officeDocument/2006/math"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𝑦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/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5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𝑦</m:t>
                        </m:r>
                      </m:e>
                      <m:sup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−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/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5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cosh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𝑡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gives </a:t>
                </a:r>
                <a14:m>
                  <m:oMath xmlns:m="http://schemas.openxmlformats.org/officeDocument/2006/math"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𝑦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/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5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𝑒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𝑡</m:t>
                        </m:r>
                      </m:sup>
                    </m:sSup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i.e.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𝑦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𝑒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5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𝑡</m:t>
                        </m:r>
                      </m:sup>
                    </m:sSup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With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cosh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𝑡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: </a:t>
                </a:r>
                <a14:m>
                  <m:oMath xmlns:m="http://schemas.openxmlformats.org/officeDocument/2006/math"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𝑑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𝑦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𝑑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𝑡</m:t>
                        </m:r>
                      </m:den>
                    </m:f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𝑑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𝑦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𝑑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</m:den>
                    </m:f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sinh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𝑡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Choice>
        <mc:Fallback>
          <p:sp>
            <p:nvSpPr>
              <p:cNvPr id="6" name="Rectangle 5"/>
              <p:cNvSpPr/>
              <p:nvPr/>
            </p:nvSpPr>
            <p:spPr>
              <a:xfrm>
                <a:off x="731520" y="2636520"/>
                <a:ext cx="10725912" cy="4038599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Let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$x=\cosh t$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(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$t&gt;0$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). Then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$y^{1/5}+y^{-1/5}=2\cosh t$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gives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$y^{1/5}=e^{t}$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i.e.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$y=e^{5t}$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With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$x=\cosh t$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: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$\frac{dy}{dt}=\frac{dy}{dx}\sinh t$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Fallback>
      </mc:AlternateContent>
    </p:spTree>
  </p:cSld>
  <p:clrMapOvr>
    <a:masterClrMapping/>
  </p:clrMapOvr>
</p:sld>
</file>

<file path=ppt/slides/slide2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FFFFFF"/>
          </a:fontRef>
        </p:style>
        <p:txBody>
          <a:bodyPr rtlCol="0" anchor="ctr" lIns="731520"/>
          <a:lstStyle>
            <a:lvl1pPr>
              <a:defRPr sz="3200">
                <a:solidFill>
                  <a:srgbClr val="FFFFFF"/>
                </a:solidFill>
              </a:defRPr>
            </a:lvl1pPr>
          </a:lstStyle>
          <a:p>
            <a:pPr algn="l">
              <a:defRPr sz="3200">
                <a:solidFill>
                  <a:srgbClr val="FFFFFF"/>
                </a:solidFill>
              </a:defRPr>
            </a:pPr>
            <a:r>
              <a:rPr sz="3200" b="1">
                <a:solidFill>
                  <a:srgbClr val="FFFFFF"/>
                </a:solidFill>
                <a:latin typeface="Arial"/>
              </a:rPr>
              <a:t>Question 03</a:t>
            </a:r>
            <a:endParaRPr sz="3200">
              <a:solidFill>
                <a:srgbClr val="FFFFFF"/>
              </a:solidFill>
            </a:endParaRPr>
          </a:p>
        </p:txBody>
      </p:sp>
      <p:sp>
        <p:nvSpPr>
          <p:cNvPr id="3" name="Rounded Rectangle 2"/>
          <p:cNvSpPr/>
          <p:nvPr/>
        </p:nvSpPr>
        <p:spPr>
          <a:xfrm>
            <a:off x="7894015" y="246887"/>
            <a:ext cx="3840480" cy="603504"/>
          </a:xfrm>
          <a:prstGeom prst="roundRect">
            <a:avLst>
              <a:gd name="adj" fmla="val 50000"/>
            </a:avLst>
          </a:prstGeom>
          <a:solidFill>
            <a:srgbClr val="FFD966"/>
          </a:solidFill>
          <a:ln w="1905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111827"/>
          </a:fontRef>
        </p:style>
        <p:txBody>
          <a:bodyPr rtlCol="0" anchor="ctr" wrap="square" lIns="228600" rIns="228600" tIns="18288" bIns="18288"/>
          <a:lstStyle>
            <a:lvl1pPr>
              <a:defRPr sz="2400">
                <a:solidFill>
                  <a:srgbClr val="111827"/>
                </a:solidFill>
              </a:defRPr>
            </a:lvl1pPr>
          </a:lstStyle>
          <a:p>
            <a:pPr algn="ctr">
              <a:defRPr sz="2400">
                <a:solidFill>
                  <a:srgbClr val="111827"/>
                </a:solidFill>
              </a:defRPr>
            </a:pPr>
            <a:r>
              <a:rPr sz="2400" b="1">
                <a:solidFill>
                  <a:srgbClr val="111827"/>
                </a:solidFill>
                <a:latin typeface="Arial"/>
              </a:rPr>
              <a:t>Level 2  ·  4 Marks</a:t>
            </a:r>
            <a:endParaRPr sz="2400">
              <a:solidFill>
                <a:srgbClr val="111827"/>
              </a:solidFill>
            </a:endParaRPr>
          </a:p>
        </p:txBody>
      </p:sp>
      <p:sp>
        <p:nvSpPr>
          <p:cNvPr id="4" name="Rounded Rectangle 3"/>
          <p:cNvSpPr/>
          <p:nvPr/>
        </p:nvSpPr>
        <p:spPr>
          <a:xfrm>
            <a:off x="3520440" y="265176"/>
            <a:ext cx="4206240" cy="566928"/>
          </a:xfrm>
          <a:prstGeom prst="roundRect">
            <a:avLst>
              <a:gd name="adj" fmla="val 50000"/>
            </a:avLst>
          </a:prstGeom>
          <a:solidFill>
            <a:srgbClr val="FDE68A"/>
          </a:solidFill>
          <a:ln w="25400">
            <a:solidFill>
              <a:srgbClr val="D9770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78350F"/>
          </a:fontRef>
        </p:style>
        <p:txBody>
          <a:bodyPr rtlCol="0" anchor="ctr" wrap="square" lIns="228600" rIns="228600" tIns="18288" bIns="18288"/>
          <a:lstStyle>
            <a:lvl1pPr>
              <a:defRPr sz="2200">
                <a:solidFill>
                  <a:srgbClr val="78350F"/>
                </a:solidFill>
              </a:defRPr>
            </a:lvl1pPr>
          </a:lstStyle>
          <a:p>
            <a:pPr algn="ctr">
              <a:defRPr sz="2200">
                <a:solidFill>
                  <a:srgbClr val="78350F"/>
                </a:solidFill>
              </a:defRPr>
            </a:pPr>
            <a:r>
              <a:rPr sz="2200" b="1">
                <a:solidFill>
                  <a:srgbClr val="78350F"/>
                </a:solidFill>
                <a:latin typeface="Arial"/>
              </a:rPr>
              <a:t>Alternate Solution</a:t>
            </a:r>
            <a:endParaRPr sz="2200">
              <a:solidFill>
                <a:srgbClr val="78350F"/>
              </a:solidFill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5" name="Rectangle 4"/>
              <p:cNvSpPr/>
              <p:nvPr/>
            </p:nvSpPr>
            <p:spPr>
              <a:xfrm>
                <a:off x="731520" y="1353312"/>
                <a:ext cx="10725912" cy="4434840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14:m>
                  <m:oMath xmlns:m="http://schemas.openxmlformats.org/officeDocument/2006/math"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sSup>
                          <m:e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𝑑</m:t>
                            </m:r>
                          </m:e>
                          <m:sup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2</m:t>
                            </m:r>
                          </m:sup>
                        </m:s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𝑦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𝑑</m:t>
                        </m:r>
                        <m:sSup>
                          <m:e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𝑡</m:t>
                            </m:r>
                          </m:e>
                          <m:sup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2</m:t>
                            </m:r>
                          </m:sup>
                        </m:sSup>
                      </m:den>
                    </m:f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sSup>
                          <m:e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𝑑</m:t>
                            </m:r>
                          </m:e>
                          <m:sup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2</m:t>
                            </m:r>
                          </m:sup>
                        </m:s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𝑦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𝑑</m:t>
                        </m:r>
                        <m:sSup>
                          <m:e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𝑥</m:t>
                            </m:r>
                          </m:e>
                          <m:sup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2</m:t>
                            </m:r>
                          </m:sup>
                        </m:sSup>
                      </m:den>
                    </m:f>
                    <m:sSup>
                      <m:e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sinh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𝑡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𝑑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𝑦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𝑑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</m:den>
                    </m:f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cosh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𝑡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sSup>
                          <m:e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𝑑</m:t>
                            </m:r>
                          </m:e>
                          <m:sup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2</m:t>
                            </m:r>
                          </m:sup>
                        </m:s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𝑦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𝑑</m:t>
                        </m:r>
                        <m:sSup>
                          <m:e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𝑥</m:t>
                            </m:r>
                          </m:e>
                          <m:sup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2</m:t>
                            </m:r>
                          </m:sup>
                        </m:sSup>
                      </m:den>
                    </m:f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𝑑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𝑦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𝑑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</m:den>
                    </m:f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Hence the given expression equals </a:t>
                </a:r>
                <a14:m>
                  <m:oMath xmlns:m="http://schemas.openxmlformats.org/officeDocument/2006/math"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sSup>
                          <m:e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𝑑</m:t>
                            </m:r>
                          </m:e>
                          <m:sup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2</m:t>
                            </m:r>
                          </m:sup>
                        </m:s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𝑦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𝑑</m:t>
                        </m:r>
                        <m:sSup>
                          <m:e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𝑡</m:t>
                            </m:r>
                          </m:e>
                          <m:sup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2</m:t>
                            </m:r>
                          </m:sup>
                        </m:sSup>
                      </m:den>
                    </m:f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sSup>
                          <m:e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𝑑</m:t>
                            </m:r>
                          </m:e>
                          <m:sup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2</m:t>
                            </m:r>
                          </m:sup>
                        </m:sSup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𝑑</m:t>
                        </m:r>
                        <m:sSup>
                          <m:e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𝑡</m:t>
                            </m:r>
                          </m:e>
                          <m:sup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2</m:t>
                            </m:r>
                          </m:sup>
                        </m:sSup>
                      </m:den>
                    </m:f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𝑒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5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𝑡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25</m:t>
                    </m:r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𝑒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5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𝑡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25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𝑦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so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𝑘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25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Choice>
        <mc:Fallback>
          <p:sp>
            <p:nvSpPr>
              <p:cNvPr id="5" name="Rectangle 4"/>
              <p:cNvSpPr/>
              <p:nvPr/>
            </p:nvSpPr>
            <p:spPr>
              <a:xfrm>
                <a:off x="731520" y="1353312"/>
                <a:ext cx="10725912" cy="4434840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$\frac{d^2y}{dt^2}=\frac{d^2y}{dx^2}\sinh^2t+\frac{dy}{dx}\cosh t=(x^2-1)\frac{d^2y}{dx^2}+x\frac{dy}{dx}$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Hence the given expression equals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$\frac{d^2y}{dt^2}=\frac{d^2}{dt^2}e^{5t}=25e^{5t}=25y$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so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$k=25$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6" name="Rounded Rectangle 5"/>
              <p:cNvSpPr/>
              <p:nvPr/>
            </p:nvSpPr>
            <p:spPr>
              <a:xfrm>
                <a:off x="731520" y="5897880"/>
                <a:ext cx="10725912" cy="777240"/>
              </a:xfrm>
              <a:prstGeom prst="roundRect">
                <a:avLst>
                  <a:gd name="adj" fmla="val 8000"/>
                </a:avLst>
              </a:prstGeom>
              <a:solidFill>
                <a:srgbClr val="DCFCE7"/>
              </a:solidFill>
              <a:ln w="25400">
                <a:solidFill>
                  <a:srgbClr val="15803D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5803D"/>
              </a:fontRef>
            </p:style>
            <p:txBody>
              <a:bodyPr rtlCol="0" anchor="ctr" wrap="square" lIns="228600" rIns="228600" tIns="18288" bIns="73152"/>
              <a:lstStyle>
                <a:lvl1pPr>
                  <a:defRPr sz="2800">
                    <a:solidFill>
                      <a:srgbClr val="15803D"/>
                    </a:solidFill>
                  </a:defRPr>
                </a:lvl1pPr>
              </a:lstStyle>
              <a:p>
                <a:pPr algn="ctr">
                  <a:defRPr sz="2800">
                    <a:solidFill>
                      <a:srgbClr val="15803D"/>
                    </a:solidFill>
                  </a:defRPr>
                </a:pPr>
                <a:r>
                  <a:rPr sz="2800" b="1">
                    <a:solidFill>
                      <a:srgbClr val="15803D"/>
                    </a:solidFill>
                    <a:latin typeface="Arial"/>
                  </a:rPr>
                  <a:t>Same answer: </a:t>
                </a:r>
                <a14:m>
                  <m:oMath xmlns:m="http://schemas.openxmlformats.org/officeDocument/2006/math">
                    <m:r>
                      <a:rPr lang="en-IN" sz="2800" i="1">
                        <a:solidFill>
                          <a:srgbClr val="15803D"/>
                        </a:solidFill>
                        <a:latin typeface="Cambria Math" panose="02040503050406030204" pitchFamily="18" charset="0"/>
                      </a:rPr>
                      <m:t>𝑘</m:t>
                    </m:r>
                    <m:r>
                      <m:rPr>
                        <m:sty m:val="p"/>
                      </m:rPr>
                      <a:rPr lang="en-IN" sz="2800">
                        <a:solidFill>
                          <a:srgbClr val="15803D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800" i="1">
                        <a:solidFill>
                          <a:srgbClr val="15803D"/>
                        </a:solidFill>
                        <a:latin typeface="Cambria Math" panose="02040503050406030204" pitchFamily="18" charset="0"/>
                      </a:rPr>
                      <m:t>25</m:t>
                    </m:r>
                  </m:oMath>
                </a14:m>
                <a:endParaRPr sz="2800">
                  <a:solidFill>
                    <a:srgbClr val="15803D"/>
                  </a:solidFill>
                </a:endParaRPr>
              </a:p>
            </p:txBody>
          </p:sp>
        </mc:Choice>
        <mc:Fallback>
          <p:sp>
            <p:nvSpPr>
              <p:cNvPr id="6" name="Rounded Rectangle 5"/>
              <p:cNvSpPr/>
              <p:nvPr/>
            </p:nvSpPr>
            <p:spPr>
              <a:xfrm>
                <a:off x="731520" y="5897880"/>
                <a:ext cx="10725912" cy="777240"/>
              </a:xfrm>
              <a:prstGeom prst="roundRect">
                <a:avLst>
                  <a:gd name="adj" fmla="val 8000"/>
                </a:avLst>
              </a:prstGeom>
              <a:solidFill>
                <a:srgbClr val="DCFCE7"/>
              </a:solidFill>
              <a:ln w="25400">
                <a:solidFill>
                  <a:srgbClr val="15803D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5803D"/>
              </a:fontRef>
            </p:style>
            <p:txBody>
              <a:bodyPr rtlCol="0" anchor="ctr" wrap="square" lIns="228600" rIns="228600" tIns="18288" bIns="73152"/>
              <a:lstStyle>
                <a:lvl1pPr>
                  <a:defRPr sz="2800">
                    <a:solidFill>
                      <a:srgbClr val="15803D"/>
                    </a:solidFill>
                  </a:defRPr>
                </a:lvl1pPr>
              </a:lstStyle>
              <a:p>
                <a:pPr algn="ctr">
                  <a:defRPr sz="2800">
                    <a:solidFill>
                      <a:srgbClr val="15803D"/>
                    </a:solidFill>
                  </a:defRPr>
                </a:pPr>
                <a:r>
                  <a:rPr sz="2800" b="1">
                    <a:solidFill>
                      <a:srgbClr val="15803D"/>
                    </a:solidFill>
                    <a:latin typeface="Arial"/>
                  </a:rPr>
                  <a:t>Same answer: </a:t>
                </a:r>
                <a:r>
                  <a:rPr lang="en-IN" sz="2800">
                    <a:solidFill>
                      <a:srgbClr val="15803D"/>
                    </a:solidFill>
                    <a:latin typeface="Cambria Math" panose="02040503050406030204" pitchFamily="18" charset="0"/>
                  </a:rPr>
                  <a:t>$k=25$</a:t>
                </a:r>
                <a:endParaRPr sz="2800">
                  <a:solidFill>
                    <a:srgbClr val="15803D"/>
                  </a:solidFill>
                </a:endParaRPr>
              </a:p>
            </p:txBody>
          </p:sp>
        </mc:Fallback>
      </mc:AlternateContent>
    </p:spTree>
  </p:cSld>
  <p:clrMapOvr>
    <a:masterClrMapping/>
  </p:clrMapOvr>
</p:sld>
</file>

<file path=ppt/slides/slide2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FFFFFF"/>
          </a:fontRef>
        </p:style>
        <p:txBody>
          <a:bodyPr rtlCol="0" anchor="ctr" lIns="731520"/>
          <a:lstStyle>
            <a:lvl1pPr>
              <a:defRPr sz="3200">
                <a:solidFill>
                  <a:srgbClr val="FFFFFF"/>
                </a:solidFill>
              </a:defRPr>
            </a:lvl1pPr>
          </a:lstStyle>
          <a:p>
            <a:pPr algn="l">
              <a:defRPr sz="3200">
                <a:solidFill>
                  <a:srgbClr val="FFFFFF"/>
                </a:solidFill>
              </a:defRPr>
            </a:pPr>
            <a:r>
              <a:rPr sz="3200" b="1">
                <a:solidFill>
                  <a:srgbClr val="FFFFFF"/>
                </a:solidFill>
                <a:latin typeface="Arial"/>
              </a:rPr>
              <a:t>Question 03</a:t>
            </a:r>
            <a:endParaRPr sz="3200">
              <a:solidFill>
                <a:srgbClr val="FFFFFF"/>
              </a:solidFill>
            </a:endParaRPr>
          </a:p>
        </p:txBody>
      </p:sp>
      <p:sp>
        <p:nvSpPr>
          <p:cNvPr id="3" name="Rounded Rectangle 2"/>
          <p:cNvSpPr/>
          <p:nvPr/>
        </p:nvSpPr>
        <p:spPr>
          <a:xfrm>
            <a:off x="7894015" y="246887"/>
            <a:ext cx="3840480" cy="603504"/>
          </a:xfrm>
          <a:prstGeom prst="roundRect">
            <a:avLst>
              <a:gd name="adj" fmla="val 50000"/>
            </a:avLst>
          </a:prstGeom>
          <a:solidFill>
            <a:srgbClr val="FFD966"/>
          </a:solidFill>
          <a:ln w="1905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111827"/>
          </a:fontRef>
        </p:style>
        <p:txBody>
          <a:bodyPr rtlCol="0" anchor="ctr" wrap="square" lIns="228600" rIns="228600" tIns="18288" bIns="18288"/>
          <a:lstStyle>
            <a:lvl1pPr>
              <a:defRPr sz="2400">
                <a:solidFill>
                  <a:srgbClr val="111827"/>
                </a:solidFill>
              </a:defRPr>
            </a:lvl1pPr>
          </a:lstStyle>
          <a:p>
            <a:pPr algn="ctr">
              <a:defRPr sz="2400">
                <a:solidFill>
                  <a:srgbClr val="111827"/>
                </a:solidFill>
              </a:defRPr>
            </a:pPr>
            <a:r>
              <a:rPr sz="2400" b="1">
                <a:solidFill>
                  <a:srgbClr val="111827"/>
                </a:solidFill>
                <a:latin typeface="Arial"/>
              </a:rPr>
              <a:t>Level 2  ·  4 Marks</a:t>
            </a:r>
            <a:endParaRPr sz="2400">
              <a:solidFill>
                <a:srgbClr val="111827"/>
              </a:solidFill>
            </a:endParaRPr>
          </a:p>
        </p:txBody>
      </p:sp>
      <p:sp>
        <p:nvSpPr>
          <p:cNvPr id="4" name="Rounded Rectangle 3"/>
          <p:cNvSpPr/>
          <p:nvPr/>
        </p:nvSpPr>
        <p:spPr>
          <a:xfrm>
            <a:off x="3520440" y="265176"/>
            <a:ext cx="4206240" cy="566928"/>
          </a:xfrm>
          <a:prstGeom prst="roundRect">
            <a:avLst>
              <a:gd name="adj" fmla="val 50000"/>
            </a:avLst>
          </a:prstGeom>
          <a:solidFill>
            <a:srgbClr val="E0ECFF"/>
          </a:solidFill>
          <a:ln w="25400">
            <a:solidFill>
              <a:srgbClr val="1D4ED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0B1F3A"/>
          </a:fontRef>
        </p:style>
        <p:txBody>
          <a:bodyPr rtlCol="0" anchor="ctr" wrap="square" lIns="228600" rIns="228600" tIns="18288" bIns="18288"/>
          <a:lstStyle>
            <a:lvl1pPr>
              <a:defRPr sz="2200">
                <a:solidFill>
                  <a:srgbClr val="0B1F3A"/>
                </a:solidFill>
              </a:defRPr>
            </a:lvl1pPr>
          </a:lstStyle>
          <a:p>
            <a:pPr algn="ctr">
              <a:defRPr sz="2200">
                <a:solidFill>
                  <a:srgbClr val="0B1F3A"/>
                </a:solidFill>
              </a:defRPr>
            </a:pPr>
            <a:r>
              <a:rPr sz="2200" b="1">
                <a:solidFill>
                  <a:srgbClr val="0B1F3A"/>
                </a:solidFill>
                <a:latin typeface="Arial"/>
              </a:rPr>
              <a:t>Useful Result / Pattern</a:t>
            </a:r>
            <a:endParaRPr sz="2200">
              <a:solidFill>
                <a:srgbClr val="0B1F3A"/>
              </a:solidFill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5" name="Rectangle 4"/>
              <p:cNvSpPr/>
              <p:nvPr/>
            </p:nvSpPr>
            <p:spPr>
              <a:xfrm>
                <a:off x="731520" y="1353312"/>
                <a:ext cx="10725912" cy="5321808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If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𝑦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/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𝑛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𝑦</m:t>
                        </m:r>
                      </m:e>
                      <m:sup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−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/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𝑛</m:t>
                        </m:r>
                      </m:sup>
                    </m:sSup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then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𝑦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sSup>
                      <m:e>
                        <m:d>
                          <m:dPr>
                            <m:begChr m:val="("/>
                            <m:sepChr m:val=""/>
                            <m:endChr m:val=")"/>
                            <m:grow/>
                            <m:ctrlP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𝑥</m:t>
                            </m:r>
                            <m:r>
                              <m:rPr>
                                <m:sty m:val="p"/>
                              </m:rPr>
                              <a:rPr lang="en-IN" sz="2400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+</m:t>
                            </m:r>
                            <m:rad>
                              <m:radPr>
                                <m:degHide m:val="on"/>
                                <m:ctrlPr>
                                  <a:rPr lang="en-IN" sz="2400" i="1">
                                    <a:solidFill>
                                      <a:srgbClr val="111827"/>
                                    </a:solidFill>
                                    <a:latin typeface="Cambria Math" panose="02040503050406030204" pitchFamily="18" charset="0"/>
                                  </a:rPr>
                                </m:ctrlPr>
                              </m:radPr>
                              <m:deg/>
                              <m:e>
                                <m:sSup>
                                  <m:e>
                                    <m:r>
                                      <a:rPr lang="en-IN" sz="2400" i="1">
                                        <a:solidFill>
                                          <a:srgbClr val="111827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𝑥</m:t>
                                    </m:r>
                                  </m:e>
                                  <m:sup>
                                    <m:r>
                                      <a:rPr lang="en-IN" sz="2400" i="1">
                                        <a:solidFill>
                                          <a:srgbClr val="111827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2</m:t>
                                    </m:r>
                                  </m:sup>
                                </m:sSup>
                                <m:r>
                                  <m:rPr>
                                    <m:sty m:val="p"/>
                                  </m:rPr>
                                  <a:rPr lang="en-IN" sz="2400">
                                    <a:solidFill>
                                      <a:srgbClr val="111827"/>
                                    </a:solidFill>
                                    <a:latin typeface="Cambria Math" panose="02040503050406030204" pitchFamily="18" charset="0"/>
                                  </a:rPr>
                                  <m:t>−</m:t>
                                </m:r>
                                <m:r>
                                  <a:rPr lang="en-IN" sz="2400" i="1">
                                    <a:solidFill>
                                      <a:srgbClr val="111827"/>
                                    </a:solidFill>
                                    <a:latin typeface="Cambria Math" panose="02040503050406030204" pitchFamily="18" charset="0"/>
                                  </a:rPr>
                                  <m:t>1</m:t>
                                </m:r>
                              </m:e>
                            </m:rad>
                          </m:e>
                        </m:d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𝑛</m:t>
                        </m:r>
                      </m:sup>
                    </m:sSup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and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𝑦</m:t>
                        </m:r>
                      </m:e>
                      <m:sup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″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𝑦</m:t>
                        </m:r>
                      </m:e>
                      <m:sup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′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𝑛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𝑦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With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cosh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𝑡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(or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cos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θ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) the operator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sSup>
                          <m:e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𝑑</m:t>
                            </m:r>
                          </m:e>
                          <m:sup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2</m:t>
                            </m:r>
                          </m:sup>
                        </m:sSup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𝑑</m:t>
                        </m:r>
                        <m:sSup>
                          <m:e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𝑥</m:t>
                            </m:r>
                          </m:e>
                          <m:sup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2</m:t>
                            </m:r>
                          </m:sup>
                        </m:sSup>
                      </m:den>
                    </m:f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𝑑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𝑑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</m:den>
                    </m:f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becomes </a:t>
                </a:r>
                <a14:m>
                  <m:oMath xmlns:m="http://schemas.openxmlformats.org/officeDocument/2006/math"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sSup>
                          <m:e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𝑑</m:t>
                            </m:r>
                          </m:e>
                          <m:sup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2</m:t>
                            </m:r>
                          </m:sup>
                        </m:sSup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𝑑</m:t>
                        </m:r>
                        <m:sSup>
                          <m:e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𝑡</m:t>
                            </m:r>
                          </m:e>
                          <m:sup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2</m:t>
                            </m:r>
                          </m:sup>
                        </m:sSup>
                      </m:den>
                    </m:f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(respectively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sSup>
                          <m:e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𝑑</m:t>
                            </m:r>
                          </m:e>
                          <m:sup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2</m:t>
                            </m:r>
                          </m:sup>
                        </m:sSup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𝑑</m:t>
                        </m:r>
                        <m:sSup>
                          <m:e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θ</m:t>
                            </m:r>
                          </m:e>
                          <m:sup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2</m:t>
                            </m:r>
                          </m:sup>
                        </m:sSup>
                      </m:den>
                    </m:f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): the Chebyshev-type equation.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A relation </a:t>
                </a:r>
                <a14:m>
                  <m:oMath xmlns:m="http://schemas.openxmlformats.org/officeDocument/2006/math"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𝑦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/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𝑛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𝑦</m:t>
                        </m:r>
                      </m:e>
                      <m:sup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−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/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𝑛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is a hyperbolic cosine in disguise: look for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𝑦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𝑒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𝑛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𝑡</m:t>
                        </m:r>
                      </m:sup>
                    </m:sSup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cosh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𝑡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Choice>
        <mc:Fallback>
          <p:sp>
            <p:nvSpPr>
              <p:cNvPr id="5" name="Rectangle 4"/>
              <p:cNvSpPr/>
              <p:nvPr/>
            </p:nvSpPr>
            <p:spPr>
              <a:xfrm>
                <a:off x="731520" y="1353312"/>
                <a:ext cx="10725912" cy="5321808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If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$2x=y^{1/n}+y^{-1/n}$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then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$y=\left(x+\sqrt{x^2-1}\right)^n$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and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$(x^2-1)y''+xy'=n^2y$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With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$x=\cosh t$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(or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$x=\cos\theta$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) the operator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$(x^2-1)\frac{d^2}{dx^2}+x\frac{d}{dx}$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becomes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$\frac{d^2}{dt^2}$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(respectively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$-\frac{d^2}{d\theta^2}$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): the Chebyshev-type equation.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A relation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$y^{1/n}+y^{-1/n}=2x$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is a hyperbolic cosine in disguise: look for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$y=e^{nt}$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$x=\cosh t$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Fallback>
      </mc:AlternateContent>
    </p:spTree>
  </p:cSld>
  <p:clrMapOvr>
    <a:masterClrMapping/>
  </p:clrMapOvr>
</p:sld>
</file>

<file path=ppt/slides/slide2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FFFFFF"/>
          </a:fontRef>
        </p:style>
        <p:txBody>
          <a:bodyPr rtlCol="0" anchor="ctr" lIns="731520"/>
          <a:lstStyle>
            <a:lvl1pPr>
              <a:defRPr sz="3200">
                <a:solidFill>
                  <a:srgbClr val="FFFFFF"/>
                </a:solidFill>
              </a:defRPr>
            </a:lvl1pPr>
          </a:lstStyle>
          <a:p>
            <a:pPr algn="l">
              <a:defRPr sz="3200">
                <a:solidFill>
                  <a:srgbClr val="FFFFFF"/>
                </a:solidFill>
              </a:defRPr>
            </a:pPr>
            <a:r>
              <a:rPr sz="3200" b="1">
                <a:solidFill>
                  <a:srgbClr val="FFFFFF"/>
                </a:solidFill>
                <a:latin typeface="Arial"/>
              </a:rPr>
              <a:t>Question 04</a:t>
            </a:r>
            <a:endParaRPr sz="3200">
              <a:solidFill>
                <a:srgbClr val="FFFFFF"/>
              </a:solidFill>
            </a:endParaRPr>
          </a:p>
        </p:txBody>
      </p:sp>
      <p:sp>
        <p:nvSpPr>
          <p:cNvPr id="3" name="Rounded Rectangle 2"/>
          <p:cNvSpPr/>
          <p:nvPr/>
        </p:nvSpPr>
        <p:spPr>
          <a:xfrm>
            <a:off x="7894015" y="246887"/>
            <a:ext cx="3840480" cy="603504"/>
          </a:xfrm>
          <a:prstGeom prst="roundRect">
            <a:avLst>
              <a:gd name="adj" fmla="val 50000"/>
            </a:avLst>
          </a:prstGeom>
          <a:solidFill>
            <a:srgbClr val="F6B26B"/>
          </a:solidFill>
          <a:ln w="1905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111827"/>
          </a:fontRef>
        </p:style>
        <p:txBody>
          <a:bodyPr rtlCol="0" anchor="ctr" wrap="square" lIns="228600" rIns="228600" tIns="18288" bIns="18288"/>
          <a:lstStyle>
            <a:lvl1pPr>
              <a:defRPr sz="2400">
                <a:solidFill>
                  <a:srgbClr val="111827"/>
                </a:solidFill>
              </a:defRPr>
            </a:lvl1pPr>
          </a:lstStyle>
          <a:p>
            <a:pPr algn="ctr">
              <a:defRPr sz="2400">
                <a:solidFill>
                  <a:srgbClr val="111827"/>
                </a:solidFill>
              </a:defRPr>
            </a:pPr>
            <a:r>
              <a:rPr sz="2400" b="1">
                <a:solidFill>
                  <a:srgbClr val="111827"/>
                </a:solidFill>
                <a:latin typeface="Arial"/>
              </a:rPr>
              <a:t>Level 3  ·  4 Marks</a:t>
            </a:r>
            <a:endParaRPr sz="2400">
              <a:solidFill>
                <a:srgbClr val="111827"/>
              </a:solidFill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4" name="Rounded Rectangle 3"/>
              <p:cNvSpPr/>
              <p:nvPr/>
            </p:nvSpPr>
            <p:spPr>
              <a:xfrm>
                <a:off x="731520" y="1280160"/>
                <a:ext cx="10725912" cy="1737360"/>
              </a:xfrm>
              <a:prstGeom prst="roundRect">
                <a:avLst>
                  <a:gd name="adj" fmla="val 8000"/>
                </a:avLst>
              </a:prstGeom>
              <a:solidFill>
                <a:srgbClr val="E0ECFF"/>
              </a:solidFill>
              <a:ln w="25400">
                <a:solidFill>
                  <a:srgbClr val="1D4ED8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>
                  <a:spcAft>
                    <a:spcPts val="500"/>
                  </a:spcAft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The function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𝑓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:</m:t>
                    </m:r>
                    <m:r>
                      <m:rPr>
                        <m:scr m:val="double-struck"/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R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→</m:t>
                    </m:r>
                    <m:r>
                      <m:rPr>
                        <m:scr m:val="double-struck"/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R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satisfies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𝑓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⋅</m:t>
                    </m:r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𝑓</m:t>
                        </m:r>
                      </m:e>
                      <m:sup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″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𝑓</m:t>
                        </m:r>
                      </m:e>
                      <m:sup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′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⋅</m:t>
                    </m:r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𝑓</m:t>
                        </m:r>
                      </m:e>
                      <m:sup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′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for all real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 Given that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𝑓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and </a:t>
                </a:r>
                <a14:m>
                  <m:oMath xmlns:m="http://schemas.openxmlformats.org/officeDocument/2006/math"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𝑓</m:t>
                        </m:r>
                      </m:e>
                      <m:sup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‴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8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compute the value of </a:t>
                </a:r>
                <a14:m>
                  <m:oMath xmlns:m="http://schemas.openxmlformats.org/officeDocument/2006/math"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𝑓</m:t>
                        </m:r>
                      </m:e>
                      <m:sup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′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𝑓</m:t>
                        </m:r>
                      </m:e>
                      <m:sup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″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Choice>
        <mc:Fallback>
          <p:sp>
            <p:nvSpPr>
              <p:cNvPr id="4" name="Rounded Rectangle 3"/>
              <p:cNvSpPr/>
              <p:nvPr/>
            </p:nvSpPr>
            <p:spPr>
              <a:xfrm>
                <a:off x="731520" y="1280160"/>
                <a:ext cx="10725912" cy="1737360"/>
              </a:xfrm>
              <a:prstGeom prst="roundRect">
                <a:avLst>
                  <a:gd name="adj" fmla="val 8000"/>
                </a:avLst>
              </a:prstGeom>
              <a:solidFill>
                <a:srgbClr val="E0ECFF"/>
              </a:solidFill>
              <a:ln w="25400">
                <a:solidFill>
                  <a:srgbClr val="1D4ED8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>
                  <a:spcAft>
                    <a:spcPts val="500"/>
                  </a:spcAft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The function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$f:\mathbb R\to\mathbb R$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satisfies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$f(x^2)\cdot f''(x)=f'(x)\cdot f'(x^2)$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for all real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$x$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 Given that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$f(1)=1$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and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$f'''(1)=8$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compute the value of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$f'(1)+f''(1)$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Fallback>
      </mc:AlternateContent>
      <p:sp>
        <p:nvSpPr>
          <p:cNvPr id="5" name="Rectangle 4"/>
          <p:cNvSpPr/>
          <p:nvPr/>
        </p:nvSpPr>
        <p:spPr>
          <a:xfrm>
            <a:off x="731520" y="3246120"/>
            <a:ext cx="10725912" cy="1975103"/>
          </a:xfrm>
          <a:prstGeom prst="rect">
            <a:avLst/>
          </a:prstGeom>
          <a:solidFill>
            <a:srgbClr val="FFFFFF"/>
          </a:solidFill>
          <a:ln w="19050">
            <a:solidFill>
              <a:srgbClr val="6B728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111827"/>
          </a:fontRef>
        </p:style>
        <p:txBody>
          <a:bodyPr rtlCol="0" anchor="t" wrap="square" lIns="228600" rIns="228600" tIns="137160" bIns="73152"/>
          <a:lstStyle>
            <a:lvl1pPr>
              <a:defRPr sz="2400">
                <a:solidFill>
                  <a:srgbClr val="111827"/>
                </a:solidFill>
              </a:defRPr>
            </a:lvl1pPr>
          </a:lstStyle>
          <a:p>
            <a:pPr algn="l">
              <a:spcAft>
                <a:spcPts val="200"/>
              </a:spcAft>
              <a:defRPr sz="2400">
                <a:solidFill>
                  <a:srgbClr val="111827"/>
                </a:solidFill>
              </a:defRPr>
            </a:pPr>
            <a:r>
              <a:rPr sz="2400" b="0">
                <a:solidFill>
                  <a:srgbClr val="111827"/>
                </a:solidFill>
                <a:latin typeface="Arial"/>
              </a:rPr>
              <a:t>Numerical Type (4 Marks)</a:t>
            </a:r>
            <a:endParaRPr sz="2400">
              <a:solidFill>
                <a:srgbClr val="111827"/>
              </a:solidFill>
            </a:endParaRPr>
          </a:p>
          <a:p>
            <a:pPr algn="l">
              <a:spcAft>
                <a:spcPts val="200"/>
              </a:spcAft>
              <a:defRPr sz="2400">
                <a:solidFill>
                  <a:srgbClr val="111827"/>
                </a:solidFill>
              </a:defRPr>
            </a:pPr>
            <a:r>
              <a:rPr sz="2400" b="0">
                <a:solidFill>
                  <a:srgbClr val="111827"/>
                </a:solidFill>
                <a:latin typeface="Arial"/>
              </a:rPr>
              <a:t>Concept(s) : Differentiation of composite functions and higher order derivatives</a:t>
            </a:r>
            <a:endParaRPr sz="2400">
              <a:solidFill>
                <a:srgbClr val="111827"/>
              </a:solidFill>
            </a:endParaRPr>
          </a:p>
          <a:p>
            <a:pPr algn="l">
              <a:spcAft>
                <a:spcPts val="200"/>
              </a:spcAft>
              <a:defRPr sz="2400">
                <a:solidFill>
                  <a:srgbClr val="111827"/>
                </a:solidFill>
              </a:defRPr>
            </a:pPr>
            <a:r>
              <a:rPr sz="2400" b="0">
                <a:solidFill>
                  <a:srgbClr val="111827"/>
                </a:solidFill>
                <a:latin typeface="Arial"/>
              </a:rPr>
              <a:t>Difficulty Level: Level 3(Average JEE Advanced Level)</a:t>
            </a:r>
            <a:endParaRPr sz="2400">
              <a:solidFill>
                <a:srgbClr val="111827"/>
              </a:solidFill>
            </a:endParaRPr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FFFFFF"/>
          </a:fontRef>
        </p:style>
        <p:txBody>
          <a:bodyPr rtlCol="0" anchor="ctr" lIns="731520"/>
          <a:lstStyle>
            <a:lvl1pPr>
              <a:defRPr sz="3200">
                <a:solidFill>
                  <a:srgbClr val="FFFFFF"/>
                </a:solidFill>
              </a:defRPr>
            </a:lvl1pPr>
          </a:lstStyle>
          <a:p>
            <a:pPr algn="l">
              <a:defRPr sz="3200">
                <a:solidFill>
                  <a:srgbClr val="FFFFFF"/>
                </a:solidFill>
              </a:defRPr>
            </a:pPr>
            <a:r>
              <a:rPr sz="3200" b="1">
                <a:solidFill>
                  <a:srgbClr val="FFFFFF"/>
                </a:solidFill>
                <a:latin typeface="Arial"/>
              </a:rPr>
              <a:t>Question 04</a:t>
            </a:r>
            <a:endParaRPr sz="3200">
              <a:solidFill>
                <a:srgbClr val="FFFFFF"/>
              </a:solidFill>
            </a:endParaRPr>
          </a:p>
        </p:txBody>
      </p:sp>
      <p:sp>
        <p:nvSpPr>
          <p:cNvPr id="3" name="Rounded Rectangle 2"/>
          <p:cNvSpPr/>
          <p:nvPr/>
        </p:nvSpPr>
        <p:spPr>
          <a:xfrm>
            <a:off x="7894015" y="246887"/>
            <a:ext cx="3840480" cy="603504"/>
          </a:xfrm>
          <a:prstGeom prst="roundRect">
            <a:avLst>
              <a:gd name="adj" fmla="val 50000"/>
            </a:avLst>
          </a:prstGeom>
          <a:solidFill>
            <a:srgbClr val="F6B26B"/>
          </a:solidFill>
          <a:ln w="1905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111827"/>
          </a:fontRef>
        </p:style>
        <p:txBody>
          <a:bodyPr rtlCol="0" anchor="ctr" wrap="square" lIns="228600" rIns="228600" tIns="18288" bIns="18288"/>
          <a:lstStyle>
            <a:lvl1pPr>
              <a:defRPr sz="2400">
                <a:solidFill>
                  <a:srgbClr val="111827"/>
                </a:solidFill>
              </a:defRPr>
            </a:lvl1pPr>
          </a:lstStyle>
          <a:p>
            <a:pPr algn="ctr">
              <a:defRPr sz="2400">
                <a:solidFill>
                  <a:srgbClr val="111827"/>
                </a:solidFill>
              </a:defRPr>
            </a:pPr>
            <a:r>
              <a:rPr sz="2400" b="1">
                <a:solidFill>
                  <a:srgbClr val="111827"/>
                </a:solidFill>
                <a:latin typeface="Arial"/>
              </a:rPr>
              <a:t>Level 3  ·  4 Marks</a:t>
            </a:r>
            <a:endParaRPr sz="2400">
              <a:solidFill>
                <a:srgbClr val="111827"/>
              </a:solidFill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4" name="Rounded Rectangle 3"/>
              <p:cNvSpPr/>
              <p:nvPr/>
            </p:nvSpPr>
            <p:spPr>
              <a:xfrm>
                <a:off x="731520" y="1280160"/>
                <a:ext cx="10725912" cy="1109472"/>
              </a:xfrm>
              <a:prstGeom prst="roundRect">
                <a:avLst>
                  <a:gd name="adj" fmla="val 8000"/>
                </a:avLst>
              </a:prstGeom>
              <a:solidFill>
                <a:srgbClr val="FDE68A"/>
              </a:solidFill>
              <a:ln w="31750">
                <a:solidFill>
                  <a:srgbClr val="D97706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78350F"/>
              </a:fontRef>
            </p:style>
            <p:txBody>
              <a:bodyPr rtlCol="0" anchor="ctr" wrap="square" lIns="228600" rIns="228600" tIns="54864" bIns="73152"/>
              <a:lstStyle>
                <a:lvl1pPr>
                  <a:defRPr sz="2400">
                    <a:solidFill>
                      <a:srgbClr val="78350F"/>
                    </a:solidFill>
                  </a:defRPr>
                </a:lvl1pPr>
              </a:lstStyle>
              <a:p>
                <a:pPr algn="l">
                  <a:defRPr sz="2400">
                    <a:solidFill>
                      <a:srgbClr val="78350F"/>
                    </a:solidFill>
                  </a:defRPr>
                </a:pPr>
                <a:r>
                  <a:rPr sz="2400" b="1">
                    <a:solidFill>
                      <a:srgbClr val="78350F"/>
                    </a:solidFill>
                    <a:latin typeface="Arial"/>
                  </a:rPr>
                  <a:t>Key idea:  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Evaluate the identity at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1</m:t>
                    </m:r>
                  </m:oMath>
                </a14:m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 and its derivative at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1</m:t>
                    </m:r>
                  </m:oMath>
                </a14:m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: they give </a:t>
                </a:r>
                <a14:m>
                  <m:oMath xmlns:m="http://schemas.openxmlformats.org/officeDocument/2006/math">
                    <m:sSup>
                      <m:e>
                        <m: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𝑓</m:t>
                        </m:r>
                      </m:e>
                      <m:sup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″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1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=</m:t>
                    </m:r>
                    <m:sSup>
                      <m:e>
                        <m: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𝑓</m:t>
                        </m:r>
                      </m:e>
                      <m:sup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′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1</m:t>
                    </m:r>
                    <m:sSup>
                      <m:e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)</m:t>
                        </m:r>
                      </m:e>
                      <m:sup>
                        <m: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</m:oMath>
                </a14:m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 and </a:t>
                </a:r>
                <a14:m>
                  <m:oMath xmlns:m="http://schemas.openxmlformats.org/officeDocument/2006/math">
                    <m:sSup>
                      <m:e>
                        <m: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𝑓</m:t>
                        </m:r>
                      </m:e>
                      <m:sup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′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1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)</m:t>
                    </m:r>
                    <m:sSup>
                      <m:e>
                        <m: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𝑓</m:t>
                        </m:r>
                      </m:e>
                      <m:sup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″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1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8</m:t>
                    </m:r>
                  </m:oMath>
                </a14:m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.</a:t>
                </a:r>
                <a:endParaRPr sz="2400">
                  <a:solidFill>
                    <a:srgbClr val="78350F"/>
                  </a:solidFill>
                </a:endParaRPr>
              </a:p>
            </p:txBody>
          </p:sp>
        </mc:Choice>
        <mc:Fallback>
          <p:sp>
            <p:nvSpPr>
              <p:cNvPr id="4" name="Rounded Rectangle 3"/>
              <p:cNvSpPr/>
              <p:nvPr/>
            </p:nvSpPr>
            <p:spPr>
              <a:xfrm>
                <a:off x="731520" y="1280160"/>
                <a:ext cx="10725912" cy="1109472"/>
              </a:xfrm>
              <a:prstGeom prst="roundRect">
                <a:avLst>
                  <a:gd name="adj" fmla="val 8000"/>
                </a:avLst>
              </a:prstGeom>
              <a:solidFill>
                <a:srgbClr val="FDE68A"/>
              </a:solidFill>
              <a:ln w="31750">
                <a:solidFill>
                  <a:srgbClr val="D97706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78350F"/>
              </a:fontRef>
            </p:style>
            <p:txBody>
              <a:bodyPr rtlCol="0" anchor="ctr" wrap="square" lIns="228600" rIns="228600" tIns="54864" bIns="73152"/>
              <a:lstStyle>
                <a:lvl1pPr>
                  <a:defRPr sz="2400">
                    <a:solidFill>
                      <a:srgbClr val="78350F"/>
                    </a:solidFill>
                  </a:defRPr>
                </a:lvl1pPr>
              </a:lstStyle>
              <a:p>
                <a:pPr algn="l">
                  <a:defRPr sz="2400">
                    <a:solidFill>
                      <a:srgbClr val="78350F"/>
                    </a:solidFill>
                  </a:defRPr>
                </a:pPr>
                <a:r>
                  <a:rPr sz="2400" b="1">
                    <a:solidFill>
                      <a:srgbClr val="78350F"/>
                    </a:solidFill>
                    <a:latin typeface="Arial"/>
                  </a:rPr>
                  <a:t>Key idea:  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Evaluate the identity at </a:t>
                </a:r>
                <a:r>
                  <a:rPr lang="en-IN" sz="2400">
                    <a:solidFill>
                      <a:srgbClr val="78350F"/>
                    </a:solidFill>
                    <a:latin typeface="Cambria Math" panose="02040503050406030204" pitchFamily="18" charset="0"/>
                  </a:rPr>
                  <a:t>$x=1$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 and its derivative at </a:t>
                </a:r>
                <a:r>
                  <a:rPr lang="en-IN" sz="2400">
                    <a:solidFill>
                      <a:srgbClr val="78350F"/>
                    </a:solidFill>
                    <a:latin typeface="Cambria Math" panose="02040503050406030204" pitchFamily="18" charset="0"/>
                  </a:rPr>
                  <a:t>$x=1$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: they give </a:t>
                </a:r>
                <a:r>
                  <a:rPr lang="en-IN" sz="2400">
                    <a:solidFill>
                      <a:srgbClr val="78350F"/>
                    </a:solidFill>
                    <a:latin typeface="Cambria Math" panose="02040503050406030204" pitchFamily="18" charset="0"/>
                  </a:rPr>
                  <a:t>$f''(1)=f'(1)^2$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 and </a:t>
                </a:r>
                <a:r>
                  <a:rPr lang="en-IN" sz="2400">
                    <a:solidFill>
                      <a:srgbClr val="78350F"/>
                    </a:solidFill>
                    <a:latin typeface="Cambria Math" panose="02040503050406030204" pitchFamily="18" charset="0"/>
                  </a:rPr>
                  <a:t>$f'(1)f''(1)=8$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.</a:t>
                </a:r>
                <a:endParaRPr sz="2400">
                  <a:solidFill>
                    <a:srgbClr val="78350F"/>
                  </a:solidFill>
                </a:endParaRP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5" name="Rectangle 4"/>
              <p:cNvSpPr/>
              <p:nvPr/>
            </p:nvSpPr>
            <p:spPr>
              <a:xfrm>
                <a:off x="731520" y="2526792"/>
                <a:ext cx="10725912" cy="4148328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The identity is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𝑓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𝑓</m:t>
                        </m:r>
                      </m:e>
                      <m:sup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″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𝑓</m:t>
                        </m:r>
                      </m:e>
                      <m:sup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′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𝑓</m:t>
                        </m:r>
                      </m:e>
                      <m:sup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′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 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Put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with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𝑓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: </a:t>
                </a:r>
                <a14:m>
                  <m:oMath xmlns:m="http://schemas.openxmlformats.org/officeDocument/2006/math"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𝑓</m:t>
                        </m:r>
                      </m:e>
                      <m:sup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″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𝑓</m:t>
                        </m:r>
                      </m:e>
                      <m:sup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′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  <m:sSup>
                      <m:e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)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 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Differentiate (1):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𝑓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𝑓</m:t>
                        </m:r>
                      </m:e>
                      <m:sup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‴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𝑓</m:t>
                        </m:r>
                      </m:e>
                      <m:sup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′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⋅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⋅</m:t>
                    </m:r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𝑓</m:t>
                        </m:r>
                      </m:e>
                      <m:sup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″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𝑓</m:t>
                        </m:r>
                      </m:e>
                      <m:sup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″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𝑓</m:t>
                        </m:r>
                      </m:e>
                      <m:sup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′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𝑓</m:t>
                        </m:r>
                      </m:e>
                      <m:sup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′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⋅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⋅</m:t>
                    </m:r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𝑓</m:t>
                        </m:r>
                      </m:e>
                      <m:sup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″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Put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: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𝑓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𝑓</m:t>
                        </m:r>
                      </m:e>
                      <m:sup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‴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𝑓</m:t>
                        </m:r>
                      </m:e>
                      <m:sup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′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𝑓</m:t>
                        </m:r>
                      </m:e>
                      <m:sup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″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𝑓</m:t>
                        </m:r>
                      </m:e>
                      <m:sup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″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𝑓</m:t>
                        </m:r>
                      </m:e>
                      <m:sup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′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𝑓</m:t>
                        </m:r>
                      </m:e>
                      <m:sup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′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𝑓</m:t>
                        </m:r>
                      </m:e>
                      <m:sup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″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Choice>
        <mc:Fallback>
          <p:sp>
            <p:nvSpPr>
              <p:cNvPr id="5" name="Rectangle 4"/>
              <p:cNvSpPr/>
              <p:nvPr/>
            </p:nvSpPr>
            <p:spPr>
              <a:xfrm>
                <a:off x="731520" y="2526792"/>
                <a:ext cx="10725912" cy="4148328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The identity is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$f(x^2)f''(x)=f'(x)f'(x^2)$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$\quad(1)$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Put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$x=1$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with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$f(1)=1$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: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$f''(1)=f'(1)^2$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$\quad(2)$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Differentiate (1):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$f(x^2)f'''(x)+f'(x^2)\cdot2x\cdot f''(x)=f''(x)f'(x^2)+f'(x)\cdot2x\cdot f''(x^2)$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Put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$x=1$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: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$f(1)f'''(1)+2f'(1)f''(1)=f''(1)f'(1)+2f'(1)f''(1)$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Fallback>
      </mc:AlternateContent>
    </p:spTree>
  </p:cSld>
  <p:clrMapOvr>
    <a:masterClrMapping/>
  </p:clrMapOvr>
</p:sld>
</file>

<file path=ppt/slides/slide2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FFFFFF"/>
          </a:fontRef>
        </p:style>
        <p:txBody>
          <a:bodyPr rtlCol="0" anchor="ctr" lIns="731520"/>
          <a:lstStyle>
            <a:lvl1pPr>
              <a:defRPr sz="3200">
                <a:solidFill>
                  <a:srgbClr val="FFFFFF"/>
                </a:solidFill>
              </a:defRPr>
            </a:lvl1pPr>
          </a:lstStyle>
          <a:p>
            <a:pPr algn="l">
              <a:defRPr sz="3200">
                <a:solidFill>
                  <a:srgbClr val="FFFFFF"/>
                </a:solidFill>
              </a:defRPr>
            </a:pPr>
            <a:r>
              <a:rPr sz="3200" b="1">
                <a:solidFill>
                  <a:srgbClr val="FFFFFF"/>
                </a:solidFill>
                <a:latin typeface="Arial"/>
              </a:rPr>
              <a:t>Question 04</a:t>
            </a:r>
            <a:endParaRPr sz="3200">
              <a:solidFill>
                <a:srgbClr val="FFFFFF"/>
              </a:solidFill>
            </a:endParaRPr>
          </a:p>
        </p:txBody>
      </p:sp>
      <p:sp>
        <p:nvSpPr>
          <p:cNvPr id="3" name="Rounded Rectangle 2"/>
          <p:cNvSpPr/>
          <p:nvPr/>
        </p:nvSpPr>
        <p:spPr>
          <a:xfrm>
            <a:off x="7894015" y="246887"/>
            <a:ext cx="3840480" cy="603504"/>
          </a:xfrm>
          <a:prstGeom prst="roundRect">
            <a:avLst>
              <a:gd name="adj" fmla="val 50000"/>
            </a:avLst>
          </a:prstGeom>
          <a:solidFill>
            <a:srgbClr val="F6B26B"/>
          </a:solidFill>
          <a:ln w="1905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111827"/>
          </a:fontRef>
        </p:style>
        <p:txBody>
          <a:bodyPr rtlCol="0" anchor="ctr" wrap="square" lIns="228600" rIns="228600" tIns="18288" bIns="18288"/>
          <a:lstStyle>
            <a:lvl1pPr>
              <a:defRPr sz="2400">
                <a:solidFill>
                  <a:srgbClr val="111827"/>
                </a:solidFill>
              </a:defRPr>
            </a:lvl1pPr>
          </a:lstStyle>
          <a:p>
            <a:pPr algn="ctr">
              <a:defRPr sz="2400">
                <a:solidFill>
                  <a:srgbClr val="111827"/>
                </a:solidFill>
              </a:defRPr>
            </a:pPr>
            <a:r>
              <a:rPr sz="2400" b="1">
                <a:solidFill>
                  <a:srgbClr val="111827"/>
                </a:solidFill>
                <a:latin typeface="Arial"/>
              </a:rPr>
              <a:t>Level 3  ·  4 Marks</a:t>
            </a:r>
            <a:endParaRPr sz="2400">
              <a:solidFill>
                <a:srgbClr val="111827"/>
              </a:solidFill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4" name="Rectangle 3"/>
              <p:cNvSpPr/>
              <p:nvPr/>
            </p:nvSpPr>
            <p:spPr>
              <a:xfrm>
                <a:off x="731520" y="1353312"/>
                <a:ext cx="10725912" cy="4434840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With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𝑓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and </a:t>
                </a:r>
                <a14:m>
                  <m:oMath xmlns:m="http://schemas.openxmlformats.org/officeDocument/2006/math"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𝑓</m:t>
                        </m:r>
                      </m:e>
                      <m:sup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‴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8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: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8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𝑓</m:t>
                        </m:r>
                      </m:e>
                      <m:sup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′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𝑓</m:t>
                        </m:r>
                      </m:e>
                      <m:sup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″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 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3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From (2) and (3): </a:t>
                </a:r>
                <a14:m>
                  <m:oMath xmlns:m="http://schemas.openxmlformats.org/officeDocument/2006/math"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𝑓</m:t>
                        </m:r>
                      </m:e>
                      <m:sup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′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  <m:sSup>
                      <m:e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)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3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8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so </a:t>
                </a:r>
                <a14:m>
                  <m:oMath xmlns:m="http://schemas.openxmlformats.org/officeDocument/2006/math"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𝑓</m:t>
                        </m:r>
                      </m:e>
                      <m:sup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′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and </a:t>
                </a:r>
                <a14:m>
                  <m:oMath xmlns:m="http://schemas.openxmlformats.org/officeDocument/2006/math"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𝑓</m:t>
                        </m:r>
                      </m:e>
                      <m:sup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″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4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Therefore </a:t>
                </a:r>
                <a14:m>
                  <m:oMath xmlns:m="http://schemas.openxmlformats.org/officeDocument/2006/math"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𝑓</m:t>
                        </m:r>
                      </m:e>
                      <m:sup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′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𝑓</m:t>
                        </m:r>
                      </m:e>
                      <m:sup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″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6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Choice>
        <mc:Fallback>
          <p:sp>
            <p:nvSpPr>
              <p:cNvPr id="4" name="Rectangle 3"/>
              <p:cNvSpPr/>
              <p:nvPr/>
            </p:nvSpPr>
            <p:spPr>
              <a:xfrm>
                <a:off x="731520" y="1353312"/>
                <a:ext cx="10725912" cy="4434840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With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$f(1)=1$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and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$f'''(1)=8$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: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$8=f'(1)f''(1)$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$\quad(3)$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From (2) and (3):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$f'(1)^3=8$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so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$f'(1)=2$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and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$f''(1)=4$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Therefore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$f'(1)+f''(1)=6$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5" name="Rounded Rectangle 4"/>
              <p:cNvSpPr/>
              <p:nvPr/>
            </p:nvSpPr>
            <p:spPr>
              <a:xfrm>
                <a:off x="731520" y="5897880"/>
                <a:ext cx="10725912" cy="777240"/>
              </a:xfrm>
              <a:prstGeom prst="roundRect">
                <a:avLst>
                  <a:gd name="adj" fmla="val 8000"/>
                </a:avLst>
              </a:prstGeom>
              <a:solidFill>
                <a:srgbClr val="DCFCE7"/>
              </a:solidFill>
              <a:ln w="25400">
                <a:solidFill>
                  <a:srgbClr val="15803D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5803D"/>
              </a:fontRef>
            </p:style>
            <p:txBody>
              <a:bodyPr rtlCol="0" anchor="ctr" wrap="square" lIns="228600" rIns="228600" tIns="18288" bIns="73152"/>
              <a:lstStyle>
                <a:lvl1pPr>
                  <a:defRPr sz="2800">
                    <a:solidFill>
                      <a:srgbClr val="15803D"/>
                    </a:solidFill>
                  </a:defRPr>
                </a:lvl1pPr>
              </a:lstStyle>
              <a:p>
                <a:pPr algn="ctr">
                  <a:defRPr sz="2800">
                    <a:solidFill>
                      <a:srgbClr val="15803D"/>
                    </a:solidFill>
                  </a:defRPr>
                </a:pPr>
                <a:r>
                  <a:rPr sz="2800" b="1">
                    <a:solidFill>
                      <a:srgbClr val="15803D"/>
                    </a:solidFill>
                    <a:latin typeface="Arial"/>
                  </a:rPr>
                  <a:t>Correct Answer: </a:t>
                </a:r>
                <a14:m>
                  <m:oMath xmlns:m="http://schemas.openxmlformats.org/officeDocument/2006/math">
                    <m:r>
                      <a:rPr lang="en-IN" sz="2800" i="1">
                        <a:solidFill>
                          <a:srgbClr val="15803D"/>
                        </a:solidFill>
                        <a:latin typeface="Cambria Math" panose="02040503050406030204" pitchFamily="18" charset="0"/>
                      </a:rPr>
                      <m:t>6</m:t>
                    </m:r>
                  </m:oMath>
                </a14:m>
                <a:endParaRPr sz="2800">
                  <a:solidFill>
                    <a:srgbClr val="15803D"/>
                  </a:solidFill>
                </a:endParaRPr>
              </a:p>
            </p:txBody>
          </p:sp>
        </mc:Choice>
        <mc:Fallback>
          <p:sp>
            <p:nvSpPr>
              <p:cNvPr id="5" name="Rounded Rectangle 4"/>
              <p:cNvSpPr/>
              <p:nvPr/>
            </p:nvSpPr>
            <p:spPr>
              <a:xfrm>
                <a:off x="731520" y="5897880"/>
                <a:ext cx="10725912" cy="777240"/>
              </a:xfrm>
              <a:prstGeom prst="roundRect">
                <a:avLst>
                  <a:gd name="adj" fmla="val 8000"/>
                </a:avLst>
              </a:prstGeom>
              <a:solidFill>
                <a:srgbClr val="DCFCE7"/>
              </a:solidFill>
              <a:ln w="25400">
                <a:solidFill>
                  <a:srgbClr val="15803D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5803D"/>
              </a:fontRef>
            </p:style>
            <p:txBody>
              <a:bodyPr rtlCol="0" anchor="ctr" wrap="square" lIns="228600" rIns="228600" tIns="18288" bIns="73152"/>
              <a:lstStyle>
                <a:lvl1pPr>
                  <a:defRPr sz="2800">
                    <a:solidFill>
                      <a:srgbClr val="15803D"/>
                    </a:solidFill>
                  </a:defRPr>
                </a:lvl1pPr>
              </a:lstStyle>
              <a:p>
                <a:pPr algn="ctr">
                  <a:defRPr sz="2800">
                    <a:solidFill>
                      <a:srgbClr val="15803D"/>
                    </a:solidFill>
                  </a:defRPr>
                </a:pPr>
                <a:r>
                  <a:rPr sz="2800" b="1">
                    <a:solidFill>
                      <a:srgbClr val="15803D"/>
                    </a:solidFill>
                    <a:latin typeface="Arial"/>
                  </a:rPr>
                  <a:t>Correct Answer: </a:t>
                </a:r>
                <a:r>
                  <a:rPr lang="en-IN" sz="2800">
                    <a:solidFill>
                      <a:srgbClr val="15803D"/>
                    </a:solidFill>
                    <a:latin typeface="Cambria Math" panose="02040503050406030204" pitchFamily="18" charset="0"/>
                  </a:rPr>
                  <a:t>$6$</a:t>
                </a:r>
                <a:endParaRPr sz="2800">
                  <a:solidFill>
                    <a:srgbClr val="15803D"/>
                  </a:solidFill>
                </a:endParaRPr>
              </a:p>
            </p:txBody>
          </p:sp>
        </mc:Fallback>
      </mc:AlternateContent>
    </p:spTree>
  </p:cSld>
  <p:clrMapOvr>
    <a:masterClrMapping/>
  </p:clrMapOvr>
</p:sld>
</file>

<file path=ppt/slides/slide2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FFFFFF"/>
          </a:fontRef>
        </p:style>
        <p:txBody>
          <a:bodyPr rtlCol="0" anchor="ctr" lIns="731520"/>
          <a:lstStyle>
            <a:lvl1pPr>
              <a:defRPr sz="3200">
                <a:solidFill>
                  <a:srgbClr val="FFFFFF"/>
                </a:solidFill>
              </a:defRPr>
            </a:lvl1pPr>
          </a:lstStyle>
          <a:p>
            <a:pPr algn="l">
              <a:defRPr sz="3200">
                <a:solidFill>
                  <a:srgbClr val="FFFFFF"/>
                </a:solidFill>
              </a:defRPr>
            </a:pPr>
            <a:r>
              <a:rPr sz="3200" b="1">
                <a:solidFill>
                  <a:srgbClr val="FFFFFF"/>
                </a:solidFill>
                <a:latin typeface="Arial"/>
              </a:rPr>
              <a:t>Question 04</a:t>
            </a:r>
            <a:endParaRPr sz="3200">
              <a:solidFill>
                <a:srgbClr val="FFFFFF"/>
              </a:solidFill>
            </a:endParaRPr>
          </a:p>
        </p:txBody>
      </p:sp>
      <p:sp>
        <p:nvSpPr>
          <p:cNvPr id="3" name="Rounded Rectangle 2"/>
          <p:cNvSpPr/>
          <p:nvPr/>
        </p:nvSpPr>
        <p:spPr>
          <a:xfrm>
            <a:off x="7894015" y="246887"/>
            <a:ext cx="3840480" cy="603504"/>
          </a:xfrm>
          <a:prstGeom prst="roundRect">
            <a:avLst>
              <a:gd name="adj" fmla="val 50000"/>
            </a:avLst>
          </a:prstGeom>
          <a:solidFill>
            <a:srgbClr val="F6B26B"/>
          </a:solidFill>
          <a:ln w="1905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111827"/>
          </a:fontRef>
        </p:style>
        <p:txBody>
          <a:bodyPr rtlCol="0" anchor="ctr" wrap="square" lIns="228600" rIns="228600" tIns="18288" bIns="18288"/>
          <a:lstStyle>
            <a:lvl1pPr>
              <a:defRPr sz="2400">
                <a:solidFill>
                  <a:srgbClr val="111827"/>
                </a:solidFill>
              </a:defRPr>
            </a:lvl1pPr>
          </a:lstStyle>
          <a:p>
            <a:pPr algn="ctr">
              <a:defRPr sz="2400">
                <a:solidFill>
                  <a:srgbClr val="111827"/>
                </a:solidFill>
              </a:defRPr>
            </a:pPr>
            <a:r>
              <a:rPr sz="2400" b="1">
                <a:solidFill>
                  <a:srgbClr val="111827"/>
                </a:solidFill>
                <a:latin typeface="Arial"/>
              </a:rPr>
              <a:t>Level 3  ·  4 Marks</a:t>
            </a:r>
            <a:endParaRPr sz="2400">
              <a:solidFill>
                <a:srgbClr val="111827"/>
              </a:solidFill>
            </a:endParaRPr>
          </a:p>
        </p:txBody>
      </p:sp>
      <p:sp>
        <p:nvSpPr>
          <p:cNvPr id="4" name="Rounded Rectangle 3"/>
          <p:cNvSpPr/>
          <p:nvPr/>
        </p:nvSpPr>
        <p:spPr>
          <a:xfrm>
            <a:off x="3520440" y="265176"/>
            <a:ext cx="4206240" cy="566928"/>
          </a:xfrm>
          <a:prstGeom prst="roundRect">
            <a:avLst>
              <a:gd name="adj" fmla="val 50000"/>
            </a:avLst>
          </a:prstGeom>
          <a:solidFill>
            <a:srgbClr val="FDE68A"/>
          </a:solidFill>
          <a:ln w="25400">
            <a:solidFill>
              <a:srgbClr val="D9770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78350F"/>
          </a:fontRef>
        </p:style>
        <p:txBody>
          <a:bodyPr rtlCol="0" anchor="ctr" wrap="square" lIns="228600" rIns="228600" tIns="18288" bIns="18288"/>
          <a:lstStyle>
            <a:lvl1pPr>
              <a:defRPr sz="2200">
                <a:solidFill>
                  <a:srgbClr val="78350F"/>
                </a:solidFill>
              </a:defRPr>
            </a:lvl1pPr>
          </a:lstStyle>
          <a:p>
            <a:pPr algn="ctr">
              <a:defRPr sz="2200">
                <a:solidFill>
                  <a:srgbClr val="78350F"/>
                </a:solidFill>
              </a:defRPr>
            </a:pPr>
            <a:r>
              <a:rPr sz="2200" b="1">
                <a:solidFill>
                  <a:srgbClr val="78350F"/>
                </a:solidFill>
                <a:latin typeface="Arial"/>
              </a:rPr>
              <a:t>Alternate Solution</a:t>
            </a:r>
            <a:endParaRPr sz="2200">
              <a:solidFill>
                <a:srgbClr val="78350F"/>
              </a:solidFill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5" name="Rounded Rectangle 4"/>
              <p:cNvSpPr/>
              <p:nvPr/>
            </p:nvSpPr>
            <p:spPr>
              <a:xfrm>
                <a:off x="731520" y="1280160"/>
                <a:ext cx="10725912" cy="1700784"/>
              </a:xfrm>
              <a:prstGeom prst="roundRect">
                <a:avLst>
                  <a:gd name="adj" fmla="val 8000"/>
                </a:avLst>
              </a:prstGeom>
              <a:solidFill>
                <a:srgbClr val="FDE68A"/>
              </a:solidFill>
              <a:ln w="31750">
                <a:solidFill>
                  <a:srgbClr val="D97706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78350F"/>
              </a:fontRef>
            </p:style>
            <p:txBody>
              <a:bodyPr rtlCol="0" anchor="ctr" wrap="square" lIns="228600" rIns="228600" tIns="54864" bIns="73152"/>
              <a:lstStyle>
                <a:lvl1pPr>
                  <a:defRPr sz="2400">
                    <a:solidFill>
                      <a:srgbClr val="78350F"/>
                    </a:solidFill>
                  </a:defRPr>
                </a:lvl1pPr>
              </a:lstStyle>
              <a:p>
                <a:pPr algn="l">
                  <a:defRPr sz="2400">
                    <a:solidFill>
                      <a:srgbClr val="78350F"/>
                    </a:solidFill>
                  </a:defRPr>
                </a:pPr>
                <a:r>
                  <a:rPr sz="2400" b="1">
                    <a:solidFill>
                      <a:srgbClr val="78350F"/>
                    </a:solidFill>
                    <a:latin typeface="Arial"/>
                  </a:rPr>
                  <a:t>Idea:  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Divide by </a:t>
                </a:r>
                <a14:m>
                  <m:oMath xmlns:m="http://schemas.openxmlformats.org/officeDocument/2006/math">
                    <m:sSup>
                      <m:e>
                        <m: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𝑓</m:t>
                        </m:r>
                      </m:e>
                      <m:sup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′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𝑓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(</m:t>
                    </m:r>
                    <m:sSup>
                      <m:e>
                        <m: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  <m:sup>
                        <m: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: the identity says </a:t>
                </a:r>
                <a14:m>
                  <m:oMath xmlns:m="http://schemas.openxmlformats.org/officeDocument/2006/math"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sSup>
                          <m:e>
                            <m:r>
                              <a:rPr lang="en-IN" sz="2400" i="1">
                                <a:solidFill>
                                  <a:srgbClr val="78350F"/>
                                </a:solidFill>
                                <a:latin typeface="Cambria Math" panose="02040503050406030204" pitchFamily="18" charset="0"/>
                              </a:rPr>
                              <m:t>𝑓</m:t>
                            </m:r>
                          </m:e>
                          <m:sup>
                            <m:r>
                              <m:rPr>
                                <m:sty m:val="p"/>
                              </m:rPr>
                              <a:rPr lang="en-IN" sz="2400">
                                <a:solidFill>
                                  <a:srgbClr val="78350F"/>
                                </a:solidFill>
                                <a:latin typeface="Cambria Math" panose="02040503050406030204" pitchFamily="18" charset="0"/>
                              </a:rPr>
                              <m:t>″</m:t>
                            </m:r>
                          </m:sup>
                        </m:sSup>
                      </m:num>
                      <m:den>
                        <m:sSup>
                          <m:e>
                            <m:r>
                              <a:rPr lang="en-IN" sz="2400" i="1">
                                <a:solidFill>
                                  <a:srgbClr val="78350F"/>
                                </a:solidFill>
                                <a:latin typeface="Cambria Math" panose="02040503050406030204" pitchFamily="18" charset="0"/>
                              </a:rPr>
                              <m:t>𝑓</m:t>
                            </m:r>
                          </m:e>
                          <m:sup>
                            <m:r>
                              <m:rPr>
                                <m:sty m:val="p"/>
                              </m:rPr>
                              <a:rPr lang="en-IN" sz="2400">
                                <a:solidFill>
                                  <a:srgbClr val="78350F"/>
                                </a:solidFill>
                                <a:latin typeface="Cambria Math" panose="02040503050406030204" pitchFamily="18" charset="0"/>
                              </a:rPr>
                              <m:t>′</m:t>
                            </m:r>
                          </m:sup>
                        </m:sSup>
                      </m:den>
                    </m:f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sSup>
                          <m:e>
                            <m:r>
                              <a:rPr lang="en-IN" sz="2400" i="1">
                                <a:solidFill>
                                  <a:srgbClr val="78350F"/>
                                </a:solidFill>
                                <a:latin typeface="Cambria Math" panose="02040503050406030204" pitchFamily="18" charset="0"/>
                              </a:rPr>
                              <m:t>𝑓</m:t>
                            </m:r>
                          </m:e>
                          <m:sup>
                            <m:r>
                              <m:rPr>
                                <m:sty m:val="p"/>
                              </m:rPr>
                              <a:rPr lang="en-IN" sz="2400">
                                <a:solidFill>
                                  <a:srgbClr val="78350F"/>
                                </a:solidFill>
                                <a:latin typeface="Cambria Math" panose="02040503050406030204" pitchFamily="18" charset="0"/>
                              </a:rPr>
                              <m:t>′</m:t>
                            </m:r>
                          </m:sup>
                        </m:sSup>
                      </m:num>
                      <m:den>
                        <m: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𝑓</m:t>
                        </m:r>
                      </m:den>
                    </m:f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(</m:t>
                    </m:r>
                    <m:sSup>
                      <m:e>
                        <m: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  <m:sup>
                        <m: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, and the second derivative of the logarithms at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1</m:t>
                    </m:r>
                  </m:oMath>
                </a14:m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 vanishes.</a:t>
                </a:r>
                <a:endParaRPr sz="2400">
                  <a:solidFill>
                    <a:srgbClr val="78350F"/>
                  </a:solidFill>
                </a:endParaRPr>
              </a:p>
            </p:txBody>
          </p:sp>
        </mc:Choice>
        <mc:Fallback>
          <p:sp>
            <p:nvSpPr>
              <p:cNvPr id="5" name="Rounded Rectangle 4"/>
              <p:cNvSpPr/>
              <p:nvPr/>
            </p:nvSpPr>
            <p:spPr>
              <a:xfrm>
                <a:off x="731520" y="1280160"/>
                <a:ext cx="10725912" cy="1700784"/>
              </a:xfrm>
              <a:prstGeom prst="roundRect">
                <a:avLst>
                  <a:gd name="adj" fmla="val 8000"/>
                </a:avLst>
              </a:prstGeom>
              <a:solidFill>
                <a:srgbClr val="FDE68A"/>
              </a:solidFill>
              <a:ln w="31750">
                <a:solidFill>
                  <a:srgbClr val="D97706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78350F"/>
              </a:fontRef>
            </p:style>
            <p:txBody>
              <a:bodyPr rtlCol="0" anchor="ctr" wrap="square" lIns="228600" rIns="228600" tIns="54864" bIns="73152"/>
              <a:lstStyle>
                <a:lvl1pPr>
                  <a:defRPr sz="2400">
                    <a:solidFill>
                      <a:srgbClr val="78350F"/>
                    </a:solidFill>
                  </a:defRPr>
                </a:lvl1pPr>
              </a:lstStyle>
              <a:p>
                <a:pPr algn="l">
                  <a:defRPr sz="2400">
                    <a:solidFill>
                      <a:srgbClr val="78350F"/>
                    </a:solidFill>
                  </a:defRPr>
                </a:pPr>
                <a:r>
                  <a:rPr sz="2400" b="1">
                    <a:solidFill>
                      <a:srgbClr val="78350F"/>
                    </a:solidFill>
                    <a:latin typeface="Arial"/>
                  </a:rPr>
                  <a:t>Idea:  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Divide by </a:t>
                </a:r>
                <a:r>
                  <a:rPr lang="en-IN" sz="2400">
                    <a:solidFill>
                      <a:srgbClr val="78350F"/>
                    </a:solidFill>
                    <a:latin typeface="Cambria Math" panose="02040503050406030204" pitchFamily="18" charset="0"/>
                  </a:rPr>
                  <a:t>$f'(x)f(x^2)$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: the identity says </a:t>
                </a:r>
                <a:r>
                  <a:rPr lang="en-IN" sz="2400">
                    <a:solidFill>
                      <a:srgbClr val="78350F"/>
                    </a:solidFill>
                    <a:latin typeface="Cambria Math" panose="02040503050406030204" pitchFamily="18" charset="0"/>
                  </a:rPr>
                  <a:t>$\frac{f''}{f'}(x)=\frac{f'}{f}(x^2)$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, and the second derivative of the logarithms at </a:t>
                </a:r>
                <a:r>
                  <a:rPr lang="en-IN" sz="2400">
                    <a:solidFill>
                      <a:srgbClr val="78350F"/>
                    </a:solidFill>
                    <a:latin typeface="Cambria Math" panose="02040503050406030204" pitchFamily="18" charset="0"/>
                  </a:rPr>
                  <a:t>$x=1$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 vanishes.</a:t>
                </a:r>
                <a:endParaRPr sz="2400">
                  <a:solidFill>
                    <a:srgbClr val="78350F"/>
                  </a:solidFill>
                </a:endParaRP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6" name="Rectangle 5"/>
              <p:cNvSpPr/>
              <p:nvPr/>
            </p:nvSpPr>
            <p:spPr>
              <a:xfrm>
                <a:off x="731520" y="3118103"/>
                <a:ext cx="10725912" cy="3557016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Write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φ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ln</m:t>
                    </m:r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𝑓</m:t>
                        </m:r>
                      </m:e>
                      <m:sup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′</m:t>
                        </m:r>
                      </m:sup>
                    </m:sSup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and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ψ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ln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𝑓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near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(where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𝑓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,</m:t>
                    </m:r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𝑓</m:t>
                        </m:r>
                      </m:e>
                      <m:sup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′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≠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0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). The identity is </a:t>
                </a:r>
                <a14:m>
                  <m:oMath xmlns:m="http://schemas.openxmlformats.org/officeDocument/2006/math"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φ</m:t>
                        </m:r>
                      </m:e>
                      <m:sup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′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ψ</m:t>
                        </m:r>
                      </m:e>
                      <m:sup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′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Differentiate: </a:t>
                </a:r>
                <a14:m>
                  <m:oMath xmlns:m="http://schemas.openxmlformats.org/officeDocument/2006/math"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φ</m:t>
                        </m:r>
                      </m:e>
                      <m:sup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″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 </m:t>
                    </m:r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ψ</m:t>
                        </m:r>
                      </m:e>
                      <m:sup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″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 At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: </a:t>
                </a:r>
                <a14:m>
                  <m:oMath xmlns:m="http://schemas.openxmlformats.org/officeDocument/2006/math"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φ</m:t>
                        </m:r>
                      </m:e>
                      <m:sup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″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ψ</m:t>
                        </m:r>
                      </m:e>
                      <m:sup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″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14:m>
                  <m:oMath xmlns:m="http://schemas.openxmlformats.org/officeDocument/2006/math"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ψ</m:t>
                        </m:r>
                      </m:e>
                      <m:sup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″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𝑓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(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)</m:t>
                        </m:r>
                        <m:sSup>
                          <m:e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𝑓</m:t>
                            </m:r>
                          </m:e>
                          <m:sup>
                            <m:r>
                              <m:rPr>
                                <m:sty m:val="p"/>
                              </m:rPr>
                              <a:rPr lang="en-IN" sz="2400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″</m:t>
                            </m:r>
                          </m:sup>
                        </m:sSup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(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)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−</m:t>
                        </m:r>
                        <m:sSup>
                          <m:e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𝑓</m:t>
                            </m:r>
                          </m:e>
                          <m:sup>
                            <m:r>
                              <m:rPr>
                                <m:sty m:val="p"/>
                              </m:rPr>
                              <a:rPr lang="en-IN" sz="2400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′</m:t>
                            </m:r>
                          </m:sup>
                        </m:sSup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(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  <m:sSup>
                          <m:e>
                            <m:r>
                              <m:rPr>
                                <m:sty m:val="p"/>
                              </m:rPr>
                              <a:rPr lang="en-IN" sz="2400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)</m:t>
                            </m:r>
                          </m:e>
                          <m:sup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2</m:t>
                            </m:r>
                          </m:sup>
                        </m:sSup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𝑓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(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  <m:sSup>
                          <m:e>
                            <m:r>
                              <m:rPr>
                                <m:sty m:val="p"/>
                              </m:rPr>
                              <a:rPr lang="en-IN" sz="2400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)</m:t>
                            </m:r>
                          </m:e>
                          <m:sup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2</m:t>
                            </m:r>
                          </m:sup>
                        </m:sSup>
                      </m:den>
                    </m:f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𝑓</m:t>
                        </m:r>
                      </m:e>
                      <m:sup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″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𝑓</m:t>
                        </m:r>
                      </m:e>
                      <m:sup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′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  <m:sSup>
                      <m:e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)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0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by the identity at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Choice>
        <mc:Fallback>
          <p:sp>
            <p:nvSpPr>
              <p:cNvPr id="6" name="Rectangle 5"/>
              <p:cNvSpPr/>
              <p:nvPr/>
            </p:nvSpPr>
            <p:spPr>
              <a:xfrm>
                <a:off x="731520" y="3118103"/>
                <a:ext cx="10725912" cy="3557016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Write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$\varphi=\ln f'$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and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$\psi=\ln f$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near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$x=1$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(where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$f,f'\neq0$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). The identity is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$\varphi'(x)=\psi'(x^2)$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Differentiate: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$\varphi''(x)=2x\,\psi''(x^2)$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 At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$x=1$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: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$\varphi''(1)=2\psi''(1)$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$\psi''(1)=\frac{f(1)f''(1)-f'(1)^2}{f(1)^2}=f''(1)-f'(1)^2=0$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by the identity at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$x=1$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Fallback>
      </mc:AlternateContent>
    </p:spTree>
  </p:cSld>
  <p:clrMapOvr>
    <a:masterClrMapping/>
  </p:clrMapOvr>
</p:sld>
</file>

<file path=ppt/slides/slide2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FFFFFF"/>
          </a:fontRef>
        </p:style>
        <p:txBody>
          <a:bodyPr rtlCol="0" anchor="ctr" lIns="731520"/>
          <a:lstStyle>
            <a:lvl1pPr>
              <a:defRPr sz="3200">
                <a:solidFill>
                  <a:srgbClr val="FFFFFF"/>
                </a:solidFill>
              </a:defRPr>
            </a:lvl1pPr>
          </a:lstStyle>
          <a:p>
            <a:pPr algn="l">
              <a:defRPr sz="3200">
                <a:solidFill>
                  <a:srgbClr val="FFFFFF"/>
                </a:solidFill>
              </a:defRPr>
            </a:pPr>
            <a:r>
              <a:rPr sz="3200" b="1">
                <a:solidFill>
                  <a:srgbClr val="FFFFFF"/>
                </a:solidFill>
                <a:latin typeface="Arial"/>
              </a:rPr>
              <a:t>Question 04</a:t>
            </a:r>
            <a:endParaRPr sz="3200">
              <a:solidFill>
                <a:srgbClr val="FFFFFF"/>
              </a:solidFill>
            </a:endParaRPr>
          </a:p>
        </p:txBody>
      </p:sp>
      <p:sp>
        <p:nvSpPr>
          <p:cNvPr id="3" name="Rounded Rectangle 2"/>
          <p:cNvSpPr/>
          <p:nvPr/>
        </p:nvSpPr>
        <p:spPr>
          <a:xfrm>
            <a:off x="7894015" y="246887"/>
            <a:ext cx="3840480" cy="603504"/>
          </a:xfrm>
          <a:prstGeom prst="roundRect">
            <a:avLst>
              <a:gd name="adj" fmla="val 50000"/>
            </a:avLst>
          </a:prstGeom>
          <a:solidFill>
            <a:srgbClr val="F6B26B"/>
          </a:solidFill>
          <a:ln w="1905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111827"/>
          </a:fontRef>
        </p:style>
        <p:txBody>
          <a:bodyPr rtlCol="0" anchor="ctr" wrap="square" lIns="228600" rIns="228600" tIns="18288" bIns="18288"/>
          <a:lstStyle>
            <a:lvl1pPr>
              <a:defRPr sz="2400">
                <a:solidFill>
                  <a:srgbClr val="111827"/>
                </a:solidFill>
              </a:defRPr>
            </a:lvl1pPr>
          </a:lstStyle>
          <a:p>
            <a:pPr algn="ctr">
              <a:defRPr sz="2400">
                <a:solidFill>
                  <a:srgbClr val="111827"/>
                </a:solidFill>
              </a:defRPr>
            </a:pPr>
            <a:r>
              <a:rPr sz="2400" b="1">
                <a:solidFill>
                  <a:srgbClr val="111827"/>
                </a:solidFill>
                <a:latin typeface="Arial"/>
              </a:rPr>
              <a:t>Level 3  ·  4 Marks</a:t>
            </a:r>
            <a:endParaRPr sz="2400">
              <a:solidFill>
                <a:srgbClr val="111827"/>
              </a:solidFill>
            </a:endParaRPr>
          </a:p>
        </p:txBody>
      </p:sp>
      <p:sp>
        <p:nvSpPr>
          <p:cNvPr id="4" name="Rounded Rectangle 3"/>
          <p:cNvSpPr/>
          <p:nvPr/>
        </p:nvSpPr>
        <p:spPr>
          <a:xfrm>
            <a:off x="3520440" y="265176"/>
            <a:ext cx="4206240" cy="566928"/>
          </a:xfrm>
          <a:prstGeom prst="roundRect">
            <a:avLst>
              <a:gd name="adj" fmla="val 50000"/>
            </a:avLst>
          </a:prstGeom>
          <a:solidFill>
            <a:srgbClr val="FDE68A"/>
          </a:solidFill>
          <a:ln w="25400">
            <a:solidFill>
              <a:srgbClr val="D9770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78350F"/>
          </a:fontRef>
        </p:style>
        <p:txBody>
          <a:bodyPr rtlCol="0" anchor="ctr" wrap="square" lIns="228600" rIns="228600" tIns="18288" bIns="18288"/>
          <a:lstStyle>
            <a:lvl1pPr>
              <a:defRPr sz="2200">
                <a:solidFill>
                  <a:srgbClr val="78350F"/>
                </a:solidFill>
              </a:defRPr>
            </a:lvl1pPr>
          </a:lstStyle>
          <a:p>
            <a:pPr algn="ctr">
              <a:defRPr sz="2200">
                <a:solidFill>
                  <a:srgbClr val="78350F"/>
                </a:solidFill>
              </a:defRPr>
            </a:pPr>
            <a:r>
              <a:rPr sz="2200" b="1">
                <a:solidFill>
                  <a:srgbClr val="78350F"/>
                </a:solidFill>
                <a:latin typeface="Arial"/>
              </a:rPr>
              <a:t>Alternate Solution</a:t>
            </a:r>
            <a:endParaRPr sz="2200">
              <a:solidFill>
                <a:srgbClr val="78350F"/>
              </a:solidFill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5" name="Rectangle 4"/>
              <p:cNvSpPr/>
              <p:nvPr/>
            </p:nvSpPr>
            <p:spPr>
              <a:xfrm>
                <a:off x="731520" y="1353312"/>
                <a:ext cx="10725912" cy="4434840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So </a:t>
                </a:r>
                <a14:m>
                  <m:oMath xmlns:m="http://schemas.openxmlformats.org/officeDocument/2006/math"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φ</m:t>
                        </m:r>
                      </m:e>
                      <m:sup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″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0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: </a:t>
                </a:r>
                <a14:m>
                  <m:oMath xmlns:m="http://schemas.openxmlformats.org/officeDocument/2006/math"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sSup>
                          <m:e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𝑓</m:t>
                            </m:r>
                          </m:e>
                          <m:sup>
                            <m:r>
                              <m:rPr>
                                <m:sty m:val="p"/>
                              </m:rPr>
                              <a:rPr lang="en-IN" sz="2400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‴</m:t>
                            </m:r>
                          </m:sup>
                        </m:sSup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(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)</m:t>
                        </m:r>
                        <m:sSup>
                          <m:e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𝑓</m:t>
                            </m:r>
                          </m:e>
                          <m:sup>
                            <m:r>
                              <m:rPr>
                                <m:sty m:val="p"/>
                              </m:rPr>
                              <a:rPr lang="en-IN" sz="2400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′</m:t>
                            </m:r>
                          </m:sup>
                        </m:sSup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(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)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−</m:t>
                        </m:r>
                        <m:sSup>
                          <m:e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𝑓</m:t>
                            </m:r>
                          </m:e>
                          <m:sup>
                            <m:r>
                              <m:rPr>
                                <m:sty m:val="p"/>
                              </m:rPr>
                              <a:rPr lang="en-IN" sz="2400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″</m:t>
                            </m:r>
                          </m:sup>
                        </m:sSup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(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  <m:sSup>
                          <m:e>
                            <m:r>
                              <m:rPr>
                                <m:sty m:val="p"/>
                              </m:rPr>
                              <a:rPr lang="en-IN" sz="2400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)</m:t>
                            </m:r>
                          </m:e>
                          <m:sup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2</m:t>
                            </m:r>
                          </m:sup>
                        </m:sSup>
                      </m:num>
                      <m:den>
                        <m:sSup>
                          <m:e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𝑓</m:t>
                            </m:r>
                          </m:e>
                          <m:sup>
                            <m:r>
                              <m:rPr>
                                <m:sty m:val="p"/>
                              </m:rPr>
                              <a:rPr lang="en-IN" sz="2400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′</m:t>
                            </m:r>
                          </m:sup>
                        </m:sSup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(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  <m:sSup>
                          <m:e>
                            <m:r>
                              <m:rPr>
                                <m:sty m:val="p"/>
                              </m:rPr>
                              <a:rPr lang="en-IN" sz="2400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)</m:t>
                            </m:r>
                          </m:e>
                          <m:sup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2</m:t>
                            </m:r>
                          </m:sup>
                        </m:sSup>
                      </m:den>
                    </m:f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0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i.e. </a:t>
                </a:r>
                <a14:m>
                  <m:oMath xmlns:m="http://schemas.openxmlformats.org/officeDocument/2006/math"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𝑓</m:t>
                        </m:r>
                      </m:e>
                      <m:sup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‴</m:t>
                        </m:r>
                      </m:sup>
                    </m:sSup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𝑓</m:t>
                        </m:r>
                      </m:e>
                      <m:sup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′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𝑓</m:t>
                        </m:r>
                      </m:e>
                      <m:sup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″</m:t>
                        </m:r>
                      </m:sup>
                    </m:sSup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​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With </a:t>
                </a:r>
                <a14:m>
                  <m:oMath xmlns:m="http://schemas.openxmlformats.org/officeDocument/2006/math"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𝑓</m:t>
                        </m:r>
                      </m:e>
                      <m:sup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″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𝑓</m:t>
                        </m:r>
                      </m:e>
                      <m:sup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′</m:t>
                        </m:r>
                      </m:sup>
                    </m:sSup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​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: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8</m:t>
                    </m:r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𝑓</m:t>
                        </m:r>
                      </m:e>
                      <m:sup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′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𝑓</m:t>
                        </m:r>
                      </m:e>
                      <m:sup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′</m:t>
                        </m:r>
                      </m:sup>
                    </m:sSup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​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4</m:t>
                        </m:r>
                      </m:sup>
                    </m:sSup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so </a:t>
                </a:r>
                <a14:m>
                  <m:oMath xmlns:m="http://schemas.openxmlformats.org/officeDocument/2006/math"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𝑓</m:t>
                        </m:r>
                      </m:e>
                      <m:sup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′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  <m:sSup>
                      <m:e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)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3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8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</a:t>
                </a:r>
                <a14:m>
                  <m:oMath xmlns:m="http://schemas.openxmlformats.org/officeDocument/2006/math"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𝑓</m:t>
                        </m:r>
                      </m:e>
                      <m:sup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′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</a:t>
                </a:r>
                <a14:m>
                  <m:oMath xmlns:m="http://schemas.openxmlformats.org/officeDocument/2006/math"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𝑓</m:t>
                        </m:r>
                      </m:e>
                      <m:sup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″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4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and the sum is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6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Choice>
        <mc:Fallback>
          <p:sp>
            <p:nvSpPr>
              <p:cNvPr id="5" name="Rectangle 4"/>
              <p:cNvSpPr/>
              <p:nvPr/>
            </p:nvSpPr>
            <p:spPr>
              <a:xfrm>
                <a:off x="731520" y="1353312"/>
                <a:ext cx="10725912" cy="4434840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So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$\varphi''(1)=0$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: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$\frac{f'''(1)f'(1)-f''(1)^2}{f'(1)^2}=0$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i.e.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$f'''f'=f''^2$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With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$f''=f'^2$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: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$8f'=f'^4$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so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$f'(1)^3=8$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$f'(1)=2$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$f''(1)=4$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and the sum is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$6$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6" name="Rounded Rectangle 5"/>
              <p:cNvSpPr/>
              <p:nvPr/>
            </p:nvSpPr>
            <p:spPr>
              <a:xfrm>
                <a:off x="731520" y="5897880"/>
                <a:ext cx="10725912" cy="777240"/>
              </a:xfrm>
              <a:prstGeom prst="roundRect">
                <a:avLst>
                  <a:gd name="adj" fmla="val 8000"/>
                </a:avLst>
              </a:prstGeom>
              <a:solidFill>
                <a:srgbClr val="DCFCE7"/>
              </a:solidFill>
              <a:ln w="25400">
                <a:solidFill>
                  <a:srgbClr val="15803D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5803D"/>
              </a:fontRef>
            </p:style>
            <p:txBody>
              <a:bodyPr rtlCol="0" anchor="ctr" wrap="square" lIns="228600" rIns="228600" tIns="18288" bIns="73152"/>
              <a:lstStyle>
                <a:lvl1pPr>
                  <a:defRPr sz="2800">
                    <a:solidFill>
                      <a:srgbClr val="15803D"/>
                    </a:solidFill>
                  </a:defRPr>
                </a:lvl1pPr>
              </a:lstStyle>
              <a:p>
                <a:pPr algn="ctr">
                  <a:defRPr sz="2800">
                    <a:solidFill>
                      <a:srgbClr val="15803D"/>
                    </a:solidFill>
                  </a:defRPr>
                </a:pPr>
                <a:r>
                  <a:rPr sz="2800" b="1">
                    <a:solidFill>
                      <a:srgbClr val="15803D"/>
                    </a:solidFill>
                    <a:latin typeface="Arial"/>
                  </a:rPr>
                  <a:t>Same answer: </a:t>
                </a:r>
                <a14:m>
                  <m:oMath xmlns:m="http://schemas.openxmlformats.org/officeDocument/2006/math">
                    <m:r>
                      <a:rPr lang="en-IN" sz="2800" i="1">
                        <a:solidFill>
                          <a:srgbClr val="15803D"/>
                        </a:solidFill>
                        <a:latin typeface="Cambria Math" panose="02040503050406030204" pitchFamily="18" charset="0"/>
                      </a:rPr>
                      <m:t>6</m:t>
                    </m:r>
                  </m:oMath>
                </a14:m>
                <a:endParaRPr sz="2800">
                  <a:solidFill>
                    <a:srgbClr val="15803D"/>
                  </a:solidFill>
                </a:endParaRPr>
              </a:p>
            </p:txBody>
          </p:sp>
        </mc:Choice>
        <mc:Fallback>
          <p:sp>
            <p:nvSpPr>
              <p:cNvPr id="6" name="Rounded Rectangle 5"/>
              <p:cNvSpPr/>
              <p:nvPr/>
            </p:nvSpPr>
            <p:spPr>
              <a:xfrm>
                <a:off x="731520" y="5897880"/>
                <a:ext cx="10725912" cy="777240"/>
              </a:xfrm>
              <a:prstGeom prst="roundRect">
                <a:avLst>
                  <a:gd name="adj" fmla="val 8000"/>
                </a:avLst>
              </a:prstGeom>
              <a:solidFill>
                <a:srgbClr val="DCFCE7"/>
              </a:solidFill>
              <a:ln w="25400">
                <a:solidFill>
                  <a:srgbClr val="15803D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5803D"/>
              </a:fontRef>
            </p:style>
            <p:txBody>
              <a:bodyPr rtlCol="0" anchor="ctr" wrap="square" lIns="228600" rIns="228600" tIns="18288" bIns="73152"/>
              <a:lstStyle>
                <a:lvl1pPr>
                  <a:defRPr sz="2800">
                    <a:solidFill>
                      <a:srgbClr val="15803D"/>
                    </a:solidFill>
                  </a:defRPr>
                </a:lvl1pPr>
              </a:lstStyle>
              <a:p>
                <a:pPr algn="ctr">
                  <a:defRPr sz="2800">
                    <a:solidFill>
                      <a:srgbClr val="15803D"/>
                    </a:solidFill>
                  </a:defRPr>
                </a:pPr>
                <a:r>
                  <a:rPr sz="2800" b="1">
                    <a:solidFill>
                      <a:srgbClr val="15803D"/>
                    </a:solidFill>
                    <a:latin typeface="Arial"/>
                  </a:rPr>
                  <a:t>Same answer: </a:t>
                </a:r>
                <a:r>
                  <a:rPr lang="en-IN" sz="2800">
                    <a:solidFill>
                      <a:srgbClr val="15803D"/>
                    </a:solidFill>
                    <a:latin typeface="Cambria Math" panose="02040503050406030204" pitchFamily="18" charset="0"/>
                  </a:rPr>
                  <a:t>$6$</a:t>
                </a:r>
                <a:endParaRPr sz="2800">
                  <a:solidFill>
                    <a:srgbClr val="15803D"/>
                  </a:solidFill>
                </a:endParaRPr>
              </a:p>
            </p:txBody>
          </p:sp>
        </mc:Fallback>
      </mc:AlternateContent>
    </p:spTree>
  </p:cSld>
  <p:clrMapOvr>
    <a:masterClrMapping/>
  </p:clrMapOvr>
</p:sld>
</file>

<file path=ppt/slides/slide2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FFFFFF"/>
          </a:fontRef>
        </p:style>
        <p:txBody>
          <a:bodyPr rtlCol="0" anchor="ctr" lIns="731520"/>
          <a:lstStyle>
            <a:lvl1pPr>
              <a:defRPr sz="3200">
                <a:solidFill>
                  <a:srgbClr val="FFFFFF"/>
                </a:solidFill>
              </a:defRPr>
            </a:lvl1pPr>
          </a:lstStyle>
          <a:p>
            <a:pPr algn="l">
              <a:defRPr sz="3200">
                <a:solidFill>
                  <a:srgbClr val="FFFFFF"/>
                </a:solidFill>
              </a:defRPr>
            </a:pPr>
            <a:r>
              <a:rPr sz="3200" b="1">
                <a:solidFill>
                  <a:srgbClr val="FFFFFF"/>
                </a:solidFill>
                <a:latin typeface="Arial"/>
              </a:rPr>
              <a:t>Question 04</a:t>
            </a:r>
            <a:endParaRPr sz="3200">
              <a:solidFill>
                <a:srgbClr val="FFFFFF"/>
              </a:solidFill>
            </a:endParaRPr>
          </a:p>
        </p:txBody>
      </p:sp>
      <p:sp>
        <p:nvSpPr>
          <p:cNvPr id="3" name="Rounded Rectangle 2"/>
          <p:cNvSpPr/>
          <p:nvPr/>
        </p:nvSpPr>
        <p:spPr>
          <a:xfrm>
            <a:off x="7894015" y="246887"/>
            <a:ext cx="3840480" cy="603504"/>
          </a:xfrm>
          <a:prstGeom prst="roundRect">
            <a:avLst>
              <a:gd name="adj" fmla="val 50000"/>
            </a:avLst>
          </a:prstGeom>
          <a:solidFill>
            <a:srgbClr val="F6B26B"/>
          </a:solidFill>
          <a:ln w="1905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111827"/>
          </a:fontRef>
        </p:style>
        <p:txBody>
          <a:bodyPr rtlCol="0" anchor="ctr" wrap="square" lIns="228600" rIns="228600" tIns="18288" bIns="18288"/>
          <a:lstStyle>
            <a:lvl1pPr>
              <a:defRPr sz="2400">
                <a:solidFill>
                  <a:srgbClr val="111827"/>
                </a:solidFill>
              </a:defRPr>
            </a:lvl1pPr>
          </a:lstStyle>
          <a:p>
            <a:pPr algn="ctr">
              <a:defRPr sz="2400">
                <a:solidFill>
                  <a:srgbClr val="111827"/>
                </a:solidFill>
              </a:defRPr>
            </a:pPr>
            <a:r>
              <a:rPr sz="2400" b="1">
                <a:solidFill>
                  <a:srgbClr val="111827"/>
                </a:solidFill>
                <a:latin typeface="Arial"/>
              </a:rPr>
              <a:t>Level 3  ·  4 Marks</a:t>
            </a:r>
            <a:endParaRPr sz="2400">
              <a:solidFill>
                <a:srgbClr val="111827"/>
              </a:solidFill>
            </a:endParaRPr>
          </a:p>
        </p:txBody>
      </p:sp>
      <p:sp>
        <p:nvSpPr>
          <p:cNvPr id="4" name="Rounded Rectangle 3"/>
          <p:cNvSpPr/>
          <p:nvPr/>
        </p:nvSpPr>
        <p:spPr>
          <a:xfrm>
            <a:off x="3520440" y="265176"/>
            <a:ext cx="4206240" cy="566928"/>
          </a:xfrm>
          <a:prstGeom prst="roundRect">
            <a:avLst>
              <a:gd name="adj" fmla="val 50000"/>
            </a:avLst>
          </a:prstGeom>
          <a:solidFill>
            <a:srgbClr val="E0ECFF"/>
          </a:solidFill>
          <a:ln w="25400">
            <a:solidFill>
              <a:srgbClr val="1D4ED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0B1F3A"/>
          </a:fontRef>
        </p:style>
        <p:txBody>
          <a:bodyPr rtlCol="0" anchor="ctr" wrap="square" lIns="228600" rIns="228600" tIns="18288" bIns="18288"/>
          <a:lstStyle>
            <a:lvl1pPr>
              <a:defRPr sz="2200">
                <a:solidFill>
                  <a:srgbClr val="0B1F3A"/>
                </a:solidFill>
              </a:defRPr>
            </a:lvl1pPr>
          </a:lstStyle>
          <a:p>
            <a:pPr algn="ctr">
              <a:defRPr sz="2200">
                <a:solidFill>
                  <a:srgbClr val="0B1F3A"/>
                </a:solidFill>
              </a:defRPr>
            </a:pPr>
            <a:r>
              <a:rPr sz="2200" b="1">
                <a:solidFill>
                  <a:srgbClr val="0B1F3A"/>
                </a:solidFill>
                <a:latin typeface="Arial"/>
              </a:rPr>
              <a:t>Useful Result / Pattern</a:t>
            </a:r>
            <a:endParaRPr sz="2200">
              <a:solidFill>
                <a:srgbClr val="0B1F3A"/>
              </a:solidFill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5" name="Rectangle 4"/>
              <p:cNvSpPr/>
              <p:nvPr/>
            </p:nvSpPr>
            <p:spPr>
              <a:xfrm>
                <a:off x="731520" y="1353312"/>
                <a:ext cx="10725912" cy="5321808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A functional-differential identity is usually decoded by substituting a fixed point (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0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or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when </a:t>
                </a:r>
                <a14:m>
                  <m:oMath xmlns:m="http://schemas.openxmlformats.org/officeDocument/2006/math"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appears) and by differentiating once or twice and substituting again.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14:m>
                  <m:oMath xmlns:m="http://schemas.openxmlformats.org/officeDocument/2006/math"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sSup>
                          <m:e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𝑓</m:t>
                            </m:r>
                          </m:e>
                          <m:sup>
                            <m:r>
                              <m:rPr>
                                <m:sty m:val="p"/>
                              </m:rPr>
                              <a:rPr lang="en-IN" sz="2400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″</m:t>
                            </m:r>
                          </m:sup>
                        </m:sSup>
                      </m:num>
                      <m:den>
                        <m:sSup>
                          <m:e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𝑓</m:t>
                            </m:r>
                          </m:e>
                          <m:sup>
                            <m:r>
                              <m:rPr>
                                <m:sty m:val="p"/>
                              </m:rPr>
                              <a:rPr lang="en-IN" sz="2400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′</m:t>
                            </m:r>
                          </m:sup>
                        </m:sSup>
                      </m:den>
                    </m:f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ln</m:t>
                    </m:r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𝑓</m:t>
                        </m:r>
                      </m:e>
                      <m:sup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′</m:t>
                        </m:r>
                      </m:sup>
                    </m:sSup>
                    <m:sSup>
                      <m:e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)</m:t>
                        </m:r>
                      </m:e>
                      <m:sup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′</m:t>
                        </m:r>
                      </m:sup>
                    </m:sSup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and </a:t>
                </a:r>
                <a14:m>
                  <m:oMath xmlns:m="http://schemas.openxmlformats.org/officeDocument/2006/math"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sSup>
                          <m:e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𝑓</m:t>
                            </m:r>
                          </m:e>
                          <m:sup>
                            <m:r>
                              <m:rPr>
                                <m:sty m:val="p"/>
                              </m:rPr>
                              <a:rPr lang="en-IN" sz="2400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′</m:t>
                            </m:r>
                          </m:sup>
                        </m:sSup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𝑓</m:t>
                        </m:r>
                      </m:den>
                    </m:f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ln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𝑓</m:t>
                    </m:r>
                    <m:sSup>
                      <m:e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)</m:t>
                        </m:r>
                      </m:e>
                      <m:sup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′</m:t>
                        </m:r>
                      </m:sup>
                    </m:sSup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: logarithmic derivatives turn products of derivatives into simpler identities.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At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the inner function </a:t>
                </a:r>
                <a14:m>
                  <m:oMath xmlns:m="http://schemas.openxmlformats.org/officeDocument/2006/math"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has value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and derivative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; so </a:t>
                </a:r>
                <a14:m>
                  <m:oMath xmlns:m="http://schemas.openxmlformats.org/officeDocument/2006/math"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𝑑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𝑑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</m:den>
                    </m:f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𝑓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sSub>
                      <m:e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|</m:t>
                        </m:r>
                      </m:e>
                      <m:sub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=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sub>
                    </m:sSub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𝑓</m:t>
                        </m:r>
                      </m:e>
                      <m:sup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′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 This is why only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𝑓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,</m:t>
                    </m:r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𝑓</m:t>
                        </m:r>
                      </m:e>
                      <m:sup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′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,</m:t>
                    </m:r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𝑓</m:t>
                        </m:r>
                      </m:e>
                      <m:sup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″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,</m:t>
                    </m:r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𝑓</m:t>
                        </m:r>
                      </m:e>
                      <m:sup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‴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are needed.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Choice>
        <mc:Fallback>
          <p:sp>
            <p:nvSpPr>
              <p:cNvPr id="5" name="Rectangle 4"/>
              <p:cNvSpPr/>
              <p:nvPr/>
            </p:nvSpPr>
            <p:spPr>
              <a:xfrm>
                <a:off x="731520" y="1353312"/>
                <a:ext cx="10725912" cy="5321808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A functional-differential identity is usually decoded by substituting a fixed point (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$x=0$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or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$1$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when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$x^2$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appears) and by differentiating once or twice and substituting again.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$\frac{f''}{f'}=(\ln f')'$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and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$\frac{f'}{f}=(\ln f)'$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: logarithmic derivatives turn products of derivatives into simpler identities.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At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$x=1$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the inner function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$x^2$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has value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$1$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and derivative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$2$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; so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$\frac{d}{dx}f(x^2)\big|_{x=1}=2f'(1)$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 This is why only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$f(1),f'(1),f''(1),f'''(1)$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are needed.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Fallback>
      </mc:AlternateContent>
    </p:spTree>
  </p:cSld>
  <p:clrMapOvr>
    <a:masterClrMapping/>
  </p:clrMapOvr>
</p:sld>
</file>

<file path=ppt/slides/slide2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914400" y="1463040"/>
            <a:ext cx="10362895" cy="4114800"/>
          </a:xfrm>
          <a:prstGeom prst="rect">
            <a:avLst/>
          </a:prstGeom>
          <a:noFill/>
        </p:spPr>
        <p:txBody>
          <a:bodyPr wrap="square">
            <a:spAutoFit/>
          </a:bodyPr>
          <a:lstStyle>
            <a:lvl1pPr>
              <a:defRPr sz="2800">
                <a:solidFill>
                  <a:srgbClr val="FFFFFF"/>
                </a:solidFill>
              </a:defRPr>
            </a:lvl1pPr>
          </a:lstStyle>
          <a:p>
            <a:pPr algn="ctr">
              <a:spcAft>
                <a:spcPts val="1000"/>
              </a:spcAft>
              <a:defRPr sz="2800">
                <a:solidFill>
                  <a:srgbClr val="FFFFFF"/>
                </a:solidFill>
              </a:defRPr>
            </a:pPr>
            <a:r>
              <a:rPr sz="2800" b="0">
                <a:solidFill>
                  <a:srgbClr val="93C5FD"/>
                </a:solidFill>
                <a:latin typeface="Arial"/>
              </a:rPr>
              <a:t>Section 3</a:t>
            </a:r>
            <a:endParaRPr sz="2800">
              <a:solidFill>
                <a:srgbClr val="FFFFFF"/>
              </a:solidFill>
            </a:endParaRPr>
          </a:p>
          <a:p>
            <a:pPr algn="ctr">
              <a:spcAft>
                <a:spcPts val="1000"/>
              </a:spcAft>
              <a:defRPr sz="2800">
                <a:solidFill>
                  <a:srgbClr val="FFFFFF"/>
                </a:solidFill>
              </a:defRPr>
            </a:pPr>
            <a:r>
              <a:rPr sz="4400" b="1">
                <a:solidFill>
                  <a:srgbClr val="FFFFFF"/>
                </a:solidFill>
                <a:latin typeface="Arial"/>
              </a:rPr>
              <a:t>Subjective Type</a:t>
            </a:r>
            <a:endParaRPr sz="2800">
              <a:solidFill>
                <a:srgbClr val="FFFFFF"/>
              </a:solidFill>
            </a:endParaRPr>
          </a:p>
          <a:p>
            <a:pPr algn="ctr">
              <a:spcAft>
                <a:spcPts val="1000"/>
              </a:spcAft>
              <a:defRPr sz="2800">
                <a:solidFill>
                  <a:srgbClr val="FFFFFF"/>
                </a:solidFill>
              </a:defRPr>
            </a:pPr>
            <a:r>
              <a:rPr sz="3200" b="1">
                <a:solidFill>
                  <a:srgbClr val="FFFFFF"/>
                </a:solidFill>
                <a:latin typeface="Arial"/>
              </a:rPr>
              <a:t>Q05</a:t>
            </a:r>
            <a:endParaRPr sz="2800">
              <a:solidFill>
                <a:srgbClr val="FFFFFF"/>
              </a:solidFill>
            </a:endParaRPr>
          </a:p>
          <a:p>
            <a:pPr algn="ctr">
              <a:spcAft>
                <a:spcPts val="1000"/>
              </a:spcAft>
              <a:defRPr sz="2800">
                <a:solidFill>
                  <a:srgbClr val="FFFFFF"/>
                </a:solidFill>
              </a:defRPr>
            </a:pPr>
            <a:r>
              <a:rPr sz="2800" b="0">
                <a:solidFill>
                  <a:srgbClr val="FFFFFF"/>
                </a:solidFill>
                <a:latin typeface="Arial"/>
              </a:rPr>
              <a:t>4 marks (no marks printed in the paper: JEE Advanced default assumed)</a:t>
            </a:r>
            <a:endParaRPr sz="2800">
              <a:solidFill>
                <a:srgbClr val="FFFFFF"/>
              </a:solidFill>
            </a:endParaRPr>
          </a:p>
          <a:p>
            <a:pPr algn="ctr">
              <a:spcAft>
                <a:spcPts val="1000"/>
              </a:spcAft>
              <a:defRPr sz="2800">
                <a:solidFill>
                  <a:srgbClr val="FFFFFF"/>
                </a:solidFill>
              </a:defRPr>
            </a:pPr>
            <a:r>
              <a:rPr sz="2800" b="0">
                <a:solidFill>
                  <a:srgbClr val="FFFFFF"/>
                </a:solidFill>
                <a:latin typeface="Arial"/>
              </a:rPr>
              <a:t>Prove / show; Paper Q5(a)</a:t>
            </a:r>
            <a:endParaRPr sz="2800">
              <a:solidFill>
                <a:srgbClr val="FFFFFF"/>
              </a:solidFill>
            </a:endParaRPr>
          </a:p>
        </p:txBody>
      </p:sp>
    </p:spTree>
  </p:cSld>
  <p:clrMapOvr>
    <a:masterClrMapping/>
  </p:clrMapOvr>
</p:sld>
</file>

<file path=ppt/slides/slide2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FFFFFF"/>
          </a:fontRef>
        </p:style>
        <p:txBody>
          <a:bodyPr rtlCol="0" anchor="ctr" lIns="731520"/>
          <a:lstStyle>
            <a:lvl1pPr>
              <a:defRPr sz="3200">
                <a:solidFill>
                  <a:srgbClr val="FFFFFF"/>
                </a:solidFill>
              </a:defRPr>
            </a:lvl1pPr>
          </a:lstStyle>
          <a:p>
            <a:pPr algn="l">
              <a:defRPr sz="3200">
                <a:solidFill>
                  <a:srgbClr val="FFFFFF"/>
                </a:solidFill>
              </a:defRPr>
            </a:pPr>
            <a:r>
              <a:rPr sz="3200" b="1">
                <a:solidFill>
                  <a:srgbClr val="FFFFFF"/>
                </a:solidFill>
                <a:latin typeface="Arial"/>
              </a:rPr>
              <a:t>Question 05</a:t>
            </a:r>
            <a:endParaRPr sz="3200">
              <a:solidFill>
                <a:srgbClr val="FFFFFF"/>
              </a:solidFill>
            </a:endParaRPr>
          </a:p>
        </p:txBody>
      </p:sp>
      <p:sp>
        <p:nvSpPr>
          <p:cNvPr id="3" name="Rounded Rectangle 2"/>
          <p:cNvSpPr/>
          <p:nvPr/>
        </p:nvSpPr>
        <p:spPr>
          <a:xfrm>
            <a:off x="7894015" y="246887"/>
            <a:ext cx="3840480" cy="603504"/>
          </a:xfrm>
          <a:prstGeom prst="roundRect">
            <a:avLst>
              <a:gd name="adj" fmla="val 50000"/>
            </a:avLst>
          </a:prstGeom>
          <a:solidFill>
            <a:srgbClr val="FFD966"/>
          </a:solidFill>
          <a:ln w="1905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111827"/>
          </a:fontRef>
        </p:style>
        <p:txBody>
          <a:bodyPr rtlCol="0" anchor="ctr" wrap="square" lIns="228600" rIns="228600" tIns="18288" bIns="18288"/>
          <a:lstStyle>
            <a:lvl1pPr>
              <a:defRPr sz="2400">
                <a:solidFill>
                  <a:srgbClr val="111827"/>
                </a:solidFill>
              </a:defRPr>
            </a:lvl1pPr>
          </a:lstStyle>
          <a:p>
            <a:pPr algn="ctr">
              <a:defRPr sz="2400">
                <a:solidFill>
                  <a:srgbClr val="111827"/>
                </a:solidFill>
              </a:defRPr>
            </a:pPr>
            <a:r>
              <a:rPr sz="2400" b="1">
                <a:solidFill>
                  <a:srgbClr val="111827"/>
                </a:solidFill>
                <a:latin typeface="Arial"/>
              </a:rPr>
              <a:t>Level 2  ·  4 Marks</a:t>
            </a:r>
            <a:endParaRPr sz="2400">
              <a:solidFill>
                <a:srgbClr val="111827"/>
              </a:solidFill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4" name="Rounded Rectangle 3"/>
              <p:cNvSpPr/>
              <p:nvPr/>
            </p:nvSpPr>
            <p:spPr>
              <a:xfrm>
                <a:off x="731520" y="1280160"/>
                <a:ext cx="10725912" cy="1965452"/>
              </a:xfrm>
              <a:prstGeom prst="roundRect">
                <a:avLst>
                  <a:gd name="adj" fmla="val 8000"/>
                </a:avLst>
              </a:prstGeom>
              <a:solidFill>
                <a:srgbClr val="E0ECFF"/>
              </a:solidFill>
              <a:ln w="25400">
                <a:solidFill>
                  <a:srgbClr val="1D4ED8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>
                  <a:spcAft>
                    <a:spcPts val="500"/>
                  </a:spcAft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(Paper Q5(a)) Show that the substitution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𝑧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ln</m:t>
                    </m:r>
                    <m:d>
                      <m:dPr>
                        <m:begChr m:val="("/>
                        <m:sepChr m:val=""/>
                        <m:endChr m:val=")"/>
                        <m:grow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tan</m:t>
                        </m:r>
                        <m:f>
                          <m:fPr>
                            <m:type m:val="bar"/>
                            <m:ctrlP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fPr>
                          <m:num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𝑥</m:t>
                            </m:r>
                          </m:num>
                          <m:den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2</m:t>
                            </m:r>
                          </m:den>
                        </m:f>
                      </m:e>
                    </m:d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changes the equation </a:t>
                </a:r>
                <a14:m>
                  <m:oMath xmlns:m="http://schemas.openxmlformats.org/officeDocument/2006/math"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sSup>
                          <m:e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𝑑</m:t>
                            </m:r>
                          </m:e>
                          <m:sup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2</m:t>
                            </m:r>
                          </m:sup>
                        </m:s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𝑦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𝑑</m:t>
                        </m:r>
                        <m:sSup>
                          <m:e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𝑥</m:t>
                            </m:r>
                          </m:e>
                          <m:sup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2</m:t>
                            </m:r>
                          </m:sup>
                        </m:sSup>
                      </m:den>
                    </m:f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cot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𝑑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𝑦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𝑑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</m:den>
                    </m:f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4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𝑦</m:t>
                    </m:r>
                    <m:sSup>
                      <m:e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csc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0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to </a:t>
                </a:r>
                <a14:m>
                  <m:oMath xmlns:m="http://schemas.openxmlformats.org/officeDocument/2006/math"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sSup>
                          <m:e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𝑑</m:t>
                            </m:r>
                          </m:e>
                          <m:sup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2</m:t>
                            </m:r>
                          </m:sup>
                        </m:s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𝑦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𝑑</m:t>
                        </m:r>
                        <m:sSup>
                          <m:e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𝑧</m:t>
                            </m:r>
                          </m:e>
                          <m:sup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2</m:t>
                            </m:r>
                          </m:sup>
                        </m:sSup>
                      </m:den>
                    </m:f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4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𝑦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0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Choice>
        <mc:Fallback>
          <p:sp>
            <p:nvSpPr>
              <p:cNvPr id="4" name="Rounded Rectangle 3"/>
              <p:cNvSpPr/>
              <p:nvPr/>
            </p:nvSpPr>
            <p:spPr>
              <a:xfrm>
                <a:off x="731520" y="1280160"/>
                <a:ext cx="10725912" cy="1965452"/>
              </a:xfrm>
              <a:prstGeom prst="roundRect">
                <a:avLst>
                  <a:gd name="adj" fmla="val 8000"/>
                </a:avLst>
              </a:prstGeom>
              <a:solidFill>
                <a:srgbClr val="E0ECFF"/>
              </a:solidFill>
              <a:ln w="25400">
                <a:solidFill>
                  <a:srgbClr val="1D4ED8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>
                  <a:spcAft>
                    <a:spcPts val="500"/>
                  </a:spcAft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(Paper Q5(a)) Show that the substitution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$z=\ln\left(\tan\frac x2\right)$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changes the equation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$\frac{d^2y}{dx^2}+\cot x\frac{dy}{dx}+4y\csc^2x=0$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to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$\frac{d^2y}{dz^2}+4y=0$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Fallback>
      </mc:AlternateContent>
      <p:sp>
        <p:nvSpPr>
          <p:cNvPr id="5" name="Rectangle 4"/>
          <p:cNvSpPr/>
          <p:nvPr/>
        </p:nvSpPr>
        <p:spPr>
          <a:xfrm>
            <a:off x="731520" y="3474212"/>
            <a:ext cx="10725912" cy="2194560"/>
          </a:xfrm>
          <a:prstGeom prst="rect">
            <a:avLst/>
          </a:prstGeom>
          <a:solidFill>
            <a:srgbClr val="FFFFFF"/>
          </a:solidFill>
          <a:ln w="19050">
            <a:solidFill>
              <a:srgbClr val="6B728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111827"/>
          </a:fontRef>
        </p:style>
        <p:txBody>
          <a:bodyPr rtlCol="0" anchor="t" wrap="square" lIns="228600" rIns="228600" tIns="137160" bIns="73152"/>
          <a:lstStyle>
            <a:lvl1pPr>
              <a:defRPr sz="2400">
                <a:solidFill>
                  <a:srgbClr val="111827"/>
                </a:solidFill>
              </a:defRPr>
            </a:lvl1pPr>
          </a:lstStyle>
          <a:p>
            <a:pPr algn="l">
              <a:spcAft>
                <a:spcPts val="200"/>
              </a:spcAft>
              <a:defRPr sz="2400">
                <a:solidFill>
                  <a:srgbClr val="111827"/>
                </a:solidFill>
              </a:defRPr>
            </a:pPr>
            <a:r>
              <a:rPr sz="2400" b="0">
                <a:solidFill>
                  <a:srgbClr val="111827"/>
                </a:solidFill>
                <a:latin typeface="Arial"/>
              </a:rPr>
              <a:t>Subjective Type(4 Marks)</a:t>
            </a:r>
            <a:endParaRPr sz="2400">
              <a:solidFill>
                <a:srgbClr val="111827"/>
              </a:solidFill>
            </a:endParaRPr>
          </a:p>
          <a:p>
            <a:pPr algn="l">
              <a:spcAft>
                <a:spcPts val="200"/>
              </a:spcAft>
              <a:defRPr sz="2400">
                <a:solidFill>
                  <a:srgbClr val="111827"/>
                </a:solidFill>
              </a:defRPr>
            </a:pPr>
            <a:r>
              <a:rPr sz="2400" b="0">
                <a:solidFill>
                  <a:srgbClr val="111827"/>
                </a:solidFill>
                <a:latin typeface="Arial"/>
              </a:rPr>
              <a:t>Concept(s) : Change of independent variable in differential expressions</a:t>
            </a:r>
            <a:endParaRPr sz="2400">
              <a:solidFill>
                <a:srgbClr val="111827"/>
              </a:solidFill>
            </a:endParaRPr>
          </a:p>
          <a:p>
            <a:pPr algn="l">
              <a:spcAft>
                <a:spcPts val="200"/>
              </a:spcAft>
              <a:defRPr sz="2400">
                <a:solidFill>
                  <a:srgbClr val="111827"/>
                </a:solidFill>
              </a:defRPr>
            </a:pPr>
            <a:r>
              <a:rPr sz="2400" b="0">
                <a:solidFill>
                  <a:srgbClr val="111827"/>
                </a:solidFill>
                <a:latin typeface="Arial"/>
              </a:rPr>
              <a:t>Difficulty Level: Level 2(A level below Average JEE Advanced Level)</a:t>
            </a:r>
            <a:endParaRPr sz="2400">
              <a:solidFill>
                <a:srgbClr val="111827"/>
              </a:solidFill>
            </a:endParaRPr>
          </a:p>
        </p:txBody>
      </p:sp>
    </p:spTree>
  </p:cSld>
  <p:clrMapOvr>
    <a:masterClrMapping/>
  </p:clrMapOvr>
</p:sld>
</file>

<file path=ppt/slides/slide3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FFFFFF"/>
          </a:fontRef>
        </p:style>
        <p:txBody>
          <a:bodyPr rtlCol="0" anchor="ctr" lIns="731520"/>
          <a:lstStyle>
            <a:lvl1pPr>
              <a:defRPr sz="3200">
                <a:solidFill>
                  <a:srgbClr val="FFFFFF"/>
                </a:solidFill>
              </a:defRPr>
            </a:lvl1pPr>
          </a:lstStyle>
          <a:p>
            <a:pPr algn="l">
              <a:defRPr sz="3200">
                <a:solidFill>
                  <a:srgbClr val="FFFFFF"/>
                </a:solidFill>
              </a:defRPr>
            </a:pPr>
            <a:r>
              <a:rPr sz="3200" b="1">
                <a:solidFill>
                  <a:srgbClr val="FFFFFF"/>
                </a:solidFill>
                <a:latin typeface="Arial"/>
              </a:rPr>
              <a:t>Question 05</a:t>
            </a:r>
            <a:endParaRPr sz="3200">
              <a:solidFill>
                <a:srgbClr val="FFFFFF"/>
              </a:solidFill>
            </a:endParaRPr>
          </a:p>
        </p:txBody>
      </p:sp>
      <p:sp>
        <p:nvSpPr>
          <p:cNvPr id="3" name="Rounded Rectangle 2"/>
          <p:cNvSpPr/>
          <p:nvPr/>
        </p:nvSpPr>
        <p:spPr>
          <a:xfrm>
            <a:off x="7894015" y="246887"/>
            <a:ext cx="3840480" cy="603504"/>
          </a:xfrm>
          <a:prstGeom prst="roundRect">
            <a:avLst>
              <a:gd name="adj" fmla="val 50000"/>
            </a:avLst>
          </a:prstGeom>
          <a:solidFill>
            <a:srgbClr val="FFD966"/>
          </a:solidFill>
          <a:ln w="1905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111827"/>
          </a:fontRef>
        </p:style>
        <p:txBody>
          <a:bodyPr rtlCol="0" anchor="ctr" wrap="square" lIns="228600" rIns="228600" tIns="18288" bIns="18288"/>
          <a:lstStyle>
            <a:lvl1pPr>
              <a:defRPr sz="2400">
                <a:solidFill>
                  <a:srgbClr val="111827"/>
                </a:solidFill>
              </a:defRPr>
            </a:lvl1pPr>
          </a:lstStyle>
          <a:p>
            <a:pPr algn="ctr">
              <a:defRPr sz="2400">
                <a:solidFill>
                  <a:srgbClr val="111827"/>
                </a:solidFill>
              </a:defRPr>
            </a:pPr>
            <a:r>
              <a:rPr sz="2400" b="1">
                <a:solidFill>
                  <a:srgbClr val="111827"/>
                </a:solidFill>
                <a:latin typeface="Arial"/>
              </a:rPr>
              <a:t>Level 2  ·  4 Marks</a:t>
            </a:r>
            <a:endParaRPr sz="2400">
              <a:solidFill>
                <a:srgbClr val="111827"/>
              </a:solidFill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4" name="Rounded Rectangle 3"/>
              <p:cNvSpPr/>
              <p:nvPr/>
            </p:nvSpPr>
            <p:spPr>
              <a:xfrm>
                <a:off x="731520" y="1280160"/>
                <a:ext cx="10725912" cy="1328928"/>
              </a:xfrm>
              <a:prstGeom prst="roundRect">
                <a:avLst>
                  <a:gd name="adj" fmla="val 8000"/>
                </a:avLst>
              </a:prstGeom>
              <a:solidFill>
                <a:srgbClr val="FDE68A"/>
              </a:solidFill>
              <a:ln w="31750">
                <a:solidFill>
                  <a:srgbClr val="D97706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78350F"/>
              </a:fontRef>
            </p:style>
            <p:txBody>
              <a:bodyPr rtlCol="0" anchor="ctr" wrap="square" lIns="228600" rIns="228600" tIns="54864" bIns="73152"/>
              <a:lstStyle>
                <a:lvl1pPr>
                  <a:defRPr sz="2400">
                    <a:solidFill>
                      <a:srgbClr val="78350F"/>
                    </a:solidFill>
                  </a:defRPr>
                </a:lvl1pPr>
              </a:lstStyle>
              <a:p>
                <a:pPr algn="l">
                  <a:defRPr sz="2400">
                    <a:solidFill>
                      <a:srgbClr val="78350F"/>
                    </a:solidFill>
                  </a:defRPr>
                </a:pPr>
                <a:r>
                  <a:rPr sz="2400" b="1">
                    <a:solidFill>
                      <a:srgbClr val="78350F"/>
                    </a:solidFill>
                    <a:latin typeface="Arial"/>
                  </a:rPr>
                  <a:t>Key idea:  </a:t>
                </a:r>
                <a14:m>
                  <m:oMath xmlns:m="http://schemas.openxmlformats.org/officeDocument/2006/math"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𝑑</m:t>
                        </m:r>
                        <m: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𝑧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𝑑</m:t>
                        </m:r>
                        <m: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</m:den>
                    </m:f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num>
                      <m:den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sin</m:t>
                        </m:r>
                        <m: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</m:den>
                    </m:f>
                  </m:oMath>
                </a14:m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, so </a:t>
                </a:r>
                <a14:m>
                  <m:oMath xmlns:m="http://schemas.openxmlformats.org/officeDocument/2006/math"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𝑑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𝑑</m:t>
                        </m:r>
                        <m: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𝑧</m:t>
                        </m:r>
                      </m:den>
                    </m:f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sin</m:t>
                    </m:r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𝑑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𝑑</m:t>
                        </m:r>
                        <m: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</m:den>
                    </m:f>
                  </m:oMath>
                </a14:m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 and </a:t>
                </a:r>
                <a14:m>
                  <m:oMath xmlns:m="http://schemas.openxmlformats.org/officeDocument/2006/math">
                    <m:sSup>
                      <m:e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csc</m:t>
                        </m:r>
                      </m:e>
                      <m:sup>
                        <m: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sSup>
                          <m:e>
                            <m:r>
                              <a:rPr lang="en-IN" sz="2400" i="1">
                                <a:solidFill>
                                  <a:srgbClr val="78350F"/>
                                </a:solidFill>
                                <a:latin typeface="Cambria Math" panose="02040503050406030204" pitchFamily="18" charset="0"/>
                              </a:rPr>
                              <m:t>𝑑</m:t>
                            </m:r>
                          </m:e>
                          <m:sup>
                            <m:r>
                              <a:rPr lang="en-IN" sz="2400" i="1">
                                <a:solidFill>
                                  <a:srgbClr val="78350F"/>
                                </a:solidFill>
                                <a:latin typeface="Cambria Math" panose="02040503050406030204" pitchFamily="18" charset="0"/>
                              </a:rPr>
                              <m:t>2</m:t>
                            </m:r>
                          </m:sup>
                        </m:sSup>
                        <m: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𝑦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𝑑</m:t>
                        </m:r>
                        <m:sSup>
                          <m:e>
                            <m:r>
                              <a:rPr lang="en-IN" sz="2400" i="1">
                                <a:solidFill>
                                  <a:srgbClr val="78350F"/>
                                </a:solidFill>
                                <a:latin typeface="Cambria Math" panose="02040503050406030204" pitchFamily="18" charset="0"/>
                              </a:rPr>
                              <m:t>𝑧</m:t>
                            </m:r>
                          </m:e>
                          <m:sup>
                            <m:r>
                              <a:rPr lang="en-IN" sz="2400" i="1">
                                <a:solidFill>
                                  <a:srgbClr val="78350F"/>
                                </a:solidFill>
                                <a:latin typeface="Cambria Math" panose="02040503050406030204" pitchFamily="18" charset="0"/>
                              </a:rPr>
                              <m:t>2</m:t>
                            </m:r>
                          </m:sup>
                        </m:sSup>
                      </m:den>
                    </m:f>
                  </m:oMath>
                </a14:m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 equals the first two terms.</a:t>
                </a:r>
                <a:endParaRPr sz="2400">
                  <a:solidFill>
                    <a:srgbClr val="78350F"/>
                  </a:solidFill>
                </a:endParaRPr>
              </a:p>
            </p:txBody>
          </p:sp>
        </mc:Choice>
        <mc:Fallback>
          <p:sp>
            <p:nvSpPr>
              <p:cNvPr id="4" name="Rounded Rectangle 3"/>
              <p:cNvSpPr/>
              <p:nvPr/>
            </p:nvSpPr>
            <p:spPr>
              <a:xfrm>
                <a:off x="731520" y="1280160"/>
                <a:ext cx="10725912" cy="1328928"/>
              </a:xfrm>
              <a:prstGeom prst="roundRect">
                <a:avLst>
                  <a:gd name="adj" fmla="val 8000"/>
                </a:avLst>
              </a:prstGeom>
              <a:solidFill>
                <a:srgbClr val="FDE68A"/>
              </a:solidFill>
              <a:ln w="31750">
                <a:solidFill>
                  <a:srgbClr val="D97706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78350F"/>
              </a:fontRef>
            </p:style>
            <p:txBody>
              <a:bodyPr rtlCol="0" anchor="ctr" wrap="square" lIns="228600" rIns="228600" tIns="54864" bIns="73152"/>
              <a:lstStyle>
                <a:lvl1pPr>
                  <a:defRPr sz="2400">
                    <a:solidFill>
                      <a:srgbClr val="78350F"/>
                    </a:solidFill>
                  </a:defRPr>
                </a:lvl1pPr>
              </a:lstStyle>
              <a:p>
                <a:pPr algn="l">
                  <a:defRPr sz="2400">
                    <a:solidFill>
                      <a:srgbClr val="78350F"/>
                    </a:solidFill>
                  </a:defRPr>
                </a:pPr>
                <a:r>
                  <a:rPr sz="2400" b="1">
                    <a:solidFill>
                      <a:srgbClr val="78350F"/>
                    </a:solidFill>
                    <a:latin typeface="Arial"/>
                  </a:rPr>
                  <a:t>Key idea:  </a:t>
                </a:r>
                <a:r>
                  <a:rPr lang="en-IN" sz="2400">
                    <a:solidFill>
                      <a:srgbClr val="78350F"/>
                    </a:solidFill>
                    <a:latin typeface="Cambria Math" panose="02040503050406030204" pitchFamily="18" charset="0"/>
                  </a:rPr>
                  <a:t>$\frac{dz}{dx}=\frac{1}{\sin x}$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, so </a:t>
                </a:r>
                <a:r>
                  <a:rPr lang="en-IN" sz="2400">
                    <a:solidFill>
                      <a:srgbClr val="78350F"/>
                    </a:solidFill>
                    <a:latin typeface="Cambria Math" panose="02040503050406030204" pitchFamily="18" charset="0"/>
                  </a:rPr>
                  <a:t>$\frac{d}{dz}=\sin x\frac{d}{dx}$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 and </a:t>
                </a:r>
                <a:r>
                  <a:rPr lang="en-IN" sz="2400">
                    <a:solidFill>
                      <a:srgbClr val="78350F"/>
                    </a:solidFill>
                    <a:latin typeface="Cambria Math" panose="02040503050406030204" pitchFamily="18" charset="0"/>
                  </a:rPr>
                  <a:t>$\csc^2x\frac{d^2y}{dz^2}$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 equals the first two terms.</a:t>
                </a:r>
                <a:endParaRPr sz="2400">
                  <a:solidFill>
                    <a:srgbClr val="78350F"/>
                  </a:solidFill>
                </a:endParaRP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5" name="Rectangle 4"/>
              <p:cNvSpPr/>
              <p:nvPr/>
            </p:nvSpPr>
            <p:spPr>
              <a:xfrm>
                <a:off x="731520" y="2746248"/>
                <a:ext cx="10725912" cy="3928872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𝑧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ln</m:t>
                    </m:r>
                    <m:d>
                      <m:dPr>
                        <m:begChr m:val="("/>
                        <m:sepChr m:val=""/>
                        <m:endChr m:val=")"/>
                        <m:grow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tan</m:t>
                        </m:r>
                        <m:f>
                          <m:fPr>
                            <m:type m:val="bar"/>
                            <m:ctrlP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fPr>
                          <m:num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𝑥</m:t>
                            </m:r>
                          </m:num>
                          <m:den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2</m:t>
                            </m:r>
                          </m:den>
                        </m:f>
                      </m:e>
                    </m:d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so </a:t>
                </a:r>
                <a14:m>
                  <m:oMath xmlns:m="http://schemas.openxmlformats.org/officeDocument/2006/math"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𝑑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𝑧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𝑑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</m:den>
                    </m:f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num>
                      <m:den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tan</m:t>
                        </m:r>
                        <m:f>
                          <m:fPr>
                            <m:type m:val="bar"/>
                            <m:ctrlP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fPr>
                          <m:num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𝑥</m:t>
                            </m:r>
                          </m:num>
                          <m:den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2</m:t>
                            </m:r>
                          </m:den>
                        </m:f>
                      </m:den>
                    </m:f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⋅</m:t>
                    </m:r>
                    <m:sSup>
                      <m:e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sec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den>
                    </m:f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⋅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den>
                    </m:f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num>
                      <m:den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sin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</m:den>
                    </m:f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Hence </a:t>
                </a:r>
                <a14:m>
                  <m:oMath xmlns:m="http://schemas.openxmlformats.org/officeDocument/2006/math"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𝑑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𝑦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𝑑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𝑧</m:t>
                        </m:r>
                      </m:den>
                    </m:f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𝑑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𝑦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𝑑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</m:den>
                    </m:f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⋅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𝑑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𝑑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𝑧</m:t>
                        </m:r>
                      </m:den>
                    </m:f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sin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𝑑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𝑦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𝑑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</m:den>
                    </m:f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14:m>
                  <m:oMath xmlns:m="http://schemas.openxmlformats.org/officeDocument/2006/math"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sSup>
                          <m:e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𝑑</m:t>
                            </m:r>
                          </m:e>
                          <m:sup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2</m:t>
                            </m:r>
                          </m:sup>
                        </m:s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𝑦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𝑑</m:t>
                        </m:r>
                        <m:sSup>
                          <m:e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𝑧</m:t>
                            </m:r>
                          </m:e>
                          <m:sup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2</m:t>
                            </m:r>
                          </m:sup>
                        </m:sSup>
                      </m:den>
                    </m:f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𝑑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𝑑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</m:den>
                    </m:f>
                    <m:d>
                      <m:dPr>
                        <m:begChr m:val="("/>
                        <m:sepChr m:val=""/>
                        <m:endChr m:val=")"/>
                        <m:grow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sin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  <m:f>
                          <m:fPr>
                            <m:type m:val="bar"/>
                            <m:ctrlP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fPr>
                          <m:num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𝑑</m:t>
                            </m:r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𝑦</m:t>
                            </m:r>
                          </m:num>
                          <m:den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𝑑</m:t>
                            </m:r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𝑥</m:t>
                            </m:r>
                          </m:den>
                        </m:f>
                      </m:e>
                    </m:d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𝑑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𝑑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𝑧</m:t>
                        </m:r>
                      </m:den>
                    </m:f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14:m>
                  <m:oMath xmlns:m="http://schemas.openxmlformats.org/officeDocument/2006/math"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sSup>
                          <m:e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𝑑</m:t>
                            </m:r>
                          </m:e>
                          <m:sup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2</m:t>
                            </m:r>
                          </m:sup>
                        </m:s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𝑦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𝑑</m:t>
                        </m:r>
                        <m:sSup>
                          <m:e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𝑧</m:t>
                            </m:r>
                          </m:e>
                          <m:sup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2</m:t>
                            </m:r>
                          </m:sup>
                        </m:sSup>
                      </m:den>
                    </m:f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d>
                      <m:dPr>
                        <m:begChr m:val="("/>
                        <m:sepChr m:val=""/>
                        <m:endChr m:val=")"/>
                        <m:grow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sin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  <m:f>
                          <m:fPr>
                            <m:type m:val="bar"/>
                            <m:ctrlP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fPr>
                          <m:num>
                            <m:sSup>
                              <m:e>
                                <m:r>
                                  <a:rPr lang="en-IN" sz="2400" i="1">
                                    <a:solidFill>
                                      <a:srgbClr val="111827"/>
                                    </a:solidFill>
                                    <a:latin typeface="Cambria Math" panose="02040503050406030204" pitchFamily="18" charset="0"/>
                                  </a:rPr>
                                  <m:t>𝑑</m:t>
                                </m:r>
                              </m:e>
                              <m:sup>
                                <m:r>
                                  <a:rPr lang="en-IN" sz="2400" i="1">
                                    <a:solidFill>
                                      <a:srgbClr val="111827"/>
                                    </a:solidFill>
                                    <a:latin typeface="Cambria Math" panose="02040503050406030204" pitchFamily="18" charset="0"/>
                                  </a:rPr>
                                  <m:t>2</m:t>
                                </m:r>
                              </m:sup>
                            </m:sSup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𝑦</m:t>
                            </m:r>
                          </m:num>
                          <m:den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𝑑</m:t>
                            </m:r>
                            <m:sSup>
                              <m:e>
                                <m:r>
                                  <a:rPr lang="en-IN" sz="2400" i="1">
                                    <a:solidFill>
                                      <a:srgbClr val="111827"/>
                                    </a:solidFill>
                                    <a:latin typeface="Cambria Math" panose="02040503050406030204" pitchFamily="18" charset="0"/>
                                  </a:rPr>
                                  <m:t>𝑥</m:t>
                                </m:r>
                              </m:e>
                              <m:sup>
                                <m:r>
                                  <a:rPr lang="en-IN" sz="2400" i="1">
                                    <a:solidFill>
                                      <a:srgbClr val="111827"/>
                                    </a:solidFill>
                                    <a:latin typeface="Cambria Math" panose="02040503050406030204" pitchFamily="18" charset="0"/>
                                  </a:rPr>
                                  <m:t>2</m:t>
                                </m:r>
                              </m:sup>
                            </m:sSup>
                          </m:den>
                        </m:f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+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cos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  <m:f>
                          <m:fPr>
                            <m:type m:val="bar"/>
                            <m:ctrlP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fPr>
                          <m:num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𝑑</m:t>
                            </m:r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𝑦</m:t>
                            </m:r>
                          </m:num>
                          <m:den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𝑑</m:t>
                            </m:r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𝑥</m:t>
                            </m:r>
                          </m:den>
                        </m:f>
                      </m:e>
                    </m:d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sin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sSup>
                      <m:e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sin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sSup>
                          <m:e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𝑑</m:t>
                            </m:r>
                          </m:e>
                          <m:sup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2</m:t>
                            </m:r>
                          </m:sup>
                        </m:s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𝑦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𝑑</m:t>
                        </m:r>
                        <m:sSup>
                          <m:e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𝑥</m:t>
                            </m:r>
                          </m:e>
                          <m:sup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2</m:t>
                            </m:r>
                          </m:sup>
                        </m:sSup>
                      </m:den>
                    </m:f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sin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cos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𝑑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𝑦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𝑑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</m:den>
                    </m:f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Choice>
        <mc:Fallback>
          <p:sp>
            <p:nvSpPr>
              <p:cNvPr id="5" name="Rectangle 4"/>
              <p:cNvSpPr/>
              <p:nvPr/>
            </p:nvSpPr>
            <p:spPr>
              <a:xfrm>
                <a:off x="731520" y="2746248"/>
                <a:ext cx="10725912" cy="3928872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$z=\ln\left(\tan\frac x2\right)$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so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$\frac{dz}{dx}=\frac{1}{\tan\frac x2}\cdot\sec^2\frac x2\cdot\frac12=\frac{1}{\sin x}$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Hence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$\frac{dy}{dz}=\frac{dy}{dx}\cdot\frac{dx}{dz}=\sin x\frac{dy}{dx}$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$\frac{d^2y}{dz^2}=\frac{d}{dx}\left(\sin x\frac{dy}{dx}\right)\frac{dx}{dz}$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$\frac{d^2y}{dz^2}=\left(\sin x\frac{d^2y}{dx^2}+\cos x\frac{dy}{dx}\right)\sin x=\sin^2x\frac{d^2y}{dx^2}+\sin x\cos x\frac{dy}{dx}$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Fallback>
      </mc:AlternateContent>
    </p:spTree>
  </p:cSld>
  <p:clrMapOvr>
    <a:masterClrMapping/>
  </p:clrMapOvr>
</p:sld>
</file>

<file path=ppt/slides/slide3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FFFFFF"/>
          </a:fontRef>
        </p:style>
        <p:txBody>
          <a:bodyPr rtlCol="0" anchor="ctr" lIns="731520"/>
          <a:lstStyle>
            <a:lvl1pPr>
              <a:defRPr sz="3200">
                <a:solidFill>
                  <a:srgbClr val="FFFFFF"/>
                </a:solidFill>
              </a:defRPr>
            </a:lvl1pPr>
          </a:lstStyle>
          <a:p>
            <a:pPr algn="l">
              <a:defRPr sz="3200">
                <a:solidFill>
                  <a:srgbClr val="FFFFFF"/>
                </a:solidFill>
              </a:defRPr>
            </a:pPr>
            <a:r>
              <a:rPr sz="3200" b="1">
                <a:solidFill>
                  <a:srgbClr val="FFFFFF"/>
                </a:solidFill>
                <a:latin typeface="Arial"/>
              </a:rPr>
              <a:t>Question 05</a:t>
            </a:r>
            <a:endParaRPr sz="3200">
              <a:solidFill>
                <a:srgbClr val="FFFFFF"/>
              </a:solidFill>
            </a:endParaRPr>
          </a:p>
        </p:txBody>
      </p:sp>
      <p:sp>
        <p:nvSpPr>
          <p:cNvPr id="3" name="Rounded Rectangle 2"/>
          <p:cNvSpPr/>
          <p:nvPr/>
        </p:nvSpPr>
        <p:spPr>
          <a:xfrm>
            <a:off x="7894015" y="246887"/>
            <a:ext cx="3840480" cy="603504"/>
          </a:xfrm>
          <a:prstGeom prst="roundRect">
            <a:avLst>
              <a:gd name="adj" fmla="val 50000"/>
            </a:avLst>
          </a:prstGeom>
          <a:solidFill>
            <a:srgbClr val="FFD966"/>
          </a:solidFill>
          <a:ln w="1905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111827"/>
          </a:fontRef>
        </p:style>
        <p:txBody>
          <a:bodyPr rtlCol="0" anchor="ctr" wrap="square" lIns="228600" rIns="228600" tIns="18288" bIns="18288"/>
          <a:lstStyle>
            <a:lvl1pPr>
              <a:defRPr sz="2400">
                <a:solidFill>
                  <a:srgbClr val="111827"/>
                </a:solidFill>
              </a:defRPr>
            </a:lvl1pPr>
          </a:lstStyle>
          <a:p>
            <a:pPr algn="ctr">
              <a:defRPr sz="2400">
                <a:solidFill>
                  <a:srgbClr val="111827"/>
                </a:solidFill>
              </a:defRPr>
            </a:pPr>
            <a:r>
              <a:rPr sz="2400" b="1">
                <a:solidFill>
                  <a:srgbClr val="111827"/>
                </a:solidFill>
                <a:latin typeface="Arial"/>
              </a:rPr>
              <a:t>Level 2  ·  4 Marks</a:t>
            </a:r>
            <a:endParaRPr sz="2400">
              <a:solidFill>
                <a:srgbClr val="111827"/>
              </a:solidFill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4" name="Rectangle 3"/>
              <p:cNvSpPr/>
              <p:nvPr/>
            </p:nvSpPr>
            <p:spPr>
              <a:xfrm>
                <a:off x="731520" y="1353312"/>
                <a:ext cx="10725912" cy="4434840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Divide by </a:t>
                </a:r>
                <a14:m>
                  <m:oMath xmlns:m="http://schemas.openxmlformats.org/officeDocument/2006/math">
                    <m:sSup>
                      <m:e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sin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: </a:t>
                </a:r>
                <a14:m>
                  <m:oMath xmlns:m="http://schemas.openxmlformats.org/officeDocument/2006/math">
                    <m:sSup>
                      <m:e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csc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sSup>
                          <m:e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𝑑</m:t>
                            </m:r>
                          </m:e>
                          <m:sup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2</m:t>
                            </m:r>
                          </m:sup>
                        </m:s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𝑦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𝑑</m:t>
                        </m:r>
                        <m:sSup>
                          <m:e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𝑧</m:t>
                            </m:r>
                          </m:e>
                          <m:sup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2</m:t>
                            </m:r>
                          </m:sup>
                        </m:sSup>
                      </m:den>
                    </m:f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sSup>
                          <m:e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𝑑</m:t>
                            </m:r>
                          </m:e>
                          <m:sup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2</m:t>
                            </m:r>
                          </m:sup>
                        </m:s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𝑦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𝑑</m:t>
                        </m:r>
                        <m:sSup>
                          <m:e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𝑥</m:t>
                            </m:r>
                          </m:e>
                          <m:sup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2</m:t>
                            </m:r>
                          </m:sup>
                        </m:sSup>
                      </m:den>
                    </m:f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cot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𝑑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𝑦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𝑑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</m:den>
                    </m:f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Substitute into the given equation: </a:t>
                </a:r>
                <a14:m>
                  <m:oMath xmlns:m="http://schemas.openxmlformats.org/officeDocument/2006/math">
                    <m:sSup>
                      <m:e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csc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sSup>
                          <m:e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𝑑</m:t>
                            </m:r>
                          </m:e>
                          <m:sup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2</m:t>
                            </m:r>
                          </m:sup>
                        </m:s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𝑦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𝑑</m:t>
                        </m:r>
                        <m:sSup>
                          <m:e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𝑧</m:t>
                            </m:r>
                          </m:e>
                          <m:sup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2</m:t>
                            </m:r>
                          </m:sup>
                        </m:sSup>
                      </m:den>
                    </m:f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4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𝑦</m:t>
                    </m:r>
                    <m:sSup>
                      <m:e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csc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0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Dividing by </a:t>
                </a:r>
                <a14:m>
                  <m:oMath xmlns:m="http://schemas.openxmlformats.org/officeDocument/2006/math">
                    <m:sSup>
                      <m:e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csc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≠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0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: </a:t>
                </a:r>
                <a14:m>
                  <m:oMath xmlns:m="http://schemas.openxmlformats.org/officeDocument/2006/math"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sSup>
                          <m:e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𝑑</m:t>
                            </m:r>
                          </m:e>
                          <m:sup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2</m:t>
                            </m:r>
                          </m:sup>
                        </m:s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𝑦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𝑑</m:t>
                        </m:r>
                        <m:sSup>
                          <m:e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𝑧</m:t>
                            </m:r>
                          </m:e>
                          <m:sup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2</m:t>
                            </m:r>
                          </m:sup>
                        </m:sSup>
                      </m:den>
                    </m:f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4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𝑦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0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Choice>
        <mc:Fallback>
          <p:sp>
            <p:nvSpPr>
              <p:cNvPr id="4" name="Rectangle 3"/>
              <p:cNvSpPr/>
              <p:nvPr/>
            </p:nvSpPr>
            <p:spPr>
              <a:xfrm>
                <a:off x="731520" y="1353312"/>
                <a:ext cx="10725912" cy="4434840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Divide by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$\sin^2x$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: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$\csc^2x\frac{d^2y}{dz^2}=\frac{d^2y}{dx^2}+\cot x\frac{dy}{dx}$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Substitute into the given equation: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$\csc^2x\frac{d^2y}{dz^2}+4y\csc^2x=0$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Dividing by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$\csc^2x\neq0$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: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$\frac{d^2y}{dz^2}+4y=0$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5" name="Rounded Rectangle 4"/>
              <p:cNvSpPr/>
              <p:nvPr/>
            </p:nvSpPr>
            <p:spPr>
              <a:xfrm>
                <a:off x="731520" y="5897880"/>
                <a:ext cx="10725912" cy="777240"/>
              </a:xfrm>
              <a:prstGeom prst="roundRect">
                <a:avLst>
                  <a:gd name="adj" fmla="val 8000"/>
                </a:avLst>
              </a:prstGeom>
              <a:solidFill>
                <a:srgbClr val="DCFCE7"/>
              </a:solidFill>
              <a:ln w="25400">
                <a:solidFill>
                  <a:srgbClr val="15803D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5803D"/>
              </a:fontRef>
            </p:style>
            <p:txBody>
              <a:bodyPr rtlCol="0" anchor="ctr" wrap="square" lIns="228600" rIns="228600" tIns="18288" bIns="73152"/>
              <a:lstStyle>
                <a:lvl1pPr>
                  <a:defRPr sz="2800">
                    <a:solidFill>
                      <a:srgbClr val="15803D"/>
                    </a:solidFill>
                  </a:defRPr>
                </a:lvl1pPr>
              </a:lstStyle>
              <a:p>
                <a:pPr algn="ctr">
                  <a:defRPr sz="2800">
                    <a:solidFill>
                      <a:srgbClr val="15803D"/>
                    </a:solidFill>
                  </a:defRPr>
                </a:pPr>
                <a:r>
                  <a:rPr sz="2800" b="1">
                    <a:solidFill>
                      <a:srgbClr val="15803D"/>
                    </a:solidFill>
                    <a:latin typeface="Arial"/>
                  </a:rPr>
                  <a:t>Correct Answer: Shown: </a:t>
                </a:r>
                <a14:m>
                  <m:oMath xmlns:m="http://schemas.openxmlformats.org/officeDocument/2006/math">
                    <m:f>
                      <m:fPr>
                        <m:type m:val="bar"/>
                        <m:ctrlPr>
                          <a:rPr lang="en-IN" sz="2800" i="1">
                            <a:solidFill>
                              <a:srgbClr val="15803D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sSup>
                          <m:e>
                            <m:r>
                              <a:rPr lang="en-IN" sz="2800" i="1">
                                <a:solidFill>
                                  <a:srgbClr val="15803D"/>
                                </a:solidFill>
                                <a:latin typeface="Cambria Math" panose="02040503050406030204" pitchFamily="18" charset="0"/>
                              </a:rPr>
                              <m:t>𝑑</m:t>
                            </m:r>
                          </m:e>
                          <m:sup>
                            <m:r>
                              <a:rPr lang="en-IN" sz="2800" i="1">
                                <a:solidFill>
                                  <a:srgbClr val="15803D"/>
                                </a:solidFill>
                                <a:latin typeface="Cambria Math" panose="02040503050406030204" pitchFamily="18" charset="0"/>
                              </a:rPr>
                              <m:t>2</m:t>
                            </m:r>
                          </m:sup>
                        </m:sSup>
                        <m:r>
                          <a:rPr lang="en-IN" sz="2800" i="1">
                            <a:solidFill>
                              <a:srgbClr val="15803D"/>
                            </a:solidFill>
                            <a:latin typeface="Cambria Math" panose="02040503050406030204" pitchFamily="18" charset="0"/>
                          </a:rPr>
                          <m:t>𝑦</m:t>
                        </m:r>
                      </m:num>
                      <m:den>
                        <m:r>
                          <a:rPr lang="en-IN" sz="2800" i="1">
                            <a:solidFill>
                              <a:srgbClr val="15803D"/>
                            </a:solidFill>
                            <a:latin typeface="Cambria Math" panose="02040503050406030204" pitchFamily="18" charset="0"/>
                          </a:rPr>
                          <m:t>𝑑</m:t>
                        </m:r>
                        <m:sSup>
                          <m:e>
                            <m:r>
                              <a:rPr lang="en-IN" sz="2800" i="1">
                                <a:solidFill>
                                  <a:srgbClr val="15803D"/>
                                </a:solidFill>
                                <a:latin typeface="Cambria Math" panose="02040503050406030204" pitchFamily="18" charset="0"/>
                              </a:rPr>
                              <m:t>𝑧</m:t>
                            </m:r>
                          </m:e>
                          <m:sup>
                            <m:r>
                              <a:rPr lang="en-IN" sz="2800" i="1">
                                <a:solidFill>
                                  <a:srgbClr val="15803D"/>
                                </a:solidFill>
                                <a:latin typeface="Cambria Math" panose="02040503050406030204" pitchFamily="18" charset="0"/>
                              </a:rPr>
                              <m:t>2</m:t>
                            </m:r>
                          </m:sup>
                        </m:sSup>
                      </m:den>
                    </m:f>
                    <m:r>
                      <m:rPr>
                        <m:sty m:val="p"/>
                      </m:rPr>
                      <a:rPr lang="en-IN" sz="2800">
                        <a:solidFill>
                          <a:srgbClr val="15803D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800" i="1">
                        <a:solidFill>
                          <a:srgbClr val="15803D"/>
                        </a:solidFill>
                        <a:latin typeface="Cambria Math" panose="02040503050406030204" pitchFamily="18" charset="0"/>
                      </a:rPr>
                      <m:t>4</m:t>
                    </m:r>
                    <m:r>
                      <a:rPr lang="en-IN" sz="2800" i="1">
                        <a:solidFill>
                          <a:srgbClr val="15803D"/>
                        </a:solidFill>
                        <a:latin typeface="Cambria Math" panose="02040503050406030204" pitchFamily="18" charset="0"/>
                      </a:rPr>
                      <m:t>𝑦</m:t>
                    </m:r>
                    <m:r>
                      <m:rPr>
                        <m:sty m:val="p"/>
                      </m:rPr>
                      <a:rPr lang="en-IN" sz="2800">
                        <a:solidFill>
                          <a:srgbClr val="15803D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800" i="1">
                        <a:solidFill>
                          <a:srgbClr val="15803D"/>
                        </a:solidFill>
                        <a:latin typeface="Cambria Math" panose="02040503050406030204" pitchFamily="18" charset="0"/>
                      </a:rPr>
                      <m:t>0</m:t>
                    </m:r>
                  </m:oMath>
                </a14:m>
                <a:endParaRPr sz="2800">
                  <a:solidFill>
                    <a:srgbClr val="15803D"/>
                  </a:solidFill>
                </a:endParaRPr>
              </a:p>
            </p:txBody>
          </p:sp>
        </mc:Choice>
        <mc:Fallback>
          <p:sp>
            <p:nvSpPr>
              <p:cNvPr id="5" name="Rounded Rectangle 4"/>
              <p:cNvSpPr/>
              <p:nvPr/>
            </p:nvSpPr>
            <p:spPr>
              <a:xfrm>
                <a:off x="731520" y="5897880"/>
                <a:ext cx="10725912" cy="777240"/>
              </a:xfrm>
              <a:prstGeom prst="roundRect">
                <a:avLst>
                  <a:gd name="adj" fmla="val 8000"/>
                </a:avLst>
              </a:prstGeom>
              <a:solidFill>
                <a:srgbClr val="DCFCE7"/>
              </a:solidFill>
              <a:ln w="25400">
                <a:solidFill>
                  <a:srgbClr val="15803D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5803D"/>
              </a:fontRef>
            </p:style>
            <p:txBody>
              <a:bodyPr rtlCol="0" anchor="ctr" wrap="square" lIns="228600" rIns="228600" tIns="18288" bIns="73152"/>
              <a:lstStyle>
                <a:lvl1pPr>
                  <a:defRPr sz="2800">
                    <a:solidFill>
                      <a:srgbClr val="15803D"/>
                    </a:solidFill>
                  </a:defRPr>
                </a:lvl1pPr>
              </a:lstStyle>
              <a:p>
                <a:pPr algn="ctr">
                  <a:defRPr sz="2800">
                    <a:solidFill>
                      <a:srgbClr val="15803D"/>
                    </a:solidFill>
                  </a:defRPr>
                </a:pPr>
                <a:r>
                  <a:rPr sz="2800" b="1">
                    <a:solidFill>
                      <a:srgbClr val="15803D"/>
                    </a:solidFill>
                    <a:latin typeface="Arial"/>
                  </a:rPr>
                  <a:t>Correct Answer: Shown: </a:t>
                </a:r>
                <a:r>
                  <a:rPr lang="en-IN" sz="2800">
                    <a:solidFill>
                      <a:srgbClr val="15803D"/>
                    </a:solidFill>
                    <a:latin typeface="Cambria Math" panose="02040503050406030204" pitchFamily="18" charset="0"/>
                  </a:rPr>
                  <a:t>$\frac{d^2y}{dz^2}+4y=0$</a:t>
                </a:r>
                <a:endParaRPr sz="2800">
                  <a:solidFill>
                    <a:srgbClr val="15803D"/>
                  </a:solidFill>
                </a:endParaRPr>
              </a:p>
            </p:txBody>
          </p:sp>
        </mc:Fallback>
      </mc:AlternateContent>
    </p:spTree>
  </p:cSld>
  <p:clrMapOvr>
    <a:masterClrMapping/>
  </p:clrMapOvr>
</p:sld>
</file>

<file path=ppt/slides/slide3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FFFFFF"/>
          </a:fontRef>
        </p:style>
        <p:txBody>
          <a:bodyPr rtlCol="0" anchor="ctr" lIns="731520"/>
          <a:lstStyle>
            <a:lvl1pPr>
              <a:defRPr sz="3200">
                <a:solidFill>
                  <a:srgbClr val="FFFFFF"/>
                </a:solidFill>
              </a:defRPr>
            </a:lvl1pPr>
          </a:lstStyle>
          <a:p>
            <a:pPr algn="l">
              <a:defRPr sz="3200">
                <a:solidFill>
                  <a:srgbClr val="FFFFFF"/>
                </a:solidFill>
              </a:defRPr>
            </a:pPr>
            <a:r>
              <a:rPr sz="3200" b="1">
                <a:solidFill>
                  <a:srgbClr val="FFFFFF"/>
                </a:solidFill>
                <a:latin typeface="Arial"/>
              </a:rPr>
              <a:t>Question 05</a:t>
            </a:r>
            <a:endParaRPr sz="3200">
              <a:solidFill>
                <a:srgbClr val="FFFFFF"/>
              </a:solidFill>
            </a:endParaRPr>
          </a:p>
        </p:txBody>
      </p:sp>
      <p:sp>
        <p:nvSpPr>
          <p:cNvPr id="3" name="Rounded Rectangle 2"/>
          <p:cNvSpPr/>
          <p:nvPr/>
        </p:nvSpPr>
        <p:spPr>
          <a:xfrm>
            <a:off x="7894015" y="246887"/>
            <a:ext cx="3840480" cy="603504"/>
          </a:xfrm>
          <a:prstGeom prst="roundRect">
            <a:avLst>
              <a:gd name="adj" fmla="val 50000"/>
            </a:avLst>
          </a:prstGeom>
          <a:solidFill>
            <a:srgbClr val="FFD966"/>
          </a:solidFill>
          <a:ln w="1905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111827"/>
          </a:fontRef>
        </p:style>
        <p:txBody>
          <a:bodyPr rtlCol="0" anchor="ctr" wrap="square" lIns="228600" rIns="228600" tIns="18288" bIns="18288"/>
          <a:lstStyle>
            <a:lvl1pPr>
              <a:defRPr sz="2400">
                <a:solidFill>
                  <a:srgbClr val="111827"/>
                </a:solidFill>
              </a:defRPr>
            </a:lvl1pPr>
          </a:lstStyle>
          <a:p>
            <a:pPr algn="ctr">
              <a:defRPr sz="2400">
                <a:solidFill>
                  <a:srgbClr val="111827"/>
                </a:solidFill>
              </a:defRPr>
            </a:pPr>
            <a:r>
              <a:rPr sz="2400" b="1">
                <a:solidFill>
                  <a:srgbClr val="111827"/>
                </a:solidFill>
                <a:latin typeface="Arial"/>
              </a:rPr>
              <a:t>Level 2  ·  4 Marks</a:t>
            </a:r>
            <a:endParaRPr sz="2400">
              <a:solidFill>
                <a:srgbClr val="111827"/>
              </a:solidFill>
            </a:endParaRPr>
          </a:p>
        </p:txBody>
      </p:sp>
      <p:sp>
        <p:nvSpPr>
          <p:cNvPr id="4" name="Rounded Rectangle 3"/>
          <p:cNvSpPr/>
          <p:nvPr/>
        </p:nvSpPr>
        <p:spPr>
          <a:xfrm>
            <a:off x="3520440" y="265176"/>
            <a:ext cx="4206240" cy="566928"/>
          </a:xfrm>
          <a:prstGeom prst="roundRect">
            <a:avLst>
              <a:gd name="adj" fmla="val 50000"/>
            </a:avLst>
          </a:prstGeom>
          <a:solidFill>
            <a:srgbClr val="FDE68A"/>
          </a:solidFill>
          <a:ln w="25400">
            <a:solidFill>
              <a:srgbClr val="D9770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78350F"/>
          </a:fontRef>
        </p:style>
        <p:txBody>
          <a:bodyPr rtlCol="0" anchor="ctr" wrap="square" lIns="228600" rIns="228600" tIns="18288" bIns="18288"/>
          <a:lstStyle>
            <a:lvl1pPr>
              <a:defRPr sz="2200">
                <a:solidFill>
                  <a:srgbClr val="78350F"/>
                </a:solidFill>
              </a:defRPr>
            </a:lvl1pPr>
          </a:lstStyle>
          <a:p>
            <a:pPr algn="ctr">
              <a:defRPr sz="2200">
                <a:solidFill>
                  <a:srgbClr val="78350F"/>
                </a:solidFill>
              </a:defRPr>
            </a:pPr>
            <a:r>
              <a:rPr sz="2200" b="1">
                <a:solidFill>
                  <a:srgbClr val="78350F"/>
                </a:solidFill>
                <a:latin typeface="Arial"/>
              </a:rPr>
              <a:t>Alternate Solution</a:t>
            </a:r>
            <a:endParaRPr sz="2200">
              <a:solidFill>
                <a:srgbClr val="78350F"/>
              </a:solidFill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5" name="Rounded Rectangle 4"/>
              <p:cNvSpPr/>
              <p:nvPr/>
            </p:nvSpPr>
            <p:spPr>
              <a:xfrm>
                <a:off x="731520" y="1280160"/>
                <a:ext cx="10725912" cy="1109472"/>
              </a:xfrm>
              <a:prstGeom prst="roundRect">
                <a:avLst>
                  <a:gd name="adj" fmla="val 8000"/>
                </a:avLst>
              </a:prstGeom>
              <a:solidFill>
                <a:srgbClr val="FDE68A"/>
              </a:solidFill>
              <a:ln w="31750">
                <a:solidFill>
                  <a:srgbClr val="D97706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78350F"/>
              </a:fontRef>
            </p:style>
            <p:txBody>
              <a:bodyPr rtlCol="0" anchor="ctr" wrap="square" lIns="228600" rIns="228600" tIns="54864" bIns="73152"/>
              <a:lstStyle>
                <a:lvl1pPr>
                  <a:defRPr sz="2400">
                    <a:solidFill>
                      <a:srgbClr val="78350F"/>
                    </a:solidFill>
                  </a:defRPr>
                </a:lvl1pPr>
              </a:lstStyle>
              <a:p>
                <a:pPr algn="l">
                  <a:defRPr sz="2400">
                    <a:solidFill>
                      <a:srgbClr val="78350F"/>
                    </a:solidFill>
                  </a:defRPr>
                </a:pPr>
                <a:r>
                  <a:rPr sz="2400" b="1">
                    <a:solidFill>
                      <a:srgbClr val="78350F"/>
                    </a:solidFill>
                    <a:latin typeface="Arial"/>
                  </a:rPr>
                  <a:t>Idea:  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Solution-space check: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cos</m:t>
                    </m:r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2</m:t>
                    </m:r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𝑧</m:t>
                    </m:r>
                  </m:oMath>
                </a14:m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 and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sin</m:t>
                    </m:r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2</m:t>
                    </m:r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𝑧</m:t>
                    </m:r>
                  </m:oMath>
                </a14:m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 both satisfy the original equation, so the transformed equation must be </a:t>
                </a:r>
                <a14:m>
                  <m:oMath xmlns:m="http://schemas.openxmlformats.org/officeDocument/2006/math">
                    <m:sSub>
                      <m:e>
                        <m: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𝑦</m:t>
                        </m:r>
                      </m:e>
                      <m:sub>
                        <m: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𝑧</m:t>
                        </m:r>
                        <m: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𝑧</m:t>
                        </m:r>
                      </m:sub>
                    </m:sSub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4</m:t>
                    </m:r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𝑦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0</m:t>
                    </m:r>
                  </m:oMath>
                </a14:m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.</a:t>
                </a:r>
                <a:endParaRPr sz="2400">
                  <a:solidFill>
                    <a:srgbClr val="78350F"/>
                  </a:solidFill>
                </a:endParaRPr>
              </a:p>
            </p:txBody>
          </p:sp>
        </mc:Choice>
        <mc:Fallback>
          <p:sp>
            <p:nvSpPr>
              <p:cNvPr id="5" name="Rounded Rectangle 4"/>
              <p:cNvSpPr/>
              <p:nvPr/>
            </p:nvSpPr>
            <p:spPr>
              <a:xfrm>
                <a:off x="731520" y="1280160"/>
                <a:ext cx="10725912" cy="1109472"/>
              </a:xfrm>
              <a:prstGeom prst="roundRect">
                <a:avLst>
                  <a:gd name="adj" fmla="val 8000"/>
                </a:avLst>
              </a:prstGeom>
              <a:solidFill>
                <a:srgbClr val="FDE68A"/>
              </a:solidFill>
              <a:ln w="31750">
                <a:solidFill>
                  <a:srgbClr val="D97706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78350F"/>
              </a:fontRef>
            </p:style>
            <p:txBody>
              <a:bodyPr rtlCol="0" anchor="ctr" wrap="square" lIns="228600" rIns="228600" tIns="54864" bIns="73152"/>
              <a:lstStyle>
                <a:lvl1pPr>
                  <a:defRPr sz="2400">
                    <a:solidFill>
                      <a:srgbClr val="78350F"/>
                    </a:solidFill>
                  </a:defRPr>
                </a:lvl1pPr>
              </a:lstStyle>
              <a:p>
                <a:pPr algn="l">
                  <a:defRPr sz="2400">
                    <a:solidFill>
                      <a:srgbClr val="78350F"/>
                    </a:solidFill>
                  </a:defRPr>
                </a:pPr>
                <a:r>
                  <a:rPr sz="2400" b="1">
                    <a:solidFill>
                      <a:srgbClr val="78350F"/>
                    </a:solidFill>
                    <a:latin typeface="Arial"/>
                  </a:rPr>
                  <a:t>Idea:  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Solution-space check: </a:t>
                </a:r>
                <a:r>
                  <a:rPr lang="en-IN" sz="2400">
                    <a:solidFill>
                      <a:srgbClr val="78350F"/>
                    </a:solidFill>
                    <a:latin typeface="Cambria Math" panose="02040503050406030204" pitchFamily="18" charset="0"/>
                  </a:rPr>
                  <a:t>$\cos2z$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 and </a:t>
                </a:r>
                <a:r>
                  <a:rPr lang="en-IN" sz="2400">
                    <a:solidFill>
                      <a:srgbClr val="78350F"/>
                    </a:solidFill>
                    <a:latin typeface="Cambria Math" panose="02040503050406030204" pitchFamily="18" charset="0"/>
                  </a:rPr>
                  <a:t>$\sin2z$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 both satisfy the original equation, so the transformed equation must be </a:t>
                </a:r>
                <a:r>
                  <a:rPr lang="en-IN" sz="2400">
                    <a:solidFill>
                      <a:srgbClr val="78350F"/>
                    </a:solidFill>
                    <a:latin typeface="Cambria Math" panose="02040503050406030204" pitchFamily="18" charset="0"/>
                  </a:rPr>
                  <a:t>$y_{zz}+4y=0$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.</a:t>
                </a:r>
                <a:endParaRPr sz="2400">
                  <a:solidFill>
                    <a:srgbClr val="78350F"/>
                  </a:solidFill>
                </a:endParaRP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6" name="Rectangle 5"/>
              <p:cNvSpPr/>
              <p:nvPr/>
            </p:nvSpPr>
            <p:spPr>
              <a:xfrm>
                <a:off x="731520" y="2526792"/>
                <a:ext cx="10725912" cy="4148328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With </a:t>
                </a:r>
                <a14:m>
                  <m:oMath xmlns:m="http://schemas.openxmlformats.org/officeDocument/2006/math"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𝑑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𝑧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𝑑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</m:den>
                    </m:f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num>
                      <m:den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sin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</m:den>
                    </m:f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take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𝑦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cos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𝑧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: </a:t>
                </a:r>
                <a14:m>
                  <m:oMath xmlns:m="http://schemas.openxmlformats.org/officeDocument/2006/math">
                    <m:sSub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𝑦</m:t>
                        </m:r>
                      </m:e>
                      <m:sub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</m:sub>
                    </m:sSub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sin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𝑧</m:t>
                        </m:r>
                      </m:num>
                      <m:den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sin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</m:den>
                    </m:f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14:m>
                  <m:oMath xmlns:m="http://schemas.openxmlformats.org/officeDocument/2006/math">
                    <m:sSub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𝑦</m:t>
                        </m:r>
                      </m:e>
                      <m:sub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</m:sub>
                    </m:sSub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4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cos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𝑧</m:t>
                        </m:r>
                      </m:num>
                      <m:den>
                        <m:sSup>
                          <m:e>
                            <m:r>
                              <m:rPr>
                                <m:sty m:val="p"/>
                              </m:rPr>
                              <a:rPr lang="en-IN" sz="2400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sin</m:t>
                            </m:r>
                          </m:e>
                          <m:sup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2</m:t>
                            </m:r>
                          </m:sup>
                        </m:s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</m:den>
                    </m:f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sin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𝑧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cos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</m:num>
                      <m:den>
                        <m:sSup>
                          <m:e>
                            <m:r>
                              <m:rPr>
                                <m:sty m:val="p"/>
                              </m:rPr>
                              <a:rPr lang="en-IN" sz="2400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sin</m:t>
                            </m:r>
                          </m:e>
                          <m:sup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2</m:t>
                            </m:r>
                          </m:sup>
                        </m:s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</m:den>
                    </m:f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Choice>
        <mc:Fallback>
          <p:sp>
            <p:nvSpPr>
              <p:cNvPr id="6" name="Rectangle 5"/>
              <p:cNvSpPr/>
              <p:nvPr/>
            </p:nvSpPr>
            <p:spPr>
              <a:xfrm>
                <a:off x="731520" y="2526792"/>
                <a:ext cx="10725912" cy="4148328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With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$\frac{dz}{dx}=\frac1{\sin x}$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take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$y=\cos2z$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: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$y_x=-\frac{2\sin2z}{\sin x}$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$y_{xx}=-\frac{4\cos2z}{\sin^2x}+\frac{2\sin2z\cos x}{\sin^2x}$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Fallback>
      </mc:AlternateContent>
    </p:spTree>
  </p:cSld>
  <p:clrMapOvr>
    <a:masterClrMapping/>
  </p:clrMapOvr>
</p:sld>
</file>

<file path=ppt/slides/slide3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FFFFFF"/>
          </a:fontRef>
        </p:style>
        <p:txBody>
          <a:bodyPr rtlCol="0" anchor="ctr" lIns="731520"/>
          <a:lstStyle>
            <a:lvl1pPr>
              <a:defRPr sz="3200">
                <a:solidFill>
                  <a:srgbClr val="FFFFFF"/>
                </a:solidFill>
              </a:defRPr>
            </a:lvl1pPr>
          </a:lstStyle>
          <a:p>
            <a:pPr algn="l">
              <a:defRPr sz="3200">
                <a:solidFill>
                  <a:srgbClr val="FFFFFF"/>
                </a:solidFill>
              </a:defRPr>
            </a:pPr>
            <a:r>
              <a:rPr sz="3200" b="1">
                <a:solidFill>
                  <a:srgbClr val="FFFFFF"/>
                </a:solidFill>
                <a:latin typeface="Arial"/>
              </a:rPr>
              <a:t>Question 05</a:t>
            </a:r>
            <a:endParaRPr sz="3200">
              <a:solidFill>
                <a:srgbClr val="FFFFFF"/>
              </a:solidFill>
            </a:endParaRPr>
          </a:p>
        </p:txBody>
      </p:sp>
      <p:sp>
        <p:nvSpPr>
          <p:cNvPr id="3" name="Rounded Rectangle 2"/>
          <p:cNvSpPr/>
          <p:nvPr/>
        </p:nvSpPr>
        <p:spPr>
          <a:xfrm>
            <a:off x="7894015" y="246887"/>
            <a:ext cx="3840480" cy="603504"/>
          </a:xfrm>
          <a:prstGeom prst="roundRect">
            <a:avLst>
              <a:gd name="adj" fmla="val 50000"/>
            </a:avLst>
          </a:prstGeom>
          <a:solidFill>
            <a:srgbClr val="FFD966"/>
          </a:solidFill>
          <a:ln w="1905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111827"/>
          </a:fontRef>
        </p:style>
        <p:txBody>
          <a:bodyPr rtlCol="0" anchor="ctr" wrap="square" lIns="228600" rIns="228600" tIns="18288" bIns="18288"/>
          <a:lstStyle>
            <a:lvl1pPr>
              <a:defRPr sz="2400">
                <a:solidFill>
                  <a:srgbClr val="111827"/>
                </a:solidFill>
              </a:defRPr>
            </a:lvl1pPr>
          </a:lstStyle>
          <a:p>
            <a:pPr algn="ctr">
              <a:defRPr sz="2400">
                <a:solidFill>
                  <a:srgbClr val="111827"/>
                </a:solidFill>
              </a:defRPr>
            </a:pPr>
            <a:r>
              <a:rPr sz="2400" b="1">
                <a:solidFill>
                  <a:srgbClr val="111827"/>
                </a:solidFill>
                <a:latin typeface="Arial"/>
              </a:rPr>
              <a:t>Level 2  ·  4 Marks</a:t>
            </a:r>
            <a:endParaRPr sz="2400">
              <a:solidFill>
                <a:srgbClr val="111827"/>
              </a:solidFill>
            </a:endParaRPr>
          </a:p>
        </p:txBody>
      </p:sp>
      <p:sp>
        <p:nvSpPr>
          <p:cNvPr id="4" name="Rounded Rectangle 3"/>
          <p:cNvSpPr/>
          <p:nvPr/>
        </p:nvSpPr>
        <p:spPr>
          <a:xfrm>
            <a:off x="3520440" y="265176"/>
            <a:ext cx="4206240" cy="566928"/>
          </a:xfrm>
          <a:prstGeom prst="roundRect">
            <a:avLst>
              <a:gd name="adj" fmla="val 50000"/>
            </a:avLst>
          </a:prstGeom>
          <a:solidFill>
            <a:srgbClr val="FDE68A"/>
          </a:solidFill>
          <a:ln w="25400">
            <a:solidFill>
              <a:srgbClr val="D9770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78350F"/>
          </a:fontRef>
        </p:style>
        <p:txBody>
          <a:bodyPr rtlCol="0" anchor="ctr" wrap="square" lIns="228600" rIns="228600" tIns="18288" bIns="18288"/>
          <a:lstStyle>
            <a:lvl1pPr>
              <a:defRPr sz="2200">
                <a:solidFill>
                  <a:srgbClr val="78350F"/>
                </a:solidFill>
              </a:defRPr>
            </a:lvl1pPr>
          </a:lstStyle>
          <a:p>
            <a:pPr algn="ctr">
              <a:defRPr sz="2200">
                <a:solidFill>
                  <a:srgbClr val="78350F"/>
                </a:solidFill>
              </a:defRPr>
            </a:pPr>
            <a:r>
              <a:rPr sz="2200" b="1">
                <a:solidFill>
                  <a:srgbClr val="78350F"/>
                </a:solidFill>
                <a:latin typeface="Arial"/>
              </a:rPr>
              <a:t>Alternate Solution</a:t>
            </a:r>
            <a:endParaRPr sz="2200">
              <a:solidFill>
                <a:srgbClr val="78350F"/>
              </a:solidFill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5" name="Rectangle 4"/>
              <p:cNvSpPr/>
              <p:nvPr/>
            </p:nvSpPr>
            <p:spPr>
              <a:xfrm>
                <a:off x="731520" y="1353312"/>
                <a:ext cx="10725912" cy="4434840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Then </a:t>
                </a:r>
                <a14:m>
                  <m:oMath xmlns:m="http://schemas.openxmlformats.org/officeDocument/2006/math">
                    <m:sSub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𝑦</m:t>
                        </m:r>
                      </m:e>
                      <m:sub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</m:sub>
                    </m:sSub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cot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 </m:t>
                    </m:r>
                    <m:sSub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𝑦</m:t>
                        </m:r>
                      </m:e>
                      <m:sub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</m:sub>
                    </m:sSub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4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𝑦</m:t>
                    </m:r>
                    <m:sSup>
                      <m:e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csc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−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4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cos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𝑧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+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sin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𝑧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cos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</m:num>
                      <m:den>
                        <m:sSup>
                          <m:e>
                            <m:r>
                              <m:rPr>
                                <m:sty m:val="p"/>
                              </m:rPr>
                              <a:rPr lang="en-IN" sz="2400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sin</m:t>
                            </m:r>
                          </m:e>
                          <m:sup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2</m:t>
                            </m:r>
                          </m:sup>
                        </m:s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</m:den>
                    </m:f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sin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𝑧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cos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</m:num>
                      <m:den>
                        <m:sSup>
                          <m:e>
                            <m:r>
                              <m:rPr>
                                <m:sty m:val="p"/>
                              </m:rPr>
                              <a:rPr lang="en-IN" sz="2400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sin</m:t>
                            </m:r>
                          </m:e>
                          <m:sup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2</m:t>
                            </m:r>
                          </m:sup>
                        </m:s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</m:den>
                    </m:f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4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cos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𝑧</m:t>
                        </m:r>
                      </m:num>
                      <m:den>
                        <m:sSup>
                          <m:e>
                            <m:r>
                              <m:rPr>
                                <m:sty m:val="p"/>
                              </m:rPr>
                              <a:rPr lang="en-IN" sz="2400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sin</m:t>
                            </m:r>
                          </m:e>
                          <m:sup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2</m:t>
                            </m:r>
                          </m:sup>
                        </m:s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</m:den>
                    </m:f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0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The same computation works for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𝑦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sin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𝑧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 The equation in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𝑧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is linear of second order and these two independent functions solve it, so it has the form </a:t>
                </a:r>
                <a14:m>
                  <m:oMath xmlns:m="http://schemas.openxmlformats.org/officeDocument/2006/math">
                    <m:sSub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𝑦</m:t>
                        </m:r>
                      </m:e>
                      <m:sub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𝑧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𝑧</m:t>
                        </m:r>
                      </m:sub>
                    </m:sSub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4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𝑦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0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(whose solutions are exactly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𝐴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cos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𝑧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𝐵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sin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𝑧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).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Choice>
        <mc:Fallback>
          <p:sp>
            <p:nvSpPr>
              <p:cNvPr id="5" name="Rectangle 4"/>
              <p:cNvSpPr/>
              <p:nvPr/>
            </p:nvSpPr>
            <p:spPr>
              <a:xfrm>
                <a:off x="731520" y="1353312"/>
                <a:ext cx="10725912" cy="4434840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Then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$y_{xx}+\cot x\,y_x+4y\csc^2x=\frac{-4\cos2z+2\sin2z\cos x}{\sin^2x}-\frac{2\sin2z\cos x}{\sin^2x}+\frac{4\cos2z}{\sin^2x}=0$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The same computation works for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$y=\sin2z$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 The equation in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$z$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is linear of second order and these two independent functions solve it, so it has the form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$y_{zz}+4y=0$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(whose solutions are exactly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$A\cos2z+B\sin2z$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).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6" name="Rounded Rectangle 5"/>
              <p:cNvSpPr/>
              <p:nvPr/>
            </p:nvSpPr>
            <p:spPr>
              <a:xfrm>
                <a:off x="731520" y="5897880"/>
                <a:ext cx="10725912" cy="777240"/>
              </a:xfrm>
              <a:prstGeom prst="roundRect">
                <a:avLst>
                  <a:gd name="adj" fmla="val 8000"/>
                </a:avLst>
              </a:prstGeom>
              <a:solidFill>
                <a:srgbClr val="DCFCE7"/>
              </a:solidFill>
              <a:ln w="25400">
                <a:solidFill>
                  <a:srgbClr val="15803D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5803D"/>
              </a:fontRef>
            </p:style>
            <p:txBody>
              <a:bodyPr rtlCol="0" anchor="ctr" wrap="square" lIns="228600" rIns="228600" tIns="18288" bIns="73152"/>
              <a:lstStyle>
                <a:lvl1pPr>
                  <a:defRPr sz="2800">
                    <a:solidFill>
                      <a:srgbClr val="15803D"/>
                    </a:solidFill>
                  </a:defRPr>
                </a:lvl1pPr>
              </a:lstStyle>
              <a:p>
                <a:pPr algn="ctr">
                  <a:defRPr sz="2800">
                    <a:solidFill>
                      <a:srgbClr val="15803D"/>
                    </a:solidFill>
                  </a:defRPr>
                </a:pPr>
                <a:r>
                  <a:rPr sz="2800" b="1">
                    <a:solidFill>
                      <a:srgbClr val="15803D"/>
                    </a:solidFill>
                    <a:latin typeface="Arial"/>
                  </a:rPr>
                  <a:t>Same answer: Shown: </a:t>
                </a:r>
                <a14:m>
                  <m:oMath xmlns:m="http://schemas.openxmlformats.org/officeDocument/2006/math">
                    <m:f>
                      <m:fPr>
                        <m:type m:val="bar"/>
                        <m:ctrlPr>
                          <a:rPr lang="en-IN" sz="2800" i="1">
                            <a:solidFill>
                              <a:srgbClr val="15803D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sSup>
                          <m:e>
                            <m:r>
                              <a:rPr lang="en-IN" sz="2800" i="1">
                                <a:solidFill>
                                  <a:srgbClr val="15803D"/>
                                </a:solidFill>
                                <a:latin typeface="Cambria Math" panose="02040503050406030204" pitchFamily="18" charset="0"/>
                              </a:rPr>
                              <m:t>𝑑</m:t>
                            </m:r>
                          </m:e>
                          <m:sup>
                            <m:r>
                              <a:rPr lang="en-IN" sz="2800" i="1">
                                <a:solidFill>
                                  <a:srgbClr val="15803D"/>
                                </a:solidFill>
                                <a:latin typeface="Cambria Math" panose="02040503050406030204" pitchFamily="18" charset="0"/>
                              </a:rPr>
                              <m:t>2</m:t>
                            </m:r>
                          </m:sup>
                        </m:sSup>
                        <m:r>
                          <a:rPr lang="en-IN" sz="2800" i="1">
                            <a:solidFill>
                              <a:srgbClr val="15803D"/>
                            </a:solidFill>
                            <a:latin typeface="Cambria Math" panose="02040503050406030204" pitchFamily="18" charset="0"/>
                          </a:rPr>
                          <m:t>𝑦</m:t>
                        </m:r>
                      </m:num>
                      <m:den>
                        <m:r>
                          <a:rPr lang="en-IN" sz="2800" i="1">
                            <a:solidFill>
                              <a:srgbClr val="15803D"/>
                            </a:solidFill>
                            <a:latin typeface="Cambria Math" panose="02040503050406030204" pitchFamily="18" charset="0"/>
                          </a:rPr>
                          <m:t>𝑑</m:t>
                        </m:r>
                        <m:sSup>
                          <m:e>
                            <m:r>
                              <a:rPr lang="en-IN" sz="2800" i="1">
                                <a:solidFill>
                                  <a:srgbClr val="15803D"/>
                                </a:solidFill>
                                <a:latin typeface="Cambria Math" panose="02040503050406030204" pitchFamily="18" charset="0"/>
                              </a:rPr>
                              <m:t>𝑧</m:t>
                            </m:r>
                          </m:e>
                          <m:sup>
                            <m:r>
                              <a:rPr lang="en-IN" sz="2800" i="1">
                                <a:solidFill>
                                  <a:srgbClr val="15803D"/>
                                </a:solidFill>
                                <a:latin typeface="Cambria Math" panose="02040503050406030204" pitchFamily="18" charset="0"/>
                              </a:rPr>
                              <m:t>2</m:t>
                            </m:r>
                          </m:sup>
                        </m:sSup>
                      </m:den>
                    </m:f>
                    <m:r>
                      <m:rPr>
                        <m:sty m:val="p"/>
                      </m:rPr>
                      <a:rPr lang="en-IN" sz="2800">
                        <a:solidFill>
                          <a:srgbClr val="15803D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800" i="1">
                        <a:solidFill>
                          <a:srgbClr val="15803D"/>
                        </a:solidFill>
                        <a:latin typeface="Cambria Math" panose="02040503050406030204" pitchFamily="18" charset="0"/>
                      </a:rPr>
                      <m:t>4</m:t>
                    </m:r>
                    <m:r>
                      <a:rPr lang="en-IN" sz="2800" i="1">
                        <a:solidFill>
                          <a:srgbClr val="15803D"/>
                        </a:solidFill>
                        <a:latin typeface="Cambria Math" panose="02040503050406030204" pitchFamily="18" charset="0"/>
                      </a:rPr>
                      <m:t>𝑦</m:t>
                    </m:r>
                    <m:r>
                      <m:rPr>
                        <m:sty m:val="p"/>
                      </m:rPr>
                      <a:rPr lang="en-IN" sz="2800">
                        <a:solidFill>
                          <a:srgbClr val="15803D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800" i="1">
                        <a:solidFill>
                          <a:srgbClr val="15803D"/>
                        </a:solidFill>
                        <a:latin typeface="Cambria Math" panose="02040503050406030204" pitchFamily="18" charset="0"/>
                      </a:rPr>
                      <m:t>0</m:t>
                    </m:r>
                  </m:oMath>
                </a14:m>
                <a:endParaRPr sz="2800">
                  <a:solidFill>
                    <a:srgbClr val="15803D"/>
                  </a:solidFill>
                </a:endParaRPr>
              </a:p>
            </p:txBody>
          </p:sp>
        </mc:Choice>
        <mc:Fallback>
          <p:sp>
            <p:nvSpPr>
              <p:cNvPr id="6" name="Rounded Rectangle 5"/>
              <p:cNvSpPr/>
              <p:nvPr/>
            </p:nvSpPr>
            <p:spPr>
              <a:xfrm>
                <a:off x="731520" y="5897880"/>
                <a:ext cx="10725912" cy="777240"/>
              </a:xfrm>
              <a:prstGeom prst="roundRect">
                <a:avLst>
                  <a:gd name="adj" fmla="val 8000"/>
                </a:avLst>
              </a:prstGeom>
              <a:solidFill>
                <a:srgbClr val="DCFCE7"/>
              </a:solidFill>
              <a:ln w="25400">
                <a:solidFill>
                  <a:srgbClr val="15803D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5803D"/>
              </a:fontRef>
            </p:style>
            <p:txBody>
              <a:bodyPr rtlCol="0" anchor="ctr" wrap="square" lIns="228600" rIns="228600" tIns="18288" bIns="73152"/>
              <a:lstStyle>
                <a:lvl1pPr>
                  <a:defRPr sz="2800">
                    <a:solidFill>
                      <a:srgbClr val="15803D"/>
                    </a:solidFill>
                  </a:defRPr>
                </a:lvl1pPr>
              </a:lstStyle>
              <a:p>
                <a:pPr algn="ctr">
                  <a:defRPr sz="2800">
                    <a:solidFill>
                      <a:srgbClr val="15803D"/>
                    </a:solidFill>
                  </a:defRPr>
                </a:pPr>
                <a:r>
                  <a:rPr sz="2800" b="1">
                    <a:solidFill>
                      <a:srgbClr val="15803D"/>
                    </a:solidFill>
                    <a:latin typeface="Arial"/>
                  </a:rPr>
                  <a:t>Same answer: Shown: </a:t>
                </a:r>
                <a:r>
                  <a:rPr lang="en-IN" sz="2800">
                    <a:solidFill>
                      <a:srgbClr val="15803D"/>
                    </a:solidFill>
                    <a:latin typeface="Cambria Math" panose="02040503050406030204" pitchFamily="18" charset="0"/>
                  </a:rPr>
                  <a:t>$\frac{d^2y}{dz^2}+4y=0$</a:t>
                </a:r>
                <a:endParaRPr sz="2800">
                  <a:solidFill>
                    <a:srgbClr val="15803D"/>
                  </a:solidFill>
                </a:endParaRPr>
              </a:p>
            </p:txBody>
          </p:sp>
        </mc:Fallback>
      </mc:AlternateContent>
    </p:spTree>
  </p:cSld>
  <p:clrMapOvr>
    <a:masterClrMapping/>
  </p:clrMapOvr>
</p:sld>
</file>

<file path=ppt/slides/slide3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FFFFFF"/>
          </a:fontRef>
        </p:style>
        <p:txBody>
          <a:bodyPr rtlCol="0" anchor="ctr" lIns="731520"/>
          <a:lstStyle>
            <a:lvl1pPr>
              <a:defRPr sz="3200">
                <a:solidFill>
                  <a:srgbClr val="FFFFFF"/>
                </a:solidFill>
              </a:defRPr>
            </a:lvl1pPr>
          </a:lstStyle>
          <a:p>
            <a:pPr algn="l">
              <a:defRPr sz="3200">
                <a:solidFill>
                  <a:srgbClr val="FFFFFF"/>
                </a:solidFill>
              </a:defRPr>
            </a:pPr>
            <a:r>
              <a:rPr sz="3200" b="1">
                <a:solidFill>
                  <a:srgbClr val="FFFFFF"/>
                </a:solidFill>
                <a:latin typeface="Arial"/>
              </a:rPr>
              <a:t>Question 05</a:t>
            </a:r>
            <a:endParaRPr sz="3200">
              <a:solidFill>
                <a:srgbClr val="FFFFFF"/>
              </a:solidFill>
            </a:endParaRPr>
          </a:p>
        </p:txBody>
      </p:sp>
      <p:sp>
        <p:nvSpPr>
          <p:cNvPr id="3" name="Rounded Rectangle 2"/>
          <p:cNvSpPr/>
          <p:nvPr/>
        </p:nvSpPr>
        <p:spPr>
          <a:xfrm>
            <a:off x="7894015" y="246887"/>
            <a:ext cx="3840480" cy="603504"/>
          </a:xfrm>
          <a:prstGeom prst="roundRect">
            <a:avLst>
              <a:gd name="adj" fmla="val 50000"/>
            </a:avLst>
          </a:prstGeom>
          <a:solidFill>
            <a:srgbClr val="FFD966"/>
          </a:solidFill>
          <a:ln w="1905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111827"/>
          </a:fontRef>
        </p:style>
        <p:txBody>
          <a:bodyPr rtlCol="0" anchor="ctr" wrap="square" lIns="228600" rIns="228600" tIns="18288" bIns="18288"/>
          <a:lstStyle>
            <a:lvl1pPr>
              <a:defRPr sz="2400">
                <a:solidFill>
                  <a:srgbClr val="111827"/>
                </a:solidFill>
              </a:defRPr>
            </a:lvl1pPr>
          </a:lstStyle>
          <a:p>
            <a:pPr algn="ctr">
              <a:defRPr sz="2400">
                <a:solidFill>
                  <a:srgbClr val="111827"/>
                </a:solidFill>
              </a:defRPr>
            </a:pPr>
            <a:r>
              <a:rPr sz="2400" b="1">
                <a:solidFill>
                  <a:srgbClr val="111827"/>
                </a:solidFill>
                <a:latin typeface="Arial"/>
              </a:rPr>
              <a:t>Level 2  ·  4 Marks</a:t>
            </a:r>
            <a:endParaRPr sz="2400">
              <a:solidFill>
                <a:srgbClr val="111827"/>
              </a:solidFill>
            </a:endParaRPr>
          </a:p>
        </p:txBody>
      </p:sp>
      <p:sp>
        <p:nvSpPr>
          <p:cNvPr id="4" name="Rounded Rectangle 3"/>
          <p:cNvSpPr/>
          <p:nvPr/>
        </p:nvSpPr>
        <p:spPr>
          <a:xfrm>
            <a:off x="3520440" y="265176"/>
            <a:ext cx="4206240" cy="566928"/>
          </a:xfrm>
          <a:prstGeom prst="roundRect">
            <a:avLst>
              <a:gd name="adj" fmla="val 50000"/>
            </a:avLst>
          </a:prstGeom>
          <a:solidFill>
            <a:srgbClr val="E0ECFF"/>
          </a:solidFill>
          <a:ln w="25400">
            <a:solidFill>
              <a:srgbClr val="1D4ED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0B1F3A"/>
          </a:fontRef>
        </p:style>
        <p:txBody>
          <a:bodyPr rtlCol="0" anchor="ctr" wrap="square" lIns="228600" rIns="228600" tIns="18288" bIns="18288"/>
          <a:lstStyle>
            <a:lvl1pPr>
              <a:defRPr sz="2200">
                <a:solidFill>
                  <a:srgbClr val="0B1F3A"/>
                </a:solidFill>
              </a:defRPr>
            </a:lvl1pPr>
          </a:lstStyle>
          <a:p>
            <a:pPr algn="ctr">
              <a:defRPr sz="2200">
                <a:solidFill>
                  <a:srgbClr val="0B1F3A"/>
                </a:solidFill>
              </a:defRPr>
            </a:pPr>
            <a:r>
              <a:rPr sz="2200" b="1">
                <a:solidFill>
                  <a:srgbClr val="0B1F3A"/>
                </a:solidFill>
                <a:latin typeface="Arial"/>
              </a:rPr>
              <a:t>Useful Result / Pattern</a:t>
            </a:r>
            <a:endParaRPr sz="2200">
              <a:solidFill>
                <a:srgbClr val="0B1F3A"/>
              </a:solidFill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5" name="Rectangle 4"/>
              <p:cNvSpPr/>
              <p:nvPr/>
            </p:nvSpPr>
            <p:spPr>
              <a:xfrm>
                <a:off x="731520" y="1353312"/>
                <a:ext cx="10725912" cy="5321808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For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𝑧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𝑧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: </a:t>
                </a:r>
                <a14:m>
                  <m:oMath xmlns:m="http://schemas.openxmlformats.org/officeDocument/2006/math"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𝑑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𝑑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</m:den>
                    </m:f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𝑧</m:t>
                        </m:r>
                      </m:e>
                      <m:sup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′</m:t>
                        </m:r>
                      </m:sup>
                    </m:sSup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𝑑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𝑑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𝑧</m:t>
                        </m:r>
                      </m:den>
                    </m:f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and </a:t>
                </a:r>
                <a14:m>
                  <m:oMath xmlns:m="http://schemas.openxmlformats.org/officeDocument/2006/math"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sSup>
                          <m:e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𝑑</m:t>
                            </m:r>
                          </m:e>
                          <m:sup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2</m:t>
                            </m:r>
                          </m:sup>
                        </m:s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𝑦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𝑑</m:t>
                        </m:r>
                        <m:sSup>
                          <m:e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𝑥</m:t>
                            </m:r>
                          </m:e>
                          <m:sup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2</m:t>
                            </m:r>
                          </m:sup>
                        </m:sSup>
                      </m:den>
                    </m:f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𝑧</m:t>
                        </m:r>
                      </m:e>
                      <m:sup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′</m:t>
                        </m:r>
                      </m:sup>
                    </m:sSup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​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sSup>
                          <m:e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𝑑</m:t>
                            </m:r>
                          </m:e>
                          <m:sup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2</m:t>
                            </m:r>
                          </m:sup>
                        </m:s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𝑦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𝑑</m:t>
                        </m:r>
                        <m:sSup>
                          <m:e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𝑧</m:t>
                            </m:r>
                          </m:e>
                          <m:sup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2</m:t>
                            </m:r>
                          </m:sup>
                        </m:sSup>
                      </m:den>
                    </m:f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𝑧</m:t>
                        </m:r>
                      </m:e>
                      <m:sup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″</m:t>
                        </m:r>
                      </m:sup>
                    </m:sSup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𝑑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𝑦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𝑑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𝑧</m:t>
                        </m:r>
                      </m:den>
                    </m:f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 Choose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𝑧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with </a:t>
                </a:r>
                <a14:m>
                  <m:oMath xmlns:m="http://schemas.openxmlformats.org/officeDocument/2006/math"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𝑧</m:t>
                        </m:r>
                      </m:e>
                      <m:sup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′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num>
                      <m:den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sin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</m:den>
                    </m:f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to make </a:t>
                </a:r>
                <a14:m>
                  <m:oMath xmlns:m="http://schemas.openxmlformats.org/officeDocument/2006/math"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𝑧</m:t>
                        </m:r>
                      </m:e>
                      <m:sup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″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cos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sSup>
                      <m:e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csc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cancel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cot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 </m:t>
                    </m:r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𝑦</m:t>
                        </m:r>
                      </m:e>
                      <m:sup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′</m:t>
                        </m:r>
                      </m:sup>
                    </m:sSup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∫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csc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 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𝑑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ln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tan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den>
                    </m:f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so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ln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tan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den>
                    </m:f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is the standard substitution for equations with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cot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 </m:t>
                    </m:r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𝑦</m:t>
                        </m:r>
                      </m:e>
                      <m:sup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′</m:t>
                        </m:r>
                      </m:sup>
                    </m:sSup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and </a:t>
                </a:r>
                <a14:m>
                  <m:oMath xmlns:m="http://schemas.openxmlformats.org/officeDocument/2006/math">
                    <m:sSup>
                      <m:e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csc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coefficients.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The equation </a:t>
                </a:r>
                <a14:m>
                  <m:oMath xmlns:m="http://schemas.openxmlformats.org/officeDocument/2006/math"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𝑦</m:t>
                        </m:r>
                      </m:e>
                      <m:sup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″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cot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 </m:t>
                    </m:r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𝑦</m:t>
                        </m:r>
                      </m:e>
                      <m:sup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′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𝑛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𝑦</m:t>
                    </m:r>
                    <m:sSup>
                      <m:e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csc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0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always becomes </a:t>
                </a:r>
                <a14:m>
                  <m:oMath xmlns:m="http://schemas.openxmlformats.org/officeDocument/2006/math">
                    <m:sSub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𝑦</m:t>
                        </m:r>
                      </m:e>
                      <m:sub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𝑧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𝑧</m:t>
                        </m:r>
                      </m:sub>
                    </m:sSub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𝑛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𝑦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0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with solution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𝐴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cos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𝑛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𝑧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𝐵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sin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𝑛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𝑧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Choice>
        <mc:Fallback>
          <p:sp>
            <p:nvSpPr>
              <p:cNvPr id="5" name="Rectangle 4"/>
              <p:cNvSpPr/>
              <p:nvPr/>
            </p:nvSpPr>
            <p:spPr>
              <a:xfrm>
                <a:off x="731520" y="1353312"/>
                <a:ext cx="10725912" cy="5321808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For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$z=z(x)$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: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$\frac{d}{dx}=z'\frac{d}{dz}$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and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$\frac{d^2y}{dx^2}=z'^2\frac{d^2y}{dz^2}+z''\frac{dy}{dz}$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 Choose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$z$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with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$z'=\frac1{\sin x}$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to make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$z''=-\cos x\csc^2 x$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cancel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$\cot x\,y'$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$\int\csc x\,dx=\ln\tan\frac x2$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so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$\ln\tan\frac x2$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is the standard substitution for equations with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$\cot x\,y'$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and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$\csc^2x$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coefficients.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The equation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$y''+\cot x\,y'+n^2y\csc^2x=0$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always becomes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$y_{zz}+n^2y=0$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with solution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$A\cos nz+B\sin nz$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Fallback>
      </mc:AlternateContent>
    </p:spTree>
  </p:cSld>
  <p:clrMapOvr>
    <a:masterClrMapping/>
  </p:clrMapOvr>
</p:sld>
</file>

<file path=ppt/slides/slide3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914400" y="1463040"/>
            <a:ext cx="10362895" cy="4114800"/>
          </a:xfrm>
          <a:prstGeom prst="rect">
            <a:avLst/>
          </a:prstGeom>
          <a:noFill/>
        </p:spPr>
        <p:txBody>
          <a:bodyPr wrap="square">
            <a:spAutoFit/>
          </a:bodyPr>
          <a:lstStyle>
            <a:lvl1pPr>
              <a:defRPr sz="2800">
                <a:solidFill>
                  <a:srgbClr val="FFFFFF"/>
                </a:solidFill>
              </a:defRPr>
            </a:lvl1pPr>
          </a:lstStyle>
          <a:p>
            <a:pPr algn="ctr">
              <a:spcAft>
                <a:spcPts val="1000"/>
              </a:spcAft>
              <a:defRPr sz="2800">
                <a:solidFill>
                  <a:srgbClr val="FFFFFF"/>
                </a:solidFill>
              </a:defRPr>
            </a:pPr>
            <a:r>
              <a:rPr sz="2800" b="0">
                <a:solidFill>
                  <a:srgbClr val="93C5FD"/>
                </a:solidFill>
                <a:latin typeface="Arial"/>
              </a:rPr>
              <a:t>Section 4</a:t>
            </a:r>
            <a:endParaRPr sz="2800">
              <a:solidFill>
                <a:srgbClr val="FFFFFF"/>
              </a:solidFill>
            </a:endParaRPr>
          </a:p>
          <a:p>
            <a:pPr algn="ctr">
              <a:spcAft>
                <a:spcPts val="1000"/>
              </a:spcAft>
              <a:defRPr sz="2800">
                <a:solidFill>
                  <a:srgbClr val="FFFFFF"/>
                </a:solidFill>
              </a:defRPr>
            </a:pPr>
            <a:r>
              <a:rPr sz="4400" b="1">
                <a:solidFill>
                  <a:srgbClr val="FFFFFF"/>
                </a:solidFill>
                <a:latin typeface="Arial"/>
              </a:rPr>
              <a:t>Numerical Type</a:t>
            </a:r>
            <a:endParaRPr sz="2800">
              <a:solidFill>
                <a:srgbClr val="FFFFFF"/>
              </a:solidFill>
            </a:endParaRPr>
          </a:p>
          <a:p>
            <a:pPr algn="ctr">
              <a:spcAft>
                <a:spcPts val="1000"/>
              </a:spcAft>
              <a:defRPr sz="2800">
                <a:solidFill>
                  <a:srgbClr val="FFFFFF"/>
                </a:solidFill>
              </a:defRPr>
            </a:pPr>
            <a:r>
              <a:rPr sz="3200" b="1">
                <a:solidFill>
                  <a:srgbClr val="FFFFFF"/>
                </a:solidFill>
                <a:latin typeface="Arial"/>
              </a:rPr>
              <a:t>Q06</a:t>
            </a:r>
            <a:endParaRPr sz="2800">
              <a:solidFill>
                <a:srgbClr val="FFFFFF"/>
              </a:solidFill>
            </a:endParaRPr>
          </a:p>
          <a:p>
            <a:pPr algn="ctr">
              <a:spcAft>
                <a:spcPts val="1000"/>
              </a:spcAft>
              <a:defRPr sz="2800">
                <a:solidFill>
                  <a:srgbClr val="FFFFFF"/>
                </a:solidFill>
              </a:defRPr>
            </a:pPr>
            <a:r>
              <a:rPr sz="2800" b="0">
                <a:solidFill>
                  <a:srgbClr val="FFFFFF"/>
                </a:solidFill>
                <a:latin typeface="Arial"/>
              </a:rPr>
              <a:t>4 marks (no marks printed in the paper: JEE Advanced default assumed)</a:t>
            </a:r>
            <a:endParaRPr sz="2800">
              <a:solidFill>
                <a:srgbClr val="FFFFFF"/>
              </a:solidFill>
            </a:endParaRPr>
          </a:p>
          <a:p>
            <a:pPr algn="ctr">
              <a:spcAft>
                <a:spcPts val="1000"/>
              </a:spcAft>
              <a:defRPr sz="2800">
                <a:solidFill>
                  <a:srgbClr val="FFFFFF"/>
                </a:solidFill>
              </a:defRPr>
            </a:pPr>
            <a:r>
              <a:rPr sz="2800" b="0">
                <a:solidFill>
                  <a:srgbClr val="FFFFFF"/>
                </a:solidFill>
                <a:latin typeface="Arial"/>
              </a:rPr>
              <a:t>Numerical value answer; Paper Q5(b)</a:t>
            </a:r>
            <a:endParaRPr sz="2800">
              <a:solidFill>
                <a:srgbClr val="FFFFFF"/>
              </a:solidFill>
            </a:endParaRPr>
          </a:p>
        </p:txBody>
      </p:sp>
    </p:spTree>
  </p:cSld>
  <p:clrMapOvr>
    <a:masterClrMapping/>
  </p:clrMapOvr>
</p:sld>
</file>

<file path=ppt/slides/slide3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FFFFFF"/>
          </a:fontRef>
        </p:style>
        <p:txBody>
          <a:bodyPr rtlCol="0" anchor="ctr" lIns="731520"/>
          <a:lstStyle>
            <a:lvl1pPr>
              <a:defRPr sz="3200">
                <a:solidFill>
                  <a:srgbClr val="FFFFFF"/>
                </a:solidFill>
              </a:defRPr>
            </a:lvl1pPr>
          </a:lstStyle>
          <a:p>
            <a:pPr algn="l">
              <a:defRPr sz="3200">
                <a:solidFill>
                  <a:srgbClr val="FFFFFF"/>
                </a:solidFill>
              </a:defRPr>
            </a:pPr>
            <a:r>
              <a:rPr sz="3200" b="1">
                <a:solidFill>
                  <a:srgbClr val="FFFFFF"/>
                </a:solidFill>
                <a:latin typeface="Arial"/>
              </a:rPr>
              <a:t>Question 06</a:t>
            </a:r>
            <a:endParaRPr sz="3200">
              <a:solidFill>
                <a:srgbClr val="FFFFFF"/>
              </a:solidFill>
            </a:endParaRPr>
          </a:p>
        </p:txBody>
      </p:sp>
      <p:sp>
        <p:nvSpPr>
          <p:cNvPr id="3" name="Rounded Rectangle 2"/>
          <p:cNvSpPr/>
          <p:nvPr/>
        </p:nvSpPr>
        <p:spPr>
          <a:xfrm>
            <a:off x="7894015" y="246887"/>
            <a:ext cx="3840480" cy="603504"/>
          </a:xfrm>
          <a:prstGeom prst="roundRect">
            <a:avLst>
              <a:gd name="adj" fmla="val 50000"/>
            </a:avLst>
          </a:prstGeom>
          <a:solidFill>
            <a:srgbClr val="FFD966"/>
          </a:solidFill>
          <a:ln w="1905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111827"/>
          </a:fontRef>
        </p:style>
        <p:txBody>
          <a:bodyPr rtlCol="0" anchor="ctr" wrap="square" lIns="228600" rIns="228600" tIns="18288" bIns="18288"/>
          <a:lstStyle>
            <a:lvl1pPr>
              <a:defRPr sz="2400">
                <a:solidFill>
                  <a:srgbClr val="111827"/>
                </a:solidFill>
              </a:defRPr>
            </a:lvl1pPr>
          </a:lstStyle>
          <a:p>
            <a:pPr algn="ctr">
              <a:defRPr sz="2400">
                <a:solidFill>
                  <a:srgbClr val="111827"/>
                </a:solidFill>
              </a:defRPr>
            </a:pPr>
            <a:r>
              <a:rPr sz="2400" b="1">
                <a:solidFill>
                  <a:srgbClr val="111827"/>
                </a:solidFill>
                <a:latin typeface="Arial"/>
              </a:rPr>
              <a:t>Level 2  ·  4 Marks</a:t>
            </a:r>
            <a:endParaRPr sz="2400">
              <a:solidFill>
                <a:srgbClr val="111827"/>
              </a:solidFill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4" name="Rounded Rectangle 3"/>
              <p:cNvSpPr/>
              <p:nvPr/>
            </p:nvSpPr>
            <p:spPr>
              <a:xfrm>
                <a:off x="731520" y="1280160"/>
                <a:ext cx="10725912" cy="2928619"/>
              </a:xfrm>
              <a:prstGeom prst="roundRect">
                <a:avLst>
                  <a:gd name="adj" fmla="val 8000"/>
                </a:avLst>
              </a:prstGeom>
              <a:solidFill>
                <a:srgbClr val="E0ECFF"/>
              </a:solidFill>
              <a:ln w="25400">
                <a:solidFill>
                  <a:srgbClr val="1D4ED8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>
                  <a:spcAft>
                    <a:spcPts val="500"/>
                  </a:spcAft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(Paper Q5(b)) If the dependent variable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𝑦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is changed to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𝑧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by the substitution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𝑦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tan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𝑧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then the differential equation </a:t>
                </a:r>
                <a14:m>
                  <m:oMath xmlns:m="http://schemas.openxmlformats.org/officeDocument/2006/math"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sSup>
                          <m:e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𝑑</m:t>
                            </m:r>
                          </m:e>
                          <m:sup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2</m:t>
                            </m:r>
                          </m:sup>
                        </m:s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𝑦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𝑑</m:t>
                        </m:r>
                        <m:sSup>
                          <m:e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𝑥</m:t>
                            </m:r>
                          </m:e>
                          <m:sup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2</m:t>
                            </m:r>
                          </m:sup>
                        </m:sSup>
                      </m:den>
                    </m:f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(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+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𝑦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)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+</m:t>
                        </m:r>
                        <m:sSup>
                          <m:e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𝑦</m:t>
                            </m:r>
                          </m:e>
                          <m:sup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2</m:t>
                            </m:r>
                          </m:sup>
                        </m:sSup>
                      </m:den>
                    </m:f>
                    <m:sSup>
                      <m:e>
                        <m:d>
                          <m:dPr>
                            <m:begChr m:val="("/>
                            <m:sepChr m:val=""/>
                            <m:endChr m:val=")"/>
                            <m:grow/>
                            <m:ctrlP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f>
                              <m:fPr>
                                <m:type m:val="bar"/>
                                <m:ctrlPr>
                                  <a:rPr lang="en-IN" sz="2400" i="1">
                                    <a:solidFill>
                                      <a:srgbClr val="111827"/>
                                    </a:solidFill>
                                    <a:latin typeface="Cambria Math" panose="02040503050406030204" pitchFamily="18" charset="0"/>
                                  </a:rPr>
                                </m:ctrlPr>
                              </m:fPr>
                              <m:num>
                                <m:r>
                                  <a:rPr lang="en-IN" sz="2400" i="1">
                                    <a:solidFill>
                                      <a:srgbClr val="111827"/>
                                    </a:solidFill>
                                    <a:latin typeface="Cambria Math" panose="02040503050406030204" pitchFamily="18" charset="0"/>
                                  </a:rPr>
                                  <m:t>𝑑</m:t>
                                </m:r>
                                <m:r>
                                  <a:rPr lang="en-IN" sz="2400" i="1">
                                    <a:solidFill>
                                      <a:srgbClr val="111827"/>
                                    </a:solidFill>
                                    <a:latin typeface="Cambria Math" panose="02040503050406030204" pitchFamily="18" charset="0"/>
                                  </a:rPr>
                                  <m:t>𝑦</m:t>
                                </m:r>
                              </m:num>
                              <m:den>
                                <m:r>
                                  <a:rPr lang="en-IN" sz="2400" i="1">
                                    <a:solidFill>
                                      <a:srgbClr val="111827"/>
                                    </a:solidFill>
                                    <a:latin typeface="Cambria Math" panose="02040503050406030204" pitchFamily="18" charset="0"/>
                                  </a:rPr>
                                  <m:t>𝑑</m:t>
                                </m:r>
                                <m:r>
                                  <a:rPr lang="en-IN" sz="2400" i="1">
                                    <a:solidFill>
                                      <a:srgbClr val="111827"/>
                                    </a:solidFill>
                                    <a:latin typeface="Cambria Math" panose="02040503050406030204" pitchFamily="18" charset="0"/>
                                  </a:rPr>
                                  <m:t>𝑥</m:t>
                                </m:r>
                              </m:den>
                            </m:f>
                          </m:e>
                        </m:d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is changed to </a:t>
                </a:r>
                <a14:m>
                  <m:oMath xmlns:m="http://schemas.openxmlformats.org/officeDocument/2006/math"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sSup>
                          <m:e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𝑑</m:t>
                            </m:r>
                          </m:e>
                          <m:sup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2</m:t>
                            </m:r>
                          </m:sup>
                        </m:s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𝑧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𝑑</m:t>
                        </m:r>
                        <m:sSup>
                          <m:e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𝑥</m:t>
                            </m:r>
                          </m:e>
                          <m:sup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2</m:t>
                            </m:r>
                          </m:sup>
                        </m:sSup>
                      </m:den>
                    </m:f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sSup>
                      <m:e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cos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𝑧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𝑘</m:t>
                    </m:r>
                    <m:sSup>
                      <m:e>
                        <m:d>
                          <m:dPr>
                            <m:begChr m:val="("/>
                            <m:sepChr m:val=""/>
                            <m:endChr m:val=")"/>
                            <m:grow/>
                            <m:ctrlP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f>
                              <m:fPr>
                                <m:type m:val="bar"/>
                                <m:ctrlPr>
                                  <a:rPr lang="en-IN" sz="2400" i="1">
                                    <a:solidFill>
                                      <a:srgbClr val="111827"/>
                                    </a:solidFill>
                                    <a:latin typeface="Cambria Math" panose="02040503050406030204" pitchFamily="18" charset="0"/>
                                  </a:rPr>
                                </m:ctrlPr>
                              </m:fPr>
                              <m:num>
                                <m:r>
                                  <a:rPr lang="en-IN" sz="2400" i="1">
                                    <a:solidFill>
                                      <a:srgbClr val="111827"/>
                                    </a:solidFill>
                                    <a:latin typeface="Cambria Math" panose="02040503050406030204" pitchFamily="18" charset="0"/>
                                  </a:rPr>
                                  <m:t>𝑑</m:t>
                                </m:r>
                                <m:r>
                                  <a:rPr lang="en-IN" sz="2400" i="1">
                                    <a:solidFill>
                                      <a:srgbClr val="111827"/>
                                    </a:solidFill>
                                    <a:latin typeface="Cambria Math" panose="02040503050406030204" pitchFamily="18" charset="0"/>
                                  </a:rPr>
                                  <m:t>𝑧</m:t>
                                </m:r>
                              </m:num>
                              <m:den>
                                <m:r>
                                  <a:rPr lang="en-IN" sz="2400" i="1">
                                    <a:solidFill>
                                      <a:srgbClr val="111827"/>
                                    </a:solidFill>
                                    <a:latin typeface="Cambria Math" panose="02040503050406030204" pitchFamily="18" charset="0"/>
                                  </a:rPr>
                                  <m:t>𝑑</m:t>
                                </m:r>
                                <m:r>
                                  <a:rPr lang="en-IN" sz="2400" i="1">
                                    <a:solidFill>
                                      <a:srgbClr val="111827"/>
                                    </a:solidFill>
                                    <a:latin typeface="Cambria Math" panose="02040503050406030204" pitchFamily="18" charset="0"/>
                                  </a:rPr>
                                  <m:t>𝑥</m:t>
                                </m:r>
                              </m:den>
                            </m:f>
                          </m:e>
                        </m:d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 Find the value of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𝑘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Choice>
        <mc:Fallback>
          <p:sp>
            <p:nvSpPr>
              <p:cNvPr id="4" name="Rounded Rectangle 3"/>
              <p:cNvSpPr/>
              <p:nvPr/>
            </p:nvSpPr>
            <p:spPr>
              <a:xfrm>
                <a:off x="731520" y="1280160"/>
                <a:ext cx="10725912" cy="2928619"/>
              </a:xfrm>
              <a:prstGeom prst="roundRect">
                <a:avLst>
                  <a:gd name="adj" fmla="val 8000"/>
                </a:avLst>
              </a:prstGeom>
              <a:solidFill>
                <a:srgbClr val="E0ECFF"/>
              </a:solidFill>
              <a:ln w="25400">
                <a:solidFill>
                  <a:srgbClr val="1D4ED8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>
                  <a:spcAft>
                    <a:spcPts val="500"/>
                  </a:spcAft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(Paper Q5(b)) If the dependent variable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$y$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is changed to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$z$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by the substitution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$y=\tan z$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then the differential equation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$\frac{d^2y}{dx^2}=1+\frac{2(1+y)}{1+y^2}\left(\frac{dy}{dx}\right)^2$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is changed to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$\frac{d^2z}{dx^2}=\cos^2z+k\left(\frac{dz}{dx}\right)^2$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 Find the value of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$k$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Fallback>
      </mc:AlternateContent>
      <p:sp>
        <p:nvSpPr>
          <p:cNvPr id="5" name="Rectangle 4"/>
          <p:cNvSpPr/>
          <p:nvPr/>
        </p:nvSpPr>
        <p:spPr>
          <a:xfrm>
            <a:off x="731520" y="4437380"/>
            <a:ext cx="10725912" cy="2194560"/>
          </a:xfrm>
          <a:prstGeom prst="rect">
            <a:avLst/>
          </a:prstGeom>
          <a:solidFill>
            <a:srgbClr val="FFFFFF"/>
          </a:solidFill>
          <a:ln w="19050">
            <a:solidFill>
              <a:srgbClr val="6B728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111827"/>
          </a:fontRef>
        </p:style>
        <p:txBody>
          <a:bodyPr rtlCol="0" anchor="t" wrap="square" lIns="228600" rIns="228600" tIns="137160" bIns="73152"/>
          <a:lstStyle>
            <a:lvl1pPr>
              <a:defRPr sz="2400">
                <a:solidFill>
                  <a:srgbClr val="111827"/>
                </a:solidFill>
              </a:defRPr>
            </a:lvl1pPr>
          </a:lstStyle>
          <a:p>
            <a:pPr algn="l">
              <a:spcAft>
                <a:spcPts val="200"/>
              </a:spcAft>
              <a:defRPr sz="2400">
                <a:solidFill>
                  <a:srgbClr val="111827"/>
                </a:solidFill>
              </a:defRPr>
            </a:pPr>
            <a:r>
              <a:rPr sz="2400" b="0">
                <a:solidFill>
                  <a:srgbClr val="111827"/>
                </a:solidFill>
                <a:latin typeface="Arial"/>
              </a:rPr>
              <a:t>Numerical Type (4 Marks)</a:t>
            </a:r>
            <a:endParaRPr sz="2400">
              <a:solidFill>
                <a:srgbClr val="111827"/>
              </a:solidFill>
            </a:endParaRPr>
          </a:p>
          <a:p>
            <a:pPr algn="l">
              <a:spcAft>
                <a:spcPts val="200"/>
              </a:spcAft>
              <a:defRPr sz="2400">
                <a:solidFill>
                  <a:srgbClr val="111827"/>
                </a:solidFill>
              </a:defRPr>
            </a:pPr>
            <a:r>
              <a:rPr sz="2400" b="0">
                <a:solidFill>
                  <a:srgbClr val="111827"/>
                </a:solidFill>
                <a:latin typeface="Arial"/>
              </a:rPr>
              <a:t>Concept(s) : Change of dependent variable in differential expressions</a:t>
            </a:r>
            <a:endParaRPr sz="2400">
              <a:solidFill>
                <a:srgbClr val="111827"/>
              </a:solidFill>
            </a:endParaRPr>
          </a:p>
          <a:p>
            <a:pPr algn="l">
              <a:spcAft>
                <a:spcPts val="200"/>
              </a:spcAft>
              <a:defRPr sz="2400">
                <a:solidFill>
                  <a:srgbClr val="111827"/>
                </a:solidFill>
              </a:defRPr>
            </a:pPr>
            <a:r>
              <a:rPr sz="2400" b="0">
                <a:solidFill>
                  <a:srgbClr val="111827"/>
                </a:solidFill>
                <a:latin typeface="Arial"/>
              </a:rPr>
              <a:t>Difficulty Level: Level 2(A level below Average JEE Advanced Level)</a:t>
            </a:r>
            <a:endParaRPr sz="2400">
              <a:solidFill>
                <a:srgbClr val="111827"/>
              </a:solidFill>
            </a:endParaRPr>
          </a:p>
        </p:txBody>
      </p:sp>
    </p:spTree>
  </p:cSld>
  <p:clrMapOvr>
    <a:masterClrMapping/>
  </p:clrMapOvr>
</p:sld>
</file>

<file path=ppt/slides/slide3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FFFFFF"/>
          </a:fontRef>
        </p:style>
        <p:txBody>
          <a:bodyPr rtlCol="0" anchor="ctr" lIns="731520"/>
          <a:lstStyle>
            <a:lvl1pPr>
              <a:defRPr sz="3200">
                <a:solidFill>
                  <a:srgbClr val="FFFFFF"/>
                </a:solidFill>
              </a:defRPr>
            </a:lvl1pPr>
          </a:lstStyle>
          <a:p>
            <a:pPr algn="l">
              <a:defRPr sz="3200">
                <a:solidFill>
                  <a:srgbClr val="FFFFFF"/>
                </a:solidFill>
              </a:defRPr>
            </a:pPr>
            <a:r>
              <a:rPr sz="3200" b="1">
                <a:solidFill>
                  <a:srgbClr val="FFFFFF"/>
                </a:solidFill>
                <a:latin typeface="Arial"/>
              </a:rPr>
              <a:t>Question 06</a:t>
            </a:r>
            <a:endParaRPr sz="3200">
              <a:solidFill>
                <a:srgbClr val="FFFFFF"/>
              </a:solidFill>
            </a:endParaRPr>
          </a:p>
        </p:txBody>
      </p:sp>
      <p:sp>
        <p:nvSpPr>
          <p:cNvPr id="3" name="Rounded Rectangle 2"/>
          <p:cNvSpPr/>
          <p:nvPr/>
        </p:nvSpPr>
        <p:spPr>
          <a:xfrm>
            <a:off x="7894015" y="246887"/>
            <a:ext cx="3840480" cy="603504"/>
          </a:xfrm>
          <a:prstGeom prst="roundRect">
            <a:avLst>
              <a:gd name="adj" fmla="val 50000"/>
            </a:avLst>
          </a:prstGeom>
          <a:solidFill>
            <a:srgbClr val="FFD966"/>
          </a:solidFill>
          <a:ln w="1905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111827"/>
          </a:fontRef>
        </p:style>
        <p:txBody>
          <a:bodyPr rtlCol="0" anchor="ctr" wrap="square" lIns="228600" rIns="228600" tIns="18288" bIns="18288"/>
          <a:lstStyle>
            <a:lvl1pPr>
              <a:defRPr sz="2400">
                <a:solidFill>
                  <a:srgbClr val="111827"/>
                </a:solidFill>
              </a:defRPr>
            </a:lvl1pPr>
          </a:lstStyle>
          <a:p>
            <a:pPr algn="ctr">
              <a:defRPr sz="2400">
                <a:solidFill>
                  <a:srgbClr val="111827"/>
                </a:solidFill>
              </a:defRPr>
            </a:pPr>
            <a:r>
              <a:rPr sz="2400" b="1">
                <a:solidFill>
                  <a:srgbClr val="111827"/>
                </a:solidFill>
                <a:latin typeface="Arial"/>
              </a:rPr>
              <a:t>Level 2  ·  4 Marks</a:t>
            </a:r>
            <a:endParaRPr sz="2400">
              <a:solidFill>
                <a:srgbClr val="111827"/>
              </a:solidFill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4" name="Rounded Rectangle 3"/>
              <p:cNvSpPr/>
              <p:nvPr/>
            </p:nvSpPr>
            <p:spPr>
              <a:xfrm>
                <a:off x="731520" y="1280160"/>
                <a:ext cx="10725912" cy="1219200"/>
              </a:xfrm>
              <a:prstGeom prst="roundRect">
                <a:avLst>
                  <a:gd name="adj" fmla="val 8000"/>
                </a:avLst>
              </a:prstGeom>
              <a:solidFill>
                <a:srgbClr val="FDE68A"/>
              </a:solidFill>
              <a:ln w="31750">
                <a:solidFill>
                  <a:srgbClr val="D97706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78350F"/>
              </a:fontRef>
            </p:style>
            <p:txBody>
              <a:bodyPr rtlCol="0" anchor="ctr" wrap="square" lIns="228600" rIns="228600" tIns="54864" bIns="73152"/>
              <a:lstStyle>
                <a:lvl1pPr>
                  <a:defRPr sz="2400">
                    <a:solidFill>
                      <a:srgbClr val="78350F"/>
                    </a:solidFill>
                  </a:defRPr>
                </a:lvl1pPr>
              </a:lstStyle>
              <a:p>
                <a:pPr algn="l">
                  <a:defRPr sz="2400">
                    <a:solidFill>
                      <a:srgbClr val="78350F"/>
                    </a:solidFill>
                  </a:defRPr>
                </a:pPr>
                <a:r>
                  <a:rPr sz="2400" b="1">
                    <a:solidFill>
                      <a:srgbClr val="78350F"/>
                    </a:solidFill>
                    <a:latin typeface="Arial"/>
                  </a:rPr>
                  <a:t>Key idea:  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After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𝑦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tan</m:t>
                    </m:r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𝑧</m:t>
                    </m:r>
                  </m:oMath>
                </a14:m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, </a:t>
                </a:r>
                <a14:m>
                  <m:oMath xmlns:m="http://schemas.openxmlformats.org/officeDocument/2006/math"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sSup>
                          <m:e>
                            <m:r>
                              <a:rPr lang="en-IN" sz="2400" i="1">
                                <a:solidFill>
                                  <a:srgbClr val="78350F"/>
                                </a:solidFill>
                                <a:latin typeface="Cambria Math" panose="02040503050406030204" pitchFamily="18" charset="0"/>
                              </a:rPr>
                              <m:t>𝑦</m:t>
                            </m:r>
                          </m:e>
                          <m:sup>
                            <m:r>
                              <m:rPr>
                                <m:sty m:val="p"/>
                              </m:rPr>
                              <a:rPr lang="en-IN" sz="2400">
                                <a:solidFill>
                                  <a:srgbClr val="78350F"/>
                                </a:solidFill>
                                <a:latin typeface="Cambria Math" panose="02040503050406030204" pitchFamily="18" charset="0"/>
                              </a:rPr>
                              <m:t>″</m:t>
                            </m:r>
                          </m:sup>
                        </m:sSup>
                      </m:num>
                      <m:den>
                        <m:sSup>
                          <m:e>
                            <m:r>
                              <m:rPr>
                                <m:sty m:val="p"/>
                              </m:rPr>
                              <a:rPr lang="en-IN" sz="2400">
                                <a:solidFill>
                                  <a:srgbClr val="78350F"/>
                                </a:solidFill>
                                <a:latin typeface="Cambria Math" panose="02040503050406030204" pitchFamily="18" charset="0"/>
                              </a:rPr>
                              <m:t>sec</m:t>
                            </m:r>
                          </m:e>
                          <m:sup>
                            <m:r>
                              <a:rPr lang="en-IN" sz="2400" i="1">
                                <a:solidFill>
                                  <a:srgbClr val="78350F"/>
                                </a:solidFill>
                                <a:latin typeface="Cambria Math" panose="02040503050406030204" pitchFamily="18" charset="0"/>
                              </a:rPr>
                              <m:t>2</m:t>
                            </m:r>
                          </m:sup>
                        </m:sSup>
                        <m: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𝑧</m:t>
                        </m:r>
                      </m:den>
                    </m:f>
                  </m:oMath>
                </a14:m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 leaves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2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tan</m:t>
                    </m:r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𝑧</m:t>
                    </m:r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 </m:t>
                    </m:r>
                    <m:sSup>
                      <m:e>
                        <m: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𝑧</m:t>
                        </m:r>
                      </m:e>
                      <m:sup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′</m:t>
                        </m:r>
                      </m:sup>
                    </m:sSup>
                    <m:sSup>
                      <m:e>
                        <m: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​</m:t>
                        </m:r>
                      </m:e>
                      <m:sup>
                        <m: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</m:oMath>
                </a14:m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 which cancels against part of the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1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tan</m:t>
                    </m:r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𝑧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 term.</a:t>
                </a:r>
                <a:endParaRPr sz="2400">
                  <a:solidFill>
                    <a:srgbClr val="78350F"/>
                  </a:solidFill>
                </a:endParaRPr>
              </a:p>
            </p:txBody>
          </p:sp>
        </mc:Choice>
        <mc:Fallback>
          <p:sp>
            <p:nvSpPr>
              <p:cNvPr id="4" name="Rounded Rectangle 3"/>
              <p:cNvSpPr/>
              <p:nvPr/>
            </p:nvSpPr>
            <p:spPr>
              <a:xfrm>
                <a:off x="731520" y="1280160"/>
                <a:ext cx="10725912" cy="1219200"/>
              </a:xfrm>
              <a:prstGeom prst="roundRect">
                <a:avLst>
                  <a:gd name="adj" fmla="val 8000"/>
                </a:avLst>
              </a:prstGeom>
              <a:solidFill>
                <a:srgbClr val="FDE68A"/>
              </a:solidFill>
              <a:ln w="31750">
                <a:solidFill>
                  <a:srgbClr val="D97706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78350F"/>
              </a:fontRef>
            </p:style>
            <p:txBody>
              <a:bodyPr rtlCol="0" anchor="ctr" wrap="square" lIns="228600" rIns="228600" tIns="54864" bIns="73152"/>
              <a:lstStyle>
                <a:lvl1pPr>
                  <a:defRPr sz="2400">
                    <a:solidFill>
                      <a:srgbClr val="78350F"/>
                    </a:solidFill>
                  </a:defRPr>
                </a:lvl1pPr>
              </a:lstStyle>
              <a:p>
                <a:pPr algn="l">
                  <a:defRPr sz="2400">
                    <a:solidFill>
                      <a:srgbClr val="78350F"/>
                    </a:solidFill>
                  </a:defRPr>
                </a:pPr>
                <a:r>
                  <a:rPr sz="2400" b="1">
                    <a:solidFill>
                      <a:srgbClr val="78350F"/>
                    </a:solidFill>
                    <a:latin typeface="Arial"/>
                  </a:rPr>
                  <a:t>Key idea:  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After </a:t>
                </a:r>
                <a:r>
                  <a:rPr lang="en-IN" sz="2400">
                    <a:solidFill>
                      <a:srgbClr val="78350F"/>
                    </a:solidFill>
                    <a:latin typeface="Cambria Math" panose="02040503050406030204" pitchFamily="18" charset="0"/>
                  </a:rPr>
                  <a:t>$y=\tan z$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, </a:t>
                </a:r>
                <a:r>
                  <a:rPr lang="en-IN" sz="2400">
                    <a:solidFill>
                      <a:srgbClr val="78350F"/>
                    </a:solidFill>
                    <a:latin typeface="Cambria Math" panose="02040503050406030204" pitchFamily="18" charset="0"/>
                  </a:rPr>
                  <a:t>$\frac{y''}{\sec^2 z}$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 leaves </a:t>
                </a:r>
                <a:r>
                  <a:rPr lang="en-IN" sz="2400">
                    <a:solidFill>
                      <a:srgbClr val="78350F"/>
                    </a:solidFill>
                    <a:latin typeface="Cambria Math" panose="02040503050406030204" pitchFamily="18" charset="0"/>
                  </a:rPr>
                  <a:t>$2\tan z\,z'^2$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 which cancels against part of the </a:t>
                </a:r>
                <a:r>
                  <a:rPr lang="en-IN" sz="2400">
                    <a:solidFill>
                      <a:srgbClr val="78350F"/>
                    </a:solidFill>
                    <a:latin typeface="Cambria Math" panose="02040503050406030204" pitchFamily="18" charset="0"/>
                  </a:rPr>
                  <a:t>$(1+\tan z)$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 term.</a:t>
                </a:r>
                <a:endParaRPr sz="2400">
                  <a:solidFill>
                    <a:srgbClr val="78350F"/>
                  </a:solidFill>
                </a:endParaRP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5" name="Rectangle 4"/>
              <p:cNvSpPr/>
              <p:nvPr/>
            </p:nvSpPr>
            <p:spPr>
              <a:xfrm>
                <a:off x="731520" y="2636520"/>
                <a:ext cx="10725912" cy="4038599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𝑦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tan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𝑧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 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14:m>
                  <m:oMath xmlns:m="http://schemas.openxmlformats.org/officeDocument/2006/math"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𝑑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𝑦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𝑑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</m:den>
                    </m:f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sSup>
                      <m:e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sec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𝑧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𝑑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𝑧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𝑑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</m:den>
                    </m:f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 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14:m>
                  <m:oMath xmlns:m="http://schemas.openxmlformats.org/officeDocument/2006/math"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sSup>
                          <m:e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𝑑</m:t>
                            </m:r>
                          </m:e>
                          <m:sup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2</m:t>
                            </m:r>
                          </m:sup>
                        </m:s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𝑦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𝑑</m:t>
                        </m:r>
                        <m:sSup>
                          <m:e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𝑥</m:t>
                            </m:r>
                          </m:e>
                          <m:sup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2</m:t>
                            </m:r>
                          </m:sup>
                        </m:sSup>
                      </m:den>
                    </m:f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sSup>
                      <m:e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sec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𝑧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sSup>
                          <m:e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𝑑</m:t>
                            </m:r>
                          </m:e>
                          <m:sup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2</m:t>
                            </m:r>
                          </m:sup>
                        </m:s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𝑧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𝑑</m:t>
                        </m:r>
                        <m:sSup>
                          <m:e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𝑥</m:t>
                            </m:r>
                          </m:e>
                          <m:sup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2</m:t>
                            </m:r>
                          </m:sup>
                        </m:sSup>
                      </m:den>
                    </m:f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  <m:sSup>
                      <m:e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sec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𝑧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tan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𝑧</m:t>
                    </m:r>
                    <m:sSup>
                      <m:e>
                        <m:d>
                          <m:dPr>
                            <m:begChr m:val="("/>
                            <m:sepChr m:val=""/>
                            <m:endChr m:val=")"/>
                            <m:grow/>
                            <m:ctrlP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f>
                              <m:fPr>
                                <m:type m:val="bar"/>
                                <m:ctrlPr>
                                  <a:rPr lang="en-IN" sz="2400" i="1">
                                    <a:solidFill>
                                      <a:srgbClr val="111827"/>
                                    </a:solidFill>
                                    <a:latin typeface="Cambria Math" panose="02040503050406030204" pitchFamily="18" charset="0"/>
                                  </a:rPr>
                                </m:ctrlPr>
                              </m:fPr>
                              <m:num>
                                <m:r>
                                  <a:rPr lang="en-IN" sz="2400" i="1">
                                    <a:solidFill>
                                      <a:srgbClr val="111827"/>
                                    </a:solidFill>
                                    <a:latin typeface="Cambria Math" panose="02040503050406030204" pitchFamily="18" charset="0"/>
                                  </a:rPr>
                                  <m:t>𝑑</m:t>
                                </m:r>
                                <m:r>
                                  <a:rPr lang="en-IN" sz="2400" i="1">
                                    <a:solidFill>
                                      <a:srgbClr val="111827"/>
                                    </a:solidFill>
                                    <a:latin typeface="Cambria Math" panose="02040503050406030204" pitchFamily="18" charset="0"/>
                                  </a:rPr>
                                  <m:t>𝑧</m:t>
                                </m:r>
                              </m:num>
                              <m:den>
                                <m:r>
                                  <a:rPr lang="en-IN" sz="2400" i="1">
                                    <a:solidFill>
                                      <a:srgbClr val="111827"/>
                                    </a:solidFill>
                                    <a:latin typeface="Cambria Math" panose="02040503050406030204" pitchFamily="18" charset="0"/>
                                  </a:rPr>
                                  <m:t>𝑑</m:t>
                                </m:r>
                                <m:r>
                                  <a:rPr lang="en-IN" sz="2400" i="1">
                                    <a:solidFill>
                                      <a:srgbClr val="111827"/>
                                    </a:solidFill>
                                    <a:latin typeface="Cambria Math" panose="02040503050406030204" pitchFamily="18" charset="0"/>
                                  </a:rPr>
                                  <m:t>𝑥</m:t>
                                </m:r>
                              </m:den>
                            </m:f>
                          </m:e>
                        </m:d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 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3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Substitute (1), (2), (3) in the given equation: </a:t>
                </a:r>
                <a14:m>
                  <m:oMath xmlns:m="http://schemas.openxmlformats.org/officeDocument/2006/math">
                    <m:sSup>
                      <m:e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sec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𝑧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 </m:t>
                    </m:r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𝑧</m:t>
                        </m:r>
                      </m:e>
                      <m:sup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″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  <m:sSup>
                      <m:e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sec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𝑧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tan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𝑧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 </m:t>
                    </m:r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𝑧</m:t>
                        </m:r>
                      </m:e>
                      <m:sup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′</m:t>
                        </m:r>
                      </m:sup>
                    </m:sSup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​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(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+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tan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𝑧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)</m:t>
                        </m:r>
                      </m:num>
                      <m:den>
                        <m:sSup>
                          <m:e>
                            <m:r>
                              <m:rPr>
                                <m:sty m:val="p"/>
                              </m:rPr>
                              <a:rPr lang="en-IN" sz="2400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sec</m:t>
                            </m:r>
                          </m:e>
                          <m:sup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2</m:t>
                            </m:r>
                          </m:sup>
                        </m:s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𝑧</m:t>
                        </m:r>
                      </m:den>
                    </m:f>
                    <m:sSup>
                      <m:e>
                        <m:d>
                          <m:dPr>
                            <m:begChr m:val="("/>
                            <m:sepChr m:val=""/>
                            <m:endChr m:val=")"/>
                            <m:grow/>
                            <m:ctrlP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sSup>
                              <m:e>
                                <m:r>
                                  <m:rPr>
                                    <m:sty m:val="p"/>
                                  </m:rPr>
                                  <a:rPr lang="en-IN" sz="2400">
                                    <a:solidFill>
                                      <a:srgbClr val="111827"/>
                                    </a:solidFill>
                                    <a:latin typeface="Cambria Math" panose="02040503050406030204" pitchFamily="18" charset="0"/>
                                  </a:rPr>
                                  <m:t>sec</m:t>
                                </m:r>
                              </m:e>
                              <m:sup>
                                <m:r>
                                  <a:rPr lang="en-IN" sz="2400" i="1">
                                    <a:solidFill>
                                      <a:srgbClr val="111827"/>
                                    </a:solidFill>
                                    <a:latin typeface="Cambria Math" panose="02040503050406030204" pitchFamily="18" charset="0"/>
                                  </a:rPr>
                                  <m:t>2</m:t>
                                </m:r>
                              </m:sup>
                            </m:sSup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𝑧</m:t>
                            </m:r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 </m:t>
                            </m:r>
                            <m:sSup>
                              <m:e>
                                <m:r>
                                  <a:rPr lang="en-IN" sz="2400" i="1">
                                    <a:solidFill>
                                      <a:srgbClr val="111827"/>
                                    </a:solidFill>
                                    <a:latin typeface="Cambria Math" panose="02040503050406030204" pitchFamily="18" charset="0"/>
                                  </a:rPr>
                                  <m:t>𝑧</m:t>
                                </m:r>
                              </m:e>
                              <m:sup>
                                <m:r>
                                  <m:rPr>
                                    <m:sty m:val="p"/>
                                  </m:rPr>
                                  <a:rPr lang="en-IN" sz="2400">
                                    <a:solidFill>
                                      <a:srgbClr val="111827"/>
                                    </a:solidFill>
                                    <a:latin typeface="Cambria Math" panose="02040503050406030204" pitchFamily="18" charset="0"/>
                                  </a:rPr>
                                  <m:t>′</m:t>
                                </m:r>
                              </m:sup>
                            </m:sSup>
                          </m:e>
                        </m:d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Choice>
        <mc:Fallback>
          <p:sp>
            <p:nvSpPr>
              <p:cNvPr id="5" name="Rectangle 4"/>
              <p:cNvSpPr/>
              <p:nvPr/>
            </p:nvSpPr>
            <p:spPr>
              <a:xfrm>
                <a:off x="731520" y="2636520"/>
                <a:ext cx="10725912" cy="4038599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$y=\tan z$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$\quad(1)$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$\frac{dy}{dx}=\sec^2z\frac{dz}{dx}$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$\quad(2)$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$\frac{d^2y}{dx^2}=\sec^2z\frac{d^2z}{dx^2}+2\sec^2z\tan z\left(\frac{dz}{dx}\right)^2$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$\quad(3)$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Substitute (1), (2), (3) in the given equation: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$\sec^2z\,z''+2\sec^2z\tan z\,z'^2=1+\frac{2(1+\tan z)}{\sec^2z}\left(\sec^2z\,z'\right)^2$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Fallback>
      </mc:AlternateContent>
    </p:spTree>
  </p:cSld>
  <p:clrMapOvr>
    <a:masterClrMapping/>
  </p:clrMapOvr>
</p:sld>
</file>

<file path=ppt/slides/slide3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FFFFFF"/>
          </a:fontRef>
        </p:style>
        <p:txBody>
          <a:bodyPr rtlCol="0" anchor="ctr" lIns="731520"/>
          <a:lstStyle>
            <a:lvl1pPr>
              <a:defRPr sz="3200">
                <a:solidFill>
                  <a:srgbClr val="FFFFFF"/>
                </a:solidFill>
              </a:defRPr>
            </a:lvl1pPr>
          </a:lstStyle>
          <a:p>
            <a:pPr algn="l">
              <a:defRPr sz="3200">
                <a:solidFill>
                  <a:srgbClr val="FFFFFF"/>
                </a:solidFill>
              </a:defRPr>
            </a:pPr>
            <a:r>
              <a:rPr sz="3200" b="1">
                <a:solidFill>
                  <a:srgbClr val="FFFFFF"/>
                </a:solidFill>
                <a:latin typeface="Arial"/>
              </a:rPr>
              <a:t>Question 06</a:t>
            </a:r>
            <a:endParaRPr sz="3200">
              <a:solidFill>
                <a:srgbClr val="FFFFFF"/>
              </a:solidFill>
            </a:endParaRPr>
          </a:p>
        </p:txBody>
      </p:sp>
      <p:sp>
        <p:nvSpPr>
          <p:cNvPr id="3" name="Rounded Rectangle 2"/>
          <p:cNvSpPr/>
          <p:nvPr/>
        </p:nvSpPr>
        <p:spPr>
          <a:xfrm>
            <a:off x="7894015" y="246887"/>
            <a:ext cx="3840480" cy="603504"/>
          </a:xfrm>
          <a:prstGeom prst="roundRect">
            <a:avLst>
              <a:gd name="adj" fmla="val 50000"/>
            </a:avLst>
          </a:prstGeom>
          <a:solidFill>
            <a:srgbClr val="FFD966"/>
          </a:solidFill>
          <a:ln w="1905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111827"/>
          </a:fontRef>
        </p:style>
        <p:txBody>
          <a:bodyPr rtlCol="0" anchor="ctr" wrap="square" lIns="228600" rIns="228600" tIns="18288" bIns="18288"/>
          <a:lstStyle>
            <a:lvl1pPr>
              <a:defRPr sz="2400">
                <a:solidFill>
                  <a:srgbClr val="111827"/>
                </a:solidFill>
              </a:defRPr>
            </a:lvl1pPr>
          </a:lstStyle>
          <a:p>
            <a:pPr algn="ctr">
              <a:defRPr sz="2400">
                <a:solidFill>
                  <a:srgbClr val="111827"/>
                </a:solidFill>
              </a:defRPr>
            </a:pPr>
            <a:r>
              <a:rPr sz="2400" b="1">
                <a:solidFill>
                  <a:srgbClr val="111827"/>
                </a:solidFill>
                <a:latin typeface="Arial"/>
              </a:rPr>
              <a:t>Level 2  ·  4 Marks</a:t>
            </a:r>
            <a:endParaRPr sz="2400">
              <a:solidFill>
                <a:srgbClr val="111827"/>
              </a:solidFill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4" name="Rectangle 3"/>
              <p:cNvSpPr/>
              <p:nvPr/>
            </p:nvSpPr>
            <p:spPr>
              <a:xfrm>
                <a:off x="731520" y="1353312"/>
                <a:ext cx="10725912" cy="4434840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The last term is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tan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𝑧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sSup>
                      <m:e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sec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𝑧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 </m:t>
                    </m:r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𝑧</m:t>
                        </m:r>
                      </m:e>
                      <m:sup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′</m:t>
                        </m:r>
                      </m:sup>
                    </m:sSup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​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Divide by </a:t>
                </a:r>
                <a14:m>
                  <m:oMath xmlns:m="http://schemas.openxmlformats.org/officeDocument/2006/math">
                    <m:sSup>
                      <m:e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sec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𝑧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: </a:t>
                </a:r>
                <a14:m>
                  <m:oMath xmlns:m="http://schemas.openxmlformats.org/officeDocument/2006/math"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𝑧</m:t>
                        </m:r>
                      </m:e>
                      <m:sup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″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tan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𝑧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 </m:t>
                    </m:r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𝑧</m:t>
                        </m:r>
                      </m:e>
                      <m:sup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′</m:t>
                        </m:r>
                      </m:sup>
                    </m:sSup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​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sSup>
                      <m:e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cos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𝑧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tan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𝑧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𝑧</m:t>
                        </m:r>
                      </m:e>
                      <m:sup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′</m:t>
                        </m:r>
                      </m:sup>
                    </m:sSup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​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Cancel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tan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𝑧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 </m:t>
                    </m:r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𝑧</m:t>
                        </m:r>
                      </m:e>
                      <m:sup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′</m:t>
                        </m:r>
                      </m:sup>
                    </m:sSup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​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: </a:t>
                </a:r>
                <a14:m>
                  <m:oMath xmlns:m="http://schemas.openxmlformats.org/officeDocument/2006/math"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𝑧</m:t>
                        </m:r>
                      </m:e>
                      <m:sup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″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sSup>
                      <m:e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cos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𝑧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𝑧</m:t>
                        </m:r>
                      </m:e>
                      <m:sup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′</m:t>
                        </m:r>
                      </m:sup>
                    </m:sSup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​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Hence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𝑘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Choice>
        <mc:Fallback>
          <p:sp>
            <p:nvSpPr>
              <p:cNvPr id="4" name="Rectangle 3"/>
              <p:cNvSpPr/>
              <p:nvPr/>
            </p:nvSpPr>
            <p:spPr>
              <a:xfrm>
                <a:off x="731520" y="1353312"/>
                <a:ext cx="10725912" cy="4434840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The last term is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$2(1+\tan z)\sec^2z\,z'^2$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Divide by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$\sec^2z$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: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$z''+2\tan z\,z'^2=\cos^2z+2(1+\tan z)z'^2$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Cancel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$2\tan z\,z'^2$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: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$z''=\cos^2z+2z'^2$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Hence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$k=2$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5" name="Rounded Rectangle 4"/>
              <p:cNvSpPr/>
              <p:nvPr/>
            </p:nvSpPr>
            <p:spPr>
              <a:xfrm>
                <a:off x="731520" y="5897880"/>
                <a:ext cx="10725912" cy="777240"/>
              </a:xfrm>
              <a:prstGeom prst="roundRect">
                <a:avLst>
                  <a:gd name="adj" fmla="val 8000"/>
                </a:avLst>
              </a:prstGeom>
              <a:solidFill>
                <a:srgbClr val="DCFCE7"/>
              </a:solidFill>
              <a:ln w="25400">
                <a:solidFill>
                  <a:srgbClr val="15803D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5803D"/>
              </a:fontRef>
            </p:style>
            <p:txBody>
              <a:bodyPr rtlCol="0" anchor="ctr" wrap="square" lIns="228600" rIns="228600" tIns="18288" bIns="73152"/>
              <a:lstStyle>
                <a:lvl1pPr>
                  <a:defRPr sz="2800">
                    <a:solidFill>
                      <a:srgbClr val="15803D"/>
                    </a:solidFill>
                  </a:defRPr>
                </a:lvl1pPr>
              </a:lstStyle>
              <a:p>
                <a:pPr algn="ctr">
                  <a:defRPr sz="2800">
                    <a:solidFill>
                      <a:srgbClr val="15803D"/>
                    </a:solidFill>
                  </a:defRPr>
                </a:pPr>
                <a:r>
                  <a:rPr sz="2800" b="1">
                    <a:solidFill>
                      <a:srgbClr val="15803D"/>
                    </a:solidFill>
                    <a:latin typeface="Arial"/>
                  </a:rPr>
                  <a:t>Correct Answer: </a:t>
                </a:r>
                <a14:m>
                  <m:oMath xmlns:m="http://schemas.openxmlformats.org/officeDocument/2006/math">
                    <m:r>
                      <a:rPr lang="en-IN" sz="2800" i="1">
                        <a:solidFill>
                          <a:srgbClr val="15803D"/>
                        </a:solidFill>
                        <a:latin typeface="Cambria Math" panose="02040503050406030204" pitchFamily="18" charset="0"/>
                      </a:rPr>
                      <m:t>𝑘</m:t>
                    </m:r>
                    <m:r>
                      <m:rPr>
                        <m:sty m:val="p"/>
                      </m:rPr>
                      <a:rPr lang="en-IN" sz="2800">
                        <a:solidFill>
                          <a:srgbClr val="15803D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800" i="1">
                        <a:solidFill>
                          <a:srgbClr val="15803D"/>
                        </a:solidFill>
                        <a:latin typeface="Cambria Math" panose="02040503050406030204" pitchFamily="18" charset="0"/>
                      </a:rPr>
                      <m:t>2</m:t>
                    </m:r>
                  </m:oMath>
                </a14:m>
                <a:endParaRPr sz="2800">
                  <a:solidFill>
                    <a:srgbClr val="15803D"/>
                  </a:solidFill>
                </a:endParaRPr>
              </a:p>
            </p:txBody>
          </p:sp>
        </mc:Choice>
        <mc:Fallback>
          <p:sp>
            <p:nvSpPr>
              <p:cNvPr id="5" name="Rounded Rectangle 4"/>
              <p:cNvSpPr/>
              <p:nvPr/>
            </p:nvSpPr>
            <p:spPr>
              <a:xfrm>
                <a:off x="731520" y="5897880"/>
                <a:ext cx="10725912" cy="777240"/>
              </a:xfrm>
              <a:prstGeom prst="roundRect">
                <a:avLst>
                  <a:gd name="adj" fmla="val 8000"/>
                </a:avLst>
              </a:prstGeom>
              <a:solidFill>
                <a:srgbClr val="DCFCE7"/>
              </a:solidFill>
              <a:ln w="25400">
                <a:solidFill>
                  <a:srgbClr val="15803D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5803D"/>
              </a:fontRef>
            </p:style>
            <p:txBody>
              <a:bodyPr rtlCol="0" anchor="ctr" wrap="square" lIns="228600" rIns="228600" tIns="18288" bIns="73152"/>
              <a:lstStyle>
                <a:lvl1pPr>
                  <a:defRPr sz="2800">
                    <a:solidFill>
                      <a:srgbClr val="15803D"/>
                    </a:solidFill>
                  </a:defRPr>
                </a:lvl1pPr>
              </a:lstStyle>
              <a:p>
                <a:pPr algn="ctr">
                  <a:defRPr sz="2800">
                    <a:solidFill>
                      <a:srgbClr val="15803D"/>
                    </a:solidFill>
                  </a:defRPr>
                </a:pPr>
                <a:r>
                  <a:rPr sz="2800" b="1">
                    <a:solidFill>
                      <a:srgbClr val="15803D"/>
                    </a:solidFill>
                    <a:latin typeface="Arial"/>
                  </a:rPr>
                  <a:t>Correct Answer: </a:t>
                </a:r>
                <a:r>
                  <a:rPr lang="en-IN" sz="2800">
                    <a:solidFill>
                      <a:srgbClr val="15803D"/>
                    </a:solidFill>
                    <a:latin typeface="Cambria Math" panose="02040503050406030204" pitchFamily="18" charset="0"/>
                  </a:rPr>
                  <a:t>$k=2$</a:t>
                </a:r>
                <a:endParaRPr sz="2800">
                  <a:solidFill>
                    <a:srgbClr val="15803D"/>
                  </a:solidFill>
                </a:endParaRPr>
              </a:p>
            </p:txBody>
          </p:sp>
        </mc:Fallback>
      </mc:AlternateContent>
    </p:spTree>
  </p:cSld>
  <p:clrMapOvr>
    <a:masterClrMapping/>
  </p:clrMapOvr>
</p:sld>
</file>

<file path=ppt/slides/slide3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FFFFFF"/>
          </a:fontRef>
        </p:style>
        <p:txBody>
          <a:bodyPr rtlCol="0" anchor="ctr" lIns="731520"/>
          <a:lstStyle>
            <a:lvl1pPr>
              <a:defRPr sz="3200">
                <a:solidFill>
                  <a:srgbClr val="FFFFFF"/>
                </a:solidFill>
              </a:defRPr>
            </a:lvl1pPr>
          </a:lstStyle>
          <a:p>
            <a:pPr algn="l">
              <a:defRPr sz="3200">
                <a:solidFill>
                  <a:srgbClr val="FFFFFF"/>
                </a:solidFill>
              </a:defRPr>
            </a:pPr>
            <a:r>
              <a:rPr sz="3200" b="1">
                <a:solidFill>
                  <a:srgbClr val="FFFFFF"/>
                </a:solidFill>
                <a:latin typeface="Arial"/>
              </a:rPr>
              <a:t>Question 06</a:t>
            </a:r>
            <a:endParaRPr sz="3200">
              <a:solidFill>
                <a:srgbClr val="FFFFFF"/>
              </a:solidFill>
            </a:endParaRPr>
          </a:p>
        </p:txBody>
      </p:sp>
      <p:sp>
        <p:nvSpPr>
          <p:cNvPr id="3" name="Rounded Rectangle 2"/>
          <p:cNvSpPr/>
          <p:nvPr/>
        </p:nvSpPr>
        <p:spPr>
          <a:xfrm>
            <a:off x="7894015" y="246887"/>
            <a:ext cx="3840480" cy="603504"/>
          </a:xfrm>
          <a:prstGeom prst="roundRect">
            <a:avLst>
              <a:gd name="adj" fmla="val 50000"/>
            </a:avLst>
          </a:prstGeom>
          <a:solidFill>
            <a:srgbClr val="FFD966"/>
          </a:solidFill>
          <a:ln w="1905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111827"/>
          </a:fontRef>
        </p:style>
        <p:txBody>
          <a:bodyPr rtlCol="0" anchor="ctr" wrap="square" lIns="228600" rIns="228600" tIns="18288" bIns="18288"/>
          <a:lstStyle>
            <a:lvl1pPr>
              <a:defRPr sz="2400">
                <a:solidFill>
                  <a:srgbClr val="111827"/>
                </a:solidFill>
              </a:defRPr>
            </a:lvl1pPr>
          </a:lstStyle>
          <a:p>
            <a:pPr algn="ctr">
              <a:defRPr sz="2400">
                <a:solidFill>
                  <a:srgbClr val="111827"/>
                </a:solidFill>
              </a:defRPr>
            </a:pPr>
            <a:r>
              <a:rPr sz="2400" b="1">
                <a:solidFill>
                  <a:srgbClr val="111827"/>
                </a:solidFill>
                <a:latin typeface="Arial"/>
              </a:rPr>
              <a:t>Level 2  ·  4 Marks</a:t>
            </a:r>
            <a:endParaRPr sz="2400">
              <a:solidFill>
                <a:srgbClr val="111827"/>
              </a:solidFill>
            </a:endParaRPr>
          </a:p>
        </p:txBody>
      </p:sp>
      <p:sp>
        <p:nvSpPr>
          <p:cNvPr id="4" name="Rounded Rectangle 3"/>
          <p:cNvSpPr/>
          <p:nvPr/>
        </p:nvSpPr>
        <p:spPr>
          <a:xfrm>
            <a:off x="3520440" y="265176"/>
            <a:ext cx="4206240" cy="566928"/>
          </a:xfrm>
          <a:prstGeom prst="roundRect">
            <a:avLst>
              <a:gd name="adj" fmla="val 50000"/>
            </a:avLst>
          </a:prstGeom>
          <a:solidFill>
            <a:srgbClr val="FDE68A"/>
          </a:solidFill>
          <a:ln w="25400">
            <a:solidFill>
              <a:srgbClr val="D9770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78350F"/>
          </a:fontRef>
        </p:style>
        <p:txBody>
          <a:bodyPr rtlCol="0" anchor="ctr" wrap="square" lIns="228600" rIns="228600" tIns="18288" bIns="18288"/>
          <a:lstStyle>
            <a:lvl1pPr>
              <a:defRPr sz="2200">
                <a:solidFill>
                  <a:srgbClr val="78350F"/>
                </a:solidFill>
              </a:defRPr>
            </a:lvl1pPr>
          </a:lstStyle>
          <a:p>
            <a:pPr algn="ctr">
              <a:defRPr sz="2200">
                <a:solidFill>
                  <a:srgbClr val="78350F"/>
                </a:solidFill>
              </a:defRPr>
            </a:pPr>
            <a:r>
              <a:rPr sz="2200" b="1">
                <a:solidFill>
                  <a:srgbClr val="78350F"/>
                </a:solidFill>
                <a:latin typeface="Arial"/>
              </a:rPr>
              <a:t>Alternate Solution</a:t>
            </a:r>
            <a:endParaRPr sz="2200">
              <a:solidFill>
                <a:srgbClr val="78350F"/>
              </a:solidFill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5" name="Rounded Rectangle 4"/>
              <p:cNvSpPr/>
              <p:nvPr/>
            </p:nvSpPr>
            <p:spPr>
              <a:xfrm>
                <a:off x="731520" y="1280160"/>
                <a:ext cx="10725912" cy="1109472"/>
              </a:xfrm>
              <a:prstGeom prst="roundRect">
                <a:avLst>
                  <a:gd name="adj" fmla="val 8000"/>
                </a:avLst>
              </a:prstGeom>
              <a:solidFill>
                <a:srgbClr val="FDE68A"/>
              </a:solidFill>
              <a:ln w="31750">
                <a:solidFill>
                  <a:srgbClr val="D97706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78350F"/>
              </a:fontRef>
            </p:style>
            <p:txBody>
              <a:bodyPr rtlCol="0" anchor="ctr" wrap="square" lIns="228600" rIns="228600" tIns="54864" bIns="73152"/>
              <a:lstStyle>
                <a:lvl1pPr>
                  <a:defRPr sz="2400">
                    <a:solidFill>
                      <a:srgbClr val="78350F"/>
                    </a:solidFill>
                  </a:defRPr>
                </a:lvl1pPr>
              </a:lstStyle>
              <a:p>
                <a:pPr algn="l">
                  <a:defRPr sz="2400">
                    <a:solidFill>
                      <a:srgbClr val="78350F"/>
                    </a:solidFill>
                  </a:defRPr>
                </a:pPr>
                <a:r>
                  <a:rPr sz="2400" b="1">
                    <a:solidFill>
                      <a:srgbClr val="78350F"/>
                    </a:solidFill>
                    <a:latin typeface="Arial"/>
                  </a:rPr>
                  <a:t>Idea:  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Go the other way: differentiate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𝑧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=</m:t>
                    </m:r>
                    <m:sSup>
                      <m:e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tan</m:t>
                        </m:r>
                      </m:e>
                      <m:sup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−</m:t>
                        </m:r>
                        <m: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sup>
                    </m:sSup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𝑦</m:t>
                    </m:r>
                  </m:oMath>
                </a14:m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 twice and insert the given </a:t>
                </a:r>
                <a14:m>
                  <m:oMath xmlns:m="http://schemas.openxmlformats.org/officeDocument/2006/math">
                    <m:sSup>
                      <m:e>
                        <m: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𝑦</m:t>
                        </m:r>
                      </m:e>
                      <m:sup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″</m:t>
                        </m:r>
                      </m:sup>
                    </m:sSup>
                  </m:oMath>
                </a14:m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.</a:t>
                </a:r>
                <a:endParaRPr sz="2400">
                  <a:solidFill>
                    <a:srgbClr val="78350F"/>
                  </a:solidFill>
                </a:endParaRPr>
              </a:p>
            </p:txBody>
          </p:sp>
        </mc:Choice>
        <mc:Fallback>
          <p:sp>
            <p:nvSpPr>
              <p:cNvPr id="5" name="Rounded Rectangle 4"/>
              <p:cNvSpPr/>
              <p:nvPr/>
            </p:nvSpPr>
            <p:spPr>
              <a:xfrm>
                <a:off x="731520" y="1280160"/>
                <a:ext cx="10725912" cy="1109472"/>
              </a:xfrm>
              <a:prstGeom prst="roundRect">
                <a:avLst>
                  <a:gd name="adj" fmla="val 8000"/>
                </a:avLst>
              </a:prstGeom>
              <a:solidFill>
                <a:srgbClr val="FDE68A"/>
              </a:solidFill>
              <a:ln w="31750">
                <a:solidFill>
                  <a:srgbClr val="D97706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78350F"/>
              </a:fontRef>
            </p:style>
            <p:txBody>
              <a:bodyPr rtlCol="0" anchor="ctr" wrap="square" lIns="228600" rIns="228600" tIns="54864" bIns="73152"/>
              <a:lstStyle>
                <a:lvl1pPr>
                  <a:defRPr sz="2400">
                    <a:solidFill>
                      <a:srgbClr val="78350F"/>
                    </a:solidFill>
                  </a:defRPr>
                </a:lvl1pPr>
              </a:lstStyle>
              <a:p>
                <a:pPr algn="l">
                  <a:defRPr sz="2400">
                    <a:solidFill>
                      <a:srgbClr val="78350F"/>
                    </a:solidFill>
                  </a:defRPr>
                </a:pPr>
                <a:r>
                  <a:rPr sz="2400" b="1">
                    <a:solidFill>
                      <a:srgbClr val="78350F"/>
                    </a:solidFill>
                    <a:latin typeface="Arial"/>
                  </a:rPr>
                  <a:t>Idea:  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Go the other way: differentiate </a:t>
                </a:r>
                <a:r>
                  <a:rPr lang="en-IN" sz="2400">
                    <a:solidFill>
                      <a:srgbClr val="78350F"/>
                    </a:solidFill>
                    <a:latin typeface="Cambria Math" panose="02040503050406030204" pitchFamily="18" charset="0"/>
                  </a:rPr>
                  <a:t>$z=\tan^{-1}y$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 twice and insert the given </a:t>
                </a:r>
                <a:r>
                  <a:rPr lang="en-IN" sz="2400">
                    <a:solidFill>
                      <a:srgbClr val="78350F"/>
                    </a:solidFill>
                    <a:latin typeface="Cambria Math" panose="02040503050406030204" pitchFamily="18" charset="0"/>
                  </a:rPr>
                  <a:t>$y''$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.</a:t>
                </a:r>
                <a:endParaRPr sz="2400">
                  <a:solidFill>
                    <a:srgbClr val="78350F"/>
                  </a:solidFill>
                </a:endParaRP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6" name="Rectangle 5"/>
              <p:cNvSpPr/>
              <p:nvPr/>
            </p:nvSpPr>
            <p:spPr>
              <a:xfrm>
                <a:off x="731520" y="2526792"/>
                <a:ext cx="10725912" cy="4148328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𝑧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sSup>
                      <m:e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tan</m:t>
                        </m:r>
                      </m:e>
                      <m:sup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−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sup>
                    </m:sSup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𝑦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so </a:t>
                </a:r>
                <a14:m>
                  <m:oMath xmlns:m="http://schemas.openxmlformats.org/officeDocument/2006/math"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𝑧</m:t>
                        </m:r>
                      </m:e>
                      <m:sup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′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sSup>
                          <m:e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𝑦</m:t>
                            </m:r>
                          </m:e>
                          <m:sup>
                            <m:r>
                              <m:rPr>
                                <m:sty m:val="p"/>
                              </m:rPr>
                              <a:rPr lang="en-IN" sz="2400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′</m:t>
                            </m:r>
                          </m:sup>
                        </m:sSup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+</m:t>
                        </m:r>
                        <m:sSup>
                          <m:e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𝑦</m:t>
                            </m:r>
                          </m:e>
                          <m:sup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2</m:t>
                            </m:r>
                          </m:sup>
                        </m:sSup>
                      </m:den>
                    </m:f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14:m>
                  <m:oMath xmlns:m="http://schemas.openxmlformats.org/officeDocument/2006/math"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𝑧</m:t>
                        </m:r>
                      </m:e>
                      <m:sup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″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sSup>
                          <m:e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𝑦</m:t>
                            </m:r>
                          </m:e>
                          <m:sup>
                            <m:r>
                              <m:rPr>
                                <m:sty m:val="p"/>
                              </m:rPr>
                              <a:rPr lang="en-IN" sz="2400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″</m:t>
                            </m:r>
                          </m:sup>
                        </m:sSup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+</m:t>
                        </m:r>
                        <m:sSup>
                          <m:e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𝑦</m:t>
                            </m:r>
                          </m:e>
                          <m:sup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2</m:t>
                            </m:r>
                          </m:sup>
                        </m:sSup>
                      </m:den>
                    </m:f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𝑦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 </m:t>
                        </m:r>
                        <m:sSup>
                          <m:e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𝑦</m:t>
                            </m:r>
                          </m:e>
                          <m:sup>
                            <m:r>
                              <m:rPr>
                                <m:sty m:val="p"/>
                              </m:rPr>
                              <a:rPr lang="en-IN" sz="2400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′</m:t>
                            </m:r>
                          </m:sup>
                        </m:sSup>
                        <m:sSup>
                          <m:e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​</m:t>
                            </m:r>
                          </m:e>
                          <m:sup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2</m:t>
                            </m:r>
                          </m:sup>
                        </m:sSup>
                      </m:num>
                      <m:den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(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+</m:t>
                        </m:r>
                        <m:sSup>
                          <m:e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𝑦</m:t>
                            </m:r>
                          </m:e>
                          <m:sup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2</m:t>
                            </m:r>
                          </m:sup>
                        </m:sSup>
                        <m:sSup>
                          <m:e>
                            <m:r>
                              <m:rPr>
                                <m:sty m:val="p"/>
                              </m:rPr>
                              <a:rPr lang="en-IN" sz="2400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)</m:t>
                            </m:r>
                          </m:e>
                          <m:sup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2</m:t>
                            </m:r>
                          </m:sup>
                        </m:sSup>
                      </m:den>
                    </m:f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Insert </a:t>
                </a:r>
                <a14:m>
                  <m:oMath xmlns:m="http://schemas.openxmlformats.org/officeDocument/2006/math"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𝑦</m:t>
                        </m:r>
                      </m:e>
                      <m:sup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″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(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+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𝑦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)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+</m:t>
                        </m:r>
                        <m:sSup>
                          <m:e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𝑦</m:t>
                            </m:r>
                          </m:e>
                          <m:sup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2</m:t>
                            </m:r>
                          </m:sup>
                        </m:sSup>
                      </m:den>
                    </m:f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𝑦</m:t>
                        </m:r>
                      </m:e>
                      <m:sup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′</m:t>
                        </m:r>
                      </m:sup>
                    </m:sSup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​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: </a:t>
                </a:r>
                <a14:m>
                  <m:oMath xmlns:m="http://schemas.openxmlformats.org/officeDocument/2006/math"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𝑧</m:t>
                        </m:r>
                      </m:e>
                      <m:sup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″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+</m:t>
                        </m:r>
                        <m:sSup>
                          <m:e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𝑦</m:t>
                            </m:r>
                          </m:e>
                          <m:sup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2</m:t>
                            </m:r>
                          </m:sup>
                        </m:sSup>
                      </m:den>
                    </m:f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(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+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𝑦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)</m:t>
                        </m:r>
                        <m:sSup>
                          <m:e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𝑦</m:t>
                            </m:r>
                          </m:e>
                          <m:sup>
                            <m:r>
                              <m:rPr>
                                <m:sty m:val="p"/>
                              </m:rPr>
                              <a:rPr lang="en-IN" sz="2400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′</m:t>
                            </m:r>
                          </m:sup>
                        </m:sSup>
                        <m:sSup>
                          <m:e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​</m:t>
                            </m:r>
                          </m:e>
                          <m:sup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2</m:t>
                            </m:r>
                          </m:sup>
                        </m:sSup>
                      </m:num>
                      <m:den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(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+</m:t>
                        </m:r>
                        <m:sSup>
                          <m:e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𝑦</m:t>
                            </m:r>
                          </m:e>
                          <m:sup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2</m:t>
                            </m:r>
                          </m:sup>
                        </m:sSup>
                        <m:sSup>
                          <m:e>
                            <m:r>
                              <m:rPr>
                                <m:sty m:val="p"/>
                              </m:rPr>
                              <a:rPr lang="en-IN" sz="2400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)</m:t>
                            </m:r>
                          </m:e>
                          <m:sup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2</m:t>
                            </m:r>
                          </m:sup>
                        </m:sSup>
                      </m:den>
                    </m:f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𝑦</m:t>
                        </m:r>
                        <m:sSup>
                          <m:e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𝑦</m:t>
                            </m:r>
                          </m:e>
                          <m:sup>
                            <m:r>
                              <m:rPr>
                                <m:sty m:val="p"/>
                              </m:rPr>
                              <a:rPr lang="en-IN" sz="2400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′</m:t>
                            </m:r>
                          </m:sup>
                        </m:sSup>
                        <m:sSup>
                          <m:e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​</m:t>
                            </m:r>
                          </m:e>
                          <m:sup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2</m:t>
                            </m:r>
                          </m:sup>
                        </m:sSup>
                      </m:num>
                      <m:den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(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+</m:t>
                        </m:r>
                        <m:sSup>
                          <m:e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𝑦</m:t>
                            </m:r>
                          </m:e>
                          <m:sup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2</m:t>
                            </m:r>
                          </m:sup>
                        </m:sSup>
                        <m:sSup>
                          <m:e>
                            <m:r>
                              <m:rPr>
                                <m:sty m:val="p"/>
                              </m:rPr>
                              <a:rPr lang="en-IN" sz="2400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)</m:t>
                            </m:r>
                          </m:e>
                          <m:sup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2</m:t>
                            </m:r>
                          </m:sup>
                        </m:sSup>
                      </m:den>
                    </m:f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Choice>
        <mc:Fallback>
          <p:sp>
            <p:nvSpPr>
              <p:cNvPr id="6" name="Rectangle 5"/>
              <p:cNvSpPr/>
              <p:nvPr/>
            </p:nvSpPr>
            <p:spPr>
              <a:xfrm>
                <a:off x="731520" y="2526792"/>
                <a:ext cx="10725912" cy="4148328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$z=\tan^{-1}y$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so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$z'=\frac{y'}{1+y^2}$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$z''=\frac{y''}{1+y^2}-\frac{2y\,y'^2}{(1+y^2)^2}$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Insert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$y''=1+\frac{2(1+y)}{1+y^2}y'^2$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: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$z''=\frac{1}{1+y^2}+\frac{2(1+y)y'^2}{(1+y^2)^2}-\frac{2yy'^2}{(1+y^2)^2}$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Fallback>
      </mc:AlternateContent>
    </p:spTree>
  </p:cSld>
  <p:clrMapOvr>
    <a:masterClrMapping/>
  </p:clrMapOvr>
</p:sld>
</file>

<file path=ppt/slides/slide4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FFFFFF"/>
          </a:fontRef>
        </p:style>
        <p:txBody>
          <a:bodyPr rtlCol="0" anchor="ctr" lIns="731520"/>
          <a:lstStyle>
            <a:lvl1pPr>
              <a:defRPr sz="3200">
                <a:solidFill>
                  <a:srgbClr val="FFFFFF"/>
                </a:solidFill>
              </a:defRPr>
            </a:lvl1pPr>
          </a:lstStyle>
          <a:p>
            <a:pPr algn="l">
              <a:defRPr sz="3200">
                <a:solidFill>
                  <a:srgbClr val="FFFFFF"/>
                </a:solidFill>
              </a:defRPr>
            </a:pPr>
            <a:r>
              <a:rPr sz="3200" b="1">
                <a:solidFill>
                  <a:srgbClr val="FFFFFF"/>
                </a:solidFill>
                <a:latin typeface="Arial"/>
              </a:rPr>
              <a:t>Question 06</a:t>
            </a:r>
            <a:endParaRPr sz="3200">
              <a:solidFill>
                <a:srgbClr val="FFFFFF"/>
              </a:solidFill>
            </a:endParaRPr>
          </a:p>
        </p:txBody>
      </p:sp>
      <p:sp>
        <p:nvSpPr>
          <p:cNvPr id="3" name="Rounded Rectangle 2"/>
          <p:cNvSpPr/>
          <p:nvPr/>
        </p:nvSpPr>
        <p:spPr>
          <a:xfrm>
            <a:off x="7894015" y="246887"/>
            <a:ext cx="3840480" cy="603504"/>
          </a:xfrm>
          <a:prstGeom prst="roundRect">
            <a:avLst>
              <a:gd name="adj" fmla="val 50000"/>
            </a:avLst>
          </a:prstGeom>
          <a:solidFill>
            <a:srgbClr val="FFD966"/>
          </a:solidFill>
          <a:ln w="1905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111827"/>
          </a:fontRef>
        </p:style>
        <p:txBody>
          <a:bodyPr rtlCol="0" anchor="ctr" wrap="square" lIns="228600" rIns="228600" tIns="18288" bIns="18288"/>
          <a:lstStyle>
            <a:lvl1pPr>
              <a:defRPr sz="2400">
                <a:solidFill>
                  <a:srgbClr val="111827"/>
                </a:solidFill>
              </a:defRPr>
            </a:lvl1pPr>
          </a:lstStyle>
          <a:p>
            <a:pPr algn="ctr">
              <a:defRPr sz="2400">
                <a:solidFill>
                  <a:srgbClr val="111827"/>
                </a:solidFill>
              </a:defRPr>
            </a:pPr>
            <a:r>
              <a:rPr sz="2400" b="1">
                <a:solidFill>
                  <a:srgbClr val="111827"/>
                </a:solidFill>
                <a:latin typeface="Arial"/>
              </a:rPr>
              <a:t>Level 2  ·  4 Marks</a:t>
            </a:r>
            <a:endParaRPr sz="2400">
              <a:solidFill>
                <a:srgbClr val="111827"/>
              </a:solidFill>
            </a:endParaRPr>
          </a:p>
        </p:txBody>
      </p:sp>
      <p:sp>
        <p:nvSpPr>
          <p:cNvPr id="4" name="Rounded Rectangle 3"/>
          <p:cNvSpPr/>
          <p:nvPr/>
        </p:nvSpPr>
        <p:spPr>
          <a:xfrm>
            <a:off x="3520440" y="265176"/>
            <a:ext cx="4206240" cy="566928"/>
          </a:xfrm>
          <a:prstGeom prst="roundRect">
            <a:avLst>
              <a:gd name="adj" fmla="val 50000"/>
            </a:avLst>
          </a:prstGeom>
          <a:solidFill>
            <a:srgbClr val="FDE68A"/>
          </a:solidFill>
          <a:ln w="25400">
            <a:solidFill>
              <a:srgbClr val="D9770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78350F"/>
          </a:fontRef>
        </p:style>
        <p:txBody>
          <a:bodyPr rtlCol="0" anchor="ctr" wrap="square" lIns="228600" rIns="228600" tIns="18288" bIns="18288"/>
          <a:lstStyle>
            <a:lvl1pPr>
              <a:defRPr sz="2200">
                <a:solidFill>
                  <a:srgbClr val="78350F"/>
                </a:solidFill>
              </a:defRPr>
            </a:lvl1pPr>
          </a:lstStyle>
          <a:p>
            <a:pPr algn="ctr">
              <a:defRPr sz="2200">
                <a:solidFill>
                  <a:srgbClr val="78350F"/>
                </a:solidFill>
              </a:defRPr>
            </a:pPr>
            <a:r>
              <a:rPr sz="2200" b="1">
                <a:solidFill>
                  <a:srgbClr val="78350F"/>
                </a:solidFill>
                <a:latin typeface="Arial"/>
              </a:rPr>
              <a:t>Alternate Solution</a:t>
            </a:r>
            <a:endParaRPr sz="2200">
              <a:solidFill>
                <a:srgbClr val="78350F"/>
              </a:solidFill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5" name="Rectangle 4"/>
              <p:cNvSpPr/>
              <p:nvPr/>
            </p:nvSpPr>
            <p:spPr>
              <a:xfrm>
                <a:off x="731520" y="1353312"/>
                <a:ext cx="10725912" cy="4434840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The </a:t>
                </a:r>
                <a14:m>
                  <m:oMath xmlns:m="http://schemas.openxmlformats.org/officeDocument/2006/math"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𝑦</m:t>
                        </m:r>
                      </m:e>
                      <m:sup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′</m:t>
                        </m:r>
                      </m:sup>
                    </m:sSup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​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terms combine to </a:t>
                </a:r>
                <a14:m>
                  <m:oMath xmlns:m="http://schemas.openxmlformats.org/officeDocument/2006/math"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(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+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𝑦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−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𝑦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)</m:t>
                        </m:r>
                        <m:sSup>
                          <m:e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𝑦</m:t>
                            </m:r>
                          </m:e>
                          <m:sup>
                            <m:r>
                              <m:rPr>
                                <m:sty m:val="p"/>
                              </m:rPr>
                              <a:rPr lang="en-IN" sz="2400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′</m:t>
                            </m:r>
                          </m:sup>
                        </m:sSup>
                        <m:sSup>
                          <m:e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​</m:t>
                            </m:r>
                          </m:e>
                          <m:sup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2</m:t>
                            </m:r>
                          </m:sup>
                        </m:sSup>
                      </m:num>
                      <m:den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(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+</m:t>
                        </m:r>
                        <m:sSup>
                          <m:e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𝑦</m:t>
                            </m:r>
                          </m:e>
                          <m:sup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2</m:t>
                            </m:r>
                          </m:sup>
                        </m:sSup>
                        <m:sSup>
                          <m:e>
                            <m:r>
                              <m:rPr>
                                <m:sty m:val="p"/>
                              </m:rPr>
                              <a:rPr lang="en-IN" sz="2400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)</m:t>
                            </m:r>
                          </m:e>
                          <m:sup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2</m:t>
                            </m:r>
                          </m:sup>
                        </m:sSup>
                      </m:den>
                    </m:f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𝑧</m:t>
                        </m:r>
                      </m:e>
                      <m:sup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′</m:t>
                        </m:r>
                      </m:sup>
                    </m:sSup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​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Since </a:t>
                </a:r>
                <a14:m>
                  <m:oMath xmlns:m="http://schemas.openxmlformats.org/officeDocument/2006/math"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+</m:t>
                        </m:r>
                        <m:sSup>
                          <m:e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𝑦</m:t>
                            </m:r>
                          </m:e>
                          <m:sup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2</m:t>
                            </m:r>
                          </m:sup>
                        </m:sSup>
                      </m:den>
                    </m:f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sSup>
                      <m:e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cos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𝑧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</a:t>
                </a:r>
                <a14:m>
                  <m:oMath xmlns:m="http://schemas.openxmlformats.org/officeDocument/2006/math"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𝑧</m:t>
                        </m:r>
                      </m:e>
                      <m:sup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″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sSup>
                      <m:e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cos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𝑧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𝑧</m:t>
                        </m:r>
                      </m:e>
                      <m:sup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′</m:t>
                        </m:r>
                      </m:sup>
                    </m:sSup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​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so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𝑘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Choice>
        <mc:Fallback>
          <p:sp>
            <p:nvSpPr>
              <p:cNvPr id="5" name="Rectangle 4"/>
              <p:cNvSpPr/>
              <p:nvPr/>
            </p:nvSpPr>
            <p:spPr>
              <a:xfrm>
                <a:off x="731520" y="1353312"/>
                <a:ext cx="10725912" cy="4434840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The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$y'^2$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terms combine to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$\frac{2(1+y-y)y'^2}{(1+y^2)^2}=2z'^2$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Since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$\frac1{1+y^2}=\cos^2z$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$z''=\cos^2z+2z'^2$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so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$k=2$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6" name="Rounded Rectangle 5"/>
              <p:cNvSpPr/>
              <p:nvPr/>
            </p:nvSpPr>
            <p:spPr>
              <a:xfrm>
                <a:off x="731520" y="5897880"/>
                <a:ext cx="10725912" cy="777240"/>
              </a:xfrm>
              <a:prstGeom prst="roundRect">
                <a:avLst>
                  <a:gd name="adj" fmla="val 8000"/>
                </a:avLst>
              </a:prstGeom>
              <a:solidFill>
                <a:srgbClr val="DCFCE7"/>
              </a:solidFill>
              <a:ln w="25400">
                <a:solidFill>
                  <a:srgbClr val="15803D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5803D"/>
              </a:fontRef>
            </p:style>
            <p:txBody>
              <a:bodyPr rtlCol="0" anchor="ctr" wrap="square" lIns="228600" rIns="228600" tIns="18288" bIns="73152"/>
              <a:lstStyle>
                <a:lvl1pPr>
                  <a:defRPr sz="2800">
                    <a:solidFill>
                      <a:srgbClr val="15803D"/>
                    </a:solidFill>
                  </a:defRPr>
                </a:lvl1pPr>
              </a:lstStyle>
              <a:p>
                <a:pPr algn="ctr">
                  <a:defRPr sz="2800">
                    <a:solidFill>
                      <a:srgbClr val="15803D"/>
                    </a:solidFill>
                  </a:defRPr>
                </a:pPr>
                <a:r>
                  <a:rPr sz="2800" b="1">
                    <a:solidFill>
                      <a:srgbClr val="15803D"/>
                    </a:solidFill>
                    <a:latin typeface="Arial"/>
                  </a:rPr>
                  <a:t>Same answer: </a:t>
                </a:r>
                <a14:m>
                  <m:oMath xmlns:m="http://schemas.openxmlformats.org/officeDocument/2006/math">
                    <m:r>
                      <a:rPr lang="en-IN" sz="2800" i="1">
                        <a:solidFill>
                          <a:srgbClr val="15803D"/>
                        </a:solidFill>
                        <a:latin typeface="Cambria Math" panose="02040503050406030204" pitchFamily="18" charset="0"/>
                      </a:rPr>
                      <m:t>𝑘</m:t>
                    </m:r>
                    <m:r>
                      <m:rPr>
                        <m:sty m:val="p"/>
                      </m:rPr>
                      <a:rPr lang="en-IN" sz="2800">
                        <a:solidFill>
                          <a:srgbClr val="15803D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800" i="1">
                        <a:solidFill>
                          <a:srgbClr val="15803D"/>
                        </a:solidFill>
                        <a:latin typeface="Cambria Math" panose="02040503050406030204" pitchFamily="18" charset="0"/>
                      </a:rPr>
                      <m:t>2</m:t>
                    </m:r>
                  </m:oMath>
                </a14:m>
                <a:endParaRPr sz="2800">
                  <a:solidFill>
                    <a:srgbClr val="15803D"/>
                  </a:solidFill>
                </a:endParaRPr>
              </a:p>
            </p:txBody>
          </p:sp>
        </mc:Choice>
        <mc:Fallback>
          <p:sp>
            <p:nvSpPr>
              <p:cNvPr id="6" name="Rounded Rectangle 5"/>
              <p:cNvSpPr/>
              <p:nvPr/>
            </p:nvSpPr>
            <p:spPr>
              <a:xfrm>
                <a:off x="731520" y="5897880"/>
                <a:ext cx="10725912" cy="777240"/>
              </a:xfrm>
              <a:prstGeom prst="roundRect">
                <a:avLst>
                  <a:gd name="adj" fmla="val 8000"/>
                </a:avLst>
              </a:prstGeom>
              <a:solidFill>
                <a:srgbClr val="DCFCE7"/>
              </a:solidFill>
              <a:ln w="25400">
                <a:solidFill>
                  <a:srgbClr val="15803D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5803D"/>
              </a:fontRef>
            </p:style>
            <p:txBody>
              <a:bodyPr rtlCol="0" anchor="ctr" wrap="square" lIns="228600" rIns="228600" tIns="18288" bIns="73152"/>
              <a:lstStyle>
                <a:lvl1pPr>
                  <a:defRPr sz="2800">
                    <a:solidFill>
                      <a:srgbClr val="15803D"/>
                    </a:solidFill>
                  </a:defRPr>
                </a:lvl1pPr>
              </a:lstStyle>
              <a:p>
                <a:pPr algn="ctr">
                  <a:defRPr sz="2800">
                    <a:solidFill>
                      <a:srgbClr val="15803D"/>
                    </a:solidFill>
                  </a:defRPr>
                </a:pPr>
                <a:r>
                  <a:rPr sz="2800" b="1">
                    <a:solidFill>
                      <a:srgbClr val="15803D"/>
                    </a:solidFill>
                    <a:latin typeface="Arial"/>
                  </a:rPr>
                  <a:t>Same answer: </a:t>
                </a:r>
                <a:r>
                  <a:rPr lang="en-IN" sz="2800">
                    <a:solidFill>
                      <a:srgbClr val="15803D"/>
                    </a:solidFill>
                    <a:latin typeface="Cambria Math" panose="02040503050406030204" pitchFamily="18" charset="0"/>
                  </a:rPr>
                  <a:t>$k=2$</a:t>
                </a:r>
                <a:endParaRPr sz="2800">
                  <a:solidFill>
                    <a:srgbClr val="15803D"/>
                  </a:solidFill>
                </a:endParaRPr>
              </a:p>
            </p:txBody>
          </p:sp>
        </mc:Fallback>
      </mc:AlternateContent>
    </p:spTree>
  </p:cSld>
  <p:clrMapOvr>
    <a:masterClrMapping/>
  </p:clrMapOvr>
</p:sld>
</file>

<file path=ppt/slides/slide4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FFFFFF"/>
          </a:fontRef>
        </p:style>
        <p:txBody>
          <a:bodyPr rtlCol="0" anchor="ctr" lIns="731520"/>
          <a:lstStyle>
            <a:lvl1pPr>
              <a:defRPr sz="3200">
                <a:solidFill>
                  <a:srgbClr val="FFFFFF"/>
                </a:solidFill>
              </a:defRPr>
            </a:lvl1pPr>
          </a:lstStyle>
          <a:p>
            <a:pPr algn="l">
              <a:defRPr sz="3200">
                <a:solidFill>
                  <a:srgbClr val="FFFFFF"/>
                </a:solidFill>
              </a:defRPr>
            </a:pPr>
            <a:r>
              <a:rPr sz="3200" b="1">
                <a:solidFill>
                  <a:srgbClr val="FFFFFF"/>
                </a:solidFill>
                <a:latin typeface="Arial"/>
              </a:rPr>
              <a:t>Question 06</a:t>
            </a:r>
            <a:endParaRPr sz="3200">
              <a:solidFill>
                <a:srgbClr val="FFFFFF"/>
              </a:solidFill>
            </a:endParaRPr>
          </a:p>
        </p:txBody>
      </p:sp>
      <p:sp>
        <p:nvSpPr>
          <p:cNvPr id="3" name="Rounded Rectangle 2"/>
          <p:cNvSpPr/>
          <p:nvPr/>
        </p:nvSpPr>
        <p:spPr>
          <a:xfrm>
            <a:off x="7894015" y="246887"/>
            <a:ext cx="3840480" cy="603504"/>
          </a:xfrm>
          <a:prstGeom prst="roundRect">
            <a:avLst>
              <a:gd name="adj" fmla="val 50000"/>
            </a:avLst>
          </a:prstGeom>
          <a:solidFill>
            <a:srgbClr val="FFD966"/>
          </a:solidFill>
          <a:ln w="1905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111827"/>
          </a:fontRef>
        </p:style>
        <p:txBody>
          <a:bodyPr rtlCol="0" anchor="ctr" wrap="square" lIns="228600" rIns="228600" tIns="18288" bIns="18288"/>
          <a:lstStyle>
            <a:lvl1pPr>
              <a:defRPr sz="2400">
                <a:solidFill>
                  <a:srgbClr val="111827"/>
                </a:solidFill>
              </a:defRPr>
            </a:lvl1pPr>
          </a:lstStyle>
          <a:p>
            <a:pPr algn="ctr">
              <a:defRPr sz="2400">
                <a:solidFill>
                  <a:srgbClr val="111827"/>
                </a:solidFill>
              </a:defRPr>
            </a:pPr>
            <a:r>
              <a:rPr sz="2400" b="1">
                <a:solidFill>
                  <a:srgbClr val="111827"/>
                </a:solidFill>
                <a:latin typeface="Arial"/>
              </a:rPr>
              <a:t>Level 2  ·  4 Marks</a:t>
            </a:r>
            <a:endParaRPr sz="2400">
              <a:solidFill>
                <a:srgbClr val="111827"/>
              </a:solidFill>
            </a:endParaRPr>
          </a:p>
        </p:txBody>
      </p:sp>
      <p:sp>
        <p:nvSpPr>
          <p:cNvPr id="4" name="Rounded Rectangle 3"/>
          <p:cNvSpPr/>
          <p:nvPr/>
        </p:nvSpPr>
        <p:spPr>
          <a:xfrm>
            <a:off x="3520440" y="265176"/>
            <a:ext cx="4206240" cy="566928"/>
          </a:xfrm>
          <a:prstGeom prst="roundRect">
            <a:avLst>
              <a:gd name="adj" fmla="val 50000"/>
            </a:avLst>
          </a:prstGeom>
          <a:solidFill>
            <a:srgbClr val="E0ECFF"/>
          </a:solidFill>
          <a:ln w="25400">
            <a:solidFill>
              <a:srgbClr val="1D4ED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0B1F3A"/>
          </a:fontRef>
        </p:style>
        <p:txBody>
          <a:bodyPr rtlCol="0" anchor="ctr" wrap="square" lIns="228600" rIns="228600" tIns="18288" bIns="18288"/>
          <a:lstStyle>
            <a:lvl1pPr>
              <a:defRPr sz="2200">
                <a:solidFill>
                  <a:srgbClr val="0B1F3A"/>
                </a:solidFill>
              </a:defRPr>
            </a:lvl1pPr>
          </a:lstStyle>
          <a:p>
            <a:pPr algn="ctr">
              <a:defRPr sz="2200">
                <a:solidFill>
                  <a:srgbClr val="0B1F3A"/>
                </a:solidFill>
              </a:defRPr>
            </a:pPr>
            <a:r>
              <a:rPr sz="2200" b="1">
                <a:solidFill>
                  <a:srgbClr val="0B1F3A"/>
                </a:solidFill>
                <a:latin typeface="Arial"/>
              </a:rPr>
              <a:t>Useful Result / Pattern</a:t>
            </a:r>
            <a:endParaRPr sz="2200">
              <a:solidFill>
                <a:srgbClr val="0B1F3A"/>
              </a:solidFill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5" name="Rectangle 4"/>
              <p:cNvSpPr/>
              <p:nvPr/>
            </p:nvSpPr>
            <p:spPr>
              <a:xfrm>
                <a:off x="731520" y="1353312"/>
                <a:ext cx="10725912" cy="5321808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For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𝑦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ϕ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𝑧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: </a:t>
                </a:r>
                <a14:m>
                  <m:oMath xmlns:m="http://schemas.openxmlformats.org/officeDocument/2006/math"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𝑦</m:t>
                        </m:r>
                      </m:e>
                      <m:sup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′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ϕ</m:t>
                        </m:r>
                      </m:e>
                      <m:sup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′</m:t>
                        </m:r>
                      </m:sup>
                    </m:sSup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𝑧</m:t>
                        </m:r>
                      </m:e>
                      <m:sup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′</m:t>
                        </m:r>
                      </m:sup>
                    </m:sSup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and </a:t>
                </a:r>
                <a14:m>
                  <m:oMath xmlns:m="http://schemas.openxmlformats.org/officeDocument/2006/math"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𝑦</m:t>
                        </m:r>
                      </m:e>
                      <m:sup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″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ϕ</m:t>
                        </m:r>
                      </m:e>
                      <m:sup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′</m:t>
                        </m:r>
                      </m:sup>
                    </m:sSup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𝑧</m:t>
                        </m:r>
                      </m:e>
                      <m:sup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″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ϕ</m:t>
                        </m:r>
                      </m:e>
                      <m:sup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″</m:t>
                        </m:r>
                      </m:sup>
                    </m:sSup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𝑧</m:t>
                        </m:r>
                      </m:e>
                      <m:sup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′</m:t>
                        </m:r>
                      </m:sup>
                    </m:sSup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​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 For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ϕ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tan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: </a:t>
                </a:r>
                <a14:m>
                  <m:oMath xmlns:m="http://schemas.openxmlformats.org/officeDocument/2006/math"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ϕ</m:t>
                        </m:r>
                      </m:e>
                      <m:sup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′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sSup>
                      <m:e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sec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𝑧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</a:t>
                </a:r>
                <a14:m>
                  <m:oMath xmlns:m="http://schemas.openxmlformats.org/officeDocument/2006/math"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ϕ</m:t>
                        </m:r>
                      </m:e>
                      <m:sup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″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  <m:sSup>
                      <m:e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sec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𝑧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tan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𝑧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Inverse direction is often shorter: if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𝑧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ψ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𝑦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</a:t>
                </a:r>
                <a14:m>
                  <m:oMath xmlns:m="http://schemas.openxmlformats.org/officeDocument/2006/math"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𝑧</m:t>
                        </m:r>
                      </m:e>
                      <m:sup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″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ψ</m:t>
                        </m:r>
                      </m:e>
                      <m:sup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′</m:t>
                        </m:r>
                      </m:sup>
                    </m:sSup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𝑦</m:t>
                        </m:r>
                      </m:e>
                      <m:sup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″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ψ</m:t>
                        </m:r>
                      </m:e>
                      <m:sup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″</m:t>
                        </m:r>
                      </m:sup>
                    </m:sSup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𝑦</m:t>
                        </m:r>
                      </m:e>
                      <m:sup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′</m:t>
                        </m:r>
                      </m:sup>
                    </m:sSup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​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with </a:t>
                </a:r>
                <a14:m>
                  <m:oMath xmlns:m="http://schemas.openxmlformats.org/officeDocument/2006/math"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ψ</m:t>
                        </m:r>
                      </m:e>
                      <m:sup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′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+</m:t>
                        </m:r>
                        <m:sSup>
                          <m:e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𝑦</m:t>
                            </m:r>
                          </m:e>
                          <m:sup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2</m:t>
                            </m:r>
                          </m:sup>
                        </m:sSup>
                      </m:den>
                    </m:f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</a:t>
                </a:r>
                <a14:m>
                  <m:oMath xmlns:m="http://schemas.openxmlformats.org/officeDocument/2006/math"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ψ</m:t>
                        </m:r>
                      </m:e>
                      <m:sup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″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𝑦</m:t>
                        </m:r>
                      </m:num>
                      <m:den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(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+</m:t>
                        </m:r>
                        <m:sSup>
                          <m:e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𝑦</m:t>
                            </m:r>
                          </m:e>
                          <m:sup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2</m:t>
                            </m:r>
                          </m:sup>
                        </m:sSup>
                        <m:sSup>
                          <m:e>
                            <m:r>
                              <m:rPr>
                                <m:sty m:val="p"/>
                              </m:rPr>
                              <a:rPr lang="en-IN" sz="2400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)</m:t>
                            </m:r>
                          </m:e>
                          <m:sup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2</m:t>
                            </m:r>
                          </m:sup>
                        </m:sSup>
                      </m:den>
                    </m:f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Using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sSup>
                      <m:e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tan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𝑧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sSup>
                      <m:e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sec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𝑧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and </a:t>
                </a:r>
                <a14:m>
                  <m:oMath xmlns:m="http://schemas.openxmlformats.org/officeDocument/2006/math"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+</m:t>
                        </m:r>
                        <m:sSup>
                          <m:e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𝑦</m:t>
                            </m:r>
                          </m:e>
                          <m:sup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2</m:t>
                            </m:r>
                          </m:sup>
                        </m:sSup>
                      </m:den>
                    </m:f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sSup>
                      <m:e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cos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𝑧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when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𝑦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tan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𝑧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converts rational expressions in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𝑦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to trigonometric ones.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Choice>
        <mc:Fallback>
          <p:sp>
            <p:nvSpPr>
              <p:cNvPr id="5" name="Rectangle 4"/>
              <p:cNvSpPr/>
              <p:nvPr/>
            </p:nvSpPr>
            <p:spPr>
              <a:xfrm>
                <a:off x="731520" y="1353312"/>
                <a:ext cx="10725912" cy="5321808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For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$y=\phi(z)$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: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$y'=\phi'z'$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and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$y''=\phi'z''+\phi''z'^2$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 For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$\phi=\tan$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: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$\phi'=\sec^2z$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$\phi''=2\sec^2z\tan z$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Inverse direction is often shorter: if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$z=\psi(y)$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$z''=\psi'y''+\psi''y'^2$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with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$\psi'=\frac1{1+y^2}$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$\psi''=-\frac{2y}{(1+y^2)^2}$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Using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$1+\tan^2z=\sec^2z$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and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$\frac1{1+y^2}=\cos^2z$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when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$y=\tan z$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converts rational expressions in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$y$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to trigonometric ones.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Fallback>
      </mc:AlternateContent>
    </p:spTree>
  </p:cSld>
  <p:clrMapOvr>
    <a:masterClrMapping/>
  </p:clrMapOvr>
</p:sld>
</file>

<file path=ppt/slides/slide4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914400" y="1463040"/>
            <a:ext cx="10362895" cy="4114800"/>
          </a:xfrm>
          <a:prstGeom prst="rect">
            <a:avLst/>
          </a:prstGeom>
          <a:noFill/>
        </p:spPr>
        <p:txBody>
          <a:bodyPr wrap="square">
            <a:spAutoFit/>
          </a:bodyPr>
          <a:lstStyle>
            <a:lvl1pPr>
              <a:defRPr sz="2800">
                <a:solidFill>
                  <a:srgbClr val="FFFFFF"/>
                </a:solidFill>
              </a:defRPr>
            </a:lvl1pPr>
          </a:lstStyle>
          <a:p>
            <a:pPr algn="ctr">
              <a:spcAft>
                <a:spcPts val="1000"/>
              </a:spcAft>
              <a:defRPr sz="2800">
                <a:solidFill>
                  <a:srgbClr val="FFFFFF"/>
                </a:solidFill>
              </a:defRPr>
            </a:pPr>
            <a:r>
              <a:rPr sz="2800" b="0">
                <a:solidFill>
                  <a:srgbClr val="93C5FD"/>
                </a:solidFill>
                <a:latin typeface="Arial"/>
              </a:rPr>
              <a:t>Section 5</a:t>
            </a:r>
            <a:endParaRPr sz="2800">
              <a:solidFill>
                <a:srgbClr val="FFFFFF"/>
              </a:solidFill>
            </a:endParaRPr>
          </a:p>
          <a:p>
            <a:pPr algn="ctr">
              <a:spcAft>
                <a:spcPts val="1000"/>
              </a:spcAft>
              <a:defRPr sz="2800">
                <a:solidFill>
                  <a:srgbClr val="FFFFFF"/>
                </a:solidFill>
              </a:defRPr>
            </a:pPr>
            <a:r>
              <a:rPr sz="4400" b="1">
                <a:solidFill>
                  <a:srgbClr val="FFFFFF"/>
                </a:solidFill>
                <a:latin typeface="Arial"/>
              </a:rPr>
              <a:t>Subjective Type</a:t>
            </a:r>
            <a:endParaRPr sz="2800">
              <a:solidFill>
                <a:srgbClr val="FFFFFF"/>
              </a:solidFill>
            </a:endParaRPr>
          </a:p>
          <a:p>
            <a:pPr algn="ctr">
              <a:spcAft>
                <a:spcPts val="1000"/>
              </a:spcAft>
              <a:defRPr sz="2800">
                <a:solidFill>
                  <a:srgbClr val="FFFFFF"/>
                </a:solidFill>
              </a:defRPr>
            </a:pPr>
            <a:r>
              <a:rPr sz="3200" b="1">
                <a:solidFill>
                  <a:srgbClr val="FFFFFF"/>
                </a:solidFill>
                <a:latin typeface="Arial"/>
              </a:rPr>
              <a:t>Q07 – Q08</a:t>
            </a:r>
            <a:endParaRPr sz="2800">
              <a:solidFill>
                <a:srgbClr val="FFFFFF"/>
              </a:solidFill>
            </a:endParaRPr>
          </a:p>
          <a:p>
            <a:pPr algn="ctr">
              <a:spcAft>
                <a:spcPts val="1000"/>
              </a:spcAft>
              <a:defRPr sz="2800">
                <a:solidFill>
                  <a:srgbClr val="FFFFFF"/>
                </a:solidFill>
              </a:defRPr>
            </a:pPr>
            <a:r>
              <a:rPr sz="2800" b="0">
                <a:solidFill>
                  <a:srgbClr val="FFFFFF"/>
                </a:solidFill>
                <a:latin typeface="Arial"/>
              </a:rPr>
              <a:t>4 marks each (no marks printed in the paper: JEE Advanced default assumed)</a:t>
            </a:r>
            <a:endParaRPr sz="2800">
              <a:solidFill>
                <a:srgbClr val="FFFFFF"/>
              </a:solidFill>
            </a:endParaRPr>
          </a:p>
          <a:p>
            <a:pPr algn="ctr">
              <a:spcAft>
                <a:spcPts val="1000"/>
              </a:spcAft>
              <a:defRPr sz="2800">
                <a:solidFill>
                  <a:srgbClr val="FFFFFF"/>
                </a:solidFill>
              </a:defRPr>
            </a:pPr>
            <a:r>
              <a:rPr sz="2800" b="0">
                <a:solidFill>
                  <a:srgbClr val="FFFFFF"/>
                </a:solidFill>
                <a:latin typeface="Arial"/>
              </a:rPr>
              <a:t>Prove / show; complete solution with result</a:t>
            </a:r>
            <a:endParaRPr sz="2800">
              <a:solidFill>
                <a:srgbClr val="FFFFFF"/>
              </a:solidFill>
            </a:endParaRPr>
          </a:p>
        </p:txBody>
      </p:sp>
    </p:spTree>
  </p:cSld>
  <p:clrMapOvr>
    <a:masterClrMapping/>
  </p:clrMapOvr>
</p:sld>
</file>

<file path=ppt/slides/slide4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FFFFFF"/>
          </a:fontRef>
        </p:style>
        <p:txBody>
          <a:bodyPr rtlCol="0" anchor="ctr" lIns="731520"/>
          <a:lstStyle>
            <a:lvl1pPr>
              <a:defRPr sz="3200">
                <a:solidFill>
                  <a:srgbClr val="FFFFFF"/>
                </a:solidFill>
              </a:defRPr>
            </a:lvl1pPr>
          </a:lstStyle>
          <a:p>
            <a:pPr algn="l">
              <a:defRPr sz="3200">
                <a:solidFill>
                  <a:srgbClr val="FFFFFF"/>
                </a:solidFill>
              </a:defRPr>
            </a:pPr>
            <a:r>
              <a:rPr sz="3200" b="1">
                <a:solidFill>
                  <a:srgbClr val="FFFFFF"/>
                </a:solidFill>
                <a:latin typeface="Arial"/>
              </a:rPr>
              <a:t>Question 07</a:t>
            </a:r>
            <a:endParaRPr sz="3200">
              <a:solidFill>
                <a:srgbClr val="FFFFFF"/>
              </a:solidFill>
            </a:endParaRPr>
          </a:p>
        </p:txBody>
      </p:sp>
      <p:sp>
        <p:nvSpPr>
          <p:cNvPr id="3" name="Rounded Rectangle 2"/>
          <p:cNvSpPr/>
          <p:nvPr/>
        </p:nvSpPr>
        <p:spPr>
          <a:xfrm>
            <a:off x="7894015" y="246887"/>
            <a:ext cx="3840480" cy="603504"/>
          </a:xfrm>
          <a:prstGeom prst="roundRect">
            <a:avLst>
              <a:gd name="adj" fmla="val 50000"/>
            </a:avLst>
          </a:prstGeom>
          <a:solidFill>
            <a:srgbClr val="F6B26B"/>
          </a:solidFill>
          <a:ln w="1905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111827"/>
          </a:fontRef>
        </p:style>
        <p:txBody>
          <a:bodyPr rtlCol="0" anchor="ctr" wrap="square" lIns="228600" rIns="228600" tIns="18288" bIns="18288"/>
          <a:lstStyle>
            <a:lvl1pPr>
              <a:defRPr sz="2400">
                <a:solidFill>
                  <a:srgbClr val="111827"/>
                </a:solidFill>
              </a:defRPr>
            </a:lvl1pPr>
          </a:lstStyle>
          <a:p>
            <a:pPr algn="ctr">
              <a:defRPr sz="2400">
                <a:solidFill>
                  <a:srgbClr val="111827"/>
                </a:solidFill>
              </a:defRPr>
            </a:pPr>
            <a:r>
              <a:rPr sz="2400" b="1">
                <a:solidFill>
                  <a:srgbClr val="111827"/>
                </a:solidFill>
                <a:latin typeface="Arial"/>
              </a:rPr>
              <a:t>Level 3  ·  4 Marks</a:t>
            </a:r>
            <a:endParaRPr sz="2400">
              <a:solidFill>
                <a:srgbClr val="111827"/>
              </a:solidFill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4" name="Rounded Rectangle 3"/>
              <p:cNvSpPr/>
              <p:nvPr/>
            </p:nvSpPr>
            <p:spPr>
              <a:xfrm>
                <a:off x="731520" y="1280160"/>
                <a:ext cx="10725912" cy="2447035"/>
              </a:xfrm>
              <a:prstGeom prst="roundRect">
                <a:avLst>
                  <a:gd name="adj" fmla="val 8000"/>
                </a:avLst>
              </a:prstGeom>
              <a:solidFill>
                <a:srgbClr val="E0ECFF"/>
              </a:solidFill>
              <a:ln w="25400">
                <a:solidFill>
                  <a:srgbClr val="1D4ED8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>
                  <a:spcAft>
                    <a:spcPts val="500"/>
                  </a:spcAft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Show that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𝑅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sSup>
                          <m:e>
                            <m:d>
                              <m:dPr>
                                <m:begChr m:val="["/>
                                <m:sepChr m:val=""/>
                                <m:endChr m:val="]"/>
                                <m:grow/>
                                <m:ctrlPr>
                                  <a:rPr lang="en-IN" sz="2400" i="1">
                                    <a:solidFill>
                                      <a:srgbClr val="111827"/>
                                    </a:solidFill>
                                    <a:latin typeface="Cambria Math" panose="02040503050406030204" pitchFamily="18" charset="0"/>
                                  </a:rPr>
                                </m:ctrlPr>
                              </m:dPr>
                              <m:e>
                                <m:r>
                                  <a:rPr lang="en-IN" sz="2400" i="1">
                                    <a:solidFill>
                                      <a:srgbClr val="111827"/>
                                    </a:solidFill>
                                    <a:latin typeface="Cambria Math" panose="02040503050406030204" pitchFamily="18" charset="0"/>
                                  </a:rPr>
                                  <m:t>1</m:t>
                                </m:r>
                                <m:r>
                                  <m:rPr>
                                    <m:sty m:val="p"/>
                                  </m:rPr>
                                  <a:rPr lang="en-IN" sz="2400">
                                    <a:solidFill>
                                      <a:srgbClr val="111827"/>
                                    </a:solidFill>
                                    <a:latin typeface="Cambria Math" panose="02040503050406030204" pitchFamily="18" charset="0"/>
                                  </a:rPr>
                                  <m:t>+</m:t>
                                </m:r>
                                <m:sSup>
                                  <m:e>
                                    <m:d>
                                      <m:dPr>
                                        <m:begChr m:val="("/>
                                        <m:sepChr m:val=""/>
                                        <m:endChr m:val=")"/>
                                        <m:grow/>
                                        <m:ctrlPr>
                                          <a:rPr lang="en-IN" sz="2400" i="1">
                                            <a:solidFill>
                                              <a:srgbClr val="111827"/>
                                            </a:solidFill>
                                            <a:latin typeface="Cambria Math" panose="02040503050406030204" pitchFamily="18" charset="0"/>
                                          </a:rPr>
                                        </m:ctrlPr>
                                      </m:dPr>
                                      <m:e>
                                        <m:f>
                                          <m:fPr>
                                            <m:type m:val="bar"/>
                                            <m:ctrlPr>
                                              <a:rPr lang="en-IN" sz="2400" i="1">
                                                <a:solidFill>
                                                  <a:srgbClr val="111827"/>
                                                </a:solidFill>
                                                <a:latin typeface="Cambria Math" panose="02040503050406030204" pitchFamily="18" charset="0"/>
                                              </a:rPr>
                                            </m:ctrlPr>
                                          </m:fPr>
                                          <m:num>
                                            <m:r>
                                              <a:rPr lang="en-IN" sz="2400" i="1">
                                                <a:solidFill>
                                                  <a:srgbClr val="111827"/>
                                                </a:solidFill>
                                                <a:latin typeface="Cambria Math" panose="02040503050406030204" pitchFamily="18" charset="0"/>
                                              </a:rPr>
                                              <m:t>𝑑</m:t>
                                            </m:r>
                                            <m:r>
                                              <a:rPr lang="en-IN" sz="2400" i="1">
                                                <a:solidFill>
                                                  <a:srgbClr val="111827"/>
                                                </a:solidFill>
                                                <a:latin typeface="Cambria Math" panose="02040503050406030204" pitchFamily="18" charset="0"/>
                                              </a:rPr>
                                              <m:t>𝑦</m:t>
                                            </m:r>
                                          </m:num>
                                          <m:den>
                                            <m:r>
                                              <a:rPr lang="en-IN" sz="2400" i="1">
                                                <a:solidFill>
                                                  <a:srgbClr val="111827"/>
                                                </a:solidFill>
                                                <a:latin typeface="Cambria Math" panose="02040503050406030204" pitchFamily="18" charset="0"/>
                                              </a:rPr>
                                              <m:t>𝑑</m:t>
                                            </m:r>
                                            <m:r>
                                              <a:rPr lang="en-IN" sz="2400" i="1">
                                                <a:solidFill>
                                                  <a:srgbClr val="111827"/>
                                                </a:solidFill>
                                                <a:latin typeface="Cambria Math" panose="02040503050406030204" pitchFamily="18" charset="0"/>
                                              </a:rPr>
                                              <m:t>𝑥</m:t>
                                            </m:r>
                                          </m:den>
                                        </m:f>
                                      </m:e>
                                    </m:d>
                                  </m:e>
                                  <m:sup>
                                    <m:r>
                                      <a:rPr lang="en-IN" sz="2400" i="1">
                                        <a:solidFill>
                                          <a:srgbClr val="111827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2</m:t>
                                    </m:r>
                                  </m:sup>
                                </m:sSup>
                              </m:e>
                            </m:d>
                          </m:e>
                          <m:sup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3</m:t>
                            </m:r>
                            <m:r>
                              <m:rPr>
                                <m:sty m:val="p"/>
                              </m:rPr>
                              <a:rPr lang="en-IN" sz="2400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/</m:t>
                            </m:r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2</m:t>
                            </m:r>
                          </m:sup>
                        </m:sSup>
                      </m:num>
                      <m:den>
                        <m:f>
                          <m:fPr>
                            <m:type m:val="bar"/>
                            <m:ctrlP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fPr>
                          <m:num>
                            <m:sSup>
                              <m:e>
                                <m:r>
                                  <a:rPr lang="en-IN" sz="2400" i="1">
                                    <a:solidFill>
                                      <a:srgbClr val="111827"/>
                                    </a:solidFill>
                                    <a:latin typeface="Cambria Math" panose="02040503050406030204" pitchFamily="18" charset="0"/>
                                  </a:rPr>
                                  <m:t>𝑑</m:t>
                                </m:r>
                              </m:e>
                              <m:sup>
                                <m:r>
                                  <a:rPr lang="en-IN" sz="2400" i="1">
                                    <a:solidFill>
                                      <a:srgbClr val="111827"/>
                                    </a:solidFill>
                                    <a:latin typeface="Cambria Math" panose="02040503050406030204" pitchFamily="18" charset="0"/>
                                  </a:rPr>
                                  <m:t>2</m:t>
                                </m:r>
                              </m:sup>
                            </m:sSup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𝑦</m:t>
                            </m:r>
                          </m:num>
                          <m:den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𝑑</m:t>
                            </m:r>
                            <m:sSup>
                              <m:e>
                                <m:r>
                                  <a:rPr lang="en-IN" sz="2400" i="1">
                                    <a:solidFill>
                                      <a:srgbClr val="111827"/>
                                    </a:solidFill>
                                    <a:latin typeface="Cambria Math" panose="02040503050406030204" pitchFamily="18" charset="0"/>
                                  </a:rPr>
                                  <m:t>𝑥</m:t>
                                </m:r>
                              </m:e>
                              <m:sup>
                                <m:r>
                                  <a:rPr lang="en-IN" sz="2400" i="1">
                                    <a:solidFill>
                                      <a:srgbClr val="111827"/>
                                    </a:solidFill>
                                    <a:latin typeface="Cambria Math" panose="02040503050406030204" pitchFamily="18" charset="0"/>
                                  </a:rPr>
                                  <m:t>2</m:t>
                                </m:r>
                              </m:sup>
                            </m:sSup>
                          </m:den>
                        </m:f>
                      </m:den>
                    </m:f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can be reduced to the form </a:t>
                </a:r>
                <a14:m>
                  <m:oMath xmlns:m="http://schemas.openxmlformats.org/officeDocument/2006/math"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𝑅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/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3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num>
                      <m:den>
                        <m:sSup>
                          <m:e>
                            <m:d>
                              <m:dPr>
                                <m:begChr m:val="("/>
                                <m:sepChr m:val=""/>
                                <m:endChr m:val=")"/>
                                <m:grow/>
                                <m:ctrlPr>
                                  <a:rPr lang="en-IN" sz="2400" i="1">
                                    <a:solidFill>
                                      <a:srgbClr val="111827"/>
                                    </a:solidFill>
                                    <a:latin typeface="Cambria Math" panose="02040503050406030204" pitchFamily="18" charset="0"/>
                                  </a:rPr>
                                </m:ctrlPr>
                              </m:dPr>
                              <m:e>
                                <m:f>
                                  <m:fPr>
                                    <m:type m:val="bar"/>
                                    <m:ctrlPr>
                                      <a:rPr lang="en-IN" sz="2400" i="1">
                                        <a:solidFill>
                                          <a:srgbClr val="111827"/>
                                        </a:solidFill>
                                        <a:latin typeface="Cambria Math" panose="02040503050406030204" pitchFamily="18" charset="0"/>
                                      </a:rPr>
                                    </m:ctrlPr>
                                  </m:fPr>
                                  <m:num>
                                    <m:sSup>
                                      <m:e>
                                        <m:r>
                                          <a:rPr lang="en-IN" sz="2400" i="1">
                                            <a:solidFill>
                                              <a:srgbClr val="111827"/>
                                            </a:solidFill>
                                            <a:latin typeface="Cambria Math" panose="02040503050406030204" pitchFamily="18" charset="0"/>
                                          </a:rPr>
                                          <m:t>𝑑</m:t>
                                        </m:r>
                                      </m:e>
                                      <m:sup>
                                        <m:r>
                                          <a:rPr lang="en-IN" sz="2400" i="1">
                                            <a:solidFill>
                                              <a:srgbClr val="111827"/>
                                            </a:solidFill>
                                            <a:latin typeface="Cambria Math" panose="02040503050406030204" pitchFamily="18" charset="0"/>
                                          </a:rPr>
                                          <m:t>2</m:t>
                                        </m:r>
                                      </m:sup>
                                    </m:sSup>
                                    <m:r>
                                      <a:rPr lang="en-IN" sz="2400" i="1">
                                        <a:solidFill>
                                          <a:srgbClr val="111827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𝑦</m:t>
                                    </m:r>
                                  </m:num>
                                  <m:den>
                                    <m:r>
                                      <a:rPr lang="en-IN" sz="2400" i="1">
                                        <a:solidFill>
                                          <a:srgbClr val="111827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𝑑</m:t>
                                    </m:r>
                                    <m:sSup>
                                      <m:e>
                                        <m:r>
                                          <a:rPr lang="en-IN" sz="2400" i="1">
                                            <a:solidFill>
                                              <a:srgbClr val="111827"/>
                                            </a:solidFill>
                                            <a:latin typeface="Cambria Math" panose="02040503050406030204" pitchFamily="18" charset="0"/>
                                          </a:rPr>
                                          <m:t>𝑥</m:t>
                                        </m:r>
                                      </m:e>
                                      <m:sup>
                                        <m:r>
                                          <a:rPr lang="en-IN" sz="2400" i="1">
                                            <a:solidFill>
                                              <a:srgbClr val="111827"/>
                                            </a:solidFill>
                                            <a:latin typeface="Cambria Math" panose="02040503050406030204" pitchFamily="18" charset="0"/>
                                          </a:rPr>
                                          <m:t>2</m:t>
                                        </m:r>
                                      </m:sup>
                                    </m:sSup>
                                  </m:den>
                                </m:f>
                              </m:e>
                            </m:d>
                          </m:e>
                          <m:sup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2</m:t>
                            </m:r>
                            <m:r>
                              <m:rPr>
                                <m:sty m:val="p"/>
                              </m:rPr>
                              <a:rPr lang="en-IN" sz="2400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/</m:t>
                            </m:r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3</m:t>
                            </m:r>
                          </m:sup>
                        </m:sSup>
                      </m:den>
                    </m:f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num>
                      <m:den>
                        <m:sSup>
                          <m:e>
                            <m:d>
                              <m:dPr>
                                <m:begChr m:val="("/>
                                <m:sepChr m:val=""/>
                                <m:endChr m:val=")"/>
                                <m:grow/>
                                <m:ctrlPr>
                                  <a:rPr lang="en-IN" sz="2400" i="1">
                                    <a:solidFill>
                                      <a:srgbClr val="111827"/>
                                    </a:solidFill>
                                    <a:latin typeface="Cambria Math" panose="02040503050406030204" pitchFamily="18" charset="0"/>
                                  </a:rPr>
                                </m:ctrlPr>
                              </m:dPr>
                              <m:e>
                                <m:f>
                                  <m:fPr>
                                    <m:type m:val="bar"/>
                                    <m:ctrlPr>
                                      <a:rPr lang="en-IN" sz="2400" i="1">
                                        <a:solidFill>
                                          <a:srgbClr val="111827"/>
                                        </a:solidFill>
                                        <a:latin typeface="Cambria Math" panose="02040503050406030204" pitchFamily="18" charset="0"/>
                                      </a:rPr>
                                    </m:ctrlPr>
                                  </m:fPr>
                                  <m:num>
                                    <m:sSup>
                                      <m:e>
                                        <m:r>
                                          <a:rPr lang="en-IN" sz="2400" i="1">
                                            <a:solidFill>
                                              <a:srgbClr val="111827"/>
                                            </a:solidFill>
                                            <a:latin typeface="Cambria Math" panose="02040503050406030204" pitchFamily="18" charset="0"/>
                                          </a:rPr>
                                          <m:t>𝑑</m:t>
                                        </m:r>
                                      </m:e>
                                      <m:sup>
                                        <m:r>
                                          <a:rPr lang="en-IN" sz="2400" i="1">
                                            <a:solidFill>
                                              <a:srgbClr val="111827"/>
                                            </a:solidFill>
                                            <a:latin typeface="Cambria Math" panose="02040503050406030204" pitchFamily="18" charset="0"/>
                                          </a:rPr>
                                          <m:t>2</m:t>
                                        </m:r>
                                      </m:sup>
                                    </m:sSup>
                                    <m:r>
                                      <a:rPr lang="en-IN" sz="2400" i="1">
                                        <a:solidFill>
                                          <a:srgbClr val="111827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𝑥</m:t>
                                    </m:r>
                                  </m:num>
                                  <m:den>
                                    <m:r>
                                      <a:rPr lang="en-IN" sz="2400" i="1">
                                        <a:solidFill>
                                          <a:srgbClr val="111827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𝑑</m:t>
                                    </m:r>
                                    <m:sSup>
                                      <m:e>
                                        <m:r>
                                          <a:rPr lang="en-IN" sz="2400" i="1">
                                            <a:solidFill>
                                              <a:srgbClr val="111827"/>
                                            </a:solidFill>
                                            <a:latin typeface="Cambria Math" panose="02040503050406030204" pitchFamily="18" charset="0"/>
                                          </a:rPr>
                                          <m:t>𝑦</m:t>
                                        </m:r>
                                      </m:e>
                                      <m:sup>
                                        <m:r>
                                          <a:rPr lang="en-IN" sz="2400" i="1">
                                            <a:solidFill>
                                              <a:srgbClr val="111827"/>
                                            </a:solidFill>
                                            <a:latin typeface="Cambria Math" panose="02040503050406030204" pitchFamily="18" charset="0"/>
                                          </a:rPr>
                                          <m:t>2</m:t>
                                        </m:r>
                                      </m:sup>
                                    </m:sSup>
                                  </m:den>
                                </m:f>
                              </m:e>
                            </m:d>
                          </m:e>
                          <m:sup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2</m:t>
                            </m:r>
                            <m:r>
                              <m:rPr>
                                <m:sty m:val="p"/>
                              </m:rPr>
                              <a:rPr lang="en-IN" sz="2400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/</m:t>
                            </m:r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3</m:t>
                            </m:r>
                          </m:sup>
                        </m:sSup>
                      </m:den>
                    </m:f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Choice>
        <mc:Fallback>
          <p:sp>
            <p:nvSpPr>
              <p:cNvPr id="4" name="Rounded Rectangle 3"/>
              <p:cNvSpPr/>
              <p:nvPr/>
            </p:nvSpPr>
            <p:spPr>
              <a:xfrm>
                <a:off x="731520" y="1280160"/>
                <a:ext cx="10725912" cy="2447035"/>
              </a:xfrm>
              <a:prstGeom prst="roundRect">
                <a:avLst>
                  <a:gd name="adj" fmla="val 8000"/>
                </a:avLst>
              </a:prstGeom>
              <a:solidFill>
                <a:srgbClr val="E0ECFF"/>
              </a:solidFill>
              <a:ln w="25400">
                <a:solidFill>
                  <a:srgbClr val="1D4ED8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>
                  <a:spcAft>
                    <a:spcPts val="500"/>
                  </a:spcAft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Show that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$R=\frac{\left[1+\left(\frac{dy}{dx}\right)^2\right]^{3/2}}{\frac{d^2y}{dx^2}}$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can be reduced to the form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$R^{2/3}=\frac{1}{\left(\frac{d^2y}{dx^2}\right)^{2/3}}+\frac{1}{\left(\frac{d^2x}{dy^2}\right)^{2/3}}$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Fallback>
      </mc:AlternateContent>
      <p:sp>
        <p:nvSpPr>
          <p:cNvPr id="5" name="Rectangle 4"/>
          <p:cNvSpPr/>
          <p:nvPr/>
        </p:nvSpPr>
        <p:spPr>
          <a:xfrm>
            <a:off x="731520" y="3955795"/>
            <a:ext cx="10725912" cy="1975103"/>
          </a:xfrm>
          <a:prstGeom prst="rect">
            <a:avLst/>
          </a:prstGeom>
          <a:solidFill>
            <a:srgbClr val="FFFFFF"/>
          </a:solidFill>
          <a:ln w="19050">
            <a:solidFill>
              <a:srgbClr val="6B728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111827"/>
          </a:fontRef>
        </p:style>
        <p:txBody>
          <a:bodyPr rtlCol="0" anchor="t" wrap="square" lIns="228600" rIns="228600" tIns="137160" bIns="73152"/>
          <a:lstStyle>
            <a:lvl1pPr>
              <a:defRPr sz="2400">
                <a:solidFill>
                  <a:srgbClr val="111827"/>
                </a:solidFill>
              </a:defRPr>
            </a:lvl1pPr>
          </a:lstStyle>
          <a:p>
            <a:pPr algn="l">
              <a:spcAft>
                <a:spcPts val="200"/>
              </a:spcAft>
              <a:defRPr sz="2400">
                <a:solidFill>
                  <a:srgbClr val="111827"/>
                </a:solidFill>
              </a:defRPr>
            </a:pPr>
            <a:r>
              <a:rPr sz="2400" b="0">
                <a:solidFill>
                  <a:srgbClr val="111827"/>
                </a:solidFill>
                <a:latin typeface="Arial"/>
              </a:rPr>
              <a:t>Subjective Type(4 Marks)</a:t>
            </a:r>
            <a:endParaRPr sz="2400">
              <a:solidFill>
                <a:srgbClr val="111827"/>
              </a:solidFill>
            </a:endParaRPr>
          </a:p>
          <a:p>
            <a:pPr algn="l">
              <a:spcAft>
                <a:spcPts val="200"/>
              </a:spcAft>
              <a:defRPr sz="2400">
                <a:solidFill>
                  <a:srgbClr val="111827"/>
                </a:solidFill>
              </a:defRPr>
            </a:pPr>
            <a:r>
              <a:rPr sz="2400" b="0">
                <a:solidFill>
                  <a:srgbClr val="111827"/>
                </a:solidFill>
                <a:latin typeface="Arial"/>
              </a:rPr>
              <a:t>Concept(s) : Radius of curvature, Derivative of inverse function and parametric second derivative</a:t>
            </a:r>
            <a:endParaRPr sz="2400">
              <a:solidFill>
                <a:srgbClr val="111827"/>
              </a:solidFill>
            </a:endParaRPr>
          </a:p>
          <a:p>
            <a:pPr algn="l">
              <a:spcAft>
                <a:spcPts val="200"/>
              </a:spcAft>
              <a:defRPr sz="2400">
                <a:solidFill>
                  <a:srgbClr val="111827"/>
                </a:solidFill>
              </a:defRPr>
            </a:pPr>
            <a:r>
              <a:rPr sz="2400" b="0">
                <a:solidFill>
                  <a:srgbClr val="111827"/>
                </a:solidFill>
                <a:latin typeface="Arial"/>
              </a:rPr>
              <a:t>Difficulty Level: Level 3(Average JEE Advanced Level)</a:t>
            </a:r>
            <a:endParaRPr sz="2400">
              <a:solidFill>
                <a:srgbClr val="111827"/>
              </a:solidFill>
            </a:endParaRPr>
          </a:p>
        </p:txBody>
      </p:sp>
    </p:spTree>
  </p:cSld>
  <p:clrMapOvr>
    <a:masterClrMapping/>
  </p:clrMapOvr>
</p:sld>
</file>

<file path=ppt/slides/slide4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FFFFFF"/>
          </a:fontRef>
        </p:style>
        <p:txBody>
          <a:bodyPr rtlCol="0" anchor="ctr" lIns="731520"/>
          <a:lstStyle>
            <a:lvl1pPr>
              <a:defRPr sz="3200">
                <a:solidFill>
                  <a:srgbClr val="FFFFFF"/>
                </a:solidFill>
              </a:defRPr>
            </a:lvl1pPr>
          </a:lstStyle>
          <a:p>
            <a:pPr algn="l">
              <a:defRPr sz="3200">
                <a:solidFill>
                  <a:srgbClr val="FFFFFF"/>
                </a:solidFill>
              </a:defRPr>
            </a:pPr>
            <a:r>
              <a:rPr sz="3200" b="1">
                <a:solidFill>
                  <a:srgbClr val="FFFFFF"/>
                </a:solidFill>
                <a:latin typeface="Arial"/>
              </a:rPr>
              <a:t>Question 07</a:t>
            </a:r>
            <a:endParaRPr sz="3200">
              <a:solidFill>
                <a:srgbClr val="FFFFFF"/>
              </a:solidFill>
            </a:endParaRPr>
          </a:p>
        </p:txBody>
      </p:sp>
      <p:sp>
        <p:nvSpPr>
          <p:cNvPr id="3" name="Rounded Rectangle 2"/>
          <p:cNvSpPr/>
          <p:nvPr/>
        </p:nvSpPr>
        <p:spPr>
          <a:xfrm>
            <a:off x="7894015" y="246887"/>
            <a:ext cx="3840480" cy="603504"/>
          </a:xfrm>
          <a:prstGeom prst="roundRect">
            <a:avLst>
              <a:gd name="adj" fmla="val 50000"/>
            </a:avLst>
          </a:prstGeom>
          <a:solidFill>
            <a:srgbClr val="F6B26B"/>
          </a:solidFill>
          <a:ln w="1905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111827"/>
          </a:fontRef>
        </p:style>
        <p:txBody>
          <a:bodyPr rtlCol="0" anchor="ctr" wrap="square" lIns="228600" rIns="228600" tIns="18288" bIns="18288"/>
          <a:lstStyle>
            <a:lvl1pPr>
              <a:defRPr sz="2400">
                <a:solidFill>
                  <a:srgbClr val="111827"/>
                </a:solidFill>
              </a:defRPr>
            </a:lvl1pPr>
          </a:lstStyle>
          <a:p>
            <a:pPr algn="ctr">
              <a:defRPr sz="2400">
                <a:solidFill>
                  <a:srgbClr val="111827"/>
                </a:solidFill>
              </a:defRPr>
            </a:pPr>
            <a:r>
              <a:rPr sz="2400" b="1">
                <a:solidFill>
                  <a:srgbClr val="111827"/>
                </a:solidFill>
                <a:latin typeface="Arial"/>
              </a:rPr>
              <a:t>Level 3  ·  4 Marks</a:t>
            </a:r>
            <a:endParaRPr sz="2400">
              <a:solidFill>
                <a:srgbClr val="111827"/>
              </a:solidFill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4" name="Rounded Rectangle 3"/>
              <p:cNvSpPr/>
              <p:nvPr/>
            </p:nvSpPr>
            <p:spPr>
              <a:xfrm>
                <a:off x="731520" y="1280160"/>
                <a:ext cx="10725912" cy="1328928"/>
              </a:xfrm>
              <a:prstGeom prst="roundRect">
                <a:avLst>
                  <a:gd name="adj" fmla="val 8000"/>
                </a:avLst>
              </a:prstGeom>
              <a:solidFill>
                <a:srgbClr val="FDE68A"/>
              </a:solidFill>
              <a:ln w="31750">
                <a:solidFill>
                  <a:srgbClr val="D97706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78350F"/>
              </a:fontRef>
            </p:style>
            <p:txBody>
              <a:bodyPr rtlCol="0" anchor="ctr" wrap="square" lIns="228600" rIns="228600" tIns="54864" bIns="73152"/>
              <a:lstStyle>
                <a:lvl1pPr>
                  <a:defRPr sz="2400">
                    <a:solidFill>
                      <a:srgbClr val="78350F"/>
                    </a:solidFill>
                  </a:defRPr>
                </a:lvl1pPr>
              </a:lstStyle>
              <a:p>
                <a:pPr algn="l">
                  <a:defRPr sz="2400">
                    <a:solidFill>
                      <a:srgbClr val="78350F"/>
                    </a:solidFill>
                  </a:defRPr>
                </a:pPr>
                <a:r>
                  <a:rPr sz="2400" b="1">
                    <a:solidFill>
                      <a:srgbClr val="78350F"/>
                    </a:solidFill>
                    <a:latin typeface="Arial"/>
                  </a:rPr>
                  <a:t>Key idea:  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Put </a:t>
                </a:r>
                <a14:m>
                  <m:oMath xmlns:m="http://schemas.openxmlformats.org/officeDocument/2006/math"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𝑑</m:t>
                        </m:r>
                        <m: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𝑦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𝑑</m:t>
                        </m:r>
                        <m: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</m:den>
                    </m:f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tan</m:t>
                    </m:r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θ</m:t>
                    </m:r>
                  </m:oMath>
                </a14:m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: then </a:t>
                </a:r>
                <a14:m>
                  <m:oMath xmlns:m="http://schemas.openxmlformats.org/officeDocument/2006/math"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sSup>
                          <m:e>
                            <m:r>
                              <a:rPr lang="en-IN" sz="2400" i="1">
                                <a:solidFill>
                                  <a:srgbClr val="78350F"/>
                                </a:solidFill>
                                <a:latin typeface="Cambria Math" panose="02040503050406030204" pitchFamily="18" charset="0"/>
                              </a:rPr>
                              <m:t>𝑑</m:t>
                            </m:r>
                          </m:e>
                          <m:sup>
                            <m:r>
                              <a:rPr lang="en-IN" sz="2400" i="1">
                                <a:solidFill>
                                  <a:srgbClr val="78350F"/>
                                </a:solidFill>
                                <a:latin typeface="Cambria Math" panose="02040503050406030204" pitchFamily="18" charset="0"/>
                              </a:rPr>
                              <m:t>2</m:t>
                            </m:r>
                          </m:sup>
                        </m:sSup>
                        <m: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𝑦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𝑑</m:t>
                        </m:r>
                        <m:sSup>
                          <m:e>
                            <m:r>
                              <a:rPr lang="en-IN" sz="2400" i="1">
                                <a:solidFill>
                                  <a:srgbClr val="78350F"/>
                                </a:solidFill>
                                <a:latin typeface="Cambria Math" panose="02040503050406030204" pitchFamily="18" charset="0"/>
                              </a:rPr>
                              <m:t>𝑥</m:t>
                            </m:r>
                          </m:e>
                          <m:sup>
                            <m:r>
                              <a:rPr lang="en-IN" sz="2400" i="1">
                                <a:solidFill>
                                  <a:srgbClr val="78350F"/>
                                </a:solidFill>
                                <a:latin typeface="Cambria Math" panose="02040503050406030204" pitchFamily="18" charset="0"/>
                              </a:rPr>
                              <m:t>2</m:t>
                            </m:r>
                          </m:sup>
                        </m:sSup>
                      </m:den>
                    </m:f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sSup>
                          <m:e>
                            <m:r>
                              <m:rPr>
                                <m:sty m:val="p"/>
                              </m:rPr>
                              <a:rPr lang="en-IN" sz="2400">
                                <a:solidFill>
                                  <a:srgbClr val="78350F"/>
                                </a:solidFill>
                                <a:latin typeface="Cambria Math" panose="02040503050406030204" pitchFamily="18" charset="0"/>
                              </a:rPr>
                              <m:t>sec</m:t>
                            </m:r>
                          </m:e>
                          <m:sup>
                            <m:r>
                              <a:rPr lang="en-IN" sz="2400" i="1">
                                <a:solidFill>
                                  <a:srgbClr val="78350F"/>
                                </a:solidFill>
                                <a:latin typeface="Cambria Math" panose="02040503050406030204" pitchFamily="18" charset="0"/>
                              </a:rPr>
                              <m:t>3</m:t>
                            </m:r>
                          </m:sup>
                        </m:sSup>
                        <m: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θ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𝑅</m:t>
                        </m:r>
                      </m:den>
                    </m:f>
                  </m:oMath>
                </a14:m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 and </a:t>
                </a:r>
                <a14:m>
                  <m:oMath xmlns:m="http://schemas.openxmlformats.org/officeDocument/2006/math"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sSup>
                          <m:e>
                            <m:r>
                              <a:rPr lang="en-IN" sz="2400" i="1">
                                <a:solidFill>
                                  <a:srgbClr val="78350F"/>
                                </a:solidFill>
                                <a:latin typeface="Cambria Math" panose="02040503050406030204" pitchFamily="18" charset="0"/>
                              </a:rPr>
                              <m:t>𝑑</m:t>
                            </m:r>
                          </m:e>
                          <m:sup>
                            <m:r>
                              <a:rPr lang="en-IN" sz="2400" i="1">
                                <a:solidFill>
                                  <a:srgbClr val="78350F"/>
                                </a:solidFill>
                                <a:latin typeface="Cambria Math" panose="02040503050406030204" pitchFamily="18" charset="0"/>
                              </a:rPr>
                              <m:t>2</m:t>
                            </m:r>
                          </m:sup>
                        </m:sSup>
                        <m: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𝑑</m:t>
                        </m:r>
                        <m:sSup>
                          <m:e>
                            <m:r>
                              <a:rPr lang="en-IN" sz="2400" i="1">
                                <a:solidFill>
                                  <a:srgbClr val="78350F"/>
                                </a:solidFill>
                                <a:latin typeface="Cambria Math" panose="02040503050406030204" pitchFamily="18" charset="0"/>
                              </a:rPr>
                              <m:t>𝑦</m:t>
                            </m:r>
                          </m:e>
                          <m:sup>
                            <m:r>
                              <a:rPr lang="en-IN" sz="2400" i="1">
                                <a:solidFill>
                                  <a:srgbClr val="78350F"/>
                                </a:solidFill>
                                <a:latin typeface="Cambria Math" panose="02040503050406030204" pitchFamily="18" charset="0"/>
                              </a:rPr>
                              <m:t>2</m:t>
                            </m:r>
                          </m:sup>
                        </m:sSup>
                      </m:den>
                    </m:f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−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sSup>
                          <m:e>
                            <m:r>
                              <m:rPr>
                                <m:sty m:val="p"/>
                              </m:rPr>
                              <a:rPr lang="en-IN" sz="2400">
                                <a:solidFill>
                                  <a:srgbClr val="78350F"/>
                                </a:solidFill>
                                <a:latin typeface="Cambria Math" panose="02040503050406030204" pitchFamily="18" charset="0"/>
                              </a:rPr>
                              <m:t>csc</m:t>
                            </m:r>
                          </m:e>
                          <m:sup>
                            <m:r>
                              <a:rPr lang="en-IN" sz="2400" i="1">
                                <a:solidFill>
                                  <a:srgbClr val="78350F"/>
                                </a:solidFill>
                                <a:latin typeface="Cambria Math" panose="02040503050406030204" pitchFamily="18" charset="0"/>
                              </a:rPr>
                              <m:t>3</m:t>
                            </m:r>
                          </m:sup>
                        </m:sSup>
                        <m: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θ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𝑅</m:t>
                        </m:r>
                      </m:den>
                    </m:f>
                  </m:oMath>
                </a14:m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, and </a:t>
                </a:r>
                <a14:m>
                  <m:oMath xmlns:m="http://schemas.openxmlformats.org/officeDocument/2006/math">
                    <m:sSup>
                      <m:e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sin</m:t>
                        </m:r>
                      </m:e>
                      <m:sup>
                        <m: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θ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+</m:t>
                    </m:r>
                    <m:sSup>
                      <m:e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cos</m:t>
                        </m:r>
                      </m:e>
                      <m:sup>
                        <m: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θ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1</m:t>
                    </m:r>
                  </m:oMath>
                </a14:m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 finishes.</a:t>
                </a:r>
                <a:endParaRPr sz="2400">
                  <a:solidFill>
                    <a:srgbClr val="78350F"/>
                  </a:solidFill>
                </a:endParaRPr>
              </a:p>
            </p:txBody>
          </p:sp>
        </mc:Choice>
        <mc:Fallback>
          <p:sp>
            <p:nvSpPr>
              <p:cNvPr id="4" name="Rounded Rectangle 3"/>
              <p:cNvSpPr/>
              <p:nvPr/>
            </p:nvSpPr>
            <p:spPr>
              <a:xfrm>
                <a:off x="731520" y="1280160"/>
                <a:ext cx="10725912" cy="1328928"/>
              </a:xfrm>
              <a:prstGeom prst="roundRect">
                <a:avLst>
                  <a:gd name="adj" fmla="val 8000"/>
                </a:avLst>
              </a:prstGeom>
              <a:solidFill>
                <a:srgbClr val="FDE68A"/>
              </a:solidFill>
              <a:ln w="31750">
                <a:solidFill>
                  <a:srgbClr val="D97706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78350F"/>
              </a:fontRef>
            </p:style>
            <p:txBody>
              <a:bodyPr rtlCol="0" anchor="ctr" wrap="square" lIns="228600" rIns="228600" tIns="54864" bIns="73152"/>
              <a:lstStyle>
                <a:lvl1pPr>
                  <a:defRPr sz="2400">
                    <a:solidFill>
                      <a:srgbClr val="78350F"/>
                    </a:solidFill>
                  </a:defRPr>
                </a:lvl1pPr>
              </a:lstStyle>
              <a:p>
                <a:pPr algn="l">
                  <a:defRPr sz="2400">
                    <a:solidFill>
                      <a:srgbClr val="78350F"/>
                    </a:solidFill>
                  </a:defRPr>
                </a:pPr>
                <a:r>
                  <a:rPr sz="2400" b="1">
                    <a:solidFill>
                      <a:srgbClr val="78350F"/>
                    </a:solidFill>
                    <a:latin typeface="Arial"/>
                  </a:rPr>
                  <a:t>Key idea:  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Put </a:t>
                </a:r>
                <a:r>
                  <a:rPr lang="en-IN" sz="2400">
                    <a:solidFill>
                      <a:srgbClr val="78350F"/>
                    </a:solidFill>
                    <a:latin typeface="Cambria Math" panose="02040503050406030204" pitchFamily="18" charset="0"/>
                  </a:rPr>
                  <a:t>$\frac{dy}{dx}=\tan\theta$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: then </a:t>
                </a:r>
                <a:r>
                  <a:rPr lang="en-IN" sz="2400">
                    <a:solidFill>
                      <a:srgbClr val="78350F"/>
                    </a:solidFill>
                    <a:latin typeface="Cambria Math" panose="02040503050406030204" pitchFamily="18" charset="0"/>
                  </a:rPr>
                  <a:t>$\frac{d^2y}{dx^2}=\frac{\sec^3\theta}{R}$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 and </a:t>
                </a:r>
                <a:r>
                  <a:rPr lang="en-IN" sz="2400">
                    <a:solidFill>
                      <a:srgbClr val="78350F"/>
                    </a:solidFill>
                    <a:latin typeface="Cambria Math" panose="02040503050406030204" pitchFamily="18" charset="0"/>
                  </a:rPr>
                  <a:t>$\frac{d^2x}{dy^2}=-\frac{\csc^3\theta}{R}$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, and </a:t>
                </a:r>
                <a:r>
                  <a:rPr lang="en-IN" sz="2400">
                    <a:solidFill>
                      <a:srgbClr val="78350F"/>
                    </a:solidFill>
                    <a:latin typeface="Cambria Math" panose="02040503050406030204" pitchFamily="18" charset="0"/>
                  </a:rPr>
                  <a:t>$\sin^2\theta+\cos^2\theta=1$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 finishes.</a:t>
                </a:r>
                <a:endParaRPr sz="2400">
                  <a:solidFill>
                    <a:srgbClr val="78350F"/>
                  </a:solidFill>
                </a:endParaRP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5" name="Rectangle 4"/>
              <p:cNvSpPr/>
              <p:nvPr/>
            </p:nvSpPr>
            <p:spPr>
              <a:xfrm>
                <a:off x="731520" y="2746248"/>
                <a:ext cx="10725912" cy="3928872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𝑅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sSup>
                          <m:e>
                            <m:d>
                              <m:dPr>
                                <m:begChr m:val="["/>
                                <m:sepChr m:val=""/>
                                <m:endChr m:val="]"/>
                                <m:grow/>
                                <m:ctrlPr>
                                  <a:rPr lang="en-IN" sz="2400" i="1">
                                    <a:solidFill>
                                      <a:srgbClr val="111827"/>
                                    </a:solidFill>
                                    <a:latin typeface="Cambria Math" panose="02040503050406030204" pitchFamily="18" charset="0"/>
                                  </a:rPr>
                                </m:ctrlPr>
                              </m:dPr>
                              <m:e>
                                <m:r>
                                  <a:rPr lang="en-IN" sz="2400" i="1">
                                    <a:solidFill>
                                      <a:srgbClr val="111827"/>
                                    </a:solidFill>
                                    <a:latin typeface="Cambria Math" panose="02040503050406030204" pitchFamily="18" charset="0"/>
                                  </a:rPr>
                                  <m:t>1</m:t>
                                </m:r>
                                <m:r>
                                  <m:rPr>
                                    <m:sty m:val="p"/>
                                  </m:rPr>
                                  <a:rPr lang="en-IN" sz="2400">
                                    <a:solidFill>
                                      <a:srgbClr val="111827"/>
                                    </a:solidFill>
                                    <a:latin typeface="Cambria Math" panose="02040503050406030204" pitchFamily="18" charset="0"/>
                                  </a:rPr>
                                  <m:t>+</m:t>
                                </m:r>
                                <m:r>
                                  <m:rPr>
                                    <m:sty m:val="p"/>
                                  </m:rPr>
                                  <a:rPr lang="en-IN" sz="2400">
                                    <a:solidFill>
                                      <a:srgbClr val="111827"/>
                                    </a:solidFill>
                                    <a:latin typeface="Cambria Math" panose="02040503050406030204" pitchFamily="18" charset="0"/>
                                  </a:rPr>
                                  <m:t>(</m:t>
                                </m:r>
                                <m:r>
                                  <a:rPr lang="en-IN" sz="2400" i="1">
                                    <a:solidFill>
                                      <a:srgbClr val="111827"/>
                                    </a:solidFill>
                                    <a:latin typeface="Cambria Math" panose="02040503050406030204" pitchFamily="18" charset="0"/>
                                  </a:rPr>
                                  <m:t>𝑑</m:t>
                                </m:r>
                                <m:r>
                                  <a:rPr lang="en-IN" sz="2400" i="1">
                                    <a:solidFill>
                                      <a:srgbClr val="111827"/>
                                    </a:solidFill>
                                    <a:latin typeface="Cambria Math" panose="02040503050406030204" pitchFamily="18" charset="0"/>
                                  </a:rPr>
                                  <m:t>𝑦</m:t>
                                </m:r>
                                <m:r>
                                  <m:rPr>
                                    <m:sty m:val="p"/>
                                  </m:rPr>
                                  <a:rPr lang="en-IN" sz="2400">
                                    <a:solidFill>
                                      <a:srgbClr val="111827"/>
                                    </a:solidFill>
                                    <a:latin typeface="Cambria Math" panose="02040503050406030204" pitchFamily="18" charset="0"/>
                                  </a:rPr>
                                  <m:t>/</m:t>
                                </m:r>
                                <m:r>
                                  <a:rPr lang="en-IN" sz="2400" i="1">
                                    <a:solidFill>
                                      <a:srgbClr val="111827"/>
                                    </a:solidFill>
                                    <a:latin typeface="Cambria Math" panose="02040503050406030204" pitchFamily="18" charset="0"/>
                                  </a:rPr>
                                  <m:t>𝑑</m:t>
                                </m:r>
                                <m:r>
                                  <a:rPr lang="en-IN" sz="2400" i="1">
                                    <a:solidFill>
                                      <a:srgbClr val="111827"/>
                                    </a:solidFill>
                                    <a:latin typeface="Cambria Math" panose="02040503050406030204" pitchFamily="18" charset="0"/>
                                  </a:rPr>
                                  <m:t>𝑥</m:t>
                                </m:r>
                                <m:sSup>
                                  <m:e>
                                    <m:r>
                                      <m:rPr>
                                        <m:sty m:val="p"/>
                                      </m:rPr>
                                      <a:rPr lang="en-IN" sz="2400">
                                        <a:solidFill>
                                          <a:srgbClr val="111827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)</m:t>
                                    </m:r>
                                  </m:e>
                                  <m:sup>
                                    <m:r>
                                      <a:rPr lang="en-IN" sz="2400" i="1">
                                        <a:solidFill>
                                          <a:srgbClr val="111827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2</m:t>
                                    </m:r>
                                  </m:sup>
                                </m:sSup>
                              </m:e>
                            </m:d>
                          </m:e>
                          <m:sup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3</m:t>
                            </m:r>
                            <m:r>
                              <m:rPr>
                                <m:sty m:val="p"/>
                              </m:rPr>
                              <a:rPr lang="en-IN" sz="2400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/</m:t>
                            </m:r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2</m:t>
                            </m:r>
                          </m:sup>
                        </m:sSup>
                      </m:num>
                      <m:den>
                        <m:sSup>
                          <m:e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𝑑</m:t>
                            </m:r>
                          </m:e>
                          <m:sup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2</m:t>
                            </m:r>
                          </m:sup>
                        </m:s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𝑦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/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𝑑</m:t>
                        </m:r>
                        <m:sSup>
                          <m:e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𝑥</m:t>
                            </m:r>
                          </m:e>
                          <m:sup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2</m:t>
                            </m:r>
                          </m:sup>
                        </m:sSup>
                      </m:den>
                    </m:f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 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Let </a:t>
                </a:r>
                <a14:m>
                  <m:oMath xmlns:m="http://schemas.openxmlformats.org/officeDocument/2006/math"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𝑑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𝑦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𝑑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</m:den>
                    </m:f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tan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θ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 Then </a:t>
                </a:r>
                <a14:m>
                  <m:oMath xmlns:m="http://schemas.openxmlformats.org/officeDocument/2006/math"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sSup>
                          <m:e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𝑑</m:t>
                            </m:r>
                          </m:e>
                          <m:sup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2</m:t>
                            </m:r>
                          </m:sup>
                        </m:s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𝑦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𝑑</m:t>
                        </m:r>
                        <m:sSup>
                          <m:e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𝑥</m:t>
                            </m:r>
                          </m:e>
                          <m:sup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2</m:t>
                            </m:r>
                          </m:sup>
                        </m:sSup>
                      </m:den>
                    </m:f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sSup>
                      <m:e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sec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θ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𝑑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θ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𝑑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</m:den>
                    </m:f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so </a:t>
                </a:r>
                <a14:m>
                  <m:oMath xmlns:m="http://schemas.openxmlformats.org/officeDocument/2006/math"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num>
                      <m:den>
                        <m:sSup>
                          <m:e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𝑑</m:t>
                            </m:r>
                          </m:e>
                          <m:sup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2</m:t>
                            </m:r>
                          </m:sup>
                        </m:s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𝑦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/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𝑑</m:t>
                        </m:r>
                        <m:sSup>
                          <m:e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𝑥</m:t>
                            </m:r>
                          </m:e>
                          <m:sup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2</m:t>
                            </m:r>
                          </m:sup>
                        </m:sSup>
                      </m:den>
                    </m:f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sSup>
                      <m:e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cos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θ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𝑑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𝑑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θ</m:t>
                        </m:r>
                      </m:den>
                    </m:f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From (1):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𝑅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sSup>
                      <m:e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sec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3</m:t>
                        </m:r>
                      </m:sup>
                    </m:sSup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θ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⋅</m:t>
                    </m:r>
                    <m:sSup>
                      <m:e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cos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θ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𝑑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𝑑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θ</m:t>
                        </m:r>
                      </m:den>
                    </m:f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sec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θ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𝑑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𝑑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θ</m:t>
                        </m:r>
                      </m:den>
                    </m:f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so </a:t>
                </a:r>
                <a14:m>
                  <m:oMath xmlns:m="http://schemas.openxmlformats.org/officeDocument/2006/math"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𝑑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θ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𝑑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</m:den>
                    </m:f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sec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θ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𝑅</m:t>
                        </m:r>
                      </m:den>
                    </m:f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Choice>
        <mc:Fallback>
          <p:sp>
            <p:nvSpPr>
              <p:cNvPr id="5" name="Rectangle 4"/>
              <p:cNvSpPr/>
              <p:nvPr/>
            </p:nvSpPr>
            <p:spPr>
              <a:xfrm>
                <a:off x="731520" y="2746248"/>
                <a:ext cx="10725912" cy="3928872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$R=\frac{\left[1+(dy/dx)^2\right]^{3/2}}{d^2y/dx^2}$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$\quad(1)$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Let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$\frac{dy}{dx}=\tan\theta$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 Then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$\frac{d^2y}{dx^2}=\sec^2\theta\frac{d\theta}{dx}$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so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$\frac{1}{d^2y/dx^2}=\cos^2\theta\frac{dx}{d\theta}$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From (1):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$R=\sec^3\theta\cdot\cos^2\theta\frac{dx}{d\theta}=\sec\theta\frac{dx}{d\theta}$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so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$\frac{d\theta}{dx}=\frac{\sec\theta}{R}$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Fallback>
      </mc:AlternateContent>
    </p:spTree>
  </p:cSld>
  <p:clrMapOvr>
    <a:masterClrMapping/>
  </p:clrMapOvr>
</p:sld>
</file>

<file path=ppt/slides/slide4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FFFFFF"/>
          </a:fontRef>
        </p:style>
        <p:txBody>
          <a:bodyPr rtlCol="0" anchor="ctr" lIns="731520"/>
          <a:lstStyle>
            <a:lvl1pPr>
              <a:defRPr sz="3200">
                <a:solidFill>
                  <a:srgbClr val="FFFFFF"/>
                </a:solidFill>
              </a:defRPr>
            </a:lvl1pPr>
          </a:lstStyle>
          <a:p>
            <a:pPr algn="l">
              <a:defRPr sz="3200">
                <a:solidFill>
                  <a:srgbClr val="FFFFFF"/>
                </a:solidFill>
              </a:defRPr>
            </a:pPr>
            <a:r>
              <a:rPr sz="3200" b="1">
                <a:solidFill>
                  <a:srgbClr val="FFFFFF"/>
                </a:solidFill>
                <a:latin typeface="Arial"/>
              </a:rPr>
              <a:t>Question 07</a:t>
            </a:r>
            <a:endParaRPr sz="3200">
              <a:solidFill>
                <a:srgbClr val="FFFFFF"/>
              </a:solidFill>
            </a:endParaRPr>
          </a:p>
        </p:txBody>
      </p:sp>
      <p:sp>
        <p:nvSpPr>
          <p:cNvPr id="3" name="Rounded Rectangle 2"/>
          <p:cNvSpPr/>
          <p:nvPr/>
        </p:nvSpPr>
        <p:spPr>
          <a:xfrm>
            <a:off x="7894015" y="246887"/>
            <a:ext cx="3840480" cy="603504"/>
          </a:xfrm>
          <a:prstGeom prst="roundRect">
            <a:avLst>
              <a:gd name="adj" fmla="val 50000"/>
            </a:avLst>
          </a:prstGeom>
          <a:solidFill>
            <a:srgbClr val="F6B26B"/>
          </a:solidFill>
          <a:ln w="1905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111827"/>
          </a:fontRef>
        </p:style>
        <p:txBody>
          <a:bodyPr rtlCol="0" anchor="ctr" wrap="square" lIns="228600" rIns="228600" tIns="18288" bIns="18288"/>
          <a:lstStyle>
            <a:lvl1pPr>
              <a:defRPr sz="2400">
                <a:solidFill>
                  <a:srgbClr val="111827"/>
                </a:solidFill>
              </a:defRPr>
            </a:lvl1pPr>
          </a:lstStyle>
          <a:p>
            <a:pPr algn="ctr">
              <a:defRPr sz="2400">
                <a:solidFill>
                  <a:srgbClr val="111827"/>
                </a:solidFill>
              </a:defRPr>
            </a:pPr>
            <a:r>
              <a:rPr sz="2400" b="1">
                <a:solidFill>
                  <a:srgbClr val="111827"/>
                </a:solidFill>
                <a:latin typeface="Arial"/>
              </a:rPr>
              <a:t>Level 3  ·  4 Marks</a:t>
            </a:r>
            <a:endParaRPr sz="2400">
              <a:solidFill>
                <a:srgbClr val="111827"/>
              </a:solidFill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4" name="Rectangle 3"/>
              <p:cNvSpPr/>
              <p:nvPr/>
            </p:nvSpPr>
            <p:spPr>
              <a:xfrm>
                <a:off x="731520" y="1353312"/>
                <a:ext cx="10725912" cy="5321808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14:m>
                  <m:oMath xmlns:m="http://schemas.openxmlformats.org/officeDocument/2006/math"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sSup>
                          <m:e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𝑑</m:t>
                            </m:r>
                          </m:e>
                          <m:sup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2</m:t>
                            </m:r>
                          </m:sup>
                        </m:s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𝑦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𝑑</m:t>
                        </m:r>
                        <m:sSup>
                          <m:e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𝑥</m:t>
                            </m:r>
                          </m:e>
                          <m:sup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2</m:t>
                            </m:r>
                          </m:sup>
                        </m:sSup>
                      </m:den>
                    </m:f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sSup>
                      <m:e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sec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θ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⋅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sec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θ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𝑅</m:t>
                        </m:r>
                      </m:den>
                    </m:f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sSup>
                          <m:e>
                            <m:r>
                              <m:rPr>
                                <m:sty m:val="p"/>
                              </m:rPr>
                              <a:rPr lang="en-IN" sz="2400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sec</m:t>
                            </m:r>
                          </m:e>
                          <m:sup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3</m:t>
                            </m:r>
                          </m:sup>
                        </m:s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θ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𝑅</m:t>
                        </m:r>
                      </m:den>
                    </m:f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 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14:m>
                  <m:oMath xmlns:m="http://schemas.openxmlformats.org/officeDocument/2006/math"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𝑑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𝑑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𝑦</m:t>
                        </m:r>
                      </m:den>
                    </m:f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cot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θ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so </a:t>
                </a:r>
                <a14:m>
                  <m:oMath xmlns:m="http://schemas.openxmlformats.org/officeDocument/2006/math"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sSup>
                          <m:e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𝑑</m:t>
                            </m:r>
                          </m:e>
                          <m:sup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2</m:t>
                            </m:r>
                          </m:sup>
                        </m:s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𝑑</m:t>
                        </m:r>
                        <m:sSup>
                          <m:e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𝑦</m:t>
                            </m:r>
                          </m:e>
                          <m:sup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2</m:t>
                            </m:r>
                          </m:sup>
                        </m:sSup>
                      </m:den>
                    </m:f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sSup>
                      <m:e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csc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θ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𝑑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θ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𝑑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𝑦</m:t>
                        </m:r>
                      </m:den>
                    </m:f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sSup>
                      <m:e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csc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θ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𝑑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θ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𝑑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</m:den>
                    </m:f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⋅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𝑑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𝑑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𝑦</m:t>
                        </m:r>
                      </m:den>
                    </m:f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14:m>
                  <m:oMath xmlns:m="http://schemas.openxmlformats.org/officeDocument/2006/math"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sSup>
                          <m:e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𝑑</m:t>
                            </m:r>
                          </m:e>
                          <m:sup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2</m:t>
                            </m:r>
                          </m:sup>
                        </m:s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𝑑</m:t>
                        </m:r>
                        <m:sSup>
                          <m:e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𝑦</m:t>
                            </m:r>
                          </m:e>
                          <m:sup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2</m:t>
                            </m:r>
                          </m:sup>
                        </m:sSup>
                      </m:den>
                    </m:f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sSup>
                      <m:e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csc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θ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⋅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sec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θ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𝑅</m:t>
                        </m:r>
                      </m:den>
                    </m:f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⋅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cot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θ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sSup>
                          <m:e>
                            <m:r>
                              <m:rPr>
                                <m:sty m:val="p"/>
                              </m:rPr>
                              <a:rPr lang="en-IN" sz="2400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csc</m:t>
                            </m:r>
                          </m:e>
                          <m:sup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3</m:t>
                            </m:r>
                          </m:sup>
                        </m:s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θ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𝑅</m:t>
                        </m:r>
                      </m:den>
                    </m:f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 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3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endParaRPr sz="2400">
                  <a:solidFill>
                    <a:srgbClr val="111827"/>
                  </a:solidFill>
                </a:endParaRPr>
              </a:p>
            </p:txBody>
          </p:sp>
        </mc:Choice>
        <mc:Fallback>
          <p:sp>
            <p:nvSpPr>
              <p:cNvPr id="4" name="Rectangle 3"/>
              <p:cNvSpPr/>
              <p:nvPr/>
            </p:nvSpPr>
            <p:spPr>
              <a:xfrm>
                <a:off x="731520" y="1353312"/>
                <a:ext cx="10725912" cy="5321808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$\frac{d^2y}{dx^2}=\sec^2\theta\cdot\frac{\sec\theta}{R}=\frac{\sec^3\theta}{R}$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$\quad(2)$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$\frac{dx}{dy}=\cot\theta$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so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$\frac{d^2x}{dy^2}=-\csc^2\theta\frac{d\theta}{dy}=-\csc^2\theta\frac{d\theta}{dx}\cdot\frac{dx}{dy}$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$\frac{d^2x}{dy^2}=-\csc^2\theta\cdot\frac{\sec\theta}{R}\cdot\cot\theta=-\frac{\csc^3\theta}{R}$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$\quad(3)$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Fallback>
      </mc:AlternateContent>
    </p:spTree>
  </p:cSld>
  <p:clrMapOvr>
    <a:masterClrMapping/>
  </p:clrMapOvr>
</p:sld>
</file>

<file path=ppt/slides/slide4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FFFFFF"/>
          </a:fontRef>
        </p:style>
        <p:txBody>
          <a:bodyPr rtlCol="0" anchor="ctr" lIns="731520"/>
          <a:lstStyle>
            <a:lvl1pPr>
              <a:defRPr sz="3200">
                <a:solidFill>
                  <a:srgbClr val="FFFFFF"/>
                </a:solidFill>
              </a:defRPr>
            </a:lvl1pPr>
          </a:lstStyle>
          <a:p>
            <a:pPr algn="l">
              <a:defRPr sz="3200">
                <a:solidFill>
                  <a:srgbClr val="FFFFFF"/>
                </a:solidFill>
              </a:defRPr>
            </a:pPr>
            <a:r>
              <a:rPr sz="3200" b="1">
                <a:solidFill>
                  <a:srgbClr val="FFFFFF"/>
                </a:solidFill>
                <a:latin typeface="Arial"/>
              </a:rPr>
              <a:t>Question 07</a:t>
            </a:r>
            <a:endParaRPr sz="3200">
              <a:solidFill>
                <a:srgbClr val="FFFFFF"/>
              </a:solidFill>
            </a:endParaRPr>
          </a:p>
        </p:txBody>
      </p:sp>
      <p:sp>
        <p:nvSpPr>
          <p:cNvPr id="3" name="Rounded Rectangle 2"/>
          <p:cNvSpPr/>
          <p:nvPr/>
        </p:nvSpPr>
        <p:spPr>
          <a:xfrm>
            <a:off x="7894015" y="246887"/>
            <a:ext cx="3840480" cy="603504"/>
          </a:xfrm>
          <a:prstGeom prst="roundRect">
            <a:avLst>
              <a:gd name="adj" fmla="val 50000"/>
            </a:avLst>
          </a:prstGeom>
          <a:solidFill>
            <a:srgbClr val="F6B26B"/>
          </a:solidFill>
          <a:ln w="1905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111827"/>
          </a:fontRef>
        </p:style>
        <p:txBody>
          <a:bodyPr rtlCol="0" anchor="ctr" wrap="square" lIns="228600" rIns="228600" tIns="18288" bIns="18288"/>
          <a:lstStyle>
            <a:lvl1pPr>
              <a:defRPr sz="2400">
                <a:solidFill>
                  <a:srgbClr val="111827"/>
                </a:solidFill>
              </a:defRPr>
            </a:lvl1pPr>
          </a:lstStyle>
          <a:p>
            <a:pPr algn="ctr">
              <a:defRPr sz="2400">
                <a:solidFill>
                  <a:srgbClr val="111827"/>
                </a:solidFill>
              </a:defRPr>
            </a:pPr>
            <a:r>
              <a:rPr sz="2400" b="1">
                <a:solidFill>
                  <a:srgbClr val="111827"/>
                </a:solidFill>
                <a:latin typeface="Arial"/>
              </a:rPr>
              <a:t>Level 3  ·  4 Marks</a:t>
            </a:r>
            <a:endParaRPr sz="2400">
              <a:solidFill>
                <a:srgbClr val="111827"/>
              </a:solidFill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4" name="Rectangle 3"/>
              <p:cNvSpPr/>
              <p:nvPr/>
            </p:nvSpPr>
            <p:spPr>
              <a:xfrm>
                <a:off x="731520" y="1353312"/>
                <a:ext cx="10725912" cy="4434840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Taking real cube roots, </a:t>
                </a:r>
                <a14:m>
                  <m:oMath xmlns:m="http://schemas.openxmlformats.org/officeDocument/2006/math">
                    <m:sSup>
                      <m:e>
                        <m:d>
                          <m:dPr>
                            <m:begChr m:val="("/>
                            <m:sepChr m:val=""/>
                            <m:endChr m:val=")"/>
                            <m:grow/>
                            <m:ctrlP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f>
                              <m:fPr>
                                <m:type m:val="bar"/>
                                <m:ctrlPr>
                                  <a:rPr lang="en-IN" sz="2400" i="1">
                                    <a:solidFill>
                                      <a:srgbClr val="111827"/>
                                    </a:solidFill>
                                    <a:latin typeface="Cambria Math" panose="02040503050406030204" pitchFamily="18" charset="0"/>
                                  </a:rPr>
                                </m:ctrlPr>
                              </m:fPr>
                              <m:num>
                                <m:sSup>
                                  <m:e>
                                    <m:r>
                                      <a:rPr lang="en-IN" sz="2400" i="1">
                                        <a:solidFill>
                                          <a:srgbClr val="111827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𝑑</m:t>
                                    </m:r>
                                  </m:e>
                                  <m:sup>
                                    <m:r>
                                      <a:rPr lang="en-IN" sz="2400" i="1">
                                        <a:solidFill>
                                          <a:srgbClr val="111827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2</m:t>
                                    </m:r>
                                  </m:sup>
                                </m:sSup>
                                <m:r>
                                  <a:rPr lang="en-IN" sz="2400" i="1">
                                    <a:solidFill>
                                      <a:srgbClr val="111827"/>
                                    </a:solidFill>
                                    <a:latin typeface="Cambria Math" panose="02040503050406030204" pitchFamily="18" charset="0"/>
                                  </a:rPr>
                                  <m:t>𝑦</m:t>
                                </m:r>
                              </m:num>
                              <m:den>
                                <m:r>
                                  <a:rPr lang="en-IN" sz="2400" i="1">
                                    <a:solidFill>
                                      <a:srgbClr val="111827"/>
                                    </a:solidFill>
                                    <a:latin typeface="Cambria Math" panose="02040503050406030204" pitchFamily="18" charset="0"/>
                                  </a:rPr>
                                  <m:t>𝑑</m:t>
                                </m:r>
                                <m:sSup>
                                  <m:e>
                                    <m:r>
                                      <a:rPr lang="en-IN" sz="2400" i="1">
                                        <a:solidFill>
                                          <a:srgbClr val="111827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𝑥</m:t>
                                    </m:r>
                                  </m:e>
                                  <m:sup>
                                    <m:r>
                                      <a:rPr lang="en-IN" sz="2400" i="1">
                                        <a:solidFill>
                                          <a:srgbClr val="111827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2</m:t>
                                    </m:r>
                                  </m:sup>
                                </m:sSup>
                              </m:den>
                            </m:f>
                          </m:e>
                        </m:d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/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3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sSup>
                          <m:e>
                            <m:r>
                              <m:rPr>
                                <m:sty m:val="p"/>
                              </m:rPr>
                              <a:rPr lang="en-IN" sz="2400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sec</m:t>
                            </m:r>
                          </m:e>
                          <m:sup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2</m:t>
                            </m:r>
                          </m:sup>
                        </m:s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θ</m:t>
                        </m:r>
                      </m:num>
                      <m:den>
                        <m:sSup>
                          <m:e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𝑅</m:t>
                            </m:r>
                          </m:e>
                          <m:sup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2</m:t>
                            </m:r>
                            <m:r>
                              <m:rPr>
                                <m:sty m:val="p"/>
                              </m:rPr>
                              <a:rPr lang="en-IN" sz="2400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/</m:t>
                            </m:r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3</m:t>
                            </m:r>
                          </m:sup>
                        </m:sSup>
                      </m:den>
                    </m:f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and </a:t>
                </a:r>
                <a14:m>
                  <m:oMath xmlns:m="http://schemas.openxmlformats.org/officeDocument/2006/math">
                    <m:sSup>
                      <m:e>
                        <m:d>
                          <m:dPr>
                            <m:begChr m:val="("/>
                            <m:sepChr m:val=""/>
                            <m:endChr m:val=")"/>
                            <m:grow/>
                            <m:ctrlP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f>
                              <m:fPr>
                                <m:type m:val="bar"/>
                                <m:ctrlPr>
                                  <a:rPr lang="en-IN" sz="2400" i="1">
                                    <a:solidFill>
                                      <a:srgbClr val="111827"/>
                                    </a:solidFill>
                                    <a:latin typeface="Cambria Math" panose="02040503050406030204" pitchFamily="18" charset="0"/>
                                  </a:rPr>
                                </m:ctrlPr>
                              </m:fPr>
                              <m:num>
                                <m:sSup>
                                  <m:e>
                                    <m:r>
                                      <a:rPr lang="en-IN" sz="2400" i="1">
                                        <a:solidFill>
                                          <a:srgbClr val="111827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𝑑</m:t>
                                    </m:r>
                                  </m:e>
                                  <m:sup>
                                    <m:r>
                                      <a:rPr lang="en-IN" sz="2400" i="1">
                                        <a:solidFill>
                                          <a:srgbClr val="111827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2</m:t>
                                    </m:r>
                                  </m:sup>
                                </m:sSup>
                                <m:r>
                                  <a:rPr lang="en-IN" sz="2400" i="1">
                                    <a:solidFill>
                                      <a:srgbClr val="111827"/>
                                    </a:solidFill>
                                    <a:latin typeface="Cambria Math" panose="02040503050406030204" pitchFamily="18" charset="0"/>
                                  </a:rPr>
                                  <m:t>𝑥</m:t>
                                </m:r>
                              </m:num>
                              <m:den>
                                <m:r>
                                  <a:rPr lang="en-IN" sz="2400" i="1">
                                    <a:solidFill>
                                      <a:srgbClr val="111827"/>
                                    </a:solidFill>
                                    <a:latin typeface="Cambria Math" panose="02040503050406030204" pitchFamily="18" charset="0"/>
                                  </a:rPr>
                                  <m:t>𝑑</m:t>
                                </m:r>
                                <m:sSup>
                                  <m:e>
                                    <m:r>
                                      <a:rPr lang="en-IN" sz="2400" i="1">
                                        <a:solidFill>
                                          <a:srgbClr val="111827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𝑦</m:t>
                                    </m:r>
                                  </m:e>
                                  <m:sup>
                                    <m:r>
                                      <a:rPr lang="en-IN" sz="2400" i="1">
                                        <a:solidFill>
                                          <a:srgbClr val="111827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2</m:t>
                                    </m:r>
                                  </m:sup>
                                </m:sSup>
                              </m:den>
                            </m:f>
                          </m:e>
                        </m:d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/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3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sSup>
                          <m:e>
                            <m:r>
                              <m:rPr>
                                <m:sty m:val="p"/>
                              </m:rPr>
                              <a:rPr lang="en-IN" sz="2400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csc</m:t>
                            </m:r>
                          </m:e>
                          <m:sup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2</m:t>
                            </m:r>
                          </m:sup>
                        </m:s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θ</m:t>
                        </m:r>
                      </m:num>
                      <m:den>
                        <m:sSup>
                          <m:e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𝑅</m:t>
                            </m:r>
                          </m:e>
                          <m:sup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2</m:t>
                            </m:r>
                            <m:r>
                              <m:rPr>
                                <m:sty m:val="p"/>
                              </m:rPr>
                              <a:rPr lang="en-IN" sz="2400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/</m:t>
                            </m:r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3</m:t>
                            </m:r>
                          </m:sup>
                        </m:sSup>
                      </m:den>
                    </m:f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(the sign in (3) disappears under the square).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14:m>
                  <m:oMath xmlns:m="http://schemas.openxmlformats.org/officeDocument/2006/math"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num>
                      <m:den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(</m:t>
                        </m:r>
                        <m:sSup>
                          <m:e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𝑑</m:t>
                            </m:r>
                          </m:e>
                          <m:sup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2</m:t>
                            </m:r>
                          </m:sup>
                        </m:s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𝑦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/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𝑑</m:t>
                        </m:r>
                        <m:sSup>
                          <m:e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𝑥</m:t>
                            </m:r>
                          </m:e>
                          <m:sup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2</m:t>
                            </m:r>
                          </m:sup>
                        </m:sSup>
                        <m:sSup>
                          <m:e>
                            <m:r>
                              <m:rPr>
                                <m:sty m:val="p"/>
                              </m:rPr>
                              <a:rPr lang="en-IN" sz="2400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)</m:t>
                            </m:r>
                          </m:e>
                          <m:sup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2</m:t>
                            </m:r>
                            <m:r>
                              <m:rPr>
                                <m:sty m:val="p"/>
                              </m:rPr>
                              <a:rPr lang="en-IN" sz="2400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/</m:t>
                            </m:r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3</m:t>
                            </m:r>
                          </m:sup>
                        </m:sSup>
                      </m:den>
                    </m:f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num>
                      <m:den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(</m:t>
                        </m:r>
                        <m:sSup>
                          <m:e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𝑑</m:t>
                            </m:r>
                          </m:e>
                          <m:sup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2</m:t>
                            </m:r>
                          </m:sup>
                        </m:s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/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𝑑</m:t>
                        </m:r>
                        <m:sSup>
                          <m:e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𝑦</m:t>
                            </m:r>
                          </m:e>
                          <m:sup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2</m:t>
                            </m:r>
                          </m:sup>
                        </m:sSup>
                        <m:sSup>
                          <m:e>
                            <m:r>
                              <m:rPr>
                                <m:sty m:val="p"/>
                              </m:rPr>
                              <a:rPr lang="en-IN" sz="2400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)</m:t>
                            </m:r>
                          </m:e>
                          <m:sup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2</m:t>
                            </m:r>
                            <m:r>
                              <m:rPr>
                                <m:sty m:val="p"/>
                              </m:rPr>
                              <a:rPr lang="en-IN" sz="2400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/</m:t>
                            </m:r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3</m:t>
                            </m:r>
                          </m:sup>
                        </m:sSup>
                      </m:den>
                    </m:f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𝑅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/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3</m:t>
                        </m:r>
                      </m:sup>
                    </m:sSup>
                    <m:d>
                      <m:dPr>
                        <m:begChr m:val="("/>
                        <m:sepChr m:val=""/>
                        <m:endChr m:val=")"/>
                        <m:grow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sSup>
                          <m:e>
                            <m:r>
                              <m:rPr>
                                <m:sty m:val="p"/>
                              </m:rPr>
                              <a:rPr lang="en-IN" sz="2400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cos</m:t>
                            </m:r>
                          </m:e>
                          <m:sup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2</m:t>
                            </m:r>
                          </m:sup>
                        </m:s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θ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+</m:t>
                        </m:r>
                        <m:sSup>
                          <m:e>
                            <m:r>
                              <m:rPr>
                                <m:sty m:val="p"/>
                              </m:rPr>
                              <a:rPr lang="en-IN" sz="2400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sin</m:t>
                            </m:r>
                          </m:e>
                          <m:sup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2</m:t>
                            </m:r>
                          </m:sup>
                        </m:s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θ</m:t>
                        </m:r>
                      </m:e>
                    </m:d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𝑅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/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3</m:t>
                        </m:r>
                      </m:sup>
                    </m:sSup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 Hence shown.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Choice>
        <mc:Fallback>
          <p:sp>
            <p:nvSpPr>
              <p:cNvPr id="4" name="Rectangle 3"/>
              <p:cNvSpPr/>
              <p:nvPr/>
            </p:nvSpPr>
            <p:spPr>
              <a:xfrm>
                <a:off x="731520" y="1353312"/>
                <a:ext cx="10725912" cy="4434840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Taking real cube roots,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$\left(\frac{d^2y}{dx^2}\right)^{2/3}=\frac{\sec^2\theta}{R^{2/3}}$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and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$\left(\frac{d^2x}{dy^2}\right)^{2/3}=\frac{\csc^2\theta}{R^{2/3}}$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(the sign in (3) disappears under the square).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$\frac{1}{(d^2y/dx^2)^{2/3}}+\frac{1}{(d^2x/dy^2)^{2/3}}=R^{2/3}\left(\cos^2\theta+\sin^2\theta\right)=R^{2/3}$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 Hence shown.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5" name="Rounded Rectangle 4"/>
              <p:cNvSpPr/>
              <p:nvPr/>
            </p:nvSpPr>
            <p:spPr>
              <a:xfrm>
                <a:off x="731520" y="5897880"/>
                <a:ext cx="10725912" cy="777240"/>
              </a:xfrm>
              <a:prstGeom prst="roundRect">
                <a:avLst>
                  <a:gd name="adj" fmla="val 8000"/>
                </a:avLst>
              </a:prstGeom>
              <a:solidFill>
                <a:srgbClr val="DCFCE7"/>
              </a:solidFill>
              <a:ln w="25400">
                <a:solidFill>
                  <a:srgbClr val="15803D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5803D"/>
              </a:fontRef>
            </p:style>
            <p:txBody>
              <a:bodyPr rtlCol="0" anchor="ctr" wrap="square" lIns="228600" rIns="228600" tIns="18288" bIns="73152"/>
              <a:lstStyle>
                <a:lvl1pPr>
                  <a:defRPr sz="2800">
                    <a:solidFill>
                      <a:srgbClr val="15803D"/>
                    </a:solidFill>
                  </a:defRPr>
                </a:lvl1pPr>
              </a:lstStyle>
              <a:p>
                <a:pPr algn="ctr">
                  <a:defRPr sz="2800">
                    <a:solidFill>
                      <a:srgbClr val="15803D"/>
                    </a:solidFill>
                  </a:defRPr>
                </a:pPr>
                <a:r>
                  <a:rPr sz="2800" b="1">
                    <a:solidFill>
                      <a:srgbClr val="15803D"/>
                    </a:solidFill>
                    <a:latin typeface="Arial"/>
                  </a:rPr>
                  <a:t>Correct Answer: Shown: </a:t>
                </a:r>
                <a14:m>
                  <m:oMath xmlns:m="http://schemas.openxmlformats.org/officeDocument/2006/math">
                    <m:sSup>
                      <m:e>
                        <m:r>
                          <a:rPr lang="en-IN" sz="2800" i="1">
                            <a:solidFill>
                              <a:srgbClr val="15803D"/>
                            </a:solidFill>
                            <a:latin typeface="Cambria Math" panose="02040503050406030204" pitchFamily="18" charset="0"/>
                          </a:rPr>
                          <m:t>𝑅</m:t>
                        </m:r>
                      </m:e>
                      <m:sup>
                        <m:r>
                          <a:rPr lang="en-IN" sz="2800" i="1">
                            <a:solidFill>
                              <a:srgbClr val="15803D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  <m:r>
                          <m:rPr>
                            <m:sty m:val="p"/>
                          </m:rPr>
                          <a:rPr lang="en-IN" sz="2800">
                            <a:solidFill>
                              <a:srgbClr val="15803D"/>
                            </a:solidFill>
                            <a:latin typeface="Cambria Math" panose="02040503050406030204" pitchFamily="18" charset="0"/>
                          </a:rPr>
                          <m:t>/</m:t>
                        </m:r>
                        <m:r>
                          <a:rPr lang="en-IN" sz="2800" i="1">
                            <a:solidFill>
                              <a:srgbClr val="15803D"/>
                            </a:solidFill>
                            <a:latin typeface="Cambria Math" panose="02040503050406030204" pitchFamily="18" charset="0"/>
                          </a:rPr>
                          <m:t>3</m:t>
                        </m:r>
                      </m:sup>
                    </m:sSup>
                    <m:r>
                      <m:rPr>
                        <m:sty m:val="p"/>
                      </m:rPr>
                      <a:rPr lang="en-IN" sz="2800">
                        <a:solidFill>
                          <a:srgbClr val="15803D"/>
                        </a:solidFill>
                        <a:latin typeface="Cambria Math" panose="02040503050406030204" pitchFamily="18" charset="0"/>
                      </a:rPr>
                      <m:t>=</m:t>
                    </m:r>
                    <m:sSup>
                      <m:e>
                        <m:d>
                          <m:dPr>
                            <m:begChr m:val="("/>
                            <m:sepChr m:val=""/>
                            <m:endChr m:val=")"/>
                            <m:grow/>
                            <m:ctrlPr>
                              <a:rPr lang="en-IN" sz="2800" i="1">
                                <a:solidFill>
                                  <a:srgbClr val="15803D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f>
                              <m:fPr>
                                <m:type m:val="bar"/>
                                <m:ctrlPr>
                                  <a:rPr lang="en-IN" sz="2800" i="1">
                                    <a:solidFill>
                                      <a:srgbClr val="15803D"/>
                                    </a:solidFill>
                                    <a:latin typeface="Cambria Math" panose="02040503050406030204" pitchFamily="18" charset="0"/>
                                  </a:rPr>
                                </m:ctrlPr>
                              </m:fPr>
                              <m:num>
                                <m:sSup>
                                  <m:e>
                                    <m:r>
                                      <a:rPr lang="en-IN" sz="2800" i="1">
                                        <a:solidFill>
                                          <a:srgbClr val="15803D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𝑑</m:t>
                                    </m:r>
                                  </m:e>
                                  <m:sup>
                                    <m:r>
                                      <a:rPr lang="en-IN" sz="2800" i="1">
                                        <a:solidFill>
                                          <a:srgbClr val="15803D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2</m:t>
                                    </m:r>
                                  </m:sup>
                                </m:sSup>
                                <m:r>
                                  <a:rPr lang="en-IN" sz="2800" i="1">
                                    <a:solidFill>
                                      <a:srgbClr val="15803D"/>
                                    </a:solidFill>
                                    <a:latin typeface="Cambria Math" panose="02040503050406030204" pitchFamily="18" charset="0"/>
                                  </a:rPr>
                                  <m:t>𝑦</m:t>
                                </m:r>
                              </m:num>
                              <m:den>
                                <m:r>
                                  <a:rPr lang="en-IN" sz="2800" i="1">
                                    <a:solidFill>
                                      <a:srgbClr val="15803D"/>
                                    </a:solidFill>
                                    <a:latin typeface="Cambria Math" panose="02040503050406030204" pitchFamily="18" charset="0"/>
                                  </a:rPr>
                                  <m:t>𝑑</m:t>
                                </m:r>
                                <m:sSup>
                                  <m:e>
                                    <m:r>
                                      <a:rPr lang="en-IN" sz="2800" i="1">
                                        <a:solidFill>
                                          <a:srgbClr val="15803D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𝑥</m:t>
                                    </m:r>
                                  </m:e>
                                  <m:sup>
                                    <m:r>
                                      <a:rPr lang="en-IN" sz="2800" i="1">
                                        <a:solidFill>
                                          <a:srgbClr val="15803D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2</m:t>
                                    </m:r>
                                  </m:sup>
                                </m:sSup>
                              </m:den>
                            </m:f>
                          </m:e>
                        </m:d>
                      </m:e>
                      <m:sup>
                        <m:r>
                          <m:rPr>
                            <m:sty m:val="p"/>
                          </m:rPr>
                          <a:rPr lang="en-IN" sz="2800">
                            <a:solidFill>
                              <a:srgbClr val="15803D"/>
                            </a:solidFill>
                            <a:latin typeface="Cambria Math" panose="02040503050406030204" pitchFamily="18" charset="0"/>
                          </a:rPr>
                          <m:t>−</m:t>
                        </m:r>
                        <m:r>
                          <a:rPr lang="en-IN" sz="2800" i="1">
                            <a:solidFill>
                              <a:srgbClr val="15803D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  <m:r>
                          <m:rPr>
                            <m:sty m:val="p"/>
                          </m:rPr>
                          <a:rPr lang="en-IN" sz="2800">
                            <a:solidFill>
                              <a:srgbClr val="15803D"/>
                            </a:solidFill>
                            <a:latin typeface="Cambria Math" panose="02040503050406030204" pitchFamily="18" charset="0"/>
                          </a:rPr>
                          <m:t>/</m:t>
                        </m:r>
                        <m:r>
                          <a:rPr lang="en-IN" sz="2800" i="1">
                            <a:solidFill>
                              <a:srgbClr val="15803D"/>
                            </a:solidFill>
                            <a:latin typeface="Cambria Math" panose="02040503050406030204" pitchFamily="18" charset="0"/>
                          </a:rPr>
                          <m:t>3</m:t>
                        </m:r>
                      </m:sup>
                    </m:sSup>
                    <m:r>
                      <m:rPr>
                        <m:sty m:val="p"/>
                      </m:rPr>
                      <a:rPr lang="en-IN" sz="2800">
                        <a:solidFill>
                          <a:srgbClr val="15803D"/>
                        </a:solidFill>
                        <a:latin typeface="Cambria Math" panose="02040503050406030204" pitchFamily="18" charset="0"/>
                      </a:rPr>
                      <m:t>+</m:t>
                    </m:r>
                    <m:sSup>
                      <m:e>
                        <m:d>
                          <m:dPr>
                            <m:begChr m:val="("/>
                            <m:sepChr m:val=""/>
                            <m:endChr m:val=")"/>
                            <m:grow/>
                            <m:ctrlPr>
                              <a:rPr lang="en-IN" sz="2800" i="1">
                                <a:solidFill>
                                  <a:srgbClr val="15803D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f>
                              <m:fPr>
                                <m:type m:val="bar"/>
                                <m:ctrlPr>
                                  <a:rPr lang="en-IN" sz="2800" i="1">
                                    <a:solidFill>
                                      <a:srgbClr val="15803D"/>
                                    </a:solidFill>
                                    <a:latin typeface="Cambria Math" panose="02040503050406030204" pitchFamily="18" charset="0"/>
                                  </a:rPr>
                                </m:ctrlPr>
                              </m:fPr>
                              <m:num>
                                <m:sSup>
                                  <m:e>
                                    <m:r>
                                      <a:rPr lang="en-IN" sz="2800" i="1">
                                        <a:solidFill>
                                          <a:srgbClr val="15803D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𝑑</m:t>
                                    </m:r>
                                  </m:e>
                                  <m:sup>
                                    <m:r>
                                      <a:rPr lang="en-IN" sz="2800" i="1">
                                        <a:solidFill>
                                          <a:srgbClr val="15803D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2</m:t>
                                    </m:r>
                                  </m:sup>
                                </m:sSup>
                                <m:r>
                                  <a:rPr lang="en-IN" sz="2800" i="1">
                                    <a:solidFill>
                                      <a:srgbClr val="15803D"/>
                                    </a:solidFill>
                                    <a:latin typeface="Cambria Math" panose="02040503050406030204" pitchFamily="18" charset="0"/>
                                  </a:rPr>
                                  <m:t>𝑥</m:t>
                                </m:r>
                              </m:num>
                              <m:den>
                                <m:r>
                                  <a:rPr lang="en-IN" sz="2800" i="1">
                                    <a:solidFill>
                                      <a:srgbClr val="15803D"/>
                                    </a:solidFill>
                                    <a:latin typeface="Cambria Math" panose="02040503050406030204" pitchFamily="18" charset="0"/>
                                  </a:rPr>
                                  <m:t>𝑑</m:t>
                                </m:r>
                                <m:sSup>
                                  <m:e>
                                    <m:r>
                                      <a:rPr lang="en-IN" sz="2800" i="1">
                                        <a:solidFill>
                                          <a:srgbClr val="15803D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𝑦</m:t>
                                    </m:r>
                                  </m:e>
                                  <m:sup>
                                    <m:r>
                                      <a:rPr lang="en-IN" sz="2800" i="1">
                                        <a:solidFill>
                                          <a:srgbClr val="15803D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2</m:t>
                                    </m:r>
                                  </m:sup>
                                </m:sSup>
                              </m:den>
                            </m:f>
                          </m:e>
                        </m:d>
                      </m:e>
                      <m:sup>
                        <m:r>
                          <m:rPr>
                            <m:sty m:val="p"/>
                          </m:rPr>
                          <a:rPr lang="en-IN" sz="2800">
                            <a:solidFill>
                              <a:srgbClr val="15803D"/>
                            </a:solidFill>
                            <a:latin typeface="Cambria Math" panose="02040503050406030204" pitchFamily="18" charset="0"/>
                          </a:rPr>
                          <m:t>−</m:t>
                        </m:r>
                        <m:r>
                          <a:rPr lang="en-IN" sz="2800" i="1">
                            <a:solidFill>
                              <a:srgbClr val="15803D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  <m:r>
                          <m:rPr>
                            <m:sty m:val="p"/>
                          </m:rPr>
                          <a:rPr lang="en-IN" sz="2800">
                            <a:solidFill>
                              <a:srgbClr val="15803D"/>
                            </a:solidFill>
                            <a:latin typeface="Cambria Math" panose="02040503050406030204" pitchFamily="18" charset="0"/>
                          </a:rPr>
                          <m:t>/</m:t>
                        </m:r>
                        <m:r>
                          <a:rPr lang="en-IN" sz="2800" i="1">
                            <a:solidFill>
                              <a:srgbClr val="15803D"/>
                            </a:solidFill>
                            <a:latin typeface="Cambria Math" panose="02040503050406030204" pitchFamily="18" charset="0"/>
                          </a:rPr>
                          <m:t>3</m:t>
                        </m:r>
                      </m:sup>
                    </m:sSup>
                  </m:oMath>
                </a14:m>
                <a:endParaRPr sz="2800">
                  <a:solidFill>
                    <a:srgbClr val="15803D"/>
                  </a:solidFill>
                </a:endParaRPr>
              </a:p>
            </p:txBody>
          </p:sp>
        </mc:Choice>
        <mc:Fallback>
          <p:sp>
            <p:nvSpPr>
              <p:cNvPr id="5" name="Rounded Rectangle 4"/>
              <p:cNvSpPr/>
              <p:nvPr/>
            </p:nvSpPr>
            <p:spPr>
              <a:xfrm>
                <a:off x="731520" y="5897880"/>
                <a:ext cx="10725912" cy="777240"/>
              </a:xfrm>
              <a:prstGeom prst="roundRect">
                <a:avLst>
                  <a:gd name="adj" fmla="val 8000"/>
                </a:avLst>
              </a:prstGeom>
              <a:solidFill>
                <a:srgbClr val="DCFCE7"/>
              </a:solidFill>
              <a:ln w="25400">
                <a:solidFill>
                  <a:srgbClr val="15803D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5803D"/>
              </a:fontRef>
            </p:style>
            <p:txBody>
              <a:bodyPr rtlCol="0" anchor="ctr" wrap="square" lIns="228600" rIns="228600" tIns="18288" bIns="73152"/>
              <a:lstStyle>
                <a:lvl1pPr>
                  <a:defRPr sz="2800">
                    <a:solidFill>
                      <a:srgbClr val="15803D"/>
                    </a:solidFill>
                  </a:defRPr>
                </a:lvl1pPr>
              </a:lstStyle>
              <a:p>
                <a:pPr algn="ctr">
                  <a:defRPr sz="2800">
                    <a:solidFill>
                      <a:srgbClr val="15803D"/>
                    </a:solidFill>
                  </a:defRPr>
                </a:pPr>
                <a:r>
                  <a:rPr sz="2800" b="1">
                    <a:solidFill>
                      <a:srgbClr val="15803D"/>
                    </a:solidFill>
                    <a:latin typeface="Arial"/>
                  </a:rPr>
                  <a:t>Correct Answer: Shown: </a:t>
                </a:r>
                <a:r>
                  <a:rPr lang="en-IN" sz="2800">
                    <a:solidFill>
                      <a:srgbClr val="15803D"/>
                    </a:solidFill>
                    <a:latin typeface="Cambria Math" panose="02040503050406030204" pitchFamily="18" charset="0"/>
                  </a:rPr>
                  <a:t>$R^{2/3}=\left(\frac{d^2y}{dx^2}\right)^{-2/3}+\left(\frac{d^2x}{dy^2}\right)^{-2/3}$</a:t>
                </a:r>
                <a:endParaRPr sz="2800">
                  <a:solidFill>
                    <a:srgbClr val="15803D"/>
                  </a:solidFill>
                </a:endParaRPr>
              </a:p>
            </p:txBody>
          </p:sp>
        </mc:Fallback>
      </mc:AlternateContent>
    </p:spTree>
  </p:cSld>
  <p:clrMapOvr>
    <a:masterClrMapping/>
  </p:clrMapOvr>
</p:sld>
</file>

<file path=ppt/slides/slide4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FFFFFF"/>
          </a:fontRef>
        </p:style>
        <p:txBody>
          <a:bodyPr rtlCol="0" anchor="ctr" lIns="731520"/>
          <a:lstStyle>
            <a:lvl1pPr>
              <a:defRPr sz="3200">
                <a:solidFill>
                  <a:srgbClr val="FFFFFF"/>
                </a:solidFill>
              </a:defRPr>
            </a:lvl1pPr>
          </a:lstStyle>
          <a:p>
            <a:pPr algn="l">
              <a:defRPr sz="3200">
                <a:solidFill>
                  <a:srgbClr val="FFFFFF"/>
                </a:solidFill>
              </a:defRPr>
            </a:pPr>
            <a:r>
              <a:rPr sz="3200" b="1">
                <a:solidFill>
                  <a:srgbClr val="FFFFFF"/>
                </a:solidFill>
                <a:latin typeface="Arial"/>
              </a:rPr>
              <a:t>Question 07</a:t>
            </a:r>
            <a:endParaRPr sz="3200">
              <a:solidFill>
                <a:srgbClr val="FFFFFF"/>
              </a:solidFill>
            </a:endParaRPr>
          </a:p>
        </p:txBody>
      </p:sp>
      <p:sp>
        <p:nvSpPr>
          <p:cNvPr id="3" name="Rounded Rectangle 2"/>
          <p:cNvSpPr/>
          <p:nvPr/>
        </p:nvSpPr>
        <p:spPr>
          <a:xfrm>
            <a:off x="7894015" y="246887"/>
            <a:ext cx="3840480" cy="603504"/>
          </a:xfrm>
          <a:prstGeom prst="roundRect">
            <a:avLst>
              <a:gd name="adj" fmla="val 50000"/>
            </a:avLst>
          </a:prstGeom>
          <a:solidFill>
            <a:srgbClr val="F6B26B"/>
          </a:solidFill>
          <a:ln w="1905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111827"/>
          </a:fontRef>
        </p:style>
        <p:txBody>
          <a:bodyPr rtlCol="0" anchor="ctr" wrap="square" lIns="228600" rIns="228600" tIns="18288" bIns="18288"/>
          <a:lstStyle>
            <a:lvl1pPr>
              <a:defRPr sz="2400">
                <a:solidFill>
                  <a:srgbClr val="111827"/>
                </a:solidFill>
              </a:defRPr>
            </a:lvl1pPr>
          </a:lstStyle>
          <a:p>
            <a:pPr algn="ctr">
              <a:defRPr sz="2400">
                <a:solidFill>
                  <a:srgbClr val="111827"/>
                </a:solidFill>
              </a:defRPr>
            </a:pPr>
            <a:r>
              <a:rPr sz="2400" b="1">
                <a:solidFill>
                  <a:srgbClr val="111827"/>
                </a:solidFill>
                <a:latin typeface="Arial"/>
              </a:rPr>
              <a:t>Level 3  ·  4 Marks</a:t>
            </a:r>
            <a:endParaRPr sz="2400">
              <a:solidFill>
                <a:srgbClr val="111827"/>
              </a:solidFill>
            </a:endParaRPr>
          </a:p>
        </p:txBody>
      </p:sp>
      <p:sp>
        <p:nvSpPr>
          <p:cNvPr id="4" name="Rounded Rectangle 3"/>
          <p:cNvSpPr/>
          <p:nvPr/>
        </p:nvSpPr>
        <p:spPr>
          <a:xfrm>
            <a:off x="3520440" y="265176"/>
            <a:ext cx="4206240" cy="566928"/>
          </a:xfrm>
          <a:prstGeom prst="roundRect">
            <a:avLst>
              <a:gd name="adj" fmla="val 50000"/>
            </a:avLst>
          </a:prstGeom>
          <a:solidFill>
            <a:srgbClr val="FDE68A"/>
          </a:solidFill>
          <a:ln w="25400">
            <a:solidFill>
              <a:srgbClr val="D9770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78350F"/>
          </a:fontRef>
        </p:style>
        <p:txBody>
          <a:bodyPr rtlCol="0" anchor="ctr" wrap="square" lIns="228600" rIns="228600" tIns="18288" bIns="18288"/>
          <a:lstStyle>
            <a:lvl1pPr>
              <a:defRPr sz="2200">
                <a:solidFill>
                  <a:srgbClr val="78350F"/>
                </a:solidFill>
              </a:defRPr>
            </a:lvl1pPr>
          </a:lstStyle>
          <a:p>
            <a:pPr algn="ctr">
              <a:defRPr sz="2200">
                <a:solidFill>
                  <a:srgbClr val="78350F"/>
                </a:solidFill>
              </a:defRPr>
            </a:pPr>
            <a:r>
              <a:rPr sz="2200" b="1">
                <a:solidFill>
                  <a:srgbClr val="78350F"/>
                </a:solidFill>
                <a:latin typeface="Arial"/>
              </a:rPr>
              <a:t>Alternate Solution</a:t>
            </a:r>
            <a:endParaRPr sz="2200">
              <a:solidFill>
                <a:srgbClr val="78350F"/>
              </a:solidFill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5" name="Rounded Rectangle 4"/>
              <p:cNvSpPr/>
              <p:nvPr/>
            </p:nvSpPr>
            <p:spPr>
              <a:xfrm>
                <a:off x="731520" y="1280160"/>
                <a:ext cx="10725912" cy="1328928"/>
              </a:xfrm>
              <a:prstGeom prst="roundRect">
                <a:avLst>
                  <a:gd name="adj" fmla="val 8000"/>
                </a:avLst>
              </a:prstGeom>
              <a:solidFill>
                <a:srgbClr val="FDE68A"/>
              </a:solidFill>
              <a:ln w="31750">
                <a:solidFill>
                  <a:srgbClr val="D97706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78350F"/>
              </a:fontRef>
            </p:style>
            <p:txBody>
              <a:bodyPr rtlCol="0" anchor="ctr" wrap="square" lIns="228600" rIns="228600" tIns="54864" bIns="73152"/>
              <a:lstStyle>
                <a:lvl1pPr>
                  <a:defRPr sz="2400">
                    <a:solidFill>
                      <a:srgbClr val="78350F"/>
                    </a:solidFill>
                  </a:defRPr>
                </a:lvl1pPr>
              </a:lstStyle>
              <a:p>
                <a:pPr algn="l">
                  <a:defRPr sz="2400">
                    <a:solidFill>
                      <a:srgbClr val="78350F"/>
                    </a:solidFill>
                  </a:defRPr>
                </a:pPr>
                <a:r>
                  <a:rPr sz="2400" b="1">
                    <a:solidFill>
                      <a:srgbClr val="78350F"/>
                    </a:solidFill>
                    <a:latin typeface="Arial"/>
                  </a:rPr>
                  <a:t>Idea:  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Use the inverse-function formula </a:t>
                </a:r>
                <a14:m>
                  <m:oMath xmlns:m="http://schemas.openxmlformats.org/officeDocument/2006/math"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sSup>
                          <m:e>
                            <m:r>
                              <a:rPr lang="en-IN" sz="2400" i="1">
                                <a:solidFill>
                                  <a:srgbClr val="78350F"/>
                                </a:solidFill>
                                <a:latin typeface="Cambria Math" panose="02040503050406030204" pitchFamily="18" charset="0"/>
                              </a:rPr>
                              <m:t>𝑑</m:t>
                            </m:r>
                          </m:e>
                          <m:sup>
                            <m:r>
                              <a:rPr lang="en-IN" sz="2400" i="1">
                                <a:solidFill>
                                  <a:srgbClr val="78350F"/>
                                </a:solidFill>
                                <a:latin typeface="Cambria Math" panose="02040503050406030204" pitchFamily="18" charset="0"/>
                              </a:rPr>
                              <m:t>2</m:t>
                            </m:r>
                          </m:sup>
                        </m:sSup>
                        <m: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𝑑</m:t>
                        </m:r>
                        <m:sSup>
                          <m:e>
                            <m:r>
                              <a:rPr lang="en-IN" sz="2400" i="1">
                                <a:solidFill>
                                  <a:srgbClr val="78350F"/>
                                </a:solidFill>
                                <a:latin typeface="Cambria Math" panose="02040503050406030204" pitchFamily="18" charset="0"/>
                              </a:rPr>
                              <m:t>𝑦</m:t>
                            </m:r>
                          </m:e>
                          <m:sup>
                            <m:r>
                              <a:rPr lang="en-IN" sz="2400" i="1">
                                <a:solidFill>
                                  <a:srgbClr val="78350F"/>
                                </a:solidFill>
                                <a:latin typeface="Cambria Math" panose="02040503050406030204" pitchFamily="18" charset="0"/>
                              </a:rPr>
                              <m:t>2</m:t>
                            </m:r>
                          </m:sup>
                        </m:sSup>
                      </m:den>
                    </m:f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−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sSup>
                          <m:e>
                            <m:r>
                              <a:rPr lang="en-IN" sz="2400" i="1">
                                <a:solidFill>
                                  <a:srgbClr val="78350F"/>
                                </a:solidFill>
                                <a:latin typeface="Cambria Math" panose="02040503050406030204" pitchFamily="18" charset="0"/>
                              </a:rPr>
                              <m:t>𝑦</m:t>
                            </m:r>
                          </m:e>
                          <m:sup>
                            <m:r>
                              <m:rPr>
                                <m:sty m:val="p"/>
                              </m:rPr>
                              <a:rPr lang="en-IN" sz="2400">
                                <a:solidFill>
                                  <a:srgbClr val="78350F"/>
                                </a:solidFill>
                                <a:latin typeface="Cambria Math" panose="02040503050406030204" pitchFamily="18" charset="0"/>
                              </a:rPr>
                              <m:t>″</m:t>
                            </m:r>
                          </m:sup>
                        </m:sSup>
                      </m:num>
                      <m:den>
                        <m:sSup>
                          <m:e>
                            <m:r>
                              <a:rPr lang="en-IN" sz="2400" i="1">
                                <a:solidFill>
                                  <a:srgbClr val="78350F"/>
                                </a:solidFill>
                                <a:latin typeface="Cambria Math" panose="02040503050406030204" pitchFamily="18" charset="0"/>
                              </a:rPr>
                              <m:t>𝑦</m:t>
                            </m:r>
                          </m:e>
                          <m:sup>
                            <m:r>
                              <m:rPr>
                                <m:sty m:val="p"/>
                              </m:rPr>
                              <a:rPr lang="en-IN" sz="2400">
                                <a:solidFill>
                                  <a:srgbClr val="78350F"/>
                                </a:solidFill>
                                <a:latin typeface="Cambria Math" panose="02040503050406030204" pitchFamily="18" charset="0"/>
                              </a:rPr>
                              <m:t>′</m:t>
                            </m:r>
                          </m:sup>
                        </m:sSup>
                        <m:sSup>
                          <m:e>
                            <m:r>
                              <a:rPr lang="en-IN" sz="2400" i="1">
                                <a:solidFill>
                                  <a:srgbClr val="78350F"/>
                                </a:solidFill>
                                <a:latin typeface="Cambria Math" panose="02040503050406030204" pitchFamily="18" charset="0"/>
                              </a:rPr>
                              <m:t>​</m:t>
                            </m:r>
                          </m:e>
                          <m:sup>
                            <m:r>
                              <a:rPr lang="en-IN" sz="2400" i="1">
                                <a:solidFill>
                                  <a:srgbClr val="78350F"/>
                                </a:solidFill>
                                <a:latin typeface="Cambria Math" panose="02040503050406030204" pitchFamily="18" charset="0"/>
                              </a:rPr>
                              <m:t>3</m:t>
                            </m:r>
                          </m:sup>
                        </m:sSup>
                      </m:den>
                    </m:f>
                  </m:oMath>
                </a14:m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; then both terms share the factor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(</m:t>
                    </m:r>
                    <m:sSup>
                      <m:e>
                        <m: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𝑦</m:t>
                        </m:r>
                      </m:e>
                      <m:sup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″</m:t>
                        </m:r>
                      </m:sup>
                    </m:sSup>
                    <m:sSup>
                      <m:e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)</m:t>
                        </m:r>
                      </m:e>
                      <m:sup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−</m:t>
                        </m:r>
                        <m: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/</m:t>
                        </m:r>
                        <m: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3</m:t>
                        </m:r>
                      </m:sup>
                    </m:sSup>
                  </m:oMath>
                </a14:m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.</a:t>
                </a:r>
                <a:endParaRPr sz="2400">
                  <a:solidFill>
                    <a:srgbClr val="78350F"/>
                  </a:solidFill>
                </a:endParaRPr>
              </a:p>
            </p:txBody>
          </p:sp>
        </mc:Choice>
        <mc:Fallback>
          <p:sp>
            <p:nvSpPr>
              <p:cNvPr id="5" name="Rounded Rectangle 4"/>
              <p:cNvSpPr/>
              <p:nvPr/>
            </p:nvSpPr>
            <p:spPr>
              <a:xfrm>
                <a:off x="731520" y="1280160"/>
                <a:ext cx="10725912" cy="1328928"/>
              </a:xfrm>
              <a:prstGeom prst="roundRect">
                <a:avLst>
                  <a:gd name="adj" fmla="val 8000"/>
                </a:avLst>
              </a:prstGeom>
              <a:solidFill>
                <a:srgbClr val="FDE68A"/>
              </a:solidFill>
              <a:ln w="31750">
                <a:solidFill>
                  <a:srgbClr val="D97706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78350F"/>
              </a:fontRef>
            </p:style>
            <p:txBody>
              <a:bodyPr rtlCol="0" anchor="ctr" wrap="square" lIns="228600" rIns="228600" tIns="54864" bIns="73152"/>
              <a:lstStyle>
                <a:lvl1pPr>
                  <a:defRPr sz="2400">
                    <a:solidFill>
                      <a:srgbClr val="78350F"/>
                    </a:solidFill>
                  </a:defRPr>
                </a:lvl1pPr>
              </a:lstStyle>
              <a:p>
                <a:pPr algn="l">
                  <a:defRPr sz="2400">
                    <a:solidFill>
                      <a:srgbClr val="78350F"/>
                    </a:solidFill>
                  </a:defRPr>
                </a:pPr>
                <a:r>
                  <a:rPr sz="2400" b="1">
                    <a:solidFill>
                      <a:srgbClr val="78350F"/>
                    </a:solidFill>
                    <a:latin typeface="Arial"/>
                  </a:rPr>
                  <a:t>Idea:  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Use the inverse-function formula </a:t>
                </a:r>
                <a:r>
                  <a:rPr lang="en-IN" sz="2400">
                    <a:solidFill>
                      <a:srgbClr val="78350F"/>
                    </a:solidFill>
                    <a:latin typeface="Cambria Math" panose="02040503050406030204" pitchFamily="18" charset="0"/>
                  </a:rPr>
                  <a:t>$\frac{d^2x}{dy^2}=-\frac{y''}{y'^3}$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; then both terms share the factor </a:t>
                </a:r>
                <a:r>
                  <a:rPr lang="en-IN" sz="2400">
                    <a:solidFill>
                      <a:srgbClr val="78350F"/>
                    </a:solidFill>
                    <a:latin typeface="Cambria Math" panose="02040503050406030204" pitchFamily="18" charset="0"/>
                  </a:rPr>
                  <a:t>$(y'')^{-2/3}$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.</a:t>
                </a:r>
                <a:endParaRPr sz="2400">
                  <a:solidFill>
                    <a:srgbClr val="78350F"/>
                  </a:solidFill>
                </a:endParaRP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6" name="Rectangle 5"/>
              <p:cNvSpPr/>
              <p:nvPr/>
            </p:nvSpPr>
            <p:spPr>
              <a:xfrm>
                <a:off x="731520" y="2746248"/>
                <a:ext cx="10725912" cy="3928872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For the inverse function, </a:t>
                </a:r>
                <a14:m>
                  <m:oMath xmlns:m="http://schemas.openxmlformats.org/officeDocument/2006/math"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𝑑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𝑑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𝑦</m:t>
                        </m:r>
                      </m:den>
                    </m:f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num>
                      <m:den>
                        <m:sSup>
                          <m:e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𝑦</m:t>
                            </m:r>
                          </m:e>
                          <m:sup>
                            <m:r>
                              <m:rPr>
                                <m:sty m:val="p"/>
                              </m:rPr>
                              <a:rPr lang="en-IN" sz="2400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′</m:t>
                            </m:r>
                          </m:sup>
                        </m:sSup>
                      </m:den>
                    </m:f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and </a:t>
                </a:r>
                <a14:m>
                  <m:oMath xmlns:m="http://schemas.openxmlformats.org/officeDocument/2006/math"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sSup>
                          <m:e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𝑑</m:t>
                            </m:r>
                          </m:e>
                          <m:sup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2</m:t>
                            </m:r>
                          </m:sup>
                        </m:s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𝑑</m:t>
                        </m:r>
                        <m:sSup>
                          <m:e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𝑦</m:t>
                            </m:r>
                          </m:e>
                          <m:sup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2</m:t>
                            </m:r>
                          </m:sup>
                        </m:sSup>
                      </m:den>
                    </m:f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𝑑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𝑑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</m:den>
                    </m:f>
                    <m:d>
                      <m:dPr>
                        <m:begChr m:val="("/>
                        <m:sepChr m:val=""/>
                        <m:endChr m:val=")"/>
                        <m:grow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f>
                          <m:fPr>
                            <m:type m:val="bar"/>
                            <m:ctrlP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fPr>
                          <m:num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1</m:t>
                            </m:r>
                          </m:num>
                          <m:den>
                            <m:sSup>
                              <m:e>
                                <m:r>
                                  <a:rPr lang="en-IN" sz="2400" i="1">
                                    <a:solidFill>
                                      <a:srgbClr val="111827"/>
                                    </a:solidFill>
                                    <a:latin typeface="Cambria Math" panose="02040503050406030204" pitchFamily="18" charset="0"/>
                                  </a:rPr>
                                  <m:t>𝑦</m:t>
                                </m:r>
                              </m:e>
                              <m:sup>
                                <m:r>
                                  <m:rPr>
                                    <m:sty m:val="p"/>
                                  </m:rPr>
                                  <a:rPr lang="en-IN" sz="2400">
                                    <a:solidFill>
                                      <a:srgbClr val="111827"/>
                                    </a:solidFill>
                                    <a:latin typeface="Cambria Math" panose="02040503050406030204" pitchFamily="18" charset="0"/>
                                  </a:rPr>
                                  <m:t>′</m:t>
                                </m:r>
                              </m:sup>
                            </m:sSup>
                          </m:den>
                        </m:f>
                      </m:e>
                    </m:d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⋅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𝑑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𝑑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𝑦</m:t>
                        </m:r>
                      </m:den>
                    </m:f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sSup>
                          <m:e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𝑦</m:t>
                            </m:r>
                          </m:e>
                          <m:sup>
                            <m:r>
                              <m:rPr>
                                <m:sty m:val="p"/>
                              </m:rPr>
                              <a:rPr lang="en-IN" sz="2400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″</m:t>
                            </m:r>
                          </m:sup>
                        </m:sSup>
                      </m:num>
                      <m:den>
                        <m:sSup>
                          <m:e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𝑦</m:t>
                            </m:r>
                          </m:e>
                          <m:sup>
                            <m:r>
                              <m:rPr>
                                <m:sty m:val="p"/>
                              </m:rPr>
                              <a:rPr lang="en-IN" sz="2400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′</m:t>
                            </m:r>
                          </m:sup>
                        </m:sSup>
                        <m:sSup>
                          <m:e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​</m:t>
                            </m:r>
                          </m:e>
                          <m:sup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2</m:t>
                            </m:r>
                          </m:sup>
                        </m:sSup>
                      </m:den>
                    </m:f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⋅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num>
                      <m:den>
                        <m:sSup>
                          <m:e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𝑦</m:t>
                            </m:r>
                          </m:e>
                          <m:sup>
                            <m:r>
                              <m:rPr>
                                <m:sty m:val="p"/>
                              </m:rPr>
                              <a:rPr lang="en-IN" sz="2400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′</m:t>
                            </m:r>
                          </m:sup>
                        </m:sSup>
                      </m:den>
                    </m:f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sSup>
                          <m:e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𝑦</m:t>
                            </m:r>
                          </m:e>
                          <m:sup>
                            <m:r>
                              <m:rPr>
                                <m:sty m:val="p"/>
                              </m:rPr>
                              <a:rPr lang="en-IN" sz="2400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″</m:t>
                            </m:r>
                          </m:sup>
                        </m:sSup>
                      </m:num>
                      <m:den>
                        <m:sSup>
                          <m:e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𝑦</m:t>
                            </m:r>
                          </m:e>
                          <m:sup>
                            <m:r>
                              <m:rPr>
                                <m:sty m:val="p"/>
                              </m:rPr>
                              <a:rPr lang="en-IN" sz="2400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′</m:t>
                            </m:r>
                          </m:sup>
                        </m:sSup>
                        <m:sSup>
                          <m:e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​</m:t>
                            </m:r>
                          </m:e>
                          <m:sup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3</m:t>
                            </m:r>
                          </m:sup>
                        </m:sSup>
                      </m:den>
                    </m:f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With real cube roots, </a:t>
                </a:r>
                <a14:m>
                  <m:oMath xmlns:m="http://schemas.openxmlformats.org/officeDocument/2006/math">
                    <m:sSup>
                      <m:e>
                        <m:d>
                          <m:dPr>
                            <m:begChr m:val="("/>
                            <m:sepChr m:val=""/>
                            <m:endChr m:val=")"/>
                            <m:grow/>
                            <m:ctrlP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f>
                              <m:fPr>
                                <m:type m:val="bar"/>
                                <m:ctrlPr>
                                  <a:rPr lang="en-IN" sz="2400" i="1">
                                    <a:solidFill>
                                      <a:srgbClr val="111827"/>
                                    </a:solidFill>
                                    <a:latin typeface="Cambria Math" panose="02040503050406030204" pitchFamily="18" charset="0"/>
                                  </a:rPr>
                                </m:ctrlPr>
                              </m:fPr>
                              <m:num>
                                <m:sSup>
                                  <m:e>
                                    <m:r>
                                      <a:rPr lang="en-IN" sz="2400" i="1">
                                        <a:solidFill>
                                          <a:srgbClr val="111827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𝑑</m:t>
                                    </m:r>
                                  </m:e>
                                  <m:sup>
                                    <m:r>
                                      <a:rPr lang="en-IN" sz="2400" i="1">
                                        <a:solidFill>
                                          <a:srgbClr val="111827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2</m:t>
                                    </m:r>
                                  </m:sup>
                                </m:sSup>
                                <m:r>
                                  <a:rPr lang="en-IN" sz="2400" i="1">
                                    <a:solidFill>
                                      <a:srgbClr val="111827"/>
                                    </a:solidFill>
                                    <a:latin typeface="Cambria Math" panose="02040503050406030204" pitchFamily="18" charset="0"/>
                                  </a:rPr>
                                  <m:t>𝑥</m:t>
                                </m:r>
                              </m:num>
                              <m:den>
                                <m:r>
                                  <a:rPr lang="en-IN" sz="2400" i="1">
                                    <a:solidFill>
                                      <a:srgbClr val="111827"/>
                                    </a:solidFill>
                                    <a:latin typeface="Cambria Math" panose="02040503050406030204" pitchFamily="18" charset="0"/>
                                  </a:rPr>
                                  <m:t>𝑑</m:t>
                                </m:r>
                                <m:sSup>
                                  <m:e>
                                    <m:r>
                                      <a:rPr lang="en-IN" sz="2400" i="1">
                                        <a:solidFill>
                                          <a:srgbClr val="111827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𝑦</m:t>
                                    </m:r>
                                  </m:e>
                                  <m:sup>
                                    <m:r>
                                      <a:rPr lang="en-IN" sz="2400" i="1">
                                        <a:solidFill>
                                          <a:srgbClr val="111827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2</m:t>
                                    </m:r>
                                  </m:sup>
                                </m:sSup>
                              </m:den>
                            </m:f>
                          </m:e>
                        </m:d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/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3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(</m:t>
                        </m:r>
                        <m:sSup>
                          <m:e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𝑦</m:t>
                            </m:r>
                          </m:e>
                          <m:sup>
                            <m:r>
                              <m:rPr>
                                <m:sty m:val="p"/>
                              </m:rPr>
                              <a:rPr lang="en-IN" sz="2400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″</m:t>
                            </m:r>
                          </m:sup>
                        </m:sSup>
                        <m:sSup>
                          <m:e>
                            <m:r>
                              <m:rPr>
                                <m:sty m:val="p"/>
                              </m:rPr>
                              <a:rPr lang="en-IN" sz="2400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)</m:t>
                            </m:r>
                          </m:e>
                          <m:sup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2</m:t>
                            </m:r>
                            <m:r>
                              <m:rPr>
                                <m:sty m:val="p"/>
                              </m:rPr>
                              <a:rPr lang="en-IN" sz="2400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/</m:t>
                            </m:r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3</m:t>
                            </m:r>
                          </m:sup>
                        </m:sSup>
                      </m:num>
                      <m:den>
                        <m:sSup>
                          <m:e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𝑦</m:t>
                            </m:r>
                          </m:e>
                          <m:sup>
                            <m:r>
                              <m:rPr>
                                <m:sty m:val="p"/>
                              </m:rPr>
                              <a:rPr lang="en-IN" sz="2400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′</m:t>
                            </m:r>
                          </m:sup>
                        </m:sSup>
                        <m:sSup>
                          <m:e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​</m:t>
                            </m:r>
                          </m:e>
                          <m:sup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2</m:t>
                            </m:r>
                          </m:sup>
                        </m:sSup>
                      </m:den>
                    </m:f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Choice>
        <mc:Fallback>
          <p:sp>
            <p:nvSpPr>
              <p:cNvPr id="6" name="Rectangle 5"/>
              <p:cNvSpPr/>
              <p:nvPr/>
            </p:nvSpPr>
            <p:spPr>
              <a:xfrm>
                <a:off x="731520" y="2746248"/>
                <a:ext cx="10725912" cy="3928872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For the inverse function,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$\frac{dx}{dy}=\frac1{y'}$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and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$\frac{d^2x}{dy^2}=\frac{d}{dx}\left(\frac1{y'}\right)\cdot\frac{dx}{dy}=-\frac{y''}{y'^2}\cdot\frac1{y'}=-\frac{y''}{y'^3}$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With real cube roots,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$\left(\frac{d^2x}{dy^2}\right)^{2/3}=\frac{(y'')^{2/3}}{y'^2}$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Fallback>
      </mc:AlternateContent>
    </p:spTree>
  </p:cSld>
  <p:clrMapOvr>
    <a:masterClrMapping/>
  </p:clrMapOvr>
</p:sld>
</file>

<file path=ppt/slides/slide4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FFFFFF"/>
          </a:fontRef>
        </p:style>
        <p:txBody>
          <a:bodyPr rtlCol="0" anchor="ctr" lIns="731520"/>
          <a:lstStyle>
            <a:lvl1pPr>
              <a:defRPr sz="3200">
                <a:solidFill>
                  <a:srgbClr val="FFFFFF"/>
                </a:solidFill>
              </a:defRPr>
            </a:lvl1pPr>
          </a:lstStyle>
          <a:p>
            <a:pPr algn="l">
              <a:defRPr sz="3200">
                <a:solidFill>
                  <a:srgbClr val="FFFFFF"/>
                </a:solidFill>
              </a:defRPr>
            </a:pPr>
            <a:r>
              <a:rPr sz="3200" b="1">
                <a:solidFill>
                  <a:srgbClr val="FFFFFF"/>
                </a:solidFill>
                <a:latin typeface="Arial"/>
              </a:rPr>
              <a:t>Question 07</a:t>
            </a:r>
            <a:endParaRPr sz="3200">
              <a:solidFill>
                <a:srgbClr val="FFFFFF"/>
              </a:solidFill>
            </a:endParaRPr>
          </a:p>
        </p:txBody>
      </p:sp>
      <p:sp>
        <p:nvSpPr>
          <p:cNvPr id="3" name="Rounded Rectangle 2"/>
          <p:cNvSpPr/>
          <p:nvPr/>
        </p:nvSpPr>
        <p:spPr>
          <a:xfrm>
            <a:off x="7894015" y="246887"/>
            <a:ext cx="3840480" cy="603504"/>
          </a:xfrm>
          <a:prstGeom prst="roundRect">
            <a:avLst>
              <a:gd name="adj" fmla="val 50000"/>
            </a:avLst>
          </a:prstGeom>
          <a:solidFill>
            <a:srgbClr val="F6B26B"/>
          </a:solidFill>
          <a:ln w="1905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111827"/>
          </a:fontRef>
        </p:style>
        <p:txBody>
          <a:bodyPr rtlCol="0" anchor="ctr" wrap="square" lIns="228600" rIns="228600" tIns="18288" bIns="18288"/>
          <a:lstStyle>
            <a:lvl1pPr>
              <a:defRPr sz="2400">
                <a:solidFill>
                  <a:srgbClr val="111827"/>
                </a:solidFill>
              </a:defRPr>
            </a:lvl1pPr>
          </a:lstStyle>
          <a:p>
            <a:pPr algn="ctr">
              <a:defRPr sz="2400">
                <a:solidFill>
                  <a:srgbClr val="111827"/>
                </a:solidFill>
              </a:defRPr>
            </a:pPr>
            <a:r>
              <a:rPr sz="2400" b="1">
                <a:solidFill>
                  <a:srgbClr val="111827"/>
                </a:solidFill>
                <a:latin typeface="Arial"/>
              </a:rPr>
              <a:t>Level 3  ·  4 Marks</a:t>
            </a:r>
            <a:endParaRPr sz="2400">
              <a:solidFill>
                <a:srgbClr val="111827"/>
              </a:solidFill>
            </a:endParaRPr>
          </a:p>
        </p:txBody>
      </p:sp>
      <p:sp>
        <p:nvSpPr>
          <p:cNvPr id="4" name="Rounded Rectangle 3"/>
          <p:cNvSpPr/>
          <p:nvPr/>
        </p:nvSpPr>
        <p:spPr>
          <a:xfrm>
            <a:off x="3520440" y="265176"/>
            <a:ext cx="4206240" cy="566928"/>
          </a:xfrm>
          <a:prstGeom prst="roundRect">
            <a:avLst>
              <a:gd name="adj" fmla="val 50000"/>
            </a:avLst>
          </a:prstGeom>
          <a:solidFill>
            <a:srgbClr val="FDE68A"/>
          </a:solidFill>
          <a:ln w="25400">
            <a:solidFill>
              <a:srgbClr val="D9770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78350F"/>
          </a:fontRef>
        </p:style>
        <p:txBody>
          <a:bodyPr rtlCol="0" anchor="ctr" wrap="square" lIns="228600" rIns="228600" tIns="18288" bIns="18288"/>
          <a:lstStyle>
            <a:lvl1pPr>
              <a:defRPr sz="2200">
                <a:solidFill>
                  <a:srgbClr val="78350F"/>
                </a:solidFill>
              </a:defRPr>
            </a:lvl1pPr>
          </a:lstStyle>
          <a:p>
            <a:pPr algn="ctr">
              <a:defRPr sz="2200">
                <a:solidFill>
                  <a:srgbClr val="78350F"/>
                </a:solidFill>
              </a:defRPr>
            </a:pPr>
            <a:r>
              <a:rPr sz="2200" b="1">
                <a:solidFill>
                  <a:srgbClr val="78350F"/>
                </a:solidFill>
                <a:latin typeface="Arial"/>
              </a:rPr>
              <a:t>Alternate Solution</a:t>
            </a:r>
            <a:endParaRPr sz="2200">
              <a:solidFill>
                <a:srgbClr val="78350F"/>
              </a:solidFill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5" name="Rectangle 4"/>
              <p:cNvSpPr/>
              <p:nvPr/>
            </p:nvSpPr>
            <p:spPr>
              <a:xfrm>
                <a:off x="731520" y="1353312"/>
                <a:ext cx="10725912" cy="4434840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So </a:t>
                </a:r>
                <a14:m>
                  <m:oMath xmlns:m="http://schemas.openxmlformats.org/officeDocument/2006/math"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num>
                      <m:den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(</m:t>
                        </m:r>
                        <m:sSup>
                          <m:e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𝑦</m:t>
                            </m:r>
                          </m:e>
                          <m:sup>
                            <m:r>
                              <m:rPr>
                                <m:sty m:val="p"/>
                              </m:rPr>
                              <a:rPr lang="en-IN" sz="2400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″</m:t>
                            </m:r>
                          </m:sup>
                        </m:sSup>
                        <m:sSup>
                          <m:e>
                            <m:r>
                              <m:rPr>
                                <m:sty m:val="p"/>
                              </m:rPr>
                              <a:rPr lang="en-IN" sz="2400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)</m:t>
                            </m:r>
                          </m:e>
                          <m:sup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2</m:t>
                            </m:r>
                            <m:r>
                              <m:rPr>
                                <m:sty m:val="p"/>
                              </m:rPr>
                              <a:rPr lang="en-IN" sz="2400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/</m:t>
                            </m:r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3</m:t>
                            </m:r>
                          </m:sup>
                        </m:sSup>
                      </m:den>
                    </m:f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num>
                      <m:den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(</m:t>
                        </m:r>
                        <m:sSub>
                          <m:e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𝑥</m:t>
                            </m:r>
                          </m:e>
                          <m:sub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𝑦</m:t>
                            </m:r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𝑦</m:t>
                            </m:r>
                          </m:sub>
                        </m:sSub>
                        <m:sSup>
                          <m:e>
                            <m:r>
                              <m:rPr>
                                <m:sty m:val="p"/>
                              </m:rPr>
                              <a:rPr lang="en-IN" sz="2400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)</m:t>
                            </m:r>
                          </m:e>
                          <m:sup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2</m:t>
                            </m:r>
                            <m:r>
                              <m:rPr>
                                <m:sty m:val="p"/>
                              </m:rPr>
                              <a:rPr lang="en-IN" sz="2400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/</m:t>
                            </m:r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3</m:t>
                            </m:r>
                          </m:sup>
                        </m:sSup>
                      </m:den>
                    </m:f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num>
                      <m:den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(</m:t>
                        </m:r>
                        <m:sSup>
                          <m:e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𝑦</m:t>
                            </m:r>
                          </m:e>
                          <m:sup>
                            <m:r>
                              <m:rPr>
                                <m:sty m:val="p"/>
                              </m:rPr>
                              <a:rPr lang="en-IN" sz="2400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″</m:t>
                            </m:r>
                          </m:sup>
                        </m:sSup>
                        <m:sSup>
                          <m:e>
                            <m:r>
                              <m:rPr>
                                <m:sty m:val="p"/>
                              </m:rPr>
                              <a:rPr lang="en-IN" sz="2400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)</m:t>
                            </m:r>
                          </m:e>
                          <m:sup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2</m:t>
                            </m:r>
                            <m:r>
                              <m:rPr>
                                <m:sty m:val="p"/>
                              </m:rPr>
                              <a:rPr lang="en-IN" sz="2400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/</m:t>
                            </m:r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3</m:t>
                            </m:r>
                          </m:sup>
                        </m:sSup>
                      </m:den>
                    </m:f>
                    <m:d>
                      <m:dPr>
                        <m:begChr m:val="("/>
                        <m:sepChr m:val=""/>
                        <m:endChr m:val=")"/>
                        <m:grow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+</m:t>
                        </m:r>
                        <m:sSup>
                          <m:e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𝑦</m:t>
                            </m:r>
                          </m:e>
                          <m:sup>
                            <m:r>
                              <m:rPr>
                                <m:sty m:val="p"/>
                              </m:rPr>
                              <a:rPr lang="en-IN" sz="2400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′</m:t>
                            </m:r>
                          </m:sup>
                        </m:sSup>
                        <m:sSup>
                          <m:e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​</m:t>
                            </m:r>
                          </m:e>
                          <m:sup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2</m:t>
                            </m:r>
                          </m:sup>
                        </m:sSup>
                      </m:e>
                    </m:d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+</m:t>
                        </m:r>
                        <m:sSup>
                          <m:e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𝑦</m:t>
                            </m:r>
                          </m:e>
                          <m:sup>
                            <m:r>
                              <m:rPr>
                                <m:sty m:val="p"/>
                              </m:rPr>
                              <a:rPr lang="en-IN" sz="2400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′</m:t>
                            </m:r>
                          </m:sup>
                        </m:sSup>
                        <m:sSup>
                          <m:e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​</m:t>
                            </m:r>
                          </m:e>
                          <m:sup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2</m:t>
                            </m:r>
                          </m:sup>
                        </m:sSup>
                      </m:num>
                      <m:den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(</m:t>
                        </m:r>
                        <m:sSup>
                          <m:e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𝑦</m:t>
                            </m:r>
                          </m:e>
                          <m:sup>
                            <m:r>
                              <m:rPr>
                                <m:sty m:val="p"/>
                              </m:rPr>
                              <a:rPr lang="en-IN" sz="2400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″</m:t>
                            </m:r>
                          </m:sup>
                        </m:sSup>
                        <m:sSup>
                          <m:e>
                            <m:r>
                              <m:rPr>
                                <m:sty m:val="p"/>
                              </m:rPr>
                              <a:rPr lang="en-IN" sz="2400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)</m:t>
                            </m:r>
                          </m:e>
                          <m:sup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2</m:t>
                            </m:r>
                            <m:r>
                              <m:rPr>
                                <m:sty m:val="p"/>
                              </m:rPr>
                              <a:rPr lang="en-IN" sz="2400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/</m:t>
                            </m:r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3</m:t>
                            </m:r>
                          </m:sup>
                        </m:sSup>
                      </m:den>
                    </m:f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And </a:t>
                </a:r>
                <a14:m>
                  <m:oMath xmlns:m="http://schemas.openxmlformats.org/officeDocument/2006/math"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𝑅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/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3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sSup>
                          <m:e>
                            <m:d>
                              <m:dPr>
                                <m:begChr m:val="["/>
                                <m:sepChr m:val=""/>
                                <m:endChr m:val="]"/>
                                <m:grow/>
                                <m:ctrlPr>
                                  <a:rPr lang="en-IN" sz="2400" i="1">
                                    <a:solidFill>
                                      <a:srgbClr val="111827"/>
                                    </a:solidFill>
                                    <a:latin typeface="Cambria Math" panose="02040503050406030204" pitchFamily="18" charset="0"/>
                                  </a:rPr>
                                </m:ctrlPr>
                              </m:dPr>
                              <m:e>
                                <m:r>
                                  <m:rPr>
                                    <m:sty m:val="p"/>
                                  </m:rPr>
                                  <a:rPr lang="en-IN" sz="2400">
                                    <a:solidFill>
                                      <a:srgbClr val="111827"/>
                                    </a:solidFill>
                                    <a:latin typeface="Cambria Math" panose="02040503050406030204" pitchFamily="18" charset="0"/>
                                  </a:rPr>
                                  <m:t>(</m:t>
                                </m:r>
                                <m:r>
                                  <a:rPr lang="en-IN" sz="2400" i="1">
                                    <a:solidFill>
                                      <a:srgbClr val="111827"/>
                                    </a:solidFill>
                                    <a:latin typeface="Cambria Math" panose="02040503050406030204" pitchFamily="18" charset="0"/>
                                  </a:rPr>
                                  <m:t>1</m:t>
                                </m:r>
                                <m:r>
                                  <m:rPr>
                                    <m:sty m:val="p"/>
                                  </m:rPr>
                                  <a:rPr lang="en-IN" sz="2400">
                                    <a:solidFill>
                                      <a:srgbClr val="111827"/>
                                    </a:solidFill>
                                    <a:latin typeface="Cambria Math" panose="02040503050406030204" pitchFamily="18" charset="0"/>
                                  </a:rPr>
                                  <m:t>+</m:t>
                                </m:r>
                                <m:sSup>
                                  <m:e>
                                    <m:r>
                                      <a:rPr lang="en-IN" sz="2400" i="1">
                                        <a:solidFill>
                                          <a:srgbClr val="111827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𝑦</m:t>
                                    </m:r>
                                  </m:e>
                                  <m:sup>
                                    <m:r>
                                      <m:rPr>
                                        <m:sty m:val="p"/>
                                      </m:rPr>
                                      <a:rPr lang="en-IN" sz="2400">
                                        <a:solidFill>
                                          <a:srgbClr val="111827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′</m:t>
                                    </m:r>
                                  </m:sup>
                                </m:sSup>
                                <m:sSup>
                                  <m:e>
                                    <m:r>
                                      <a:rPr lang="en-IN" sz="2400" i="1">
                                        <a:solidFill>
                                          <a:srgbClr val="111827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​</m:t>
                                    </m:r>
                                  </m:e>
                                  <m:sup>
                                    <m:r>
                                      <a:rPr lang="en-IN" sz="2400" i="1">
                                        <a:solidFill>
                                          <a:srgbClr val="111827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2</m:t>
                                    </m:r>
                                  </m:sup>
                                </m:sSup>
                                <m:sSup>
                                  <m:e>
                                    <m:r>
                                      <m:rPr>
                                        <m:sty m:val="p"/>
                                      </m:rPr>
                                      <a:rPr lang="en-IN" sz="2400">
                                        <a:solidFill>
                                          <a:srgbClr val="111827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)</m:t>
                                    </m:r>
                                  </m:e>
                                  <m:sup>
                                    <m:r>
                                      <a:rPr lang="en-IN" sz="2400" i="1">
                                        <a:solidFill>
                                          <a:srgbClr val="111827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3</m:t>
                                    </m:r>
                                    <m:r>
                                      <m:rPr>
                                        <m:sty m:val="p"/>
                                      </m:rPr>
                                      <a:rPr lang="en-IN" sz="2400">
                                        <a:solidFill>
                                          <a:srgbClr val="111827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/</m:t>
                                    </m:r>
                                    <m:r>
                                      <a:rPr lang="en-IN" sz="2400" i="1">
                                        <a:solidFill>
                                          <a:srgbClr val="111827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2</m:t>
                                    </m:r>
                                  </m:sup>
                                </m:sSup>
                              </m:e>
                            </m:d>
                          </m:e>
                          <m:sup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2</m:t>
                            </m:r>
                            <m:r>
                              <m:rPr>
                                <m:sty m:val="p"/>
                              </m:rPr>
                              <a:rPr lang="en-IN" sz="2400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/</m:t>
                            </m:r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3</m:t>
                            </m:r>
                          </m:sup>
                        </m:sSup>
                      </m:num>
                      <m:den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(</m:t>
                        </m:r>
                        <m:sSup>
                          <m:e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𝑦</m:t>
                            </m:r>
                          </m:e>
                          <m:sup>
                            <m:r>
                              <m:rPr>
                                <m:sty m:val="p"/>
                              </m:rPr>
                              <a:rPr lang="en-IN" sz="2400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″</m:t>
                            </m:r>
                          </m:sup>
                        </m:sSup>
                        <m:sSup>
                          <m:e>
                            <m:r>
                              <m:rPr>
                                <m:sty m:val="p"/>
                              </m:rPr>
                              <a:rPr lang="en-IN" sz="2400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)</m:t>
                            </m:r>
                          </m:e>
                          <m:sup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2</m:t>
                            </m:r>
                            <m:r>
                              <m:rPr>
                                <m:sty m:val="p"/>
                              </m:rPr>
                              <a:rPr lang="en-IN" sz="2400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/</m:t>
                            </m:r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3</m:t>
                            </m:r>
                          </m:sup>
                        </m:sSup>
                      </m:den>
                    </m:f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+</m:t>
                        </m:r>
                        <m:sSup>
                          <m:e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𝑦</m:t>
                            </m:r>
                          </m:e>
                          <m:sup>
                            <m:r>
                              <m:rPr>
                                <m:sty m:val="p"/>
                              </m:rPr>
                              <a:rPr lang="en-IN" sz="2400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′</m:t>
                            </m:r>
                          </m:sup>
                        </m:sSup>
                        <m:sSup>
                          <m:e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​</m:t>
                            </m:r>
                          </m:e>
                          <m:sup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2</m:t>
                            </m:r>
                          </m:sup>
                        </m:sSup>
                      </m:num>
                      <m:den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(</m:t>
                        </m:r>
                        <m:sSup>
                          <m:e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𝑦</m:t>
                            </m:r>
                          </m:e>
                          <m:sup>
                            <m:r>
                              <m:rPr>
                                <m:sty m:val="p"/>
                              </m:rPr>
                              <a:rPr lang="en-IN" sz="2400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″</m:t>
                            </m:r>
                          </m:sup>
                        </m:sSup>
                        <m:sSup>
                          <m:e>
                            <m:r>
                              <m:rPr>
                                <m:sty m:val="p"/>
                              </m:rPr>
                              <a:rPr lang="en-IN" sz="2400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)</m:t>
                            </m:r>
                          </m:e>
                          <m:sup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2</m:t>
                            </m:r>
                            <m:r>
                              <m:rPr>
                                <m:sty m:val="p"/>
                              </m:rPr>
                              <a:rPr lang="en-IN" sz="2400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/</m:t>
                            </m:r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3</m:t>
                            </m:r>
                          </m:sup>
                        </m:sSup>
                      </m:den>
                    </m:f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 The two expressions are equal.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Choice>
        <mc:Fallback>
          <p:sp>
            <p:nvSpPr>
              <p:cNvPr id="5" name="Rectangle 4"/>
              <p:cNvSpPr/>
              <p:nvPr/>
            </p:nvSpPr>
            <p:spPr>
              <a:xfrm>
                <a:off x="731520" y="1353312"/>
                <a:ext cx="10725912" cy="4434840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So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$\frac1{(y'')^{2/3}}+\frac1{(x_{yy})^{2/3}}=\frac{1}{(y'')^{2/3}}\left(1+y'^2\right)=\frac{1+y'^2}{(y'')^{2/3}}$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And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$R^{2/3}=\frac{\left[(1+y'^2)^{3/2}\right]^{2/3}}{(y'')^{2/3}}=\frac{1+y'^2}{(y'')^{2/3}}$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 The two expressions are equal.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6" name="Rounded Rectangle 5"/>
              <p:cNvSpPr/>
              <p:nvPr/>
            </p:nvSpPr>
            <p:spPr>
              <a:xfrm>
                <a:off x="731520" y="5897880"/>
                <a:ext cx="10725912" cy="777240"/>
              </a:xfrm>
              <a:prstGeom prst="roundRect">
                <a:avLst>
                  <a:gd name="adj" fmla="val 8000"/>
                </a:avLst>
              </a:prstGeom>
              <a:solidFill>
                <a:srgbClr val="DCFCE7"/>
              </a:solidFill>
              <a:ln w="25400">
                <a:solidFill>
                  <a:srgbClr val="15803D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5803D"/>
              </a:fontRef>
            </p:style>
            <p:txBody>
              <a:bodyPr rtlCol="0" anchor="ctr" wrap="square" lIns="228600" rIns="228600" tIns="18288" bIns="73152"/>
              <a:lstStyle>
                <a:lvl1pPr>
                  <a:defRPr sz="2800">
                    <a:solidFill>
                      <a:srgbClr val="15803D"/>
                    </a:solidFill>
                  </a:defRPr>
                </a:lvl1pPr>
              </a:lstStyle>
              <a:p>
                <a:pPr algn="ctr">
                  <a:defRPr sz="2800">
                    <a:solidFill>
                      <a:srgbClr val="15803D"/>
                    </a:solidFill>
                  </a:defRPr>
                </a:pPr>
                <a:r>
                  <a:rPr sz="2800" b="1">
                    <a:solidFill>
                      <a:srgbClr val="15803D"/>
                    </a:solidFill>
                    <a:latin typeface="Arial"/>
                  </a:rPr>
                  <a:t>Same answer: Shown: </a:t>
                </a:r>
                <a14:m>
                  <m:oMath xmlns:m="http://schemas.openxmlformats.org/officeDocument/2006/math">
                    <m:sSup>
                      <m:e>
                        <m:r>
                          <a:rPr lang="en-IN" sz="2800" i="1">
                            <a:solidFill>
                              <a:srgbClr val="15803D"/>
                            </a:solidFill>
                            <a:latin typeface="Cambria Math" panose="02040503050406030204" pitchFamily="18" charset="0"/>
                          </a:rPr>
                          <m:t>𝑅</m:t>
                        </m:r>
                      </m:e>
                      <m:sup>
                        <m:r>
                          <a:rPr lang="en-IN" sz="2800" i="1">
                            <a:solidFill>
                              <a:srgbClr val="15803D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  <m:r>
                          <m:rPr>
                            <m:sty m:val="p"/>
                          </m:rPr>
                          <a:rPr lang="en-IN" sz="2800">
                            <a:solidFill>
                              <a:srgbClr val="15803D"/>
                            </a:solidFill>
                            <a:latin typeface="Cambria Math" panose="02040503050406030204" pitchFamily="18" charset="0"/>
                          </a:rPr>
                          <m:t>/</m:t>
                        </m:r>
                        <m:r>
                          <a:rPr lang="en-IN" sz="2800" i="1">
                            <a:solidFill>
                              <a:srgbClr val="15803D"/>
                            </a:solidFill>
                            <a:latin typeface="Cambria Math" panose="02040503050406030204" pitchFamily="18" charset="0"/>
                          </a:rPr>
                          <m:t>3</m:t>
                        </m:r>
                      </m:sup>
                    </m:sSup>
                    <m:r>
                      <m:rPr>
                        <m:sty m:val="p"/>
                      </m:rPr>
                      <a:rPr lang="en-IN" sz="2800">
                        <a:solidFill>
                          <a:srgbClr val="15803D"/>
                        </a:solidFill>
                        <a:latin typeface="Cambria Math" panose="02040503050406030204" pitchFamily="18" charset="0"/>
                      </a:rPr>
                      <m:t>=</m:t>
                    </m:r>
                    <m:sSup>
                      <m:e>
                        <m:d>
                          <m:dPr>
                            <m:begChr m:val="("/>
                            <m:sepChr m:val=""/>
                            <m:endChr m:val=")"/>
                            <m:grow/>
                            <m:ctrlPr>
                              <a:rPr lang="en-IN" sz="2800" i="1">
                                <a:solidFill>
                                  <a:srgbClr val="15803D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f>
                              <m:fPr>
                                <m:type m:val="bar"/>
                                <m:ctrlPr>
                                  <a:rPr lang="en-IN" sz="2800" i="1">
                                    <a:solidFill>
                                      <a:srgbClr val="15803D"/>
                                    </a:solidFill>
                                    <a:latin typeface="Cambria Math" panose="02040503050406030204" pitchFamily="18" charset="0"/>
                                  </a:rPr>
                                </m:ctrlPr>
                              </m:fPr>
                              <m:num>
                                <m:sSup>
                                  <m:e>
                                    <m:r>
                                      <a:rPr lang="en-IN" sz="2800" i="1">
                                        <a:solidFill>
                                          <a:srgbClr val="15803D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𝑑</m:t>
                                    </m:r>
                                  </m:e>
                                  <m:sup>
                                    <m:r>
                                      <a:rPr lang="en-IN" sz="2800" i="1">
                                        <a:solidFill>
                                          <a:srgbClr val="15803D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2</m:t>
                                    </m:r>
                                  </m:sup>
                                </m:sSup>
                                <m:r>
                                  <a:rPr lang="en-IN" sz="2800" i="1">
                                    <a:solidFill>
                                      <a:srgbClr val="15803D"/>
                                    </a:solidFill>
                                    <a:latin typeface="Cambria Math" panose="02040503050406030204" pitchFamily="18" charset="0"/>
                                  </a:rPr>
                                  <m:t>𝑦</m:t>
                                </m:r>
                              </m:num>
                              <m:den>
                                <m:r>
                                  <a:rPr lang="en-IN" sz="2800" i="1">
                                    <a:solidFill>
                                      <a:srgbClr val="15803D"/>
                                    </a:solidFill>
                                    <a:latin typeface="Cambria Math" panose="02040503050406030204" pitchFamily="18" charset="0"/>
                                  </a:rPr>
                                  <m:t>𝑑</m:t>
                                </m:r>
                                <m:sSup>
                                  <m:e>
                                    <m:r>
                                      <a:rPr lang="en-IN" sz="2800" i="1">
                                        <a:solidFill>
                                          <a:srgbClr val="15803D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𝑥</m:t>
                                    </m:r>
                                  </m:e>
                                  <m:sup>
                                    <m:r>
                                      <a:rPr lang="en-IN" sz="2800" i="1">
                                        <a:solidFill>
                                          <a:srgbClr val="15803D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2</m:t>
                                    </m:r>
                                  </m:sup>
                                </m:sSup>
                              </m:den>
                            </m:f>
                          </m:e>
                        </m:d>
                      </m:e>
                      <m:sup>
                        <m:r>
                          <m:rPr>
                            <m:sty m:val="p"/>
                          </m:rPr>
                          <a:rPr lang="en-IN" sz="2800">
                            <a:solidFill>
                              <a:srgbClr val="15803D"/>
                            </a:solidFill>
                            <a:latin typeface="Cambria Math" panose="02040503050406030204" pitchFamily="18" charset="0"/>
                          </a:rPr>
                          <m:t>−</m:t>
                        </m:r>
                        <m:r>
                          <a:rPr lang="en-IN" sz="2800" i="1">
                            <a:solidFill>
                              <a:srgbClr val="15803D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  <m:r>
                          <m:rPr>
                            <m:sty m:val="p"/>
                          </m:rPr>
                          <a:rPr lang="en-IN" sz="2800">
                            <a:solidFill>
                              <a:srgbClr val="15803D"/>
                            </a:solidFill>
                            <a:latin typeface="Cambria Math" panose="02040503050406030204" pitchFamily="18" charset="0"/>
                          </a:rPr>
                          <m:t>/</m:t>
                        </m:r>
                        <m:r>
                          <a:rPr lang="en-IN" sz="2800" i="1">
                            <a:solidFill>
                              <a:srgbClr val="15803D"/>
                            </a:solidFill>
                            <a:latin typeface="Cambria Math" panose="02040503050406030204" pitchFamily="18" charset="0"/>
                          </a:rPr>
                          <m:t>3</m:t>
                        </m:r>
                      </m:sup>
                    </m:sSup>
                    <m:r>
                      <m:rPr>
                        <m:sty m:val="p"/>
                      </m:rPr>
                      <a:rPr lang="en-IN" sz="2800">
                        <a:solidFill>
                          <a:srgbClr val="15803D"/>
                        </a:solidFill>
                        <a:latin typeface="Cambria Math" panose="02040503050406030204" pitchFamily="18" charset="0"/>
                      </a:rPr>
                      <m:t>+</m:t>
                    </m:r>
                    <m:sSup>
                      <m:e>
                        <m:d>
                          <m:dPr>
                            <m:begChr m:val="("/>
                            <m:sepChr m:val=""/>
                            <m:endChr m:val=")"/>
                            <m:grow/>
                            <m:ctrlPr>
                              <a:rPr lang="en-IN" sz="2800" i="1">
                                <a:solidFill>
                                  <a:srgbClr val="15803D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f>
                              <m:fPr>
                                <m:type m:val="bar"/>
                                <m:ctrlPr>
                                  <a:rPr lang="en-IN" sz="2800" i="1">
                                    <a:solidFill>
                                      <a:srgbClr val="15803D"/>
                                    </a:solidFill>
                                    <a:latin typeface="Cambria Math" panose="02040503050406030204" pitchFamily="18" charset="0"/>
                                  </a:rPr>
                                </m:ctrlPr>
                              </m:fPr>
                              <m:num>
                                <m:sSup>
                                  <m:e>
                                    <m:r>
                                      <a:rPr lang="en-IN" sz="2800" i="1">
                                        <a:solidFill>
                                          <a:srgbClr val="15803D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𝑑</m:t>
                                    </m:r>
                                  </m:e>
                                  <m:sup>
                                    <m:r>
                                      <a:rPr lang="en-IN" sz="2800" i="1">
                                        <a:solidFill>
                                          <a:srgbClr val="15803D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2</m:t>
                                    </m:r>
                                  </m:sup>
                                </m:sSup>
                                <m:r>
                                  <a:rPr lang="en-IN" sz="2800" i="1">
                                    <a:solidFill>
                                      <a:srgbClr val="15803D"/>
                                    </a:solidFill>
                                    <a:latin typeface="Cambria Math" panose="02040503050406030204" pitchFamily="18" charset="0"/>
                                  </a:rPr>
                                  <m:t>𝑥</m:t>
                                </m:r>
                              </m:num>
                              <m:den>
                                <m:r>
                                  <a:rPr lang="en-IN" sz="2800" i="1">
                                    <a:solidFill>
                                      <a:srgbClr val="15803D"/>
                                    </a:solidFill>
                                    <a:latin typeface="Cambria Math" panose="02040503050406030204" pitchFamily="18" charset="0"/>
                                  </a:rPr>
                                  <m:t>𝑑</m:t>
                                </m:r>
                                <m:sSup>
                                  <m:e>
                                    <m:r>
                                      <a:rPr lang="en-IN" sz="2800" i="1">
                                        <a:solidFill>
                                          <a:srgbClr val="15803D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𝑦</m:t>
                                    </m:r>
                                  </m:e>
                                  <m:sup>
                                    <m:r>
                                      <a:rPr lang="en-IN" sz="2800" i="1">
                                        <a:solidFill>
                                          <a:srgbClr val="15803D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2</m:t>
                                    </m:r>
                                  </m:sup>
                                </m:sSup>
                              </m:den>
                            </m:f>
                          </m:e>
                        </m:d>
                      </m:e>
                      <m:sup>
                        <m:r>
                          <m:rPr>
                            <m:sty m:val="p"/>
                          </m:rPr>
                          <a:rPr lang="en-IN" sz="2800">
                            <a:solidFill>
                              <a:srgbClr val="15803D"/>
                            </a:solidFill>
                            <a:latin typeface="Cambria Math" panose="02040503050406030204" pitchFamily="18" charset="0"/>
                          </a:rPr>
                          <m:t>−</m:t>
                        </m:r>
                        <m:r>
                          <a:rPr lang="en-IN" sz="2800" i="1">
                            <a:solidFill>
                              <a:srgbClr val="15803D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  <m:r>
                          <m:rPr>
                            <m:sty m:val="p"/>
                          </m:rPr>
                          <a:rPr lang="en-IN" sz="2800">
                            <a:solidFill>
                              <a:srgbClr val="15803D"/>
                            </a:solidFill>
                            <a:latin typeface="Cambria Math" panose="02040503050406030204" pitchFamily="18" charset="0"/>
                          </a:rPr>
                          <m:t>/</m:t>
                        </m:r>
                        <m:r>
                          <a:rPr lang="en-IN" sz="2800" i="1">
                            <a:solidFill>
                              <a:srgbClr val="15803D"/>
                            </a:solidFill>
                            <a:latin typeface="Cambria Math" panose="02040503050406030204" pitchFamily="18" charset="0"/>
                          </a:rPr>
                          <m:t>3</m:t>
                        </m:r>
                      </m:sup>
                    </m:sSup>
                  </m:oMath>
                </a14:m>
                <a:endParaRPr sz="2800">
                  <a:solidFill>
                    <a:srgbClr val="15803D"/>
                  </a:solidFill>
                </a:endParaRPr>
              </a:p>
            </p:txBody>
          </p:sp>
        </mc:Choice>
        <mc:Fallback>
          <p:sp>
            <p:nvSpPr>
              <p:cNvPr id="6" name="Rounded Rectangle 5"/>
              <p:cNvSpPr/>
              <p:nvPr/>
            </p:nvSpPr>
            <p:spPr>
              <a:xfrm>
                <a:off x="731520" y="5897880"/>
                <a:ext cx="10725912" cy="777240"/>
              </a:xfrm>
              <a:prstGeom prst="roundRect">
                <a:avLst>
                  <a:gd name="adj" fmla="val 8000"/>
                </a:avLst>
              </a:prstGeom>
              <a:solidFill>
                <a:srgbClr val="DCFCE7"/>
              </a:solidFill>
              <a:ln w="25400">
                <a:solidFill>
                  <a:srgbClr val="15803D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5803D"/>
              </a:fontRef>
            </p:style>
            <p:txBody>
              <a:bodyPr rtlCol="0" anchor="ctr" wrap="square" lIns="228600" rIns="228600" tIns="18288" bIns="73152"/>
              <a:lstStyle>
                <a:lvl1pPr>
                  <a:defRPr sz="2800">
                    <a:solidFill>
                      <a:srgbClr val="15803D"/>
                    </a:solidFill>
                  </a:defRPr>
                </a:lvl1pPr>
              </a:lstStyle>
              <a:p>
                <a:pPr algn="ctr">
                  <a:defRPr sz="2800">
                    <a:solidFill>
                      <a:srgbClr val="15803D"/>
                    </a:solidFill>
                  </a:defRPr>
                </a:pPr>
                <a:r>
                  <a:rPr sz="2800" b="1">
                    <a:solidFill>
                      <a:srgbClr val="15803D"/>
                    </a:solidFill>
                    <a:latin typeface="Arial"/>
                  </a:rPr>
                  <a:t>Same answer: Shown: </a:t>
                </a:r>
                <a:r>
                  <a:rPr lang="en-IN" sz="2800">
                    <a:solidFill>
                      <a:srgbClr val="15803D"/>
                    </a:solidFill>
                    <a:latin typeface="Cambria Math" panose="02040503050406030204" pitchFamily="18" charset="0"/>
                  </a:rPr>
                  <a:t>$R^{2/3}=\left(\frac{d^2y}{dx^2}\right)^{-2/3}+\left(\frac{d^2x}{dy^2}\right)^{-2/3}$</a:t>
                </a:r>
                <a:endParaRPr sz="2800">
                  <a:solidFill>
                    <a:srgbClr val="15803D"/>
                  </a:solidFill>
                </a:endParaRPr>
              </a:p>
            </p:txBody>
          </p:sp>
        </mc:Fallback>
      </mc:AlternateContent>
    </p:spTree>
  </p:cSld>
  <p:clrMapOvr>
    <a:masterClrMapping/>
  </p:clrMapOvr>
</p:sld>
</file>

<file path=ppt/slides/slide4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FFFFFF"/>
          </a:fontRef>
        </p:style>
        <p:txBody>
          <a:bodyPr rtlCol="0" anchor="ctr" lIns="731520"/>
          <a:lstStyle>
            <a:lvl1pPr>
              <a:defRPr sz="3200">
                <a:solidFill>
                  <a:srgbClr val="FFFFFF"/>
                </a:solidFill>
              </a:defRPr>
            </a:lvl1pPr>
          </a:lstStyle>
          <a:p>
            <a:pPr algn="l">
              <a:defRPr sz="3200">
                <a:solidFill>
                  <a:srgbClr val="FFFFFF"/>
                </a:solidFill>
              </a:defRPr>
            </a:pPr>
            <a:r>
              <a:rPr sz="3200" b="1">
                <a:solidFill>
                  <a:srgbClr val="FFFFFF"/>
                </a:solidFill>
                <a:latin typeface="Arial"/>
              </a:rPr>
              <a:t>Question 07</a:t>
            </a:r>
            <a:endParaRPr sz="3200">
              <a:solidFill>
                <a:srgbClr val="FFFFFF"/>
              </a:solidFill>
            </a:endParaRPr>
          </a:p>
        </p:txBody>
      </p:sp>
      <p:sp>
        <p:nvSpPr>
          <p:cNvPr id="3" name="Rounded Rectangle 2"/>
          <p:cNvSpPr/>
          <p:nvPr/>
        </p:nvSpPr>
        <p:spPr>
          <a:xfrm>
            <a:off x="7894015" y="246887"/>
            <a:ext cx="3840480" cy="603504"/>
          </a:xfrm>
          <a:prstGeom prst="roundRect">
            <a:avLst>
              <a:gd name="adj" fmla="val 50000"/>
            </a:avLst>
          </a:prstGeom>
          <a:solidFill>
            <a:srgbClr val="F6B26B"/>
          </a:solidFill>
          <a:ln w="1905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111827"/>
          </a:fontRef>
        </p:style>
        <p:txBody>
          <a:bodyPr rtlCol="0" anchor="ctr" wrap="square" lIns="228600" rIns="228600" tIns="18288" bIns="18288"/>
          <a:lstStyle>
            <a:lvl1pPr>
              <a:defRPr sz="2400">
                <a:solidFill>
                  <a:srgbClr val="111827"/>
                </a:solidFill>
              </a:defRPr>
            </a:lvl1pPr>
          </a:lstStyle>
          <a:p>
            <a:pPr algn="ctr">
              <a:defRPr sz="2400">
                <a:solidFill>
                  <a:srgbClr val="111827"/>
                </a:solidFill>
              </a:defRPr>
            </a:pPr>
            <a:r>
              <a:rPr sz="2400" b="1">
                <a:solidFill>
                  <a:srgbClr val="111827"/>
                </a:solidFill>
                <a:latin typeface="Arial"/>
              </a:rPr>
              <a:t>Level 3  ·  4 Marks</a:t>
            </a:r>
            <a:endParaRPr sz="2400">
              <a:solidFill>
                <a:srgbClr val="111827"/>
              </a:solidFill>
            </a:endParaRPr>
          </a:p>
        </p:txBody>
      </p:sp>
      <p:sp>
        <p:nvSpPr>
          <p:cNvPr id="4" name="Rounded Rectangle 3"/>
          <p:cNvSpPr/>
          <p:nvPr/>
        </p:nvSpPr>
        <p:spPr>
          <a:xfrm>
            <a:off x="3520440" y="265176"/>
            <a:ext cx="4206240" cy="566928"/>
          </a:xfrm>
          <a:prstGeom prst="roundRect">
            <a:avLst>
              <a:gd name="adj" fmla="val 50000"/>
            </a:avLst>
          </a:prstGeom>
          <a:solidFill>
            <a:srgbClr val="E0ECFF"/>
          </a:solidFill>
          <a:ln w="25400">
            <a:solidFill>
              <a:srgbClr val="1D4ED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0B1F3A"/>
          </a:fontRef>
        </p:style>
        <p:txBody>
          <a:bodyPr rtlCol="0" anchor="ctr" wrap="square" lIns="228600" rIns="228600" tIns="18288" bIns="18288"/>
          <a:lstStyle>
            <a:lvl1pPr>
              <a:defRPr sz="2200">
                <a:solidFill>
                  <a:srgbClr val="0B1F3A"/>
                </a:solidFill>
              </a:defRPr>
            </a:lvl1pPr>
          </a:lstStyle>
          <a:p>
            <a:pPr algn="ctr">
              <a:defRPr sz="2200">
                <a:solidFill>
                  <a:srgbClr val="0B1F3A"/>
                </a:solidFill>
              </a:defRPr>
            </a:pPr>
            <a:r>
              <a:rPr sz="2200" b="1">
                <a:solidFill>
                  <a:srgbClr val="0B1F3A"/>
                </a:solidFill>
                <a:latin typeface="Arial"/>
              </a:rPr>
              <a:t>Useful Result / Pattern</a:t>
            </a:r>
            <a:endParaRPr sz="2200">
              <a:solidFill>
                <a:srgbClr val="0B1F3A"/>
              </a:solidFill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5" name="Rectangle 4"/>
              <p:cNvSpPr/>
              <p:nvPr/>
            </p:nvSpPr>
            <p:spPr>
              <a:xfrm>
                <a:off x="731520" y="1353312"/>
                <a:ext cx="10725912" cy="5321808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Inverse-function derivatives: </a:t>
                </a:r>
                <a14:m>
                  <m:oMath xmlns:m="http://schemas.openxmlformats.org/officeDocument/2006/math"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𝑑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𝑑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𝑦</m:t>
                        </m:r>
                      </m:den>
                    </m:f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num>
                      <m:den>
                        <m:sSup>
                          <m:e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𝑦</m:t>
                            </m:r>
                          </m:e>
                          <m:sup>
                            <m:r>
                              <m:rPr>
                                <m:sty m:val="p"/>
                              </m:rPr>
                              <a:rPr lang="en-IN" sz="2400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′</m:t>
                            </m:r>
                          </m:sup>
                        </m:sSup>
                      </m:den>
                    </m:f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</a:t>
                </a:r>
                <a14:m>
                  <m:oMath xmlns:m="http://schemas.openxmlformats.org/officeDocument/2006/math"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sSup>
                          <m:e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𝑑</m:t>
                            </m:r>
                          </m:e>
                          <m:sup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2</m:t>
                            </m:r>
                          </m:sup>
                        </m:s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𝑑</m:t>
                        </m:r>
                        <m:sSup>
                          <m:e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𝑦</m:t>
                            </m:r>
                          </m:e>
                          <m:sup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2</m:t>
                            </m:r>
                          </m:sup>
                        </m:sSup>
                      </m:den>
                    </m:f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sSup>
                          <m:e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𝑦</m:t>
                            </m:r>
                          </m:e>
                          <m:sup>
                            <m:r>
                              <m:rPr>
                                <m:sty m:val="p"/>
                              </m:rPr>
                              <a:rPr lang="en-IN" sz="2400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″</m:t>
                            </m:r>
                          </m:sup>
                        </m:sSup>
                      </m:num>
                      <m:den>
                        <m:sSup>
                          <m:e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𝑦</m:t>
                            </m:r>
                          </m:e>
                          <m:sup>
                            <m:r>
                              <m:rPr>
                                <m:sty m:val="p"/>
                              </m:rPr>
                              <a:rPr lang="en-IN" sz="2400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′</m:t>
                            </m:r>
                          </m:sup>
                        </m:sSup>
                        <m:sSup>
                          <m:e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​</m:t>
                            </m:r>
                          </m:e>
                          <m:sup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3</m:t>
                            </m:r>
                          </m:sup>
                        </m:sSup>
                      </m:den>
                    </m:f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</a:t>
                </a:r>
                <a14:m>
                  <m:oMath xmlns:m="http://schemas.openxmlformats.org/officeDocument/2006/math"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sSup>
                          <m:e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𝑑</m:t>
                            </m:r>
                          </m:e>
                          <m:sup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3</m:t>
                            </m:r>
                          </m:sup>
                        </m:s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𝑑</m:t>
                        </m:r>
                        <m:sSup>
                          <m:e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𝑦</m:t>
                            </m:r>
                          </m:e>
                          <m:sup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3</m:t>
                            </m:r>
                          </m:sup>
                        </m:sSup>
                      </m:den>
                    </m:f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3</m:t>
                        </m:r>
                        <m:sSup>
                          <m:e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𝑦</m:t>
                            </m:r>
                          </m:e>
                          <m:sup>
                            <m:r>
                              <m:rPr>
                                <m:sty m:val="p"/>
                              </m:rPr>
                              <a:rPr lang="en-IN" sz="2400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″</m:t>
                            </m:r>
                          </m:sup>
                        </m:sSup>
                        <m:sSup>
                          <m:e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​</m:t>
                            </m:r>
                          </m:e>
                          <m:sup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2</m:t>
                            </m:r>
                          </m:sup>
                        </m:sSup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−</m:t>
                        </m:r>
                        <m:sSup>
                          <m:e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𝑦</m:t>
                            </m:r>
                          </m:e>
                          <m:sup>
                            <m:r>
                              <m:rPr>
                                <m:sty m:val="p"/>
                              </m:rPr>
                              <a:rPr lang="en-IN" sz="2400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′</m:t>
                            </m:r>
                          </m:sup>
                        </m:sSup>
                        <m:sSup>
                          <m:e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𝑦</m:t>
                            </m:r>
                          </m:e>
                          <m:sup>
                            <m:r>
                              <m:rPr>
                                <m:sty m:val="p"/>
                              </m:rPr>
                              <a:rPr lang="en-IN" sz="2400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‴</m:t>
                            </m:r>
                          </m:sup>
                        </m:sSup>
                      </m:num>
                      <m:den>
                        <m:sSup>
                          <m:e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𝑦</m:t>
                            </m:r>
                          </m:e>
                          <m:sup>
                            <m:r>
                              <m:rPr>
                                <m:sty m:val="p"/>
                              </m:rPr>
                              <a:rPr lang="en-IN" sz="2400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′</m:t>
                            </m:r>
                          </m:sup>
                        </m:sSup>
                        <m:sSup>
                          <m:e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​</m:t>
                            </m:r>
                          </m:e>
                          <m:sup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5</m:t>
                            </m:r>
                          </m:sup>
                        </m:sSup>
                      </m:den>
                    </m:f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The radius of curvature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𝑅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(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+</m:t>
                        </m:r>
                        <m:sSup>
                          <m:e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𝑦</m:t>
                            </m:r>
                          </m:e>
                          <m:sup>
                            <m:r>
                              <m:rPr>
                                <m:sty m:val="p"/>
                              </m:rPr>
                              <a:rPr lang="en-IN" sz="2400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′</m:t>
                            </m:r>
                          </m:sup>
                        </m:sSup>
                        <m:sSup>
                          <m:e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​</m:t>
                            </m:r>
                          </m:e>
                          <m:sup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2</m:t>
                            </m:r>
                          </m:sup>
                        </m:sSup>
                        <m:sSup>
                          <m:e>
                            <m:r>
                              <m:rPr>
                                <m:sty m:val="p"/>
                              </m:rPr>
                              <a:rPr lang="en-IN" sz="2400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)</m:t>
                            </m:r>
                          </m:e>
                          <m:sup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3</m:t>
                            </m:r>
                            <m:r>
                              <m:rPr>
                                <m:sty m:val="p"/>
                              </m:rPr>
                              <a:rPr lang="en-IN" sz="2400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/</m:t>
                            </m:r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2</m:t>
                            </m:r>
                          </m:sup>
                        </m:sSup>
                      </m:num>
                      <m:den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|</m:t>
                        </m:r>
                        <m:sSup>
                          <m:e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𝑦</m:t>
                            </m:r>
                          </m:e>
                          <m:sup>
                            <m:r>
                              <m:rPr>
                                <m:sty m:val="p"/>
                              </m:rPr>
                              <a:rPr lang="en-IN" sz="2400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″</m:t>
                            </m:r>
                          </m:sup>
                        </m:sSup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|</m:t>
                        </m:r>
                      </m:den>
                    </m:f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is the same whether the curve is viewed as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𝑦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or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𝑦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(curvature is geometric); with </a:t>
                </a:r>
                <a14:m>
                  <m:oMath xmlns:m="http://schemas.openxmlformats.org/officeDocument/2006/math"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𝑦</m:t>
                        </m:r>
                      </m:e>
                      <m:sup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′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tan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θ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</a:t>
                </a:r>
                <a14:m>
                  <m:oMath xmlns:m="http://schemas.openxmlformats.org/officeDocument/2006/math"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𝑑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θ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𝑑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𝑠</m:t>
                        </m:r>
                      </m:den>
                    </m:f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𝑅</m:t>
                        </m:r>
                      </m:den>
                    </m:f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Substituting </a:t>
                </a:r>
                <a14:m>
                  <m:oMath xmlns:m="http://schemas.openxmlformats.org/officeDocument/2006/math"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𝑦</m:t>
                        </m:r>
                      </m:e>
                      <m:sup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′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tan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θ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makes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𝑦</m:t>
                        </m:r>
                      </m:e>
                      <m:sup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′</m:t>
                        </m:r>
                      </m:sup>
                    </m:sSup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​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sSup>
                      <m:e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sec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θ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and removes square roots; the identity </a:t>
                </a:r>
                <a14:m>
                  <m:oMath xmlns:m="http://schemas.openxmlformats.org/officeDocument/2006/math">
                    <m:sSup>
                      <m:e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sin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θ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sSup>
                      <m:e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cos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θ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then gives sums of the form </a:t>
                </a:r>
                <a14:m>
                  <m:oMath xmlns:m="http://schemas.openxmlformats.org/officeDocument/2006/math"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𝑎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/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3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𝑏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/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3</m:t>
                        </m:r>
                      </m:sup>
                    </m:sSup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Choice>
        <mc:Fallback>
          <p:sp>
            <p:nvSpPr>
              <p:cNvPr id="5" name="Rectangle 4"/>
              <p:cNvSpPr/>
              <p:nvPr/>
            </p:nvSpPr>
            <p:spPr>
              <a:xfrm>
                <a:off x="731520" y="1353312"/>
                <a:ext cx="10725912" cy="5321808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Inverse-function derivatives: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$\frac{dx}{dy}=\frac1{y'}$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$\frac{d^2x}{dy^2}=-\frac{y''}{y'^3}$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$\frac{d^3x}{dy^3}=\frac{3y''^2-y'y'''}{y'^5}$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The radius of curvature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$R=\frac{(1+y'^2)^{3/2}}{|y''|}$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is the same whether the curve is viewed as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$y(x)$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or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$x(y)$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(curvature is geometric); with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$y'=\tan\theta$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$\frac{d\theta}{ds}=\frac1R$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Substituting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$y'=\tan\theta$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makes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$1+y'^2=\sec^2\theta$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and removes square roots; the identity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$\sin^2\theta+\cos^2\theta=1$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then gives sums of the form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$a^{2/3}+b^{2/3}$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Fallback>
      </mc:AlternateContent>
    </p:spTree>
  </p:cSld>
  <p:clrMapOvr>
    <a:masterClrMapping/>
  </p:clrMapOvr>
</p:sld>
</file>

<file path=ppt/slides/slide5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FFFFFF"/>
          </a:fontRef>
        </p:style>
        <p:txBody>
          <a:bodyPr rtlCol="0" anchor="ctr" lIns="731520"/>
          <a:lstStyle>
            <a:lvl1pPr>
              <a:defRPr sz="3200">
                <a:solidFill>
                  <a:srgbClr val="FFFFFF"/>
                </a:solidFill>
              </a:defRPr>
            </a:lvl1pPr>
          </a:lstStyle>
          <a:p>
            <a:pPr algn="l">
              <a:defRPr sz="3200">
                <a:solidFill>
                  <a:srgbClr val="FFFFFF"/>
                </a:solidFill>
              </a:defRPr>
            </a:pPr>
            <a:r>
              <a:rPr sz="3200" b="1">
                <a:solidFill>
                  <a:srgbClr val="FFFFFF"/>
                </a:solidFill>
                <a:latin typeface="Arial"/>
              </a:rPr>
              <a:t>Question 08</a:t>
            </a:r>
            <a:endParaRPr sz="3200">
              <a:solidFill>
                <a:srgbClr val="FFFFFF"/>
              </a:solidFill>
            </a:endParaRPr>
          </a:p>
        </p:txBody>
      </p:sp>
      <p:sp>
        <p:nvSpPr>
          <p:cNvPr id="3" name="Rounded Rectangle 2"/>
          <p:cNvSpPr/>
          <p:nvPr/>
        </p:nvSpPr>
        <p:spPr>
          <a:xfrm>
            <a:off x="7894015" y="246887"/>
            <a:ext cx="3840480" cy="603504"/>
          </a:xfrm>
          <a:prstGeom prst="roundRect">
            <a:avLst>
              <a:gd name="adj" fmla="val 50000"/>
            </a:avLst>
          </a:prstGeom>
          <a:solidFill>
            <a:srgbClr val="F6B26B"/>
          </a:solidFill>
          <a:ln w="1905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111827"/>
          </a:fontRef>
        </p:style>
        <p:txBody>
          <a:bodyPr rtlCol="0" anchor="ctr" wrap="square" lIns="228600" rIns="228600" tIns="18288" bIns="18288"/>
          <a:lstStyle>
            <a:lvl1pPr>
              <a:defRPr sz="2400">
                <a:solidFill>
                  <a:srgbClr val="111827"/>
                </a:solidFill>
              </a:defRPr>
            </a:lvl1pPr>
          </a:lstStyle>
          <a:p>
            <a:pPr algn="ctr">
              <a:defRPr sz="2400">
                <a:solidFill>
                  <a:srgbClr val="111827"/>
                </a:solidFill>
              </a:defRPr>
            </a:pPr>
            <a:r>
              <a:rPr sz="2400" b="1">
                <a:solidFill>
                  <a:srgbClr val="111827"/>
                </a:solidFill>
                <a:latin typeface="Arial"/>
              </a:rPr>
              <a:t>Level 3  ·  4 Marks</a:t>
            </a:r>
            <a:endParaRPr sz="2400">
              <a:solidFill>
                <a:srgbClr val="111827"/>
              </a:solidFill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4" name="Rounded Rectangle 3"/>
              <p:cNvSpPr/>
              <p:nvPr/>
            </p:nvSpPr>
            <p:spPr>
              <a:xfrm>
                <a:off x="731520" y="1280160"/>
                <a:ext cx="10725912" cy="1737360"/>
              </a:xfrm>
              <a:prstGeom prst="roundRect">
                <a:avLst>
                  <a:gd name="adj" fmla="val 8000"/>
                </a:avLst>
              </a:prstGeom>
              <a:solidFill>
                <a:srgbClr val="E0ECFF"/>
              </a:solidFill>
              <a:ln w="25400">
                <a:solidFill>
                  <a:srgbClr val="1D4ED8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>
                  <a:spcAft>
                    <a:spcPts val="500"/>
                  </a:spcAft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Suppose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𝑝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sSub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𝑎</m:t>
                        </m:r>
                      </m:e>
                      <m:sub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0</m:t>
                        </m:r>
                      </m:sub>
                    </m:sSub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sSub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𝑎</m:t>
                        </m:r>
                      </m:e>
                      <m:sub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sub>
                    </m:sSub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sSub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𝑎</m:t>
                        </m:r>
                      </m:e>
                      <m:sub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b>
                    </m:sSub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…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sSub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𝑎</m:t>
                        </m:r>
                      </m:e>
                      <m:sub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𝑛</m:t>
                        </m:r>
                      </m:sub>
                    </m:sSub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𝑛</m:t>
                        </m:r>
                      </m:sup>
                    </m:sSup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 If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|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𝑝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|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≤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|</m:t>
                    </m:r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𝑒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−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|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for all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≥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0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prove that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|</m:t>
                    </m:r>
                    <m:sSub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𝑎</m:t>
                        </m:r>
                      </m:e>
                      <m:sub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sub>
                    </m:sSub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  <m:sSub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𝑎</m:t>
                        </m:r>
                      </m:e>
                      <m:sub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b>
                    </m:sSub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…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𝑛</m:t>
                    </m:r>
                    <m:sSub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𝑎</m:t>
                        </m:r>
                      </m:e>
                      <m:sub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𝑛</m:t>
                        </m:r>
                      </m:sub>
                    </m:sSub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|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≤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 [JEE-2000]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Choice>
        <mc:Fallback>
          <p:sp>
            <p:nvSpPr>
              <p:cNvPr id="4" name="Rounded Rectangle 3"/>
              <p:cNvSpPr/>
              <p:nvPr/>
            </p:nvSpPr>
            <p:spPr>
              <a:xfrm>
                <a:off x="731520" y="1280160"/>
                <a:ext cx="10725912" cy="1737360"/>
              </a:xfrm>
              <a:prstGeom prst="roundRect">
                <a:avLst>
                  <a:gd name="adj" fmla="val 8000"/>
                </a:avLst>
              </a:prstGeom>
              <a:solidFill>
                <a:srgbClr val="E0ECFF"/>
              </a:solidFill>
              <a:ln w="25400">
                <a:solidFill>
                  <a:srgbClr val="1D4ED8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>
                  <a:spcAft>
                    <a:spcPts val="500"/>
                  </a:spcAft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Suppose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$p(x)=a_0+a_1x+a_2x^2+\dots+a_nx^n$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 If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$|p(x)|\le|e^{x-1}-1|$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for all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$x\ge0$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prove that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$|a_1+2a_2+\dots+na_n|\le1$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 [JEE-2000]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Fallback>
      </mc:AlternateContent>
      <p:sp>
        <p:nvSpPr>
          <p:cNvPr id="5" name="Rectangle 4"/>
          <p:cNvSpPr/>
          <p:nvPr/>
        </p:nvSpPr>
        <p:spPr>
          <a:xfrm>
            <a:off x="731520" y="3246120"/>
            <a:ext cx="10725912" cy="1975103"/>
          </a:xfrm>
          <a:prstGeom prst="rect">
            <a:avLst/>
          </a:prstGeom>
          <a:solidFill>
            <a:srgbClr val="FFFFFF"/>
          </a:solidFill>
          <a:ln w="19050">
            <a:solidFill>
              <a:srgbClr val="6B728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111827"/>
          </a:fontRef>
        </p:style>
        <p:txBody>
          <a:bodyPr rtlCol="0" anchor="t" wrap="square" lIns="228600" rIns="228600" tIns="137160" bIns="73152"/>
          <a:lstStyle>
            <a:lvl1pPr>
              <a:defRPr sz="2400">
                <a:solidFill>
                  <a:srgbClr val="111827"/>
                </a:solidFill>
              </a:defRPr>
            </a:lvl1pPr>
          </a:lstStyle>
          <a:p>
            <a:pPr algn="l">
              <a:spcAft>
                <a:spcPts val="200"/>
              </a:spcAft>
              <a:defRPr sz="2400">
                <a:solidFill>
                  <a:srgbClr val="111827"/>
                </a:solidFill>
              </a:defRPr>
            </a:pPr>
            <a:r>
              <a:rPr sz="2400" b="0">
                <a:solidFill>
                  <a:srgbClr val="111827"/>
                </a:solidFill>
                <a:latin typeface="Arial"/>
              </a:rPr>
              <a:t>Subjective Type(4 Marks)</a:t>
            </a:r>
            <a:endParaRPr sz="2400">
              <a:solidFill>
                <a:srgbClr val="111827"/>
              </a:solidFill>
            </a:endParaRPr>
          </a:p>
          <a:p>
            <a:pPr algn="l">
              <a:spcAft>
                <a:spcPts val="200"/>
              </a:spcAft>
              <a:defRPr sz="2400">
                <a:solidFill>
                  <a:srgbClr val="111827"/>
                </a:solidFill>
              </a:defRPr>
            </a:pPr>
            <a:r>
              <a:rPr sz="2400" b="0">
                <a:solidFill>
                  <a:srgbClr val="111827"/>
                </a:solidFill>
                <a:latin typeface="Arial"/>
              </a:rPr>
              <a:t>Concept(s) : Polynomials and inequalities, Derivative as a limit (first principles)</a:t>
            </a:r>
            <a:endParaRPr sz="2400">
              <a:solidFill>
                <a:srgbClr val="111827"/>
              </a:solidFill>
            </a:endParaRPr>
          </a:p>
          <a:p>
            <a:pPr algn="l">
              <a:spcAft>
                <a:spcPts val="200"/>
              </a:spcAft>
              <a:defRPr sz="2400">
                <a:solidFill>
                  <a:srgbClr val="111827"/>
                </a:solidFill>
              </a:defRPr>
            </a:pPr>
            <a:r>
              <a:rPr sz="2400" b="0">
                <a:solidFill>
                  <a:srgbClr val="111827"/>
                </a:solidFill>
                <a:latin typeface="Arial"/>
              </a:rPr>
              <a:t>Difficulty Level: Level 3(Average JEE Advanced Level)</a:t>
            </a:r>
            <a:endParaRPr sz="2400">
              <a:solidFill>
                <a:srgbClr val="111827"/>
              </a:solidFill>
            </a:endParaRPr>
          </a:p>
        </p:txBody>
      </p:sp>
    </p:spTree>
  </p:cSld>
  <p:clrMapOvr>
    <a:masterClrMapping/>
  </p:clrMapOvr>
</p:sld>
</file>

<file path=ppt/slides/slide5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FFFFFF"/>
          </a:fontRef>
        </p:style>
        <p:txBody>
          <a:bodyPr rtlCol="0" anchor="ctr" lIns="731520"/>
          <a:lstStyle>
            <a:lvl1pPr>
              <a:defRPr sz="3200">
                <a:solidFill>
                  <a:srgbClr val="FFFFFF"/>
                </a:solidFill>
              </a:defRPr>
            </a:lvl1pPr>
          </a:lstStyle>
          <a:p>
            <a:pPr algn="l">
              <a:defRPr sz="3200">
                <a:solidFill>
                  <a:srgbClr val="FFFFFF"/>
                </a:solidFill>
              </a:defRPr>
            </a:pPr>
            <a:r>
              <a:rPr sz="3200" b="1">
                <a:solidFill>
                  <a:srgbClr val="FFFFFF"/>
                </a:solidFill>
                <a:latin typeface="Arial"/>
              </a:rPr>
              <a:t>Question 08</a:t>
            </a:r>
            <a:endParaRPr sz="3200">
              <a:solidFill>
                <a:srgbClr val="FFFFFF"/>
              </a:solidFill>
            </a:endParaRPr>
          </a:p>
        </p:txBody>
      </p:sp>
      <p:sp>
        <p:nvSpPr>
          <p:cNvPr id="3" name="Rounded Rectangle 2"/>
          <p:cNvSpPr/>
          <p:nvPr/>
        </p:nvSpPr>
        <p:spPr>
          <a:xfrm>
            <a:off x="7894015" y="246887"/>
            <a:ext cx="3840480" cy="603504"/>
          </a:xfrm>
          <a:prstGeom prst="roundRect">
            <a:avLst>
              <a:gd name="adj" fmla="val 50000"/>
            </a:avLst>
          </a:prstGeom>
          <a:solidFill>
            <a:srgbClr val="F6B26B"/>
          </a:solidFill>
          <a:ln w="1905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111827"/>
          </a:fontRef>
        </p:style>
        <p:txBody>
          <a:bodyPr rtlCol="0" anchor="ctr" wrap="square" lIns="228600" rIns="228600" tIns="18288" bIns="18288"/>
          <a:lstStyle>
            <a:lvl1pPr>
              <a:defRPr sz="2400">
                <a:solidFill>
                  <a:srgbClr val="111827"/>
                </a:solidFill>
              </a:defRPr>
            </a:lvl1pPr>
          </a:lstStyle>
          <a:p>
            <a:pPr algn="ctr">
              <a:defRPr sz="2400">
                <a:solidFill>
                  <a:srgbClr val="111827"/>
                </a:solidFill>
              </a:defRPr>
            </a:pPr>
            <a:r>
              <a:rPr sz="2400" b="1">
                <a:solidFill>
                  <a:srgbClr val="111827"/>
                </a:solidFill>
                <a:latin typeface="Arial"/>
              </a:rPr>
              <a:t>Level 3  ·  4 Marks</a:t>
            </a:r>
            <a:endParaRPr sz="2400">
              <a:solidFill>
                <a:srgbClr val="111827"/>
              </a:solidFill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4" name="Rounded Rectangle 3"/>
              <p:cNvSpPr/>
              <p:nvPr/>
            </p:nvSpPr>
            <p:spPr>
              <a:xfrm>
                <a:off x="731520" y="1280160"/>
                <a:ext cx="10725912" cy="1328928"/>
              </a:xfrm>
              <a:prstGeom prst="roundRect">
                <a:avLst>
                  <a:gd name="adj" fmla="val 8000"/>
                </a:avLst>
              </a:prstGeom>
              <a:solidFill>
                <a:srgbClr val="FDE68A"/>
              </a:solidFill>
              <a:ln w="31750">
                <a:solidFill>
                  <a:srgbClr val="D97706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78350F"/>
              </a:fontRef>
            </p:style>
            <p:txBody>
              <a:bodyPr rtlCol="0" anchor="ctr" wrap="square" lIns="228600" rIns="228600" tIns="54864" bIns="73152"/>
              <a:lstStyle>
                <a:lvl1pPr>
                  <a:defRPr sz="2400">
                    <a:solidFill>
                      <a:srgbClr val="78350F"/>
                    </a:solidFill>
                  </a:defRPr>
                </a:lvl1pPr>
              </a:lstStyle>
              <a:p>
                <a:pPr algn="l">
                  <a:defRPr sz="2400">
                    <a:solidFill>
                      <a:srgbClr val="78350F"/>
                    </a:solidFill>
                  </a:defRPr>
                </a:pPr>
                <a:r>
                  <a:rPr sz="2400" b="1">
                    <a:solidFill>
                      <a:srgbClr val="78350F"/>
                    </a:solidFill>
                    <a:latin typeface="Arial"/>
                  </a:rPr>
                  <a:t>Key idea:  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The bound forces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𝑝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1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0</m:t>
                    </m:r>
                  </m:oMath>
                </a14:m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, and then </a:t>
                </a:r>
                <a14:m>
                  <m:oMath xmlns:m="http://schemas.openxmlformats.org/officeDocument/2006/math">
                    <m:d>
                      <m:dPr>
                        <m:begChr m:val="|"/>
                        <m:sepChr m:val=""/>
                        <m:endChr m:val="|"/>
                        <m:grow/>
                        <m:ctrlP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f>
                          <m:fPr>
                            <m:type m:val="bar"/>
                            <m:ctrlPr>
                              <a:rPr lang="en-IN" sz="2400" i="1">
                                <a:solidFill>
                                  <a:srgbClr val="78350F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fPr>
                          <m:num>
                            <m:r>
                              <a:rPr lang="en-IN" sz="2400" i="1">
                                <a:solidFill>
                                  <a:srgbClr val="78350F"/>
                                </a:solidFill>
                                <a:latin typeface="Cambria Math" panose="02040503050406030204" pitchFamily="18" charset="0"/>
                              </a:rPr>
                              <m:t>𝑝</m:t>
                            </m:r>
                            <m:r>
                              <m:rPr>
                                <m:sty m:val="p"/>
                              </m:rPr>
                              <a:rPr lang="en-IN" sz="2400">
                                <a:solidFill>
                                  <a:srgbClr val="78350F"/>
                                </a:solidFill>
                                <a:latin typeface="Cambria Math" panose="02040503050406030204" pitchFamily="18" charset="0"/>
                              </a:rPr>
                              <m:t>(</m:t>
                            </m:r>
                            <m:r>
                              <a:rPr lang="en-IN" sz="2400" i="1">
                                <a:solidFill>
                                  <a:srgbClr val="78350F"/>
                                </a:solidFill>
                                <a:latin typeface="Cambria Math" panose="02040503050406030204" pitchFamily="18" charset="0"/>
                              </a:rPr>
                              <m:t>1</m:t>
                            </m:r>
                            <m:r>
                              <m:rPr>
                                <m:sty m:val="p"/>
                              </m:rPr>
                              <a:rPr lang="en-IN" sz="2400">
                                <a:solidFill>
                                  <a:srgbClr val="78350F"/>
                                </a:solidFill>
                                <a:latin typeface="Cambria Math" panose="02040503050406030204" pitchFamily="18" charset="0"/>
                              </a:rPr>
                              <m:t>+</m:t>
                            </m:r>
                            <m:r>
                              <a:rPr lang="en-IN" sz="2400" i="1">
                                <a:solidFill>
                                  <a:srgbClr val="78350F"/>
                                </a:solidFill>
                                <a:latin typeface="Cambria Math" panose="02040503050406030204" pitchFamily="18" charset="0"/>
                              </a:rPr>
                              <m:t>ℎ</m:t>
                            </m:r>
                            <m:r>
                              <m:rPr>
                                <m:sty m:val="p"/>
                              </m:rPr>
                              <a:rPr lang="en-IN" sz="2400">
                                <a:solidFill>
                                  <a:srgbClr val="78350F"/>
                                </a:solidFill>
                                <a:latin typeface="Cambria Math" panose="02040503050406030204" pitchFamily="18" charset="0"/>
                              </a:rPr>
                              <m:t>)</m:t>
                            </m:r>
                          </m:num>
                          <m:den>
                            <m:r>
                              <a:rPr lang="en-IN" sz="2400" i="1">
                                <a:solidFill>
                                  <a:srgbClr val="78350F"/>
                                </a:solidFill>
                                <a:latin typeface="Cambria Math" panose="02040503050406030204" pitchFamily="18" charset="0"/>
                              </a:rPr>
                              <m:t>ℎ</m:t>
                            </m:r>
                          </m:den>
                        </m:f>
                      </m:e>
                    </m:d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≤</m:t>
                    </m:r>
                    <m:d>
                      <m:dPr>
                        <m:begChr m:val="|"/>
                        <m:sepChr m:val=""/>
                        <m:endChr m:val="|"/>
                        <m:grow/>
                        <m:ctrlP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f>
                          <m:fPr>
                            <m:type m:val="bar"/>
                            <m:ctrlPr>
                              <a:rPr lang="en-IN" sz="2400" i="1">
                                <a:solidFill>
                                  <a:srgbClr val="78350F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fPr>
                          <m:num>
                            <m:sSup>
                              <m:e>
                                <m:r>
                                  <a:rPr lang="en-IN" sz="2400" i="1">
                                    <a:solidFill>
                                      <a:srgbClr val="78350F"/>
                                    </a:solidFill>
                                    <a:latin typeface="Cambria Math" panose="02040503050406030204" pitchFamily="18" charset="0"/>
                                  </a:rPr>
                                  <m:t>𝑒</m:t>
                                </m:r>
                              </m:e>
                              <m:sup>
                                <m:r>
                                  <a:rPr lang="en-IN" sz="2400" i="1">
                                    <a:solidFill>
                                      <a:srgbClr val="78350F"/>
                                    </a:solidFill>
                                    <a:latin typeface="Cambria Math" panose="02040503050406030204" pitchFamily="18" charset="0"/>
                                  </a:rPr>
                                  <m:t>ℎ</m:t>
                                </m:r>
                              </m:sup>
                            </m:sSup>
                            <m:r>
                              <m:rPr>
                                <m:sty m:val="p"/>
                              </m:rPr>
                              <a:rPr lang="en-IN" sz="2400">
                                <a:solidFill>
                                  <a:srgbClr val="78350F"/>
                                </a:solidFill>
                                <a:latin typeface="Cambria Math" panose="02040503050406030204" pitchFamily="18" charset="0"/>
                              </a:rPr>
                              <m:t>−</m:t>
                            </m:r>
                            <m:r>
                              <a:rPr lang="en-IN" sz="2400" i="1">
                                <a:solidFill>
                                  <a:srgbClr val="78350F"/>
                                </a:solidFill>
                                <a:latin typeface="Cambria Math" panose="02040503050406030204" pitchFamily="18" charset="0"/>
                              </a:rPr>
                              <m:t>1</m:t>
                            </m:r>
                          </m:num>
                          <m:den>
                            <m:r>
                              <a:rPr lang="en-IN" sz="2400" i="1">
                                <a:solidFill>
                                  <a:srgbClr val="78350F"/>
                                </a:solidFill>
                                <a:latin typeface="Cambria Math" panose="02040503050406030204" pitchFamily="18" charset="0"/>
                              </a:rPr>
                              <m:t>ℎ</m:t>
                            </m:r>
                          </m:den>
                        </m:f>
                      </m:e>
                    </m:d>
                  </m:oMath>
                </a14:m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 tends to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|</m:t>
                    </m:r>
                    <m:sSup>
                      <m:e>
                        <m: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𝑝</m:t>
                        </m:r>
                      </m:e>
                      <m:sup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′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1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|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≤</m:t>
                    </m:r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1</m:t>
                    </m:r>
                  </m:oMath>
                </a14:m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.</a:t>
                </a:r>
                <a:endParaRPr sz="2400">
                  <a:solidFill>
                    <a:srgbClr val="78350F"/>
                  </a:solidFill>
                </a:endParaRPr>
              </a:p>
            </p:txBody>
          </p:sp>
        </mc:Choice>
        <mc:Fallback>
          <p:sp>
            <p:nvSpPr>
              <p:cNvPr id="4" name="Rounded Rectangle 3"/>
              <p:cNvSpPr/>
              <p:nvPr/>
            </p:nvSpPr>
            <p:spPr>
              <a:xfrm>
                <a:off x="731520" y="1280160"/>
                <a:ext cx="10725912" cy="1328928"/>
              </a:xfrm>
              <a:prstGeom prst="roundRect">
                <a:avLst>
                  <a:gd name="adj" fmla="val 8000"/>
                </a:avLst>
              </a:prstGeom>
              <a:solidFill>
                <a:srgbClr val="FDE68A"/>
              </a:solidFill>
              <a:ln w="31750">
                <a:solidFill>
                  <a:srgbClr val="D97706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78350F"/>
              </a:fontRef>
            </p:style>
            <p:txBody>
              <a:bodyPr rtlCol="0" anchor="ctr" wrap="square" lIns="228600" rIns="228600" tIns="54864" bIns="73152"/>
              <a:lstStyle>
                <a:lvl1pPr>
                  <a:defRPr sz="2400">
                    <a:solidFill>
                      <a:srgbClr val="78350F"/>
                    </a:solidFill>
                  </a:defRPr>
                </a:lvl1pPr>
              </a:lstStyle>
              <a:p>
                <a:pPr algn="l">
                  <a:defRPr sz="2400">
                    <a:solidFill>
                      <a:srgbClr val="78350F"/>
                    </a:solidFill>
                  </a:defRPr>
                </a:pPr>
                <a:r>
                  <a:rPr sz="2400" b="1">
                    <a:solidFill>
                      <a:srgbClr val="78350F"/>
                    </a:solidFill>
                    <a:latin typeface="Arial"/>
                  </a:rPr>
                  <a:t>Key idea:  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The bound forces </a:t>
                </a:r>
                <a:r>
                  <a:rPr lang="en-IN" sz="2400">
                    <a:solidFill>
                      <a:srgbClr val="78350F"/>
                    </a:solidFill>
                    <a:latin typeface="Cambria Math" panose="02040503050406030204" pitchFamily="18" charset="0"/>
                  </a:rPr>
                  <a:t>$p(1)=0$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, and then </a:t>
                </a:r>
                <a:r>
                  <a:rPr lang="en-IN" sz="2400">
                    <a:solidFill>
                      <a:srgbClr val="78350F"/>
                    </a:solidFill>
                    <a:latin typeface="Cambria Math" panose="02040503050406030204" pitchFamily="18" charset="0"/>
                  </a:rPr>
                  <a:t>$\left|\frac{p(1+h)}{h}\right|\le\left|\frac{e^h-1}{h}\right|$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 tends to </a:t>
                </a:r>
                <a:r>
                  <a:rPr lang="en-IN" sz="2400">
                    <a:solidFill>
                      <a:srgbClr val="78350F"/>
                    </a:solidFill>
                    <a:latin typeface="Cambria Math" panose="02040503050406030204" pitchFamily="18" charset="0"/>
                  </a:rPr>
                  <a:t>$|p'(1)|\le1$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.</a:t>
                </a:r>
                <a:endParaRPr sz="2400">
                  <a:solidFill>
                    <a:srgbClr val="78350F"/>
                  </a:solidFill>
                </a:endParaRP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5" name="Rectangle 4"/>
              <p:cNvSpPr/>
              <p:nvPr/>
            </p:nvSpPr>
            <p:spPr>
              <a:xfrm>
                <a:off x="731520" y="2746248"/>
                <a:ext cx="10725912" cy="3928872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14:m>
                  <m:oMath xmlns:m="http://schemas.openxmlformats.org/officeDocument/2006/math"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𝑝</m:t>
                        </m:r>
                      </m:e>
                      <m:sup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′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sSub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𝑎</m:t>
                        </m:r>
                      </m:e>
                      <m:sub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sub>
                    </m:sSub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  <m:sSub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𝑎</m:t>
                        </m:r>
                      </m:e>
                      <m:sub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b>
                    </m:sSub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…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𝑛</m:t>
                    </m:r>
                    <m:sSub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𝑎</m:t>
                        </m:r>
                      </m:e>
                      <m:sub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𝑛</m:t>
                        </m:r>
                      </m:sub>
                    </m:sSub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𝑛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−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sup>
                    </m:sSup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so </a:t>
                </a:r>
                <a14:m>
                  <m:oMath xmlns:m="http://schemas.openxmlformats.org/officeDocument/2006/math"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𝑝</m:t>
                        </m:r>
                      </m:e>
                      <m:sup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′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sSub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𝑎</m:t>
                        </m:r>
                      </m:e>
                      <m:sub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sub>
                    </m:sSub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  <m:sSub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𝑎</m:t>
                        </m:r>
                      </m:e>
                      <m:sub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b>
                    </m:sSub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…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𝑛</m:t>
                    </m:r>
                    <m:sSub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𝑎</m:t>
                        </m:r>
                      </m:e>
                      <m:sub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𝑛</m:t>
                        </m:r>
                      </m:sub>
                    </m:sSub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 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𝑖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Given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|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𝑝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|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≤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|</m:t>
                    </m:r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𝑒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−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|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for all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≥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0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 At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: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|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𝑝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|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≤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|</m:t>
                    </m:r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𝑒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0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|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0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Since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|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𝑝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|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≥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0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𝑝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0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Let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&lt;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ℎ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&lt;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∞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ℎ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≠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0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(so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ℎ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&gt;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0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). The given inequality at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ℎ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is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|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𝑝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ℎ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|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≤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|</m:t>
                    </m:r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𝑒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ℎ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|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Choice>
        <mc:Fallback>
          <p:sp>
            <p:nvSpPr>
              <p:cNvPr id="5" name="Rectangle 4"/>
              <p:cNvSpPr/>
              <p:nvPr/>
            </p:nvSpPr>
            <p:spPr>
              <a:xfrm>
                <a:off x="731520" y="2746248"/>
                <a:ext cx="10725912" cy="3928872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$p'(x)=a_1+2a_2x+\dots+na_nx^{n-1}$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so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$p'(1)=a_1+2a_2+\dots+na_n$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$\quad(i)$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Given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$|p(x)|\le|e^{x-1}-1|$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for all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$x\ge0$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 At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$x=1$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: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$|p(1)|\le|e^0-1|=0$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Since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$|p(1)|\ge0$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$p(1)=0$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Let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$-1&lt;h&lt;\infty$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$h\neq0$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(so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$1+h&gt;0$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). The given inequality at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$x=1+h$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is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$|p(1+h)|\le|e^h-1|$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Fallback>
      </mc:AlternateContent>
    </p:spTree>
  </p:cSld>
  <p:clrMapOvr>
    <a:masterClrMapping/>
  </p:clrMapOvr>
</p:sld>
</file>

<file path=ppt/slides/slide5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FFFFFF"/>
          </a:fontRef>
        </p:style>
        <p:txBody>
          <a:bodyPr rtlCol="0" anchor="ctr" lIns="731520"/>
          <a:lstStyle>
            <a:lvl1pPr>
              <a:defRPr sz="3200">
                <a:solidFill>
                  <a:srgbClr val="FFFFFF"/>
                </a:solidFill>
              </a:defRPr>
            </a:lvl1pPr>
          </a:lstStyle>
          <a:p>
            <a:pPr algn="l">
              <a:defRPr sz="3200">
                <a:solidFill>
                  <a:srgbClr val="FFFFFF"/>
                </a:solidFill>
              </a:defRPr>
            </a:pPr>
            <a:r>
              <a:rPr sz="3200" b="1">
                <a:solidFill>
                  <a:srgbClr val="FFFFFF"/>
                </a:solidFill>
                <a:latin typeface="Arial"/>
              </a:rPr>
              <a:t>Question 08</a:t>
            </a:r>
            <a:endParaRPr sz="3200">
              <a:solidFill>
                <a:srgbClr val="FFFFFF"/>
              </a:solidFill>
            </a:endParaRPr>
          </a:p>
        </p:txBody>
      </p:sp>
      <p:sp>
        <p:nvSpPr>
          <p:cNvPr id="3" name="Rounded Rectangle 2"/>
          <p:cNvSpPr/>
          <p:nvPr/>
        </p:nvSpPr>
        <p:spPr>
          <a:xfrm>
            <a:off x="7894015" y="246887"/>
            <a:ext cx="3840480" cy="603504"/>
          </a:xfrm>
          <a:prstGeom prst="roundRect">
            <a:avLst>
              <a:gd name="adj" fmla="val 50000"/>
            </a:avLst>
          </a:prstGeom>
          <a:solidFill>
            <a:srgbClr val="F6B26B"/>
          </a:solidFill>
          <a:ln w="1905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111827"/>
          </a:fontRef>
        </p:style>
        <p:txBody>
          <a:bodyPr rtlCol="0" anchor="ctr" wrap="square" lIns="228600" rIns="228600" tIns="18288" bIns="18288"/>
          <a:lstStyle>
            <a:lvl1pPr>
              <a:defRPr sz="2400">
                <a:solidFill>
                  <a:srgbClr val="111827"/>
                </a:solidFill>
              </a:defRPr>
            </a:lvl1pPr>
          </a:lstStyle>
          <a:p>
            <a:pPr algn="ctr">
              <a:defRPr sz="2400">
                <a:solidFill>
                  <a:srgbClr val="111827"/>
                </a:solidFill>
              </a:defRPr>
            </a:pPr>
            <a:r>
              <a:rPr sz="2400" b="1">
                <a:solidFill>
                  <a:srgbClr val="111827"/>
                </a:solidFill>
                <a:latin typeface="Arial"/>
              </a:rPr>
              <a:t>Level 3  ·  4 Marks</a:t>
            </a:r>
            <a:endParaRPr sz="2400">
              <a:solidFill>
                <a:srgbClr val="111827"/>
              </a:solidFill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4" name="Rectangle 3"/>
              <p:cNvSpPr/>
              <p:nvPr/>
            </p:nvSpPr>
            <p:spPr>
              <a:xfrm>
                <a:off x="731520" y="1353312"/>
                <a:ext cx="10725912" cy="4434840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Since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𝑝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0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: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|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𝑝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ℎ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𝑝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|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≤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|</m:t>
                    </m:r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𝑒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ℎ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|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Divide by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|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ℎ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|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: </a:t>
                </a:r>
                <a14:m>
                  <m:oMath xmlns:m="http://schemas.openxmlformats.org/officeDocument/2006/math">
                    <m:d>
                      <m:dPr>
                        <m:begChr m:val="|"/>
                        <m:sepChr m:val=""/>
                        <m:endChr m:val="|"/>
                        <m:grow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f>
                          <m:fPr>
                            <m:type m:val="bar"/>
                            <m:ctrlP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fPr>
                          <m:num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𝑝</m:t>
                            </m:r>
                            <m:r>
                              <m:rPr>
                                <m:sty m:val="p"/>
                              </m:rPr>
                              <a:rPr lang="en-IN" sz="2400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(</m:t>
                            </m:r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1</m:t>
                            </m:r>
                            <m:r>
                              <m:rPr>
                                <m:sty m:val="p"/>
                              </m:rPr>
                              <a:rPr lang="en-IN" sz="2400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+</m:t>
                            </m:r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ℎ</m:t>
                            </m:r>
                            <m:r>
                              <m:rPr>
                                <m:sty m:val="p"/>
                              </m:rPr>
                              <a:rPr lang="en-IN" sz="2400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)</m:t>
                            </m:r>
                            <m:r>
                              <m:rPr>
                                <m:sty m:val="p"/>
                              </m:rPr>
                              <a:rPr lang="en-IN" sz="2400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−</m:t>
                            </m:r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𝑝</m:t>
                            </m:r>
                            <m:r>
                              <m:rPr>
                                <m:sty m:val="p"/>
                              </m:rPr>
                              <a:rPr lang="en-IN" sz="2400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(</m:t>
                            </m:r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1</m:t>
                            </m:r>
                            <m:r>
                              <m:rPr>
                                <m:sty m:val="p"/>
                              </m:rPr>
                              <a:rPr lang="en-IN" sz="2400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)</m:t>
                            </m:r>
                          </m:num>
                          <m:den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ℎ</m:t>
                            </m:r>
                          </m:den>
                        </m:f>
                      </m:e>
                    </m:d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≤</m:t>
                    </m:r>
                    <m:d>
                      <m:dPr>
                        <m:begChr m:val="|"/>
                        <m:sepChr m:val=""/>
                        <m:endChr m:val="|"/>
                        <m:grow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f>
                          <m:fPr>
                            <m:type m:val="bar"/>
                            <m:ctrlP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fPr>
                          <m:num>
                            <m:sSup>
                              <m:e>
                                <m:r>
                                  <a:rPr lang="en-IN" sz="2400" i="1">
                                    <a:solidFill>
                                      <a:srgbClr val="111827"/>
                                    </a:solidFill>
                                    <a:latin typeface="Cambria Math" panose="02040503050406030204" pitchFamily="18" charset="0"/>
                                  </a:rPr>
                                  <m:t>𝑒</m:t>
                                </m:r>
                              </m:e>
                              <m:sup>
                                <m:r>
                                  <a:rPr lang="en-IN" sz="2400" i="1">
                                    <a:solidFill>
                                      <a:srgbClr val="111827"/>
                                    </a:solidFill>
                                    <a:latin typeface="Cambria Math" panose="02040503050406030204" pitchFamily="18" charset="0"/>
                                  </a:rPr>
                                  <m:t>ℎ</m:t>
                                </m:r>
                              </m:sup>
                            </m:sSup>
                            <m:r>
                              <m:rPr>
                                <m:sty m:val="p"/>
                              </m:rPr>
                              <a:rPr lang="en-IN" sz="2400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−</m:t>
                            </m:r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1</m:t>
                            </m:r>
                          </m:num>
                          <m:den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ℎ</m:t>
                            </m:r>
                          </m:den>
                        </m:f>
                      </m:e>
                    </m:d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Take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ℎ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0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: </a:t>
                </a:r>
                <a14:m>
                  <m:oMath xmlns:m="http://schemas.openxmlformats.org/officeDocument/2006/math">
                    <m:d>
                      <m:dPr>
                        <m:begChr m:val="|"/>
                        <m:sepChr m:val=""/>
                        <m:endChr m:val="|"/>
                        <m:grow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sSup>
                          <m:e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𝑝</m:t>
                            </m:r>
                          </m:e>
                          <m:sup>
                            <m:r>
                              <m:rPr>
                                <m:sty m:val="p"/>
                              </m:rPr>
                              <a:rPr lang="en-IN" sz="2400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′</m:t>
                            </m:r>
                          </m:sup>
                        </m:sSup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(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)</m:t>
                        </m:r>
                      </m:e>
                    </m:d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≤</m:t>
                    </m:r>
                    <m:sSub>
                      <m:e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lim</m:t>
                        </m:r>
                      </m:e>
                      <m:sub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ℎ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→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0</m:t>
                        </m:r>
                      </m:sub>
                    </m:sSub>
                    <m:d>
                      <m:dPr>
                        <m:begChr m:val="|"/>
                        <m:sepChr m:val=""/>
                        <m:endChr m:val="|"/>
                        <m:grow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f>
                          <m:fPr>
                            <m:type m:val="bar"/>
                            <m:ctrlP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fPr>
                          <m:num>
                            <m:sSup>
                              <m:e>
                                <m:r>
                                  <a:rPr lang="en-IN" sz="2400" i="1">
                                    <a:solidFill>
                                      <a:srgbClr val="111827"/>
                                    </a:solidFill>
                                    <a:latin typeface="Cambria Math" panose="02040503050406030204" pitchFamily="18" charset="0"/>
                                  </a:rPr>
                                  <m:t>𝑒</m:t>
                                </m:r>
                              </m:e>
                              <m:sup>
                                <m:r>
                                  <a:rPr lang="en-IN" sz="2400" i="1">
                                    <a:solidFill>
                                      <a:srgbClr val="111827"/>
                                    </a:solidFill>
                                    <a:latin typeface="Cambria Math" panose="02040503050406030204" pitchFamily="18" charset="0"/>
                                  </a:rPr>
                                  <m:t>ℎ</m:t>
                                </m:r>
                              </m:sup>
                            </m:sSup>
                            <m:r>
                              <m:rPr>
                                <m:sty m:val="p"/>
                              </m:rPr>
                              <a:rPr lang="en-IN" sz="2400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−</m:t>
                            </m:r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1</m:t>
                            </m:r>
                          </m:num>
                          <m:den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ℎ</m:t>
                            </m:r>
                          </m:den>
                        </m:f>
                      </m:e>
                    </m:d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By (i),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|</m:t>
                    </m:r>
                    <m:sSub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𝑎</m:t>
                        </m:r>
                      </m:e>
                      <m:sub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sub>
                    </m:sSub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  <m:sSub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𝑎</m:t>
                        </m:r>
                      </m:e>
                      <m:sub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b>
                    </m:sSub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…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𝑛</m:t>
                    </m:r>
                    <m:sSub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𝑎</m:t>
                        </m:r>
                      </m:e>
                      <m:sub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𝑛</m:t>
                        </m:r>
                      </m:sub>
                    </m:sSub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|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≤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 Hence proved.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Choice>
        <mc:Fallback>
          <p:sp>
            <p:nvSpPr>
              <p:cNvPr id="4" name="Rectangle 3"/>
              <p:cNvSpPr/>
              <p:nvPr/>
            </p:nvSpPr>
            <p:spPr>
              <a:xfrm>
                <a:off x="731520" y="1353312"/>
                <a:ext cx="10725912" cy="4434840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Since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$p(1)=0$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: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$|p(1+h)-p(1)|\le|e^h-1|$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Divide by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$|h|$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: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$\left|\frac{p(1+h)-p(1)}{h}\right|\le\left|\frac{e^h-1}{h}\right|$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Take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$h\to0$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: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$\left|p'(1)\right|\le\lim_{h\to0}\left|\frac{e^h-1}{h}\right|=1$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By (i),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$|a_1+2a_2+\dots+na_n|\le1$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 Hence proved.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5" name="Rounded Rectangle 4"/>
              <p:cNvSpPr/>
              <p:nvPr/>
            </p:nvSpPr>
            <p:spPr>
              <a:xfrm>
                <a:off x="731520" y="5897880"/>
                <a:ext cx="10725912" cy="777240"/>
              </a:xfrm>
              <a:prstGeom prst="roundRect">
                <a:avLst>
                  <a:gd name="adj" fmla="val 8000"/>
                </a:avLst>
              </a:prstGeom>
              <a:solidFill>
                <a:srgbClr val="DCFCE7"/>
              </a:solidFill>
              <a:ln w="25400">
                <a:solidFill>
                  <a:srgbClr val="15803D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5803D"/>
              </a:fontRef>
            </p:style>
            <p:txBody>
              <a:bodyPr rtlCol="0" anchor="ctr" wrap="square" lIns="228600" rIns="228600" tIns="18288" bIns="73152"/>
              <a:lstStyle>
                <a:lvl1pPr>
                  <a:defRPr sz="2800">
                    <a:solidFill>
                      <a:srgbClr val="15803D"/>
                    </a:solidFill>
                  </a:defRPr>
                </a:lvl1pPr>
              </a:lstStyle>
              <a:p>
                <a:pPr algn="ctr">
                  <a:defRPr sz="2800">
                    <a:solidFill>
                      <a:srgbClr val="15803D"/>
                    </a:solidFill>
                  </a:defRPr>
                </a:pPr>
                <a:r>
                  <a:rPr sz="2800" b="1">
                    <a:solidFill>
                      <a:srgbClr val="15803D"/>
                    </a:solidFill>
                    <a:latin typeface="Arial"/>
                  </a:rPr>
                  <a:t>Correct Answer: Proved: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800">
                        <a:solidFill>
                          <a:srgbClr val="15803D"/>
                        </a:solidFill>
                        <a:latin typeface="Cambria Math" panose="02040503050406030204" pitchFamily="18" charset="0"/>
                      </a:rPr>
                      <m:t>|</m:t>
                    </m:r>
                    <m:sSub>
                      <m:e>
                        <m:r>
                          <a:rPr lang="en-IN" sz="2800" i="1">
                            <a:solidFill>
                              <a:srgbClr val="15803D"/>
                            </a:solidFill>
                            <a:latin typeface="Cambria Math" panose="02040503050406030204" pitchFamily="18" charset="0"/>
                          </a:rPr>
                          <m:t>𝑎</m:t>
                        </m:r>
                      </m:e>
                      <m:sub>
                        <m:r>
                          <a:rPr lang="en-IN" sz="2800" i="1">
                            <a:solidFill>
                              <a:srgbClr val="15803D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sub>
                    </m:sSub>
                    <m:r>
                      <m:rPr>
                        <m:sty m:val="p"/>
                      </m:rPr>
                      <a:rPr lang="en-IN" sz="2800">
                        <a:solidFill>
                          <a:srgbClr val="15803D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800" i="1">
                        <a:solidFill>
                          <a:srgbClr val="15803D"/>
                        </a:solidFill>
                        <a:latin typeface="Cambria Math" panose="02040503050406030204" pitchFamily="18" charset="0"/>
                      </a:rPr>
                      <m:t>2</m:t>
                    </m:r>
                    <m:sSub>
                      <m:e>
                        <m:r>
                          <a:rPr lang="en-IN" sz="2800" i="1">
                            <a:solidFill>
                              <a:srgbClr val="15803D"/>
                            </a:solidFill>
                            <a:latin typeface="Cambria Math" panose="02040503050406030204" pitchFamily="18" charset="0"/>
                          </a:rPr>
                          <m:t>𝑎</m:t>
                        </m:r>
                      </m:e>
                      <m:sub>
                        <m:r>
                          <a:rPr lang="en-IN" sz="2800" i="1">
                            <a:solidFill>
                              <a:srgbClr val="15803D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b>
                    </m:sSub>
                    <m:r>
                      <m:rPr>
                        <m:sty m:val="p"/>
                      </m:rPr>
                      <a:rPr lang="en-IN" sz="2800">
                        <a:solidFill>
                          <a:srgbClr val="15803D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m:rPr>
                        <m:sty m:val="p"/>
                      </m:rPr>
                      <a:rPr lang="en-IN" sz="2800">
                        <a:solidFill>
                          <a:srgbClr val="15803D"/>
                        </a:solidFill>
                        <a:latin typeface="Cambria Math" panose="02040503050406030204" pitchFamily="18" charset="0"/>
                      </a:rPr>
                      <m:t>…</m:t>
                    </m:r>
                    <m:r>
                      <m:rPr>
                        <m:sty m:val="p"/>
                      </m:rPr>
                      <a:rPr lang="en-IN" sz="2800">
                        <a:solidFill>
                          <a:srgbClr val="15803D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800" i="1">
                        <a:solidFill>
                          <a:srgbClr val="15803D"/>
                        </a:solidFill>
                        <a:latin typeface="Cambria Math" panose="02040503050406030204" pitchFamily="18" charset="0"/>
                      </a:rPr>
                      <m:t>𝑛</m:t>
                    </m:r>
                    <m:sSub>
                      <m:e>
                        <m:r>
                          <a:rPr lang="en-IN" sz="2800" i="1">
                            <a:solidFill>
                              <a:srgbClr val="15803D"/>
                            </a:solidFill>
                            <a:latin typeface="Cambria Math" panose="02040503050406030204" pitchFamily="18" charset="0"/>
                          </a:rPr>
                          <m:t>𝑎</m:t>
                        </m:r>
                      </m:e>
                      <m:sub>
                        <m:r>
                          <a:rPr lang="en-IN" sz="2800" i="1">
                            <a:solidFill>
                              <a:srgbClr val="15803D"/>
                            </a:solidFill>
                            <a:latin typeface="Cambria Math" panose="02040503050406030204" pitchFamily="18" charset="0"/>
                          </a:rPr>
                          <m:t>𝑛</m:t>
                        </m:r>
                      </m:sub>
                    </m:sSub>
                    <m:r>
                      <m:rPr>
                        <m:sty m:val="p"/>
                      </m:rPr>
                      <a:rPr lang="en-IN" sz="2800">
                        <a:solidFill>
                          <a:srgbClr val="15803D"/>
                        </a:solidFill>
                        <a:latin typeface="Cambria Math" panose="02040503050406030204" pitchFamily="18" charset="0"/>
                      </a:rPr>
                      <m:t>|</m:t>
                    </m:r>
                    <m:r>
                      <m:rPr>
                        <m:sty m:val="p"/>
                      </m:rPr>
                      <a:rPr lang="en-IN" sz="2800">
                        <a:solidFill>
                          <a:srgbClr val="15803D"/>
                        </a:solidFill>
                        <a:latin typeface="Cambria Math" panose="02040503050406030204" pitchFamily="18" charset="0"/>
                      </a:rPr>
                      <m:t>≤</m:t>
                    </m:r>
                    <m:r>
                      <a:rPr lang="en-IN" sz="2800" i="1">
                        <a:solidFill>
                          <a:srgbClr val="15803D"/>
                        </a:solidFill>
                        <a:latin typeface="Cambria Math" panose="02040503050406030204" pitchFamily="18" charset="0"/>
                      </a:rPr>
                      <m:t>1</m:t>
                    </m:r>
                  </m:oMath>
                </a14:m>
                <a:endParaRPr sz="2800">
                  <a:solidFill>
                    <a:srgbClr val="15803D"/>
                  </a:solidFill>
                </a:endParaRPr>
              </a:p>
            </p:txBody>
          </p:sp>
        </mc:Choice>
        <mc:Fallback>
          <p:sp>
            <p:nvSpPr>
              <p:cNvPr id="5" name="Rounded Rectangle 4"/>
              <p:cNvSpPr/>
              <p:nvPr/>
            </p:nvSpPr>
            <p:spPr>
              <a:xfrm>
                <a:off x="731520" y="5897880"/>
                <a:ext cx="10725912" cy="777240"/>
              </a:xfrm>
              <a:prstGeom prst="roundRect">
                <a:avLst>
                  <a:gd name="adj" fmla="val 8000"/>
                </a:avLst>
              </a:prstGeom>
              <a:solidFill>
                <a:srgbClr val="DCFCE7"/>
              </a:solidFill>
              <a:ln w="25400">
                <a:solidFill>
                  <a:srgbClr val="15803D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5803D"/>
              </a:fontRef>
            </p:style>
            <p:txBody>
              <a:bodyPr rtlCol="0" anchor="ctr" wrap="square" lIns="228600" rIns="228600" tIns="18288" bIns="73152"/>
              <a:lstStyle>
                <a:lvl1pPr>
                  <a:defRPr sz="2800">
                    <a:solidFill>
                      <a:srgbClr val="15803D"/>
                    </a:solidFill>
                  </a:defRPr>
                </a:lvl1pPr>
              </a:lstStyle>
              <a:p>
                <a:pPr algn="ctr">
                  <a:defRPr sz="2800">
                    <a:solidFill>
                      <a:srgbClr val="15803D"/>
                    </a:solidFill>
                  </a:defRPr>
                </a:pPr>
                <a:r>
                  <a:rPr sz="2800" b="1">
                    <a:solidFill>
                      <a:srgbClr val="15803D"/>
                    </a:solidFill>
                    <a:latin typeface="Arial"/>
                  </a:rPr>
                  <a:t>Correct Answer: Proved: </a:t>
                </a:r>
                <a:r>
                  <a:rPr lang="en-IN" sz="2800">
                    <a:solidFill>
                      <a:srgbClr val="15803D"/>
                    </a:solidFill>
                    <a:latin typeface="Cambria Math" panose="02040503050406030204" pitchFamily="18" charset="0"/>
                  </a:rPr>
                  <a:t>$|a_1+2a_2+\dots+na_n|\le1$</a:t>
                </a:r>
                <a:endParaRPr sz="2800">
                  <a:solidFill>
                    <a:srgbClr val="15803D"/>
                  </a:solidFill>
                </a:endParaRPr>
              </a:p>
            </p:txBody>
          </p:sp>
        </mc:Fallback>
      </mc:AlternateContent>
    </p:spTree>
  </p:cSld>
  <p:clrMapOvr>
    <a:masterClrMapping/>
  </p:clrMapOvr>
</p:sld>
</file>

<file path=ppt/slides/slide5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FFFFFF"/>
          </a:fontRef>
        </p:style>
        <p:txBody>
          <a:bodyPr rtlCol="0" anchor="ctr" lIns="731520"/>
          <a:lstStyle>
            <a:lvl1pPr>
              <a:defRPr sz="3200">
                <a:solidFill>
                  <a:srgbClr val="FFFFFF"/>
                </a:solidFill>
              </a:defRPr>
            </a:lvl1pPr>
          </a:lstStyle>
          <a:p>
            <a:pPr algn="l">
              <a:defRPr sz="3200">
                <a:solidFill>
                  <a:srgbClr val="FFFFFF"/>
                </a:solidFill>
              </a:defRPr>
            </a:pPr>
            <a:r>
              <a:rPr sz="3200" b="1">
                <a:solidFill>
                  <a:srgbClr val="FFFFFF"/>
                </a:solidFill>
                <a:latin typeface="Arial"/>
              </a:rPr>
              <a:t>Question 08</a:t>
            </a:r>
            <a:endParaRPr sz="3200">
              <a:solidFill>
                <a:srgbClr val="FFFFFF"/>
              </a:solidFill>
            </a:endParaRPr>
          </a:p>
        </p:txBody>
      </p:sp>
      <p:sp>
        <p:nvSpPr>
          <p:cNvPr id="3" name="Rounded Rectangle 2"/>
          <p:cNvSpPr/>
          <p:nvPr/>
        </p:nvSpPr>
        <p:spPr>
          <a:xfrm>
            <a:off x="7894015" y="246887"/>
            <a:ext cx="3840480" cy="603504"/>
          </a:xfrm>
          <a:prstGeom prst="roundRect">
            <a:avLst>
              <a:gd name="adj" fmla="val 50000"/>
            </a:avLst>
          </a:prstGeom>
          <a:solidFill>
            <a:srgbClr val="F6B26B"/>
          </a:solidFill>
          <a:ln w="1905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111827"/>
          </a:fontRef>
        </p:style>
        <p:txBody>
          <a:bodyPr rtlCol="0" anchor="ctr" wrap="square" lIns="228600" rIns="228600" tIns="18288" bIns="18288"/>
          <a:lstStyle>
            <a:lvl1pPr>
              <a:defRPr sz="2400">
                <a:solidFill>
                  <a:srgbClr val="111827"/>
                </a:solidFill>
              </a:defRPr>
            </a:lvl1pPr>
          </a:lstStyle>
          <a:p>
            <a:pPr algn="ctr">
              <a:defRPr sz="2400">
                <a:solidFill>
                  <a:srgbClr val="111827"/>
                </a:solidFill>
              </a:defRPr>
            </a:pPr>
            <a:r>
              <a:rPr sz="2400" b="1">
                <a:solidFill>
                  <a:srgbClr val="111827"/>
                </a:solidFill>
                <a:latin typeface="Arial"/>
              </a:rPr>
              <a:t>Level 3  ·  4 Marks</a:t>
            </a:r>
            <a:endParaRPr sz="2400">
              <a:solidFill>
                <a:srgbClr val="111827"/>
              </a:solidFill>
            </a:endParaRPr>
          </a:p>
        </p:txBody>
      </p:sp>
      <p:sp>
        <p:nvSpPr>
          <p:cNvPr id="4" name="Rounded Rectangle 3"/>
          <p:cNvSpPr/>
          <p:nvPr/>
        </p:nvSpPr>
        <p:spPr>
          <a:xfrm>
            <a:off x="3520440" y="265176"/>
            <a:ext cx="4206240" cy="566928"/>
          </a:xfrm>
          <a:prstGeom prst="roundRect">
            <a:avLst>
              <a:gd name="adj" fmla="val 50000"/>
            </a:avLst>
          </a:prstGeom>
          <a:solidFill>
            <a:srgbClr val="E0ECFF"/>
          </a:solidFill>
          <a:ln w="25400">
            <a:solidFill>
              <a:srgbClr val="1D4ED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0B1F3A"/>
          </a:fontRef>
        </p:style>
        <p:txBody>
          <a:bodyPr rtlCol="0" anchor="ctr" wrap="square" lIns="228600" rIns="228600" tIns="18288" bIns="18288"/>
          <a:lstStyle>
            <a:lvl1pPr>
              <a:defRPr sz="2200">
                <a:solidFill>
                  <a:srgbClr val="0B1F3A"/>
                </a:solidFill>
              </a:defRPr>
            </a:lvl1pPr>
          </a:lstStyle>
          <a:p>
            <a:pPr algn="ctr">
              <a:defRPr sz="2200">
                <a:solidFill>
                  <a:srgbClr val="0B1F3A"/>
                </a:solidFill>
              </a:defRPr>
            </a:pPr>
            <a:r>
              <a:rPr sz="2200" b="1">
                <a:solidFill>
                  <a:srgbClr val="0B1F3A"/>
                </a:solidFill>
                <a:latin typeface="Arial"/>
              </a:rPr>
              <a:t>Useful Result / Pattern</a:t>
            </a:r>
            <a:endParaRPr sz="2200">
              <a:solidFill>
                <a:srgbClr val="0B1F3A"/>
              </a:solidFill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5" name="Rectangle 4"/>
              <p:cNvSpPr/>
              <p:nvPr/>
            </p:nvSpPr>
            <p:spPr>
              <a:xfrm>
                <a:off x="731520" y="1353312"/>
                <a:ext cx="10725912" cy="5321808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If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|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𝐹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|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≤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|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𝐺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|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near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𝑎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and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𝐺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𝑎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0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then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𝐹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𝑎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0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and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|</m:t>
                    </m:r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𝐹</m:t>
                        </m:r>
                      </m:e>
                      <m:sup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′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𝑎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|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≤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|</m:t>
                    </m:r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𝐺</m:t>
                        </m:r>
                      </m:e>
                      <m:sup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′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𝑎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|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whenever both derivatives exist: a polynomial or smooth function squeezed by a function vanishing at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𝑎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is dominated in slope too.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Always extract the point condition first (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gives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𝑝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0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) before using the derivative definition.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14:m>
                  <m:oMath xmlns:m="http://schemas.openxmlformats.org/officeDocument/2006/math">
                    <m:sSub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𝑎</m:t>
                        </m:r>
                      </m:e>
                      <m:sub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sub>
                    </m:sSub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  <m:sSub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𝑎</m:t>
                        </m:r>
                      </m:e>
                      <m:sub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b>
                    </m:sSub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…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𝑛</m:t>
                    </m:r>
                    <m:sSub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𝑎</m:t>
                        </m:r>
                      </m:e>
                      <m:sub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𝑛</m:t>
                        </m:r>
                      </m:sub>
                    </m:sSub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𝑝</m:t>
                        </m:r>
                      </m:e>
                      <m:sup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′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: recognise a weighted coefficient sum as a derivative value;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𝑝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∑</m:t>
                    </m:r>
                    <m:sSub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𝑎</m:t>
                        </m:r>
                      </m:e>
                      <m:sub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𝑘</m:t>
                        </m:r>
                      </m:sub>
                    </m:sSub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is the plain coefficient sum.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14:m>
                  <m:oMath xmlns:m="http://schemas.openxmlformats.org/officeDocument/2006/math">
                    <m:sSub>
                      <m:e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lim</m:t>
                        </m:r>
                      </m:e>
                      <m:sub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ℎ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→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0</m:t>
                        </m:r>
                      </m:sub>
                    </m:sSub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sSup>
                          <m:e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𝑒</m:t>
                            </m:r>
                          </m:e>
                          <m:sup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ℎ</m:t>
                            </m:r>
                          </m:sup>
                        </m:sSup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−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ℎ</m:t>
                        </m:r>
                      </m:den>
                    </m:f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is the standard limit behind </a:t>
                </a:r>
                <a14:m>
                  <m:oMath xmlns:m="http://schemas.openxmlformats.org/officeDocument/2006/math"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𝑑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𝑑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</m:den>
                    </m:f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𝑒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−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sup>
                    </m:sSup>
                    <m:sSub>
                      <m:e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|</m:t>
                        </m:r>
                      </m:e>
                      <m:sub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=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sub>
                    </m:sSub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Choice>
        <mc:Fallback>
          <p:sp>
            <p:nvSpPr>
              <p:cNvPr id="5" name="Rectangle 4"/>
              <p:cNvSpPr/>
              <p:nvPr/>
            </p:nvSpPr>
            <p:spPr>
              <a:xfrm>
                <a:off x="731520" y="1353312"/>
                <a:ext cx="10725912" cy="5321808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If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$|F(x)|\le|G(x)|$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near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$a$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and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$G(a)=0$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then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$F(a)=0$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and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$|F'(a)|\le|G'(a)|$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whenever both derivatives exist: a polynomial or smooth function squeezed by a function vanishing at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$a$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is dominated in slope too.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Always extract the point condition first (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$x=1$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gives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$p(1)=0$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) before using the derivative definition.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$a_1+2a_2+\dots+na_n=p'(1)$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: recognise a weighted coefficient sum as a derivative value;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$p(1)=\sum a_k$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is the plain coefficient sum.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$\lim_{h\to0}\frac{e^h-1}{h}=1$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is the standard limit behind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$\frac{d}{dx}e^{x-1}\big|_{x=1}=1$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Fallback>
      </mc:AlternateContent>
    </p:spTree>
  </p:cSld>
  <p:clrMapOvr>
    <a:masterClrMapping/>
  </p:clrMapOvr>
</p:sld>
</file>

<file path=ppt/slides/slide5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914400" y="1463040"/>
            <a:ext cx="10362895" cy="4114800"/>
          </a:xfrm>
          <a:prstGeom prst="rect">
            <a:avLst/>
          </a:prstGeom>
          <a:noFill/>
        </p:spPr>
        <p:txBody>
          <a:bodyPr wrap="square">
            <a:spAutoFit/>
          </a:bodyPr>
          <a:lstStyle>
            <a:lvl1pPr>
              <a:defRPr sz="2800">
                <a:solidFill>
                  <a:srgbClr val="FFFFFF"/>
                </a:solidFill>
              </a:defRPr>
            </a:lvl1pPr>
          </a:lstStyle>
          <a:p>
            <a:pPr algn="ctr">
              <a:spcAft>
                <a:spcPts val="1000"/>
              </a:spcAft>
              <a:defRPr sz="2800">
                <a:solidFill>
                  <a:srgbClr val="FFFFFF"/>
                </a:solidFill>
              </a:defRPr>
            </a:pPr>
            <a:r>
              <a:rPr sz="2800" b="0">
                <a:solidFill>
                  <a:srgbClr val="93C5FD"/>
                </a:solidFill>
                <a:latin typeface="Arial"/>
              </a:rPr>
              <a:t>Section 6</a:t>
            </a:r>
            <a:endParaRPr sz="2800">
              <a:solidFill>
                <a:srgbClr val="FFFFFF"/>
              </a:solidFill>
            </a:endParaRPr>
          </a:p>
          <a:p>
            <a:pPr algn="ctr">
              <a:spcAft>
                <a:spcPts val="1000"/>
              </a:spcAft>
              <a:defRPr sz="2800">
                <a:solidFill>
                  <a:srgbClr val="FFFFFF"/>
                </a:solidFill>
              </a:defRPr>
            </a:pPr>
            <a:r>
              <a:rPr sz="4400" b="1">
                <a:solidFill>
                  <a:srgbClr val="FFFFFF"/>
                </a:solidFill>
                <a:latin typeface="Arial"/>
              </a:rPr>
              <a:t>Numerical Type</a:t>
            </a:r>
            <a:endParaRPr sz="2800">
              <a:solidFill>
                <a:srgbClr val="FFFFFF"/>
              </a:solidFill>
            </a:endParaRPr>
          </a:p>
          <a:p>
            <a:pPr algn="ctr">
              <a:spcAft>
                <a:spcPts val="1000"/>
              </a:spcAft>
              <a:defRPr sz="2800">
                <a:solidFill>
                  <a:srgbClr val="FFFFFF"/>
                </a:solidFill>
              </a:defRPr>
            </a:pPr>
            <a:r>
              <a:rPr sz="3200" b="1">
                <a:solidFill>
                  <a:srgbClr val="FFFFFF"/>
                </a:solidFill>
                <a:latin typeface="Arial"/>
              </a:rPr>
              <a:t>Q09</a:t>
            </a:r>
            <a:endParaRPr sz="2800">
              <a:solidFill>
                <a:srgbClr val="FFFFFF"/>
              </a:solidFill>
            </a:endParaRPr>
          </a:p>
          <a:p>
            <a:pPr algn="ctr">
              <a:spcAft>
                <a:spcPts val="1000"/>
              </a:spcAft>
              <a:defRPr sz="2800">
                <a:solidFill>
                  <a:srgbClr val="FFFFFF"/>
                </a:solidFill>
              </a:defRPr>
            </a:pPr>
            <a:r>
              <a:rPr sz="2800" b="0">
                <a:solidFill>
                  <a:srgbClr val="FFFFFF"/>
                </a:solidFill>
                <a:latin typeface="Arial"/>
              </a:rPr>
              <a:t>4 marks (no marks printed in the paper: JEE Advanced default assumed)</a:t>
            </a:r>
            <a:endParaRPr sz="2800">
              <a:solidFill>
                <a:srgbClr val="FFFFFF"/>
              </a:solidFill>
            </a:endParaRPr>
          </a:p>
          <a:p>
            <a:pPr algn="ctr">
              <a:spcAft>
                <a:spcPts val="1000"/>
              </a:spcAft>
              <a:defRPr sz="2800">
                <a:solidFill>
                  <a:srgbClr val="FFFFFF"/>
                </a:solidFill>
              </a:defRPr>
            </a:pPr>
            <a:r>
              <a:rPr sz="2800" b="0">
                <a:solidFill>
                  <a:srgbClr val="FFFFFF"/>
                </a:solidFill>
                <a:latin typeface="Arial"/>
              </a:rPr>
              <a:t>Numerical value answer</a:t>
            </a:r>
            <a:endParaRPr sz="2800">
              <a:solidFill>
                <a:srgbClr val="FFFFFF"/>
              </a:solidFill>
            </a:endParaRPr>
          </a:p>
        </p:txBody>
      </p:sp>
    </p:spTree>
  </p:cSld>
  <p:clrMapOvr>
    <a:masterClrMapping/>
  </p:clrMapOvr>
</p:sld>
</file>

<file path=ppt/slides/slide5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FFFFFF"/>
          </a:fontRef>
        </p:style>
        <p:txBody>
          <a:bodyPr rtlCol="0" anchor="ctr" lIns="731520"/>
          <a:lstStyle>
            <a:lvl1pPr>
              <a:defRPr sz="3200">
                <a:solidFill>
                  <a:srgbClr val="FFFFFF"/>
                </a:solidFill>
              </a:defRPr>
            </a:lvl1pPr>
          </a:lstStyle>
          <a:p>
            <a:pPr algn="l">
              <a:defRPr sz="3200">
                <a:solidFill>
                  <a:srgbClr val="FFFFFF"/>
                </a:solidFill>
              </a:defRPr>
            </a:pPr>
            <a:r>
              <a:rPr sz="3200" b="1">
                <a:solidFill>
                  <a:srgbClr val="FFFFFF"/>
                </a:solidFill>
                <a:latin typeface="Arial"/>
              </a:rPr>
              <a:t>Question 09</a:t>
            </a:r>
            <a:endParaRPr sz="3200">
              <a:solidFill>
                <a:srgbClr val="FFFFFF"/>
              </a:solidFill>
            </a:endParaRPr>
          </a:p>
        </p:txBody>
      </p:sp>
      <p:sp>
        <p:nvSpPr>
          <p:cNvPr id="3" name="Rounded Rectangle 2"/>
          <p:cNvSpPr/>
          <p:nvPr/>
        </p:nvSpPr>
        <p:spPr>
          <a:xfrm>
            <a:off x="7894015" y="246887"/>
            <a:ext cx="3840480" cy="603504"/>
          </a:xfrm>
          <a:prstGeom prst="roundRect">
            <a:avLst>
              <a:gd name="adj" fmla="val 50000"/>
            </a:avLst>
          </a:prstGeom>
          <a:solidFill>
            <a:srgbClr val="FFD966"/>
          </a:solidFill>
          <a:ln w="1905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111827"/>
          </a:fontRef>
        </p:style>
        <p:txBody>
          <a:bodyPr rtlCol="0" anchor="ctr" wrap="square" lIns="228600" rIns="228600" tIns="18288" bIns="18288"/>
          <a:lstStyle>
            <a:lvl1pPr>
              <a:defRPr sz="2400">
                <a:solidFill>
                  <a:srgbClr val="111827"/>
                </a:solidFill>
              </a:defRPr>
            </a:lvl1pPr>
          </a:lstStyle>
          <a:p>
            <a:pPr algn="ctr">
              <a:defRPr sz="2400">
                <a:solidFill>
                  <a:srgbClr val="111827"/>
                </a:solidFill>
              </a:defRPr>
            </a:pPr>
            <a:r>
              <a:rPr sz="2400" b="1">
                <a:solidFill>
                  <a:srgbClr val="111827"/>
                </a:solidFill>
                <a:latin typeface="Arial"/>
              </a:rPr>
              <a:t>Level 2  ·  4 Marks</a:t>
            </a:r>
            <a:endParaRPr sz="2400">
              <a:solidFill>
                <a:srgbClr val="111827"/>
              </a:solidFill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4" name="Rounded Rectangle 3"/>
              <p:cNvSpPr/>
              <p:nvPr/>
            </p:nvSpPr>
            <p:spPr>
              <a:xfrm>
                <a:off x="731520" y="1280160"/>
                <a:ext cx="10725912" cy="2117851"/>
              </a:xfrm>
              <a:prstGeom prst="roundRect">
                <a:avLst>
                  <a:gd name="adj" fmla="val 8000"/>
                </a:avLst>
              </a:prstGeom>
              <a:solidFill>
                <a:srgbClr val="E0ECFF"/>
              </a:solidFill>
              <a:ln w="25400">
                <a:solidFill>
                  <a:srgbClr val="1D4ED8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>
                  <a:spcAft>
                    <a:spcPts val="500"/>
                  </a:spcAft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Suppose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𝑓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and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𝑔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are two functions such that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𝑓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,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𝑔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:</m:t>
                    </m:r>
                    <m:r>
                      <m:rPr>
                        <m:scr m:val="double-struck"/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R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→</m:t>
                    </m:r>
                    <m:r>
                      <m:rPr>
                        <m:scr m:val="double-struck"/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R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𝑓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ln</m:t>
                    </m:r>
                    <m:d>
                      <m:dPr>
                        <m:begChr m:val="("/>
                        <m:sepChr m:val=""/>
                        <m:endChr m:val=")"/>
                        <m:grow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+</m:t>
                        </m:r>
                        <m:rad>
                          <m:radPr>
                            <m:degHide m:val="on"/>
                            <m:ctrlP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radPr>
                          <m:deg/>
                          <m:e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1</m:t>
                            </m:r>
                            <m:r>
                              <m:rPr>
                                <m:sty m:val="p"/>
                              </m:rPr>
                              <a:rPr lang="en-IN" sz="2400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+</m:t>
                            </m:r>
                            <m:sSup>
                              <m:e>
                                <m:r>
                                  <a:rPr lang="en-IN" sz="2400" i="1">
                                    <a:solidFill>
                                      <a:srgbClr val="111827"/>
                                    </a:solidFill>
                                    <a:latin typeface="Cambria Math" panose="02040503050406030204" pitchFamily="18" charset="0"/>
                                  </a:rPr>
                                  <m:t>𝑥</m:t>
                                </m:r>
                              </m:e>
                              <m:sup>
                                <m:r>
                                  <a:rPr lang="en-IN" sz="2400" i="1">
                                    <a:solidFill>
                                      <a:srgbClr val="111827"/>
                                    </a:solidFill>
                                    <a:latin typeface="Cambria Math" panose="02040503050406030204" pitchFamily="18" charset="0"/>
                                  </a:rPr>
                                  <m:t>2</m:t>
                                </m:r>
                              </m:sup>
                            </m:sSup>
                          </m:e>
                        </m:rad>
                      </m:e>
                    </m:d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and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𝑔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ln</m:t>
                    </m:r>
                    <m:d>
                      <m:dPr>
                        <m:begChr m:val="("/>
                        <m:sepChr m:val=""/>
                        <m:endChr m:val=")"/>
                        <m:grow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+</m:t>
                        </m:r>
                        <m:rad>
                          <m:radPr>
                            <m:degHide m:val="on"/>
                            <m:ctrlP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radPr>
                          <m:deg/>
                          <m:e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1</m:t>
                            </m:r>
                            <m:r>
                              <m:rPr>
                                <m:sty m:val="p"/>
                              </m:rPr>
                              <a:rPr lang="en-IN" sz="2400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+</m:t>
                            </m:r>
                            <m:sSup>
                              <m:e>
                                <m:r>
                                  <a:rPr lang="en-IN" sz="2400" i="1">
                                    <a:solidFill>
                                      <a:srgbClr val="111827"/>
                                    </a:solidFill>
                                    <a:latin typeface="Cambria Math" panose="02040503050406030204" pitchFamily="18" charset="0"/>
                                  </a:rPr>
                                  <m:t>𝑥</m:t>
                                </m:r>
                              </m:e>
                              <m:sup>
                                <m:r>
                                  <a:rPr lang="en-IN" sz="2400" i="1">
                                    <a:solidFill>
                                      <a:srgbClr val="111827"/>
                                    </a:solidFill>
                                    <a:latin typeface="Cambria Math" panose="02040503050406030204" pitchFamily="18" charset="0"/>
                                  </a:rPr>
                                  <m:t>2</m:t>
                                </m:r>
                              </m:sup>
                            </m:sSup>
                          </m:e>
                        </m:rad>
                      </m:e>
                    </m:d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 Find the value of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 </m:t>
                    </m:r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𝑒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𝑔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(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)</m:t>
                        </m:r>
                      </m:sup>
                    </m:sSup>
                    <m:sSup>
                      <m:e>
                        <m:d>
                          <m:dPr>
                            <m:begChr m:val="("/>
                            <m:sepChr m:val=""/>
                            <m:endChr m:val=")"/>
                            <m:grow/>
                            <m:ctrlP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𝑓</m:t>
                            </m:r>
                            <m:d>
                              <m:dPr>
                                <m:begChr m:val="("/>
                                <m:sepChr m:val=""/>
                                <m:endChr m:val=")"/>
                                <m:grow/>
                                <m:ctrlPr>
                                  <a:rPr lang="en-IN" sz="2400" i="1">
                                    <a:solidFill>
                                      <a:srgbClr val="111827"/>
                                    </a:solidFill>
                                    <a:latin typeface="Cambria Math" panose="02040503050406030204" pitchFamily="18" charset="0"/>
                                  </a:rPr>
                                </m:ctrlPr>
                              </m:dPr>
                              <m:e>
                                <m:f>
                                  <m:fPr>
                                    <m:type m:val="bar"/>
                                    <m:ctrlPr>
                                      <a:rPr lang="en-IN" sz="2400" i="1">
                                        <a:solidFill>
                                          <a:srgbClr val="111827"/>
                                        </a:solidFill>
                                        <a:latin typeface="Cambria Math" panose="02040503050406030204" pitchFamily="18" charset="0"/>
                                      </a:rPr>
                                    </m:ctrlPr>
                                  </m:fPr>
                                  <m:num>
                                    <m:r>
                                      <a:rPr lang="en-IN" sz="2400" i="1">
                                        <a:solidFill>
                                          <a:srgbClr val="111827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1</m:t>
                                    </m:r>
                                  </m:num>
                                  <m:den>
                                    <m:r>
                                      <a:rPr lang="en-IN" sz="2400" i="1">
                                        <a:solidFill>
                                          <a:srgbClr val="111827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𝑥</m:t>
                                    </m:r>
                                  </m:den>
                                </m:f>
                              </m:e>
                            </m:d>
                          </m:e>
                        </m:d>
                      </m:e>
                      <m:sup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′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𝑔</m:t>
                        </m:r>
                      </m:e>
                      <m:sup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′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at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Choice>
        <mc:Fallback>
          <p:sp>
            <p:nvSpPr>
              <p:cNvPr id="4" name="Rounded Rectangle 3"/>
              <p:cNvSpPr/>
              <p:nvPr/>
            </p:nvSpPr>
            <p:spPr>
              <a:xfrm>
                <a:off x="731520" y="1280160"/>
                <a:ext cx="10725912" cy="2117851"/>
              </a:xfrm>
              <a:prstGeom prst="roundRect">
                <a:avLst>
                  <a:gd name="adj" fmla="val 8000"/>
                </a:avLst>
              </a:prstGeom>
              <a:solidFill>
                <a:srgbClr val="E0ECFF"/>
              </a:solidFill>
              <a:ln w="25400">
                <a:solidFill>
                  <a:srgbClr val="1D4ED8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>
                  <a:spcAft>
                    <a:spcPts val="500"/>
                  </a:spcAft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Suppose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$f$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and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$g$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are two functions such that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$f,g:\mathbb R\to\mathbb R$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$f(x)=\ln\left(1+\sqrt{1+x^2}\right)$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and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$g(x)=\ln\left(x+\sqrt{1+x^2}\right)$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 Find the value of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$x\,e^{g(x)}\left(f\left(\frac1x\right)\right)'+g'(x)$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at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$x=1$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Fallback>
      </mc:AlternateContent>
      <p:sp>
        <p:nvSpPr>
          <p:cNvPr id="5" name="Rectangle 4"/>
          <p:cNvSpPr/>
          <p:nvPr/>
        </p:nvSpPr>
        <p:spPr>
          <a:xfrm>
            <a:off x="731520" y="3626611"/>
            <a:ext cx="10725912" cy="2194560"/>
          </a:xfrm>
          <a:prstGeom prst="rect">
            <a:avLst/>
          </a:prstGeom>
          <a:solidFill>
            <a:srgbClr val="FFFFFF"/>
          </a:solidFill>
          <a:ln w="19050">
            <a:solidFill>
              <a:srgbClr val="6B728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111827"/>
          </a:fontRef>
        </p:style>
        <p:txBody>
          <a:bodyPr rtlCol="0" anchor="t" wrap="square" lIns="228600" rIns="228600" tIns="137160" bIns="73152"/>
          <a:lstStyle>
            <a:lvl1pPr>
              <a:defRPr sz="2400">
                <a:solidFill>
                  <a:srgbClr val="111827"/>
                </a:solidFill>
              </a:defRPr>
            </a:lvl1pPr>
          </a:lstStyle>
          <a:p>
            <a:pPr algn="l">
              <a:spcAft>
                <a:spcPts val="200"/>
              </a:spcAft>
              <a:defRPr sz="2400">
                <a:solidFill>
                  <a:srgbClr val="111827"/>
                </a:solidFill>
              </a:defRPr>
            </a:pPr>
            <a:r>
              <a:rPr sz="2400" b="0">
                <a:solidFill>
                  <a:srgbClr val="111827"/>
                </a:solidFill>
                <a:latin typeface="Arial"/>
              </a:rPr>
              <a:t>Numerical Type (4 Marks)</a:t>
            </a:r>
            <a:endParaRPr sz="2400">
              <a:solidFill>
                <a:srgbClr val="111827"/>
              </a:solidFill>
            </a:endParaRPr>
          </a:p>
          <a:p>
            <a:pPr algn="l">
              <a:spcAft>
                <a:spcPts val="200"/>
              </a:spcAft>
              <a:defRPr sz="2400">
                <a:solidFill>
                  <a:srgbClr val="111827"/>
                </a:solidFill>
              </a:defRPr>
            </a:pPr>
            <a:r>
              <a:rPr sz="2400" b="0">
                <a:solidFill>
                  <a:srgbClr val="111827"/>
                </a:solidFill>
                <a:latin typeface="Arial"/>
              </a:rPr>
              <a:t>Concept(s) : Differentiation of inverse trigonometric, logarithmic and composite functions</a:t>
            </a:r>
            <a:endParaRPr sz="2400">
              <a:solidFill>
                <a:srgbClr val="111827"/>
              </a:solidFill>
            </a:endParaRPr>
          </a:p>
          <a:p>
            <a:pPr algn="l">
              <a:spcAft>
                <a:spcPts val="200"/>
              </a:spcAft>
              <a:defRPr sz="2400">
                <a:solidFill>
                  <a:srgbClr val="111827"/>
                </a:solidFill>
              </a:defRPr>
            </a:pPr>
            <a:r>
              <a:rPr sz="2400" b="0">
                <a:solidFill>
                  <a:srgbClr val="111827"/>
                </a:solidFill>
                <a:latin typeface="Arial"/>
              </a:rPr>
              <a:t>Difficulty Level: Level 2(A level below Average JEE Advanced Level)</a:t>
            </a:r>
            <a:endParaRPr sz="2400">
              <a:solidFill>
                <a:srgbClr val="111827"/>
              </a:solidFill>
            </a:endParaRPr>
          </a:p>
        </p:txBody>
      </p:sp>
    </p:spTree>
  </p:cSld>
  <p:clrMapOvr>
    <a:masterClrMapping/>
  </p:clrMapOvr>
</p:sld>
</file>

<file path=ppt/slides/slide5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FFFFFF"/>
          </a:fontRef>
        </p:style>
        <p:txBody>
          <a:bodyPr rtlCol="0" anchor="ctr" lIns="731520"/>
          <a:lstStyle>
            <a:lvl1pPr>
              <a:defRPr sz="3200">
                <a:solidFill>
                  <a:srgbClr val="FFFFFF"/>
                </a:solidFill>
              </a:defRPr>
            </a:lvl1pPr>
          </a:lstStyle>
          <a:p>
            <a:pPr algn="l">
              <a:defRPr sz="3200">
                <a:solidFill>
                  <a:srgbClr val="FFFFFF"/>
                </a:solidFill>
              </a:defRPr>
            </a:pPr>
            <a:r>
              <a:rPr sz="3200" b="1">
                <a:solidFill>
                  <a:srgbClr val="FFFFFF"/>
                </a:solidFill>
                <a:latin typeface="Arial"/>
              </a:rPr>
              <a:t>Question 09</a:t>
            </a:r>
            <a:endParaRPr sz="3200">
              <a:solidFill>
                <a:srgbClr val="FFFFFF"/>
              </a:solidFill>
            </a:endParaRPr>
          </a:p>
        </p:txBody>
      </p:sp>
      <p:sp>
        <p:nvSpPr>
          <p:cNvPr id="3" name="Rounded Rectangle 2"/>
          <p:cNvSpPr/>
          <p:nvPr/>
        </p:nvSpPr>
        <p:spPr>
          <a:xfrm>
            <a:off x="7894015" y="246887"/>
            <a:ext cx="3840480" cy="603504"/>
          </a:xfrm>
          <a:prstGeom prst="roundRect">
            <a:avLst>
              <a:gd name="adj" fmla="val 50000"/>
            </a:avLst>
          </a:prstGeom>
          <a:solidFill>
            <a:srgbClr val="FFD966"/>
          </a:solidFill>
          <a:ln w="1905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111827"/>
          </a:fontRef>
        </p:style>
        <p:txBody>
          <a:bodyPr rtlCol="0" anchor="ctr" wrap="square" lIns="228600" rIns="228600" tIns="18288" bIns="18288"/>
          <a:lstStyle>
            <a:lvl1pPr>
              <a:defRPr sz="2400">
                <a:solidFill>
                  <a:srgbClr val="111827"/>
                </a:solidFill>
              </a:defRPr>
            </a:lvl1pPr>
          </a:lstStyle>
          <a:p>
            <a:pPr algn="ctr">
              <a:defRPr sz="2400">
                <a:solidFill>
                  <a:srgbClr val="111827"/>
                </a:solidFill>
              </a:defRPr>
            </a:pPr>
            <a:r>
              <a:rPr sz="2400" b="1">
                <a:solidFill>
                  <a:srgbClr val="111827"/>
                </a:solidFill>
                <a:latin typeface="Arial"/>
              </a:rPr>
              <a:t>Level 2  ·  4 Marks</a:t>
            </a:r>
            <a:endParaRPr sz="2400">
              <a:solidFill>
                <a:srgbClr val="111827"/>
              </a:solidFill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4" name="Rounded Rectangle 3"/>
              <p:cNvSpPr/>
              <p:nvPr/>
            </p:nvSpPr>
            <p:spPr>
              <a:xfrm>
                <a:off x="731520" y="1280160"/>
                <a:ext cx="10725912" cy="1219200"/>
              </a:xfrm>
              <a:prstGeom prst="roundRect">
                <a:avLst>
                  <a:gd name="adj" fmla="val 8000"/>
                </a:avLst>
              </a:prstGeom>
              <a:solidFill>
                <a:srgbClr val="FDE68A"/>
              </a:solidFill>
              <a:ln w="31750">
                <a:solidFill>
                  <a:srgbClr val="D97706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78350F"/>
              </a:fontRef>
            </p:style>
            <p:txBody>
              <a:bodyPr rtlCol="0" anchor="ctr" wrap="square" lIns="228600" rIns="228600" tIns="54864" bIns="73152"/>
              <a:lstStyle>
                <a:lvl1pPr>
                  <a:defRPr sz="2400">
                    <a:solidFill>
                      <a:srgbClr val="78350F"/>
                    </a:solidFill>
                  </a:defRPr>
                </a:lvl1pPr>
              </a:lstStyle>
              <a:p>
                <a:pPr algn="l">
                  <a:defRPr sz="2400">
                    <a:solidFill>
                      <a:srgbClr val="78350F"/>
                    </a:solidFill>
                  </a:defRPr>
                </a:pPr>
                <a:r>
                  <a:rPr sz="2400" b="1">
                    <a:solidFill>
                      <a:srgbClr val="78350F"/>
                    </a:solidFill>
                    <a:latin typeface="Arial"/>
                  </a:rPr>
                  <a:t>Key idea:  </a:t>
                </a:r>
                <a14:m>
                  <m:oMath xmlns:m="http://schemas.openxmlformats.org/officeDocument/2006/math">
                    <m:sSup>
                      <m:e>
                        <m: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𝑒</m:t>
                        </m:r>
                      </m:e>
                      <m:sup>
                        <m: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𝑔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(</m:t>
                        </m:r>
                        <m: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)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+</m:t>
                    </m:r>
                    <m:rad>
                      <m:radPr>
                        <m:degHide m:val="on"/>
                        <m:ctrlP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</m:ctrlPr>
                      </m:radPr>
                      <m:deg/>
                      <m:e>
                        <m: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+</m:t>
                        </m:r>
                        <m:sSup>
                          <m:e>
                            <m:r>
                              <a:rPr lang="en-IN" sz="2400" i="1">
                                <a:solidFill>
                                  <a:srgbClr val="78350F"/>
                                </a:solidFill>
                                <a:latin typeface="Cambria Math" panose="02040503050406030204" pitchFamily="18" charset="0"/>
                              </a:rPr>
                              <m:t>𝑥</m:t>
                            </m:r>
                          </m:e>
                          <m:sup>
                            <m:r>
                              <a:rPr lang="en-IN" sz="2400" i="1">
                                <a:solidFill>
                                  <a:srgbClr val="78350F"/>
                                </a:solidFill>
                                <a:latin typeface="Cambria Math" panose="02040503050406030204" pitchFamily="18" charset="0"/>
                              </a:rPr>
                              <m:t>2</m:t>
                            </m:r>
                          </m:sup>
                        </m:sSup>
                      </m:e>
                    </m:rad>
                  </m:oMath>
                </a14:m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 cancels the denominator of </a:t>
                </a:r>
                <a14:m>
                  <m:oMath xmlns:m="http://schemas.openxmlformats.org/officeDocument/2006/math">
                    <m:sSup>
                      <m:e>
                        <m: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𝑓</m:t>
                        </m:r>
                      </m:e>
                      <m:sup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′</m:t>
                        </m:r>
                      </m:sup>
                    </m:sSup>
                    <m:d>
                      <m:dPr>
                        <m:begChr m:val="("/>
                        <m:sepChr m:val=""/>
                        <m:endChr m:val=")"/>
                        <m:grow/>
                        <m:ctrlP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f>
                          <m:fPr>
                            <m:type m:val="bar"/>
                            <m:ctrlPr>
                              <a:rPr lang="en-IN" sz="2400" i="1">
                                <a:solidFill>
                                  <a:srgbClr val="78350F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fPr>
                          <m:num>
                            <m:r>
                              <a:rPr lang="en-IN" sz="2400" i="1">
                                <a:solidFill>
                                  <a:srgbClr val="78350F"/>
                                </a:solidFill>
                                <a:latin typeface="Cambria Math" panose="02040503050406030204" pitchFamily="18" charset="0"/>
                              </a:rPr>
                              <m:t>1</m:t>
                            </m:r>
                          </m:num>
                          <m:den>
                            <m:r>
                              <a:rPr lang="en-IN" sz="2400" i="1">
                                <a:solidFill>
                                  <a:srgbClr val="78350F"/>
                                </a:solidFill>
                                <a:latin typeface="Cambria Math" panose="02040503050406030204" pitchFamily="18" charset="0"/>
                              </a:rPr>
                              <m:t>𝑥</m:t>
                            </m:r>
                          </m:den>
                        </m:f>
                      </m:e>
                    </m:d>
                  </m:oMath>
                </a14:m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, and the result is exactly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−</m:t>
                    </m:r>
                    <m:sSup>
                      <m:e>
                        <m: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𝑔</m:t>
                        </m:r>
                      </m:e>
                      <m:sup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′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.</a:t>
                </a:r>
                <a:endParaRPr sz="2400">
                  <a:solidFill>
                    <a:srgbClr val="78350F"/>
                  </a:solidFill>
                </a:endParaRPr>
              </a:p>
            </p:txBody>
          </p:sp>
        </mc:Choice>
        <mc:Fallback>
          <p:sp>
            <p:nvSpPr>
              <p:cNvPr id="4" name="Rounded Rectangle 3"/>
              <p:cNvSpPr/>
              <p:nvPr/>
            </p:nvSpPr>
            <p:spPr>
              <a:xfrm>
                <a:off x="731520" y="1280160"/>
                <a:ext cx="10725912" cy="1219200"/>
              </a:xfrm>
              <a:prstGeom prst="roundRect">
                <a:avLst>
                  <a:gd name="adj" fmla="val 8000"/>
                </a:avLst>
              </a:prstGeom>
              <a:solidFill>
                <a:srgbClr val="FDE68A"/>
              </a:solidFill>
              <a:ln w="31750">
                <a:solidFill>
                  <a:srgbClr val="D97706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78350F"/>
              </a:fontRef>
            </p:style>
            <p:txBody>
              <a:bodyPr rtlCol="0" anchor="ctr" wrap="square" lIns="228600" rIns="228600" tIns="54864" bIns="73152"/>
              <a:lstStyle>
                <a:lvl1pPr>
                  <a:defRPr sz="2400">
                    <a:solidFill>
                      <a:srgbClr val="78350F"/>
                    </a:solidFill>
                  </a:defRPr>
                </a:lvl1pPr>
              </a:lstStyle>
              <a:p>
                <a:pPr algn="l">
                  <a:defRPr sz="2400">
                    <a:solidFill>
                      <a:srgbClr val="78350F"/>
                    </a:solidFill>
                  </a:defRPr>
                </a:pPr>
                <a:r>
                  <a:rPr sz="2400" b="1">
                    <a:solidFill>
                      <a:srgbClr val="78350F"/>
                    </a:solidFill>
                    <a:latin typeface="Arial"/>
                  </a:rPr>
                  <a:t>Key idea:  </a:t>
                </a:r>
                <a:r>
                  <a:rPr lang="en-IN" sz="2400">
                    <a:solidFill>
                      <a:srgbClr val="78350F"/>
                    </a:solidFill>
                    <a:latin typeface="Cambria Math" panose="02040503050406030204" pitchFamily="18" charset="0"/>
                  </a:rPr>
                  <a:t>$e^{g(x)}=x+\sqrt{1+x^2}$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 cancels the denominator of </a:t>
                </a:r>
                <a:r>
                  <a:rPr lang="en-IN" sz="2400">
                    <a:solidFill>
                      <a:srgbClr val="78350F"/>
                    </a:solidFill>
                    <a:latin typeface="Cambria Math" panose="02040503050406030204" pitchFamily="18" charset="0"/>
                  </a:rPr>
                  <a:t>$f'\left(\frac1x\right)$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, and the result is exactly </a:t>
                </a:r>
                <a:r>
                  <a:rPr lang="en-IN" sz="2400">
                    <a:solidFill>
                      <a:srgbClr val="78350F"/>
                    </a:solidFill>
                    <a:latin typeface="Cambria Math" panose="02040503050406030204" pitchFamily="18" charset="0"/>
                  </a:rPr>
                  <a:t>$-g'(x)$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.</a:t>
                </a:r>
                <a:endParaRPr sz="2400">
                  <a:solidFill>
                    <a:srgbClr val="78350F"/>
                  </a:solidFill>
                </a:endParaRP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5" name="Rectangle 4"/>
              <p:cNvSpPr/>
              <p:nvPr/>
            </p:nvSpPr>
            <p:spPr>
              <a:xfrm>
                <a:off x="731520" y="2636520"/>
                <a:ext cx="10725912" cy="4038599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14:m>
                  <m:oMath xmlns:m="http://schemas.openxmlformats.org/officeDocument/2006/math">
                    <m:sSup>
                      <m:e>
                        <m:d>
                          <m:dPr>
                            <m:begChr m:val="["/>
                            <m:sepChr m:val=""/>
                            <m:endChr m:val="]"/>
                            <m:grow/>
                            <m:ctrlP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𝑓</m:t>
                            </m:r>
                            <m:d>
                              <m:dPr>
                                <m:begChr m:val="("/>
                                <m:sepChr m:val=""/>
                                <m:endChr m:val=")"/>
                                <m:grow/>
                                <m:ctrlPr>
                                  <a:rPr lang="en-IN" sz="2400" i="1">
                                    <a:solidFill>
                                      <a:srgbClr val="111827"/>
                                    </a:solidFill>
                                    <a:latin typeface="Cambria Math" panose="02040503050406030204" pitchFamily="18" charset="0"/>
                                  </a:rPr>
                                </m:ctrlPr>
                              </m:dPr>
                              <m:e>
                                <m:f>
                                  <m:fPr>
                                    <m:type m:val="bar"/>
                                    <m:ctrlPr>
                                      <a:rPr lang="en-IN" sz="2400" i="1">
                                        <a:solidFill>
                                          <a:srgbClr val="111827"/>
                                        </a:solidFill>
                                        <a:latin typeface="Cambria Math" panose="02040503050406030204" pitchFamily="18" charset="0"/>
                                      </a:rPr>
                                    </m:ctrlPr>
                                  </m:fPr>
                                  <m:num>
                                    <m:r>
                                      <a:rPr lang="en-IN" sz="2400" i="1">
                                        <a:solidFill>
                                          <a:srgbClr val="111827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1</m:t>
                                    </m:r>
                                  </m:num>
                                  <m:den>
                                    <m:r>
                                      <a:rPr lang="en-IN" sz="2400" i="1">
                                        <a:solidFill>
                                          <a:srgbClr val="111827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𝑥</m:t>
                                    </m:r>
                                  </m:den>
                                </m:f>
                              </m:e>
                            </m:d>
                          </m:e>
                        </m:d>
                      </m:e>
                      <m:sup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′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𝑓</m:t>
                        </m:r>
                      </m:e>
                      <m:sup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′</m:t>
                        </m:r>
                      </m:sup>
                    </m:sSup>
                    <m:d>
                      <m:dPr>
                        <m:begChr m:val="("/>
                        <m:sepChr m:val=""/>
                        <m:endChr m:val=")"/>
                        <m:grow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f>
                          <m:fPr>
                            <m:type m:val="bar"/>
                            <m:ctrlP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fPr>
                          <m:num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1</m:t>
                            </m:r>
                          </m:num>
                          <m:den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𝑥</m:t>
                            </m:r>
                          </m:den>
                        </m:f>
                      </m:e>
                    </m:d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⋅</m:t>
                    </m:r>
                    <m:d>
                      <m:dPr>
                        <m:begChr m:val="("/>
                        <m:sepChr m:val=""/>
                        <m:endChr m:val=")"/>
                        <m:grow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−</m:t>
                        </m:r>
                        <m:f>
                          <m:fPr>
                            <m:type m:val="bar"/>
                            <m:ctrlP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fPr>
                          <m:num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1</m:t>
                            </m:r>
                          </m:num>
                          <m:den>
                            <m:sSup>
                              <m:e>
                                <m:r>
                                  <a:rPr lang="en-IN" sz="2400" i="1">
                                    <a:solidFill>
                                      <a:srgbClr val="111827"/>
                                    </a:solidFill>
                                    <a:latin typeface="Cambria Math" panose="02040503050406030204" pitchFamily="18" charset="0"/>
                                  </a:rPr>
                                  <m:t>𝑥</m:t>
                                </m:r>
                              </m:e>
                              <m:sup>
                                <m:r>
                                  <a:rPr lang="en-IN" sz="2400" i="1">
                                    <a:solidFill>
                                      <a:srgbClr val="111827"/>
                                    </a:solidFill>
                                    <a:latin typeface="Cambria Math" panose="02040503050406030204" pitchFamily="18" charset="0"/>
                                  </a:rPr>
                                  <m:t>2</m:t>
                                </m:r>
                              </m:sup>
                            </m:sSup>
                          </m:den>
                        </m:f>
                      </m:e>
                    </m:d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 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𝑓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ln</m:t>
                    </m:r>
                    <m:d>
                      <m:dPr>
                        <m:begChr m:val="("/>
                        <m:sepChr m:val=""/>
                        <m:endChr m:val=")"/>
                        <m:grow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+</m:t>
                        </m:r>
                        <m:rad>
                          <m:radPr>
                            <m:degHide m:val="on"/>
                            <m:ctrlP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radPr>
                          <m:deg/>
                          <m:e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1</m:t>
                            </m:r>
                            <m:r>
                              <m:rPr>
                                <m:sty m:val="p"/>
                              </m:rPr>
                              <a:rPr lang="en-IN" sz="2400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+</m:t>
                            </m:r>
                            <m:sSup>
                              <m:e>
                                <m:r>
                                  <a:rPr lang="en-IN" sz="2400" i="1">
                                    <a:solidFill>
                                      <a:srgbClr val="111827"/>
                                    </a:solidFill>
                                    <a:latin typeface="Cambria Math" panose="02040503050406030204" pitchFamily="18" charset="0"/>
                                  </a:rPr>
                                  <m:t>𝑥</m:t>
                                </m:r>
                              </m:e>
                              <m:sup>
                                <m:r>
                                  <a:rPr lang="en-IN" sz="2400" i="1">
                                    <a:solidFill>
                                      <a:srgbClr val="111827"/>
                                    </a:solidFill>
                                    <a:latin typeface="Cambria Math" panose="02040503050406030204" pitchFamily="18" charset="0"/>
                                  </a:rPr>
                                  <m:t>2</m:t>
                                </m:r>
                              </m:sup>
                            </m:sSup>
                          </m:e>
                        </m:rad>
                      </m:e>
                    </m:d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⇒</m:t>
                    </m:r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𝑓</m:t>
                        </m:r>
                      </m:e>
                      <m:sup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′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+</m:t>
                        </m:r>
                        <m:rad>
                          <m:radPr>
                            <m:degHide m:val="on"/>
                            <m:ctrlP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radPr>
                          <m:deg/>
                          <m:e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1</m:t>
                            </m:r>
                            <m:r>
                              <m:rPr>
                                <m:sty m:val="p"/>
                              </m:rPr>
                              <a:rPr lang="en-IN" sz="2400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+</m:t>
                            </m:r>
                            <m:sSup>
                              <m:e>
                                <m:r>
                                  <a:rPr lang="en-IN" sz="2400" i="1">
                                    <a:solidFill>
                                      <a:srgbClr val="111827"/>
                                    </a:solidFill>
                                    <a:latin typeface="Cambria Math" panose="02040503050406030204" pitchFamily="18" charset="0"/>
                                  </a:rPr>
                                  <m:t>𝑥</m:t>
                                </m:r>
                              </m:e>
                              <m:sup>
                                <m:r>
                                  <a:rPr lang="en-IN" sz="2400" i="1">
                                    <a:solidFill>
                                      <a:srgbClr val="111827"/>
                                    </a:solidFill>
                                    <a:latin typeface="Cambria Math" panose="02040503050406030204" pitchFamily="18" charset="0"/>
                                  </a:rPr>
                                  <m:t>2</m:t>
                                </m:r>
                              </m:sup>
                            </m:sSup>
                          </m:e>
                        </m:rad>
                      </m:den>
                    </m:f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⋅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</m:num>
                      <m:den>
                        <m:rad>
                          <m:radPr>
                            <m:degHide m:val="on"/>
                            <m:ctrlP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radPr>
                          <m:deg/>
                          <m:e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1</m:t>
                            </m:r>
                            <m:r>
                              <m:rPr>
                                <m:sty m:val="p"/>
                              </m:rPr>
                              <a:rPr lang="en-IN" sz="2400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+</m:t>
                            </m:r>
                            <m:sSup>
                              <m:e>
                                <m:r>
                                  <a:rPr lang="en-IN" sz="2400" i="1">
                                    <a:solidFill>
                                      <a:srgbClr val="111827"/>
                                    </a:solidFill>
                                    <a:latin typeface="Cambria Math" panose="02040503050406030204" pitchFamily="18" charset="0"/>
                                  </a:rPr>
                                  <m:t>𝑥</m:t>
                                </m:r>
                              </m:e>
                              <m:sup>
                                <m:r>
                                  <a:rPr lang="en-IN" sz="2400" i="1">
                                    <a:solidFill>
                                      <a:srgbClr val="111827"/>
                                    </a:solidFill>
                                    <a:latin typeface="Cambria Math" panose="02040503050406030204" pitchFamily="18" charset="0"/>
                                  </a:rPr>
                                  <m:t>2</m:t>
                                </m:r>
                              </m:sup>
                            </m:sSup>
                          </m:e>
                        </m:rad>
                      </m:den>
                    </m:f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Replace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by </a:t>
                </a:r>
                <a14:m>
                  <m:oMath xmlns:m="http://schemas.openxmlformats.org/officeDocument/2006/math"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</m:den>
                    </m:f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(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&gt;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0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): </a:t>
                </a:r>
                <a14:m>
                  <m:oMath xmlns:m="http://schemas.openxmlformats.org/officeDocument/2006/math"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𝑓</m:t>
                        </m:r>
                      </m:e>
                      <m:sup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′</m:t>
                        </m:r>
                      </m:sup>
                    </m:sSup>
                    <m:d>
                      <m:dPr>
                        <m:begChr m:val="("/>
                        <m:sepChr m:val=""/>
                        <m:endChr m:val=")"/>
                        <m:grow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f>
                          <m:fPr>
                            <m:type m:val="bar"/>
                            <m:ctrlP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fPr>
                          <m:num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1</m:t>
                            </m:r>
                          </m:num>
                          <m:den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𝑥</m:t>
                            </m:r>
                          </m:den>
                        </m:f>
                      </m:e>
                    </m:d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+</m:t>
                        </m:r>
                        <m:rad>
                          <m:radPr>
                            <m:degHide m:val="on"/>
                            <m:ctrlP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radPr>
                          <m:deg/>
                          <m:e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1</m:t>
                            </m:r>
                            <m:r>
                              <m:rPr>
                                <m:sty m:val="p"/>
                              </m:rPr>
                              <a:rPr lang="en-IN" sz="2400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+</m:t>
                            </m:r>
                            <m:sSup>
                              <m:e>
                                <m:r>
                                  <a:rPr lang="en-IN" sz="2400" i="1">
                                    <a:solidFill>
                                      <a:srgbClr val="111827"/>
                                    </a:solidFill>
                                    <a:latin typeface="Cambria Math" panose="02040503050406030204" pitchFamily="18" charset="0"/>
                                  </a:rPr>
                                  <m:t>𝑥</m:t>
                                </m:r>
                              </m:e>
                              <m:sup>
                                <m:r>
                                  <a:rPr lang="en-IN" sz="2400" i="1">
                                    <a:solidFill>
                                      <a:srgbClr val="111827"/>
                                    </a:solidFill>
                                    <a:latin typeface="Cambria Math" panose="02040503050406030204" pitchFamily="18" charset="0"/>
                                  </a:rPr>
                                  <m:t>2</m:t>
                                </m:r>
                              </m:sup>
                            </m:sSup>
                          </m:e>
                        </m:rad>
                      </m:den>
                    </m:f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⋅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num>
                      <m:den>
                        <m:rad>
                          <m:radPr>
                            <m:degHide m:val="on"/>
                            <m:ctrlP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radPr>
                          <m:deg/>
                          <m:e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1</m:t>
                            </m:r>
                            <m:r>
                              <m:rPr>
                                <m:sty m:val="p"/>
                              </m:rPr>
                              <a:rPr lang="en-IN" sz="2400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+</m:t>
                            </m:r>
                            <m:sSup>
                              <m:e>
                                <m:r>
                                  <a:rPr lang="en-IN" sz="2400" i="1">
                                    <a:solidFill>
                                      <a:srgbClr val="111827"/>
                                    </a:solidFill>
                                    <a:latin typeface="Cambria Math" panose="02040503050406030204" pitchFamily="18" charset="0"/>
                                  </a:rPr>
                                  <m:t>𝑥</m:t>
                                </m:r>
                              </m:e>
                              <m:sup>
                                <m:r>
                                  <a:rPr lang="en-IN" sz="2400" i="1">
                                    <a:solidFill>
                                      <a:srgbClr val="111827"/>
                                    </a:solidFill>
                                    <a:latin typeface="Cambria Math" panose="02040503050406030204" pitchFamily="18" charset="0"/>
                                  </a:rPr>
                                  <m:t>2</m:t>
                                </m:r>
                              </m:sup>
                            </m:sSup>
                          </m:e>
                        </m:rad>
                      </m:den>
                    </m:f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14:m>
                  <m:oMath xmlns:m="http://schemas.openxmlformats.org/officeDocument/2006/math"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𝑒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𝑔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(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)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ad>
                      <m:radPr>
                        <m:degHide m:val="on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radPr>
                      <m:deg/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+</m:t>
                        </m:r>
                        <m:sSup>
                          <m:e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𝑥</m:t>
                            </m:r>
                          </m:e>
                          <m:sup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2</m:t>
                            </m:r>
                          </m:sup>
                        </m:sSup>
                      </m:e>
                    </m:rad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so </a:t>
                </a:r>
                <a14:m>
                  <m:oMath xmlns:m="http://schemas.openxmlformats.org/officeDocument/2006/math"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𝑒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𝑔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(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)</m:t>
                        </m:r>
                      </m:sup>
                    </m:sSup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𝑓</m:t>
                        </m:r>
                      </m:e>
                      <m:sup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′</m:t>
                        </m:r>
                      </m:sup>
                    </m:sSup>
                    <m:d>
                      <m:dPr>
                        <m:begChr m:val="("/>
                        <m:sepChr m:val=""/>
                        <m:endChr m:val=")"/>
                        <m:grow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f>
                          <m:fPr>
                            <m:type m:val="bar"/>
                            <m:ctrlP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fPr>
                          <m:num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1</m:t>
                            </m:r>
                          </m:num>
                          <m:den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𝑥</m:t>
                            </m:r>
                          </m:den>
                        </m:f>
                      </m:e>
                    </m:d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</m:num>
                      <m:den>
                        <m:rad>
                          <m:radPr>
                            <m:degHide m:val="on"/>
                            <m:ctrlP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radPr>
                          <m:deg/>
                          <m:e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1</m:t>
                            </m:r>
                            <m:r>
                              <m:rPr>
                                <m:sty m:val="p"/>
                              </m:rPr>
                              <a:rPr lang="en-IN" sz="2400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+</m:t>
                            </m:r>
                            <m:sSup>
                              <m:e>
                                <m:r>
                                  <a:rPr lang="en-IN" sz="2400" i="1">
                                    <a:solidFill>
                                      <a:srgbClr val="111827"/>
                                    </a:solidFill>
                                    <a:latin typeface="Cambria Math" panose="02040503050406030204" pitchFamily="18" charset="0"/>
                                  </a:rPr>
                                  <m:t>𝑥</m:t>
                                </m:r>
                              </m:e>
                              <m:sup>
                                <m:r>
                                  <a:rPr lang="en-IN" sz="2400" i="1">
                                    <a:solidFill>
                                      <a:srgbClr val="111827"/>
                                    </a:solidFill>
                                    <a:latin typeface="Cambria Math" panose="02040503050406030204" pitchFamily="18" charset="0"/>
                                  </a:rPr>
                                  <m:t>2</m:t>
                                </m:r>
                              </m:sup>
                            </m:sSup>
                          </m:e>
                        </m:rad>
                      </m:den>
                    </m:f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Choice>
        <mc:Fallback>
          <p:sp>
            <p:nvSpPr>
              <p:cNvPr id="5" name="Rectangle 4"/>
              <p:cNvSpPr/>
              <p:nvPr/>
            </p:nvSpPr>
            <p:spPr>
              <a:xfrm>
                <a:off x="731520" y="2636520"/>
                <a:ext cx="10725912" cy="4038599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$\left[f\left(\frac1x\right)\right]'=f'\left(\frac1x\right)\cdot\left(-\frac1{x^2}\right)$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$\quad(1)$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$f(x)=\ln\left(1+\sqrt{1+x^2}\right)\Rightarrow f'(x)=\frac{1}{1+\sqrt{1+x^2}}\cdot\frac{x}{\sqrt{1+x^2}}$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Replace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$x$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by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$\frac1x$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(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$x&gt;0$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):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$f'\left(\frac1x\right)=\frac{x}{x+\sqrt{1+x^2}}\cdot\frac{1}{\sqrt{1+x^2}}$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$e^{g(x)}=x+\sqrt{1+x^2}$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so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$e^{g(x)}f'\left(\frac1x\right)=\frac{x}{\sqrt{1+x^2}}$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Fallback>
      </mc:AlternateContent>
    </p:spTree>
  </p:cSld>
  <p:clrMapOvr>
    <a:masterClrMapping/>
  </p:clrMapOvr>
</p:sld>
</file>

<file path=ppt/slides/slide5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FFFFFF"/>
          </a:fontRef>
        </p:style>
        <p:txBody>
          <a:bodyPr rtlCol="0" anchor="ctr" lIns="731520"/>
          <a:lstStyle>
            <a:lvl1pPr>
              <a:defRPr sz="3200">
                <a:solidFill>
                  <a:srgbClr val="FFFFFF"/>
                </a:solidFill>
              </a:defRPr>
            </a:lvl1pPr>
          </a:lstStyle>
          <a:p>
            <a:pPr algn="l">
              <a:defRPr sz="3200">
                <a:solidFill>
                  <a:srgbClr val="FFFFFF"/>
                </a:solidFill>
              </a:defRPr>
            </a:pPr>
            <a:r>
              <a:rPr sz="3200" b="1">
                <a:solidFill>
                  <a:srgbClr val="FFFFFF"/>
                </a:solidFill>
                <a:latin typeface="Arial"/>
              </a:rPr>
              <a:t>Question 09</a:t>
            </a:r>
            <a:endParaRPr sz="3200">
              <a:solidFill>
                <a:srgbClr val="FFFFFF"/>
              </a:solidFill>
            </a:endParaRPr>
          </a:p>
        </p:txBody>
      </p:sp>
      <p:sp>
        <p:nvSpPr>
          <p:cNvPr id="3" name="Rounded Rectangle 2"/>
          <p:cNvSpPr/>
          <p:nvPr/>
        </p:nvSpPr>
        <p:spPr>
          <a:xfrm>
            <a:off x="7894015" y="246887"/>
            <a:ext cx="3840480" cy="603504"/>
          </a:xfrm>
          <a:prstGeom prst="roundRect">
            <a:avLst>
              <a:gd name="adj" fmla="val 50000"/>
            </a:avLst>
          </a:prstGeom>
          <a:solidFill>
            <a:srgbClr val="FFD966"/>
          </a:solidFill>
          <a:ln w="1905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111827"/>
          </a:fontRef>
        </p:style>
        <p:txBody>
          <a:bodyPr rtlCol="0" anchor="ctr" wrap="square" lIns="228600" rIns="228600" tIns="18288" bIns="18288"/>
          <a:lstStyle>
            <a:lvl1pPr>
              <a:defRPr sz="2400">
                <a:solidFill>
                  <a:srgbClr val="111827"/>
                </a:solidFill>
              </a:defRPr>
            </a:lvl1pPr>
          </a:lstStyle>
          <a:p>
            <a:pPr algn="ctr">
              <a:defRPr sz="2400">
                <a:solidFill>
                  <a:srgbClr val="111827"/>
                </a:solidFill>
              </a:defRPr>
            </a:pPr>
            <a:r>
              <a:rPr sz="2400" b="1">
                <a:solidFill>
                  <a:srgbClr val="111827"/>
                </a:solidFill>
                <a:latin typeface="Arial"/>
              </a:rPr>
              <a:t>Level 2  ·  4 Marks</a:t>
            </a:r>
            <a:endParaRPr sz="2400">
              <a:solidFill>
                <a:srgbClr val="111827"/>
              </a:solidFill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4" name="Rectangle 3"/>
              <p:cNvSpPr/>
              <p:nvPr/>
            </p:nvSpPr>
            <p:spPr>
              <a:xfrm>
                <a:off x="731520" y="1353312"/>
                <a:ext cx="10725912" cy="4434840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Multiply by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: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 </m:t>
                    </m:r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𝑒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𝑔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(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)</m:t>
                        </m:r>
                      </m:sup>
                    </m:sSup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𝑓</m:t>
                        </m:r>
                      </m:e>
                      <m:sup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′</m:t>
                        </m:r>
                      </m:sup>
                    </m:sSup>
                    <m:d>
                      <m:dPr>
                        <m:begChr m:val="("/>
                        <m:sepChr m:val=""/>
                        <m:endChr m:val=")"/>
                        <m:grow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f>
                          <m:fPr>
                            <m:type m:val="bar"/>
                            <m:ctrlP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fPr>
                          <m:num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1</m:t>
                            </m:r>
                          </m:num>
                          <m:den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𝑥</m:t>
                            </m:r>
                          </m:den>
                        </m:f>
                      </m:e>
                    </m:d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sSup>
                          <m:e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𝑥</m:t>
                            </m:r>
                          </m:e>
                          <m:sup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2</m:t>
                            </m:r>
                          </m:sup>
                        </m:sSup>
                      </m:num>
                      <m:den>
                        <m:rad>
                          <m:radPr>
                            <m:degHide m:val="on"/>
                            <m:ctrlP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radPr>
                          <m:deg/>
                          <m:e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1</m:t>
                            </m:r>
                            <m:r>
                              <m:rPr>
                                <m:sty m:val="p"/>
                              </m:rPr>
                              <a:rPr lang="en-IN" sz="2400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+</m:t>
                            </m:r>
                            <m:sSup>
                              <m:e>
                                <m:r>
                                  <a:rPr lang="en-IN" sz="2400" i="1">
                                    <a:solidFill>
                                      <a:srgbClr val="111827"/>
                                    </a:solidFill>
                                    <a:latin typeface="Cambria Math" panose="02040503050406030204" pitchFamily="18" charset="0"/>
                                  </a:rPr>
                                  <m:t>𝑥</m:t>
                                </m:r>
                              </m:e>
                              <m:sup>
                                <m:r>
                                  <a:rPr lang="en-IN" sz="2400" i="1">
                                    <a:solidFill>
                                      <a:srgbClr val="111827"/>
                                    </a:solidFill>
                                    <a:latin typeface="Cambria Math" panose="02040503050406030204" pitchFamily="18" charset="0"/>
                                  </a:rPr>
                                  <m:t>2</m:t>
                                </m:r>
                              </m:sup>
                            </m:sSup>
                          </m:e>
                        </m:rad>
                      </m:den>
                    </m:f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14:m>
                  <m:oMath xmlns:m="http://schemas.openxmlformats.org/officeDocument/2006/math"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𝑔</m:t>
                        </m:r>
                      </m:e>
                      <m:sup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′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num>
                      <m:den>
                        <m:rad>
                          <m:radPr>
                            <m:degHide m:val="on"/>
                            <m:ctrlP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radPr>
                          <m:deg/>
                          <m:e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1</m:t>
                            </m:r>
                            <m:r>
                              <m:rPr>
                                <m:sty m:val="p"/>
                              </m:rPr>
                              <a:rPr lang="en-IN" sz="2400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+</m:t>
                            </m:r>
                            <m:sSup>
                              <m:e>
                                <m:r>
                                  <a:rPr lang="en-IN" sz="2400" i="1">
                                    <a:solidFill>
                                      <a:srgbClr val="111827"/>
                                    </a:solidFill>
                                    <a:latin typeface="Cambria Math" panose="02040503050406030204" pitchFamily="18" charset="0"/>
                                  </a:rPr>
                                  <m:t>𝑥</m:t>
                                </m:r>
                              </m:e>
                              <m:sup>
                                <m:r>
                                  <a:rPr lang="en-IN" sz="2400" i="1">
                                    <a:solidFill>
                                      <a:srgbClr val="111827"/>
                                    </a:solidFill>
                                    <a:latin typeface="Cambria Math" panose="02040503050406030204" pitchFamily="18" charset="0"/>
                                  </a:rPr>
                                  <m:t>2</m:t>
                                </m:r>
                              </m:sup>
                            </m:sSup>
                          </m:e>
                        </m:rad>
                      </m:den>
                    </m:f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Using (1):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 </m:t>
                    </m:r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𝑒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𝑔</m:t>
                        </m:r>
                      </m:sup>
                    </m:sSup>
                    <m:sSup>
                      <m:e>
                        <m:d>
                          <m:dPr>
                            <m:begChr m:val="["/>
                            <m:sepChr m:val=""/>
                            <m:endChr m:val="]"/>
                            <m:grow/>
                            <m:ctrlP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𝑓</m:t>
                            </m:r>
                            <m:d>
                              <m:dPr>
                                <m:begChr m:val="("/>
                                <m:sepChr m:val=""/>
                                <m:endChr m:val=")"/>
                                <m:grow/>
                                <m:ctrlPr>
                                  <a:rPr lang="en-IN" sz="2400" i="1">
                                    <a:solidFill>
                                      <a:srgbClr val="111827"/>
                                    </a:solidFill>
                                    <a:latin typeface="Cambria Math" panose="02040503050406030204" pitchFamily="18" charset="0"/>
                                  </a:rPr>
                                </m:ctrlPr>
                              </m:dPr>
                              <m:e>
                                <m:f>
                                  <m:fPr>
                                    <m:type m:val="bar"/>
                                    <m:ctrlPr>
                                      <a:rPr lang="en-IN" sz="2400" i="1">
                                        <a:solidFill>
                                          <a:srgbClr val="111827"/>
                                        </a:solidFill>
                                        <a:latin typeface="Cambria Math" panose="02040503050406030204" pitchFamily="18" charset="0"/>
                                      </a:rPr>
                                    </m:ctrlPr>
                                  </m:fPr>
                                  <m:num>
                                    <m:r>
                                      <a:rPr lang="en-IN" sz="2400" i="1">
                                        <a:solidFill>
                                          <a:srgbClr val="111827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1</m:t>
                                    </m:r>
                                  </m:num>
                                  <m:den>
                                    <m:r>
                                      <a:rPr lang="en-IN" sz="2400" i="1">
                                        <a:solidFill>
                                          <a:srgbClr val="111827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𝑥</m:t>
                                    </m:r>
                                  </m:den>
                                </m:f>
                              </m:e>
                            </m:d>
                          </m:e>
                        </m:d>
                      </m:e>
                      <m:sup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′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𝑔</m:t>
                        </m:r>
                      </m:e>
                      <m:sup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′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sSup>
                          <m:e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𝑥</m:t>
                            </m:r>
                          </m:e>
                          <m:sup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2</m:t>
                            </m:r>
                          </m:sup>
                        </m:sSup>
                      </m:num>
                      <m:den>
                        <m:rad>
                          <m:radPr>
                            <m:degHide m:val="on"/>
                            <m:ctrlP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radPr>
                          <m:deg/>
                          <m:e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1</m:t>
                            </m:r>
                            <m:r>
                              <m:rPr>
                                <m:sty m:val="p"/>
                              </m:rPr>
                              <a:rPr lang="en-IN" sz="2400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+</m:t>
                            </m:r>
                            <m:sSup>
                              <m:e>
                                <m:r>
                                  <a:rPr lang="en-IN" sz="2400" i="1">
                                    <a:solidFill>
                                      <a:srgbClr val="111827"/>
                                    </a:solidFill>
                                    <a:latin typeface="Cambria Math" panose="02040503050406030204" pitchFamily="18" charset="0"/>
                                  </a:rPr>
                                  <m:t>𝑥</m:t>
                                </m:r>
                              </m:e>
                              <m:sup>
                                <m:r>
                                  <a:rPr lang="en-IN" sz="2400" i="1">
                                    <a:solidFill>
                                      <a:srgbClr val="111827"/>
                                    </a:solidFill>
                                    <a:latin typeface="Cambria Math" panose="02040503050406030204" pitchFamily="18" charset="0"/>
                                  </a:rPr>
                                  <m:t>2</m:t>
                                </m:r>
                              </m:sup>
                            </m:sSup>
                          </m:e>
                        </m:rad>
                      </m:den>
                    </m:f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⋅</m:t>
                    </m:r>
                    <m:d>
                      <m:dPr>
                        <m:begChr m:val="("/>
                        <m:sepChr m:val=""/>
                        <m:endChr m:val=")"/>
                        <m:grow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−</m:t>
                        </m:r>
                        <m:f>
                          <m:fPr>
                            <m:type m:val="bar"/>
                            <m:ctrlP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fPr>
                          <m:num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1</m:t>
                            </m:r>
                          </m:num>
                          <m:den>
                            <m:sSup>
                              <m:e>
                                <m:r>
                                  <a:rPr lang="en-IN" sz="2400" i="1">
                                    <a:solidFill>
                                      <a:srgbClr val="111827"/>
                                    </a:solidFill>
                                    <a:latin typeface="Cambria Math" panose="02040503050406030204" pitchFamily="18" charset="0"/>
                                  </a:rPr>
                                  <m:t>𝑥</m:t>
                                </m:r>
                              </m:e>
                              <m:sup>
                                <m:r>
                                  <a:rPr lang="en-IN" sz="2400" i="1">
                                    <a:solidFill>
                                      <a:srgbClr val="111827"/>
                                    </a:solidFill>
                                    <a:latin typeface="Cambria Math" panose="02040503050406030204" pitchFamily="18" charset="0"/>
                                  </a:rPr>
                                  <m:t>2</m:t>
                                </m:r>
                              </m:sup>
                            </m:sSup>
                          </m:den>
                        </m:f>
                      </m:e>
                    </m:d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num>
                      <m:den>
                        <m:rad>
                          <m:radPr>
                            <m:degHide m:val="on"/>
                            <m:ctrlP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radPr>
                          <m:deg/>
                          <m:e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1</m:t>
                            </m:r>
                            <m:r>
                              <m:rPr>
                                <m:sty m:val="p"/>
                              </m:rPr>
                              <a:rPr lang="en-IN" sz="2400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+</m:t>
                            </m:r>
                            <m:sSup>
                              <m:e>
                                <m:r>
                                  <a:rPr lang="en-IN" sz="2400" i="1">
                                    <a:solidFill>
                                      <a:srgbClr val="111827"/>
                                    </a:solidFill>
                                    <a:latin typeface="Cambria Math" panose="02040503050406030204" pitchFamily="18" charset="0"/>
                                  </a:rPr>
                                  <m:t>𝑥</m:t>
                                </m:r>
                              </m:e>
                              <m:sup>
                                <m:r>
                                  <a:rPr lang="en-IN" sz="2400" i="1">
                                    <a:solidFill>
                                      <a:srgbClr val="111827"/>
                                    </a:solidFill>
                                    <a:latin typeface="Cambria Math" panose="02040503050406030204" pitchFamily="18" charset="0"/>
                                  </a:rPr>
                                  <m:t>2</m:t>
                                </m:r>
                              </m:sup>
                            </m:sSup>
                          </m:e>
                        </m:rad>
                      </m:den>
                    </m:f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num>
                      <m:den>
                        <m:rad>
                          <m:radPr>
                            <m:degHide m:val="on"/>
                            <m:ctrlP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radPr>
                          <m:deg/>
                          <m:e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1</m:t>
                            </m:r>
                            <m:r>
                              <m:rPr>
                                <m:sty m:val="p"/>
                              </m:rPr>
                              <a:rPr lang="en-IN" sz="2400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+</m:t>
                            </m:r>
                            <m:sSup>
                              <m:e>
                                <m:r>
                                  <a:rPr lang="en-IN" sz="2400" i="1">
                                    <a:solidFill>
                                      <a:srgbClr val="111827"/>
                                    </a:solidFill>
                                    <a:latin typeface="Cambria Math" panose="02040503050406030204" pitchFamily="18" charset="0"/>
                                  </a:rPr>
                                  <m:t>𝑥</m:t>
                                </m:r>
                              </m:e>
                              <m:sup>
                                <m:r>
                                  <a:rPr lang="en-IN" sz="2400" i="1">
                                    <a:solidFill>
                                      <a:srgbClr val="111827"/>
                                    </a:solidFill>
                                    <a:latin typeface="Cambria Math" panose="02040503050406030204" pitchFamily="18" charset="0"/>
                                  </a:rPr>
                                  <m:t>2</m:t>
                                </m:r>
                              </m:sup>
                            </m:sSup>
                          </m:e>
                        </m:rad>
                      </m:den>
                    </m:f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num>
                      <m:den>
                        <m:rad>
                          <m:radPr>
                            <m:degHide m:val="on"/>
                            <m:ctrlP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radPr>
                          <m:deg/>
                          <m:e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1</m:t>
                            </m:r>
                            <m:r>
                              <m:rPr>
                                <m:sty m:val="p"/>
                              </m:rPr>
                              <a:rPr lang="en-IN" sz="2400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+</m:t>
                            </m:r>
                            <m:sSup>
                              <m:e>
                                <m:r>
                                  <a:rPr lang="en-IN" sz="2400" i="1">
                                    <a:solidFill>
                                      <a:srgbClr val="111827"/>
                                    </a:solidFill>
                                    <a:latin typeface="Cambria Math" panose="02040503050406030204" pitchFamily="18" charset="0"/>
                                  </a:rPr>
                                  <m:t>𝑥</m:t>
                                </m:r>
                              </m:e>
                              <m:sup>
                                <m:r>
                                  <a:rPr lang="en-IN" sz="2400" i="1">
                                    <a:solidFill>
                                      <a:srgbClr val="111827"/>
                                    </a:solidFill>
                                    <a:latin typeface="Cambria Math" panose="02040503050406030204" pitchFamily="18" charset="0"/>
                                  </a:rPr>
                                  <m:t>2</m:t>
                                </m:r>
                              </m:sup>
                            </m:sSup>
                          </m:e>
                        </m:rad>
                      </m:den>
                    </m:f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0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The value is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0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for every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&gt;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0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in particular at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Choice>
        <mc:Fallback>
          <p:sp>
            <p:nvSpPr>
              <p:cNvPr id="4" name="Rectangle 3"/>
              <p:cNvSpPr/>
              <p:nvPr/>
            </p:nvSpPr>
            <p:spPr>
              <a:xfrm>
                <a:off x="731520" y="1353312"/>
                <a:ext cx="10725912" cy="4434840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Multiply by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$x$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: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$x\,e^{g(x)}f'\left(\frac1x\right)=\frac{x^2}{\sqrt{1+x^2}}$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$g'(x)=\frac{1}{\sqrt{1+x^2}}$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Using (1):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$x\,e^{g}\left[f\left(\frac1x\right)\right]'+g'=\frac{x^2}{\sqrt{1+x^2}}\cdot\left(-\frac1{x^2}\right)+\frac1{\sqrt{1+x^2}}=-\frac1{\sqrt{1+x^2}}+\frac1{\sqrt{1+x^2}}=0$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The value is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$0$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for every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$x&gt;0$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in particular at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$x=1$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5" name="Rounded Rectangle 4"/>
              <p:cNvSpPr/>
              <p:nvPr/>
            </p:nvSpPr>
            <p:spPr>
              <a:xfrm>
                <a:off x="731520" y="5897880"/>
                <a:ext cx="10725912" cy="777240"/>
              </a:xfrm>
              <a:prstGeom prst="roundRect">
                <a:avLst>
                  <a:gd name="adj" fmla="val 8000"/>
                </a:avLst>
              </a:prstGeom>
              <a:solidFill>
                <a:srgbClr val="DCFCE7"/>
              </a:solidFill>
              <a:ln w="25400">
                <a:solidFill>
                  <a:srgbClr val="15803D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5803D"/>
              </a:fontRef>
            </p:style>
            <p:txBody>
              <a:bodyPr rtlCol="0" anchor="ctr" wrap="square" lIns="228600" rIns="228600" tIns="18288" bIns="73152"/>
              <a:lstStyle>
                <a:lvl1pPr>
                  <a:defRPr sz="2800">
                    <a:solidFill>
                      <a:srgbClr val="15803D"/>
                    </a:solidFill>
                  </a:defRPr>
                </a:lvl1pPr>
              </a:lstStyle>
              <a:p>
                <a:pPr algn="ctr">
                  <a:defRPr sz="2800">
                    <a:solidFill>
                      <a:srgbClr val="15803D"/>
                    </a:solidFill>
                  </a:defRPr>
                </a:pPr>
                <a:r>
                  <a:rPr sz="2800" b="1">
                    <a:solidFill>
                      <a:srgbClr val="15803D"/>
                    </a:solidFill>
                    <a:latin typeface="Arial"/>
                  </a:rPr>
                  <a:t>Correct Answer: </a:t>
                </a:r>
                <a14:m>
                  <m:oMath xmlns:m="http://schemas.openxmlformats.org/officeDocument/2006/math">
                    <m:r>
                      <a:rPr lang="en-IN" sz="2800" i="1">
                        <a:solidFill>
                          <a:srgbClr val="15803D"/>
                        </a:solidFill>
                        <a:latin typeface="Cambria Math" panose="02040503050406030204" pitchFamily="18" charset="0"/>
                      </a:rPr>
                      <m:t>0</m:t>
                    </m:r>
                  </m:oMath>
                </a14:m>
                <a:endParaRPr sz="2800">
                  <a:solidFill>
                    <a:srgbClr val="15803D"/>
                  </a:solidFill>
                </a:endParaRPr>
              </a:p>
            </p:txBody>
          </p:sp>
        </mc:Choice>
        <mc:Fallback>
          <p:sp>
            <p:nvSpPr>
              <p:cNvPr id="5" name="Rounded Rectangle 4"/>
              <p:cNvSpPr/>
              <p:nvPr/>
            </p:nvSpPr>
            <p:spPr>
              <a:xfrm>
                <a:off x="731520" y="5897880"/>
                <a:ext cx="10725912" cy="777240"/>
              </a:xfrm>
              <a:prstGeom prst="roundRect">
                <a:avLst>
                  <a:gd name="adj" fmla="val 8000"/>
                </a:avLst>
              </a:prstGeom>
              <a:solidFill>
                <a:srgbClr val="DCFCE7"/>
              </a:solidFill>
              <a:ln w="25400">
                <a:solidFill>
                  <a:srgbClr val="15803D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5803D"/>
              </a:fontRef>
            </p:style>
            <p:txBody>
              <a:bodyPr rtlCol="0" anchor="ctr" wrap="square" lIns="228600" rIns="228600" tIns="18288" bIns="73152"/>
              <a:lstStyle>
                <a:lvl1pPr>
                  <a:defRPr sz="2800">
                    <a:solidFill>
                      <a:srgbClr val="15803D"/>
                    </a:solidFill>
                  </a:defRPr>
                </a:lvl1pPr>
              </a:lstStyle>
              <a:p>
                <a:pPr algn="ctr">
                  <a:defRPr sz="2800">
                    <a:solidFill>
                      <a:srgbClr val="15803D"/>
                    </a:solidFill>
                  </a:defRPr>
                </a:pPr>
                <a:r>
                  <a:rPr sz="2800" b="1">
                    <a:solidFill>
                      <a:srgbClr val="15803D"/>
                    </a:solidFill>
                    <a:latin typeface="Arial"/>
                  </a:rPr>
                  <a:t>Correct Answer: </a:t>
                </a:r>
                <a:r>
                  <a:rPr lang="en-IN" sz="2800">
                    <a:solidFill>
                      <a:srgbClr val="15803D"/>
                    </a:solidFill>
                    <a:latin typeface="Cambria Math" panose="02040503050406030204" pitchFamily="18" charset="0"/>
                  </a:rPr>
                  <a:t>$0$</a:t>
                </a:r>
                <a:endParaRPr sz="2800">
                  <a:solidFill>
                    <a:srgbClr val="15803D"/>
                  </a:solidFill>
                </a:endParaRPr>
              </a:p>
            </p:txBody>
          </p:sp>
        </mc:Fallback>
      </mc:AlternateContent>
    </p:spTree>
  </p:cSld>
  <p:clrMapOvr>
    <a:masterClrMapping/>
  </p:clrMapOvr>
</p:sld>
</file>

<file path=ppt/slides/slide5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FFFFFF"/>
          </a:fontRef>
        </p:style>
        <p:txBody>
          <a:bodyPr rtlCol="0" anchor="ctr" lIns="731520"/>
          <a:lstStyle>
            <a:lvl1pPr>
              <a:defRPr sz="3200">
                <a:solidFill>
                  <a:srgbClr val="FFFFFF"/>
                </a:solidFill>
              </a:defRPr>
            </a:lvl1pPr>
          </a:lstStyle>
          <a:p>
            <a:pPr algn="l">
              <a:defRPr sz="3200">
                <a:solidFill>
                  <a:srgbClr val="FFFFFF"/>
                </a:solidFill>
              </a:defRPr>
            </a:pPr>
            <a:r>
              <a:rPr sz="3200" b="1">
                <a:solidFill>
                  <a:srgbClr val="FFFFFF"/>
                </a:solidFill>
                <a:latin typeface="Arial"/>
              </a:rPr>
              <a:t>Question 09</a:t>
            </a:r>
            <a:endParaRPr sz="3200">
              <a:solidFill>
                <a:srgbClr val="FFFFFF"/>
              </a:solidFill>
            </a:endParaRPr>
          </a:p>
        </p:txBody>
      </p:sp>
      <p:sp>
        <p:nvSpPr>
          <p:cNvPr id="3" name="Rounded Rectangle 2"/>
          <p:cNvSpPr/>
          <p:nvPr/>
        </p:nvSpPr>
        <p:spPr>
          <a:xfrm>
            <a:off x="7894015" y="246887"/>
            <a:ext cx="3840480" cy="603504"/>
          </a:xfrm>
          <a:prstGeom prst="roundRect">
            <a:avLst>
              <a:gd name="adj" fmla="val 50000"/>
            </a:avLst>
          </a:prstGeom>
          <a:solidFill>
            <a:srgbClr val="FFD966"/>
          </a:solidFill>
          <a:ln w="1905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111827"/>
          </a:fontRef>
        </p:style>
        <p:txBody>
          <a:bodyPr rtlCol="0" anchor="ctr" wrap="square" lIns="228600" rIns="228600" tIns="18288" bIns="18288"/>
          <a:lstStyle>
            <a:lvl1pPr>
              <a:defRPr sz="2400">
                <a:solidFill>
                  <a:srgbClr val="111827"/>
                </a:solidFill>
              </a:defRPr>
            </a:lvl1pPr>
          </a:lstStyle>
          <a:p>
            <a:pPr algn="ctr">
              <a:defRPr sz="2400">
                <a:solidFill>
                  <a:srgbClr val="111827"/>
                </a:solidFill>
              </a:defRPr>
            </a:pPr>
            <a:r>
              <a:rPr sz="2400" b="1">
                <a:solidFill>
                  <a:srgbClr val="111827"/>
                </a:solidFill>
                <a:latin typeface="Arial"/>
              </a:rPr>
              <a:t>Level 2  ·  4 Marks</a:t>
            </a:r>
            <a:endParaRPr sz="2400">
              <a:solidFill>
                <a:srgbClr val="111827"/>
              </a:solidFill>
            </a:endParaRPr>
          </a:p>
        </p:txBody>
      </p:sp>
      <p:sp>
        <p:nvSpPr>
          <p:cNvPr id="4" name="Rounded Rectangle 3"/>
          <p:cNvSpPr/>
          <p:nvPr/>
        </p:nvSpPr>
        <p:spPr>
          <a:xfrm>
            <a:off x="3520440" y="265176"/>
            <a:ext cx="4206240" cy="566928"/>
          </a:xfrm>
          <a:prstGeom prst="roundRect">
            <a:avLst>
              <a:gd name="adj" fmla="val 50000"/>
            </a:avLst>
          </a:prstGeom>
          <a:solidFill>
            <a:srgbClr val="FDE68A"/>
          </a:solidFill>
          <a:ln w="25400">
            <a:solidFill>
              <a:srgbClr val="D9770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78350F"/>
          </a:fontRef>
        </p:style>
        <p:txBody>
          <a:bodyPr rtlCol="0" anchor="ctr" wrap="square" lIns="228600" rIns="228600" tIns="18288" bIns="18288"/>
          <a:lstStyle>
            <a:lvl1pPr>
              <a:defRPr sz="2200">
                <a:solidFill>
                  <a:srgbClr val="78350F"/>
                </a:solidFill>
              </a:defRPr>
            </a:lvl1pPr>
          </a:lstStyle>
          <a:p>
            <a:pPr algn="ctr">
              <a:defRPr sz="2200">
                <a:solidFill>
                  <a:srgbClr val="78350F"/>
                </a:solidFill>
              </a:defRPr>
            </a:pPr>
            <a:r>
              <a:rPr sz="2200" b="1">
                <a:solidFill>
                  <a:srgbClr val="78350F"/>
                </a:solidFill>
                <a:latin typeface="Arial"/>
              </a:rPr>
              <a:t>Alternate Solution</a:t>
            </a:r>
            <a:endParaRPr sz="2200">
              <a:solidFill>
                <a:srgbClr val="78350F"/>
              </a:solidFill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5" name="Rounded Rectangle 4"/>
              <p:cNvSpPr/>
              <p:nvPr/>
            </p:nvSpPr>
            <p:spPr>
              <a:xfrm>
                <a:off x="731520" y="1280160"/>
                <a:ext cx="10725912" cy="1219200"/>
              </a:xfrm>
              <a:prstGeom prst="roundRect">
                <a:avLst>
                  <a:gd name="adj" fmla="val 8000"/>
                </a:avLst>
              </a:prstGeom>
              <a:solidFill>
                <a:srgbClr val="FDE68A"/>
              </a:solidFill>
              <a:ln w="31750">
                <a:solidFill>
                  <a:srgbClr val="D97706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78350F"/>
              </a:fontRef>
            </p:style>
            <p:txBody>
              <a:bodyPr rtlCol="0" anchor="ctr" wrap="square" lIns="228600" rIns="228600" tIns="54864" bIns="73152"/>
              <a:lstStyle>
                <a:lvl1pPr>
                  <a:defRPr sz="2400">
                    <a:solidFill>
                      <a:srgbClr val="78350F"/>
                    </a:solidFill>
                  </a:defRPr>
                </a:lvl1pPr>
              </a:lstStyle>
              <a:p>
                <a:pPr algn="l">
                  <a:defRPr sz="2400">
                    <a:solidFill>
                      <a:srgbClr val="78350F"/>
                    </a:solidFill>
                  </a:defRPr>
                </a:pPr>
                <a:r>
                  <a:rPr sz="2400" b="1">
                    <a:solidFill>
                      <a:srgbClr val="78350F"/>
                    </a:solidFill>
                    <a:latin typeface="Arial"/>
                  </a:rPr>
                  <a:t>Idea:  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Simplify first: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𝑓</m:t>
                    </m:r>
                    <m:d>
                      <m:dPr>
                        <m:begChr m:val="("/>
                        <m:sepChr m:val=""/>
                        <m:endChr m:val=")"/>
                        <m:grow/>
                        <m:ctrlP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f>
                          <m:fPr>
                            <m:type m:val="bar"/>
                            <m:ctrlPr>
                              <a:rPr lang="en-IN" sz="2400" i="1">
                                <a:solidFill>
                                  <a:srgbClr val="78350F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fPr>
                          <m:num>
                            <m:r>
                              <a:rPr lang="en-IN" sz="2400" i="1">
                                <a:solidFill>
                                  <a:srgbClr val="78350F"/>
                                </a:solidFill>
                                <a:latin typeface="Cambria Math" panose="02040503050406030204" pitchFamily="18" charset="0"/>
                              </a:rPr>
                              <m:t>1</m:t>
                            </m:r>
                          </m:num>
                          <m:den>
                            <m:r>
                              <a:rPr lang="en-IN" sz="2400" i="1">
                                <a:solidFill>
                                  <a:srgbClr val="78350F"/>
                                </a:solidFill>
                                <a:latin typeface="Cambria Math" panose="02040503050406030204" pitchFamily="18" charset="0"/>
                              </a:rPr>
                              <m:t>𝑥</m:t>
                            </m:r>
                          </m:den>
                        </m:f>
                      </m:e>
                    </m:d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𝑔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ln</m:t>
                    </m:r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𝑥</m:t>
                    </m:r>
                  </m:oMath>
                </a14:m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 for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&gt;</m:t>
                    </m:r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0</m:t>
                    </m:r>
                  </m:oMath>
                </a14:m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, so the derivative needs no chain rule on a radical.</a:t>
                </a:r>
                <a:endParaRPr sz="2400">
                  <a:solidFill>
                    <a:srgbClr val="78350F"/>
                  </a:solidFill>
                </a:endParaRPr>
              </a:p>
            </p:txBody>
          </p:sp>
        </mc:Choice>
        <mc:Fallback>
          <p:sp>
            <p:nvSpPr>
              <p:cNvPr id="5" name="Rounded Rectangle 4"/>
              <p:cNvSpPr/>
              <p:nvPr/>
            </p:nvSpPr>
            <p:spPr>
              <a:xfrm>
                <a:off x="731520" y="1280160"/>
                <a:ext cx="10725912" cy="1219200"/>
              </a:xfrm>
              <a:prstGeom prst="roundRect">
                <a:avLst>
                  <a:gd name="adj" fmla="val 8000"/>
                </a:avLst>
              </a:prstGeom>
              <a:solidFill>
                <a:srgbClr val="FDE68A"/>
              </a:solidFill>
              <a:ln w="31750">
                <a:solidFill>
                  <a:srgbClr val="D97706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78350F"/>
              </a:fontRef>
            </p:style>
            <p:txBody>
              <a:bodyPr rtlCol="0" anchor="ctr" wrap="square" lIns="228600" rIns="228600" tIns="54864" bIns="73152"/>
              <a:lstStyle>
                <a:lvl1pPr>
                  <a:defRPr sz="2400">
                    <a:solidFill>
                      <a:srgbClr val="78350F"/>
                    </a:solidFill>
                  </a:defRPr>
                </a:lvl1pPr>
              </a:lstStyle>
              <a:p>
                <a:pPr algn="l">
                  <a:defRPr sz="2400">
                    <a:solidFill>
                      <a:srgbClr val="78350F"/>
                    </a:solidFill>
                  </a:defRPr>
                </a:pPr>
                <a:r>
                  <a:rPr sz="2400" b="1">
                    <a:solidFill>
                      <a:srgbClr val="78350F"/>
                    </a:solidFill>
                    <a:latin typeface="Arial"/>
                  </a:rPr>
                  <a:t>Idea:  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Simplify first: </a:t>
                </a:r>
                <a:r>
                  <a:rPr lang="en-IN" sz="2400">
                    <a:solidFill>
                      <a:srgbClr val="78350F"/>
                    </a:solidFill>
                    <a:latin typeface="Cambria Math" panose="02040503050406030204" pitchFamily="18" charset="0"/>
                  </a:rPr>
                  <a:t>$f\left(\frac1x\right)=g(x)-\ln x$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 for </a:t>
                </a:r>
                <a:r>
                  <a:rPr lang="en-IN" sz="2400">
                    <a:solidFill>
                      <a:srgbClr val="78350F"/>
                    </a:solidFill>
                    <a:latin typeface="Cambria Math" panose="02040503050406030204" pitchFamily="18" charset="0"/>
                  </a:rPr>
                  <a:t>$x&gt;0$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, so the derivative needs no chain rule on a radical.</a:t>
                </a:r>
                <a:endParaRPr sz="2400">
                  <a:solidFill>
                    <a:srgbClr val="78350F"/>
                  </a:solidFill>
                </a:endParaRP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6" name="Rectangle 5"/>
              <p:cNvSpPr/>
              <p:nvPr/>
            </p:nvSpPr>
            <p:spPr>
              <a:xfrm>
                <a:off x="731520" y="2636520"/>
                <a:ext cx="10725912" cy="4038599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For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&gt;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0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: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𝑓</m:t>
                    </m:r>
                    <m:d>
                      <m:dPr>
                        <m:begChr m:val="("/>
                        <m:sepChr m:val=""/>
                        <m:endChr m:val=")"/>
                        <m:grow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f>
                          <m:fPr>
                            <m:type m:val="bar"/>
                            <m:ctrlP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fPr>
                          <m:num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1</m:t>
                            </m:r>
                          </m:num>
                          <m:den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𝑥</m:t>
                            </m:r>
                          </m:den>
                        </m:f>
                      </m:e>
                    </m:d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ln</m:t>
                    </m:r>
                    <m:d>
                      <m:dPr>
                        <m:begChr m:val="("/>
                        <m:sepChr m:val=""/>
                        <m:endChr m:val=")"/>
                        <m:grow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+</m:t>
                        </m:r>
                        <m:rad>
                          <m:radPr>
                            <m:degHide m:val="on"/>
                            <m:ctrlP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radPr>
                          <m:deg/>
                          <m:e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1</m:t>
                            </m:r>
                            <m:r>
                              <m:rPr>
                                <m:sty m:val="p"/>
                              </m:rPr>
                              <a:rPr lang="en-IN" sz="2400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+</m:t>
                            </m:r>
                            <m:f>
                              <m:fPr>
                                <m:type m:val="bar"/>
                                <m:ctrlPr>
                                  <a:rPr lang="en-IN" sz="2400" i="1">
                                    <a:solidFill>
                                      <a:srgbClr val="111827"/>
                                    </a:solidFill>
                                    <a:latin typeface="Cambria Math" panose="02040503050406030204" pitchFamily="18" charset="0"/>
                                  </a:rPr>
                                </m:ctrlPr>
                              </m:fPr>
                              <m:num>
                                <m:r>
                                  <a:rPr lang="en-IN" sz="2400" i="1">
                                    <a:solidFill>
                                      <a:srgbClr val="111827"/>
                                    </a:solidFill>
                                    <a:latin typeface="Cambria Math" panose="02040503050406030204" pitchFamily="18" charset="0"/>
                                  </a:rPr>
                                  <m:t>1</m:t>
                                </m:r>
                              </m:num>
                              <m:den>
                                <m:sSup>
                                  <m:e>
                                    <m:r>
                                      <a:rPr lang="en-IN" sz="2400" i="1">
                                        <a:solidFill>
                                          <a:srgbClr val="111827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𝑥</m:t>
                                    </m:r>
                                  </m:e>
                                  <m:sup>
                                    <m:r>
                                      <a:rPr lang="en-IN" sz="2400" i="1">
                                        <a:solidFill>
                                          <a:srgbClr val="111827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2</m:t>
                                    </m:r>
                                  </m:sup>
                                </m:sSup>
                              </m:den>
                            </m:f>
                          </m:e>
                        </m:rad>
                      </m:e>
                    </m:d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ln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+</m:t>
                        </m:r>
                        <m:rad>
                          <m:radPr>
                            <m:degHide m:val="on"/>
                            <m:ctrlP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radPr>
                          <m:deg/>
                          <m:e>
                            <m:sSup>
                              <m:e>
                                <m:r>
                                  <a:rPr lang="en-IN" sz="2400" i="1">
                                    <a:solidFill>
                                      <a:srgbClr val="111827"/>
                                    </a:solidFill>
                                    <a:latin typeface="Cambria Math" panose="02040503050406030204" pitchFamily="18" charset="0"/>
                                  </a:rPr>
                                  <m:t>𝑥</m:t>
                                </m:r>
                              </m:e>
                              <m:sup>
                                <m:r>
                                  <a:rPr lang="en-IN" sz="2400" i="1">
                                    <a:solidFill>
                                      <a:srgbClr val="111827"/>
                                    </a:solidFill>
                                    <a:latin typeface="Cambria Math" panose="02040503050406030204" pitchFamily="18" charset="0"/>
                                  </a:rPr>
                                  <m:t>2</m:t>
                                </m:r>
                              </m:sup>
                            </m:sSup>
                            <m:r>
                              <m:rPr>
                                <m:sty m:val="p"/>
                              </m:rPr>
                              <a:rPr lang="en-IN" sz="2400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+</m:t>
                            </m:r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1</m:t>
                            </m:r>
                          </m:e>
                        </m:rad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</m:den>
                    </m:f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𝑔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ln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Hence </a:t>
                </a:r>
                <a14:m>
                  <m:oMath xmlns:m="http://schemas.openxmlformats.org/officeDocument/2006/math">
                    <m:sSup>
                      <m:e>
                        <m:d>
                          <m:dPr>
                            <m:begChr m:val="("/>
                            <m:sepChr m:val=""/>
                            <m:endChr m:val=")"/>
                            <m:grow/>
                            <m:ctrlP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𝑓</m:t>
                            </m:r>
                            <m:d>
                              <m:dPr>
                                <m:begChr m:val="("/>
                                <m:sepChr m:val=""/>
                                <m:endChr m:val=")"/>
                                <m:grow/>
                                <m:ctrlPr>
                                  <a:rPr lang="en-IN" sz="2400" i="1">
                                    <a:solidFill>
                                      <a:srgbClr val="111827"/>
                                    </a:solidFill>
                                    <a:latin typeface="Cambria Math" panose="02040503050406030204" pitchFamily="18" charset="0"/>
                                  </a:rPr>
                                </m:ctrlPr>
                              </m:dPr>
                              <m:e>
                                <m:f>
                                  <m:fPr>
                                    <m:type m:val="bar"/>
                                    <m:ctrlPr>
                                      <a:rPr lang="en-IN" sz="2400" i="1">
                                        <a:solidFill>
                                          <a:srgbClr val="111827"/>
                                        </a:solidFill>
                                        <a:latin typeface="Cambria Math" panose="02040503050406030204" pitchFamily="18" charset="0"/>
                                      </a:rPr>
                                    </m:ctrlPr>
                                  </m:fPr>
                                  <m:num>
                                    <m:r>
                                      <a:rPr lang="en-IN" sz="2400" i="1">
                                        <a:solidFill>
                                          <a:srgbClr val="111827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1</m:t>
                                    </m:r>
                                  </m:num>
                                  <m:den>
                                    <m:r>
                                      <a:rPr lang="en-IN" sz="2400" i="1">
                                        <a:solidFill>
                                          <a:srgbClr val="111827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𝑥</m:t>
                                    </m:r>
                                  </m:den>
                                </m:f>
                              </m:e>
                            </m:d>
                          </m:e>
                        </m:d>
                      </m:e>
                      <m:sup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′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𝑔</m:t>
                        </m:r>
                      </m:e>
                      <m:sup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′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</m:den>
                    </m:f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Choice>
        <mc:Fallback>
          <p:sp>
            <p:nvSpPr>
              <p:cNvPr id="6" name="Rectangle 5"/>
              <p:cNvSpPr/>
              <p:nvPr/>
            </p:nvSpPr>
            <p:spPr>
              <a:xfrm>
                <a:off x="731520" y="2636520"/>
                <a:ext cx="10725912" cy="4038599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For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$x&gt;0$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: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$f\left(\frac1x\right)=\ln\left(1+\sqrt{1+\frac1{x^2}}\right)=\ln\frac{x+\sqrt{x^2+1}}{x}=g(x)-\ln x$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Hence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$\left(f\left(\frac1x\right)\right)'=g'(x)-\frac1x$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Fallback>
      </mc:AlternateContent>
    </p:spTree>
  </p:cSld>
  <p:clrMapOvr>
    <a:masterClrMapping/>
  </p:clrMapOvr>
</p:sld>
</file>

<file path=ppt/slides/slide5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FFFFFF"/>
          </a:fontRef>
        </p:style>
        <p:txBody>
          <a:bodyPr rtlCol="0" anchor="ctr" lIns="731520"/>
          <a:lstStyle>
            <a:lvl1pPr>
              <a:defRPr sz="3200">
                <a:solidFill>
                  <a:srgbClr val="FFFFFF"/>
                </a:solidFill>
              </a:defRPr>
            </a:lvl1pPr>
          </a:lstStyle>
          <a:p>
            <a:pPr algn="l">
              <a:defRPr sz="3200">
                <a:solidFill>
                  <a:srgbClr val="FFFFFF"/>
                </a:solidFill>
              </a:defRPr>
            </a:pPr>
            <a:r>
              <a:rPr sz="3200" b="1">
                <a:solidFill>
                  <a:srgbClr val="FFFFFF"/>
                </a:solidFill>
                <a:latin typeface="Arial"/>
              </a:rPr>
              <a:t>Question 09</a:t>
            </a:r>
            <a:endParaRPr sz="3200">
              <a:solidFill>
                <a:srgbClr val="FFFFFF"/>
              </a:solidFill>
            </a:endParaRPr>
          </a:p>
        </p:txBody>
      </p:sp>
      <p:sp>
        <p:nvSpPr>
          <p:cNvPr id="3" name="Rounded Rectangle 2"/>
          <p:cNvSpPr/>
          <p:nvPr/>
        </p:nvSpPr>
        <p:spPr>
          <a:xfrm>
            <a:off x="7894015" y="246887"/>
            <a:ext cx="3840480" cy="603504"/>
          </a:xfrm>
          <a:prstGeom prst="roundRect">
            <a:avLst>
              <a:gd name="adj" fmla="val 50000"/>
            </a:avLst>
          </a:prstGeom>
          <a:solidFill>
            <a:srgbClr val="FFD966"/>
          </a:solidFill>
          <a:ln w="1905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111827"/>
          </a:fontRef>
        </p:style>
        <p:txBody>
          <a:bodyPr rtlCol="0" anchor="ctr" wrap="square" lIns="228600" rIns="228600" tIns="18288" bIns="18288"/>
          <a:lstStyle>
            <a:lvl1pPr>
              <a:defRPr sz="2400">
                <a:solidFill>
                  <a:srgbClr val="111827"/>
                </a:solidFill>
              </a:defRPr>
            </a:lvl1pPr>
          </a:lstStyle>
          <a:p>
            <a:pPr algn="ctr">
              <a:defRPr sz="2400">
                <a:solidFill>
                  <a:srgbClr val="111827"/>
                </a:solidFill>
              </a:defRPr>
            </a:pPr>
            <a:r>
              <a:rPr sz="2400" b="1">
                <a:solidFill>
                  <a:srgbClr val="111827"/>
                </a:solidFill>
                <a:latin typeface="Arial"/>
              </a:rPr>
              <a:t>Level 2  ·  4 Marks</a:t>
            </a:r>
            <a:endParaRPr sz="2400">
              <a:solidFill>
                <a:srgbClr val="111827"/>
              </a:solidFill>
            </a:endParaRPr>
          </a:p>
        </p:txBody>
      </p:sp>
      <p:sp>
        <p:nvSpPr>
          <p:cNvPr id="4" name="Rounded Rectangle 3"/>
          <p:cNvSpPr/>
          <p:nvPr/>
        </p:nvSpPr>
        <p:spPr>
          <a:xfrm>
            <a:off x="3520440" y="265176"/>
            <a:ext cx="4206240" cy="566928"/>
          </a:xfrm>
          <a:prstGeom prst="roundRect">
            <a:avLst>
              <a:gd name="adj" fmla="val 50000"/>
            </a:avLst>
          </a:prstGeom>
          <a:solidFill>
            <a:srgbClr val="FDE68A"/>
          </a:solidFill>
          <a:ln w="25400">
            <a:solidFill>
              <a:srgbClr val="D9770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78350F"/>
          </a:fontRef>
        </p:style>
        <p:txBody>
          <a:bodyPr rtlCol="0" anchor="ctr" wrap="square" lIns="228600" rIns="228600" tIns="18288" bIns="18288"/>
          <a:lstStyle>
            <a:lvl1pPr>
              <a:defRPr sz="2200">
                <a:solidFill>
                  <a:srgbClr val="78350F"/>
                </a:solidFill>
              </a:defRPr>
            </a:lvl1pPr>
          </a:lstStyle>
          <a:p>
            <a:pPr algn="ctr">
              <a:defRPr sz="2200">
                <a:solidFill>
                  <a:srgbClr val="78350F"/>
                </a:solidFill>
              </a:defRPr>
            </a:pPr>
            <a:r>
              <a:rPr sz="2200" b="1">
                <a:solidFill>
                  <a:srgbClr val="78350F"/>
                </a:solidFill>
                <a:latin typeface="Arial"/>
              </a:rPr>
              <a:t>Alternate Solution</a:t>
            </a:r>
            <a:endParaRPr sz="2200">
              <a:solidFill>
                <a:srgbClr val="78350F"/>
              </a:solidFill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5" name="Rectangle 4"/>
              <p:cNvSpPr/>
              <p:nvPr/>
            </p:nvSpPr>
            <p:spPr>
              <a:xfrm>
                <a:off x="731520" y="1353312"/>
                <a:ext cx="10725912" cy="4434840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The expression is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 </m:t>
                    </m:r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𝑒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𝑔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(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)</m:t>
                        </m:r>
                      </m:sup>
                    </m:sSup>
                    <m:d>
                      <m:dPr>
                        <m:begChr m:val="("/>
                        <m:sepChr m:val=""/>
                        <m:endChr m:val=")"/>
                        <m:grow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sSup>
                          <m:e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𝑔</m:t>
                            </m:r>
                          </m:e>
                          <m:sup>
                            <m:r>
                              <m:rPr>
                                <m:sty m:val="p"/>
                              </m:rPr>
                              <a:rPr lang="en-IN" sz="2400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′</m:t>
                            </m:r>
                          </m:sup>
                        </m:sSup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(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)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−</m:t>
                        </m:r>
                        <m:f>
                          <m:fPr>
                            <m:type m:val="bar"/>
                            <m:ctrlP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fPr>
                          <m:num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1</m:t>
                            </m:r>
                          </m:num>
                          <m:den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𝑥</m:t>
                            </m:r>
                          </m:den>
                        </m:f>
                      </m:e>
                    </m:d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𝑔</m:t>
                        </m:r>
                      </m:e>
                      <m:sup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′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d>
                      <m:dPr>
                        <m:begChr m:val="("/>
                        <m:sepChr m:val=""/>
                        <m:endChr m:val=")"/>
                        <m:grow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 </m:t>
                        </m:r>
                        <m:sSup>
                          <m:e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𝑔</m:t>
                            </m:r>
                          </m:e>
                          <m:sup>
                            <m:r>
                              <m:rPr>
                                <m:sty m:val="p"/>
                              </m:rPr>
                              <a:rPr lang="en-IN" sz="2400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′</m:t>
                            </m:r>
                          </m:sup>
                        </m:sSup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(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)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−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e>
                    </m:d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𝑒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𝑔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(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)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𝑔</m:t>
                        </m:r>
                      </m:e>
                      <m:sup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′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With </a:t>
                </a:r>
                <a14:m>
                  <m:oMath xmlns:m="http://schemas.openxmlformats.org/officeDocument/2006/math"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𝑒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𝑔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ad>
                      <m:radPr>
                        <m:degHide m:val="on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radPr>
                      <m:deg/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+</m:t>
                        </m:r>
                        <m:sSup>
                          <m:e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𝑥</m:t>
                            </m:r>
                          </m:e>
                          <m:sup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2</m:t>
                            </m:r>
                          </m:sup>
                        </m:sSup>
                      </m:e>
                    </m:rad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and </a:t>
                </a:r>
                <a14:m>
                  <m:oMath xmlns:m="http://schemas.openxmlformats.org/officeDocument/2006/math"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𝑔</m:t>
                        </m:r>
                      </m:e>
                      <m:sup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′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num>
                      <m:den>
                        <m:rad>
                          <m:radPr>
                            <m:degHide m:val="on"/>
                            <m:ctrlP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radPr>
                          <m:deg/>
                          <m:e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1</m:t>
                            </m:r>
                            <m:r>
                              <m:rPr>
                                <m:sty m:val="p"/>
                              </m:rPr>
                              <a:rPr lang="en-IN" sz="2400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+</m:t>
                            </m:r>
                            <m:sSup>
                              <m:e>
                                <m:r>
                                  <a:rPr lang="en-IN" sz="2400" i="1">
                                    <a:solidFill>
                                      <a:srgbClr val="111827"/>
                                    </a:solidFill>
                                    <a:latin typeface="Cambria Math" panose="02040503050406030204" pitchFamily="18" charset="0"/>
                                  </a:rPr>
                                  <m:t>𝑥</m:t>
                                </m:r>
                              </m:e>
                              <m:sup>
                                <m:r>
                                  <a:rPr lang="en-IN" sz="2400" i="1">
                                    <a:solidFill>
                                      <a:srgbClr val="111827"/>
                                    </a:solidFill>
                                    <a:latin typeface="Cambria Math" panose="02040503050406030204" pitchFamily="18" charset="0"/>
                                  </a:rPr>
                                  <m:t>2</m:t>
                                </m:r>
                              </m:sup>
                            </m:sSup>
                          </m:e>
                        </m:rad>
                      </m:den>
                    </m:f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: </a:t>
                </a:r>
                <a14:m>
                  <m:oMath xmlns:m="http://schemas.openxmlformats.org/officeDocument/2006/math">
                    <m:d>
                      <m:dPr>
                        <m:begChr m:val="("/>
                        <m:sepChr m:val=""/>
                        <m:endChr m:val=")"/>
                        <m:grow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f>
                          <m:fPr>
                            <m:type m:val="bar"/>
                            <m:ctrlP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fPr>
                          <m:num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𝑥</m:t>
                            </m:r>
                          </m:num>
                          <m:den>
                            <m:rad>
                              <m:radPr>
                                <m:degHide m:val="on"/>
                                <m:ctrlPr>
                                  <a:rPr lang="en-IN" sz="2400" i="1">
                                    <a:solidFill>
                                      <a:srgbClr val="111827"/>
                                    </a:solidFill>
                                    <a:latin typeface="Cambria Math" panose="02040503050406030204" pitchFamily="18" charset="0"/>
                                  </a:rPr>
                                </m:ctrlPr>
                              </m:radPr>
                              <m:deg/>
                              <m:e>
                                <m:r>
                                  <a:rPr lang="en-IN" sz="2400" i="1">
                                    <a:solidFill>
                                      <a:srgbClr val="111827"/>
                                    </a:solidFill>
                                    <a:latin typeface="Cambria Math" panose="02040503050406030204" pitchFamily="18" charset="0"/>
                                  </a:rPr>
                                  <m:t>1</m:t>
                                </m:r>
                                <m:r>
                                  <m:rPr>
                                    <m:sty m:val="p"/>
                                  </m:rPr>
                                  <a:rPr lang="en-IN" sz="2400">
                                    <a:solidFill>
                                      <a:srgbClr val="111827"/>
                                    </a:solidFill>
                                    <a:latin typeface="Cambria Math" panose="02040503050406030204" pitchFamily="18" charset="0"/>
                                  </a:rPr>
                                  <m:t>+</m:t>
                                </m:r>
                                <m:sSup>
                                  <m:e>
                                    <m:r>
                                      <a:rPr lang="en-IN" sz="2400" i="1">
                                        <a:solidFill>
                                          <a:srgbClr val="111827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𝑥</m:t>
                                    </m:r>
                                  </m:e>
                                  <m:sup>
                                    <m:r>
                                      <a:rPr lang="en-IN" sz="2400" i="1">
                                        <a:solidFill>
                                          <a:srgbClr val="111827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2</m:t>
                                    </m:r>
                                  </m:sup>
                                </m:sSup>
                              </m:e>
                            </m:rad>
                          </m:den>
                        </m:f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−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e>
                    </m:d>
                    <m:d>
                      <m:dPr>
                        <m:begChr m:val="("/>
                        <m:sepChr m:val=""/>
                        <m:endChr m:val=")"/>
                        <m:grow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+</m:t>
                        </m:r>
                        <m:rad>
                          <m:radPr>
                            <m:degHide m:val="on"/>
                            <m:ctrlP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radPr>
                          <m:deg/>
                          <m:e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1</m:t>
                            </m:r>
                            <m:r>
                              <m:rPr>
                                <m:sty m:val="p"/>
                              </m:rPr>
                              <a:rPr lang="en-IN" sz="2400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+</m:t>
                            </m:r>
                            <m:sSup>
                              <m:e>
                                <m:r>
                                  <a:rPr lang="en-IN" sz="2400" i="1">
                                    <a:solidFill>
                                      <a:srgbClr val="111827"/>
                                    </a:solidFill>
                                    <a:latin typeface="Cambria Math" panose="02040503050406030204" pitchFamily="18" charset="0"/>
                                  </a:rPr>
                                  <m:t>𝑥</m:t>
                                </m:r>
                              </m:e>
                              <m:sup>
                                <m:r>
                                  <a:rPr lang="en-IN" sz="2400" i="1">
                                    <a:solidFill>
                                      <a:srgbClr val="111827"/>
                                    </a:solidFill>
                                    <a:latin typeface="Cambria Math" panose="02040503050406030204" pitchFamily="18" charset="0"/>
                                  </a:rPr>
                                  <m:t>2</m:t>
                                </m:r>
                              </m:sup>
                            </m:sSup>
                          </m:e>
                        </m:rad>
                      </m:e>
                    </m:d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num>
                      <m:den>
                        <m:rad>
                          <m:radPr>
                            <m:degHide m:val="on"/>
                            <m:ctrlP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radPr>
                          <m:deg/>
                          <m:e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1</m:t>
                            </m:r>
                            <m:r>
                              <m:rPr>
                                <m:sty m:val="p"/>
                              </m:rPr>
                              <a:rPr lang="en-IN" sz="2400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+</m:t>
                            </m:r>
                            <m:sSup>
                              <m:e>
                                <m:r>
                                  <a:rPr lang="en-IN" sz="2400" i="1">
                                    <a:solidFill>
                                      <a:srgbClr val="111827"/>
                                    </a:solidFill>
                                    <a:latin typeface="Cambria Math" panose="02040503050406030204" pitchFamily="18" charset="0"/>
                                  </a:rPr>
                                  <m:t>𝑥</m:t>
                                </m:r>
                              </m:e>
                              <m:sup>
                                <m:r>
                                  <a:rPr lang="en-IN" sz="2400" i="1">
                                    <a:solidFill>
                                      <a:srgbClr val="111827"/>
                                    </a:solidFill>
                                    <a:latin typeface="Cambria Math" panose="02040503050406030204" pitchFamily="18" charset="0"/>
                                  </a:rPr>
                                  <m:t>2</m:t>
                                </m:r>
                              </m:sup>
                            </m:sSup>
                          </m:e>
                        </m:rad>
                      </m:den>
                    </m:f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sSup>
                          <m:e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𝑥</m:t>
                            </m:r>
                          </m:e>
                          <m:sup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2</m:t>
                            </m:r>
                          </m:sup>
                        </m:sSup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+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  <m:rad>
                          <m:radPr>
                            <m:degHide m:val="on"/>
                            <m:ctrlP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radPr>
                          <m:deg/>
                          <m:e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1</m:t>
                            </m:r>
                            <m:r>
                              <m:rPr>
                                <m:sty m:val="p"/>
                              </m:rPr>
                              <a:rPr lang="en-IN" sz="2400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+</m:t>
                            </m:r>
                            <m:sSup>
                              <m:e>
                                <m:r>
                                  <a:rPr lang="en-IN" sz="2400" i="1">
                                    <a:solidFill>
                                      <a:srgbClr val="111827"/>
                                    </a:solidFill>
                                    <a:latin typeface="Cambria Math" panose="02040503050406030204" pitchFamily="18" charset="0"/>
                                  </a:rPr>
                                  <m:t>𝑥</m:t>
                                </m:r>
                              </m:e>
                              <m:sup>
                                <m:r>
                                  <a:rPr lang="en-IN" sz="2400" i="1">
                                    <a:solidFill>
                                      <a:srgbClr val="111827"/>
                                    </a:solidFill>
                                    <a:latin typeface="Cambria Math" panose="02040503050406030204" pitchFamily="18" charset="0"/>
                                  </a:rPr>
                                  <m:t>2</m:t>
                                </m:r>
                              </m:sup>
                            </m:sSup>
                          </m:e>
                        </m:rad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−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  <m:rad>
                          <m:radPr>
                            <m:degHide m:val="on"/>
                            <m:ctrlP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radPr>
                          <m:deg/>
                          <m:e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1</m:t>
                            </m:r>
                            <m:r>
                              <m:rPr>
                                <m:sty m:val="p"/>
                              </m:rPr>
                              <a:rPr lang="en-IN" sz="2400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+</m:t>
                            </m:r>
                            <m:sSup>
                              <m:e>
                                <m:r>
                                  <a:rPr lang="en-IN" sz="2400" i="1">
                                    <a:solidFill>
                                      <a:srgbClr val="111827"/>
                                    </a:solidFill>
                                    <a:latin typeface="Cambria Math" panose="02040503050406030204" pitchFamily="18" charset="0"/>
                                  </a:rPr>
                                  <m:t>𝑥</m:t>
                                </m:r>
                              </m:e>
                              <m:sup>
                                <m:r>
                                  <a:rPr lang="en-IN" sz="2400" i="1">
                                    <a:solidFill>
                                      <a:srgbClr val="111827"/>
                                    </a:solidFill>
                                    <a:latin typeface="Cambria Math" panose="02040503050406030204" pitchFamily="18" charset="0"/>
                                  </a:rPr>
                                  <m:t>2</m:t>
                                </m:r>
                              </m:sup>
                            </m:sSup>
                          </m:e>
                        </m:rad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−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(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+</m:t>
                        </m:r>
                        <m:sSup>
                          <m:e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𝑥</m:t>
                            </m:r>
                          </m:e>
                          <m:sup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2</m:t>
                            </m:r>
                          </m:sup>
                        </m:sSup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)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+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num>
                      <m:den>
                        <m:rad>
                          <m:radPr>
                            <m:degHide m:val="on"/>
                            <m:ctrlP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radPr>
                          <m:deg/>
                          <m:e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1</m:t>
                            </m:r>
                            <m:r>
                              <m:rPr>
                                <m:sty m:val="p"/>
                              </m:rPr>
                              <a:rPr lang="en-IN" sz="2400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+</m:t>
                            </m:r>
                            <m:sSup>
                              <m:e>
                                <m:r>
                                  <a:rPr lang="en-IN" sz="2400" i="1">
                                    <a:solidFill>
                                      <a:srgbClr val="111827"/>
                                    </a:solidFill>
                                    <a:latin typeface="Cambria Math" panose="02040503050406030204" pitchFamily="18" charset="0"/>
                                  </a:rPr>
                                  <m:t>𝑥</m:t>
                                </m:r>
                              </m:e>
                              <m:sup>
                                <m:r>
                                  <a:rPr lang="en-IN" sz="2400" i="1">
                                    <a:solidFill>
                                      <a:srgbClr val="111827"/>
                                    </a:solidFill>
                                    <a:latin typeface="Cambria Math" panose="02040503050406030204" pitchFamily="18" charset="0"/>
                                  </a:rPr>
                                  <m:t>2</m:t>
                                </m:r>
                              </m:sup>
                            </m:sSup>
                          </m:e>
                        </m:rad>
                      </m:den>
                    </m:f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0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Choice>
        <mc:Fallback>
          <p:sp>
            <p:nvSpPr>
              <p:cNvPr id="5" name="Rectangle 4"/>
              <p:cNvSpPr/>
              <p:nvPr/>
            </p:nvSpPr>
            <p:spPr>
              <a:xfrm>
                <a:off x="731520" y="1353312"/>
                <a:ext cx="10725912" cy="4434840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The expression is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$x\,e^{g(x)}\left(g'(x)-\frac1x\right)+g'(x)=\left(x\,g'(x)-1\right)e^{g(x)}+g'(x)$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With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$e^{g}=x+\sqrt{1+x^2}$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and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$g'=\frac1{\sqrt{1+x^2}}$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: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$\left(\frac{x}{\sqrt{1+x^2}}-1\right)\left(x+\sqrt{1+x^2}\right)+\frac1{\sqrt{1+x^2}}=\frac{x^2+x\sqrt{1+x^2}-x\sqrt{1+x^2}-(1+x^2)+1}{\sqrt{1+x^2}}=0$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6" name="Rounded Rectangle 5"/>
              <p:cNvSpPr/>
              <p:nvPr/>
            </p:nvSpPr>
            <p:spPr>
              <a:xfrm>
                <a:off x="731520" y="5897880"/>
                <a:ext cx="10725912" cy="777240"/>
              </a:xfrm>
              <a:prstGeom prst="roundRect">
                <a:avLst>
                  <a:gd name="adj" fmla="val 8000"/>
                </a:avLst>
              </a:prstGeom>
              <a:solidFill>
                <a:srgbClr val="DCFCE7"/>
              </a:solidFill>
              <a:ln w="25400">
                <a:solidFill>
                  <a:srgbClr val="15803D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5803D"/>
              </a:fontRef>
            </p:style>
            <p:txBody>
              <a:bodyPr rtlCol="0" anchor="ctr" wrap="square" lIns="228600" rIns="228600" tIns="18288" bIns="73152"/>
              <a:lstStyle>
                <a:lvl1pPr>
                  <a:defRPr sz="2800">
                    <a:solidFill>
                      <a:srgbClr val="15803D"/>
                    </a:solidFill>
                  </a:defRPr>
                </a:lvl1pPr>
              </a:lstStyle>
              <a:p>
                <a:pPr algn="ctr">
                  <a:defRPr sz="2800">
                    <a:solidFill>
                      <a:srgbClr val="15803D"/>
                    </a:solidFill>
                  </a:defRPr>
                </a:pPr>
                <a:r>
                  <a:rPr sz="2800" b="1">
                    <a:solidFill>
                      <a:srgbClr val="15803D"/>
                    </a:solidFill>
                    <a:latin typeface="Arial"/>
                  </a:rPr>
                  <a:t>Same answer: </a:t>
                </a:r>
                <a14:m>
                  <m:oMath xmlns:m="http://schemas.openxmlformats.org/officeDocument/2006/math">
                    <m:r>
                      <a:rPr lang="en-IN" sz="2800" i="1">
                        <a:solidFill>
                          <a:srgbClr val="15803D"/>
                        </a:solidFill>
                        <a:latin typeface="Cambria Math" panose="02040503050406030204" pitchFamily="18" charset="0"/>
                      </a:rPr>
                      <m:t>0</m:t>
                    </m:r>
                  </m:oMath>
                </a14:m>
                <a:endParaRPr sz="2800">
                  <a:solidFill>
                    <a:srgbClr val="15803D"/>
                  </a:solidFill>
                </a:endParaRPr>
              </a:p>
            </p:txBody>
          </p:sp>
        </mc:Choice>
        <mc:Fallback>
          <p:sp>
            <p:nvSpPr>
              <p:cNvPr id="6" name="Rounded Rectangle 5"/>
              <p:cNvSpPr/>
              <p:nvPr/>
            </p:nvSpPr>
            <p:spPr>
              <a:xfrm>
                <a:off x="731520" y="5897880"/>
                <a:ext cx="10725912" cy="777240"/>
              </a:xfrm>
              <a:prstGeom prst="roundRect">
                <a:avLst>
                  <a:gd name="adj" fmla="val 8000"/>
                </a:avLst>
              </a:prstGeom>
              <a:solidFill>
                <a:srgbClr val="DCFCE7"/>
              </a:solidFill>
              <a:ln w="25400">
                <a:solidFill>
                  <a:srgbClr val="15803D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5803D"/>
              </a:fontRef>
            </p:style>
            <p:txBody>
              <a:bodyPr rtlCol="0" anchor="ctr" wrap="square" lIns="228600" rIns="228600" tIns="18288" bIns="73152"/>
              <a:lstStyle>
                <a:lvl1pPr>
                  <a:defRPr sz="2800">
                    <a:solidFill>
                      <a:srgbClr val="15803D"/>
                    </a:solidFill>
                  </a:defRPr>
                </a:lvl1pPr>
              </a:lstStyle>
              <a:p>
                <a:pPr algn="ctr">
                  <a:defRPr sz="2800">
                    <a:solidFill>
                      <a:srgbClr val="15803D"/>
                    </a:solidFill>
                  </a:defRPr>
                </a:pPr>
                <a:r>
                  <a:rPr sz="2800" b="1">
                    <a:solidFill>
                      <a:srgbClr val="15803D"/>
                    </a:solidFill>
                    <a:latin typeface="Arial"/>
                  </a:rPr>
                  <a:t>Same answer: </a:t>
                </a:r>
                <a:r>
                  <a:rPr lang="en-IN" sz="2800">
                    <a:solidFill>
                      <a:srgbClr val="15803D"/>
                    </a:solidFill>
                    <a:latin typeface="Cambria Math" panose="02040503050406030204" pitchFamily="18" charset="0"/>
                  </a:rPr>
                  <a:t>$0$</a:t>
                </a:r>
                <a:endParaRPr sz="2800">
                  <a:solidFill>
                    <a:srgbClr val="15803D"/>
                  </a:solidFill>
                </a:endParaRPr>
              </a:p>
            </p:txBody>
          </p:sp>
        </mc:Fallback>
      </mc:AlternateContent>
    </p:spTree>
  </p:cSld>
  <p:clrMapOvr>
    <a:masterClrMapping/>
  </p:clrMapOvr>
</p:sld>
</file>

<file path=ppt/slides/slide6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FFFFFF"/>
          </a:fontRef>
        </p:style>
        <p:txBody>
          <a:bodyPr rtlCol="0" anchor="ctr" lIns="731520"/>
          <a:lstStyle>
            <a:lvl1pPr>
              <a:defRPr sz="3200">
                <a:solidFill>
                  <a:srgbClr val="FFFFFF"/>
                </a:solidFill>
              </a:defRPr>
            </a:lvl1pPr>
          </a:lstStyle>
          <a:p>
            <a:pPr algn="l">
              <a:defRPr sz="3200">
                <a:solidFill>
                  <a:srgbClr val="FFFFFF"/>
                </a:solidFill>
              </a:defRPr>
            </a:pPr>
            <a:r>
              <a:rPr sz="3200" b="1">
                <a:solidFill>
                  <a:srgbClr val="FFFFFF"/>
                </a:solidFill>
                <a:latin typeface="Arial"/>
              </a:rPr>
              <a:t>Question 09</a:t>
            </a:r>
            <a:endParaRPr sz="3200">
              <a:solidFill>
                <a:srgbClr val="FFFFFF"/>
              </a:solidFill>
            </a:endParaRPr>
          </a:p>
        </p:txBody>
      </p:sp>
      <p:sp>
        <p:nvSpPr>
          <p:cNvPr id="3" name="Rounded Rectangle 2"/>
          <p:cNvSpPr/>
          <p:nvPr/>
        </p:nvSpPr>
        <p:spPr>
          <a:xfrm>
            <a:off x="7894015" y="246887"/>
            <a:ext cx="3840480" cy="603504"/>
          </a:xfrm>
          <a:prstGeom prst="roundRect">
            <a:avLst>
              <a:gd name="adj" fmla="val 50000"/>
            </a:avLst>
          </a:prstGeom>
          <a:solidFill>
            <a:srgbClr val="FFD966"/>
          </a:solidFill>
          <a:ln w="1905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111827"/>
          </a:fontRef>
        </p:style>
        <p:txBody>
          <a:bodyPr rtlCol="0" anchor="ctr" wrap="square" lIns="228600" rIns="228600" tIns="18288" bIns="18288"/>
          <a:lstStyle>
            <a:lvl1pPr>
              <a:defRPr sz="2400">
                <a:solidFill>
                  <a:srgbClr val="111827"/>
                </a:solidFill>
              </a:defRPr>
            </a:lvl1pPr>
          </a:lstStyle>
          <a:p>
            <a:pPr algn="ctr">
              <a:defRPr sz="2400">
                <a:solidFill>
                  <a:srgbClr val="111827"/>
                </a:solidFill>
              </a:defRPr>
            </a:pPr>
            <a:r>
              <a:rPr sz="2400" b="1">
                <a:solidFill>
                  <a:srgbClr val="111827"/>
                </a:solidFill>
                <a:latin typeface="Arial"/>
              </a:rPr>
              <a:t>Level 2  ·  4 Marks</a:t>
            </a:r>
            <a:endParaRPr sz="2400">
              <a:solidFill>
                <a:srgbClr val="111827"/>
              </a:solidFill>
            </a:endParaRPr>
          </a:p>
        </p:txBody>
      </p:sp>
      <p:sp>
        <p:nvSpPr>
          <p:cNvPr id="4" name="Rounded Rectangle 3"/>
          <p:cNvSpPr/>
          <p:nvPr/>
        </p:nvSpPr>
        <p:spPr>
          <a:xfrm>
            <a:off x="3520440" y="265176"/>
            <a:ext cx="4206240" cy="566928"/>
          </a:xfrm>
          <a:prstGeom prst="roundRect">
            <a:avLst>
              <a:gd name="adj" fmla="val 50000"/>
            </a:avLst>
          </a:prstGeom>
          <a:solidFill>
            <a:srgbClr val="E0ECFF"/>
          </a:solidFill>
          <a:ln w="25400">
            <a:solidFill>
              <a:srgbClr val="1D4ED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0B1F3A"/>
          </a:fontRef>
        </p:style>
        <p:txBody>
          <a:bodyPr rtlCol="0" anchor="ctr" wrap="square" lIns="228600" rIns="228600" tIns="18288" bIns="18288"/>
          <a:lstStyle>
            <a:lvl1pPr>
              <a:defRPr sz="2200">
                <a:solidFill>
                  <a:srgbClr val="0B1F3A"/>
                </a:solidFill>
              </a:defRPr>
            </a:lvl1pPr>
          </a:lstStyle>
          <a:p>
            <a:pPr algn="ctr">
              <a:defRPr sz="2200">
                <a:solidFill>
                  <a:srgbClr val="0B1F3A"/>
                </a:solidFill>
              </a:defRPr>
            </a:pPr>
            <a:r>
              <a:rPr sz="2200" b="1">
                <a:solidFill>
                  <a:srgbClr val="0B1F3A"/>
                </a:solidFill>
                <a:latin typeface="Arial"/>
              </a:rPr>
              <a:t>Useful Result / Pattern</a:t>
            </a:r>
            <a:endParaRPr sz="2200">
              <a:solidFill>
                <a:srgbClr val="0B1F3A"/>
              </a:solidFill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5" name="Rectangle 4"/>
              <p:cNvSpPr/>
              <p:nvPr/>
            </p:nvSpPr>
            <p:spPr>
              <a:xfrm>
                <a:off x="731520" y="1353312"/>
                <a:ext cx="10725912" cy="5321808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ln</m:t>
                    </m:r>
                    <m:d>
                      <m:dPr>
                        <m:begChr m:val="("/>
                        <m:sepChr m:val=""/>
                        <m:endChr m:val=")"/>
                        <m:grow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+</m:t>
                        </m:r>
                        <m:rad>
                          <m:radPr>
                            <m:degHide m:val="on"/>
                            <m:ctrlP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radPr>
                          <m:deg/>
                          <m:e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1</m:t>
                            </m:r>
                            <m:r>
                              <m:rPr>
                                <m:sty m:val="p"/>
                              </m:rPr>
                              <a:rPr lang="en-IN" sz="2400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+</m:t>
                            </m:r>
                            <m:sSup>
                              <m:e>
                                <m:r>
                                  <a:rPr lang="en-IN" sz="2400" i="1">
                                    <a:solidFill>
                                      <a:srgbClr val="111827"/>
                                    </a:solidFill>
                                    <a:latin typeface="Cambria Math" panose="02040503050406030204" pitchFamily="18" charset="0"/>
                                  </a:rPr>
                                  <m:t>𝑥</m:t>
                                </m:r>
                              </m:e>
                              <m:sup>
                                <m:r>
                                  <a:rPr lang="en-IN" sz="2400" i="1">
                                    <a:solidFill>
                                      <a:srgbClr val="111827"/>
                                    </a:solidFill>
                                    <a:latin typeface="Cambria Math" panose="02040503050406030204" pitchFamily="18" charset="0"/>
                                  </a:rPr>
                                  <m:t>2</m:t>
                                </m:r>
                              </m:sup>
                            </m:sSup>
                          </m:e>
                        </m:rad>
                      </m:e>
                    </m:d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sSup>
                      <m:e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sinh</m:t>
                        </m:r>
                      </m:e>
                      <m:sup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−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sup>
                    </m:sSup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and </a:t>
                </a:r>
                <a14:m>
                  <m:oMath xmlns:m="http://schemas.openxmlformats.org/officeDocument/2006/math"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𝑑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𝑑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</m:den>
                    </m:f>
                    <m:sSup>
                      <m:e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sinh</m:t>
                        </m:r>
                      </m:e>
                      <m:sup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−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sup>
                    </m:sSup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num>
                      <m:den>
                        <m:rad>
                          <m:radPr>
                            <m:degHide m:val="on"/>
                            <m:ctrlP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radPr>
                          <m:deg/>
                          <m:e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1</m:t>
                            </m:r>
                            <m:r>
                              <m:rPr>
                                <m:sty m:val="p"/>
                              </m:rPr>
                              <a:rPr lang="en-IN" sz="2400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+</m:t>
                            </m:r>
                            <m:sSup>
                              <m:e>
                                <m:r>
                                  <a:rPr lang="en-IN" sz="2400" i="1">
                                    <a:solidFill>
                                      <a:srgbClr val="111827"/>
                                    </a:solidFill>
                                    <a:latin typeface="Cambria Math" panose="02040503050406030204" pitchFamily="18" charset="0"/>
                                  </a:rPr>
                                  <m:t>𝑥</m:t>
                                </m:r>
                              </m:e>
                              <m:sup>
                                <m:r>
                                  <a:rPr lang="en-IN" sz="2400" i="1">
                                    <a:solidFill>
                                      <a:srgbClr val="111827"/>
                                    </a:solidFill>
                                    <a:latin typeface="Cambria Math" panose="02040503050406030204" pitchFamily="18" charset="0"/>
                                  </a:rPr>
                                  <m:t>2</m:t>
                                </m:r>
                              </m:sup>
                            </m:sSup>
                          </m:e>
                        </m:rad>
                      </m:den>
                    </m:f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; </a:t>
                </a:r>
                <a14:m>
                  <m:oMath xmlns:m="http://schemas.openxmlformats.org/officeDocument/2006/math"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𝑒</m:t>
                        </m:r>
                      </m:e>
                      <m:sup>
                        <m:sSup>
                          <m:e>
                            <m:r>
                              <m:rPr>
                                <m:sty m:val="p"/>
                              </m:rPr>
                              <a:rPr lang="en-IN" sz="2400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sinh</m:t>
                            </m:r>
                          </m:e>
                          <m:sup>
                            <m:r>
                              <m:rPr>
                                <m:sty m:val="p"/>
                              </m:rPr>
                              <a:rPr lang="en-IN" sz="2400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−</m:t>
                            </m:r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1</m:t>
                            </m:r>
                          </m:sup>
                        </m:s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ad>
                      <m:radPr>
                        <m:degHide m:val="on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radPr>
                      <m:deg/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+</m:t>
                        </m:r>
                        <m:sSup>
                          <m:e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𝑥</m:t>
                            </m:r>
                          </m:e>
                          <m:sup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2</m:t>
                            </m:r>
                          </m:sup>
                        </m:sSup>
                      </m:e>
                    </m:rad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For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&gt;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0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: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ln</m:t>
                    </m:r>
                    <m:d>
                      <m:dPr>
                        <m:begChr m:val="("/>
                        <m:sepChr m:val=""/>
                        <m:endChr m:val=")"/>
                        <m:grow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+</m:t>
                        </m:r>
                        <m:rad>
                          <m:radPr>
                            <m:degHide m:val="on"/>
                            <m:ctrlP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radPr>
                          <m:deg/>
                          <m:e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1</m:t>
                            </m:r>
                            <m:r>
                              <m:rPr>
                                <m:sty m:val="p"/>
                              </m:rPr>
                              <a:rPr lang="en-IN" sz="2400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+</m:t>
                            </m:r>
                            <m:sSup>
                              <m:e>
                                <m:r>
                                  <a:rPr lang="en-IN" sz="2400" i="1">
                                    <a:solidFill>
                                      <a:srgbClr val="111827"/>
                                    </a:solidFill>
                                    <a:latin typeface="Cambria Math" panose="02040503050406030204" pitchFamily="18" charset="0"/>
                                  </a:rPr>
                                  <m:t>𝑥</m:t>
                                </m:r>
                              </m:e>
                              <m:sup>
                                <m:r>
                                  <a:rPr lang="en-IN" sz="2400" i="1">
                                    <a:solidFill>
                                      <a:srgbClr val="111827"/>
                                    </a:solidFill>
                                    <a:latin typeface="Cambria Math" panose="02040503050406030204" pitchFamily="18" charset="0"/>
                                  </a:rPr>
                                  <m:t>2</m:t>
                                </m:r>
                              </m:sup>
                            </m:sSup>
                          </m:e>
                        </m:rad>
                      </m:e>
                    </m:d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sSup>
                      <m:e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sinh</m:t>
                        </m:r>
                      </m:e>
                      <m:sup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−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sup>
                    </m:sSup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</m:den>
                    </m:f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ln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equivalently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𝑓</m:t>
                    </m:r>
                    <m:d>
                      <m:dPr>
                        <m:begChr m:val="("/>
                        <m:sepChr m:val=""/>
                        <m:endChr m:val=")"/>
                        <m:grow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f>
                          <m:fPr>
                            <m:type m:val="bar"/>
                            <m:ctrlP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fPr>
                          <m:num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1</m:t>
                            </m:r>
                          </m:num>
                          <m:den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𝑥</m:t>
                            </m:r>
                          </m:den>
                        </m:f>
                      </m:e>
                    </m:d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sSup>
                      <m:e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sinh</m:t>
                        </m:r>
                      </m:e>
                      <m:sup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−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sup>
                    </m:sSup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ln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: a reciprocal argument inside nested radicals reduces to the same function plus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ln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If an expression is asked 'at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' but the cancellation works for all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compute symbolically: a constant value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0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is a good sign of a hidden identity.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Choice>
        <mc:Fallback>
          <p:sp>
            <p:nvSpPr>
              <p:cNvPr id="5" name="Rectangle 4"/>
              <p:cNvSpPr/>
              <p:nvPr/>
            </p:nvSpPr>
            <p:spPr>
              <a:xfrm>
                <a:off x="731520" y="1353312"/>
                <a:ext cx="10725912" cy="5321808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$\ln\left(x+\sqrt{1+x^2}\right)=\sinh^{-1}x$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and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$\frac{d}{dx}\sinh^{-1}x=\frac1{\sqrt{1+x^2}}$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;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$e^{\sinh^{-1}x}=x+\sqrt{1+x^2}$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For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$x&gt;0$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: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$\ln\left(1+\sqrt{1+x^2}\right)=\sinh^{-1}\frac1x+\ln x$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equivalently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$f\left(\frac1x\right)=\sinh^{-1}x-\ln x$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: a reciprocal argument inside nested radicals reduces to the same function plus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$-\ln x$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If an expression is asked 'at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$x=1$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' but the cancellation works for all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$x$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compute symbolically: a constant value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$0$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is a good sign of a hidden identity.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Fallback>
      </mc:AlternateContent>
    </p:spTree>
  </p:cSld>
  <p:clrMapOvr>
    <a:masterClrMapping/>
  </p:clrMapOvr>
</p:sld>
</file>

<file path=ppt/slides/slide6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914400" y="1463040"/>
            <a:ext cx="10362895" cy="4114800"/>
          </a:xfrm>
          <a:prstGeom prst="rect">
            <a:avLst/>
          </a:prstGeom>
          <a:noFill/>
        </p:spPr>
        <p:txBody>
          <a:bodyPr wrap="square">
            <a:spAutoFit/>
          </a:bodyPr>
          <a:lstStyle>
            <a:lvl1pPr>
              <a:defRPr sz="2800">
                <a:solidFill>
                  <a:srgbClr val="FFFFFF"/>
                </a:solidFill>
              </a:defRPr>
            </a:lvl1pPr>
          </a:lstStyle>
          <a:p>
            <a:pPr algn="ctr">
              <a:spcAft>
                <a:spcPts val="1000"/>
              </a:spcAft>
              <a:defRPr sz="2800">
                <a:solidFill>
                  <a:srgbClr val="FFFFFF"/>
                </a:solidFill>
              </a:defRPr>
            </a:pPr>
            <a:r>
              <a:rPr sz="2800" b="0">
                <a:solidFill>
                  <a:srgbClr val="93C5FD"/>
                </a:solidFill>
                <a:latin typeface="Arial"/>
              </a:rPr>
              <a:t>Section 7</a:t>
            </a:r>
            <a:endParaRPr sz="2800">
              <a:solidFill>
                <a:srgbClr val="FFFFFF"/>
              </a:solidFill>
            </a:endParaRPr>
          </a:p>
          <a:p>
            <a:pPr algn="ctr">
              <a:spcAft>
                <a:spcPts val="1000"/>
              </a:spcAft>
              <a:defRPr sz="2800">
                <a:solidFill>
                  <a:srgbClr val="FFFFFF"/>
                </a:solidFill>
              </a:defRPr>
            </a:pPr>
            <a:r>
              <a:rPr sz="4400" b="1">
                <a:solidFill>
                  <a:srgbClr val="FFFFFF"/>
                </a:solidFill>
                <a:latin typeface="Arial"/>
              </a:rPr>
              <a:t>Subjective Type</a:t>
            </a:r>
            <a:endParaRPr sz="2800">
              <a:solidFill>
                <a:srgbClr val="FFFFFF"/>
              </a:solidFill>
            </a:endParaRPr>
          </a:p>
          <a:p>
            <a:pPr algn="ctr">
              <a:spcAft>
                <a:spcPts val="1000"/>
              </a:spcAft>
              <a:defRPr sz="2800">
                <a:solidFill>
                  <a:srgbClr val="FFFFFF"/>
                </a:solidFill>
              </a:defRPr>
            </a:pPr>
            <a:r>
              <a:rPr sz="3200" b="1">
                <a:solidFill>
                  <a:srgbClr val="FFFFFF"/>
                </a:solidFill>
                <a:latin typeface="Arial"/>
              </a:rPr>
              <a:t>Q10 – Q13</a:t>
            </a:r>
            <a:endParaRPr sz="2800">
              <a:solidFill>
                <a:srgbClr val="FFFFFF"/>
              </a:solidFill>
            </a:endParaRPr>
          </a:p>
          <a:p>
            <a:pPr algn="ctr">
              <a:spcAft>
                <a:spcPts val="1000"/>
              </a:spcAft>
              <a:defRPr sz="2800">
                <a:solidFill>
                  <a:srgbClr val="FFFFFF"/>
                </a:solidFill>
              </a:defRPr>
            </a:pPr>
            <a:r>
              <a:rPr sz="2800" b="0">
                <a:solidFill>
                  <a:srgbClr val="FFFFFF"/>
                </a:solidFill>
                <a:latin typeface="Arial"/>
              </a:rPr>
              <a:t>4 marks each (no marks printed in the paper: JEE Advanced default assumed)</a:t>
            </a:r>
            <a:endParaRPr sz="2800">
              <a:solidFill>
                <a:srgbClr val="FFFFFF"/>
              </a:solidFill>
            </a:endParaRPr>
          </a:p>
          <a:p>
            <a:pPr algn="ctr">
              <a:spcAft>
                <a:spcPts val="1000"/>
              </a:spcAft>
              <a:defRPr sz="2800">
                <a:solidFill>
                  <a:srgbClr val="FFFFFF"/>
                </a:solidFill>
              </a:defRPr>
            </a:pPr>
            <a:r>
              <a:rPr sz="2800" b="0">
                <a:solidFill>
                  <a:srgbClr val="FFFFFF"/>
                </a:solidFill>
                <a:latin typeface="Arial"/>
              </a:rPr>
              <a:t>Prove / compute; complete solution with alternate method and result</a:t>
            </a:r>
            <a:endParaRPr sz="2800">
              <a:solidFill>
                <a:srgbClr val="FFFFFF"/>
              </a:solidFill>
            </a:endParaRPr>
          </a:p>
        </p:txBody>
      </p:sp>
    </p:spTree>
  </p:cSld>
  <p:clrMapOvr>
    <a:masterClrMapping/>
  </p:clrMapOvr>
</p:sld>
</file>

<file path=ppt/slides/slide6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FFFFFF"/>
          </a:fontRef>
        </p:style>
        <p:txBody>
          <a:bodyPr rtlCol="0" anchor="ctr" lIns="731520"/>
          <a:lstStyle>
            <a:lvl1pPr>
              <a:defRPr sz="3200">
                <a:solidFill>
                  <a:srgbClr val="FFFFFF"/>
                </a:solidFill>
              </a:defRPr>
            </a:lvl1pPr>
          </a:lstStyle>
          <a:p>
            <a:pPr algn="l">
              <a:defRPr sz="3200">
                <a:solidFill>
                  <a:srgbClr val="FFFFFF"/>
                </a:solidFill>
              </a:defRPr>
            </a:pPr>
            <a:r>
              <a:rPr sz="3200" b="1">
                <a:solidFill>
                  <a:srgbClr val="FFFFFF"/>
                </a:solidFill>
                <a:latin typeface="Arial"/>
              </a:rPr>
              <a:t>Question 10</a:t>
            </a:r>
            <a:endParaRPr sz="3200">
              <a:solidFill>
                <a:srgbClr val="FFFFFF"/>
              </a:solidFill>
            </a:endParaRPr>
          </a:p>
        </p:txBody>
      </p:sp>
      <p:sp>
        <p:nvSpPr>
          <p:cNvPr id="3" name="Rounded Rectangle 2"/>
          <p:cNvSpPr/>
          <p:nvPr/>
        </p:nvSpPr>
        <p:spPr>
          <a:xfrm>
            <a:off x="7894015" y="246887"/>
            <a:ext cx="3840480" cy="603504"/>
          </a:xfrm>
          <a:prstGeom prst="roundRect">
            <a:avLst>
              <a:gd name="adj" fmla="val 50000"/>
            </a:avLst>
          </a:prstGeom>
          <a:solidFill>
            <a:srgbClr val="FFD966"/>
          </a:solidFill>
          <a:ln w="1905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111827"/>
          </a:fontRef>
        </p:style>
        <p:txBody>
          <a:bodyPr rtlCol="0" anchor="ctr" wrap="square" lIns="228600" rIns="228600" tIns="18288" bIns="18288"/>
          <a:lstStyle>
            <a:lvl1pPr>
              <a:defRPr sz="2400">
                <a:solidFill>
                  <a:srgbClr val="111827"/>
                </a:solidFill>
              </a:defRPr>
            </a:lvl1pPr>
          </a:lstStyle>
          <a:p>
            <a:pPr algn="ctr">
              <a:defRPr sz="2400">
                <a:solidFill>
                  <a:srgbClr val="111827"/>
                </a:solidFill>
              </a:defRPr>
            </a:pPr>
            <a:r>
              <a:rPr sz="2400" b="1">
                <a:solidFill>
                  <a:srgbClr val="111827"/>
                </a:solidFill>
                <a:latin typeface="Arial"/>
              </a:rPr>
              <a:t>Level 2  ·  4 Marks</a:t>
            </a:r>
            <a:endParaRPr sz="2400">
              <a:solidFill>
                <a:srgbClr val="111827"/>
              </a:solidFill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4" name="Rounded Rectangle 3"/>
              <p:cNvSpPr/>
              <p:nvPr/>
            </p:nvSpPr>
            <p:spPr>
              <a:xfrm>
                <a:off x="731520" y="1280160"/>
                <a:ext cx="10725912" cy="1737360"/>
              </a:xfrm>
              <a:prstGeom prst="roundRect">
                <a:avLst>
                  <a:gd name="adj" fmla="val 8000"/>
                </a:avLst>
              </a:prstGeom>
              <a:solidFill>
                <a:srgbClr val="E0ECFF"/>
              </a:solidFill>
              <a:ln w="25400">
                <a:solidFill>
                  <a:srgbClr val="1D4ED8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>
                  <a:spcAft>
                    <a:spcPts val="500"/>
                  </a:spcAft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Let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𝑓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d>
                      <m:dPr>
                        <m:begChr m:val="{"/>
                        <m:sepChr m:val=""/>
                        <m:endChr m:val=""/>
                        <m:grow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m>
                          <m:mPr>
                            <m:baseJc m:val="center"/>
                            <m:plcHide m:val="on"/>
                            <m:mcs>
                              <m:mc>
                                <m:mcPr>
                                  <m:count m:val="1"/>
                                  <m:mcJc m:val="left"/>
                                </m:mcPr>
                              </m:mc>
                              <m:mc>
                                <m:mcPr>
                                  <m:count m:val="1"/>
                                  <m:mcJc m:val="left"/>
                                </m:mcPr>
                              </m:mc>
                            </m:mcs>
                            <m:ctrlP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mPr>
                          <m:mr>
                            <m:e>
                              <m:r>
                                <a:rPr lang="en-IN" sz="2400" i="1">
                                  <a:solidFill>
                                    <a:srgbClr val="111827"/>
                                  </a:solidFill>
                                  <a:latin typeface="Cambria Math" panose="02040503050406030204" pitchFamily="18" charset="0"/>
                                </a:rPr>
                                <m:t>𝑥</m:t>
                              </m:r>
                              <m:sSup>
                                <m:e>
                                  <m:r>
                                    <a:rPr lang="en-IN" sz="2400" i="1">
                                      <a:solidFill>
                                        <a:srgbClr val="111827"/>
                                      </a:solidFill>
                                      <a:latin typeface="Cambria Math" panose="02040503050406030204" pitchFamily="18" charset="0"/>
                                    </a:rPr>
                                    <m:t>𝑒</m:t>
                                  </m:r>
                                </m:e>
                                <m:sup>
                                  <m:r>
                                    <a:rPr lang="en-IN" sz="2400" i="1">
                                      <a:solidFill>
                                        <a:srgbClr val="111827"/>
                                      </a:solidFill>
                                      <a:latin typeface="Cambria Math" panose="02040503050406030204" pitchFamily="18" charset="0"/>
                                    </a:rPr>
                                    <m:t>𝑥</m:t>
                                  </m:r>
                                </m:sup>
                              </m:sSup>
                              <m:r>
                                <m:rPr>
                                  <m:sty m:val="p"/>
                                </m:rPr>
                                <a:rPr lang="en-IN" sz="2400">
                                  <a:solidFill>
                                    <a:srgbClr val="111827"/>
                                  </a:solidFill>
                                  <a:latin typeface="Cambria Math" panose="02040503050406030204" pitchFamily="18" charset="0"/>
                                </a:rPr>
                                <m:t>,</m:t>
                              </m:r>
                            </m:e>
                            <m:e>
                              <m:r>
                                <a:rPr lang="en-IN" sz="2400" i="1">
                                  <a:solidFill>
                                    <a:srgbClr val="111827"/>
                                  </a:solidFill>
                                  <a:latin typeface="Cambria Math" panose="02040503050406030204" pitchFamily="18" charset="0"/>
                                </a:rPr>
                                <m:t>𝑥</m:t>
                              </m:r>
                              <m:r>
                                <m:rPr>
                                  <m:sty m:val="p"/>
                                </m:rPr>
                                <a:rPr lang="en-IN" sz="2400">
                                  <a:solidFill>
                                    <a:srgbClr val="111827"/>
                                  </a:solidFill>
                                  <a:latin typeface="Cambria Math" panose="02040503050406030204" pitchFamily="18" charset="0"/>
                                </a:rPr>
                                <m:t>≤</m:t>
                              </m:r>
                              <m:r>
                                <a:rPr lang="en-IN" sz="2400" i="1">
                                  <a:solidFill>
                                    <a:srgbClr val="111827"/>
                                  </a:solidFill>
                                  <a:latin typeface="Cambria Math" panose="02040503050406030204" pitchFamily="18" charset="0"/>
                                </a:rPr>
                                <m:t>0</m:t>
                              </m:r>
                            </m:e>
                          </m:mr>
                          <m:mr>
                            <m:e>
                              <m:r>
                                <a:rPr lang="en-IN" sz="2400" i="1">
                                  <a:solidFill>
                                    <a:srgbClr val="111827"/>
                                  </a:solidFill>
                                  <a:latin typeface="Cambria Math" panose="02040503050406030204" pitchFamily="18" charset="0"/>
                                </a:rPr>
                                <m:t>𝑥</m:t>
                              </m:r>
                              <m:r>
                                <m:rPr>
                                  <m:sty m:val="p"/>
                                </m:rPr>
                                <a:rPr lang="en-IN" sz="2400">
                                  <a:solidFill>
                                    <a:srgbClr val="111827"/>
                                  </a:solidFill>
                                  <a:latin typeface="Cambria Math" panose="02040503050406030204" pitchFamily="18" charset="0"/>
                                </a:rPr>
                                <m:t>+</m:t>
                              </m:r>
                              <m:sSup>
                                <m:e>
                                  <m:r>
                                    <a:rPr lang="en-IN" sz="2400" i="1">
                                      <a:solidFill>
                                        <a:srgbClr val="111827"/>
                                      </a:solidFill>
                                      <a:latin typeface="Cambria Math" panose="02040503050406030204" pitchFamily="18" charset="0"/>
                                    </a:rPr>
                                    <m:t>𝑥</m:t>
                                  </m:r>
                                </m:e>
                                <m:sup>
                                  <m:r>
                                    <a:rPr lang="en-IN" sz="2400" i="1">
                                      <a:solidFill>
                                        <a:srgbClr val="111827"/>
                                      </a:solidFill>
                                      <a:latin typeface="Cambria Math" panose="02040503050406030204" pitchFamily="18" charset="0"/>
                                    </a:rPr>
                                    <m:t>2</m:t>
                                  </m:r>
                                </m:sup>
                              </m:sSup>
                              <m:r>
                                <m:rPr>
                                  <m:sty m:val="p"/>
                                </m:rPr>
                                <a:rPr lang="en-IN" sz="2400">
                                  <a:solidFill>
                                    <a:srgbClr val="111827"/>
                                  </a:solidFill>
                                  <a:latin typeface="Cambria Math" panose="02040503050406030204" pitchFamily="18" charset="0"/>
                                </a:rPr>
                                <m:t>−</m:t>
                              </m:r>
                              <m:sSup>
                                <m:e>
                                  <m:r>
                                    <a:rPr lang="en-IN" sz="2400" i="1">
                                      <a:solidFill>
                                        <a:srgbClr val="111827"/>
                                      </a:solidFill>
                                      <a:latin typeface="Cambria Math" panose="02040503050406030204" pitchFamily="18" charset="0"/>
                                    </a:rPr>
                                    <m:t>𝑥</m:t>
                                  </m:r>
                                </m:e>
                                <m:sup>
                                  <m:r>
                                    <a:rPr lang="en-IN" sz="2400" i="1">
                                      <a:solidFill>
                                        <a:srgbClr val="111827"/>
                                      </a:solidFill>
                                      <a:latin typeface="Cambria Math" panose="02040503050406030204" pitchFamily="18" charset="0"/>
                                    </a:rPr>
                                    <m:t>3</m:t>
                                  </m:r>
                                </m:sup>
                              </m:sSup>
                              <m:r>
                                <m:rPr>
                                  <m:sty m:val="p"/>
                                </m:rPr>
                                <a:rPr lang="en-IN" sz="2400">
                                  <a:solidFill>
                                    <a:srgbClr val="111827"/>
                                  </a:solidFill>
                                  <a:latin typeface="Cambria Math" panose="02040503050406030204" pitchFamily="18" charset="0"/>
                                </a:rPr>
                                <m:t>,</m:t>
                              </m:r>
                            </m:e>
                            <m:e>
                              <m:r>
                                <a:rPr lang="en-IN" sz="2400" i="1">
                                  <a:solidFill>
                                    <a:srgbClr val="111827"/>
                                  </a:solidFill>
                                  <a:latin typeface="Cambria Math" panose="02040503050406030204" pitchFamily="18" charset="0"/>
                                </a:rPr>
                                <m:t>𝑥</m:t>
                              </m:r>
                              <m:r>
                                <m:rPr>
                                  <m:sty m:val="p"/>
                                </m:rPr>
                                <a:rPr lang="en-IN" sz="2400">
                                  <a:solidFill>
                                    <a:srgbClr val="111827"/>
                                  </a:solidFill>
                                  <a:latin typeface="Cambria Math" panose="02040503050406030204" pitchFamily="18" charset="0"/>
                                </a:rPr>
                                <m:t>&gt;</m:t>
                              </m:r>
                              <m:r>
                                <a:rPr lang="en-IN" sz="2400" i="1">
                                  <a:solidFill>
                                    <a:srgbClr val="111827"/>
                                  </a:solidFill>
                                  <a:latin typeface="Cambria Math" panose="02040503050406030204" pitchFamily="18" charset="0"/>
                                </a:rPr>
                                <m:t>0</m:t>
                              </m:r>
                            </m:e>
                          </m:mr>
                        </m:m>
                      </m:e>
                    </m:d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 Then prove that: (a)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𝑓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is continuous and differentiable for all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 (b) </a:t>
                </a:r>
                <a14:m>
                  <m:oMath xmlns:m="http://schemas.openxmlformats.org/officeDocument/2006/math"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𝑓</m:t>
                        </m:r>
                      </m:e>
                      <m:sup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′</m:t>
                        </m:r>
                      </m:sup>
                    </m:sSup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is continuous and differentiable for all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Choice>
        <mc:Fallback>
          <p:sp>
            <p:nvSpPr>
              <p:cNvPr id="4" name="Rounded Rectangle 3"/>
              <p:cNvSpPr/>
              <p:nvPr/>
            </p:nvSpPr>
            <p:spPr>
              <a:xfrm>
                <a:off x="731520" y="1280160"/>
                <a:ext cx="10725912" cy="1737360"/>
              </a:xfrm>
              <a:prstGeom prst="roundRect">
                <a:avLst>
                  <a:gd name="adj" fmla="val 8000"/>
                </a:avLst>
              </a:prstGeom>
              <a:solidFill>
                <a:srgbClr val="E0ECFF"/>
              </a:solidFill>
              <a:ln w="25400">
                <a:solidFill>
                  <a:srgbClr val="1D4ED8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>
                  <a:spcAft>
                    <a:spcPts val="500"/>
                  </a:spcAft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Let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$f(x)=\begin{cases}xe^x,&amp;x\le0\\ x+x^2-x^3,&amp;x&gt;0\end{cases}$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 Then prove that: (a)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$f$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is continuous and differentiable for all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$x$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 (b)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$f'$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is continuous and differentiable for all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$x$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Fallback>
      </mc:AlternateContent>
      <p:sp>
        <p:nvSpPr>
          <p:cNvPr id="5" name="Rectangle 4"/>
          <p:cNvSpPr/>
          <p:nvPr/>
        </p:nvSpPr>
        <p:spPr>
          <a:xfrm>
            <a:off x="731520" y="3246120"/>
            <a:ext cx="10725912" cy="2194560"/>
          </a:xfrm>
          <a:prstGeom prst="rect">
            <a:avLst/>
          </a:prstGeom>
          <a:solidFill>
            <a:srgbClr val="FFFFFF"/>
          </a:solidFill>
          <a:ln w="19050">
            <a:solidFill>
              <a:srgbClr val="6B728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111827"/>
          </a:fontRef>
        </p:style>
        <p:txBody>
          <a:bodyPr rtlCol="0" anchor="t" wrap="square" lIns="228600" rIns="228600" tIns="137160" bIns="73152"/>
          <a:lstStyle>
            <a:lvl1pPr>
              <a:defRPr sz="2400">
                <a:solidFill>
                  <a:srgbClr val="111827"/>
                </a:solidFill>
              </a:defRPr>
            </a:lvl1pPr>
          </a:lstStyle>
          <a:p>
            <a:pPr algn="l">
              <a:spcAft>
                <a:spcPts val="200"/>
              </a:spcAft>
              <a:defRPr sz="2400">
                <a:solidFill>
                  <a:srgbClr val="111827"/>
                </a:solidFill>
              </a:defRPr>
            </a:pPr>
            <a:r>
              <a:rPr sz="2400" b="0">
                <a:solidFill>
                  <a:srgbClr val="111827"/>
                </a:solidFill>
                <a:latin typeface="Arial"/>
              </a:rPr>
              <a:t>Subjective Type(4 Marks)</a:t>
            </a:r>
            <a:endParaRPr sz="2400">
              <a:solidFill>
                <a:srgbClr val="111827"/>
              </a:solidFill>
            </a:endParaRPr>
          </a:p>
          <a:p>
            <a:pPr algn="l">
              <a:spcAft>
                <a:spcPts val="200"/>
              </a:spcAft>
              <a:defRPr sz="2400">
                <a:solidFill>
                  <a:srgbClr val="111827"/>
                </a:solidFill>
              </a:defRPr>
            </a:pPr>
            <a:r>
              <a:rPr sz="2400" b="0">
                <a:solidFill>
                  <a:srgbClr val="111827"/>
                </a:solidFill>
                <a:latin typeface="Arial"/>
              </a:rPr>
              <a:t>Concept(s) : Continuity and differentiability of piecewise functions, Differentiability of the derivative</a:t>
            </a:r>
            <a:endParaRPr sz="2400">
              <a:solidFill>
                <a:srgbClr val="111827"/>
              </a:solidFill>
            </a:endParaRPr>
          </a:p>
          <a:p>
            <a:pPr algn="l">
              <a:spcAft>
                <a:spcPts val="200"/>
              </a:spcAft>
              <a:defRPr sz="2400">
                <a:solidFill>
                  <a:srgbClr val="111827"/>
                </a:solidFill>
              </a:defRPr>
            </a:pPr>
            <a:r>
              <a:rPr sz="2400" b="0">
                <a:solidFill>
                  <a:srgbClr val="111827"/>
                </a:solidFill>
                <a:latin typeface="Arial"/>
              </a:rPr>
              <a:t>Difficulty Level: Level 2(A level below Average JEE Advanced Level)</a:t>
            </a:r>
            <a:endParaRPr sz="2400">
              <a:solidFill>
                <a:srgbClr val="111827"/>
              </a:solidFill>
            </a:endParaRPr>
          </a:p>
        </p:txBody>
      </p:sp>
    </p:spTree>
  </p:cSld>
  <p:clrMapOvr>
    <a:masterClrMapping/>
  </p:clrMapOvr>
</p:sld>
</file>

<file path=ppt/slides/slide6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FFFFFF"/>
          </a:fontRef>
        </p:style>
        <p:txBody>
          <a:bodyPr rtlCol="0" anchor="ctr" lIns="731520"/>
          <a:lstStyle>
            <a:lvl1pPr>
              <a:defRPr sz="3200">
                <a:solidFill>
                  <a:srgbClr val="FFFFFF"/>
                </a:solidFill>
              </a:defRPr>
            </a:lvl1pPr>
          </a:lstStyle>
          <a:p>
            <a:pPr algn="l">
              <a:defRPr sz="3200">
                <a:solidFill>
                  <a:srgbClr val="FFFFFF"/>
                </a:solidFill>
              </a:defRPr>
            </a:pPr>
            <a:r>
              <a:rPr sz="3200" b="1">
                <a:solidFill>
                  <a:srgbClr val="FFFFFF"/>
                </a:solidFill>
                <a:latin typeface="Arial"/>
              </a:rPr>
              <a:t>Question 10</a:t>
            </a:r>
            <a:endParaRPr sz="3200">
              <a:solidFill>
                <a:srgbClr val="FFFFFF"/>
              </a:solidFill>
            </a:endParaRPr>
          </a:p>
        </p:txBody>
      </p:sp>
      <p:sp>
        <p:nvSpPr>
          <p:cNvPr id="3" name="Rounded Rectangle 2"/>
          <p:cNvSpPr/>
          <p:nvPr/>
        </p:nvSpPr>
        <p:spPr>
          <a:xfrm>
            <a:off x="7894015" y="246887"/>
            <a:ext cx="3840480" cy="603504"/>
          </a:xfrm>
          <a:prstGeom prst="roundRect">
            <a:avLst>
              <a:gd name="adj" fmla="val 50000"/>
            </a:avLst>
          </a:prstGeom>
          <a:solidFill>
            <a:srgbClr val="FFD966"/>
          </a:solidFill>
          <a:ln w="1905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111827"/>
          </a:fontRef>
        </p:style>
        <p:txBody>
          <a:bodyPr rtlCol="0" anchor="ctr" wrap="square" lIns="228600" rIns="228600" tIns="18288" bIns="18288"/>
          <a:lstStyle>
            <a:lvl1pPr>
              <a:defRPr sz="2400">
                <a:solidFill>
                  <a:srgbClr val="111827"/>
                </a:solidFill>
              </a:defRPr>
            </a:lvl1pPr>
          </a:lstStyle>
          <a:p>
            <a:pPr algn="ctr">
              <a:defRPr sz="2400">
                <a:solidFill>
                  <a:srgbClr val="111827"/>
                </a:solidFill>
              </a:defRPr>
            </a:pPr>
            <a:r>
              <a:rPr sz="2400" b="1">
                <a:solidFill>
                  <a:srgbClr val="111827"/>
                </a:solidFill>
                <a:latin typeface="Arial"/>
              </a:rPr>
              <a:t>Level 2  ·  4 Marks</a:t>
            </a:r>
            <a:endParaRPr sz="2400">
              <a:solidFill>
                <a:srgbClr val="111827"/>
              </a:solidFill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4" name="Rounded Rectangle 3"/>
              <p:cNvSpPr/>
              <p:nvPr/>
            </p:nvSpPr>
            <p:spPr>
              <a:xfrm>
                <a:off x="731520" y="1280160"/>
                <a:ext cx="10725912" cy="1109472"/>
              </a:xfrm>
              <a:prstGeom prst="roundRect">
                <a:avLst>
                  <a:gd name="adj" fmla="val 8000"/>
                </a:avLst>
              </a:prstGeom>
              <a:solidFill>
                <a:srgbClr val="FDE68A"/>
              </a:solidFill>
              <a:ln w="31750">
                <a:solidFill>
                  <a:srgbClr val="D97706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78350F"/>
              </a:fontRef>
            </p:style>
            <p:txBody>
              <a:bodyPr rtlCol="0" anchor="ctr" wrap="square" lIns="228600" rIns="228600" tIns="54864" bIns="73152"/>
              <a:lstStyle>
                <a:lvl1pPr>
                  <a:defRPr sz="2400">
                    <a:solidFill>
                      <a:srgbClr val="78350F"/>
                    </a:solidFill>
                  </a:defRPr>
                </a:lvl1pPr>
              </a:lstStyle>
              <a:p>
                <a:pPr algn="l">
                  <a:defRPr sz="2400">
                    <a:solidFill>
                      <a:srgbClr val="78350F"/>
                    </a:solidFill>
                  </a:defRPr>
                </a:pPr>
                <a:r>
                  <a:rPr sz="2400" b="1">
                    <a:solidFill>
                      <a:srgbClr val="78350F"/>
                    </a:solidFill>
                    <a:latin typeface="Arial"/>
                  </a:rPr>
                  <a:t>Key idea:  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Only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0</m:t>
                    </m:r>
                  </m:oMath>
                </a14:m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 needs checking: compare left and right limits of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𝑓</m:t>
                    </m:r>
                  </m:oMath>
                </a14:m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, </a:t>
                </a:r>
                <a14:m>
                  <m:oMath xmlns:m="http://schemas.openxmlformats.org/officeDocument/2006/math">
                    <m:sSup>
                      <m:e>
                        <m: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𝑓</m:t>
                        </m:r>
                      </m:e>
                      <m:sup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′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𝑔</m:t>
                    </m:r>
                  </m:oMath>
                </a14:m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 and </a:t>
                </a:r>
                <a14:m>
                  <m:oMath xmlns:m="http://schemas.openxmlformats.org/officeDocument/2006/math">
                    <m:sSup>
                      <m:e>
                        <m: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𝑔</m:t>
                        </m:r>
                      </m:e>
                      <m:sup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′</m:t>
                        </m:r>
                      </m:sup>
                    </m:sSup>
                  </m:oMath>
                </a14:m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 at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0</m:t>
                    </m:r>
                  </m:oMath>
                </a14:m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 (they are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0</m:t>
                    </m:r>
                  </m:oMath>
                </a14:m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,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1</m:t>
                    </m:r>
                  </m:oMath>
                </a14:m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 and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2</m:t>
                    </m:r>
                  </m:oMath>
                </a14:m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).</a:t>
                </a:r>
                <a:endParaRPr sz="2400">
                  <a:solidFill>
                    <a:srgbClr val="78350F"/>
                  </a:solidFill>
                </a:endParaRPr>
              </a:p>
            </p:txBody>
          </p:sp>
        </mc:Choice>
        <mc:Fallback>
          <p:sp>
            <p:nvSpPr>
              <p:cNvPr id="4" name="Rounded Rectangle 3"/>
              <p:cNvSpPr/>
              <p:nvPr/>
            </p:nvSpPr>
            <p:spPr>
              <a:xfrm>
                <a:off x="731520" y="1280160"/>
                <a:ext cx="10725912" cy="1109472"/>
              </a:xfrm>
              <a:prstGeom prst="roundRect">
                <a:avLst>
                  <a:gd name="adj" fmla="val 8000"/>
                </a:avLst>
              </a:prstGeom>
              <a:solidFill>
                <a:srgbClr val="FDE68A"/>
              </a:solidFill>
              <a:ln w="31750">
                <a:solidFill>
                  <a:srgbClr val="D97706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78350F"/>
              </a:fontRef>
            </p:style>
            <p:txBody>
              <a:bodyPr rtlCol="0" anchor="ctr" wrap="square" lIns="228600" rIns="228600" tIns="54864" bIns="73152"/>
              <a:lstStyle>
                <a:lvl1pPr>
                  <a:defRPr sz="2400">
                    <a:solidFill>
                      <a:srgbClr val="78350F"/>
                    </a:solidFill>
                  </a:defRPr>
                </a:lvl1pPr>
              </a:lstStyle>
              <a:p>
                <a:pPr algn="l">
                  <a:defRPr sz="2400">
                    <a:solidFill>
                      <a:srgbClr val="78350F"/>
                    </a:solidFill>
                  </a:defRPr>
                </a:pPr>
                <a:r>
                  <a:rPr sz="2400" b="1">
                    <a:solidFill>
                      <a:srgbClr val="78350F"/>
                    </a:solidFill>
                    <a:latin typeface="Arial"/>
                  </a:rPr>
                  <a:t>Key idea:  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Only </a:t>
                </a:r>
                <a:r>
                  <a:rPr lang="en-IN" sz="2400">
                    <a:solidFill>
                      <a:srgbClr val="78350F"/>
                    </a:solidFill>
                    <a:latin typeface="Cambria Math" panose="02040503050406030204" pitchFamily="18" charset="0"/>
                  </a:rPr>
                  <a:t>$x=0$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 needs checking: compare left and right limits of </a:t>
                </a:r>
                <a:r>
                  <a:rPr lang="en-IN" sz="2400">
                    <a:solidFill>
                      <a:srgbClr val="78350F"/>
                    </a:solidFill>
                    <a:latin typeface="Cambria Math" panose="02040503050406030204" pitchFamily="18" charset="0"/>
                  </a:rPr>
                  <a:t>$f$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, </a:t>
                </a:r>
                <a:r>
                  <a:rPr lang="en-IN" sz="2400">
                    <a:solidFill>
                      <a:srgbClr val="78350F"/>
                    </a:solidFill>
                    <a:latin typeface="Cambria Math" panose="02040503050406030204" pitchFamily="18" charset="0"/>
                  </a:rPr>
                  <a:t>$f'=g$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 and </a:t>
                </a:r>
                <a:r>
                  <a:rPr lang="en-IN" sz="2400">
                    <a:solidFill>
                      <a:srgbClr val="78350F"/>
                    </a:solidFill>
                    <a:latin typeface="Cambria Math" panose="02040503050406030204" pitchFamily="18" charset="0"/>
                  </a:rPr>
                  <a:t>$g'$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 at </a:t>
                </a:r>
                <a:r>
                  <a:rPr lang="en-IN" sz="2400">
                    <a:solidFill>
                      <a:srgbClr val="78350F"/>
                    </a:solidFill>
                    <a:latin typeface="Cambria Math" panose="02040503050406030204" pitchFamily="18" charset="0"/>
                  </a:rPr>
                  <a:t>$0$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 (they are </a:t>
                </a:r>
                <a:r>
                  <a:rPr lang="en-IN" sz="2400">
                    <a:solidFill>
                      <a:srgbClr val="78350F"/>
                    </a:solidFill>
                    <a:latin typeface="Cambria Math" panose="02040503050406030204" pitchFamily="18" charset="0"/>
                  </a:rPr>
                  <a:t>$0$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, </a:t>
                </a:r>
                <a:r>
                  <a:rPr lang="en-IN" sz="2400">
                    <a:solidFill>
                      <a:srgbClr val="78350F"/>
                    </a:solidFill>
                    <a:latin typeface="Cambria Math" panose="02040503050406030204" pitchFamily="18" charset="0"/>
                  </a:rPr>
                  <a:t>$1$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 and </a:t>
                </a:r>
                <a:r>
                  <a:rPr lang="en-IN" sz="2400">
                    <a:solidFill>
                      <a:srgbClr val="78350F"/>
                    </a:solidFill>
                    <a:latin typeface="Cambria Math" panose="02040503050406030204" pitchFamily="18" charset="0"/>
                  </a:rPr>
                  <a:t>$2$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).</a:t>
                </a:r>
                <a:endParaRPr sz="2400">
                  <a:solidFill>
                    <a:srgbClr val="78350F"/>
                  </a:solidFill>
                </a:endParaRP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5" name="Rectangle 4"/>
              <p:cNvSpPr/>
              <p:nvPr/>
            </p:nvSpPr>
            <p:spPr>
              <a:xfrm>
                <a:off x="731520" y="2526792"/>
                <a:ext cx="10725912" cy="4148328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𝑒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</m:sup>
                    </m:sSup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is continuous and differentiable for every real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and so is the polynomial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3</m:t>
                        </m:r>
                      </m:sup>
                    </m:sSup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 Hence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𝑓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is continuous and differentiable on </a:t>
                </a:r>
                <a14:m>
                  <m:oMath xmlns:m="http://schemas.openxmlformats.org/officeDocument/2006/math">
                    <m:r>
                      <m:rPr>
                        <m:scr m:val="double-struck"/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R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\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{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0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}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Check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0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: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𝑓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0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0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0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𝑓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0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0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𝑓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0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0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0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so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𝑓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is continuous at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0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14:m>
                  <m:oMath xmlns:m="http://schemas.openxmlformats.org/officeDocument/2006/math"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𝑓</m:t>
                        </m:r>
                      </m:e>
                      <m:sup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′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0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0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sSub>
                      <m:e>
                        <m:d>
                          <m:dPr>
                            <m:begChr m:val="("/>
                            <m:sepChr m:val=""/>
                            <m:endChr m:val=")"/>
                            <m:grow/>
                            <m:ctrlP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sSup>
                              <m:e>
                                <m:r>
                                  <a:rPr lang="en-IN" sz="2400" i="1">
                                    <a:solidFill>
                                      <a:srgbClr val="111827"/>
                                    </a:solidFill>
                                    <a:latin typeface="Cambria Math" panose="02040503050406030204" pitchFamily="18" charset="0"/>
                                  </a:rPr>
                                  <m:t>𝑒</m:t>
                                </m:r>
                              </m:e>
                              <m:sup>
                                <m:r>
                                  <a:rPr lang="en-IN" sz="2400" i="1">
                                    <a:solidFill>
                                      <a:srgbClr val="111827"/>
                                    </a:solidFill>
                                    <a:latin typeface="Cambria Math" panose="02040503050406030204" pitchFamily="18" charset="0"/>
                                  </a:rPr>
                                  <m:t>𝑥</m:t>
                                </m:r>
                              </m:sup>
                            </m:sSup>
                            <m:r>
                              <m:rPr>
                                <m:sty m:val="p"/>
                              </m:rPr>
                              <a:rPr lang="en-IN" sz="2400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+</m:t>
                            </m:r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𝑥</m:t>
                            </m:r>
                            <m:sSup>
                              <m:e>
                                <m:r>
                                  <a:rPr lang="en-IN" sz="2400" i="1">
                                    <a:solidFill>
                                      <a:srgbClr val="111827"/>
                                    </a:solidFill>
                                    <a:latin typeface="Cambria Math" panose="02040503050406030204" pitchFamily="18" charset="0"/>
                                  </a:rPr>
                                  <m:t>𝑒</m:t>
                                </m:r>
                              </m:e>
                              <m:sup>
                                <m:r>
                                  <a:rPr lang="en-IN" sz="2400" i="1">
                                    <a:solidFill>
                                      <a:srgbClr val="111827"/>
                                    </a:solidFill>
                                    <a:latin typeface="Cambria Math" panose="02040503050406030204" pitchFamily="18" charset="0"/>
                                  </a:rPr>
                                  <m:t>𝑥</m:t>
                                </m:r>
                              </m:sup>
                            </m:sSup>
                          </m:e>
                        </m:d>
                      </m:e>
                      <m:sub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=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0</m:t>
                        </m:r>
                      </m:sub>
                    </m:sSub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(left derivative).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14:m>
                  <m:oMath xmlns:m="http://schemas.openxmlformats.org/officeDocument/2006/math"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𝑓</m:t>
                        </m:r>
                      </m:e>
                      <m:sup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′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0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0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sSub>
                      <m:e>
                        <m:d>
                          <m:dPr>
                            <m:begChr m:val="("/>
                            <m:sepChr m:val=""/>
                            <m:endChr m:val=")"/>
                            <m:grow/>
                            <m:ctrlP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1</m:t>
                            </m:r>
                            <m:r>
                              <m:rPr>
                                <m:sty m:val="p"/>
                              </m:rPr>
                              <a:rPr lang="en-IN" sz="2400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+</m:t>
                            </m:r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2</m:t>
                            </m:r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𝑥</m:t>
                            </m:r>
                            <m:r>
                              <m:rPr>
                                <m:sty m:val="p"/>
                              </m:rPr>
                              <a:rPr lang="en-IN" sz="2400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−</m:t>
                            </m:r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3</m:t>
                            </m:r>
                            <m:sSup>
                              <m:e>
                                <m:r>
                                  <a:rPr lang="en-IN" sz="2400" i="1">
                                    <a:solidFill>
                                      <a:srgbClr val="111827"/>
                                    </a:solidFill>
                                    <a:latin typeface="Cambria Math" panose="02040503050406030204" pitchFamily="18" charset="0"/>
                                  </a:rPr>
                                  <m:t>𝑥</m:t>
                                </m:r>
                              </m:e>
                              <m:sup>
                                <m:r>
                                  <a:rPr lang="en-IN" sz="2400" i="1">
                                    <a:solidFill>
                                      <a:srgbClr val="111827"/>
                                    </a:solidFill>
                                    <a:latin typeface="Cambria Math" panose="02040503050406030204" pitchFamily="18" charset="0"/>
                                  </a:rPr>
                                  <m:t>2</m:t>
                                </m:r>
                              </m:sup>
                            </m:sSup>
                          </m:e>
                        </m:d>
                      </m:e>
                      <m:sub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=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0</m:t>
                        </m:r>
                      </m:sub>
                    </m:sSub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(right derivative).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The derivatives agree, so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𝑓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is differentiable at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0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 Hence (a).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Choice>
        <mc:Fallback>
          <p:sp>
            <p:nvSpPr>
              <p:cNvPr id="5" name="Rectangle 4"/>
              <p:cNvSpPr/>
              <p:nvPr/>
            </p:nvSpPr>
            <p:spPr>
              <a:xfrm>
                <a:off x="731520" y="2526792"/>
                <a:ext cx="10725912" cy="4148328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$xe^x$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is continuous and differentiable for every real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$x$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and so is the polynomial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$x+x^2-x^3$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 Hence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$f$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is continuous and differentiable on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$\mathbb R\setminus\{0\}$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Check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$x=0$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: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$f(0-0)=0$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$f(0)=0$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$f(0+0)=0$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so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$f$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is continuous at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$0$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$f'(0-0)=\left(e^x+xe^x\right)_{x=0}=1$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(left derivative).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$f'(0+0)=\left(1+2x-3x^2\right)_{x=0}=1$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(right derivative).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The derivatives agree, so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$f$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is differentiable at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$0$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 Hence (a).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Fallback>
      </mc:AlternateContent>
    </p:spTree>
  </p:cSld>
  <p:clrMapOvr>
    <a:masterClrMapping/>
  </p:clrMapOvr>
</p:sld>
</file>

<file path=ppt/slides/slide6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FFFFFF"/>
          </a:fontRef>
        </p:style>
        <p:txBody>
          <a:bodyPr rtlCol="0" anchor="ctr" lIns="731520"/>
          <a:lstStyle>
            <a:lvl1pPr>
              <a:defRPr sz="3200">
                <a:solidFill>
                  <a:srgbClr val="FFFFFF"/>
                </a:solidFill>
              </a:defRPr>
            </a:lvl1pPr>
          </a:lstStyle>
          <a:p>
            <a:pPr algn="l">
              <a:defRPr sz="3200">
                <a:solidFill>
                  <a:srgbClr val="FFFFFF"/>
                </a:solidFill>
              </a:defRPr>
            </a:pPr>
            <a:r>
              <a:rPr sz="3200" b="1">
                <a:solidFill>
                  <a:srgbClr val="FFFFFF"/>
                </a:solidFill>
                <a:latin typeface="Arial"/>
              </a:rPr>
              <a:t>Question 10</a:t>
            </a:r>
            <a:endParaRPr sz="3200">
              <a:solidFill>
                <a:srgbClr val="FFFFFF"/>
              </a:solidFill>
            </a:endParaRPr>
          </a:p>
        </p:txBody>
      </p:sp>
      <p:sp>
        <p:nvSpPr>
          <p:cNvPr id="3" name="Rounded Rectangle 2"/>
          <p:cNvSpPr/>
          <p:nvPr/>
        </p:nvSpPr>
        <p:spPr>
          <a:xfrm>
            <a:off x="7894015" y="246887"/>
            <a:ext cx="3840480" cy="603504"/>
          </a:xfrm>
          <a:prstGeom prst="roundRect">
            <a:avLst>
              <a:gd name="adj" fmla="val 50000"/>
            </a:avLst>
          </a:prstGeom>
          <a:solidFill>
            <a:srgbClr val="FFD966"/>
          </a:solidFill>
          <a:ln w="1905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111827"/>
          </a:fontRef>
        </p:style>
        <p:txBody>
          <a:bodyPr rtlCol="0" anchor="ctr" wrap="square" lIns="228600" rIns="228600" tIns="18288" bIns="18288"/>
          <a:lstStyle>
            <a:lvl1pPr>
              <a:defRPr sz="2400">
                <a:solidFill>
                  <a:srgbClr val="111827"/>
                </a:solidFill>
              </a:defRPr>
            </a:lvl1pPr>
          </a:lstStyle>
          <a:p>
            <a:pPr algn="ctr">
              <a:defRPr sz="2400">
                <a:solidFill>
                  <a:srgbClr val="111827"/>
                </a:solidFill>
              </a:defRPr>
            </a:pPr>
            <a:r>
              <a:rPr sz="2400" b="1">
                <a:solidFill>
                  <a:srgbClr val="111827"/>
                </a:solidFill>
                <a:latin typeface="Arial"/>
              </a:rPr>
              <a:t>Level 2  ·  4 Marks</a:t>
            </a:r>
            <a:endParaRPr sz="2400">
              <a:solidFill>
                <a:srgbClr val="111827"/>
              </a:solidFill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4" name="Rectangle 3"/>
              <p:cNvSpPr/>
              <p:nvPr/>
            </p:nvSpPr>
            <p:spPr>
              <a:xfrm>
                <a:off x="731520" y="1353312"/>
                <a:ext cx="10725912" cy="4434840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Let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𝑔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𝑓</m:t>
                        </m:r>
                      </m:e>
                      <m:sup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′</m:t>
                        </m:r>
                      </m:sup>
                    </m:sSup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: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𝑔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𝑒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𝑒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</m:sup>
                    </m:sSup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for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≤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0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and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𝑔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3</m:t>
                    </m:r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for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&gt;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0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 It is continuous and differentiable for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≠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0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At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0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: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𝑔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0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0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𝑔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0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𝑔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0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0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so </a:t>
                </a:r>
                <a14:m>
                  <m:oMath xmlns:m="http://schemas.openxmlformats.org/officeDocument/2006/math"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𝑓</m:t>
                        </m:r>
                      </m:e>
                      <m:sup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′</m:t>
                        </m:r>
                      </m:sup>
                    </m:sSup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is continuous at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0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and hence on </a:t>
                </a:r>
                <a14:m>
                  <m:oMath xmlns:m="http://schemas.openxmlformats.org/officeDocument/2006/math">
                    <m:r>
                      <m:rPr>
                        <m:scr m:val="double-struck"/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R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14:m>
                  <m:oMath xmlns:m="http://schemas.openxmlformats.org/officeDocument/2006/math"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𝑔</m:t>
                        </m:r>
                      </m:e>
                      <m:sup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′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𝑒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</m:sup>
                    </m:sSup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for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&lt;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0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and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6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for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&gt;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0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: </a:t>
                </a:r>
                <a14:m>
                  <m:oMath xmlns:m="http://schemas.openxmlformats.org/officeDocument/2006/math"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𝑔</m:t>
                        </m:r>
                      </m:e>
                      <m:sup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′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0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0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and </a:t>
                </a:r>
                <a14:m>
                  <m:oMath xmlns:m="http://schemas.openxmlformats.org/officeDocument/2006/math"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𝑔</m:t>
                        </m:r>
                      </m:e>
                      <m:sup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′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0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0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Equal, so </a:t>
                </a:r>
                <a14:m>
                  <m:oMath xmlns:m="http://schemas.openxmlformats.org/officeDocument/2006/math"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𝑓</m:t>
                        </m:r>
                      </m:e>
                      <m:sup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′</m:t>
                        </m:r>
                      </m:sup>
                    </m:sSup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is differentiable at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0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and hence on </a:t>
                </a:r>
                <a14:m>
                  <m:oMath xmlns:m="http://schemas.openxmlformats.org/officeDocument/2006/math">
                    <m:r>
                      <m:rPr>
                        <m:scr m:val="double-struck"/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R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 This proves (b).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Choice>
        <mc:Fallback>
          <p:sp>
            <p:nvSpPr>
              <p:cNvPr id="4" name="Rectangle 3"/>
              <p:cNvSpPr/>
              <p:nvPr/>
            </p:nvSpPr>
            <p:spPr>
              <a:xfrm>
                <a:off x="731520" y="1353312"/>
                <a:ext cx="10725912" cy="4434840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Let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$g=f'$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: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$g(x)=xe^x+e^x$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for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$x\le0$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and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$g(x)=1+2x-3x^2$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for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$x&gt;0$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 It is continuous and differentiable for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$x\neq0$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At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$x=0$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: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$g(0-0)=1$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$g(0)=1$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$g(0+0)=1$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so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$f'$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is continuous at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$0$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and hence on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$\mathbb R$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$g'(x)=(x+2)e^x$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for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$x&lt;0$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and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$2-6x$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for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$x&gt;0$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: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$g'(0-0)=2$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and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$g'(0+0)=2$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Equal, so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$f'$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is differentiable at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$0$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and hence on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$\mathbb R$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 This proves (b).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5" name="Rounded Rectangle 4"/>
              <p:cNvSpPr/>
              <p:nvPr/>
            </p:nvSpPr>
            <p:spPr>
              <a:xfrm>
                <a:off x="731520" y="5897880"/>
                <a:ext cx="10725912" cy="777240"/>
              </a:xfrm>
              <a:prstGeom prst="roundRect">
                <a:avLst>
                  <a:gd name="adj" fmla="val 8000"/>
                </a:avLst>
              </a:prstGeom>
              <a:solidFill>
                <a:srgbClr val="DCFCE7"/>
              </a:solidFill>
              <a:ln w="25400">
                <a:solidFill>
                  <a:srgbClr val="15803D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5803D"/>
              </a:fontRef>
            </p:style>
            <p:txBody>
              <a:bodyPr rtlCol="0" anchor="ctr" wrap="square" lIns="228600" rIns="228600" tIns="18288" bIns="73152"/>
              <a:lstStyle>
                <a:lvl1pPr>
                  <a:defRPr sz="2800">
                    <a:solidFill>
                      <a:srgbClr val="15803D"/>
                    </a:solidFill>
                  </a:defRPr>
                </a:lvl1pPr>
              </a:lstStyle>
              <a:p>
                <a:pPr algn="ctr">
                  <a:defRPr sz="2800">
                    <a:solidFill>
                      <a:srgbClr val="15803D"/>
                    </a:solidFill>
                  </a:defRPr>
                </a:pPr>
                <a:r>
                  <a:rPr sz="2800" b="1">
                    <a:solidFill>
                      <a:srgbClr val="15803D"/>
                    </a:solidFill>
                    <a:latin typeface="Arial"/>
                  </a:rPr>
                  <a:t>Correct Answer: Proved: </a:t>
                </a:r>
                <a14:m>
                  <m:oMath xmlns:m="http://schemas.openxmlformats.org/officeDocument/2006/math">
                    <m:r>
                      <a:rPr lang="en-IN" sz="2800" i="1">
                        <a:solidFill>
                          <a:srgbClr val="15803D"/>
                        </a:solidFill>
                        <a:latin typeface="Cambria Math" panose="02040503050406030204" pitchFamily="18" charset="0"/>
                      </a:rPr>
                      <m:t>𝑓</m:t>
                    </m:r>
                  </m:oMath>
                </a14:m>
                <a:r>
                  <a:rPr sz="2800" b="1">
                    <a:solidFill>
                      <a:srgbClr val="15803D"/>
                    </a:solidFill>
                    <a:latin typeface="Arial"/>
                  </a:rPr>
                  <a:t> and </a:t>
                </a:r>
                <a14:m>
                  <m:oMath xmlns:m="http://schemas.openxmlformats.org/officeDocument/2006/math">
                    <m:sSup>
                      <m:e>
                        <m:r>
                          <a:rPr lang="en-IN" sz="2800" i="1">
                            <a:solidFill>
                              <a:srgbClr val="15803D"/>
                            </a:solidFill>
                            <a:latin typeface="Cambria Math" panose="02040503050406030204" pitchFamily="18" charset="0"/>
                          </a:rPr>
                          <m:t>𝑓</m:t>
                        </m:r>
                      </m:e>
                      <m:sup>
                        <m:r>
                          <m:rPr>
                            <m:sty m:val="p"/>
                          </m:rPr>
                          <a:rPr lang="en-IN" sz="2800">
                            <a:solidFill>
                              <a:srgbClr val="15803D"/>
                            </a:solidFill>
                            <a:latin typeface="Cambria Math" panose="02040503050406030204" pitchFamily="18" charset="0"/>
                          </a:rPr>
                          <m:t>′</m:t>
                        </m:r>
                      </m:sup>
                    </m:sSup>
                  </m:oMath>
                </a14:m>
                <a:r>
                  <a:rPr sz="2800" b="1">
                    <a:solidFill>
                      <a:srgbClr val="15803D"/>
                    </a:solidFill>
                    <a:latin typeface="Arial"/>
                  </a:rPr>
                  <a:t> are continuous and differentiable on </a:t>
                </a:r>
                <a14:m>
                  <m:oMath xmlns:m="http://schemas.openxmlformats.org/officeDocument/2006/math">
                    <m:r>
                      <m:rPr>
                        <m:scr m:val="double-struck"/>
                        <m:sty m:val="p"/>
                      </m:rPr>
                      <a:rPr lang="en-IN" sz="2800">
                        <a:solidFill>
                          <a:srgbClr val="15803D"/>
                        </a:solidFill>
                        <a:latin typeface="Cambria Math" panose="02040503050406030204" pitchFamily="18" charset="0"/>
                      </a:rPr>
                      <m:t>R</m:t>
                    </m:r>
                  </m:oMath>
                </a14:m>
                <a:endParaRPr sz="2800">
                  <a:solidFill>
                    <a:srgbClr val="15803D"/>
                  </a:solidFill>
                </a:endParaRPr>
              </a:p>
            </p:txBody>
          </p:sp>
        </mc:Choice>
        <mc:Fallback>
          <p:sp>
            <p:nvSpPr>
              <p:cNvPr id="5" name="Rounded Rectangle 4"/>
              <p:cNvSpPr/>
              <p:nvPr/>
            </p:nvSpPr>
            <p:spPr>
              <a:xfrm>
                <a:off x="731520" y="5897880"/>
                <a:ext cx="10725912" cy="777240"/>
              </a:xfrm>
              <a:prstGeom prst="roundRect">
                <a:avLst>
                  <a:gd name="adj" fmla="val 8000"/>
                </a:avLst>
              </a:prstGeom>
              <a:solidFill>
                <a:srgbClr val="DCFCE7"/>
              </a:solidFill>
              <a:ln w="25400">
                <a:solidFill>
                  <a:srgbClr val="15803D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5803D"/>
              </a:fontRef>
            </p:style>
            <p:txBody>
              <a:bodyPr rtlCol="0" anchor="ctr" wrap="square" lIns="228600" rIns="228600" tIns="18288" bIns="73152"/>
              <a:lstStyle>
                <a:lvl1pPr>
                  <a:defRPr sz="2800">
                    <a:solidFill>
                      <a:srgbClr val="15803D"/>
                    </a:solidFill>
                  </a:defRPr>
                </a:lvl1pPr>
              </a:lstStyle>
              <a:p>
                <a:pPr algn="ctr">
                  <a:defRPr sz="2800">
                    <a:solidFill>
                      <a:srgbClr val="15803D"/>
                    </a:solidFill>
                  </a:defRPr>
                </a:pPr>
                <a:r>
                  <a:rPr sz="2800" b="1">
                    <a:solidFill>
                      <a:srgbClr val="15803D"/>
                    </a:solidFill>
                    <a:latin typeface="Arial"/>
                  </a:rPr>
                  <a:t>Correct Answer: Proved: </a:t>
                </a:r>
                <a:r>
                  <a:rPr lang="en-IN" sz="2800">
                    <a:solidFill>
                      <a:srgbClr val="15803D"/>
                    </a:solidFill>
                    <a:latin typeface="Cambria Math" panose="02040503050406030204" pitchFamily="18" charset="0"/>
                  </a:rPr>
                  <a:t>$f$</a:t>
                </a:r>
                <a:r>
                  <a:rPr sz="2800" b="1">
                    <a:solidFill>
                      <a:srgbClr val="15803D"/>
                    </a:solidFill>
                    <a:latin typeface="Arial"/>
                  </a:rPr>
                  <a:t> and </a:t>
                </a:r>
                <a:r>
                  <a:rPr lang="en-IN" sz="2800">
                    <a:solidFill>
                      <a:srgbClr val="15803D"/>
                    </a:solidFill>
                    <a:latin typeface="Cambria Math" panose="02040503050406030204" pitchFamily="18" charset="0"/>
                  </a:rPr>
                  <a:t>$f'$</a:t>
                </a:r>
                <a:r>
                  <a:rPr sz="2800" b="1">
                    <a:solidFill>
                      <a:srgbClr val="15803D"/>
                    </a:solidFill>
                    <a:latin typeface="Arial"/>
                  </a:rPr>
                  <a:t> are continuous and differentiable on </a:t>
                </a:r>
                <a:r>
                  <a:rPr lang="en-IN" sz="2800">
                    <a:solidFill>
                      <a:srgbClr val="15803D"/>
                    </a:solidFill>
                    <a:latin typeface="Cambria Math" panose="02040503050406030204" pitchFamily="18" charset="0"/>
                  </a:rPr>
                  <a:t>$\mathbb R$</a:t>
                </a:r>
                <a:endParaRPr sz="2800">
                  <a:solidFill>
                    <a:srgbClr val="15803D"/>
                  </a:solidFill>
                </a:endParaRPr>
              </a:p>
            </p:txBody>
          </p:sp>
        </mc:Fallback>
      </mc:AlternateContent>
    </p:spTree>
  </p:cSld>
  <p:clrMapOvr>
    <a:masterClrMapping/>
  </p:clrMapOvr>
</p:sld>
</file>

<file path=ppt/slides/slide6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FFFFFF"/>
          </a:fontRef>
        </p:style>
        <p:txBody>
          <a:bodyPr rtlCol="0" anchor="ctr" lIns="731520"/>
          <a:lstStyle>
            <a:lvl1pPr>
              <a:defRPr sz="3200">
                <a:solidFill>
                  <a:srgbClr val="FFFFFF"/>
                </a:solidFill>
              </a:defRPr>
            </a:lvl1pPr>
          </a:lstStyle>
          <a:p>
            <a:pPr algn="l">
              <a:defRPr sz="3200">
                <a:solidFill>
                  <a:srgbClr val="FFFFFF"/>
                </a:solidFill>
              </a:defRPr>
            </a:pPr>
            <a:r>
              <a:rPr sz="3200" b="1">
                <a:solidFill>
                  <a:srgbClr val="FFFFFF"/>
                </a:solidFill>
                <a:latin typeface="Arial"/>
              </a:rPr>
              <a:t>Question 10</a:t>
            </a:r>
            <a:endParaRPr sz="3200">
              <a:solidFill>
                <a:srgbClr val="FFFFFF"/>
              </a:solidFill>
            </a:endParaRPr>
          </a:p>
        </p:txBody>
      </p:sp>
      <p:sp>
        <p:nvSpPr>
          <p:cNvPr id="3" name="Rounded Rectangle 2"/>
          <p:cNvSpPr/>
          <p:nvPr/>
        </p:nvSpPr>
        <p:spPr>
          <a:xfrm>
            <a:off x="7894015" y="246887"/>
            <a:ext cx="3840480" cy="603504"/>
          </a:xfrm>
          <a:prstGeom prst="roundRect">
            <a:avLst>
              <a:gd name="adj" fmla="val 50000"/>
            </a:avLst>
          </a:prstGeom>
          <a:solidFill>
            <a:srgbClr val="FFD966"/>
          </a:solidFill>
          <a:ln w="1905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111827"/>
          </a:fontRef>
        </p:style>
        <p:txBody>
          <a:bodyPr rtlCol="0" anchor="ctr" wrap="square" lIns="228600" rIns="228600" tIns="18288" bIns="18288"/>
          <a:lstStyle>
            <a:lvl1pPr>
              <a:defRPr sz="2400">
                <a:solidFill>
                  <a:srgbClr val="111827"/>
                </a:solidFill>
              </a:defRPr>
            </a:lvl1pPr>
          </a:lstStyle>
          <a:p>
            <a:pPr algn="ctr">
              <a:defRPr sz="2400">
                <a:solidFill>
                  <a:srgbClr val="111827"/>
                </a:solidFill>
              </a:defRPr>
            </a:pPr>
            <a:r>
              <a:rPr sz="2400" b="1">
                <a:solidFill>
                  <a:srgbClr val="111827"/>
                </a:solidFill>
                <a:latin typeface="Arial"/>
              </a:rPr>
              <a:t>Level 2  ·  4 Marks</a:t>
            </a:r>
            <a:endParaRPr sz="2400">
              <a:solidFill>
                <a:srgbClr val="111827"/>
              </a:solidFill>
            </a:endParaRPr>
          </a:p>
        </p:txBody>
      </p:sp>
      <p:sp>
        <p:nvSpPr>
          <p:cNvPr id="4" name="Rounded Rectangle 3"/>
          <p:cNvSpPr/>
          <p:nvPr/>
        </p:nvSpPr>
        <p:spPr>
          <a:xfrm>
            <a:off x="3520440" y="265176"/>
            <a:ext cx="4206240" cy="566928"/>
          </a:xfrm>
          <a:prstGeom prst="roundRect">
            <a:avLst>
              <a:gd name="adj" fmla="val 50000"/>
            </a:avLst>
          </a:prstGeom>
          <a:solidFill>
            <a:srgbClr val="FDE68A"/>
          </a:solidFill>
          <a:ln w="25400">
            <a:solidFill>
              <a:srgbClr val="D9770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78350F"/>
          </a:fontRef>
        </p:style>
        <p:txBody>
          <a:bodyPr rtlCol="0" anchor="ctr" wrap="square" lIns="228600" rIns="228600" tIns="18288" bIns="18288"/>
          <a:lstStyle>
            <a:lvl1pPr>
              <a:defRPr sz="2200">
                <a:solidFill>
                  <a:srgbClr val="78350F"/>
                </a:solidFill>
              </a:defRPr>
            </a:lvl1pPr>
          </a:lstStyle>
          <a:p>
            <a:pPr algn="ctr">
              <a:defRPr sz="2200">
                <a:solidFill>
                  <a:srgbClr val="78350F"/>
                </a:solidFill>
              </a:defRPr>
            </a:pPr>
            <a:r>
              <a:rPr sz="2200" b="1">
                <a:solidFill>
                  <a:srgbClr val="78350F"/>
                </a:solidFill>
                <a:latin typeface="Arial"/>
              </a:rPr>
              <a:t>Alternate Solution</a:t>
            </a:r>
            <a:endParaRPr sz="2200">
              <a:solidFill>
                <a:srgbClr val="78350F"/>
              </a:solidFill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5" name="Rounded Rectangle 4"/>
              <p:cNvSpPr/>
              <p:nvPr/>
            </p:nvSpPr>
            <p:spPr>
              <a:xfrm>
                <a:off x="731520" y="1280160"/>
                <a:ext cx="10725912" cy="1109472"/>
              </a:xfrm>
              <a:prstGeom prst="roundRect">
                <a:avLst>
                  <a:gd name="adj" fmla="val 8000"/>
                </a:avLst>
              </a:prstGeom>
              <a:solidFill>
                <a:srgbClr val="FDE68A"/>
              </a:solidFill>
              <a:ln w="31750">
                <a:solidFill>
                  <a:srgbClr val="D97706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78350F"/>
              </a:fontRef>
            </p:style>
            <p:txBody>
              <a:bodyPr rtlCol="0" anchor="ctr" wrap="square" lIns="228600" rIns="228600" tIns="54864" bIns="73152"/>
              <a:lstStyle>
                <a:lvl1pPr>
                  <a:defRPr sz="2400">
                    <a:solidFill>
                      <a:srgbClr val="78350F"/>
                    </a:solidFill>
                  </a:defRPr>
                </a:lvl1pPr>
              </a:lstStyle>
              <a:p>
                <a:pPr algn="l">
                  <a:defRPr sz="2400">
                    <a:solidFill>
                      <a:srgbClr val="78350F"/>
                    </a:solidFill>
                  </a:defRPr>
                </a:pPr>
                <a:r>
                  <a:rPr sz="2400" b="1">
                    <a:solidFill>
                      <a:srgbClr val="78350F"/>
                    </a:solidFill>
                    <a:latin typeface="Arial"/>
                  </a:rPr>
                  <a:t>Idea:  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Use first principles (the limit definition) at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0</m:t>
                    </m:r>
                  </m:oMath>
                </a14:m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 instead of substituting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0</m:t>
                    </m:r>
                  </m:oMath>
                </a14:m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 into the derivative formulas.</a:t>
                </a:r>
                <a:endParaRPr sz="2400">
                  <a:solidFill>
                    <a:srgbClr val="78350F"/>
                  </a:solidFill>
                </a:endParaRPr>
              </a:p>
            </p:txBody>
          </p:sp>
        </mc:Choice>
        <mc:Fallback>
          <p:sp>
            <p:nvSpPr>
              <p:cNvPr id="5" name="Rounded Rectangle 4"/>
              <p:cNvSpPr/>
              <p:nvPr/>
            </p:nvSpPr>
            <p:spPr>
              <a:xfrm>
                <a:off x="731520" y="1280160"/>
                <a:ext cx="10725912" cy="1109472"/>
              </a:xfrm>
              <a:prstGeom prst="roundRect">
                <a:avLst>
                  <a:gd name="adj" fmla="val 8000"/>
                </a:avLst>
              </a:prstGeom>
              <a:solidFill>
                <a:srgbClr val="FDE68A"/>
              </a:solidFill>
              <a:ln w="31750">
                <a:solidFill>
                  <a:srgbClr val="D97706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78350F"/>
              </a:fontRef>
            </p:style>
            <p:txBody>
              <a:bodyPr rtlCol="0" anchor="ctr" wrap="square" lIns="228600" rIns="228600" tIns="54864" bIns="73152"/>
              <a:lstStyle>
                <a:lvl1pPr>
                  <a:defRPr sz="2400">
                    <a:solidFill>
                      <a:srgbClr val="78350F"/>
                    </a:solidFill>
                  </a:defRPr>
                </a:lvl1pPr>
              </a:lstStyle>
              <a:p>
                <a:pPr algn="l">
                  <a:defRPr sz="2400">
                    <a:solidFill>
                      <a:srgbClr val="78350F"/>
                    </a:solidFill>
                  </a:defRPr>
                </a:pPr>
                <a:r>
                  <a:rPr sz="2400" b="1">
                    <a:solidFill>
                      <a:srgbClr val="78350F"/>
                    </a:solidFill>
                    <a:latin typeface="Arial"/>
                  </a:rPr>
                  <a:t>Idea:  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Use first principles (the limit definition) at </a:t>
                </a:r>
                <a:r>
                  <a:rPr lang="en-IN" sz="2400">
                    <a:solidFill>
                      <a:srgbClr val="78350F"/>
                    </a:solidFill>
                    <a:latin typeface="Cambria Math" panose="02040503050406030204" pitchFamily="18" charset="0"/>
                  </a:rPr>
                  <a:t>$x=0$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 instead of substituting </a:t>
                </a:r>
                <a:r>
                  <a:rPr lang="en-IN" sz="2400">
                    <a:solidFill>
                      <a:srgbClr val="78350F"/>
                    </a:solidFill>
                    <a:latin typeface="Cambria Math" panose="02040503050406030204" pitchFamily="18" charset="0"/>
                  </a:rPr>
                  <a:t>$0$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 into the derivative formulas.</a:t>
                </a:r>
                <a:endParaRPr sz="2400">
                  <a:solidFill>
                    <a:srgbClr val="78350F"/>
                  </a:solidFill>
                </a:endParaRP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6" name="Rectangle 5"/>
              <p:cNvSpPr/>
              <p:nvPr/>
            </p:nvSpPr>
            <p:spPr>
              <a:xfrm>
                <a:off x="731520" y="2526792"/>
                <a:ext cx="10725912" cy="4148328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14:m>
                  <m:oMath xmlns:m="http://schemas.openxmlformats.org/officeDocument/2006/math"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𝑓</m:t>
                        </m:r>
                      </m:e>
                      <m:sup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′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0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: left, </a:t>
                </a:r>
                <a14:m>
                  <m:oMath xmlns:m="http://schemas.openxmlformats.org/officeDocument/2006/math">
                    <m:sSub>
                      <m:e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lim</m:t>
                        </m:r>
                      </m:e>
                      <m:sub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ℎ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→</m:t>
                        </m:r>
                        <m:sSup>
                          <m:e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0</m:t>
                            </m:r>
                          </m:e>
                          <m:sup>
                            <m:r>
                              <m:rPr>
                                <m:sty m:val="p"/>
                              </m:rPr>
                              <a:rPr lang="en-IN" sz="2400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−</m:t>
                            </m:r>
                          </m:sup>
                        </m:sSup>
                      </m:sub>
                    </m:sSub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ℎ</m:t>
                        </m:r>
                        <m:sSup>
                          <m:e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𝑒</m:t>
                            </m:r>
                          </m:e>
                          <m:sup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ℎ</m:t>
                            </m:r>
                          </m:sup>
                        </m:sSup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−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0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ℎ</m:t>
                        </m:r>
                      </m:den>
                    </m:f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lim</m:t>
                    </m:r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𝑒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ℎ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; right, </a:t>
                </a:r>
                <a14:m>
                  <m:oMath xmlns:m="http://schemas.openxmlformats.org/officeDocument/2006/math">
                    <m:sSub>
                      <m:e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lim</m:t>
                        </m:r>
                      </m:e>
                      <m:sub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ℎ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→</m:t>
                        </m:r>
                        <m:sSup>
                          <m:e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0</m:t>
                            </m:r>
                          </m:e>
                          <m:sup>
                            <m:r>
                              <m:rPr>
                                <m:sty m:val="p"/>
                              </m:rPr>
                              <a:rPr lang="en-IN" sz="2400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+</m:t>
                            </m:r>
                          </m:sup>
                        </m:sSup>
                      </m:sub>
                    </m:sSub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ℎ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+</m:t>
                        </m:r>
                        <m:sSup>
                          <m:e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ℎ</m:t>
                            </m:r>
                          </m:e>
                          <m:sup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2</m:t>
                            </m:r>
                          </m:sup>
                        </m:sSup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−</m:t>
                        </m:r>
                        <m:sSup>
                          <m:e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ℎ</m:t>
                            </m:r>
                          </m:e>
                          <m:sup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3</m:t>
                            </m:r>
                          </m:sup>
                        </m:sSup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−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0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ℎ</m:t>
                        </m:r>
                      </m:den>
                    </m:f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lim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ℎ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ℎ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 So </a:t>
                </a:r>
                <a14:m>
                  <m:oMath xmlns:m="http://schemas.openxmlformats.org/officeDocument/2006/math"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𝑓</m:t>
                        </m:r>
                      </m:e>
                      <m:sup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′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0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and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𝑓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is continuous at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0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(differentiable implies continuous).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Then </a:t>
                </a:r>
                <a14:m>
                  <m:oMath xmlns:m="http://schemas.openxmlformats.org/officeDocument/2006/math"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𝑓</m:t>
                        </m:r>
                      </m:e>
                      <m:sup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′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𝑒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</m:sup>
                    </m:sSup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for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≤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0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(value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at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0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) and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3</m:t>
                    </m:r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for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&gt;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0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14:m>
                  <m:oMath xmlns:m="http://schemas.openxmlformats.org/officeDocument/2006/math"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𝑓</m:t>
                        </m:r>
                      </m:e>
                      <m:sup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′</m:t>
                        </m:r>
                      </m:sup>
                    </m:sSup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is continuous at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0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: both formulas tend to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𝑓</m:t>
                        </m:r>
                      </m:e>
                      <m:sup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′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0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Choice>
        <mc:Fallback>
          <p:sp>
            <p:nvSpPr>
              <p:cNvPr id="6" name="Rectangle 5"/>
              <p:cNvSpPr/>
              <p:nvPr/>
            </p:nvSpPr>
            <p:spPr>
              <a:xfrm>
                <a:off x="731520" y="2526792"/>
                <a:ext cx="10725912" cy="4148328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$f'(0)$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: left,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$\lim_{h\to0^-}\frac{he^h-0}{h}=\lim e^h=1$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; right,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$\lim_{h\to0^+}\frac{h+h^2-h^3-0}{h}=\lim(1+h-h^2)=1$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 So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$f'(0)=1$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and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$f$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is continuous at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$0$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(differentiable implies continuous).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Then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$f'(x)=(x+1)e^x$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for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$x\le0$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(value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$1$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at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$0$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) and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$1+2x-3x^2$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for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$x&gt;0$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$f'$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is continuous at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$0$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: both formulas tend to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$1=f'(0)$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Fallback>
      </mc:AlternateContent>
    </p:spTree>
  </p:cSld>
  <p:clrMapOvr>
    <a:masterClrMapping/>
  </p:clrMapOvr>
</p:sld>
</file>

<file path=ppt/slides/slide6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FFFFFF"/>
          </a:fontRef>
        </p:style>
        <p:txBody>
          <a:bodyPr rtlCol="0" anchor="ctr" lIns="731520"/>
          <a:lstStyle>
            <a:lvl1pPr>
              <a:defRPr sz="3200">
                <a:solidFill>
                  <a:srgbClr val="FFFFFF"/>
                </a:solidFill>
              </a:defRPr>
            </a:lvl1pPr>
          </a:lstStyle>
          <a:p>
            <a:pPr algn="l">
              <a:defRPr sz="3200">
                <a:solidFill>
                  <a:srgbClr val="FFFFFF"/>
                </a:solidFill>
              </a:defRPr>
            </a:pPr>
            <a:r>
              <a:rPr sz="3200" b="1">
                <a:solidFill>
                  <a:srgbClr val="FFFFFF"/>
                </a:solidFill>
                <a:latin typeface="Arial"/>
              </a:rPr>
              <a:t>Question 10</a:t>
            </a:r>
            <a:endParaRPr sz="3200">
              <a:solidFill>
                <a:srgbClr val="FFFFFF"/>
              </a:solidFill>
            </a:endParaRPr>
          </a:p>
        </p:txBody>
      </p:sp>
      <p:sp>
        <p:nvSpPr>
          <p:cNvPr id="3" name="Rounded Rectangle 2"/>
          <p:cNvSpPr/>
          <p:nvPr/>
        </p:nvSpPr>
        <p:spPr>
          <a:xfrm>
            <a:off x="7894015" y="246887"/>
            <a:ext cx="3840480" cy="603504"/>
          </a:xfrm>
          <a:prstGeom prst="roundRect">
            <a:avLst>
              <a:gd name="adj" fmla="val 50000"/>
            </a:avLst>
          </a:prstGeom>
          <a:solidFill>
            <a:srgbClr val="FFD966"/>
          </a:solidFill>
          <a:ln w="1905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111827"/>
          </a:fontRef>
        </p:style>
        <p:txBody>
          <a:bodyPr rtlCol="0" anchor="ctr" wrap="square" lIns="228600" rIns="228600" tIns="18288" bIns="18288"/>
          <a:lstStyle>
            <a:lvl1pPr>
              <a:defRPr sz="2400">
                <a:solidFill>
                  <a:srgbClr val="111827"/>
                </a:solidFill>
              </a:defRPr>
            </a:lvl1pPr>
          </a:lstStyle>
          <a:p>
            <a:pPr algn="ctr">
              <a:defRPr sz="2400">
                <a:solidFill>
                  <a:srgbClr val="111827"/>
                </a:solidFill>
              </a:defRPr>
            </a:pPr>
            <a:r>
              <a:rPr sz="2400" b="1">
                <a:solidFill>
                  <a:srgbClr val="111827"/>
                </a:solidFill>
                <a:latin typeface="Arial"/>
              </a:rPr>
              <a:t>Level 2  ·  4 Marks</a:t>
            </a:r>
            <a:endParaRPr sz="2400">
              <a:solidFill>
                <a:srgbClr val="111827"/>
              </a:solidFill>
            </a:endParaRPr>
          </a:p>
        </p:txBody>
      </p:sp>
      <p:sp>
        <p:nvSpPr>
          <p:cNvPr id="4" name="Rounded Rectangle 3"/>
          <p:cNvSpPr/>
          <p:nvPr/>
        </p:nvSpPr>
        <p:spPr>
          <a:xfrm>
            <a:off x="3520440" y="265176"/>
            <a:ext cx="4206240" cy="566928"/>
          </a:xfrm>
          <a:prstGeom prst="roundRect">
            <a:avLst>
              <a:gd name="adj" fmla="val 50000"/>
            </a:avLst>
          </a:prstGeom>
          <a:solidFill>
            <a:srgbClr val="FDE68A"/>
          </a:solidFill>
          <a:ln w="25400">
            <a:solidFill>
              <a:srgbClr val="D9770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78350F"/>
          </a:fontRef>
        </p:style>
        <p:txBody>
          <a:bodyPr rtlCol="0" anchor="ctr" wrap="square" lIns="228600" rIns="228600" tIns="18288" bIns="18288"/>
          <a:lstStyle>
            <a:lvl1pPr>
              <a:defRPr sz="2200">
                <a:solidFill>
                  <a:srgbClr val="78350F"/>
                </a:solidFill>
              </a:defRPr>
            </a:lvl1pPr>
          </a:lstStyle>
          <a:p>
            <a:pPr algn="ctr">
              <a:defRPr sz="2200">
                <a:solidFill>
                  <a:srgbClr val="78350F"/>
                </a:solidFill>
              </a:defRPr>
            </a:pPr>
            <a:r>
              <a:rPr sz="2200" b="1">
                <a:solidFill>
                  <a:srgbClr val="78350F"/>
                </a:solidFill>
                <a:latin typeface="Arial"/>
              </a:rPr>
              <a:t>Alternate Solution</a:t>
            </a:r>
            <a:endParaRPr sz="2200">
              <a:solidFill>
                <a:srgbClr val="78350F"/>
              </a:solidFill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5" name="Rectangle 4"/>
              <p:cNvSpPr/>
              <p:nvPr/>
            </p:nvSpPr>
            <p:spPr>
              <a:xfrm>
                <a:off x="731520" y="1353312"/>
                <a:ext cx="10725912" cy="4434840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𝑓</m:t>
                        </m:r>
                      </m:e>
                      <m:sup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′</m:t>
                        </m:r>
                      </m:sup>
                    </m:sSup>
                    <m:sSup>
                      <m:e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)</m:t>
                        </m:r>
                      </m:e>
                      <m:sup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′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0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: left, </a:t>
                </a:r>
                <a14:m>
                  <m:oMath xmlns:m="http://schemas.openxmlformats.org/officeDocument/2006/math">
                    <m:sSub>
                      <m:e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lim</m:t>
                        </m:r>
                      </m:e>
                      <m:sub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ℎ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→</m:t>
                        </m:r>
                        <m:sSup>
                          <m:e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0</m:t>
                            </m:r>
                          </m:e>
                          <m:sup>
                            <m:r>
                              <m:rPr>
                                <m:sty m:val="p"/>
                              </m:rPr>
                              <a:rPr lang="en-IN" sz="2400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−</m:t>
                            </m:r>
                          </m:sup>
                        </m:sSup>
                      </m:sub>
                    </m:sSub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(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ℎ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+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)</m:t>
                        </m:r>
                        <m:sSup>
                          <m:e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𝑒</m:t>
                            </m:r>
                          </m:e>
                          <m:sup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ℎ</m:t>
                            </m:r>
                          </m:sup>
                        </m:sSup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−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ℎ</m:t>
                        </m:r>
                      </m:den>
                    </m:f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lim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(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+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ℎ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)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(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+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ℎ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+</m:t>
                        </m:r>
                        <m:f>
                          <m:fPr>
                            <m:type m:val="bar"/>
                            <m:ctrlP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fPr>
                          <m:num>
                            <m:sSup>
                              <m:e>
                                <m:r>
                                  <a:rPr lang="en-IN" sz="2400" i="1">
                                    <a:solidFill>
                                      <a:srgbClr val="111827"/>
                                    </a:solidFill>
                                    <a:latin typeface="Cambria Math" panose="02040503050406030204" pitchFamily="18" charset="0"/>
                                  </a:rPr>
                                  <m:t>ℎ</m:t>
                                </m:r>
                              </m:e>
                              <m:sup>
                                <m:r>
                                  <a:rPr lang="en-IN" sz="2400" i="1">
                                    <a:solidFill>
                                      <a:srgbClr val="111827"/>
                                    </a:solidFill>
                                    <a:latin typeface="Cambria Math" panose="02040503050406030204" pitchFamily="18" charset="0"/>
                                  </a:rPr>
                                  <m:t>2</m:t>
                                </m:r>
                              </m:sup>
                            </m:sSup>
                          </m:num>
                          <m:den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2</m:t>
                            </m:r>
                          </m:den>
                        </m:f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+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…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)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−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ℎ</m:t>
                        </m:r>
                      </m:den>
                    </m:f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lim</m:t>
                    </m:r>
                    <m:d>
                      <m:dPr>
                        <m:begChr m:val="("/>
                        <m:sepChr m:val=""/>
                        <m:endChr m:val=")"/>
                        <m:grow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+</m:t>
                        </m:r>
                        <m:f>
                          <m:fPr>
                            <m:type m:val="bar"/>
                            <m:ctrlP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fPr>
                          <m:num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3</m:t>
                            </m:r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ℎ</m:t>
                            </m:r>
                          </m:num>
                          <m:den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2</m:t>
                            </m:r>
                          </m:den>
                        </m:f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+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…</m:t>
                        </m:r>
                      </m:e>
                    </m:d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; right, </a:t>
                </a:r>
                <a14:m>
                  <m:oMath xmlns:m="http://schemas.openxmlformats.org/officeDocument/2006/math">
                    <m:sSub>
                      <m:e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lim</m:t>
                        </m:r>
                      </m:e>
                      <m:sub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ℎ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→</m:t>
                        </m:r>
                        <m:sSup>
                          <m:e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0</m:t>
                            </m:r>
                          </m:e>
                          <m:sup>
                            <m:r>
                              <m:rPr>
                                <m:sty m:val="p"/>
                              </m:rPr>
                              <a:rPr lang="en-IN" sz="2400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+</m:t>
                            </m:r>
                          </m:sup>
                        </m:sSup>
                      </m:sub>
                    </m:sSub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ℎ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−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3</m:t>
                        </m:r>
                        <m:sSup>
                          <m:e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ℎ</m:t>
                            </m:r>
                          </m:e>
                          <m:sup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2</m:t>
                            </m:r>
                          </m:sup>
                        </m:sSup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ℎ</m:t>
                        </m:r>
                      </m:den>
                    </m:f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Both are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so </a:t>
                </a:r>
                <a14:m>
                  <m:oMath xmlns:m="http://schemas.openxmlformats.org/officeDocument/2006/math"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𝑓</m:t>
                        </m:r>
                      </m:e>
                      <m:sup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′</m:t>
                        </m:r>
                      </m:sup>
                    </m:sSup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is differentiable at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0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Choice>
        <mc:Fallback>
          <p:sp>
            <p:nvSpPr>
              <p:cNvPr id="5" name="Rectangle 4"/>
              <p:cNvSpPr/>
              <p:nvPr/>
            </p:nvSpPr>
            <p:spPr>
              <a:xfrm>
                <a:off x="731520" y="1353312"/>
                <a:ext cx="10725912" cy="4434840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$(f')'(0)$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: left,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$\lim_{h\to0^-}\frac{(h+1)e^h-1}{h}=\lim\frac{(1+h)(1+h+\frac{h^2}2+\dots)-1}{h}=\lim\left(2+\frac{3h}{2}+\dots\right)=2$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; right,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$\lim_{h\to0^+}\frac{2h-3h^2}{h}=2$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Both are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$2$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so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$f'$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is differentiable at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$0$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6" name="Rounded Rectangle 5"/>
              <p:cNvSpPr/>
              <p:nvPr/>
            </p:nvSpPr>
            <p:spPr>
              <a:xfrm>
                <a:off x="731520" y="5897880"/>
                <a:ext cx="10725912" cy="777240"/>
              </a:xfrm>
              <a:prstGeom prst="roundRect">
                <a:avLst>
                  <a:gd name="adj" fmla="val 8000"/>
                </a:avLst>
              </a:prstGeom>
              <a:solidFill>
                <a:srgbClr val="DCFCE7"/>
              </a:solidFill>
              <a:ln w="25400">
                <a:solidFill>
                  <a:srgbClr val="15803D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5803D"/>
              </a:fontRef>
            </p:style>
            <p:txBody>
              <a:bodyPr rtlCol="0" anchor="ctr" wrap="square" lIns="228600" rIns="228600" tIns="18288" bIns="73152"/>
              <a:lstStyle>
                <a:lvl1pPr>
                  <a:defRPr sz="2800">
                    <a:solidFill>
                      <a:srgbClr val="15803D"/>
                    </a:solidFill>
                  </a:defRPr>
                </a:lvl1pPr>
              </a:lstStyle>
              <a:p>
                <a:pPr algn="ctr">
                  <a:defRPr sz="2800">
                    <a:solidFill>
                      <a:srgbClr val="15803D"/>
                    </a:solidFill>
                  </a:defRPr>
                </a:pPr>
                <a:r>
                  <a:rPr sz="2800" b="1">
                    <a:solidFill>
                      <a:srgbClr val="15803D"/>
                    </a:solidFill>
                    <a:latin typeface="Arial"/>
                  </a:rPr>
                  <a:t>Same answer: Proved: </a:t>
                </a:r>
                <a14:m>
                  <m:oMath xmlns:m="http://schemas.openxmlformats.org/officeDocument/2006/math">
                    <m:r>
                      <a:rPr lang="en-IN" sz="2800" i="1">
                        <a:solidFill>
                          <a:srgbClr val="15803D"/>
                        </a:solidFill>
                        <a:latin typeface="Cambria Math" panose="02040503050406030204" pitchFamily="18" charset="0"/>
                      </a:rPr>
                      <m:t>𝑓</m:t>
                    </m:r>
                  </m:oMath>
                </a14:m>
                <a:r>
                  <a:rPr sz="2800" b="1">
                    <a:solidFill>
                      <a:srgbClr val="15803D"/>
                    </a:solidFill>
                    <a:latin typeface="Arial"/>
                  </a:rPr>
                  <a:t> and </a:t>
                </a:r>
                <a14:m>
                  <m:oMath xmlns:m="http://schemas.openxmlformats.org/officeDocument/2006/math">
                    <m:sSup>
                      <m:e>
                        <m:r>
                          <a:rPr lang="en-IN" sz="2800" i="1">
                            <a:solidFill>
                              <a:srgbClr val="15803D"/>
                            </a:solidFill>
                            <a:latin typeface="Cambria Math" panose="02040503050406030204" pitchFamily="18" charset="0"/>
                          </a:rPr>
                          <m:t>𝑓</m:t>
                        </m:r>
                      </m:e>
                      <m:sup>
                        <m:r>
                          <m:rPr>
                            <m:sty m:val="p"/>
                          </m:rPr>
                          <a:rPr lang="en-IN" sz="2800">
                            <a:solidFill>
                              <a:srgbClr val="15803D"/>
                            </a:solidFill>
                            <a:latin typeface="Cambria Math" panose="02040503050406030204" pitchFamily="18" charset="0"/>
                          </a:rPr>
                          <m:t>′</m:t>
                        </m:r>
                      </m:sup>
                    </m:sSup>
                  </m:oMath>
                </a14:m>
                <a:r>
                  <a:rPr sz="2800" b="1">
                    <a:solidFill>
                      <a:srgbClr val="15803D"/>
                    </a:solidFill>
                    <a:latin typeface="Arial"/>
                  </a:rPr>
                  <a:t> are continuous and differentiable on </a:t>
                </a:r>
                <a14:m>
                  <m:oMath xmlns:m="http://schemas.openxmlformats.org/officeDocument/2006/math">
                    <m:r>
                      <m:rPr>
                        <m:scr m:val="double-struck"/>
                        <m:sty m:val="p"/>
                      </m:rPr>
                      <a:rPr lang="en-IN" sz="2800">
                        <a:solidFill>
                          <a:srgbClr val="15803D"/>
                        </a:solidFill>
                        <a:latin typeface="Cambria Math" panose="02040503050406030204" pitchFamily="18" charset="0"/>
                      </a:rPr>
                      <m:t>R</m:t>
                    </m:r>
                  </m:oMath>
                </a14:m>
                <a:endParaRPr sz="2800">
                  <a:solidFill>
                    <a:srgbClr val="15803D"/>
                  </a:solidFill>
                </a:endParaRPr>
              </a:p>
            </p:txBody>
          </p:sp>
        </mc:Choice>
        <mc:Fallback>
          <p:sp>
            <p:nvSpPr>
              <p:cNvPr id="6" name="Rounded Rectangle 5"/>
              <p:cNvSpPr/>
              <p:nvPr/>
            </p:nvSpPr>
            <p:spPr>
              <a:xfrm>
                <a:off x="731520" y="5897880"/>
                <a:ext cx="10725912" cy="777240"/>
              </a:xfrm>
              <a:prstGeom prst="roundRect">
                <a:avLst>
                  <a:gd name="adj" fmla="val 8000"/>
                </a:avLst>
              </a:prstGeom>
              <a:solidFill>
                <a:srgbClr val="DCFCE7"/>
              </a:solidFill>
              <a:ln w="25400">
                <a:solidFill>
                  <a:srgbClr val="15803D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5803D"/>
              </a:fontRef>
            </p:style>
            <p:txBody>
              <a:bodyPr rtlCol="0" anchor="ctr" wrap="square" lIns="228600" rIns="228600" tIns="18288" bIns="73152"/>
              <a:lstStyle>
                <a:lvl1pPr>
                  <a:defRPr sz="2800">
                    <a:solidFill>
                      <a:srgbClr val="15803D"/>
                    </a:solidFill>
                  </a:defRPr>
                </a:lvl1pPr>
              </a:lstStyle>
              <a:p>
                <a:pPr algn="ctr">
                  <a:defRPr sz="2800">
                    <a:solidFill>
                      <a:srgbClr val="15803D"/>
                    </a:solidFill>
                  </a:defRPr>
                </a:pPr>
                <a:r>
                  <a:rPr sz="2800" b="1">
                    <a:solidFill>
                      <a:srgbClr val="15803D"/>
                    </a:solidFill>
                    <a:latin typeface="Arial"/>
                  </a:rPr>
                  <a:t>Same answer: Proved: </a:t>
                </a:r>
                <a:r>
                  <a:rPr lang="en-IN" sz="2800">
                    <a:solidFill>
                      <a:srgbClr val="15803D"/>
                    </a:solidFill>
                    <a:latin typeface="Cambria Math" panose="02040503050406030204" pitchFamily="18" charset="0"/>
                  </a:rPr>
                  <a:t>$f$</a:t>
                </a:r>
                <a:r>
                  <a:rPr sz="2800" b="1">
                    <a:solidFill>
                      <a:srgbClr val="15803D"/>
                    </a:solidFill>
                    <a:latin typeface="Arial"/>
                  </a:rPr>
                  <a:t> and </a:t>
                </a:r>
                <a:r>
                  <a:rPr lang="en-IN" sz="2800">
                    <a:solidFill>
                      <a:srgbClr val="15803D"/>
                    </a:solidFill>
                    <a:latin typeface="Cambria Math" panose="02040503050406030204" pitchFamily="18" charset="0"/>
                  </a:rPr>
                  <a:t>$f'$</a:t>
                </a:r>
                <a:r>
                  <a:rPr sz="2800" b="1">
                    <a:solidFill>
                      <a:srgbClr val="15803D"/>
                    </a:solidFill>
                    <a:latin typeface="Arial"/>
                  </a:rPr>
                  <a:t> are continuous and differentiable on </a:t>
                </a:r>
                <a:r>
                  <a:rPr lang="en-IN" sz="2800">
                    <a:solidFill>
                      <a:srgbClr val="15803D"/>
                    </a:solidFill>
                    <a:latin typeface="Cambria Math" panose="02040503050406030204" pitchFamily="18" charset="0"/>
                  </a:rPr>
                  <a:t>$\mathbb R$</a:t>
                </a:r>
                <a:endParaRPr sz="2800">
                  <a:solidFill>
                    <a:srgbClr val="15803D"/>
                  </a:solidFill>
                </a:endParaRPr>
              </a:p>
            </p:txBody>
          </p:sp>
        </mc:Fallback>
      </mc:AlternateContent>
    </p:spTree>
  </p:cSld>
  <p:clrMapOvr>
    <a:masterClrMapping/>
  </p:clrMapOvr>
</p:sld>
</file>

<file path=ppt/slides/slide6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FFFFFF"/>
          </a:fontRef>
        </p:style>
        <p:txBody>
          <a:bodyPr rtlCol="0" anchor="ctr" lIns="731520"/>
          <a:lstStyle>
            <a:lvl1pPr>
              <a:defRPr sz="3200">
                <a:solidFill>
                  <a:srgbClr val="FFFFFF"/>
                </a:solidFill>
              </a:defRPr>
            </a:lvl1pPr>
          </a:lstStyle>
          <a:p>
            <a:pPr algn="l">
              <a:defRPr sz="3200">
                <a:solidFill>
                  <a:srgbClr val="FFFFFF"/>
                </a:solidFill>
              </a:defRPr>
            </a:pPr>
            <a:r>
              <a:rPr sz="3200" b="1">
                <a:solidFill>
                  <a:srgbClr val="FFFFFF"/>
                </a:solidFill>
                <a:latin typeface="Arial"/>
              </a:rPr>
              <a:t>Question 10</a:t>
            </a:r>
            <a:endParaRPr sz="3200">
              <a:solidFill>
                <a:srgbClr val="FFFFFF"/>
              </a:solidFill>
            </a:endParaRPr>
          </a:p>
        </p:txBody>
      </p:sp>
      <p:sp>
        <p:nvSpPr>
          <p:cNvPr id="3" name="Rounded Rectangle 2"/>
          <p:cNvSpPr/>
          <p:nvPr/>
        </p:nvSpPr>
        <p:spPr>
          <a:xfrm>
            <a:off x="7894015" y="246887"/>
            <a:ext cx="3840480" cy="603504"/>
          </a:xfrm>
          <a:prstGeom prst="roundRect">
            <a:avLst>
              <a:gd name="adj" fmla="val 50000"/>
            </a:avLst>
          </a:prstGeom>
          <a:solidFill>
            <a:srgbClr val="FFD966"/>
          </a:solidFill>
          <a:ln w="1905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111827"/>
          </a:fontRef>
        </p:style>
        <p:txBody>
          <a:bodyPr rtlCol="0" anchor="ctr" wrap="square" lIns="228600" rIns="228600" tIns="18288" bIns="18288"/>
          <a:lstStyle>
            <a:lvl1pPr>
              <a:defRPr sz="2400">
                <a:solidFill>
                  <a:srgbClr val="111827"/>
                </a:solidFill>
              </a:defRPr>
            </a:lvl1pPr>
          </a:lstStyle>
          <a:p>
            <a:pPr algn="ctr">
              <a:defRPr sz="2400">
                <a:solidFill>
                  <a:srgbClr val="111827"/>
                </a:solidFill>
              </a:defRPr>
            </a:pPr>
            <a:r>
              <a:rPr sz="2400" b="1">
                <a:solidFill>
                  <a:srgbClr val="111827"/>
                </a:solidFill>
                <a:latin typeface="Arial"/>
              </a:rPr>
              <a:t>Level 2  ·  4 Marks</a:t>
            </a:r>
            <a:endParaRPr sz="2400">
              <a:solidFill>
                <a:srgbClr val="111827"/>
              </a:solidFill>
            </a:endParaRPr>
          </a:p>
        </p:txBody>
      </p:sp>
      <p:sp>
        <p:nvSpPr>
          <p:cNvPr id="4" name="Rounded Rectangle 3"/>
          <p:cNvSpPr/>
          <p:nvPr/>
        </p:nvSpPr>
        <p:spPr>
          <a:xfrm>
            <a:off x="3520440" y="265176"/>
            <a:ext cx="4206240" cy="566928"/>
          </a:xfrm>
          <a:prstGeom prst="roundRect">
            <a:avLst>
              <a:gd name="adj" fmla="val 50000"/>
            </a:avLst>
          </a:prstGeom>
          <a:solidFill>
            <a:srgbClr val="E0ECFF"/>
          </a:solidFill>
          <a:ln w="25400">
            <a:solidFill>
              <a:srgbClr val="1D4ED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0B1F3A"/>
          </a:fontRef>
        </p:style>
        <p:txBody>
          <a:bodyPr rtlCol="0" anchor="ctr" wrap="square" lIns="228600" rIns="228600" tIns="18288" bIns="18288"/>
          <a:lstStyle>
            <a:lvl1pPr>
              <a:defRPr sz="2200">
                <a:solidFill>
                  <a:srgbClr val="0B1F3A"/>
                </a:solidFill>
              </a:defRPr>
            </a:lvl1pPr>
          </a:lstStyle>
          <a:p>
            <a:pPr algn="ctr">
              <a:defRPr sz="2200">
                <a:solidFill>
                  <a:srgbClr val="0B1F3A"/>
                </a:solidFill>
              </a:defRPr>
            </a:pPr>
            <a:r>
              <a:rPr sz="2200" b="1">
                <a:solidFill>
                  <a:srgbClr val="0B1F3A"/>
                </a:solidFill>
                <a:latin typeface="Arial"/>
              </a:rPr>
              <a:t>Useful Result / Pattern</a:t>
            </a:r>
            <a:endParaRPr sz="2200">
              <a:solidFill>
                <a:srgbClr val="0B1F3A"/>
              </a:solidFill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5" name="Rectangle 4"/>
              <p:cNvSpPr/>
              <p:nvPr/>
            </p:nvSpPr>
            <p:spPr>
              <a:xfrm>
                <a:off x="731520" y="1353312"/>
                <a:ext cx="10725912" cy="5321808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For a piecewise function only the joining point needs checking; each piece is smooth on its own open interval.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If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𝑓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is continuous at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𝑎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and </a:t>
                </a:r>
                <a14:m>
                  <m:oMath xmlns:m="http://schemas.openxmlformats.org/officeDocument/2006/math">
                    <m:sSub>
                      <m:e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lim</m:t>
                        </m:r>
                      </m:e>
                      <m:sub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→</m:t>
                        </m:r>
                        <m:sSup>
                          <m:e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𝑎</m:t>
                            </m:r>
                          </m:e>
                          <m:sup>
                            <m:r>
                              <m:rPr>
                                <m:sty m:val="p"/>
                              </m:rPr>
                              <a:rPr lang="en-IN" sz="2400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−</m:t>
                            </m:r>
                          </m:sup>
                        </m:sSup>
                      </m:sub>
                    </m:sSub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𝑓</m:t>
                        </m:r>
                      </m:e>
                      <m:sup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′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sSub>
                      <m:e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lim</m:t>
                        </m:r>
                      </m:e>
                      <m:sub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→</m:t>
                        </m:r>
                        <m:sSup>
                          <m:e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𝑎</m:t>
                            </m:r>
                          </m:e>
                          <m:sup>
                            <m:r>
                              <m:rPr>
                                <m:sty m:val="p"/>
                              </m:rPr>
                              <a:rPr lang="en-IN" sz="2400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+</m:t>
                            </m:r>
                          </m:sup>
                        </m:sSup>
                      </m:sub>
                    </m:sSub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𝑓</m:t>
                        </m:r>
                      </m:e>
                      <m:sup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′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𝐿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then </a:t>
                </a:r>
                <a14:m>
                  <m:oMath xmlns:m="http://schemas.openxmlformats.org/officeDocument/2006/math"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𝑓</m:t>
                        </m:r>
                      </m:e>
                      <m:sup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′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𝑎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exists and equals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𝐿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(derivative-limit theorem).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To have a </a:t>
                </a:r>
                <a14:m>
                  <m:oMath xmlns:m="http://schemas.openxmlformats.org/officeDocument/2006/math"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𝐶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sup>
                    </m:sSup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join at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0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for pieces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𝑝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and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𝑞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you need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𝑝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0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𝑞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0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and </a:t>
                </a:r>
                <a14:m>
                  <m:oMath xmlns:m="http://schemas.openxmlformats.org/officeDocument/2006/math"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𝑝</m:t>
                        </m:r>
                      </m:e>
                      <m:sup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′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0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𝑞</m:t>
                        </m:r>
                      </m:e>
                      <m:sup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′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0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; to get a differentiable derivative also </a:t>
                </a:r>
                <a14:m>
                  <m:oMath xmlns:m="http://schemas.openxmlformats.org/officeDocument/2006/math"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𝑝</m:t>
                        </m:r>
                      </m:e>
                      <m:sup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″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0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𝑞</m:t>
                        </m:r>
                      </m:e>
                      <m:sup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″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0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 Here the values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0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,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,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match.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Compare Taylor expansions: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𝑒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sSup>
                          <m:e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𝑥</m:t>
                            </m:r>
                          </m:e>
                          <m:sup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3</m:t>
                            </m:r>
                          </m:sup>
                        </m:sSup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den>
                    </m:f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…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and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3</m:t>
                        </m:r>
                      </m:sup>
                    </m:sSup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agree up to </a:t>
                </a:r>
                <a14:m>
                  <m:oMath xmlns:m="http://schemas.openxmlformats.org/officeDocument/2006/math"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(so match through the second derivative) but differ at order </a:t>
                </a:r>
                <a14:m>
                  <m:oMath xmlns:m="http://schemas.openxmlformats.org/officeDocument/2006/math"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3</m:t>
                        </m:r>
                      </m:sup>
                    </m:sSup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Choice>
        <mc:Fallback>
          <p:sp>
            <p:nvSpPr>
              <p:cNvPr id="5" name="Rectangle 4"/>
              <p:cNvSpPr/>
              <p:nvPr/>
            </p:nvSpPr>
            <p:spPr>
              <a:xfrm>
                <a:off x="731520" y="1353312"/>
                <a:ext cx="10725912" cy="5321808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For a piecewise function only the joining point needs checking; each piece is smooth on its own open interval.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If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$f$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is continuous at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$a$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and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$\lim_{x\to a^-}f'(x)=\lim_{x\to a^+}f'(x)=L$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then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$f'(a)$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exists and equals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$L$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(derivative-limit theorem).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To have a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$C^1$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join at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$0$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for pieces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$p(x)$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and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$q(x)$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you need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$p(0)=q(0)$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and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$p'(0)=q'(0)$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; to get a differentiable derivative also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$p''(0)=q''(0)$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 Here the values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$0,1,2$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match.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Compare Taylor expansions: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$xe^x=x+x^2+\frac{x^3}{2}+\dots$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and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$x+x^2-x^3$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agree up to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$x^2$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(so match through the second derivative) but differ at order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$x^3$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Fallback>
      </mc:AlternateContent>
    </p:spTree>
  </p:cSld>
  <p:clrMapOvr>
    <a:masterClrMapping/>
  </p:clrMapOvr>
</p:sld>
</file>

<file path=ppt/slides/slide6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FFFFFF"/>
          </a:fontRef>
        </p:style>
        <p:txBody>
          <a:bodyPr rtlCol="0" anchor="ctr" lIns="731520"/>
          <a:lstStyle>
            <a:lvl1pPr>
              <a:defRPr sz="3200">
                <a:solidFill>
                  <a:srgbClr val="FFFFFF"/>
                </a:solidFill>
              </a:defRPr>
            </a:lvl1pPr>
          </a:lstStyle>
          <a:p>
            <a:pPr algn="l">
              <a:defRPr sz="3200">
                <a:solidFill>
                  <a:srgbClr val="FFFFFF"/>
                </a:solidFill>
              </a:defRPr>
            </a:pPr>
            <a:r>
              <a:rPr sz="3200" b="1">
                <a:solidFill>
                  <a:srgbClr val="FFFFFF"/>
                </a:solidFill>
                <a:latin typeface="Arial"/>
              </a:rPr>
              <a:t>Question 11</a:t>
            </a:r>
            <a:endParaRPr sz="3200">
              <a:solidFill>
                <a:srgbClr val="FFFFFF"/>
              </a:solidFill>
            </a:endParaRPr>
          </a:p>
        </p:txBody>
      </p:sp>
      <p:sp>
        <p:nvSpPr>
          <p:cNvPr id="3" name="Rounded Rectangle 2"/>
          <p:cNvSpPr/>
          <p:nvPr/>
        </p:nvSpPr>
        <p:spPr>
          <a:xfrm>
            <a:off x="7894015" y="246887"/>
            <a:ext cx="3840480" cy="603504"/>
          </a:xfrm>
          <a:prstGeom prst="roundRect">
            <a:avLst>
              <a:gd name="adj" fmla="val 50000"/>
            </a:avLst>
          </a:prstGeom>
          <a:solidFill>
            <a:srgbClr val="F6B26B"/>
          </a:solidFill>
          <a:ln w="1905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111827"/>
          </a:fontRef>
        </p:style>
        <p:txBody>
          <a:bodyPr rtlCol="0" anchor="ctr" wrap="square" lIns="228600" rIns="228600" tIns="18288" bIns="18288"/>
          <a:lstStyle>
            <a:lvl1pPr>
              <a:defRPr sz="2400">
                <a:solidFill>
                  <a:srgbClr val="111827"/>
                </a:solidFill>
              </a:defRPr>
            </a:lvl1pPr>
          </a:lstStyle>
          <a:p>
            <a:pPr algn="ctr">
              <a:defRPr sz="2400">
                <a:solidFill>
                  <a:srgbClr val="111827"/>
                </a:solidFill>
              </a:defRPr>
            </a:pPr>
            <a:r>
              <a:rPr sz="2400" b="1">
                <a:solidFill>
                  <a:srgbClr val="111827"/>
                </a:solidFill>
                <a:latin typeface="Arial"/>
              </a:rPr>
              <a:t>Level 3  ·  4 Marks</a:t>
            </a:r>
            <a:endParaRPr sz="2400">
              <a:solidFill>
                <a:srgbClr val="111827"/>
              </a:solidFill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4" name="Rounded Rectangle 3"/>
              <p:cNvSpPr/>
              <p:nvPr/>
            </p:nvSpPr>
            <p:spPr>
              <a:xfrm>
                <a:off x="731520" y="1280160"/>
                <a:ext cx="10725912" cy="2008124"/>
              </a:xfrm>
              <a:prstGeom prst="roundRect">
                <a:avLst>
                  <a:gd name="adj" fmla="val 8000"/>
                </a:avLst>
              </a:prstGeom>
              <a:solidFill>
                <a:srgbClr val="E0ECFF"/>
              </a:solidFill>
              <a:ln w="25400">
                <a:solidFill>
                  <a:srgbClr val="1D4ED8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>
                  <a:spcAft>
                    <a:spcPts val="500"/>
                  </a:spcAft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Let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𝑓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d>
                      <m:dPr>
                        <m:begChr m:val="|"/>
                        <m:sepChr m:val=""/>
                        <m:endChr m:val="|"/>
                        <m:grow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m>
                          <m:mPr>
                            <m:baseJc m:val="center"/>
                            <m:plcHide m:val="on"/>
                            <m:mcs>
                              <m:mc>
                                <m:mcPr>
                                  <m:count m:val="1"/>
                                  <m:mcJc m:val="center"/>
                                </m:mcPr>
                              </m:mc>
                              <m:mc>
                                <m:mcPr>
                                  <m:count m:val="1"/>
                                  <m:mcJc m:val="center"/>
                                </m:mcPr>
                              </m:mc>
                              <m:mc>
                                <m:mcPr>
                                  <m:count m:val="1"/>
                                  <m:mcJc m:val="center"/>
                                </m:mcPr>
                              </m:mc>
                            </m:mcs>
                            <m:ctrlP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mPr>
                          <m:mr>
                            <m:e>
                              <m:r>
                                <a:rPr lang="en-IN" sz="2400" i="1">
                                  <a:solidFill>
                                    <a:srgbClr val="111827"/>
                                  </a:solidFill>
                                  <a:latin typeface="Cambria Math" panose="02040503050406030204" pitchFamily="18" charset="0"/>
                                </a:rPr>
                                <m:t>𝑎</m:t>
                              </m:r>
                              <m:r>
                                <m:rPr>
                                  <m:sty m:val="p"/>
                                </m:rPr>
                                <a:rPr lang="en-IN" sz="2400">
                                  <a:solidFill>
                                    <a:srgbClr val="111827"/>
                                  </a:solidFill>
                                  <a:latin typeface="Cambria Math" panose="02040503050406030204" pitchFamily="18" charset="0"/>
                                </a:rPr>
                                <m:t>+</m:t>
                              </m:r>
                              <m:r>
                                <a:rPr lang="en-IN" sz="2400" i="1">
                                  <a:solidFill>
                                    <a:srgbClr val="111827"/>
                                  </a:solidFill>
                                  <a:latin typeface="Cambria Math" panose="02040503050406030204" pitchFamily="18" charset="0"/>
                                </a:rPr>
                                <m:t>𝑥</m:t>
                              </m:r>
                            </m:e>
                            <m:e>
                              <m:r>
                                <a:rPr lang="en-IN" sz="2400" i="1">
                                  <a:solidFill>
                                    <a:srgbClr val="111827"/>
                                  </a:solidFill>
                                  <a:latin typeface="Cambria Math" panose="02040503050406030204" pitchFamily="18" charset="0"/>
                                </a:rPr>
                                <m:t>𝑏</m:t>
                              </m:r>
                              <m:r>
                                <m:rPr>
                                  <m:sty m:val="p"/>
                                </m:rPr>
                                <a:rPr lang="en-IN" sz="2400">
                                  <a:solidFill>
                                    <a:srgbClr val="111827"/>
                                  </a:solidFill>
                                  <a:latin typeface="Cambria Math" panose="02040503050406030204" pitchFamily="18" charset="0"/>
                                </a:rPr>
                                <m:t>+</m:t>
                              </m:r>
                              <m:r>
                                <a:rPr lang="en-IN" sz="2400" i="1">
                                  <a:solidFill>
                                    <a:srgbClr val="111827"/>
                                  </a:solidFill>
                                  <a:latin typeface="Cambria Math" panose="02040503050406030204" pitchFamily="18" charset="0"/>
                                </a:rPr>
                                <m:t>𝑥</m:t>
                              </m:r>
                            </m:e>
                            <m:e>
                              <m:r>
                                <a:rPr lang="en-IN" sz="2400" i="1">
                                  <a:solidFill>
                                    <a:srgbClr val="111827"/>
                                  </a:solidFill>
                                  <a:latin typeface="Cambria Math" panose="02040503050406030204" pitchFamily="18" charset="0"/>
                                </a:rPr>
                                <m:t>𝑐</m:t>
                              </m:r>
                              <m:r>
                                <m:rPr>
                                  <m:sty m:val="p"/>
                                </m:rPr>
                                <a:rPr lang="en-IN" sz="2400">
                                  <a:solidFill>
                                    <a:srgbClr val="111827"/>
                                  </a:solidFill>
                                  <a:latin typeface="Cambria Math" panose="02040503050406030204" pitchFamily="18" charset="0"/>
                                </a:rPr>
                                <m:t>+</m:t>
                              </m:r>
                              <m:r>
                                <a:rPr lang="en-IN" sz="2400" i="1">
                                  <a:solidFill>
                                    <a:srgbClr val="111827"/>
                                  </a:solidFill>
                                  <a:latin typeface="Cambria Math" panose="02040503050406030204" pitchFamily="18" charset="0"/>
                                </a:rPr>
                                <m:t>𝑥</m:t>
                              </m:r>
                            </m:e>
                          </m:mr>
                          <m:mr>
                            <m:e>
                              <m:r>
                                <a:rPr lang="en-IN" sz="2400" i="1">
                                  <a:solidFill>
                                    <a:srgbClr val="111827"/>
                                  </a:solidFill>
                                  <a:latin typeface="Cambria Math" panose="02040503050406030204" pitchFamily="18" charset="0"/>
                                </a:rPr>
                                <m:t>ℓ</m:t>
                              </m:r>
                              <m:r>
                                <m:rPr>
                                  <m:sty m:val="p"/>
                                </m:rPr>
                                <a:rPr lang="en-IN" sz="2400">
                                  <a:solidFill>
                                    <a:srgbClr val="111827"/>
                                  </a:solidFill>
                                  <a:latin typeface="Cambria Math" panose="02040503050406030204" pitchFamily="18" charset="0"/>
                                </a:rPr>
                                <m:t>+</m:t>
                              </m:r>
                              <m:r>
                                <a:rPr lang="en-IN" sz="2400" i="1">
                                  <a:solidFill>
                                    <a:srgbClr val="111827"/>
                                  </a:solidFill>
                                  <a:latin typeface="Cambria Math" panose="02040503050406030204" pitchFamily="18" charset="0"/>
                                </a:rPr>
                                <m:t>𝑥</m:t>
                              </m:r>
                            </m:e>
                            <m:e>
                              <m:r>
                                <a:rPr lang="en-IN" sz="2400" i="1">
                                  <a:solidFill>
                                    <a:srgbClr val="111827"/>
                                  </a:solidFill>
                                  <a:latin typeface="Cambria Math" panose="02040503050406030204" pitchFamily="18" charset="0"/>
                                </a:rPr>
                                <m:t>𝑚</m:t>
                              </m:r>
                              <m:r>
                                <m:rPr>
                                  <m:sty m:val="p"/>
                                </m:rPr>
                                <a:rPr lang="en-IN" sz="2400">
                                  <a:solidFill>
                                    <a:srgbClr val="111827"/>
                                  </a:solidFill>
                                  <a:latin typeface="Cambria Math" panose="02040503050406030204" pitchFamily="18" charset="0"/>
                                </a:rPr>
                                <m:t>+</m:t>
                              </m:r>
                              <m:r>
                                <a:rPr lang="en-IN" sz="2400" i="1">
                                  <a:solidFill>
                                    <a:srgbClr val="111827"/>
                                  </a:solidFill>
                                  <a:latin typeface="Cambria Math" panose="02040503050406030204" pitchFamily="18" charset="0"/>
                                </a:rPr>
                                <m:t>𝑥</m:t>
                              </m:r>
                            </m:e>
                            <m:e>
                              <m:r>
                                <a:rPr lang="en-IN" sz="2400" i="1">
                                  <a:solidFill>
                                    <a:srgbClr val="111827"/>
                                  </a:solidFill>
                                  <a:latin typeface="Cambria Math" panose="02040503050406030204" pitchFamily="18" charset="0"/>
                                </a:rPr>
                                <m:t>𝑛</m:t>
                              </m:r>
                              <m:r>
                                <m:rPr>
                                  <m:sty m:val="p"/>
                                </m:rPr>
                                <a:rPr lang="en-IN" sz="2400">
                                  <a:solidFill>
                                    <a:srgbClr val="111827"/>
                                  </a:solidFill>
                                  <a:latin typeface="Cambria Math" panose="02040503050406030204" pitchFamily="18" charset="0"/>
                                </a:rPr>
                                <m:t>+</m:t>
                              </m:r>
                              <m:r>
                                <a:rPr lang="en-IN" sz="2400" i="1">
                                  <a:solidFill>
                                    <a:srgbClr val="111827"/>
                                  </a:solidFill>
                                  <a:latin typeface="Cambria Math" panose="02040503050406030204" pitchFamily="18" charset="0"/>
                                </a:rPr>
                                <m:t>𝑥</m:t>
                              </m:r>
                            </m:e>
                          </m:mr>
                          <m:mr>
                            <m:e>
                              <m:r>
                                <a:rPr lang="en-IN" sz="2400" i="1">
                                  <a:solidFill>
                                    <a:srgbClr val="111827"/>
                                  </a:solidFill>
                                  <a:latin typeface="Cambria Math" panose="02040503050406030204" pitchFamily="18" charset="0"/>
                                </a:rPr>
                                <m:t>𝑝</m:t>
                              </m:r>
                              <m:r>
                                <m:rPr>
                                  <m:sty m:val="p"/>
                                </m:rPr>
                                <a:rPr lang="en-IN" sz="2400">
                                  <a:solidFill>
                                    <a:srgbClr val="111827"/>
                                  </a:solidFill>
                                  <a:latin typeface="Cambria Math" panose="02040503050406030204" pitchFamily="18" charset="0"/>
                                </a:rPr>
                                <m:t>+</m:t>
                              </m:r>
                              <m:r>
                                <a:rPr lang="en-IN" sz="2400" i="1">
                                  <a:solidFill>
                                    <a:srgbClr val="111827"/>
                                  </a:solidFill>
                                  <a:latin typeface="Cambria Math" panose="02040503050406030204" pitchFamily="18" charset="0"/>
                                </a:rPr>
                                <m:t>𝑥</m:t>
                              </m:r>
                            </m:e>
                            <m:e>
                              <m:r>
                                <a:rPr lang="en-IN" sz="2400" i="1">
                                  <a:solidFill>
                                    <a:srgbClr val="111827"/>
                                  </a:solidFill>
                                  <a:latin typeface="Cambria Math" panose="02040503050406030204" pitchFamily="18" charset="0"/>
                                </a:rPr>
                                <m:t>𝑞</m:t>
                              </m:r>
                              <m:r>
                                <m:rPr>
                                  <m:sty m:val="p"/>
                                </m:rPr>
                                <a:rPr lang="en-IN" sz="2400">
                                  <a:solidFill>
                                    <a:srgbClr val="111827"/>
                                  </a:solidFill>
                                  <a:latin typeface="Cambria Math" panose="02040503050406030204" pitchFamily="18" charset="0"/>
                                </a:rPr>
                                <m:t>+</m:t>
                              </m:r>
                              <m:r>
                                <a:rPr lang="en-IN" sz="2400" i="1">
                                  <a:solidFill>
                                    <a:srgbClr val="111827"/>
                                  </a:solidFill>
                                  <a:latin typeface="Cambria Math" panose="02040503050406030204" pitchFamily="18" charset="0"/>
                                </a:rPr>
                                <m:t>𝑥</m:t>
                              </m:r>
                            </m:e>
                            <m:e>
                              <m:r>
                                <a:rPr lang="en-IN" sz="2400" i="1">
                                  <a:solidFill>
                                    <a:srgbClr val="111827"/>
                                  </a:solidFill>
                                  <a:latin typeface="Cambria Math" panose="02040503050406030204" pitchFamily="18" charset="0"/>
                                </a:rPr>
                                <m:t>𝑟</m:t>
                              </m:r>
                              <m:r>
                                <m:rPr>
                                  <m:sty m:val="p"/>
                                </m:rPr>
                                <a:rPr lang="en-IN" sz="2400">
                                  <a:solidFill>
                                    <a:srgbClr val="111827"/>
                                  </a:solidFill>
                                  <a:latin typeface="Cambria Math" panose="02040503050406030204" pitchFamily="18" charset="0"/>
                                </a:rPr>
                                <m:t>+</m:t>
                              </m:r>
                              <m:r>
                                <a:rPr lang="en-IN" sz="2400" i="1">
                                  <a:solidFill>
                                    <a:srgbClr val="111827"/>
                                  </a:solidFill>
                                  <a:latin typeface="Cambria Math" panose="02040503050406030204" pitchFamily="18" charset="0"/>
                                </a:rPr>
                                <m:t>𝑥</m:t>
                              </m:r>
                            </m:e>
                          </m:mr>
                        </m:m>
                      </m:e>
                    </m:d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 Show that </a:t>
                </a:r>
                <a14:m>
                  <m:oMath xmlns:m="http://schemas.openxmlformats.org/officeDocument/2006/math"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𝑓</m:t>
                        </m:r>
                      </m:e>
                      <m:sup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″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0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and that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𝑓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𝑓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0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𝑘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where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𝑘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denotes the sum of all the cofactors of the elements in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𝑓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0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Choice>
        <mc:Fallback>
          <p:sp>
            <p:nvSpPr>
              <p:cNvPr id="4" name="Rounded Rectangle 3"/>
              <p:cNvSpPr/>
              <p:nvPr/>
            </p:nvSpPr>
            <p:spPr>
              <a:xfrm>
                <a:off x="731520" y="1280160"/>
                <a:ext cx="10725912" cy="2008124"/>
              </a:xfrm>
              <a:prstGeom prst="roundRect">
                <a:avLst>
                  <a:gd name="adj" fmla="val 8000"/>
                </a:avLst>
              </a:prstGeom>
              <a:solidFill>
                <a:srgbClr val="E0ECFF"/>
              </a:solidFill>
              <a:ln w="25400">
                <a:solidFill>
                  <a:srgbClr val="1D4ED8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>
                  <a:spcAft>
                    <a:spcPts val="500"/>
                  </a:spcAft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Let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$f(x)=\left|\begin{matrix}a+x&amp;b+x&amp;c+x\\ \ell+x&amp;m+x&amp;n+x\\ p+x&amp;q+x&amp;r+x\end{matrix}\right|$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 Show that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$f''(x)=0$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and that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$f(x)=f(0)+kx$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where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$k$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denotes the sum of all the cofactors of the elements in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$f(0)$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Fallback>
      </mc:AlternateContent>
      <p:sp>
        <p:nvSpPr>
          <p:cNvPr id="5" name="Rectangle 4"/>
          <p:cNvSpPr/>
          <p:nvPr/>
        </p:nvSpPr>
        <p:spPr>
          <a:xfrm>
            <a:off x="731520" y="3516884"/>
            <a:ext cx="10725912" cy="1975103"/>
          </a:xfrm>
          <a:prstGeom prst="rect">
            <a:avLst/>
          </a:prstGeom>
          <a:solidFill>
            <a:srgbClr val="FFFFFF"/>
          </a:solidFill>
          <a:ln w="19050">
            <a:solidFill>
              <a:srgbClr val="6B728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111827"/>
          </a:fontRef>
        </p:style>
        <p:txBody>
          <a:bodyPr rtlCol="0" anchor="t" wrap="square" lIns="228600" rIns="228600" tIns="137160" bIns="73152"/>
          <a:lstStyle>
            <a:lvl1pPr>
              <a:defRPr sz="2400">
                <a:solidFill>
                  <a:srgbClr val="111827"/>
                </a:solidFill>
              </a:defRPr>
            </a:lvl1pPr>
          </a:lstStyle>
          <a:p>
            <a:pPr algn="l">
              <a:spcAft>
                <a:spcPts val="200"/>
              </a:spcAft>
              <a:defRPr sz="2400">
                <a:solidFill>
                  <a:srgbClr val="111827"/>
                </a:solidFill>
              </a:defRPr>
            </a:pPr>
            <a:r>
              <a:rPr sz="2400" b="0">
                <a:solidFill>
                  <a:srgbClr val="111827"/>
                </a:solidFill>
                <a:latin typeface="Arial"/>
              </a:rPr>
              <a:t>Subjective Type(4 Marks)</a:t>
            </a:r>
            <a:endParaRPr sz="2400">
              <a:solidFill>
                <a:srgbClr val="111827"/>
              </a:solidFill>
            </a:endParaRPr>
          </a:p>
          <a:p>
            <a:pPr algn="l">
              <a:spcAft>
                <a:spcPts val="200"/>
              </a:spcAft>
              <a:defRPr sz="2400">
                <a:solidFill>
                  <a:srgbClr val="111827"/>
                </a:solidFill>
              </a:defRPr>
            </a:pPr>
            <a:r>
              <a:rPr sz="2400" b="0">
                <a:solidFill>
                  <a:srgbClr val="111827"/>
                </a:solidFill>
                <a:latin typeface="Arial"/>
              </a:rPr>
              <a:t>Concept(s) : Determinants: derivative of a determinant, Cofactors and expansion of determinants</a:t>
            </a:r>
            <a:endParaRPr sz="2400">
              <a:solidFill>
                <a:srgbClr val="111827"/>
              </a:solidFill>
            </a:endParaRPr>
          </a:p>
          <a:p>
            <a:pPr algn="l">
              <a:spcAft>
                <a:spcPts val="200"/>
              </a:spcAft>
              <a:defRPr sz="2400">
                <a:solidFill>
                  <a:srgbClr val="111827"/>
                </a:solidFill>
              </a:defRPr>
            </a:pPr>
            <a:r>
              <a:rPr sz="2400" b="0">
                <a:solidFill>
                  <a:srgbClr val="111827"/>
                </a:solidFill>
                <a:latin typeface="Arial"/>
              </a:rPr>
              <a:t>Difficulty Level: Level 3(Average JEE Advanced Level)</a:t>
            </a:r>
            <a:endParaRPr sz="2400">
              <a:solidFill>
                <a:srgbClr val="111827"/>
              </a:solidFill>
            </a:endParaRPr>
          </a:p>
        </p:txBody>
      </p:sp>
    </p:spTree>
  </p:cSld>
  <p:clrMapOvr>
    <a:masterClrMapping/>
  </p:clrMapOvr>
</p:sld>
</file>

<file path=ppt/slides/slide6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FFFFFF"/>
          </a:fontRef>
        </p:style>
        <p:txBody>
          <a:bodyPr rtlCol="0" anchor="ctr" lIns="731520"/>
          <a:lstStyle>
            <a:lvl1pPr>
              <a:defRPr sz="3200">
                <a:solidFill>
                  <a:srgbClr val="FFFFFF"/>
                </a:solidFill>
              </a:defRPr>
            </a:lvl1pPr>
          </a:lstStyle>
          <a:p>
            <a:pPr algn="l">
              <a:defRPr sz="3200">
                <a:solidFill>
                  <a:srgbClr val="FFFFFF"/>
                </a:solidFill>
              </a:defRPr>
            </a:pPr>
            <a:r>
              <a:rPr sz="3200" b="1">
                <a:solidFill>
                  <a:srgbClr val="FFFFFF"/>
                </a:solidFill>
                <a:latin typeface="Arial"/>
              </a:rPr>
              <a:t>Question 11</a:t>
            </a:r>
            <a:endParaRPr sz="3200">
              <a:solidFill>
                <a:srgbClr val="FFFFFF"/>
              </a:solidFill>
            </a:endParaRPr>
          </a:p>
        </p:txBody>
      </p:sp>
      <p:sp>
        <p:nvSpPr>
          <p:cNvPr id="3" name="Rounded Rectangle 2"/>
          <p:cNvSpPr/>
          <p:nvPr/>
        </p:nvSpPr>
        <p:spPr>
          <a:xfrm>
            <a:off x="7894015" y="246887"/>
            <a:ext cx="3840480" cy="603504"/>
          </a:xfrm>
          <a:prstGeom prst="roundRect">
            <a:avLst>
              <a:gd name="adj" fmla="val 50000"/>
            </a:avLst>
          </a:prstGeom>
          <a:solidFill>
            <a:srgbClr val="F6B26B"/>
          </a:solidFill>
          <a:ln w="1905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111827"/>
          </a:fontRef>
        </p:style>
        <p:txBody>
          <a:bodyPr rtlCol="0" anchor="ctr" wrap="square" lIns="228600" rIns="228600" tIns="18288" bIns="18288"/>
          <a:lstStyle>
            <a:lvl1pPr>
              <a:defRPr sz="2400">
                <a:solidFill>
                  <a:srgbClr val="111827"/>
                </a:solidFill>
              </a:defRPr>
            </a:lvl1pPr>
          </a:lstStyle>
          <a:p>
            <a:pPr algn="ctr">
              <a:defRPr sz="2400">
                <a:solidFill>
                  <a:srgbClr val="111827"/>
                </a:solidFill>
              </a:defRPr>
            </a:pPr>
            <a:r>
              <a:rPr sz="2400" b="1">
                <a:solidFill>
                  <a:srgbClr val="111827"/>
                </a:solidFill>
                <a:latin typeface="Arial"/>
              </a:rPr>
              <a:t>Level 3  ·  4 Marks</a:t>
            </a:r>
            <a:endParaRPr sz="2400">
              <a:solidFill>
                <a:srgbClr val="111827"/>
              </a:solidFill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4" name="Rounded Rectangle 3"/>
              <p:cNvSpPr/>
              <p:nvPr/>
            </p:nvSpPr>
            <p:spPr>
              <a:xfrm>
                <a:off x="731520" y="1280160"/>
                <a:ext cx="10725912" cy="1481328"/>
              </a:xfrm>
              <a:prstGeom prst="roundRect">
                <a:avLst>
                  <a:gd name="adj" fmla="val 8000"/>
                </a:avLst>
              </a:prstGeom>
              <a:solidFill>
                <a:srgbClr val="FDE68A"/>
              </a:solidFill>
              <a:ln w="31750">
                <a:solidFill>
                  <a:srgbClr val="D97706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78350F"/>
              </a:fontRef>
            </p:style>
            <p:txBody>
              <a:bodyPr rtlCol="0" anchor="ctr" wrap="square" lIns="228600" rIns="228600" tIns="54864" bIns="73152"/>
              <a:lstStyle>
                <a:lvl1pPr>
                  <a:defRPr sz="2400">
                    <a:solidFill>
                      <a:srgbClr val="78350F"/>
                    </a:solidFill>
                  </a:defRPr>
                </a:lvl1pPr>
              </a:lstStyle>
              <a:p>
                <a:pPr algn="l">
                  <a:defRPr sz="2400">
                    <a:solidFill>
                      <a:srgbClr val="78350F"/>
                    </a:solidFill>
                  </a:defRPr>
                </a:pPr>
                <a:r>
                  <a:rPr sz="2400" b="1">
                    <a:solidFill>
                      <a:srgbClr val="78350F"/>
                    </a:solidFill>
                    <a:latin typeface="Arial"/>
                  </a:rPr>
                  <a:t>Key idea:  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Subtracting column 1 from columns 2 and 3 leaves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𝑥</m:t>
                    </m:r>
                  </m:oMath>
                </a14:m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 only in column 1, so </a:t>
                </a:r>
                <a14:m>
                  <m:oMath xmlns:m="http://schemas.openxmlformats.org/officeDocument/2006/math">
                    <m:sSup>
                      <m:e>
                        <m: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𝑓</m:t>
                        </m:r>
                      </m:e>
                      <m:sup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′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 is a constant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𝑘</m:t>
                    </m:r>
                  </m:oMath>
                </a14:m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; that constant is the sum of the cofactors.</a:t>
                </a:r>
                <a:endParaRPr sz="2400">
                  <a:solidFill>
                    <a:srgbClr val="78350F"/>
                  </a:solidFill>
                </a:endParaRPr>
              </a:p>
            </p:txBody>
          </p:sp>
        </mc:Choice>
        <mc:Fallback>
          <p:sp>
            <p:nvSpPr>
              <p:cNvPr id="4" name="Rounded Rectangle 3"/>
              <p:cNvSpPr/>
              <p:nvPr/>
            </p:nvSpPr>
            <p:spPr>
              <a:xfrm>
                <a:off x="731520" y="1280160"/>
                <a:ext cx="10725912" cy="1481328"/>
              </a:xfrm>
              <a:prstGeom prst="roundRect">
                <a:avLst>
                  <a:gd name="adj" fmla="val 8000"/>
                </a:avLst>
              </a:prstGeom>
              <a:solidFill>
                <a:srgbClr val="FDE68A"/>
              </a:solidFill>
              <a:ln w="31750">
                <a:solidFill>
                  <a:srgbClr val="D97706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78350F"/>
              </a:fontRef>
            </p:style>
            <p:txBody>
              <a:bodyPr rtlCol="0" anchor="ctr" wrap="square" lIns="228600" rIns="228600" tIns="54864" bIns="73152"/>
              <a:lstStyle>
                <a:lvl1pPr>
                  <a:defRPr sz="2400">
                    <a:solidFill>
                      <a:srgbClr val="78350F"/>
                    </a:solidFill>
                  </a:defRPr>
                </a:lvl1pPr>
              </a:lstStyle>
              <a:p>
                <a:pPr algn="l">
                  <a:defRPr sz="2400">
                    <a:solidFill>
                      <a:srgbClr val="78350F"/>
                    </a:solidFill>
                  </a:defRPr>
                </a:pPr>
                <a:r>
                  <a:rPr sz="2400" b="1">
                    <a:solidFill>
                      <a:srgbClr val="78350F"/>
                    </a:solidFill>
                    <a:latin typeface="Arial"/>
                  </a:rPr>
                  <a:t>Key idea:  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Subtracting column 1 from columns 2 and 3 leaves </a:t>
                </a:r>
                <a:r>
                  <a:rPr lang="en-IN" sz="2400">
                    <a:solidFill>
                      <a:srgbClr val="78350F"/>
                    </a:solidFill>
                    <a:latin typeface="Cambria Math" panose="02040503050406030204" pitchFamily="18" charset="0"/>
                  </a:rPr>
                  <a:t>$x$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 only in column 1, so </a:t>
                </a:r>
                <a:r>
                  <a:rPr lang="en-IN" sz="2400">
                    <a:solidFill>
                      <a:srgbClr val="78350F"/>
                    </a:solidFill>
                    <a:latin typeface="Cambria Math" panose="02040503050406030204" pitchFamily="18" charset="0"/>
                  </a:rPr>
                  <a:t>$f'(x)$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 is a constant </a:t>
                </a:r>
                <a:r>
                  <a:rPr lang="en-IN" sz="2400">
                    <a:solidFill>
                      <a:srgbClr val="78350F"/>
                    </a:solidFill>
                    <a:latin typeface="Cambria Math" panose="02040503050406030204" pitchFamily="18" charset="0"/>
                  </a:rPr>
                  <a:t>$k$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; that constant is the sum of the cofactors.</a:t>
                </a:r>
                <a:endParaRPr sz="2400">
                  <a:solidFill>
                    <a:srgbClr val="78350F"/>
                  </a:solidFill>
                </a:endParaRP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5" name="Rectangle 4"/>
              <p:cNvSpPr/>
              <p:nvPr/>
            </p:nvSpPr>
            <p:spPr>
              <a:xfrm>
                <a:off x="731520" y="2898648"/>
                <a:ext cx="10725912" cy="3776472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Apply </a:t>
                </a:r>
                <a14:m>
                  <m:oMath xmlns:m="http://schemas.openxmlformats.org/officeDocument/2006/math">
                    <m:sSub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𝐶</m:t>
                        </m:r>
                      </m:e>
                      <m:sub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3</m:t>
                        </m:r>
                      </m:sub>
                    </m:sSub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→</m:t>
                    </m:r>
                    <m:sSub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𝐶</m:t>
                        </m:r>
                      </m:e>
                      <m:sub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3</m:t>
                        </m:r>
                      </m:sub>
                    </m:sSub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sSub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𝐶</m:t>
                        </m:r>
                      </m:e>
                      <m:sub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sub>
                    </m:sSub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</a:t>
                </a:r>
                <a14:m>
                  <m:oMath xmlns:m="http://schemas.openxmlformats.org/officeDocument/2006/math">
                    <m:sSub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𝐶</m:t>
                        </m:r>
                      </m:e>
                      <m:sub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b>
                    </m:sSub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→</m:t>
                    </m:r>
                    <m:sSub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𝐶</m:t>
                        </m:r>
                      </m:e>
                      <m:sub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b>
                    </m:sSub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sSub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𝐶</m:t>
                        </m:r>
                      </m:e>
                      <m:sub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sub>
                    </m:sSub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: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𝑓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d>
                      <m:dPr>
                        <m:begChr m:val="|"/>
                        <m:sepChr m:val=""/>
                        <m:endChr m:val="|"/>
                        <m:grow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m>
                          <m:mPr>
                            <m:baseJc m:val="center"/>
                            <m:plcHide m:val="on"/>
                            <m:mcs>
                              <m:mc>
                                <m:mcPr>
                                  <m:count m:val="1"/>
                                  <m:mcJc m:val="center"/>
                                </m:mcPr>
                              </m:mc>
                              <m:mc>
                                <m:mcPr>
                                  <m:count m:val="1"/>
                                  <m:mcJc m:val="center"/>
                                </m:mcPr>
                              </m:mc>
                              <m:mc>
                                <m:mcPr>
                                  <m:count m:val="1"/>
                                  <m:mcJc m:val="center"/>
                                </m:mcPr>
                              </m:mc>
                            </m:mcs>
                            <m:ctrlP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mPr>
                          <m:mr>
                            <m:e>
                              <m:r>
                                <a:rPr lang="en-IN" sz="2400" i="1">
                                  <a:solidFill>
                                    <a:srgbClr val="111827"/>
                                  </a:solidFill>
                                  <a:latin typeface="Cambria Math" panose="02040503050406030204" pitchFamily="18" charset="0"/>
                                </a:rPr>
                                <m:t>𝑎</m:t>
                              </m:r>
                              <m:r>
                                <m:rPr>
                                  <m:sty m:val="p"/>
                                </m:rPr>
                                <a:rPr lang="en-IN" sz="2400">
                                  <a:solidFill>
                                    <a:srgbClr val="111827"/>
                                  </a:solidFill>
                                  <a:latin typeface="Cambria Math" panose="02040503050406030204" pitchFamily="18" charset="0"/>
                                </a:rPr>
                                <m:t>+</m:t>
                              </m:r>
                              <m:r>
                                <a:rPr lang="en-IN" sz="2400" i="1">
                                  <a:solidFill>
                                    <a:srgbClr val="111827"/>
                                  </a:solidFill>
                                  <a:latin typeface="Cambria Math" panose="02040503050406030204" pitchFamily="18" charset="0"/>
                                </a:rPr>
                                <m:t>𝑥</m:t>
                              </m:r>
                            </m:e>
                            <m:e>
                              <m:r>
                                <a:rPr lang="en-IN" sz="2400" i="1">
                                  <a:solidFill>
                                    <a:srgbClr val="111827"/>
                                  </a:solidFill>
                                  <a:latin typeface="Cambria Math" panose="02040503050406030204" pitchFamily="18" charset="0"/>
                                </a:rPr>
                                <m:t>𝑏</m:t>
                              </m:r>
                              <m:r>
                                <m:rPr>
                                  <m:sty m:val="p"/>
                                </m:rPr>
                                <a:rPr lang="en-IN" sz="2400">
                                  <a:solidFill>
                                    <a:srgbClr val="111827"/>
                                  </a:solidFill>
                                  <a:latin typeface="Cambria Math" panose="02040503050406030204" pitchFamily="18" charset="0"/>
                                </a:rPr>
                                <m:t>−</m:t>
                              </m:r>
                              <m:r>
                                <a:rPr lang="en-IN" sz="2400" i="1">
                                  <a:solidFill>
                                    <a:srgbClr val="111827"/>
                                  </a:solidFill>
                                  <a:latin typeface="Cambria Math" panose="02040503050406030204" pitchFamily="18" charset="0"/>
                                </a:rPr>
                                <m:t>𝑎</m:t>
                              </m:r>
                            </m:e>
                            <m:e>
                              <m:r>
                                <a:rPr lang="en-IN" sz="2400" i="1">
                                  <a:solidFill>
                                    <a:srgbClr val="111827"/>
                                  </a:solidFill>
                                  <a:latin typeface="Cambria Math" panose="02040503050406030204" pitchFamily="18" charset="0"/>
                                </a:rPr>
                                <m:t>𝑐</m:t>
                              </m:r>
                              <m:r>
                                <m:rPr>
                                  <m:sty m:val="p"/>
                                </m:rPr>
                                <a:rPr lang="en-IN" sz="2400">
                                  <a:solidFill>
                                    <a:srgbClr val="111827"/>
                                  </a:solidFill>
                                  <a:latin typeface="Cambria Math" panose="02040503050406030204" pitchFamily="18" charset="0"/>
                                </a:rPr>
                                <m:t>−</m:t>
                              </m:r>
                              <m:r>
                                <a:rPr lang="en-IN" sz="2400" i="1">
                                  <a:solidFill>
                                    <a:srgbClr val="111827"/>
                                  </a:solidFill>
                                  <a:latin typeface="Cambria Math" panose="02040503050406030204" pitchFamily="18" charset="0"/>
                                </a:rPr>
                                <m:t>𝑎</m:t>
                              </m:r>
                            </m:e>
                          </m:mr>
                          <m:mr>
                            <m:e>
                              <m:r>
                                <a:rPr lang="en-IN" sz="2400" i="1">
                                  <a:solidFill>
                                    <a:srgbClr val="111827"/>
                                  </a:solidFill>
                                  <a:latin typeface="Cambria Math" panose="02040503050406030204" pitchFamily="18" charset="0"/>
                                </a:rPr>
                                <m:t>ℓ</m:t>
                              </m:r>
                              <m:r>
                                <m:rPr>
                                  <m:sty m:val="p"/>
                                </m:rPr>
                                <a:rPr lang="en-IN" sz="2400">
                                  <a:solidFill>
                                    <a:srgbClr val="111827"/>
                                  </a:solidFill>
                                  <a:latin typeface="Cambria Math" panose="02040503050406030204" pitchFamily="18" charset="0"/>
                                </a:rPr>
                                <m:t>+</m:t>
                              </m:r>
                              <m:r>
                                <a:rPr lang="en-IN" sz="2400" i="1">
                                  <a:solidFill>
                                    <a:srgbClr val="111827"/>
                                  </a:solidFill>
                                  <a:latin typeface="Cambria Math" panose="02040503050406030204" pitchFamily="18" charset="0"/>
                                </a:rPr>
                                <m:t>𝑥</m:t>
                              </m:r>
                            </m:e>
                            <m:e>
                              <m:r>
                                <a:rPr lang="en-IN" sz="2400" i="1">
                                  <a:solidFill>
                                    <a:srgbClr val="111827"/>
                                  </a:solidFill>
                                  <a:latin typeface="Cambria Math" panose="02040503050406030204" pitchFamily="18" charset="0"/>
                                </a:rPr>
                                <m:t>𝑚</m:t>
                              </m:r>
                              <m:r>
                                <m:rPr>
                                  <m:sty m:val="p"/>
                                </m:rPr>
                                <a:rPr lang="en-IN" sz="2400">
                                  <a:solidFill>
                                    <a:srgbClr val="111827"/>
                                  </a:solidFill>
                                  <a:latin typeface="Cambria Math" panose="02040503050406030204" pitchFamily="18" charset="0"/>
                                </a:rPr>
                                <m:t>−</m:t>
                              </m:r>
                              <m:r>
                                <a:rPr lang="en-IN" sz="2400" i="1">
                                  <a:solidFill>
                                    <a:srgbClr val="111827"/>
                                  </a:solidFill>
                                  <a:latin typeface="Cambria Math" panose="02040503050406030204" pitchFamily="18" charset="0"/>
                                </a:rPr>
                                <m:t>ℓ</m:t>
                              </m:r>
                            </m:e>
                            <m:e>
                              <m:r>
                                <a:rPr lang="en-IN" sz="2400" i="1">
                                  <a:solidFill>
                                    <a:srgbClr val="111827"/>
                                  </a:solidFill>
                                  <a:latin typeface="Cambria Math" panose="02040503050406030204" pitchFamily="18" charset="0"/>
                                </a:rPr>
                                <m:t>𝑛</m:t>
                              </m:r>
                              <m:r>
                                <m:rPr>
                                  <m:sty m:val="p"/>
                                </m:rPr>
                                <a:rPr lang="en-IN" sz="2400">
                                  <a:solidFill>
                                    <a:srgbClr val="111827"/>
                                  </a:solidFill>
                                  <a:latin typeface="Cambria Math" panose="02040503050406030204" pitchFamily="18" charset="0"/>
                                </a:rPr>
                                <m:t>−</m:t>
                              </m:r>
                              <m:r>
                                <a:rPr lang="en-IN" sz="2400" i="1">
                                  <a:solidFill>
                                    <a:srgbClr val="111827"/>
                                  </a:solidFill>
                                  <a:latin typeface="Cambria Math" panose="02040503050406030204" pitchFamily="18" charset="0"/>
                                </a:rPr>
                                <m:t>ℓ</m:t>
                              </m:r>
                            </m:e>
                          </m:mr>
                          <m:mr>
                            <m:e>
                              <m:r>
                                <a:rPr lang="en-IN" sz="2400" i="1">
                                  <a:solidFill>
                                    <a:srgbClr val="111827"/>
                                  </a:solidFill>
                                  <a:latin typeface="Cambria Math" panose="02040503050406030204" pitchFamily="18" charset="0"/>
                                </a:rPr>
                                <m:t>𝑝</m:t>
                              </m:r>
                              <m:r>
                                <m:rPr>
                                  <m:sty m:val="p"/>
                                </m:rPr>
                                <a:rPr lang="en-IN" sz="2400">
                                  <a:solidFill>
                                    <a:srgbClr val="111827"/>
                                  </a:solidFill>
                                  <a:latin typeface="Cambria Math" panose="02040503050406030204" pitchFamily="18" charset="0"/>
                                </a:rPr>
                                <m:t>+</m:t>
                              </m:r>
                              <m:r>
                                <a:rPr lang="en-IN" sz="2400" i="1">
                                  <a:solidFill>
                                    <a:srgbClr val="111827"/>
                                  </a:solidFill>
                                  <a:latin typeface="Cambria Math" panose="02040503050406030204" pitchFamily="18" charset="0"/>
                                </a:rPr>
                                <m:t>𝑥</m:t>
                              </m:r>
                            </m:e>
                            <m:e>
                              <m:r>
                                <a:rPr lang="en-IN" sz="2400" i="1">
                                  <a:solidFill>
                                    <a:srgbClr val="111827"/>
                                  </a:solidFill>
                                  <a:latin typeface="Cambria Math" panose="02040503050406030204" pitchFamily="18" charset="0"/>
                                </a:rPr>
                                <m:t>𝑞</m:t>
                              </m:r>
                              <m:r>
                                <m:rPr>
                                  <m:sty m:val="p"/>
                                </m:rPr>
                                <a:rPr lang="en-IN" sz="2400">
                                  <a:solidFill>
                                    <a:srgbClr val="111827"/>
                                  </a:solidFill>
                                  <a:latin typeface="Cambria Math" panose="02040503050406030204" pitchFamily="18" charset="0"/>
                                </a:rPr>
                                <m:t>−</m:t>
                              </m:r>
                              <m:r>
                                <a:rPr lang="en-IN" sz="2400" i="1">
                                  <a:solidFill>
                                    <a:srgbClr val="111827"/>
                                  </a:solidFill>
                                  <a:latin typeface="Cambria Math" panose="02040503050406030204" pitchFamily="18" charset="0"/>
                                </a:rPr>
                                <m:t>𝑝</m:t>
                              </m:r>
                            </m:e>
                            <m:e>
                              <m:r>
                                <a:rPr lang="en-IN" sz="2400" i="1">
                                  <a:solidFill>
                                    <a:srgbClr val="111827"/>
                                  </a:solidFill>
                                  <a:latin typeface="Cambria Math" panose="02040503050406030204" pitchFamily="18" charset="0"/>
                                </a:rPr>
                                <m:t>𝑟</m:t>
                              </m:r>
                              <m:r>
                                <m:rPr>
                                  <m:sty m:val="p"/>
                                </m:rPr>
                                <a:rPr lang="en-IN" sz="2400">
                                  <a:solidFill>
                                    <a:srgbClr val="111827"/>
                                  </a:solidFill>
                                  <a:latin typeface="Cambria Math" panose="02040503050406030204" pitchFamily="18" charset="0"/>
                                </a:rPr>
                                <m:t>−</m:t>
                              </m:r>
                              <m:r>
                                <a:rPr lang="en-IN" sz="2400" i="1">
                                  <a:solidFill>
                                    <a:srgbClr val="111827"/>
                                  </a:solidFill>
                                  <a:latin typeface="Cambria Math" panose="02040503050406030204" pitchFamily="18" charset="0"/>
                                </a:rPr>
                                <m:t>𝑝</m:t>
                              </m:r>
                            </m:e>
                          </m:mr>
                        </m:m>
                      </m:e>
                    </m:d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Only column 1 contains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and its derivative is the column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,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,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  <m:sSup>
                      <m:e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)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𝑇</m:t>
                        </m:r>
                      </m:sup>
                    </m:sSup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so </a:t>
                </a:r>
                <a14:m>
                  <m:oMath xmlns:m="http://schemas.openxmlformats.org/officeDocument/2006/math"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𝑓</m:t>
                        </m:r>
                      </m:e>
                      <m:sup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′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d>
                      <m:dPr>
                        <m:begChr m:val="|"/>
                        <m:sepChr m:val=""/>
                        <m:endChr m:val="|"/>
                        <m:grow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m>
                          <m:mPr>
                            <m:baseJc m:val="center"/>
                            <m:plcHide m:val="on"/>
                            <m:mcs>
                              <m:mc>
                                <m:mcPr>
                                  <m:count m:val="1"/>
                                  <m:mcJc m:val="center"/>
                                </m:mcPr>
                              </m:mc>
                              <m:mc>
                                <m:mcPr>
                                  <m:count m:val="1"/>
                                  <m:mcJc m:val="center"/>
                                </m:mcPr>
                              </m:mc>
                              <m:mc>
                                <m:mcPr>
                                  <m:count m:val="1"/>
                                  <m:mcJc m:val="center"/>
                                </m:mcPr>
                              </m:mc>
                            </m:mcs>
                            <m:ctrlP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mPr>
                          <m:mr>
                            <m:e>
                              <m:r>
                                <a:rPr lang="en-IN" sz="2400" i="1">
                                  <a:solidFill>
                                    <a:srgbClr val="111827"/>
                                  </a:solidFill>
                                  <a:latin typeface="Cambria Math" panose="02040503050406030204" pitchFamily="18" charset="0"/>
                                </a:rPr>
                                <m:t>1</m:t>
                              </m:r>
                            </m:e>
                            <m:e>
                              <m:r>
                                <a:rPr lang="en-IN" sz="2400" i="1">
                                  <a:solidFill>
                                    <a:srgbClr val="111827"/>
                                  </a:solidFill>
                                  <a:latin typeface="Cambria Math" panose="02040503050406030204" pitchFamily="18" charset="0"/>
                                </a:rPr>
                                <m:t>𝑏</m:t>
                              </m:r>
                              <m:r>
                                <m:rPr>
                                  <m:sty m:val="p"/>
                                </m:rPr>
                                <a:rPr lang="en-IN" sz="2400">
                                  <a:solidFill>
                                    <a:srgbClr val="111827"/>
                                  </a:solidFill>
                                  <a:latin typeface="Cambria Math" panose="02040503050406030204" pitchFamily="18" charset="0"/>
                                </a:rPr>
                                <m:t>−</m:t>
                              </m:r>
                              <m:r>
                                <a:rPr lang="en-IN" sz="2400" i="1">
                                  <a:solidFill>
                                    <a:srgbClr val="111827"/>
                                  </a:solidFill>
                                  <a:latin typeface="Cambria Math" panose="02040503050406030204" pitchFamily="18" charset="0"/>
                                </a:rPr>
                                <m:t>𝑎</m:t>
                              </m:r>
                            </m:e>
                            <m:e>
                              <m:r>
                                <a:rPr lang="en-IN" sz="2400" i="1">
                                  <a:solidFill>
                                    <a:srgbClr val="111827"/>
                                  </a:solidFill>
                                  <a:latin typeface="Cambria Math" panose="02040503050406030204" pitchFamily="18" charset="0"/>
                                </a:rPr>
                                <m:t>𝑐</m:t>
                              </m:r>
                              <m:r>
                                <m:rPr>
                                  <m:sty m:val="p"/>
                                </m:rPr>
                                <a:rPr lang="en-IN" sz="2400">
                                  <a:solidFill>
                                    <a:srgbClr val="111827"/>
                                  </a:solidFill>
                                  <a:latin typeface="Cambria Math" panose="02040503050406030204" pitchFamily="18" charset="0"/>
                                </a:rPr>
                                <m:t>−</m:t>
                              </m:r>
                              <m:r>
                                <a:rPr lang="en-IN" sz="2400" i="1">
                                  <a:solidFill>
                                    <a:srgbClr val="111827"/>
                                  </a:solidFill>
                                  <a:latin typeface="Cambria Math" panose="02040503050406030204" pitchFamily="18" charset="0"/>
                                </a:rPr>
                                <m:t>𝑎</m:t>
                              </m:r>
                            </m:e>
                          </m:mr>
                          <m:mr>
                            <m:e>
                              <m:r>
                                <a:rPr lang="en-IN" sz="2400" i="1">
                                  <a:solidFill>
                                    <a:srgbClr val="111827"/>
                                  </a:solidFill>
                                  <a:latin typeface="Cambria Math" panose="02040503050406030204" pitchFamily="18" charset="0"/>
                                </a:rPr>
                                <m:t>1</m:t>
                              </m:r>
                            </m:e>
                            <m:e>
                              <m:r>
                                <a:rPr lang="en-IN" sz="2400" i="1">
                                  <a:solidFill>
                                    <a:srgbClr val="111827"/>
                                  </a:solidFill>
                                  <a:latin typeface="Cambria Math" panose="02040503050406030204" pitchFamily="18" charset="0"/>
                                </a:rPr>
                                <m:t>𝑚</m:t>
                              </m:r>
                              <m:r>
                                <m:rPr>
                                  <m:sty m:val="p"/>
                                </m:rPr>
                                <a:rPr lang="en-IN" sz="2400">
                                  <a:solidFill>
                                    <a:srgbClr val="111827"/>
                                  </a:solidFill>
                                  <a:latin typeface="Cambria Math" panose="02040503050406030204" pitchFamily="18" charset="0"/>
                                </a:rPr>
                                <m:t>−</m:t>
                              </m:r>
                              <m:r>
                                <a:rPr lang="en-IN" sz="2400" i="1">
                                  <a:solidFill>
                                    <a:srgbClr val="111827"/>
                                  </a:solidFill>
                                  <a:latin typeface="Cambria Math" panose="02040503050406030204" pitchFamily="18" charset="0"/>
                                </a:rPr>
                                <m:t>ℓ</m:t>
                              </m:r>
                            </m:e>
                            <m:e>
                              <m:r>
                                <a:rPr lang="en-IN" sz="2400" i="1">
                                  <a:solidFill>
                                    <a:srgbClr val="111827"/>
                                  </a:solidFill>
                                  <a:latin typeface="Cambria Math" panose="02040503050406030204" pitchFamily="18" charset="0"/>
                                </a:rPr>
                                <m:t>𝑛</m:t>
                              </m:r>
                              <m:r>
                                <m:rPr>
                                  <m:sty m:val="p"/>
                                </m:rPr>
                                <a:rPr lang="en-IN" sz="2400">
                                  <a:solidFill>
                                    <a:srgbClr val="111827"/>
                                  </a:solidFill>
                                  <a:latin typeface="Cambria Math" panose="02040503050406030204" pitchFamily="18" charset="0"/>
                                </a:rPr>
                                <m:t>−</m:t>
                              </m:r>
                              <m:r>
                                <a:rPr lang="en-IN" sz="2400" i="1">
                                  <a:solidFill>
                                    <a:srgbClr val="111827"/>
                                  </a:solidFill>
                                  <a:latin typeface="Cambria Math" panose="02040503050406030204" pitchFamily="18" charset="0"/>
                                </a:rPr>
                                <m:t>ℓ</m:t>
                              </m:r>
                            </m:e>
                          </m:mr>
                          <m:mr>
                            <m:e>
                              <m:r>
                                <a:rPr lang="en-IN" sz="2400" i="1">
                                  <a:solidFill>
                                    <a:srgbClr val="111827"/>
                                  </a:solidFill>
                                  <a:latin typeface="Cambria Math" panose="02040503050406030204" pitchFamily="18" charset="0"/>
                                </a:rPr>
                                <m:t>1</m:t>
                              </m:r>
                            </m:e>
                            <m:e>
                              <m:r>
                                <a:rPr lang="en-IN" sz="2400" i="1">
                                  <a:solidFill>
                                    <a:srgbClr val="111827"/>
                                  </a:solidFill>
                                  <a:latin typeface="Cambria Math" panose="02040503050406030204" pitchFamily="18" charset="0"/>
                                </a:rPr>
                                <m:t>𝑞</m:t>
                              </m:r>
                              <m:r>
                                <m:rPr>
                                  <m:sty m:val="p"/>
                                </m:rPr>
                                <a:rPr lang="en-IN" sz="2400">
                                  <a:solidFill>
                                    <a:srgbClr val="111827"/>
                                  </a:solidFill>
                                  <a:latin typeface="Cambria Math" panose="02040503050406030204" pitchFamily="18" charset="0"/>
                                </a:rPr>
                                <m:t>−</m:t>
                              </m:r>
                              <m:r>
                                <a:rPr lang="en-IN" sz="2400" i="1">
                                  <a:solidFill>
                                    <a:srgbClr val="111827"/>
                                  </a:solidFill>
                                  <a:latin typeface="Cambria Math" panose="02040503050406030204" pitchFamily="18" charset="0"/>
                                </a:rPr>
                                <m:t>𝑝</m:t>
                              </m:r>
                            </m:e>
                            <m:e>
                              <m:r>
                                <a:rPr lang="en-IN" sz="2400" i="1">
                                  <a:solidFill>
                                    <a:srgbClr val="111827"/>
                                  </a:solidFill>
                                  <a:latin typeface="Cambria Math" panose="02040503050406030204" pitchFamily="18" charset="0"/>
                                </a:rPr>
                                <m:t>𝑟</m:t>
                              </m:r>
                              <m:r>
                                <m:rPr>
                                  <m:sty m:val="p"/>
                                </m:rPr>
                                <a:rPr lang="en-IN" sz="2400">
                                  <a:solidFill>
                                    <a:srgbClr val="111827"/>
                                  </a:solidFill>
                                  <a:latin typeface="Cambria Math" panose="02040503050406030204" pitchFamily="18" charset="0"/>
                                </a:rPr>
                                <m:t>−</m:t>
                              </m:r>
                              <m:r>
                                <a:rPr lang="en-IN" sz="2400" i="1">
                                  <a:solidFill>
                                    <a:srgbClr val="111827"/>
                                  </a:solidFill>
                                  <a:latin typeface="Cambria Math" panose="02040503050406030204" pitchFamily="18" charset="0"/>
                                </a:rPr>
                                <m:t>𝑝</m:t>
                              </m:r>
                            </m:e>
                          </m:mr>
                        </m:m>
                      </m:e>
                    </m:d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𝑘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(a constant).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 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Differentiating (1): </a:t>
                </a:r>
                <a14:m>
                  <m:oMath xmlns:m="http://schemas.openxmlformats.org/officeDocument/2006/math"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𝑓</m:t>
                        </m:r>
                      </m:e>
                      <m:sup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″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0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 Hence proved.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Choice>
        <mc:Fallback>
          <p:sp>
            <p:nvSpPr>
              <p:cNvPr id="5" name="Rectangle 4"/>
              <p:cNvSpPr/>
              <p:nvPr/>
            </p:nvSpPr>
            <p:spPr>
              <a:xfrm>
                <a:off x="731520" y="2898648"/>
                <a:ext cx="10725912" cy="3776472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Apply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$C_3\to C_3-C_1$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$C_2\to C_2-C_1$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: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$f(x)=\left|\begin{matrix}a+x&amp;b-a&amp;c-a\\ \ell+x&amp;m-\ell&amp;n-\ell\\ p+x&amp;q-p&amp;r-p\end{matrix}\right|$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Only column 1 contains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$x$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and its derivative is the column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$(1,1,1)^T$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so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$f'(x)=\left|\begin{matrix}1&amp;b-a&amp;c-a\\ 1&amp;m-\ell&amp;n-\ell\\ 1&amp;q-p&amp;r-p\end{matrix}\right|=k$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(a constant).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$\quad(1)$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Differentiating (1):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$f''(x)=0$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 Hence proved.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Fallback>
      </mc:AlternateContent>
    </p:spTree>
  </p:cSld>
  <p:clrMapOvr>
    <a:masterClrMapping/>
  </p:clrMapOvr>
</p:sld>
</file>

<file path=ppt/slides/slide7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FFFFFF"/>
          </a:fontRef>
        </p:style>
        <p:txBody>
          <a:bodyPr rtlCol="0" anchor="ctr" lIns="731520"/>
          <a:lstStyle>
            <a:lvl1pPr>
              <a:defRPr sz="3200">
                <a:solidFill>
                  <a:srgbClr val="FFFFFF"/>
                </a:solidFill>
              </a:defRPr>
            </a:lvl1pPr>
          </a:lstStyle>
          <a:p>
            <a:pPr algn="l">
              <a:defRPr sz="3200">
                <a:solidFill>
                  <a:srgbClr val="FFFFFF"/>
                </a:solidFill>
              </a:defRPr>
            </a:pPr>
            <a:r>
              <a:rPr sz="3200" b="1">
                <a:solidFill>
                  <a:srgbClr val="FFFFFF"/>
                </a:solidFill>
                <a:latin typeface="Arial"/>
              </a:rPr>
              <a:t>Question 11</a:t>
            </a:r>
            <a:endParaRPr sz="3200">
              <a:solidFill>
                <a:srgbClr val="FFFFFF"/>
              </a:solidFill>
            </a:endParaRPr>
          </a:p>
        </p:txBody>
      </p:sp>
      <p:sp>
        <p:nvSpPr>
          <p:cNvPr id="3" name="Rounded Rectangle 2"/>
          <p:cNvSpPr/>
          <p:nvPr/>
        </p:nvSpPr>
        <p:spPr>
          <a:xfrm>
            <a:off x="7894015" y="246887"/>
            <a:ext cx="3840480" cy="603504"/>
          </a:xfrm>
          <a:prstGeom prst="roundRect">
            <a:avLst>
              <a:gd name="adj" fmla="val 50000"/>
            </a:avLst>
          </a:prstGeom>
          <a:solidFill>
            <a:srgbClr val="F6B26B"/>
          </a:solidFill>
          <a:ln w="1905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111827"/>
          </a:fontRef>
        </p:style>
        <p:txBody>
          <a:bodyPr rtlCol="0" anchor="ctr" wrap="square" lIns="228600" rIns="228600" tIns="18288" bIns="18288"/>
          <a:lstStyle>
            <a:lvl1pPr>
              <a:defRPr sz="2400">
                <a:solidFill>
                  <a:srgbClr val="111827"/>
                </a:solidFill>
              </a:defRPr>
            </a:lvl1pPr>
          </a:lstStyle>
          <a:p>
            <a:pPr algn="ctr">
              <a:defRPr sz="2400">
                <a:solidFill>
                  <a:srgbClr val="111827"/>
                </a:solidFill>
              </a:defRPr>
            </a:pPr>
            <a:r>
              <a:rPr sz="2400" b="1">
                <a:solidFill>
                  <a:srgbClr val="111827"/>
                </a:solidFill>
                <a:latin typeface="Arial"/>
              </a:rPr>
              <a:t>Level 3  ·  4 Marks</a:t>
            </a:r>
            <a:endParaRPr sz="2400">
              <a:solidFill>
                <a:srgbClr val="111827"/>
              </a:solidFill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4" name="Rectangle 3"/>
              <p:cNvSpPr/>
              <p:nvPr/>
            </p:nvSpPr>
            <p:spPr>
              <a:xfrm>
                <a:off x="731520" y="1353312"/>
                <a:ext cx="10725912" cy="5321808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To identify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𝑘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differentiate the original determinant column by column: </a:t>
                </a:r>
                <a14:m>
                  <m:oMath xmlns:m="http://schemas.openxmlformats.org/officeDocument/2006/math"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𝑓</m:t>
                        </m:r>
                      </m:e>
                      <m:sup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′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d>
                      <m:dPr>
                        <m:begChr m:val="|"/>
                        <m:sepChr m:val=""/>
                        <m:endChr m:val="|"/>
                        <m:grow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m>
                          <m:mPr>
                            <m:baseJc m:val="center"/>
                            <m:plcHide m:val="on"/>
                            <m:mcs>
                              <m:mc>
                                <m:mcPr>
                                  <m:count m:val="1"/>
                                  <m:mcJc m:val="center"/>
                                </m:mcPr>
                              </m:mc>
                              <m:mc>
                                <m:mcPr>
                                  <m:count m:val="1"/>
                                  <m:mcJc m:val="center"/>
                                </m:mcPr>
                              </m:mc>
                              <m:mc>
                                <m:mcPr>
                                  <m:count m:val="1"/>
                                  <m:mcJc m:val="center"/>
                                </m:mcPr>
                              </m:mc>
                            </m:mcs>
                            <m:ctrlP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mPr>
                          <m:mr>
                            <m:e>
                              <m:r>
                                <a:rPr lang="en-IN" sz="2400" i="1">
                                  <a:solidFill>
                                    <a:srgbClr val="111827"/>
                                  </a:solidFill>
                                  <a:latin typeface="Cambria Math" panose="02040503050406030204" pitchFamily="18" charset="0"/>
                                </a:rPr>
                                <m:t>1</m:t>
                              </m:r>
                            </m:e>
                            <m:e>
                              <m:r>
                                <a:rPr lang="en-IN" sz="2400" i="1">
                                  <a:solidFill>
                                    <a:srgbClr val="111827"/>
                                  </a:solidFill>
                                  <a:latin typeface="Cambria Math" panose="02040503050406030204" pitchFamily="18" charset="0"/>
                                </a:rPr>
                                <m:t>𝑏</m:t>
                              </m:r>
                              <m:r>
                                <m:rPr>
                                  <m:sty m:val="p"/>
                                </m:rPr>
                                <a:rPr lang="en-IN" sz="2400">
                                  <a:solidFill>
                                    <a:srgbClr val="111827"/>
                                  </a:solidFill>
                                  <a:latin typeface="Cambria Math" panose="02040503050406030204" pitchFamily="18" charset="0"/>
                                </a:rPr>
                                <m:t>+</m:t>
                              </m:r>
                              <m:r>
                                <a:rPr lang="en-IN" sz="2400" i="1">
                                  <a:solidFill>
                                    <a:srgbClr val="111827"/>
                                  </a:solidFill>
                                  <a:latin typeface="Cambria Math" panose="02040503050406030204" pitchFamily="18" charset="0"/>
                                </a:rPr>
                                <m:t>𝑥</m:t>
                              </m:r>
                            </m:e>
                            <m:e>
                              <m:r>
                                <a:rPr lang="en-IN" sz="2400" i="1">
                                  <a:solidFill>
                                    <a:srgbClr val="111827"/>
                                  </a:solidFill>
                                  <a:latin typeface="Cambria Math" panose="02040503050406030204" pitchFamily="18" charset="0"/>
                                </a:rPr>
                                <m:t>𝑐</m:t>
                              </m:r>
                              <m:r>
                                <m:rPr>
                                  <m:sty m:val="p"/>
                                </m:rPr>
                                <a:rPr lang="en-IN" sz="2400">
                                  <a:solidFill>
                                    <a:srgbClr val="111827"/>
                                  </a:solidFill>
                                  <a:latin typeface="Cambria Math" panose="02040503050406030204" pitchFamily="18" charset="0"/>
                                </a:rPr>
                                <m:t>+</m:t>
                              </m:r>
                              <m:r>
                                <a:rPr lang="en-IN" sz="2400" i="1">
                                  <a:solidFill>
                                    <a:srgbClr val="111827"/>
                                  </a:solidFill>
                                  <a:latin typeface="Cambria Math" panose="02040503050406030204" pitchFamily="18" charset="0"/>
                                </a:rPr>
                                <m:t>𝑥</m:t>
                              </m:r>
                            </m:e>
                          </m:mr>
                          <m:mr>
                            <m:e>
                              <m:r>
                                <a:rPr lang="en-IN" sz="2400" i="1">
                                  <a:solidFill>
                                    <a:srgbClr val="111827"/>
                                  </a:solidFill>
                                  <a:latin typeface="Cambria Math" panose="02040503050406030204" pitchFamily="18" charset="0"/>
                                </a:rPr>
                                <m:t>1</m:t>
                              </m:r>
                            </m:e>
                            <m:e>
                              <m:r>
                                <a:rPr lang="en-IN" sz="2400" i="1">
                                  <a:solidFill>
                                    <a:srgbClr val="111827"/>
                                  </a:solidFill>
                                  <a:latin typeface="Cambria Math" panose="02040503050406030204" pitchFamily="18" charset="0"/>
                                </a:rPr>
                                <m:t>𝑚</m:t>
                              </m:r>
                              <m:r>
                                <m:rPr>
                                  <m:sty m:val="p"/>
                                </m:rPr>
                                <a:rPr lang="en-IN" sz="2400">
                                  <a:solidFill>
                                    <a:srgbClr val="111827"/>
                                  </a:solidFill>
                                  <a:latin typeface="Cambria Math" panose="02040503050406030204" pitchFamily="18" charset="0"/>
                                </a:rPr>
                                <m:t>+</m:t>
                              </m:r>
                              <m:r>
                                <a:rPr lang="en-IN" sz="2400" i="1">
                                  <a:solidFill>
                                    <a:srgbClr val="111827"/>
                                  </a:solidFill>
                                  <a:latin typeface="Cambria Math" panose="02040503050406030204" pitchFamily="18" charset="0"/>
                                </a:rPr>
                                <m:t>𝑥</m:t>
                              </m:r>
                            </m:e>
                            <m:e>
                              <m:r>
                                <a:rPr lang="en-IN" sz="2400" i="1">
                                  <a:solidFill>
                                    <a:srgbClr val="111827"/>
                                  </a:solidFill>
                                  <a:latin typeface="Cambria Math" panose="02040503050406030204" pitchFamily="18" charset="0"/>
                                </a:rPr>
                                <m:t>𝑛</m:t>
                              </m:r>
                              <m:r>
                                <m:rPr>
                                  <m:sty m:val="p"/>
                                </m:rPr>
                                <a:rPr lang="en-IN" sz="2400">
                                  <a:solidFill>
                                    <a:srgbClr val="111827"/>
                                  </a:solidFill>
                                  <a:latin typeface="Cambria Math" panose="02040503050406030204" pitchFamily="18" charset="0"/>
                                </a:rPr>
                                <m:t>+</m:t>
                              </m:r>
                              <m:r>
                                <a:rPr lang="en-IN" sz="2400" i="1">
                                  <a:solidFill>
                                    <a:srgbClr val="111827"/>
                                  </a:solidFill>
                                  <a:latin typeface="Cambria Math" panose="02040503050406030204" pitchFamily="18" charset="0"/>
                                </a:rPr>
                                <m:t>𝑥</m:t>
                              </m:r>
                            </m:e>
                          </m:mr>
                          <m:mr>
                            <m:e>
                              <m:r>
                                <a:rPr lang="en-IN" sz="2400" i="1">
                                  <a:solidFill>
                                    <a:srgbClr val="111827"/>
                                  </a:solidFill>
                                  <a:latin typeface="Cambria Math" panose="02040503050406030204" pitchFamily="18" charset="0"/>
                                </a:rPr>
                                <m:t>1</m:t>
                              </m:r>
                            </m:e>
                            <m:e>
                              <m:r>
                                <a:rPr lang="en-IN" sz="2400" i="1">
                                  <a:solidFill>
                                    <a:srgbClr val="111827"/>
                                  </a:solidFill>
                                  <a:latin typeface="Cambria Math" panose="02040503050406030204" pitchFamily="18" charset="0"/>
                                </a:rPr>
                                <m:t>𝑞</m:t>
                              </m:r>
                              <m:r>
                                <m:rPr>
                                  <m:sty m:val="p"/>
                                </m:rPr>
                                <a:rPr lang="en-IN" sz="2400">
                                  <a:solidFill>
                                    <a:srgbClr val="111827"/>
                                  </a:solidFill>
                                  <a:latin typeface="Cambria Math" panose="02040503050406030204" pitchFamily="18" charset="0"/>
                                </a:rPr>
                                <m:t>+</m:t>
                              </m:r>
                              <m:r>
                                <a:rPr lang="en-IN" sz="2400" i="1">
                                  <a:solidFill>
                                    <a:srgbClr val="111827"/>
                                  </a:solidFill>
                                  <a:latin typeface="Cambria Math" panose="02040503050406030204" pitchFamily="18" charset="0"/>
                                </a:rPr>
                                <m:t>𝑥</m:t>
                              </m:r>
                            </m:e>
                            <m:e>
                              <m:r>
                                <a:rPr lang="en-IN" sz="2400" i="1">
                                  <a:solidFill>
                                    <a:srgbClr val="111827"/>
                                  </a:solidFill>
                                  <a:latin typeface="Cambria Math" panose="02040503050406030204" pitchFamily="18" charset="0"/>
                                </a:rPr>
                                <m:t>𝑟</m:t>
                              </m:r>
                              <m:r>
                                <m:rPr>
                                  <m:sty m:val="p"/>
                                </m:rPr>
                                <a:rPr lang="en-IN" sz="2400">
                                  <a:solidFill>
                                    <a:srgbClr val="111827"/>
                                  </a:solidFill>
                                  <a:latin typeface="Cambria Math" panose="02040503050406030204" pitchFamily="18" charset="0"/>
                                </a:rPr>
                                <m:t>+</m:t>
                              </m:r>
                              <m:r>
                                <a:rPr lang="en-IN" sz="2400" i="1">
                                  <a:solidFill>
                                    <a:srgbClr val="111827"/>
                                  </a:solidFill>
                                  <a:latin typeface="Cambria Math" panose="02040503050406030204" pitchFamily="18" charset="0"/>
                                </a:rPr>
                                <m:t>𝑥</m:t>
                              </m:r>
                            </m:e>
                          </m:mr>
                        </m:m>
                      </m:e>
                    </m:d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d>
                      <m:dPr>
                        <m:begChr m:val="|"/>
                        <m:sepChr m:val=""/>
                        <m:endChr m:val="|"/>
                        <m:grow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m>
                          <m:mPr>
                            <m:baseJc m:val="center"/>
                            <m:plcHide m:val="on"/>
                            <m:mcs>
                              <m:mc>
                                <m:mcPr>
                                  <m:count m:val="1"/>
                                  <m:mcJc m:val="center"/>
                                </m:mcPr>
                              </m:mc>
                              <m:mc>
                                <m:mcPr>
                                  <m:count m:val="1"/>
                                  <m:mcJc m:val="center"/>
                                </m:mcPr>
                              </m:mc>
                              <m:mc>
                                <m:mcPr>
                                  <m:count m:val="1"/>
                                  <m:mcJc m:val="center"/>
                                </m:mcPr>
                              </m:mc>
                            </m:mcs>
                            <m:ctrlP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mPr>
                          <m:mr>
                            <m:e>
                              <m:r>
                                <a:rPr lang="en-IN" sz="2400" i="1">
                                  <a:solidFill>
                                    <a:srgbClr val="111827"/>
                                  </a:solidFill>
                                  <a:latin typeface="Cambria Math" panose="02040503050406030204" pitchFamily="18" charset="0"/>
                                </a:rPr>
                                <m:t>𝑎</m:t>
                              </m:r>
                              <m:r>
                                <m:rPr>
                                  <m:sty m:val="p"/>
                                </m:rPr>
                                <a:rPr lang="en-IN" sz="2400">
                                  <a:solidFill>
                                    <a:srgbClr val="111827"/>
                                  </a:solidFill>
                                  <a:latin typeface="Cambria Math" panose="02040503050406030204" pitchFamily="18" charset="0"/>
                                </a:rPr>
                                <m:t>+</m:t>
                              </m:r>
                              <m:r>
                                <a:rPr lang="en-IN" sz="2400" i="1">
                                  <a:solidFill>
                                    <a:srgbClr val="111827"/>
                                  </a:solidFill>
                                  <a:latin typeface="Cambria Math" panose="02040503050406030204" pitchFamily="18" charset="0"/>
                                </a:rPr>
                                <m:t>𝑥</m:t>
                              </m:r>
                            </m:e>
                            <m:e>
                              <m:r>
                                <a:rPr lang="en-IN" sz="2400" i="1">
                                  <a:solidFill>
                                    <a:srgbClr val="111827"/>
                                  </a:solidFill>
                                  <a:latin typeface="Cambria Math" panose="02040503050406030204" pitchFamily="18" charset="0"/>
                                </a:rPr>
                                <m:t>1</m:t>
                              </m:r>
                            </m:e>
                            <m:e>
                              <m:r>
                                <a:rPr lang="en-IN" sz="2400" i="1">
                                  <a:solidFill>
                                    <a:srgbClr val="111827"/>
                                  </a:solidFill>
                                  <a:latin typeface="Cambria Math" panose="02040503050406030204" pitchFamily="18" charset="0"/>
                                </a:rPr>
                                <m:t>𝑐</m:t>
                              </m:r>
                              <m:r>
                                <m:rPr>
                                  <m:sty m:val="p"/>
                                </m:rPr>
                                <a:rPr lang="en-IN" sz="2400">
                                  <a:solidFill>
                                    <a:srgbClr val="111827"/>
                                  </a:solidFill>
                                  <a:latin typeface="Cambria Math" panose="02040503050406030204" pitchFamily="18" charset="0"/>
                                </a:rPr>
                                <m:t>+</m:t>
                              </m:r>
                              <m:r>
                                <a:rPr lang="en-IN" sz="2400" i="1">
                                  <a:solidFill>
                                    <a:srgbClr val="111827"/>
                                  </a:solidFill>
                                  <a:latin typeface="Cambria Math" panose="02040503050406030204" pitchFamily="18" charset="0"/>
                                </a:rPr>
                                <m:t>𝑥</m:t>
                              </m:r>
                            </m:e>
                          </m:mr>
                          <m:mr>
                            <m:e>
                              <m:r>
                                <a:rPr lang="en-IN" sz="2400" i="1">
                                  <a:solidFill>
                                    <a:srgbClr val="111827"/>
                                  </a:solidFill>
                                  <a:latin typeface="Cambria Math" panose="02040503050406030204" pitchFamily="18" charset="0"/>
                                </a:rPr>
                                <m:t>ℓ</m:t>
                              </m:r>
                              <m:r>
                                <m:rPr>
                                  <m:sty m:val="p"/>
                                </m:rPr>
                                <a:rPr lang="en-IN" sz="2400">
                                  <a:solidFill>
                                    <a:srgbClr val="111827"/>
                                  </a:solidFill>
                                  <a:latin typeface="Cambria Math" panose="02040503050406030204" pitchFamily="18" charset="0"/>
                                </a:rPr>
                                <m:t>+</m:t>
                              </m:r>
                              <m:r>
                                <a:rPr lang="en-IN" sz="2400" i="1">
                                  <a:solidFill>
                                    <a:srgbClr val="111827"/>
                                  </a:solidFill>
                                  <a:latin typeface="Cambria Math" panose="02040503050406030204" pitchFamily="18" charset="0"/>
                                </a:rPr>
                                <m:t>𝑥</m:t>
                              </m:r>
                            </m:e>
                            <m:e>
                              <m:r>
                                <a:rPr lang="en-IN" sz="2400" i="1">
                                  <a:solidFill>
                                    <a:srgbClr val="111827"/>
                                  </a:solidFill>
                                  <a:latin typeface="Cambria Math" panose="02040503050406030204" pitchFamily="18" charset="0"/>
                                </a:rPr>
                                <m:t>1</m:t>
                              </m:r>
                            </m:e>
                            <m:e>
                              <m:r>
                                <a:rPr lang="en-IN" sz="2400" i="1">
                                  <a:solidFill>
                                    <a:srgbClr val="111827"/>
                                  </a:solidFill>
                                  <a:latin typeface="Cambria Math" panose="02040503050406030204" pitchFamily="18" charset="0"/>
                                </a:rPr>
                                <m:t>𝑛</m:t>
                              </m:r>
                              <m:r>
                                <m:rPr>
                                  <m:sty m:val="p"/>
                                </m:rPr>
                                <a:rPr lang="en-IN" sz="2400">
                                  <a:solidFill>
                                    <a:srgbClr val="111827"/>
                                  </a:solidFill>
                                  <a:latin typeface="Cambria Math" panose="02040503050406030204" pitchFamily="18" charset="0"/>
                                </a:rPr>
                                <m:t>+</m:t>
                              </m:r>
                              <m:r>
                                <a:rPr lang="en-IN" sz="2400" i="1">
                                  <a:solidFill>
                                    <a:srgbClr val="111827"/>
                                  </a:solidFill>
                                  <a:latin typeface="Cambria Math" panose="02040503050406030204" pitchFamily="18" charset="0"/>
                                </a:rPr>
                                <m:t>𝑥</m:t>
                              </m:r>
                            </m:e>
                          </m:mr>
                          <m:mr>
                            <m:e>
                              <m:r>
                                <a:rPr lang="en-IN" sz="2400" i="1">
                                  <a:solidFill>
                                    <a:srgbClr val="111827"/>
                                  </a:solidFill>
                                  <a:latin typeface="Cambria Math" panose="02040503050406030204" pitchFamily="18" charset="0"/>
                                </a:rPr>
                                <m:t>𝑝</m:t>
                              </m:r>
                              <m:r>
                                <m:rPr>
                                  <m:sty m:val="p"/>
                                </m:rPr>
                                <a:rPr lang="en-IN" sz="2400">
                                  <a:solidFill>
                                    <a:srgbClr val="111827"/>
                                  </a:solidFill>
                                  <a:latin typeface="Cambria Math" panose="02040503050406030204" pitchFamily="18" charset="0"/>
                                </a:rPr>
                                <m:t>+</m:t>
                              </m:r>
                              <m:r>
                                <a:rPr lang="en-IN" sz="2400" i="1">
                                  <a:solidFill>
                                    <a:srgbClr val="111827"/>
                                  </a:solidFill>
                                  <a:latin typeface="Cambria Math" panose="02040503050406030204" pitchFamily="18" charset="0"/>
                                </a:rPr>
                                <m:t>𝑥</m:t>
                              </m:r>
                            </m:e>
                            <m:e>
                              <m:r>
                                <a:rPr lang="en-IN" sz="2400" i="1">
                                  <a:solidFill>
                                    <a:srgbClr val="111827"/>
                                  </a:solidFill>
                                  <a:latin typeface="Cambria Math" panose="02040503050406030204" pitchFamily="18" charset="0"/>
                                </a:rPr>
                                <m:t>1</m:t>
                              </m:r>
                            </m:e>
                            <m:e>
                              <m:r>
                                <a:rPr lang="en-IN" sz="2400" i="1">
                                  <a:solidFill>
                                    <a:srgbClr val="111827"/>
                                  </a:solidFill>
                                  <a:latin typeface="Cambria Math" panose="02040503050406030204" pitchFamily="18" charset="0"/>
                                </a:rPr>
                                <m:t>𝑟</m:t>
                              </m:r>
                              <m:r>
                                <m:rPr>
                                  <m:sty m:val="p"/>
                                </m:rPr>
                                <a:rPr lang="en-IN" sz="2400">
                                  <a:solidFill>
                                    <a:srgbClr val="111827"/>
                                  </a:solidFill>
                                  <a:latin typeface="Cambria Math" panose="02040503050406030204" pitchFamily="18" charset="0"/>
                                </a:rPr>
                                <m:t>+</m:t>
                              </m:r>
                              <m:r>
                                <a:rPr lang="en-IN" sz="2400" i="1">
                                  <a:solidFill>
                                    <a:srgbClr val="111827"/>
                                  </a:solidFill>
                                  <a:latin typeface="Cambria Math" panose="02040503050406030204" pitchFamily="18" charset="0"/>
                                </a:rPr>
                                <m:t>𝑥</m:t>
                              </m:r>
                            </m:e>
                          </m:mr>
                        </m:m>
                      </m:e>
                    </m:d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d>
                      <m:dPr>
                        <m:begChr m:val="|"/>
                        <m:sepChr m:val=""/>
                        <m:endChr m:val="|"/>
                        <m:grow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m>
                          <m:mPr>
                            <m:baseJc m:val="center"/>
                            <m:plcHide m:val="on"/>
                            <m:mcs>
                              <m:mc>
                                <m:mcPr>
                                  <m:count m:val="1"/>
                                  <m:mcJc m:val="center"/>
                                </m:mcPr>
                              </m:mc>
                              <m:mc>
                                <m:mcPr>
                                  <m:count m:val="1"/>
                                  <m:mcJc m:val="center"/>
                                </m:mcPr>
                              </m:mc>
                              <m:mc>
                                <m:mcPr>
                                  <m:count m:val="1"/>
                                  <m:mcJc m:val="center"/>
                                </m:mcPr>
                              </m:mc>
                            </m:mcs>
                            <m:ctrlP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mPr>
                          <m:mr>
                            <m:e>
                              <m:r>
                                <a:rPr lang="en-IN" sz="2400" i="1">
                                  <a:solidFill>
                                    <a:srgbClr val="111827"/>
                                  </a:solidFill>
                                  <a:latin typeface="Cambria Math" panose="02040503050406030204" pitchFamily="18" charset="0"/>
                                </a:rPr>
                                <m:t>𝑎</m:t>
                              </m:r>
                              <m:r>
                                <m:rPr>
                                  <m:sty m:val="p"/>
                                </m:rPr>
                                <a:rPr lang="en-IN" sz="2400">
                                  <a:solidFill>
                                    <a:srgbClr val="111827"/>
                                  </a:solidFill>
                                  <a:latin typeface="Cambria Math" panose="02040503050406030204" pitchFamily="18" charset="0"/>
                                </a:rPr>
                                <m:t>+</m:t>
                              </m:r>
                              <m:r>
                                <a:rPr lang="en-IN" sz="2400" i="1">
                                  <a:solidFill>
                                    <a:srgbClr val="111827"/>
                                  </a:solidFill>
                                  <a:latin typeface="Cambria Math" panose="02040503050406030204" pitchFamily="18" charset="0"/>
                                </a:rPr>
                                <m:t>𝑥</m:t>
                              </m:r>
                            </m:e>
                            <m:e>
                              <m:r>
                                <a:rPr lang="en-IN" sz="2400" i="1">
                                  <a:solidFill>
                                    <a:srgbClr val="111827"/>
                                  </a:solidFill>
                                  <a:latin typeface="Cambria Math" panose="02040503050406030204" pitchFamily="18" charset="0"/>
                                </a:rPr>
                                <m:t>𝑏</m:t>
                              </m:r>
                              <m:r>
                                <m:rPr>
                                  <m:sty m:val="p"/>
                                </m:rPr>
                                <a:rPr lang="en-IN" sz="2400">
                                  <a:solidFill>
                                    <a:srgbClr val="111827"/>
                                  </a:solidFill>
                                  <a:latin typeface="Cambria Math" panose="02040503050406030204" pitchFamily="18" charset="0"/>
                                </a:rPr>
                                <m:t>+</m:t>
                              </m:r>
                              <m:r>
                                <a:rPr lang="en-IN" sz="2400" i="1">
                                  <a:solidFill>
                                    <a:srgbClr val="111827"/>
                                  </a:solidFill>
                                  <a:latin typeface="Cambria Math" panose="02040503050406030204" pitchFamily="18" charset="0"/>
                                </a:rPr>
                                <m:t>𝑥</m:t>
                              </m:r>
                            </m:e>
                            <m:e>
                              <m:r>
                                <a:rPr lang="en-IN" sz="2400" i="1">
                                  <a:solidFill>
                                    <a:srgbClr val="111827"/>
                                  </a:solidFill>
                                  <a:latin typeface="Cambria Math" panose="02040503050406030204" pitchFamily="18" charset="0"/>
                                </a:rPr>
                                <m:t>1</m:t>
                              </m:r>
                            </m:e>
                          </m:mr>
                          <m:mr>
                            <m:e>
                              <m:r>
                                <a:rPr lang="en-IN" sz="2400" i="1">
                                  <a:solidFill>
                                    <a:srgbClr val="111827"/>
                                  </a:solidFill>
                                  <a:latin typeface="Cambria Math" panose="02040503050406030204" pitchFamily="18" charset="0"/>
                                </a:rPr>
                                <m:t>ℓ</m:t>
                              </m:r>
                              <m:r>
                                <m:rPr>
                                  <m:sty m:val="p"/>
                                </m:rPr>
                                <a:rPr lang="en-IN" sz="2400">
                                  <a:solidFill>
                                    <a:srgbClr val="111827"/>
                                  </a:solidFill>
                                  <a:latin typeface="Cambria Math" panose="02040503050406030204" pitchFamily="18" charset="0"/>
                                </a:rPr>
                                <m:t>+</m:t>
                              </m:r>
                              <m:r>
                                <a:rPr lang="en-IN" sz="2400" i="1">
                                  <a:solidFill>
                                    <a:srgbClr val="111827"/>
                                  </a:solidFill>
                                  <a:latin typeface="Cambria Math" panose="02040503050406030204" pitchFamily="18" charset="0"/>
                                </a:rPr>
                                <m:t>𝑥</m:t>
                              </m:r>
                            </m:e>
                            <m:e>
                              <m:r>
                                <a:rPr lang="en-IN" sz="2400" i="1">
                                  <a:solidFill>
                                    <a:srgbClr val="111827"/>
                                  </a:solidFill>
                                  <a:latin typeface="Cambria Math" panose="02040503050406030204" pitchFamily="18" charset="0"/>
                                </a:rPr>
                                <m:t>𝑚</m:t>
                              </m:r>
                              <m:r>
                                <m:rPr>
                                  <m:sty m:val="p"/>
                                </m:rPr>
                                <a:rPr lang="en-IN" sz="2400">
                                  <a:solidFill>
                                    <a:srgbClr val="111827"/>
                                  </a:solidFill>
                                  <a:latin typeface="Cambria Math" panose="02040503050406030204" pitchFamily="18" charset="0"/>
                                </a:rPr>
                                <m:t>+</m:t>
                              </m:r>
                              <m:r>
                                <a:rPr lang="en-IN" sz="2400" i="1">
                                  <a:solidFill>
                                    <a:srgbClr val="111827"/>
                                  </a:solidFill>
                                  <a:latin typeface="Cambria Math" panose="02040503050406030204" pitchFamily="18" charset="0"/>
                                </a:rPr>
                                <m:t>𝑥</m:t>
                              </m:r>
                            </m:e>
                            <m:e>
                              <m:r>
                                <a:rPr lang="en-IN" sz="2400" i="1">
                                  <a:solidFill>
                                    <a:srgbClr val="111827"/>
                                  </a:solidFill>
                                  <a:latin typeface="Cambria Math" panose="02040503050406030204" pitchFamily="18" charset="0"/>
                                </a:rPr>
                                <m:t>1</m:t>
                              </m:r>
                            </m:e>
                          </m:mr>
                          <m:mr>
                            <m:e>
                              <m:r>
                                <a:rPr lang="en-IN" sz="2400" i="1">
                                  <a:solidFill>
                                    <a:srgbClr val="111827"/>
                                  </a:solidFill>
                                  <a:latin typeface="Cambria Math" panose="02040503050406030204" pitchFamily="18" charset="0"/>
                                </a:rPr>
                                <m:t>𝑝</m:t>
                              </m:r>
                              <m:r>
                                <m:rPr>
                                  <m:sty m:val="p"/>
                                </m:rPr>
                                <a:rPr lang="en-IN" sz="2400">
                                  <a:solidFill>
                                    <a:srgbClr val="111827"/>
                                  </a:solidFill>
                                  <a:latin typeface="Cambria Math" panose="02040503050406030204" pitchFamily="18" charset="0"/>
                                </a:rPr>
                                <m:t>+</m:t>
                              </m:r>
                              <m:r>
                                <a:rPr lang="en-IN" sz="2400" i="1">
                                  <a:solidFill>
                                    <a:srgbClr val="111827"/>
                                  </a:solidFill>
                                  <a:latin typeface="Cambria Math" panose="02040503050406030204" pitchFamily="18" charset="0"/>
                                </a:rPr>
                                <m:t>𝑥</m:t>
                              </m:r>
                            </m:e>
                            <m:e>
                              <m:r>
                                <a:rPr lang="en-IN" sz="2400" i="1">
                                  <a:solidFill>
                                    <a:srgbClr val="111827"/>
                                  </a:solidFill>
                                  <a:latin typeface="Cambria Math" panose="02040503050406030204" pitchFamily="18" charset="0"/>
                                </a:rPr>
                                <m:t>𝑞</m:t>
                              </m:r>
                              <m:r>
                                <m:rPr>
                                  <m:sty m:val="p"/>
                                </m:rPr>
                                <a:rPr lang="en-IN" sz="2400">
                                  <a:solidFill>
                                    <a:srgbClr val="111827"/>
                                  </a:solidFill>
                                  <a:latin typeface="Cambria Math" panose="02040503050406030204" pitchFamily="18" charset="0"/>
                                </a:rPr>
                                <m:t>+</m:t>
                              </m:r>
                              <m:r>
                                <a:rPr lang="en-IN" sz="2400" i="1">
                                  <a:solidFill>
                                    <a:srgbClr val="111827"/>
                                  </a:solidFill>
                                  <a:latin typeface="Cambria Math" panose="02040503050406030204" pitchFamily="18" charset="0"/>
                                </a:rPr>
                                <m:t>𝑥</m:t>
                              </m:r>
                            </m:e>
                            <m:e>
                              <m:r>
                                <a:rPr lang="en-IN" sz="2400" i="1">
                                  <a:solidFill>
                                    <a:srgbClr val="111827"/>
                                  </a:solidFill>
                                  <a:latin typeface="Cambria Math" panose="02040503050406030204" pitchFamily="18" charset="0"/>
                                </a:rPr>
                                <m:t>1</m:t>
                              </m:r>
                            </m:e>
                          </m:mr>
                        </m:m>
                      </m:e>
                    </m:d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In the first determinant apply </a:t>
                </a:r>
                <a14:m>
                  <m:oMath xmlns:m="http://schemas.openxmlformats.org/officeDocument/2006/math">
                    <m:sSub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𝐶</m:t>
                        </m:r>
                      </m:e>
                      <m:sub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b>
                    </m:sSub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→</m:t>
                    </m:r>
                    <m:sSub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𝐶</m:t>
                        </m:r>
                      </m:e>
                      <m:sub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b>
                    </m:sSub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sSub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𝐶</m:t>
                        </m:r>
                      </m:e>
                      <m:sub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sub>
                    </m:sSub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</a:t>
                </a:r>
                <a14:m>
                  <m:oMath xmlns:m="http://schemas.openxmlformats.org/officeDocument/2006/math">
                    <m:sSub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𝐶</m:t>
                        </m:r>
                      </m:e>
                      <m:sub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3</m:t>
                        </m:r>
                      </m:sub>
                    </m:sSub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→</m:t>
                    </m:r>
                    <m:sSub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𝐶</m:t>
                        </m:r>
                      </m:e>
                      <m:sub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3</m:t>
                        </m:r>
                      </m:sub>
                    </m:sSub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sSub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𝐶</m:t>
                        </m:r>
                      </m:e>
                      <m:sub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sub>
                    </m:sSub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: it equals </a:t>
                </a:r>
                <a14:m>
                  <m:oMath xmlns:m="http://schemas.openxmlformats.org/officeDocument/2006/math">
                    <m:d>
                      <m:dPr>
                        <m:begChr m:val="|"/>
                        <m:sepChr m:val=""/>
                        <m:endChr m:val="|"/>
                        <m:grow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m>
                          <m:mPr>
                            <m:baseJc m:val="center"/>
                            <m:plcHide m:val="on"/>
                            <m:mcs>
                              <m:mc>
                                <m:mcPr>
                                  <m:count m:val="1"/>
                                  <m:mcJc m:val="center"/>
                                </m:mcPr>
                              </m:mc>
                              <m:mc>
                                <m:mcPr>
                                  <m:count m:val="1"/>
                                  <m:mcJc m:val="center"/>
                                </m:mcPr>
                              </m:mc>
                              <m:mc>
                                <m:mcPr>
                                  <m:count m:val="1"/>
                                  <m:mcJc m:val="center"/>
                                </m:mcPr>
                              </m:mc>
                            </m:mcs>
                            <m:ctrlP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mPr>
                          <m:mr>
                            <m:e>
                              <m:r>
                                <a:rPr lang="en-IN" sz="2400" i="1">
                                  <a:solidFill>
                                    <a:srgbClr val="111827"/>
                                  </a:solidFill>
                                  <a:latin typeface="Cambria Math" panose="02040503050406030204" pitchFamily="18" charset="0"/>
                                </a:rPr>
                                <m:t>1</m:t>
                              </m:r>
                            </m:e>
                            <m:e>
                              <m:r>
                                <a:rPr lang="en-IN" sz="2400" i="1">
                                  <a:solidFill>
                                    <a:srgbClr val="111827"/>
                                  </a:solidFill>
                                  <a:latin typeface="Cambria Math" panose="02040503050406030204" pitchFamily="18" charset="0"/>
                                </a:rPr>
                                <m:t>𝑏</m:t>
                              </m:r>
                            </m:e>
                            <m:e>
                              <m:r>
                                <a:rPr lang="en-IN" sz="2400" i="1">
                                  <a:solidFill>
                                    <a:srgbClr val="111827"/>
                                  </a:solidFill>
                                  <a:latin typeface="Cambria Math" panose="02040503050406030204" pitchFamily="18" charset="0"/>
                                </a:rPr>
                                <m:t>𝑐</m:t>
                              </m:r>
                            </m:e>
                          </m:mr>
                          <m:mr>
                            <m:e>
                              <m:r>
                                <a:rPr lang="en-IN" sz="2400" i="1">
                                  <a:solidFill>
                                    <a:srgbClr val="111827"/>
                                  </a:solidFill>
                                  <a:latin typeface="Cambria Math" panose="02040503050406030204" pitchFamily="18" charset="0"/>
                                </a:rPr>
                                <m:t>1</m:t>
                              </m:r>
                            </m:e>
                            <m:e>
                              <m:r>
                                <a:rPr lang="en-IN" sz="2400" i="1">
                                  <a:solidFill>
                                    <a:srgbClr val="111827"/>
                                  </a:solidFill>
                                  <a:latin typeface="Cambria Math" panose="02040503050406030204" pitchFamily="18" charset="0"/>
                                </a:rPr>
                                <m:t>𝑚</m:t>
                              </m:r>
                            </m:e>
                            <m:e>
                              <m:r>
                                <a:rPr lang="en-IN" sz="2400" i="1">
                                  <a:solidFill>
                                    <a:srgbClr val="111827"/>
                                  </a:solidFill>
                                  <a:latin typeface="Cambria Math" panose="02040503050406030204" pitchFamily="18" charset="0"/>
                                </a:rPr>
                                <m:t>𝑛</m:t>
                              </m:r>
                            </m:e>
                          </m:mr>
                          <m:mr>
                            <m:e>
                              <m:r>
                                <a:rPr lang="en-IN" sz="2400" i="1">
                                  <a:solidFill>
                                    <a:srgbClr val="111827"/>
                                  </a:solidFill>
                                  <a:latin typeface="Cambria Math" panose="02040503050406030204" pitchFamily="18" charset="0"/>
                                </a:rPr>
                                <m:t>1</m:t>
                              </m:r>
                            </m:e>
                            <m:e>
                              <m:r>
                                <a:rPr lang="en-IN" sz="2400" i="1">
                                  <a:solidFill>
                                    <a:srgbClr val="111827"/>
                                  </a:solidFill>
                                  <a:latin typeface="Cambria Math" panose="02040503050406030204" pitchFamily="18" charset="0"/>
                                </a:rPr>
                                <m:t>𝑞</m:t>
                              </m:r>
                            </m:e>
                            <m:e>
                              <m:r>
                                <a:rPr lang="en-IN" sz="2400" i="1">
                                  <a:solidFill>
                                    <a:srgbClr val="111827"/>
                                  </a:solidFill>
                                  <a:latin typeface="Cambria Math" panose="02040503050406030204" pitchFamily="18" charset="0"/>
                                </a:rPr>
                                <m:t>𝑟</m:t>
                              </m:r>
                            </m:e>
                          </m:mr>
                        </m:m>
                      </m:e>
                    </m:d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Expanding along column 1: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𝑚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𝑟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𝑛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𝑞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𝑏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𝑟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𝑐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𝑞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𝑏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𝑛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𝑐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𝑚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which is </a:t>
                </a:r>
                <a14:m>
                  <m:oMath xmlns:m="http://schemas.openxmlformats.org/officeDocument/2006/math">
                    <m:sSub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𝐴</m:t>
                        </m:r>
                      </m:e>
                      <m:sub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11</m:t>
                        </m:r>
                      </m:sub>
                    </m:sSub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sSub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𝐴</m:t>
                        </m:r>
                      </m:e>
                      <m:sub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21</m:t>
                        </m:r>
                      </m:sub>
                    </m:sSub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sSub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𝐴</m:t>
                        </m:r>
                      </m:e>
                      <m:sub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31</m:t>
                        </m:r>
                      </m:sub>
                    </m:sSub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the sum of the cofactors of the first column of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𝑓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0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Choice>
        <mc:Fallback>
          <p:sp>
            <p:nvSpPr>
              <p:cNvPr id="4" name="Rectangle 3"/>
              <p:cNvSpPr/>
              <p:nvPr/>
            </p:nvSpPr>
            <p:spPr>
              <a:xfrm>
                <a:off x="731520" y="1353312"/>
                <a:ext cx="10725912" cy="5321808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To identify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$k$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differentiate the original determinant column by column: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$f'(x)=\left|\begin{matrix}1&amp;b+x&amp;c+x\\ 1&amp;m+x&amp;n+x\\ 1&amp;q+x&amp;r+x\end{matrix}\right|+\left|\begin{matrix}a+x&amp;1&amp;c+x\\ \ell+x&amp;1&amp;n+x\\ p+x&amp;1&amp;r+x\end{matrix}\right|+\left|\begin{matrix}a+x&amp;b+x&amp;1\\ \ell+x&amp;m+x&amp;1\\ p+x&amp;q+x&amp;1\end{matrix}\right|$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In the first determinant apply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$C_2\to C_2-xC_1$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$C_3\to C_3-xC_1$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: it equals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$\left|\begin{matrix}1&amp;b&amp;c\\ 1&amp;m&amp;n\\ 1&amp;q&amp;r\end{matrix}\right|$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Expanding along column 1: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$(mr-nq)-(br-cq)+(bn-cm)$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which is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$A_{11}+A_{21}+A_{31}$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the sum of the cofactors of the first column of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$f(0)$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Fallback>
      </mc:AlternateContent>
    </p:spTree>
  </p:cSld>
  <p:clrMapOvr>
    <a:masterClrMapping/>
  </p:clrMapOvr>
</p:sld>
</file>

<file path=ppt/slides/slide7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FFFFFF"/>
          </a:fontRef>
        </p:style>
        <p:txBody>
          <a:bodyPr rtlCol="0" anchor="ctr" lIns="731520"/>
          <a:lstStyle>
            <a:lvl1pPr>
              <a:defRPr sz="3200">
                <a:solidFill>
                  <a:srgbClr val="FFFFFF"/>
                </a:solidFill>
              </a:defRPr>
            </a:lvl1pPr>
          </a:lstStyle>
          <a:p>
            <a:pPr algn="l">
              <a:defRPr sz="3200">
                <a:solidFill>
                  <a:srgbClr val="FFFFFF"/>
                </a:solidFill>
              </a:defRPr>
            </a:pPr>
            <a:r>
              <a:rPr sz="3200" b="1">
                <a:solidFill>
                  <a:srgbClr val="FFFFFF"/>
                </a:solidFill>
                <a:latin typeface="Arial"/>
              </a:rPr>
              <a:t>Question 11</a:t>
            </a:r>
            <a:endParaRPr sz="3200">
              <a:solidFill>
                <a:srgbClr val="FFFFFF"/>
              </a:solidFill>
            </a:endParaRPr>
          </a:p>
        </p:txBody>
      </p:sp>
      <p:sp>
        <p:nvSpPr>
          <p:cNvPr id="3" name="Rounded Rectangle 2"/>
          <p:cNvSpPr/>
          <p:nvPr/>
        </p:nvSpPr>
        <p:spPr>
          <a:xfrm>
            <a:off x="7894015" y="246887"/>
            <a:ext cx="3840480" cy="603504"/>
          </a:xfrm>
          <a:prstGeom prst="roundRect">
            <a:avLst>
              <a:gd name="adj" fmla="val 50000"/>
            </a:avLst>
          </a:prstGeom>
          <a:solidFill>
            <a:srgbClr val="F6B26B"/>
          </a:solidFill>
          <a:ln w="1905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111827"/>
          </a:fontRef>
        </p:style>
        <p:txBody>
          <a:bodyPr rtlCol="0" anchor="ctr" wrap="square" lIns="228600" rIns="228600" tIns="18288" bIns="18288"/>
          <a:lstStyle>
            <a:lvl1pPr>
              <a:defRPr sz="2400">
                <a:solidFill>
                  <a:srgbClr val="111827"/>
                </a:solidFill>
              </a:defRPr>
            </a:lvl1pPr>
          </a:lstStyle>
          <a:p>
            <a:pPr algn="ctr">
              <a:defRPr sz="2400">
                <a:solidFill>
                  <a:srgbClr val="111827"/>
                </a:solidFill>
              </a:defRPr>
            </a:pPr>
            <a:r>
              <a:rPr sz="2400" b="1">
                <a:solidFill>
                  <a:srgbClr val="111827"/>
                </a:solidFill>
                <a:latin typeface="Arial"/>
              </a:rPr>
              <a:t>Level 3  ·  4 Marks</a:t>
            </a:r>
            <a:endParaRPr sz="2400">
              <a:solidFill>
                <a:srgbClr val="111827"/>
              </a:solidFill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4" name="Rectangle 3"/>
              <p:cNvSpPr/>
              <p:nvPr/>
            </p:nvSpPr>
            <p:spPr>
              <a:xfrm>
                <a:off x="731520" y="1353312"/>
                <a:ext cx="10725912" cy="4434840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Similarly the second determinant equals the sum of the cofactors of the second column of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𝑓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0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and the third equals that of the third column.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Hence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𝑘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sum of all cofactors of the elements of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𝑓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0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and </a:t>
                </a:r>
                <a14:m>
                  <m:oMath xmlns:m="http://schemas.openxmlformats.org/officeDocument/2006/math"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𝑓</m:t>
                        </m:r>
                      </m:e>
                      <m:sup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′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𝑘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Integrate: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𝑓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𝑘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𝑐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 Put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0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: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𝑐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𝑓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0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 Therefore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𝑓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𝑓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0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𝑘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Choice>
        <mc:Fallback>
          <p:sp>
            <p:nvSpPr>
              <p:cNvPr id="4" name="Rectangle 3"/>
              <p:cNvSpPr/>
              <p:nvPr/>
            </p:nvSpPr>
            <p:spPr>
              <a:xfrm>
                <a:off x="731520" y="1353312"/>
                <a:ext cx="10725912" cy="4434840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Similarly the second determinant equals the sum of the cofactors of the second column of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$f(0)$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and the third equals that of the third column.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Hence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$k=$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sum of all cofactors of the elements of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$f(0)$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and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$f'(x)=k$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Integrate: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$f(x)=kx+c$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 Put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$x=0$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: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$c=f(0)$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 Therefore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$f(x)=f(0)+kx$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5" name="Rounded Rectangle 4"/>
              <p:cNvSpPr/>
              <p:nvPr/>
            </p:nvSpPr>
            <p:spPr>
              <a:xfrm>
                <a:off x="731520" y="5897880"/>
                <a:ext cx="10725912" cy="777240"/>
              </a:xfrm>
              <a:prstGeom prst="roundRect">
                <a:avLst>
                  <a:gd name="adj" fmla="val 8000"/>
                </a:avLst>
              </a:prstGeom>
              <a:solidFill>
                <a:srgbClr val="DCFCE7"/>
              </a:solidFill>
              <a:ln w="25400">
                <a:solidFill>
                  <a:srgbClr val="15803D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5803D"/>
              </a:fontRef>
            </p:style>
            <p:txBody>
              <a:bodyPr rtlCol="0" anchor="ctr" wrap="square" lIns="228600" rIns="228600" tIns="18288" bIns="73152"/>
              <a:lstStyle>
                <a:lvl1pPr>
                  <a:defRPr sz="2800">
                    <a:solidFill>
                      <a:srgbClr val="15803D"/>
                    </a:solidFill>
                  </a:defRPr>
                </a:lvl1pPr>
              </a:lstStyle>
              <a:p>
                <a:pPr algn="ctr">
                  <a:defRPr sz="2800">
                    <a:solidFill>
                      <a:srgbClr val="15803D"/>
                    </a:solidFill>
                  </a:defRPr>
                </a:pPr>
                <a:r>
                  <a:rPr sz="2800" b="1">
                    <a:solidFill>
                      <a:srgbClr val="15803D"/>
                    </a:solidFill>
                    <a:latin typeface="Arial"/>
                  </a:rPr>
                  <a:t>Correct Answer: Shown: </a:t>
                </a:r>
                <a14:m>
                  <m:oMath xmlns:m="http://schemas.openxmlformats.org/officeDocument/2006/math">
                    <m:sSup>
                      <m:e>
                        <m:r>
                          <a:rPr lang="en-IN" sz="2800" i="1">
                            <a:solidFill>
                              <a:srgbClr val="15803D"/>
                            </a:solidFill>
                            <a:latin typeface="Cambria Math" panose="02040503050406030204" pitchFamily="18" charset="0"/>
                          </a:rPr>
                          <m:t>𝑓</m:t>
                        </m:r>
                      </m:e>
                      <m:sup>
                        <m:r>
                          <m:rPr>
                            <m:sty m:val="p"/>
                          </m:rPr>
                          <a:rPr lang="en-IN" sz="2800">
                            <a:solidFill>
                              <a:srgbClr val="15803D"/>
                            </a:solidFill>
                            <a:latin typeface="Cambria Math" panose="02040503050406030204" pitchFamily="18" charset="0"/>
                          </a:rPr>
                          <m:t>″</m:t>
                        </m:r>
                      </m:sup>
                    </m:sSup>
                    <m:r>
                      <m:rPr>
                        <m:sty m:val="p"/>
                      </m:rPr>
                      <a:rPr lang="en-IN" sz="2800">
                        <a:solidFill>
                          <a:srgbClr val="15803D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800" i="1">
                        <a:solidFill>
                          <a:srgbClr val="15803D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800">
                        <a:solidFill>
                          <a:srgbClr val="15803D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800">
                        <a:solidFill>
                          <a:srgbClr val="15803D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800" i="1">
                        <a:solidFill>
                          <a:srgbClr val="15803D"/>
                        </a:solidFill>
                        <a:latin typeface="Cambria Math" panose="02040503050406030204" pitchFamily="18" charset="0"/>
                      </a:rPr>
                      <m:t>0</m:t>
                    </m:r>
                  </m:oMath>
                </a14:m>
                <a:r>
                  <a:rPr sz="2800" b="1">
                    <a:solidFill>
                      <a:srgbClr val="15803D"/>
                    </a:solidFill>
                    <a:latin typeface="Arial"/>
                  </a:rPr>
                  <a:t> and </a:t>
                </a:r>
                <a14:m>
                  <m:oMath xmlns:m="http://schemas.openxmlformats.org/officeDocument/2006/math">
                    <m:r>
                      <a:rPr lang="en-IN" sz="2800" i="1">
                        <a:solidFill>
                          <a:srgbClr val="15803D"/>
                        </a:solidFill>
                        <a:latin typeface="Cambria Math" panose="02040503050406030204" pitchFamily="18" charset="0"/>
                      </a:rPr>
                      <m:t>𝑓</m:t>
                    </m:r>
                    <m:r>
                      <m:rPr>
                        <m:sty m:val="p"/>
                      </m:rPr>
                      <a:rPr lang="en-IN" sz="2800">
                        <a:solidFill>
                          <a:srgbClr val="15803D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800" i="1">
                        <a:solidFill>
                          <a:srgbClr val="15803D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800">
                        <a:solidFill>
                          <a:srgbClr val="15803D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800">
                        <a:solidFill>
                          <a:srgbClr val="15803D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800" i="1">
                        <a:solidFill>
                          <a:srgbClr val="15803D"/>
                        </a:solidFill>
                        <a:latin typeface="Cambria Math" panose="02040503050406030204" pitchFamily="18" charset="0"/>
                      </a:rPr>
                      <m:t>𝑓</m:t>
                    </m:r>
                    <m:r>
                      <m:rPr>
                        <m:sty m:val="p"/>
                      </m:rPr>
                      <a:rPr lang="en-IN" sz="2800">
                        <a:solidFill>
                          <a:srgbClr val="15803D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800" i="1">
                        <a:solidFill>
                          <a:srgbClr val="15803D"/>
                        </a:solidFill>
                        <a:latin typeface="Cambria Math" panose="02040503050406030204" pitchFamily="18" charset="0"/>
                      </a:rPr>
                      <m:t>0</m:t>
                    </m:r>
                    <m:r>
                      <m:rPr>
                        <m:sty m:val="p"/>
                      </m:rPr>
                      <a:rPr lang="en-IN" sz="2800">
                        <a:solidFill>
                          <a:srgbClr val="15803D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800">
                        <a:solidFill>
                          <a:srgbClr val="15803D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800" i="1">
                        <a:solidFill>
                          <a:srgbClr val="15803D"/>
                        </a:solidFill>
                        <a:latin typeface="Cambria Math" panose="02040503050406030204" pitchFamily="18" charset="0"/>
                      </a:rPr>
                      <m:t>𝑘</m:t>
                    </m:r>
                    <m:r>
                      <a:rPr lang="en-IN" sz="2800" i="1">
                        <a:solidFill>
                          <a:srgbClr val="15803D"/>
                        </a:solidFill>
                        <a:latin typeface="Cambria Math" panose="02040503050406030204" pitchFamily="18" charset="0"/>
                      </a:rPr>
                      <m:t>𝑥</m:t>
                    </m:r>
                  </m:oMath>
                </a14:m>
                <a:r>
                  <a:rPr sz="2800" b="1">
                    <a:solidFill>
                      <a:srgbClr val="15803D"/>
                    </a:solidFill>
                    <a:latin typeface="Arial"/>
                  </a:rPr>
                  <a:t> with </a:t>
                </a:r>
                <a14:m>
                  <m:oMath xmlns:m="http://schemas.openxmlformats.org/officeDocument/2006/math">
                    <m:r>
                      <a:rPr lang="en-IN" sz="2800" i="1">
                        <a:solidFill>
                          <a:srgbClr val="15803D"/>
                        </a:solidFill>
                        <a:latin typeface="Cambria Math" panose="02040503050406030204" pitchFamily="18" charset="0"/>
                      </a:rPr>
                      <m:t>𝑘</m:t>
                    </m:r>
                    <m:r>
                      <m:rPr>
                        <m:sty m:val="p"/>
                      </m:rPr>
                      <a:rPr lang="en-IN" sz="2800">
                        <a:solidFill>
                          <a:srgbClr val="15803D"/>
                        </a:solidFill>
                        <a:latin typeface="Cambria Math" panose="02040503050406030204" pitchFamily="18" charset="0"/>
                      </a:rPr>
                      <m:t>=</m:t>
                    </m:r>
                  </m:oMath>
                </a14:m>
                <a:r>
                  <a:rPr sz="2800" b="1">
                    <a:solidFill>
                      <a:srgbClr val="15803D"/>
                    </a:solidFill>
                    <a:latin typeface="Arial"/>
                  </a:rPr>
                  <a:t> sum of all cofactors of </a:t>
                </a:r>
                <a14:m>
                  <m:oMath xmlns:m="http://schemas.openxmlformats.org/officeDocument/2006/math">
                    <m:r>
                      <a:rPr lang="en-IN" sz="2800" i="1">
                        <a:solidFill>
                          <a:srgbClr val="15803D"/>
                        </a:solidFill>
                        <a:latin typeface="Cambria Math" panose="02040503050406030204" pitchFamily="18" charset="0"/>
                      </a:rPr>
                      <m:t>𝑓</m:t>
                    </m:r>
                    <m:r>
                      <m:rPr>
                        <m:sty m:val="p"/>
                      </m:rPr>
                      <a:rPr lang="en-IN" sz="2800">
                        <a:solidFill>
                          <a:srgbClr val="15803D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800" i="1">
                        <a:solidFill>
                          <a:srgbClr val="15803D"/>
                        </a:solidFill>
                        <a:latin typeface="Cambria Math" panose="02040503050406030204" pitchFamily="18" charset="0"/>
                      </a:rPr>
                      <m:t>0</m:t>
                    </m:r>
                    <m:r>
                      <m:rPr>
                        <m:sty m:val="p"/>
                      </m:rPr>
                      <a:rPr lang="en-IN" sz="2800">
                        <a:solidFill>
                          <a:srgbClr val="15803D"/>
                        </a:solidFill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endParaRPr sz="2800">
                  <a:solidFill>
                    <a:srgbClr val="15803D"/>
                  </a:solidFill>
                </a:endParaRPr>
              </a:p>
            </p:txBody>
          </p:sp>
        </mc:Choice>
        <mc:Fallback>
          <p:sp>
            <p:nvSpPr>
              <p:cNvPr id="5" name="Rounded Rectangle 4"/>
              <p:cNvSpPr/>
              <p:nvPr/>
            </p:nvSpPr>
            <p:spPr>
              <a:xfrm>
                <a:off x="731520" y="5897880"/>
                <a:ext cx="10725912" cy="777240"/>
              </a:xfrm>
              <a:prstGeom prst="roundRect">
                <a:avLst>
                  <a:gd name="adj" fmla="val 8000"/>
                </a:avLst>
              </a:prstGeom>
              <a:solidFill>
                <a:srgbClr val="DCFCE7"/>
              </a:solidFill>
              <a:ln w="25400">
                <a:solidFill>
                  <a:srgbClr val="15803D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5803D"/>
              </a:fontRef>
            </p:style>
            <p:txBody>
              <a:bodyPr rtlCol="0" anchor="ctr" wrap="square" lIns="228600" rIns="228600" tIns="18288" bIns="73152"/>
              <a:lstStyle>
                <a:lvl1pPr>
                  <a:defRPr sz="2800">
                    <a:solidFill>
                      <a:srgbClr val="15803D"/>
                    </a:solidFill>
                  </a:defRPr>
                </a:lvl1pPr>
              </a:lstStyle>
              <a:p>
                <a:pPr algn="ctr">
                  <a:defRPr sz="2800">
                    <a:solidFill>
                      <a:srgbClr val="15803D"/>
                    </a:solidFill>
                  </a:defRPr>
                </a:pPr>
                <a:r>
                  <a:rPr sz="2800" b="1">
                    <a:solidFill>
                      <a:srgbClr val="15803D"/>
                    </a:solidFill>
                    <a:latin typeface="Arial"/>
                  </a:rPr>
                  <a:t>Correct Answer: Shown: </a:t>
                </a:r>
                <a:r>
                  <a:rPr lang="en-IN" sz="2800">
                    <a:solidFill>
                      <a:srgbClr val="15803D"/>
                    </a:solidFill>
                    <a:latin typeface="Cambria Math" panose="02040503050406030204" pitchFamily="18" charset="0"/>
                  </a:rPr>
                  <a:t>$f''(x)=0$</a:t>
                </a:r>
                <a:r>
                  <a:rPr sz="2800" b="1">
                    <a:solidFill>
                      <a:srgbClr val="15803D"/>
                    </a:solidFill>
                    <a:latin typeface="Arial"/>
                  </a:rPr>
                  <a:t> and </a:t>
                </a:r>
                <a:r>
                  <a:rPr lang="en-IN" sz="2800">
                    <a:solidFill>
                      <a:srgbClr val="15803D"/>
                    </a:solidFill>
                    <a:latin typeface="Cambria Math" panose="02040503050406030204" pitchFamily="18" charset="0"/>
                  </a:rPr>
                  <a:t>$f(x)=f(0)+kx$</a:t>
                </a:r>
                <a:r>
                  <a:rPr sz="2800" b="1">
                    <a:solidFill>
                      <a:srgbClr val="15803D"/>
                    </a:solidFill>
                    <a:latin typeface="Arial"/>
                  </a:rPr>
                  <a:t> with </a:t>
                </a:r>
                <a:r>
                  <a:rPr lang="en-IN" sz="2800">
                    <a:solidFill>
                      <a:srgbClr val="15803D"/>
                    </a:solidFill>
                    <a:latin typeface="Cambria Math" panose="02040503050406030204" pitchFamily="18" charset="0"/>
                  </a:rPr>
                  <a:t>$k=$</a:t>
                </a:r>
                <a:r>
                  <a:rPr sz="2800" b="1">
                    <a:solidFill>
                      <a:srgbClr val="15803D"/>
                    </a:solidFill>
                    <a:latin typeface="Arial"/>
                  </a:rPr>
                  <a:t> sum of all cofactors of </a:t>
                </a:r>
                <a:r>
                  <a:rPr lang="en-IN" sz="2800">
                    <a:solidFill>
                      <a:srgbClr val="15803D"/>
                    </a:solidFill>
                    <a:latin typeface="Cambria Math" panose="02040503050406030204" pitchFamily="18" charset="0"/>
                  </a:rPr>
                  <a:t>$f(0)$</a:t>
                </a:r>
                <a:endParaRPr sz="2800">
                  <a:solidFill>
                    <a:srgbClr val="15803D"/>
                  </a:solidFill>
                </a:endParaRPr>
              </a:p>
            </p:txBody>
          </p:sp>
        </mc:Fallback>
      </mc:AlternateContent>
    </p:spTree>
  </p:cSld>
  <p:clrMapOvr>
    <a:masterClrMapping/>
  </p:clrMapOvr>
</p:sld>
</file>

<file path=ppt/slides/slide7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FFFFFF"/>
          </a:fontRef>
        </p:style>
        <p:txBody>
          <a:bodyPr rtlCol="0" anchor="ctr" lIns="731520"/>
          <a:lstStyle>
            <a:lvl1pPr>
              <a:defRPr sz="3200">
                <a:solidFill>
                  <a:srgbClr val="FFFFFF"/>
                </a:solidFill>
              </a:defRPr>
            </a:lvl1pPr>
          </a:lstStyle>
          <a:p>
            <a:pPr algn="l">
              <a:defRPr sz="3200">
                <a:solidFill>
                  <a:srgbClr val="FFFFFF"/>
                </a:solidFill>
              </a:defRPr>
            </a:pPr>
            <a:r>
              <a:rPr sz="3200" b="1">
                <a:solidFill>
                  <a:srgbClr val="FFFFFF"/>
                </a:solidFill>
                <a:latin typeface="Arial"/>
              </a:rPr>
              <a:t>Question 11</a:t>
            </a:r>
            <a:endParaRPr sz="3200">
              <a:solidFill>
                <a:srgbClr val="FFFFFF"/>
              </a:solidFill>
            </a:endParaRPr>
          </a:p>
        </p:txBody>
      </p:sp>
      <p:sp>
        <p:nvSpPr>
          <p:cNvPr id="3" name="Rounded Rectangle 2"/>
          <p:cNvSpPr/>
          <p:nvPr/>
        </p:nvSpPr>
        <p:spPr>
          <a:xfrm>
            <a:off x="7894015" y="246887"/>
            <a:ext cx="3840480" cy="603504"/>
          </a:xfrm>
          <a:prstGeom prst="roundRect">
            <a:avLst>
              <a:gd name="adj" fmla="val 50000"/>
            </a:avLst>
          </a:prstGeom>
          <a:solidFill>
            <a:srgbClr val="F6B26B"/>
          </a:solidFill>
          <a:ln w="1905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111827"/>
          </a:fontRef>
        </p:style>
        <p:txBody>
          <a:bodyPr rtlCol="0" anchor="ctr" wrap="square" lIns="228600" rIns="228600" tIns="18288" bIns="18288"/>
          <a:lstStyle>
            <a:lvl1pPr>
              <a:defRPr sz="2400">
                <a:solidFill>
                  <a:srgbClr val="111827"/>
                </a:solidFill>
              </a:defRPr>
            </a:lvl1pPr>
          </a:lstStyle>
          <a:p>
            <a:pPr algn="ctr">
              <a:defRPr sz="2400">
                <a:solidFill>
                  <a:srgbClr val="111827"/>
                </a:solidFill>
              </a:defRPr>
            </a:pPr>
            <a:r>
              <a:rPr sz="2400" b="1">
                <a:solidFill>
                  <a:srgbClr val="111827"/>
                </a:solidFill>
                <a:latin typeface="Arial"/>
              </a:rPr>
              <a:t>Level 3  ·  4 Marks</a:t>
            </a:r>
            <a:endParaRPr sz="2400">
              <a:solidFill>
                <a:srgbClr val="111827"/>
              </a:solidFill>
            </a:endParaRPr>
          </a:p>
        </p:txBody>
      </p:sp>
      <p:sp>
        <p:nvSpPr>
          <p:cNvPr id="4" name="Rounded Rectangle 3"/>
          <p:cNvSpPr/>
          <p:nvPr/>
        </p:nvSpPr>
        <p:spPr>
          <a:xfrm>
            <a:off x="3520440" y="265176"/>
            <a:ext cx="4206240" cy="566928"/>
          </a:xfrm>
          <a:prstGeom prst="roundRect">
            <a:avLst>
              <a:gd name="adj" fmla="val 50000"/>
            </a:avLst>
          </a:prstGeom>
          <a:solidFill>
            <a:srgbClr val="FDE68A"/>
          </a:solidFill>
          <a:ln w="25400">
            <a:solidFill>
              <a:srgbClr val="D9770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78350F"/>
          </a:fontRef>
        </p:style>
        <p:txBody>
          <a:bodyPr rtlCol="0" anchor="ctr" wrap="square" lIns="228600" rIns="228600" tIns="18288" bIns="18288"/>
          <a:lstStyle>
            <a:lvl1pPr>
              <a:defRPr sz="2200">
                <a:solidFill>
                  <a:srgbClr val="78350F"/>
                </a:solidFill>
              </a:defRPr>
            </a:lvl1pPr>
          </a:lstStyle>
          <a:p>
            <a:pPr algn="ctr">
              <a:defRPr sz="2200">
                <a:solidFill>
                  <a:srgbClr val="78350F"/>
                </a:solidFill>
              </a:defRPr>
            </a:pPr>
            <a:r>
              <a:rPr sz="2200" b="1">
                <a:solidFill>
                  <a:srgbClr val="78350F"/>
                </a:solidFill>
                <a:latin typeface="Arial"/>
              </a:rPr>
              <a:t>Alternate Solution</a:t>
            </a:r>
            <a:endParaRPr sz="2200">
              <a:solidFill>
                <a:srgbClr val="78350F"/>
              </a:solidFill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5" name="Rounded Rectangle 4"/>
              <p:cNvSpPr/>
              <p:nvPr/>
            </p:nvSpPr>
            <p:spPr>
              <a:xfrm>
                <a:off x="731520" y="1280160"/>
                <a:ext cx="10725912" cy="1109472"/>
              </a:xfrm>
              <a:prstGeom prst="roundRect">
                <a:avLst>
                  <a:gd name="adj" fmla="val 8000"/>
                </a:avLst>
              </a:prstGeom>
              <a:solidFill>
                <a:srgbClr val="FDE68A"/>
              </a:solidFill>
              <a:ln w="31750">
                <a:solidFill>
                  <a:srgbClr val="D97706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78350F"/>
              </a:fontRef>
            </p:style>
            <p:txBody>
              <a:bodyPr rtlCol="0" anchor="ctr" wrap="square" lIns="228600" rIns="228600" tIns="54864" bIns="73152"/>
              <a:lstStyle>
                <a:lvl1pPr>
                  <a:defRPr sz="2400">
                    <a:solidFill>
                      <a:srgbClr val="78350F"/>
                    </a:solidFill>
                  </a:defRPr>
                </a:lvl1pPr>
              </a:lstStyle>
              <a:p>
                <a:pPr algn="l">
                  <a:defRPr sz="2400">
                    <a:solidFill>
                      <a:srgbClr val="78350F"/>
                    </a:solidFill>
                  </a:defRPr>
                </a:pPr>
                <a:r>
                  <a:rPr sz="2400" b="1">
                    <a:solidFill>
                      <a:srgbClr val="78350F"/>
                    </a:solidFill>
                    <a:latin typeface="Arial"/>
                  </a:rPr>
                  <a:t>Idea: 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𝑓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det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𝑀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𝐽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 where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𝐽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m:rPr>
                        <m:sty m:val="b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1</m:t>
                    </m:r>
                    <m:sSup>
                      <m:e>
                        <m:r>
                          <m:rPr>
                            <m:sty m:val="b"/>
                          </m:rPr>
                          <a:rPr lang="en-IN" sz="2400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e>
                      <m:sup>
                        <m: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𝑇</m:t>
                        </m:r>
                      </m:sup>
                    </m:sSup>
                  </m:oMath>
                </a14:m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 has rank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1</m:t>
                    </m:r>
                  </m:oMath>
                </a14:m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: the matrix determinant lemma gives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𝑓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det</m:t>
                    </m:r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𝑀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 </m:t>
                    </m:r>
                    <m:sSup>
                      <m:e>
                        <m:r>
                          <m:rPr>
                            <m:sty m:val="b"/>
                          </m:rPr>
                          <a:rPr lang="en-IN" sz="2400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e>
                      <m:sup>
                        <m: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𝑇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adj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𝑀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b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1</m:t>
                    </m:r>
                  </m:oMath>
                </a14:m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.</a:t>
                </a:r>
                <a:endParaRPr sz="2400">
                  <a:solidFill>
                    <a:srgbClr val="78350F"/>
                  </a:solidFill>
                </a:endParaRPr>
              </a:p>
            </p:txBody>
          </p:sp>
        </mc:Choice>
        <mc:Fallback>
          <p:sp>
            <p:nvSpPr>
              <p:cNvPr id="5" name="Rounded Rectangle 4"/>
              <p:cNvSpPr/>
              <p:nvPr/>
            </p:nvSpPr>
            <p:spPr>
              <a:xfrm>
                <a:off x="731520" y="1280160"/>
                <a:ext cx="10725912" cy="1109472"/>
              </a:xfrm>
              <a:prstGeom prst="roundRect">
                <a:avLst>
                  <a:gd name="adj" fmla="val 8000"/>
                </a:avLst>
              </a:prstGeom>
              <a:solidFill>
                <a:srgbClr val="FDE68A"/>
              </a:solidFill>
              <a:ln w="31750">
                <a:solidFill>
                  <a:srgbClr val="D97706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78350F"/>
              </a:fontRef>
            </p:style>
            <p:txBody>
              <a:bodyPr rtlCol="0" anchor="ctr" wrap="square" lIns="228600" rIns="228600" tIns="54864" bIns="73152"/>
              <a:lstStyle>
                <a:lvl1pPr>
                  <a:defRPr sz="2400">
                    <a:solidFill>
                      <a:srgbClr val="78350F"/>
                    </a:solidFill>
                  </a:defRPr>
                </a:lvl1pPr>
              </a:lstStyle>
              <a:p>
                <a:pPr algn="l">
                  <a:defRPr sz="2400">
                    <a:solidFill>
                      <a:srgbClr val="78350F"/>
                    </a:solidFill>
                  </a:defRPr>
                </a:pPr>
                <a:r>
                  <a:rPr sz="2400" b="1">
                    <a:solidFill>
                      <a:srgbClr val="78350F"/>
                    </a:solidFill>
                    <a:latin typeface="Arial"/>
                  </a:rPr>
                  <a:t>Idea:  </a:t>
                </a:r>
                <a:r>
                  <a:rPr lang="en-IN" sz="2400">
                    <a:solidFill>
                      <a:srgbClr val="78350F"/>
                    </a:solidFill>
                    <a:latin typeface="Cambria Math" panose="02040503050406030204" pitchFamily="18" charset="0"/>
                  </a:rPr>
                  <a:t>$f(x)=\det(M+xJ)$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 where </a:t>
                </a:r>
                <a:r>
                  <a:rPr lang="en-IN" sz="2400">
                    <a:solidFill>
                      <a:srgbClr val="78350F"/>
                    </a:solidFill>
                    <a:latin typeface="Cambria Math" panose="02040503050406030204" pitchFamily="18" charset="0"/>
                  </a:rPr>
                  <a:t>$J=\mathbf 1\mathbf 1^T$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 has rank </a:t>
                </a:r>
                <a:r>
                  <a:rPr lang="en-IN" sz="2400">
                    <a:solidFill>
                      <a:srgbClr val="78350F"/>
                    </a:solidFill>
                    <a:latin typeface="Cambria Math" panose="02040503050406030204" pitchFamily="18" charset="0"/>
                  </a:rPr>
                  <a:t>$1$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: the matrix determinant lemma gives </a:t>
                </a:r>
                <a:r>
                  <a:rPr lang="en-IN" sz="2400">
                    <a:solidFill>
                      <a:srgbClr val="78350F"/>
                    </a:solidFill>
                    <a:latin typeface="Cambria Math" panose="02040503050406030204" pitchFamily="18" charset="0"/>
                  </a:rPr>
                  <a:t>$f(x)=\det M+x\,\mathbf 1^T\operatorname{adj}(M)\mathbf 1$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.</a:t>
                </a:r>
                <a:endParaRPr sz="2400">
                  <a:solidFill>
                    <a:srgbClr val="78350F"/>
                  </a:solidFill>
                </a:endParaRP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6" name="Rectangle 5"/>
              <p:cNvSpPr/>
              <p:nvPr/>
            </p:nvSpPr>
            <p:spPr>
              <a:xfrm>
                <a:off x="731520" y="2526792"/>
                <a:ext cx="10725912" cy="4148328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Let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𝑀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d>
                      <m:dPr>
                        <m:begChr m:val="("/>
                        <m:sepChr m:val=""/>
                        <m:endChr m:val=")"/>
                        <m:grow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m>
                          <m:mPr>
                            <m:baseJc m:val="center"/>
                            <m:plcHide m:val="on"/>
                            <m:mcs>
                              <m:mc>
                                <m:mcPr>
                                  <m:count m:val="1"/>
                                  <m:mcJc m:val="center"/>
                                </m:mcPr>
                              </m:mc>
                              <m:mc>
                                <m:mcPr>
                                  <m:count m:val="1"/>
                                  <m:mcJc m:val="center"/>
                                </m:mcPr>
                              </m:mc>
                              <m:mc>
                                <m:mcPr>
                                  <m:count m:val="1"/>
                                  <m:mcJc m:val="center"/>
                                </m:mcPr>
                              </m:mc>
                            </m:mcs>
                            <m:ctrlP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mPr>
                          <m:mr>
                            <m:e>
                              <m:r>
                                <a:rPr lang="en-IN" sz="2400" i="1">
                                  <a:solidFill>
                                    <a:srgbClr val="111827"/>
                                  </a:solidFill>
                                  <a:latin typeface="Cambria Math" panose="02040503050406030204" pitchFamily="18" charset="0"/>
                                </a:rPr>
                                <m:t>𝑎</m:t>
                              </m:r>
                            </m:e>
                            <m:e>
                              <m:r>
                                <a:rPr lang="en-IN" sz="2400" i="1">
                                  <a:solidFill>
                                    <a:srgbClr val="111827"/>
                                  </a:solidFill>
                                  <a:latin typeface="Cambria Math" panose="02040503050406030204" pitchFamily="18" charset="0"/>
                                </a:rPr>
                                <m:t>𝑏</m:t>
                              </m:r>
                            </m:e>
                            <m:e>
                              <m:r>
                                <a:rPr lang="en-IN" sz="2400" i="1">
                                  <a:solidFill>
                                    <a:srgbClr val="111827"/>
                                  </a:solidFill>
                                  <a:latin typeface="Cambria Math" panose="02040503050406030204" pitchFamily="18" charset="0"/>
                                </a:rPr>
                                <m:t>𝑐</m:t>
                              </m:r>
                            </m:e>
                          </m:mr>
                          <m:mr>
                            <m:e>
                              <m:r>
                                <a:rPr lang="en-IN" sz="2400" i="1">
                                  <a:solidFill>
                                    <a:srgbClr val="111827"/>
                                  </a:solidFill>
                                  <a:latin typeface="Cambria Math" panose="02040503050406030204" pitchFamily="18" charset="0"/>
                                </a:rPr>
                                <m:t>ℓ</m:t>
                              </m:r>
                            </m:e>
                            <m:e>
                              <m:r>
                                <a:rPr lang="en-IN" sz="2400" i="1">
                                  <a:solidFill>
                                    <a:srgbClr val="111827"/>
                                  </a:solidFill>
                                  <a:latin typeface="Cambria Math" panose="02040503050406030204" pitchFamily="18" charset="0"/>
                                </a:rPr>
                                <m:t>𝑚</m:t>
                              </m:r>
                            </m:e>
                            <m:e>
                              <m:r>
                                <a:rPr lang="en-IN" sz="2400" i="1">
                                  <a:solidFill>
                                    <a:srgbClr val="111827"/>
                                  </a:solidFill>
                                  <a:latin typeface="Cambria Math" panose="02040503050406030204" pitchFamily="18" charset="0"/>
                                </a:rPr>
                                <m:t>𝑛</m:t>
                              </m:r>
                            </m:e>
                          </m:mr>
                          <m:mr>
                            <m:e>
                              <m:r>
                                <a:rPr lang="en-IN" sz="2400" i="1">
                                  <a:solidFill>
                                    <a:srgbClr val="111827"/>
                                  </a:solidFill>
                                  <a:latin typeface="Cambria Math" panose="02040503050406030204" pitchFamily="18" charset="0"/>
                                </a:rPr>
                                <m:t>𝑝</m:t>
                              </m:r>
                            </m:e>
                            <m:e>
                              <m:r>
                                <a:rPr lang="en-IN" sz="2400" i="1">
                                  <a:solidFill>
                                    <a:srgbClr val="111827"/>
                                  </a:solidFill>
                                  <a:latin typeface="Cambria Math" panose="02040503050406030204" pitchFamily="18" charset="0"/>
                                </a:rPr>
                                <m:t>𝑞</m:t>
                              </m:r>
                            </m:e>
                            <m:e>
                              <m:r>
                                <a:rPr lang="en-IN" sz="2400" i="1">
                                  <a:solidFill>
                                    <a:srgbClr val="111827"/>
                                  </a:solidFill>
                                  <a:latin typeface="Cambria Math" panose="02040503050406030204" pitchFamily="18" charset="0"/>
                                </a:rPr>
                                <m:t>𝑟</m:t>
                              </m:r>
                            </m:e>
                          </m:mr>
                        </m:m>
                      </m:e>
                    </m:d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and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𝐽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the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3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×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3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matrix of ones. Then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𝑓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det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𝑀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𝐽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and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𝐽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m:rPr>
                        <m:sty m:val="b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  <m:sSup>
                      <m:e>
                        <m:r>
                          <m:rPr>
                            <m:sty m:val="b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𝑇</m:t>
                        </m:r>
                      </m:sup>
                    </m:sSup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has rank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Expanding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det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𝑀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𝐽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by multilinearity in columns, every term with two or more columns taken from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𝐽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vanishes (two equal columns). Only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det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𝑀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and the three one-column terms survive.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So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𝑓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det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𝑀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d>
                      <m:dPr>
                        <m:begChr m:val="("/>
                        <m:sepChr m:val=""/>
                        <m:endChr m:val=")"/>
                        <m:grow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nary>
                          <m:naryPr>
                            <m:chr m:val="∑"/>
                            <m:limLoc m:val="undOvr"/>
                            <m:subHide m:val="off"/>
                            <m:supHide m:val="on"/>
                            <m:ctrlP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naryPr>
                          <m:sub>
                            <m:r>
                              <m:rPr>
                                <m:nor/>
                              </m:rP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𝑐𝑜𝑙𝑢𝑚𝑛𝑠</m:t>
                            </m:r>
                          </m:sub>
                          <m:sup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​</m:t>
                            </m:r>
                          </m:sup>
                          <m:e>
                            <m:r>
                              <m:rPr>
                                <m:sty m:val="p"/>
                              </m:rPr>
                              <a:rPr lang="en-IN" sz="2400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det</m:t>
                            </m:r>
                          </m:e>
                        </m:nary>
                        <m:r>
                          <m:rPr>
                            <m:nor/>
                          </m:r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 𝑤𝑖𝑡ℎ 𝑡ℎ𝑎𝑡 𝑐𝑜𝑙𝑢𝑚𝑛 𝑟𝑒𝑝𝑙𝑎𝑐𝑒𝑑 𝑏𝑦 </m:t>
                        </m:r>
                        <m:r>
                          <m:rPr>
                            <m:sty m:val="b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e>
                    </m:d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a polynomial of degree at most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 Hence </a:t>
                </a:r>
                <a14:m>
                  <m:oMath xmlns:m="http://schemas.openxmlformats.org/officeDocument/2006/math"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𝑓</m:t>
                        </m:r>
                      </m:e>
                      <m:sup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″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0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Choice>
        <mc:Fallback>
          <p:sp>
            <p:nvSpPr>
              <p:cNvPr id="6" name="Rectangle 5"/>
              <p:cNvSpPr/>
              <p:nvPr/>
            </p:nvSpPr>
            <p:spPr>
              <a:xfrm>
                <a:off x="731520" y="2526792"/>
                <a:ext cx="10725912" cy="4148328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Let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$M=\begin{pmatrix}a&amp;b&amp;c\\ \ell&amp;m&amp;n\\ p&amp;q&amp;r\end{pmatrix}$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and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$J$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the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$3\times3$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matrix of ones. Then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$f(x)=\det(M+xJ)$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and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$J=\mathbf 1\mathbf 1^T$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has rank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$1$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Expanding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$\det(M+xJ)$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by multilinearity in columns, every term with two or more columns taken from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$xJ$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vanishes (two equal columns). Only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$\det M$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and the three one-column terms survive.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So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$f(x)=\det M+x\left(\sum_{\text{columns}}\det\text{ with that column replaced by }\mathbf 1\right)$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a polynomial of degree at most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$1$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 Hence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$f''(x)=0$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Fallback>
      </mc:AlternateContent>
    </p:spTree>
  </p:cSld>
  <p:clrMapOvr>
    <a:masterClrMapping/>
  </p:clrMapOvr>
</p:sld>
</file>

<file path=ppt/slides/slide7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FFFFFF"/>
          </a:fontRef>
        </p:style>
        <p:txBody>
          <a:bodyPr rtlCol="0" anchor="ctr" lIns="731520"/>
          <a:lstStyle>
            <a:lvl1pPr>
              <a:defRPr sz="3200">
                <a:solidFill>
                  <a:srgbClr val="FFFFFF"/>
                </a:solidFill>
              </a:defRPr>
            </a:lvl1pPr>
          </a:lstStyle>
          <a:p>
            <a:pPr algn="l">
              <a:defRPr sz="3200">
                <a:solidFill>
                  <a:srgbClr val="FFFFFF"/>
                </a:solidFill>
              </a:defRPr>
            </a:pPr>
            <a:r>
              <a:rPr sz="3200" b="1">
                <a:solidFill>
                  <a:srgbClr val="FFFFFF"/>
                </a:solidFill>
                <a:latin typeface="Arial"/>
              </a:rPr>
              <a:t>Question 11</a:t>
            </a:r>
            <a:endParaRPr sz="3200">
              <a:solidFill>
                <a:srgbClr val="FFFFFF"/>
              </a:solidFill>
            </a:endParaRPr>
          </a:p>
        </p:txBody>
      </p:sp>
      <p:sp>
        <p:nvSpPr>
          <p:cNvPr id="3" name="Rounded Rectangle 2"/>
          <p:cNvSpPr/>
          <p:nvPr/>
        </p:nvSpPr>
        <p:spPr>
          <a:xfrm>
            <a:off x="7894015" y="246887"/>
            <a:ext cx="3840480" cy="603504"/>
          </a:xfrm>
          <a:prstGeom prst="roundRect">
            <a:avLst>
              <a:gd name="adj" fmla="val 50000"/>
            </a:avLst>
          </a:prstGeom>
          <a:solidFill>
            <a:srgbClr val="F6B26B"/>
          </a:solidFill>
          <a:ln w="1905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111827"/>
          </a:fontRef>
        </p:style>
        <p:txBody>
          <a:bodyPr rtlCol="0" anchor="ctr" wrap="square" lIns="228600" rIns="228600" tIns="18288" bIns="18288"/>
          <a:lstStyle>
            <a:lvl1pPr>
              <a:defRPr sz="2400">
                <a:solidFill>
                  <a:srgbClr val="111827"/>
                </a:solidFill>
              </a:defRPr>
            </a:lvl1pPr>
          </a:lstStyle>
          <a:p>
            <a:pPr algn="ctr">
              <a:defRPr sz="2400">
                <a:solidFill>
                  <a:srgbClr val="111827"/>
                </a:solidFill>
              </a:defRPr>
            </a:pPr>
            <a:r>
              <a:rPr sz="2400" b="1">
                <a:solidFill>
                  <a:srgbClr val="111827"/>
                </a:solidFill>
                <a:latin typeface="Arial"/>
              </a:rPr>
              <a:t>Level 3  ·  4 Marks</a:t>
            </a:r>
            <a:endParaRPr sz="2400">
              <a:solidFill>
                <a:srgbClr val="111827"/>
              </a:solidFill>
            </a:endParaRPr>
          </a:p>
        </p:txBody>
      </p:sp>
      <p:sp>
        <p:nvSpPr>
          <p:cNvPr id="4" name="Rounded Rectangle 3"/>
          <p:cNvSpPr/>
          <p:nvPr/>
        </p:nvSpPr>
        <p:spPr>
          <a:xfrm>
            <a:off x="3520440" y="265176"/>
            <a:ext cx="4206240" cy="566928"/>
          </a:xfrm>
          <a:prstGeom prst="roundRect">
            <a:avLst>
              <a:gd name="adj" fmla="val 50000"/>
            </a:avLst>
          </a:prstGeom>
          <a:solidFill>
            <a:srgbClr val="FDE68A"/>
          </a:solidFill>
          <a:ln w="25400">
            <a:solidFill>
              <a:srgbClr val="D9770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78350F"/>
          </a:fontRef>
        </p:style>
        <p:txBody>
          <a:bodyPr rtlCol="0" anchor="ctr" wrap="square" lIns="228600" rIns="228600" tIns="18288" bIns="18288"/>
          <a:lstStyle>
            <a:lvl1pPr>
              <a:defRPr sz="2200">
                <a:solidFill>
                  <a:srgbClr val="78350F"/>
                </a:solidFill>
              </a:defRPr>
            </a:lvl1pPr>
          </a:lstStyle>
          <a:p>
            <a:pPr algn="ctr">
              <a:defRPr sz="2200">
                <a:solidFill>
                  <a:srgbClr val="78350F"/>
                </a:solidFill>
              </a:defRPr>
            </a:pPr>
            <a:r>
              <a:rPr sz="2200" b="1">
                <a:solidFill>
                  <a:srgbClr val="78350F"/>
                </a:solidFill>
                <a:latin typeface="Arial"/>
              </a:rPr>
              <a:t>Alternate Solution</a:t>
            </a:r>
            <a:endParaRPr sz="2200">
              <a:solidFill>
                <a:srgbClr val="78350F"/>
              </a:solidFill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5" name="Rectangle 4"/>
              <p:cNvSpPr/>
              <p:nvPr/>
            </p:nvSpPr>
            <p:spPr>
              <a:xfrm>
                <a:off x="731520" y="1353312"/>
                <a:ext cx="10725912" cy="4434840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Replacing column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𝑗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by </a:t>
                </a:r>
                <a14:m>
                  <m:oMath xmlns:m="http://schemas.openxmlformats.org/officeDocument/2006/math">
                    <m:r>
                      <m:rPr>
                        <m:sty m:val="b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in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𝑀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gives </a:t>
                </a:r>
                <a14:m>
                  <m:oMath xmlns:m="http://schemas.openxmlformats.org/officeDocument/2006/math">
                    <m:nary>
                      <m:naryPr>
                        <m:chr m:val="∑"/>
                        <m:limLoc m:val="undOvr"/>
                        <m:subHide m:val="off"/>
                        <m:supHide m:val="on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naryPr>
                      <m:sub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𝑖</m:t>
                        </m:r>
                      </m:sub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​</m:t>
                        </m:r>
                      </m:sup>
                      <m:e>
                        <m:sSub>
                          <m:e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𝐴</m:t>
                            </m:r>
                          </m:e>
                          <m:sub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𝑖</m:t>
                            </m:r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𝑗</m:t>
                            </m:r>
                          </m:sub>
                        </m:sSub>
                      </m:e>
                    </m:nary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(expand along that column), so the coefficient of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is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𝑘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nary>
                      <m:naryPr>
                        <m:chr m:val="∑"/>
                        <m:limLoc m:val="undOvr"/>
                        <m:subHide m:val="off"/>
                        <m:supHide m:val="on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naryPr>
                      <m:sub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𝑖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,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𝑗</m:t>
                        </m:r>
                      </m:sub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​</m:t>
                        </m:r>
                      </m:sup>
                      <m:e>
                        <m:sSub>
                          <m:e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𝐴</m:t>
                            </m:r>
                          </m:e>
                          <m:sub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𝑖</m:t>
                            </m:r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𝑗</m:t>
                            </m:r>
                          </m:sub>
                        </m:sSub>
                      </m:e>
                    </m:nary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the sum of all cofactors.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Therefore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𝑓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𝑓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0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𝑘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Choice>
        <mc:Fallback>
          <p:sp>
            <p:nvSpPr>
              <p:cNvPr id="5" name="Rectangle 4"/>
              <p:cNvSpPr/>
              <p:nvPr/>
            </p:nvSpPr>
            <p:spPr>
              <a:xfrm>
                <a:off x="731520" y="1353312"/>
                <a:ext cx="10725912" cy="4434840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Replacing column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$j$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by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$\mathbf 1$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in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$M$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gives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$\sum_iA_{ij}$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(expand along that column), so the coefficient of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$x$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is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$k=\sum_{i,j}A_{ij}$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the sum of all cofactors.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Therefore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$f(x)=f(0)+kx$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6" name="Rounded Rectangle 5"/>
              <p:cNvSpPr/>
              <p:nvPr/>
            </p:nvSpPr>
            <p:spPr>
              <a:xfrm>
                <a:off x="731520" y="5897880"/>
                <a:ext cx="10725912" cy="777240"/>
              </a:xfrm>
              <a:prstGeom prst="roundRect">
                <a:avLst>
                  <a:gd name="adj" fmla="val 8000"/>
                </a:avLst>
              </a:prstGeom>
              <a:solidFill>
                <a:srgbClr val="DCFCE7"/>
              </a:solidFill>
              <a:ln w="25400">
                <a:solidFill>
                  <a:srgbClr val="15803D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5803D"/>
              </a:fontRef>
            </p:style>
            <p:txBody>
              <a:bodyPr rtlCol="0" anchor="ctr" wrap="square" lIns="228600" rIns="228600" tIns="18288" bIns="73152"/>
              <a:lstStyle>
                <a:lvl1pPr>
                  <a:defRPr sz="2800">
                    <a:solidFill>
                      <a:srgbClr val="15803D"/>
                    </a:solidFill>
                  </a:defRPr>
                </a:lvl1pPr>
              </a:lstStyle>
              <a:p>
                <a:pPr algn="ctr">
                  <a:defRPr sz="2800">
                    <a:solidFill>
                      <a:srgbClr val="15803D"/>
                    </a:solidFill>
                  </a:defRPr>
                </a:pPr>
                <a:r>
                  <a:rPr sz="2800" b="1">
                    <a:solidFill>
                      <a:srgbClr val="15803D"/>
                    </a:solidFill>
                    <a:latin typeface="Arial"/>
                  </a:rPr>
                  <a:t>Same answer: Shown: </a:t>
                </a:r>
                <a14:m>
                  <m:oMath xmlns:m="http://schemas.openxmlformats.org/officeDocument/2006/math">
                    <m:sSup>
                      <m:e>
                        <m:r>
                          <a:rPr lang="en-IN" sz="2800" i="1">
                            <a:solidFill>
                              <a:srgbClr val="15803D"/>
                            </a:solidFill>
                            <a:latin typeface="Cambria Math" panose="02040503050406030204" pitchFamily="18" charset="0"/>
                          </a:rPr>
                          <m:t>𝑓</m:t>
                        </m:r>
                      </m:e>
                      <m:sup>
                        <m:r>
                          <m:rPr>
                            <m:sty m:val="p"/>
                          </m:rPr>
                          <a:rPr lang="en-IN" sz="2800">
                            <a:solidFill>
                              <a:srgbClr val="15803D"/>
                            </a:solidFill>
                            <a:latin typeface="Cambria Math" panose="02040503050406030204" pitchFamily="18" charset="0"/>
                          </a:rPr>
                          <m:t>″</m:t>
                        </m:r>
                      </m:sup>
                    </m:sSup>
                    <m:r>
                      <m:rPr>
                        <m:sty m:val="p"/>
                      </m:rPr>
                      <a:rPr lang="en-IN" sz="2800">
                        <a:solidFill>
                          <a:srgbClr val="15803D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800" i="1">
                        <a:solidFill>
                          <a:srgbClr val="15803D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800">
                        <a:solidFill>
                          <a:srgbClr val="15803D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800">
                        <a:solidFill>
                          <a:srgbClr val="15803D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800" i="1">
                        <a:solidFill>
                          <a:srgbClr val="15803D"/>
                        </a:solidFill>
                        <a:latin typeface="Cambria Math" panose="02040503050406030204" pitchFamily="18" charset="0"/>
                      </a:rPr>
                      <m:t>0</m:t>
                    </m:r>
                  </m:oMath>
                </a14:m>
                <a:r>
                  <a:rPr sz="2800" b="1">
                    <a:solidFill>
                      <a:srgbClr val="15803D"/>
                    </a:solidFill>
                    <a:latin typeface="Arial"/>
                  </a:rPr>
                  <a:t> and </a:t>
                </a:r>
                <a14:m>
                  <m:oMath xmlns:m="http://schemas.openxmlformats.org/officeDocument/2006/math">
                    <m:r>
                      <a:rPr lang="en-IN" sz="2800" i="1">
                        <a:solidFill>
                          <a:srgbClr val="15803D"/>
                        </a:solidFill>
                        <a:latin typeface="Cambria Math" panose="02040503050406030204" pitchFamily="18" charset="0"/>
                      </a:rPr>
                      <m:t>𝑓</m:t>
                    </m:r>
                    <m:r>
                      <m:rPr>
                        <m:sty m:val="p"/>
                      </m:rPr>
                      <a:rPr lang="en-IN" sz="2800">
                        <a:solidFill>
                          <a:srgbClr val="15803D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800" i="1">
                        <a:solidFill>
                          <a:srgbClr val="15803D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800">
                        <a:solidFill>
                          <a:srgbClr val="15803D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800">
                        <a:solidFill>
                          <a:srgbClr val="15803D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800" i="1">
                        <a:solidFill>
                          <a:srgbClr val="15803D"/>
                        </a:solidFill>
                        <a:latin typeface="Cambria Math" panose="02040503050406030204" pitchFamily="18" charset="0"/>
                      </a:rPr>
                      <m:t>𝑓</m:t>
                    </m:r>
                    <m:r>
                      <m:rPr>
                        <m:sty m:val="p"/>
                      </m:rPr>
                      <a:rPr lang="en-IN" sz="2800">
                        <a:solidFill>
                          <a:srgbClr val="15803D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800" i="1">
                        <a:solidFill>
                          <a:srgbClr val="15803D"/>
                        </a:solidFill>
                        <a:latin typeface="Cambria Math" panose="02040503050406030204" pitchFamily="18" charset="0"/>
                      </a:rPr>
                      <m:t>0</m:t>
                    </m:r>
                    <m:r>
                      <m:rPr>
                        <m:sty m:val="p"/>
                      </m:rPr>
                      <a:rPr lang="en-IN" sz="2800">
                        <a:solidFill>
                          <a:srgbClr val="15803D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800">
                        <a:solidFill>
                          <a:srgbClr val="15803D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800" i="1">
                        <a:solidFill>
                          <a:srgbClr val="15803D"/>
                        </a:solidFill>
                        <a:latin typeface="Cambria Math" panose="02040503050406030204" pitchFamily="18" charset="0"/>
                      </a:rPr>
                      <m:t>𝑘</m:t>
                    </m:r>
                    <m:r>
                      <a:rPr lang="en-IN" sz="2800" i="1">
                        <a:solidFill>
                          <a:srgbClr val="15803D"/>
                        </a:solidFill>
                        <a:latin typeface="Cambria Math" panose="02040503050406030204" pitchFamily="18" charset="0"/>
                      </a:rPr>
                      <m:t>𝑥</m:t>
                    </m:r>
                  </m:oMath>
                </a14:m>
                <a:r>
                  <a:rPr sz="2800" b="1">
                    <a:solidFill>
                      <a:srgbClr val="15803D"/>
                    </a:solidFill>
                    <a:latin typeface="Arial"/>
                  </a:rPr>
                  <a:t> with </a:t>
                </a:r>
                <a14:m>
                  <m:oMath xmlns:m="http://schemas.openxmlformats.org/officeDocument/2006/math">
                    <m:r>
                      <a:rPr lang="en-IN" sz="2800" i="1">
                        <a:solidFill>
                          <a:srgbClr val="15803D"/>
                        </a:solidFill>
                        <a:latin typeface="Cambria Math" panose="02040503050406030204" pitchFamily="18" charset="0"/>
                      </a:rPr>
                      <m:t>𝑘</m:t>
                    </m:r>
                    <m:r>
                      <m:rPr>
                        <m:sty m:val="p"/>
                      </m:rPr>
                      <a:rPr lang="en-IN" sz="2800">
                        <a:solidFill>
                          <a:srgbClr val="15803D"/>
                        </a:solidFill>
                        <a:latin typeface="Cambria Math" panose="02040503050406030204" pitchFamily="18" charset="0"/>
                      </a:rPr>
                      <m:t>=</m:t>
                    </m:r>
                  </m:oMath>
                </a14:m>
                <a:r>
                  <a:rPr sz="2800" b="1">
                    <a:solidFill>
                      <a:srgbClr val="15803D"/>
                    </a:solidFill>
                    <a:latin typeface="Arial"/>
                  </a:rPr>
                  <a:t> sum of all cofactors of </a:t>
                </a:r>
                <a14:m>
                  <m:oMath xmlns:m="http://schemas.openxmlformats.org/officeDocument/2006/math">
                    <m:r>
                      <a:rPr lang="en-IN" sz="2800" i="1">
                        <a:solidFill>
                          <a:srgbClr val="15803D"/>
                        </a:solidFill>
                        <a:latin typeface="Cambria Math" panose="02040503050406030204" pitchFamily="18" charset="0"/>
                      </a:rPr>
                      <m:t>𝑓</m:t>
                    </m:r>
                    <m:r>
                      <m:rPr>
                        <m:sty m:val="p"/>
                      </m:rPr>
                      <a:rPr lang="en-IN" sz="2800">
                        <a:solidFill>
                          <a:srgbClr val="15803D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800" i="1">
                        <a:solidFill>
                          <a:srgbClr val="15803D"/>
                        </a:solidFill>
                        <a:latin typeface="Cambria Math" panose="02040503050406030204" pitchFamily="18" charset="0"/>
                      </a:rPr>
                      <m:t>0</m:t>
                    </m:r>
                    <m:r>
                      <m:rPr>
                        <m:sty m:val="p"/>
                      </m:rPr>
                      <a:rPr lang="en-IN" sz="2800">
                        <a:solidFill>
                          <a:srgbClr val="15803D"/>
                        </a:solidFill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endParaRPr sz="2800">
                  <a:solidFill>
                    <a:srgbClr val="15803D"/>
                  </a:solidFill>
                </a:endParaRPr>
              </a:p>
            </p:txBody>
          </p:sp>
        </mc:Choice>
        <mc:Fallback>
          <p:sp>
            <p:nvSpPr>
              <p:cNvPr id="6" name="Rounded Rectangle 5"/>
              <p:cNvSpPr/>
              <p:nvPr/>
            </p:nvSpPr>
            <p:spPr>
              <a:xfrm>
                <a:off x="731520" y="5897880"/>
                <a:ext cx="10725912" cy="777240"/>
              </a:xfrm>
              <a:prstGeom prst="roundRect">
                <a:avLst>
                  <a:gd name="adj" fmla="val 8000"/>
                </a:avLst>
              </a:prstGeom>
              <a:solidFill>
                <a:srgbClr val="DCFCE7"/>
              </a:solidFill>
              <a:ln w="25400">
                <a:solidFill>
                  <a:srgbClr val="15803D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5803D"/>
              </a:fontRef>
            </p:style>
            <p:txBody>
              <a:bodyPr rtlCol="0" anchor="ctr" wrap="square" lIns="228600" rIns="228600" tIns="18288" bIns="73152"/>
              <a:lstStyle>
                <a:lvl1pPr>
                  <a:defRPr sz="2800">
                    <a:solidFill>
                      <a:srgbClr val="15803D"/>
                    </a:solidFill>
                  </a:defRPr>
                </a:lvl1pPr>
              </a:lstStyle>
              <a:p>
                <a:pPr algn="ctr">
                  <a:defRPr sz="2800">
                    <a:solidFill>
                      <a:srgbClr val="15803D"/>
                    </a:solidFill>
                  </a:defRPr>
                </a:pPr>
                <a:r>
                  <a:rPr sz="2800" b="1">
                    <a:solidFill>
                      <a:srgbClr val="15803D"/>
                    </a:solidFill>
                    <a:latin typeface="Arial"/>
                  </a:rPr>
                  <a:t>Same answer: Shown: </a:t>
                </a:r>
                <a:r>
                  <a:rPr lang="en-IN" sz="2800">
                    <a:solidFill>
                      <a:srgbClr val="15803D"/>
                    </a:solidFill>
                    <a:latin typeface="Cambria Math" panose="02040503050406030204" pitchFamily="18" charset="0"/>
                  </a:rPr>
                  <a:t>$f''(x)=0$</a:t>
                </a:r>
                <a:r>
                  <a:rPr sz="2800" b="1">
                    <a:solidFill>
                      <a:srgbClr val="15803D"/>
                    </a:solidFill>
                    <a:latin typeface="Arial"/>
                  </a:rPr>
                  <a:t> and </a:t>
                </a:r>
                <a:r>
                  <a:rPr lang="en-IN" sz="2800">
                    <a:solidFill>
                      <a:srgbClr val="15803D"/>
                    </a:solidFill>
                    <a:latin typeface="Cambria Math" panose="02040503050406030204" pitchFamily="18" charset="0"/>
                  </a:rPr>
                  <a:t>$f(x)=f(0)+kx$</a:t>
                </a:r>
                <a:r>
                  <a:rPr sz="2800" b="1">
                    <a:solidFill>
                      <a:srgbClr val="15803D"/>
                    </a:solidFill>
                    <a:latin typeface="Arial"/>
                  </a:rPr>
                  <a:t> with </a:t>
                </a:r>
                <a:r>
                  <a:rPr lang="en-IN" sz="2800">
                    <a:solidFill>
                      <a:srgbClr val="15803D"/>
                    </a:solidFill>
                    <a:latin typeface="Cambria Math" panose="02040503050406030204" pitchFamily="18" charset="0"/>
                  </a:rPr>
                  <a:t>$k=$</a:t>
                </a:r>
                <a:r>
                  <a:rPr sz="2800" b="1">
                    <a:solidFill>
                      <a:srgbClr val="15803D"/>
                    </a:solidFill>
                    <a:latin typeface="Arial"/>
                  </a:rPr>
                  <a:t> sum of all cofactors of </a:t>
                </a:r>
                <a:r>
                  <a:rPr lang="en-IN" sz="2800">
                    <a:solidFill>
                      <a:srgbClr val="15803D"/>
                    </a:solidFill>
                    <a:latin typeface="Cambria Math" panose="02040503050406030204" pitchFamily="18" charset="0"/>
                  </a:rPr>
                  <a:t>$f(0)$</a:t>
                </a:r>
                <a:endParaRPr sz="2800">
                  <a:solidFill>
                    <a:srgbClr val="15803D"/>
                  </a:solidFill>
                </a:endParaRPr>
              </a:p>
            </p:txBody>
          </p:sp>
        </mc:Fallback>
      </mc:AlternateContent>
    </p:spTree>
  </p:cSld>
  <p:clrMapOvr>
    <a:masterClrMapping/>
  </p:clrMapOvr>
</p:sld>
</file>

<file path=ppt/slides/slide7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FFFFFF"/>
          </a:fontRef>
        </p:style>
        <p:txBody>
          <a:bodyPr rtlCol="0" anchor="ctr" lIns="731520"/>
          <a:lstStyle>
            <a:lvl1pPr>
              <a:defRPr sz="3200">
                <a:solidFill>
                  <a:srgbClr val="FFFFFF"/>
                </a:solidFill>
              </a:defRPr>
            </a:lvl1pPr>
          </a:lstStyle>
          <a:p>
            <a:pPr algn="l">
              <a:defRPr sz="3200">
                <a:solidFill>
                  <a:srgbClr val="FFFFFF"/>
                </a:solidFill>
              </a:defRPr>
            </a:pPr>
            <a:r>
              <a:rPr sz="3200" b="1">
                <a:solidFill>
                  <a:srgbClr val="FFFFFF"/>
                </a:solidFill>
                <a:latin typeface="Arial"/>
              </a:rPr>
              <a:t>Question 11</a:t>
            </a:r>
            <a:endParaRPr sz="3200">
              <a:solidFill>
                <a:srgbClr val="FFFFFF"/>
              </a:solidFill>
            </a:endParaRPr>
          </a:p>
        </p:txBody>
      </p:sp>
      <p:sp>
        <p:nvSpPr>
          <p:cNvPr id="3" name="Rounded Rectangle 2"/>
          <p:cNvSpPr/>
          <p:nvPr/>
        </p:nvSpPr>
        <p:spPr>
          <a:xfrm>
            <a:off x="7894015" y="246887"/>
            <a:ext cx="3840480" cy="603504"/>
          </a:xfrm>
          <a:prstGeom prst="roundRect">
            <a:avLst>
              <a:gd name="adj" fmla="val 50000"/>
            </a:avLst>
          </a:prstGeom>
          <a:solidFill>
            <a:srgbClr val="F6B26B"/>
          </a:solidFill>
          <a:ln w="1905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111827"/>
          </a:fontRef>
        </p:style>
        <p:txBody>
          <a:bodyPr rtlCol="0" anchor="ctr" wrap="square" lIns="228600" rIns="228600" tIns="18288" bIns="18288"/>
          <a:lstStyle>
            <a:lvl1pPr>
              <a:defRPr sz="2400">
                <a:solidFill>
                  <a:srgbClr val="111827"/>
                </a:solidFill>
              </a:defRPr>
            </a:lvl1pPr>
          </a:lstStyle>
          <a:p>
            <a:pPr algn="ctr">
              <a:defRPr sz="2400">
                <a:solidFill>
                  <a:srgbClr val="111827"/>
                </a:solidFill>
              </a:defRPr>
            </a:pPr>
            <a:r>
              <a:rPr sz="2400" b="1">
                <a:solidFill>
                  <a:srgbClr val="111827"/>
                </a:solidFill>
                <a:latin typeface="Arial"/>
              </a:rPr>
              <a:t>Level 3  ·  4 Marks</a:t>
            </a:r>
            <a:endParaRPr sz="2400">
              <a:solidFill>
                <a:srgbClr val="111827"/>
              </a:solidFill>
            </a:endParaRPr>
          </a:p>
        </p:txBody>
      </p:sp>
      <p:sp>
        <p:nvSpPr>
          <p:cNvPr id="4" name="Rounded Rectangle 3"/>
          <p:cNvSpPr/>
          <p:nvPr/>
        </p:nvSpPr>
        <p:spPr>
          <a:xfrm>
            <a:off x="3520440" y="265176"/>
            <a:ext cx="4206240" cy="566928"/>
          </a:xfrm>
          <a:prstGeom prst="roundRect">
            <a:avLst>
              <a:gd name="adj" fmla="val 50000"/>
            </a:avLst>
          </a:prstGeom>
          <a:solidFill>
            <a:srgbClr val="E0ECFF"/>
          </a:solidFill>
          <a:ln w="25400">
            <a:solidFill>
              <a:srgbClr val="1D4ED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0B1F3A"/>
          </a:fontRef>
        </p:style>
        <p:txBody>
          <a:bodyPr rtlCol="0" anchor="ctr" wrap="square" lIns="228600" rIns="228600" tIns="18288" bIns="18288"/>
          <a:lstStyle>
            <a:lvl1pPr>
              <a:defRPr sz="2200">
                <a:solidFill>
                  <a:srgbClr val="0B1F3A"/>
                </a:solidFill>
              </a:defRPr>
            </a:lvl1pPr>
          </a:lstStyle>
          <a:p>
            <a:pPr algn="ctr">
              <a:defRPr sz="2200">
                <a:solidFill>
                  <a:srgbClr val="0B1F3A"/>
                </a:solidFill>
              </a:defRPr>
            </a:pPr>
            <a:r>
              <a:rPr sz="2200" b="1">
                <a:solidFill>
                  <a:srgbClr val="0B1F3A"/>
                </a:solidFill>
                <a:latin typeface="Arial"/>
              </a:rPr>
              <a:t>Useful Result / Pattern</a:t>
            </a:r>
            <a:endParaRPr sz="2200">
              <a:solidFill>
                <a:srgbClr val="0B1F3A"/>
              </a:solidFill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5" name="Rectangle 4"/>
              <p:cNvSpPr/>
              <p:nvPr/>
            </p:nvSpPr>
            <p:spPr>
              <a:xfrm>
                <a:off x="731520" y="1353312"/>
                <a:ext cx="10725912" cy="5321808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Matrix determinant lemma: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det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𝑀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 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𝑢</m:t>
                    </m:r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𝑣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𝑇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det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𝑀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 </m:t>
                    </m:r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𝑣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𝑇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adj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𝑀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 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𝑢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 For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𝑢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𝑣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m:rPr>
                        <m:sty m:val="b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the linear coefficient is the sum of all cofactors of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𝑀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Adding the same quantity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to every element of an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𝑛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×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𝑛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determinant gives a polynomial of degree at most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in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Replacing a column by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,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…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,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  <m:sSup>
                      <m:e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)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𝑇</m:t>
                        </m:r>
                      </m:sup>
                    </m:sSup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gives the sum of the cofactors along that column: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det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[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…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,</m:t>
                    </m:r>
                    <m:r>
                      <m:rPr>
                        <m:sty m:val="b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,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…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]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nary>
                      <m:naryPr>
                        <m:chr m:val="∑"/>
                        <m:limLoc m:val="undOvr"/>
                        <m:subHide m:val="off"/>
                        <m:supHide m:val="on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naryPr>
                      <m:sub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𝑖</m:t>
                        </m:r>
                      </m:sub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​</m:t>
                        </m:r>
                      </m:sup>
                      <m:e>
                        <m:sSub>
                          <m:e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𝐴</m:t>
                            </m:r>
                          </m:e>
                          <m:sub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𝑖</m:t>
                            </m:r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𝑗</m:t>
                            </m:r>
                          </m:sub>
                        </m:sSub>
                      </m:e>
                    </m:nary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Check: for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𝑀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sSub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𝐼</m:t>
                        </m:r>
                      </m:e>
                      <m:sub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3</m:t>
                        </m:r>
                      </m:sub>
                    </m:sSub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𝑓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det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𝐼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𝐽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3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; the cofactor sum of </a:t>
                </a:r>
                <a14:m>
                  <m:oMath xmlns:m="http://schemas.openxmlformats.org/officeDocument/2006/math">
                    <m:sSub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𝐼</m:t>
                        </m:r>
                      </m:e>
                      <m:sub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3</m:t>
                        </m:r>
                      </m:sub>
                    </m:sSub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is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3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(</a:t>
                </a:r>
                <a14:m>
                  <m:oMath xmlns:m="http://schemas.openxmlformats.org/officeDocument/2006/math">
                    <m:sSub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𝐴</m:t>
                        </m:r>
                      </m:e>
                      <m:sub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11</m:t>
                        </m:r>
                      </m:sub>
                    </m:sSub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sSub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𝐴</m:t>
                        </m:r>
                      </m:e>
                      <m:sub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22</m:t>
                        </m:r>
                      </m:sub>
                    </m:sSub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sSub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𝐴</m:t>
                        </m:r>
                      </m:e>
                      <m:sub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33</m:t>
                        </m:r>
                      </m:sub>
                    </m:sSub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others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0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).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Choice>
        <mc:Fallback>
          <p:sp>
            <p:nvSpPr>
              <p:cNvPr id="5" name="Rectangle 4"/>
              <p:cNvSpPr/>
              <p:nvPr/>
            </p:nvSpPr>
            <p:spPr>
              <a:xfrm>
                <a:off x="731520" y="1353312"/>
                <a:ext cx="10725912" cy="5321808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Matrix determinant lemma: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$\det(M+x\,uv^T)=\det M+x\,v^T\operatorname{adj}(M)\,u$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 For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$u=v=\mathbf 1$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the linear coefficient is the sum of all cofactors of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$M$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Adding the same quantity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$x$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to every element of an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$n\times n$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determinant gives a polynomial of degree at most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$1$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in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$x$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Replacing a column by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$(1,\dots,1)^T$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gives the sum of the cofactors along that column: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$\det[\dots,\mathbf 1,\dots]=\sum_iA_{ij}$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Check: for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$M=I_3$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$f(x)=\det(I+xJ)=1+3x$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; the cofactor sum of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$I_3$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is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$3$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(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$A_{11}=A_{22}=A_{33}=1$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others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$0$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).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Fallback>
      </mc:AlternateContent>
    </p:spTree>
  </p:cSld>
  <p:clrMapOvr>
    <a:masterClrMapping/>
  </p:clrMapOvr>
</p:sld>
</file>

<file path=ppt/slides/slide7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FFFFFF"/>
          </a:fontRef>
        </p:style>
        <p:txBody>
          <a:bodyPr rtlCol="0" anchor="ctr" lIns="731520"/>
          <a:lstStyle>
            <a:lvl1pPr>
              <a:defRPr sz="3200">
                <a:solidFill>
                  <a:srgbClr val="FFFFFF"/>
                </a:solidFill>
              </a:defRPr>
            </a:lvl1pPr>
          </a:lstStyle>
          <a:p>
            <a:pPr algn="l">
              <a:defRPr sz="3200">
                <a:solidFill>
                  <a:srgbClr val="FFFFFF"/>
                </a:solidFill>
              </a:defRPr>
            </a:pPr>
            <a:r>
              <a:rPr sz="3200" b="1">
                <a:solidFill>
                  <a:srgbClr val="FFFFFF"/>
                </a:solidFill>
                <a:latin typeface="Arial"/>
              </a:rPr>
              <a:t>Question 12</a:t>
            </a:r>
            <a:endParaRPr sz="3200">
              <a:solidFill>
                <a:srgbClr val="FFFFFF"/>
              </a:solidFill>
            </a:endParaRPr>
          </a:p>
        </p:txBody>
      </p:sp>
      <p:sp>
        <p:nvSpPr>
          <p:cNvPr id="3" name="Rounded Rectangle 2"/>
          <p:cNvSpPr/>
          <p:nvPr/>
        </p:nvSpPr>
        <p:spPr>
          <a:xfrm>
            <a:off x="7894015" y="246887"/>
            <a:ext cx="3840480" cy="603504"/>
          </a:xfrm>
          <a:prstGeom prst="roundRect">
            <a:avLst>
              <a:gd name="adj" fmla="val 50000"/>
            </a:avLst>
          </a:prstGeom>
          <a:solidFill>
            <a:srgbClr val="F6B26B"/>
          </a:solidFill>
          <a:ln w="1905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111827"/>
          </a:fontRef>
        </p:style>
        <p:txBody>
          <a:bodyPr rtlCol="0" anchor="ctr" wrap="square" lIns="228600" rIns="228600" tIns="18288" bIns="18288"/>
          <a:lstStyle>
            <a:lvl1pPr>
              <a:defRPr sz="2400">
                <a:solidFill>
                  <a:srgbClr val="111827"/>
                </a:solidFill>
              </a:defRPr>
            </a:lvl1pPr>
          </a:lstStyle>
          <a:p>
            <a:pPr algn="ctr">
              <a:defRPr sz="2400">
                <a:solidFill>
                  <a:srgbClr val="111827"/>
                </a:solidFill>
              </a:defRPr>
            </a:pPr>
            <a:r>
              <a:rPr sz="2400" b="1">
                <a:solidFill>
                  <a:srgbClr val="111827"/>
                </a:solidFill>
                <a:latin typeface="Arial"/>
              </a:rPr>
              <a:t>Level 3  ·  4 Marks</a:t>
            </a:r>
            <a:endParaRPr sz="2400">
              <a:solidFill>
                <a:srgbClr val="111827"/>
              </a:solidFill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4" name="Rounded Rectangle 3"/>
              <p:cNvSpPr/>
              <p:nvPr/>
            </p:nvSpPr>
            <p:spPr>
              <a:xfrm>
                <a:off x="731520" y="1280160"/>
                <a:ext cx="10725912" cy="2008124"/>
              </a:xfrm>
              <a:prstGeom prst="roundRect">
                <a:avLst>
                  <a:gd name="adj" fmla="val 8000"/>
                </a:avLst>
              </a:prstGeom>
              <a:solidFill>
                <a:srgbClr val="E0ECFF"/>
              </a:solidFill>
              <a:ln w="25400">
                <a:solidFill>
                  <a:srgbClr val="1D4ED8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>
                  <a:spcAft>
                    <a:spcPts val="500"/>
                  </a:spcAft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Let </a:t>
                </a:r>
                <a14:m>
                  <m:oMath xmlns:m="http://schemas.openxmlformats.org/officeDocument/2006/math">
                    <m:sSub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𝑎</m:t>
                        </m:r>
                      </m:e>
                      <m:sub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sub>
                    </m:sSub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&gt;</m:t>
                    </m:r>
                    <m:sSub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𝑎</m:t>
                        </m:r>
                      </m:e>
                      <m:sub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b>
                    </m:sSub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&gt;</m:t>
                    </m:r>
                    <m:sSub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𝑎</m:t>
                        </m:r>
                      </m:e>
                      <m:sub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3</m:t>
                        </m:r>
                      </m:sub>
                    </m:sSub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&gt;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…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&gt;</m:t>
                    </m:r>
                    <m:sSub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𝑎</m:t>
                        </m:r>
                      </m:e>
                      <m:sub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𝑛</m:t>
                        </m:r>
                      </m:sub>
                    </m:sSub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&gt;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; </a:t>
                </a:r>
                <a14:m>
                  <m:oMath xmlns:m="http://schemas.openxmlformats.org/officeDocument/2006/math">
                    <m:sSub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𝑝</m:t>
                        </m:r>
                      </m:e>
                      <m:sub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sub>
                    </m:sSub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&gt;</m:t>
                    </m:r>
                    <m:sSub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𝑝</m:t>
                        </m:r>
                      </m:e>
                      <m:sub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b>
                    </m:sSub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&gt;</m:t>
                    </m:r>
                    <m:sSub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𝑝</m:t>
                        </m:r>
                      </m:e>
                      <m:sub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3</m:t>
                        </m:r>
                      </m:sub>
                    </m:sSub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&gt;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…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&gt;</m:t>
                    </m:r>
                    <m:sSub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𝑝</m:t>
                        </m:r>
                      </m:e>
                      <m:sub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𝑛</m:t>
                        </m:r>
                      </m:sub>
                    </m:sSub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&gt;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0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such that </a:t>
                </a:r>
                <a14:m>
                  <m:oMath xmlns:m="http://schemas.openxmlformats.org/officeDocument/2006/math">
                    <m:sSub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𝑝</m:t>
                        </m:r>
                      </m:e>
                      <m:sub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sub>
                    </m:sSub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sSub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𝑝</m:t>
                        </m:r>
                      </m:e>
                      <m:sub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b>
                    </m:sSub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…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sSub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𝑝</m:t>
                        </m:r>
                      </m:e>
                      <m:sub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𝑛</m:t>
                        </m:r>
                      </m:sub>
                    </m:sSub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 Also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𝐹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sSup>
                      <m:e>
                        <m:d>
                          <m:dPr>
                            <m:begChr m:val="("/>
                            <m:sepChr m:val=""/>
                            <m:endChr m:val=")"/>
                            <m:grow/>
                            <m:ctrlP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sSub>
                              <m:e>
                                <m:r>
                                  <a:rPr lang="en-IN" sz="2400" i="1">
                                    <a:solidFill>
                                      <a:srgbClr val="111827"/>
                                    </a:solidFill>
                                    <a:latin typeface="Cambria Math" panose="02040503050406030204" pitchFamily="18" charset="0"/>
                                  </a:rPr>
                                  <m:t>𝑝</m:t>
                                </m:r>
                              </m:e>
                              <m:sub>
                                <m:r>
                                  <a:rPr lang="en-IN" sz="2400" i="1">
                                    <a:solidFill>
                                      <a:srgbClr val="111827"/>
                                    </a:solidFill>
                                    <a:latin typeface="Cambria Math" panose="02040503050406030204" pitchFamily="18" charset="0"/>
                                  </a:rPr>
                                  <m:t>1</m:t>
                                </m:r>
                              </m:sub>
                            </m:sSub>
                            <m:sSubSup>
                              <m:e>
                                <m:r>
                                  <a:rPr lang="en-IN" sz="2400" i="1">
                                    <a:solidFill>
                                      <a:srgbClr val="111827"/>
                                    </a:solidFill>
                                    <a:latin typeface="Cambria Math" panose="02040503050406030204" pitchFamily="18" charset="0"/>
                                  </a:rPr>
                                  <m:t>𝑎</m:t>
                                </m:r>
                              </m:e>
                              <m:sub>
                                <m:r>
                                  <a:rPr lang="en-IN" sz="2400" i="1">
                                    <a:solidFill>
                                      <a:srgbClr val="111827"/>
                                    </a:solidFill>
                                    <a:latin typeface="Cambria Math" panose="02040503050406030204" pitchFamily="18" charset="0"/>
                                  </a:rPr>
                                  <m:t>1</m:t>
                                </m:r>
                              </m:sub>
                              <m:sup>
                                <m:r>
                                  <a:rPr lang="en-IN" sz="2400" i="1">
                                    <a:solidFill>
                                      <a:srgbClr val="111827"/>
                                    </a:solidFill>
                                    <a:latin typeface="Cambria Math" panose="02040503050406030204" pitchFamily="18" charset="0"/>
                                  </a:rPr>
                                  <m:t>𝑥</m:t>
                                </m:r>
                              </m:sup>
                            </m:sSubSup>
                            <m:r>
                              <m:rPr>
                                <m:sty m:val="p"/>
                              </m:rPr>
                              <a:rPr lang="en-IN" sz="2400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+</m:t>
                            </m:r>
                            <m:sSub>
                              <m:e>
                                <m:r>
                                  <a:rPr lang="en-IN" sz="2400" i="1">
                                    <a:solidFill>
                                      <a:srgbClr val="111827"/>
                                    </a:solidFill>
                                    <a:latin typeface="Cambria Math" panose="02040503050406030204" pitchFamily="18" charset="0"/>
                                  </a:rPr>
                                  <m:t>𝑝</m:t>
                                </m:r>
                              </m:e>
                              <m:sub>
                                <m:r>
                                  <a:rPr lang="en-IN" sz="2400" i="1">
                                    <a:solidFill>
                                      <a:srgbClr val="111827"/>
                                    </a:solidFill>
                                    <a:latin typeface="Cambria Math" panose="02040503050406030204" pitchFamily="18" charset="0"/>
                                  </a:rPr>
                                  <m:t>2</m:t>
                                </m:r>
                              </m:sub>
                            </m:sSub>
                            <m:sSubSup>
                              <m:e>
                                <m:r>
                                  <a:rPr lang="en-IN" sz="2400" i="1">
                                    <a:solidFill>
                                      <a:srgbClr val="111827"/>
                                    </a:solidFill>
                                    <a:latin typeface="Cambria Math" panose="02040503050406030204" pitchFamily="18" charset="0"/>
                                  </a:rPr>
                                  <m:t>𝑎</m:t>
                                </m:r>
                              </m:e>
                              <m:sub>
                                <m:r>
                                  <a:rPr lang="en-IN" sz="2400" i="1">
                                    <a:solidFill>
                                      <a:srgbClr val="111827"/>
                                    </a:solidFill>
                                    <a:latin typeface="Cambria Math" panose="02040503050406030204" pitchFamily="18" charset="0"/>
                                  </a:rPr>
                                  <m:t>2</m:t>
                                </m:r>
                              </m:sub>
                              <m:sup>
                                <m:r>
                                  <a:rPr lang="en-IN" sz="2400" i="1">
                                    <a:solidFill>
                                      <a:srgbClr val="111827"/>
                                    </a:solidFill>
                                    <a:latin typeface="Cambria Math" panose="02040503050406030204" pitchFamily="18" charset="0"/>
                                  </a:rPr>
                                  <m:t>𝑥</m:t>
                                </m:r>
                              </m:sup>
                            </m:sSubSup>
                            <m:r>
                              <m:rPr>
                                <m:sty m:val="p"/>
                              </m:rPr>
                              <a:rPr lang="en-IN" sz="2400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+</m:t>
                            </m:r>
                            <m:r>
                              <m:rPr>
                                <m:sty m:val="p"/>
                              </m:rPr>
                              <a:rPr lang="en-IN" sz="2400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…</m:t>
                            </m:r>
                            <m:r>
                              <m:rPr>
                                <m:sty m:val="p"/>
                              </m:rPr>
                              <a:rPr lang="en-IN" sz="2400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+</m:t>
                            </m:r>
                            <m:sSub>
                              <m:e>
                                <m:r>
                                  <a:rPr lang="en-IN" sz="2400" i="1">
                                    <a:solidFill>
                                      <a:srgbClr val="111827"/>
                                    </a:solidFill>
                                    <a:latin typeface="Cambria Math" panose="02040503050406030204" pitchFamily="18" charset="0"/>
                                  </a:rPr>
                                  <m:t>𝑝</m:t>
                                </m:r>
                              </m:e>
                              <m:sub>
                                <m:r>
                                  <a:rPr lang="en-IN" sz="2400" i="1">
                                    <a:solidFill>
                                      <a:srgbClr val="111827"/>
                                    </a:solidFill>
                                    <a:latin typeface="Cambria Math" panose="02040503050406030204" pitchFamily="18" charset="0"/>
                                  </a:rPr>
                                  <m:t>𝑛</m:t>
                                </m:r>
                              </m:sub>
                            </m:sSub>
                            <m:sSubSup>
                              <m:e>
                                <m:r>
                                  <a:rPr lang="en-IN" sz="2400" i="1">
                                    <a:solidFill>
                                      <a:srgbClr val="111827"/>
                                    </a:solidFill>
                                    <a:latin typeface="Cambria Math" panose="02040503050406030204" pitchFamily="18" charset="0"/>
                                  </a:rPr>
                                  <m:t>𝑎</m:t>
                                </m:r>
                              </m:e>
                              <m:sub>
                                <m:r>
                                  <a:rPr lang="en-IN" sz="2400" i="1">
                                    <a:solidFill>
                                      <a:srgbClr val="111827"/>
                                    </a:solidFill>
                                    <a:latin typeface="Cambria Math" panose="02040503050406030204" pitchFamily="18" charset="0"/>
                                  </a:rPr>
                                  <m:t>𝑛</m:t>
                                </m:r>
                              </m:sub>
                              <m:sup>
                                <m:r>
                                  <a:rPr lang="en-IN" sz="2400" i="1">
                                    <a:solidFill>
                                      <a:srgbClr val="111827"/>
                                    </a:solidFill>
                                    <a:latin typeface="Cambria Math" panose="02040503050406030204" pitchFamily="18" charset="0"/>
                                  </a:rPr>
                                  <m:t>𝑥</m:t>
                                </m:r>
                              </m:sup>
                            </m:sSubSup>
                          </m:e>
                        </m:d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/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</m:sup>
                    </m:sSup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 Compute (a) </a:t>
                </a:r>
                <a14:m>
                  <m:oMath xmlns:m="http://schemas.openxmlformats.org/officeDocument/2006/math">
                    <m:sSub>
                      <m:e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lim</m:t>
                        </m:r>
                      </m:e>
                      <m:sub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→</m:t>
                        </m:r>
                        <m:sSup>
                          <m:e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0</m:t>
                            </m:r>
                          </m:e>
                          <m:sup>
                            <m:r>
                              <m:rPr>
                                <m:sty m:val="p"/>
                              </m:rPr>
                              <a:rPr lang="en-IN" sz="2400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+</m:t>
                            </m:r>
                          </m:sup>
                        </m:sSup>
                      </m:sub>
                    </m:sSub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𝐹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(b) </a:t>
                </a:r>
                <a14:m>
                  <m:oMath xmlns:m="http://schemas.openxmlformats.org/officeDocument/2006/math">
                    <m:sSub>
                      <m:e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lim</m:t>
                        </m:r>
                      </m:e>
                      <m:sub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→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∞</m:t>
                        </m:r>
                      </m:sub>
                    </m:sSub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𝐹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(c) </a:t>
                </a:r>
                <a14:m>
                  <m:oMath xmlns:m="http://schemas.openxmlformats.org/officeDocument/2006/math">
                    <m:sSub>
                      <m:e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lim</m:t>
                        </m:r>
                      </m:e>
                      <m:sub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→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−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∞</m:t>
                        </m:r>
                      </m:sub>
                    </m:sSub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𝐹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Choice>
        <mc:Fallback>
          <p:sp>
            <p:nvSpPr>
              <p:cNvPr id="4" name="Rounded Rectangle 3"/>
              <p:cNvSpPr/>
              <p:nvPr/>
            </p:nvSpPr>
            <p:spPr>
              <a:xfrm>
                <a:off x="731520" y="1280160"/>
                <a:ext cx="10725912" cy="2008124"/>
              </a:xfrm>
              <a:prstGeom prst="roundRect">
                <a:avLst>
                  <a:gd name="adj" fmla="val 8000"/>
                </a:avLst>
              </a:prstGeom>
              <a:solidFill>
                <a:srgbClr val="E0ECFF"/>
              </a:solidFill>
              <a:ln w="25400">
                <a:solidFill>
                  <a:srgbClr val="1D4ED8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>
                  <a:spcAft>
                    <a:spcPts val="500"/>
                  </a:spcAft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Let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$a_1&gt;a_2&gt;a_3&gt;\dots&gt;a_n&gt;1$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;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$p_1&gt;p_2&gt;p_3&gt;\dots&gt;p_n&gt;0$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such that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$p_1+p_2+\dots+p_n=1$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 Also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$F(x)=\left(p_1a_1^x+p_2a_2^x+\dots+p_na_n^x\right)^{1/x}$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 Compute (a)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$\lim_{x\to0^+}F(x)$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(b)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$\lim_{x\to\infty}F(x)$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(c)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$\lim_{x\to-\infty}F(x)$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Fallback>
      </mc:AlternateContent>
      <p:sp>
        <p:nvSpPr>
          <p:cNvPr id="5" name="Rectangle 4"/>
          <p:cNvSpPr/>
          <p:nvPr/>
        </p:nvSpPr>
        <p:spPr>
          <a:xfrm>
            <a:off x="731520" y="3516884"/>
            <a:ext cx="10725912" cy="1975103"/>
          </a:xfrm>
          <a:prstGeom prst="rect">
            <a:avLst/>
          </a:prstGeom>
          <a:solidFill>
            <a:srgbClr val="FFFFFF"/>
          </a:solidFill>
          <a:ln w="19050">
            <a:solidFill>
              <a:srgbClr val="6B728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111827"/>
          </a:fontRef>
        </p:style>
        <p:txBody>
          <a:bodyPr rtlCol="0" anchor="t" wrap="square" lIns="228600" rIns="228600" tIns="137160" bIns="73152"/>
          <a:lstStyle>
            <a:lvl1pPr>
              <a:defRPr sz="2400">
                <a:solidFill>
                  <a:srgbClr val="111827"/>
                </a:solidFill>
              </a:defRPr>
            </a:lvl1pPr>
          </a:lstStyle>
          <a:p>
            <a:pPr algn="l">
              <a:spcAft>
                <a:spcPts val="200"/>
              </a:spcAft>
              <a:defRPr sz="2400">
                <a:solidFill>
                  <a:srgbClr val="111827"/>
                </a:solidFill>
              </a:defRPr>
            </a:pPr>
            <a:r>
              <a:rPr sz="2400" b="0">
                <a:solidFill>
                  <a:srgbClr val="111827"/>
                </a:solidFill>
                <a:latin typeface="Arial"/>
              </a:rPr>
              <a:t>Subjective Type(4 Marks)</a:t>
            </a:r>
            <a:endParaRPr sz="2400">
              <a:solidFill>
                <a:srgbClr val="111827"/>
              </a:solidFill>
            </a:endParaRPr>
          </a:p>
          <a:p>
            <a:pPr algn="l">
              <a:spcAft>
                <a:spcPts val="200"/>
              </a:spcAft>
              <a:defRPr sz="2400">
                <a:solidFill>
                  <a:srgbClr val="111827"/>
                </a:solidFill>
              </a:defRPr>
            </a:pPr>
            <a:r>
              <a:rPr sz="2400" b="0">
                <a:solidFill>
                  <a:srgbClr val="111827"/>
                </a:solidFill>
                <a:latin typeface="Arial"/>
              </a:rPr>
              <a:t>Concept(s) : Limits of the indeterminate form 1 to the power infinity and power means, Limits at infinity</a:t>
            </a:r>
            <a:endParaRPr sz="2400">
              <a:solidFill>
                <a:srgbClr val="111827"/>
              </a:solidFill>
            </a:endParaRPr>
          </a:p>
          <a:p>
            <a:pPr algn="l">
              <a:spcAft>
                <a:spcPts val="200"/>
              </a:spcAft>
              <a:defRPr sz="2400">
                <a:solidFill>
                  <a:srgbClr val="111827"/>
                </a:solidFill>
              </a:defRPr>
            </a:pPr>
            <a:r>
              <a:rPr sz="2400" b="0">
                <a:solidFill>
                  <a:srgbClr val="111827"/>
                </a:solidFill>
                <a:latin typeface="Arial"/>
              </a:rPr>
              <a:t>Difficulty Level: Level 3(Average JEE Advanced Level)</a:t>
            </a:r>
            <a:endParaRPr sz="2400">
              <a:solidFill>
                <a:srgbClr val="111827"/>
              </a:solidFill>
            </a:endParaRPr>
          </a:p>
        </p:txBody>
      </p:sp>
    </p:spTree>
  </p:cSld>
  <p:clrMapOvr>
    <a:masterClrMapping/>
  </p:clrMapOvr>
</p:sld>
</file>

<file path=ppt/slides/slide7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FFFFFF"/>
          </a:fontRef>
        </p:style>
        <p:txBody>
          <a:bodyPr rtlCol="0" anchor="ctr" lIns="731520"/>
          <a:lstStyle>
            <a:lvl1pPr>
              <a:defRPr sz="3200">
                <a:solidFill>
                  <a:srgbClr val="FFFFFF"/>
                </a:solidFill>
              </a:defRPr>
            </a:lvl1pPr>
          </a:lstStyle>
          <a:p>
            <a:pPr algn="l">
              <a:defRPr sz="3200">
                <a:solidFill>
                  <a:srgbClr val="FFFFFF"/>
                </a:solidFill>
              </a:defRPr>
            </a:pPr>
            <a:r>
              <a:rPr sz="3200" b="1">
                <a:solidFill>
                  <a:srgbClr val="FFFFFF"/>
                </a:solidFill>
                <a:latin typeface="Arial"/>
              </a:rPr>
              <a:t>Question 12</a:t>
            </a:r>
            <a:endParaRPr sz="3200">
              <a:solidFill>
                <a:srgbClr val="FFFFFF"/>
              </a:solidFill>
            </a:endParaRPr>
          </a:p>
        </p:txBody>
      </p:sp>
      <p:sp>
        <p:nvSpPr>
          <p:cNvPr id="3" name="Rounded Rectangle 2"/>
          <p:cNvSpPr/>
          <p:nvPr/>
        </p:nvSpPr>
        <p:spPr>
          <a:xfrm>
            <a:off x="7894015" y="246887"/>
            <a:ext cx="3840480" cy="603504"/>
          </a:xfrm>
          <a:prstGeom prst="roundRect">
            <a:avLst>
              <a:gd name="adj" fmla="val 50000"/>
            </a:avLst>
          </a:prstGeom>
          <a:solidFill>
            <a:srgbClr val="F6B26B"/>
          </a:solidFill>
          <a:ln w="1905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111827"/>
          </a:fontRef>
        </p:style>
        <p:txBody>
          <a:bodyPr rtlCol="0" anchor="ctr" wrap="square" lIns="228600" rIns="228600" tIns="18288" bIns="18288"/>
          <a:lstStyle>
            <a:lvl1pPr>
              <a:defRPr sz="2400">
                <a:solidFill>
                  <a:srgbClr val="111827"/>
                </a:solidFill>
              </a:defRPr>
            </a:lvl1pPr>
          </a:lstStyle>
          <a:p>
            <a:pPr algn="ctr">
              <a:defRPr sz="2400">
                <a:solidFill>
                  <a:srgbClr val="111827"/>
                </a:solidFill>
              </a:defRPr>
            </a:pPr>
            <a:r>
              <a:rPr sz="2400" b="1">
                <a:solidFill>
                  <a:srgbClr val="111827"/>
                </a:solidFill>
                <a:latin typeface="Arial"/>
              </a:rPr>
              <a:t>Level 3  ·  4 Marks</a:t>
            </a:r>
            <a:endParaRPr sz="2400">
              <a:solidFill>
                <a:srgbClr val="111827"/>
              </a:solidFill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4" name="Rounded Rectangle 3"/>
              <p:cNvSpPr/>
              <p:nvPr/>
            </p:nvSpPr>
            <p:spPr>
              <a:xfrm>
                <a:off x="731520" y="1280160"/>
                <a:ext cx="10725912" cy="1109472"/>
              </a:xfrm>
              <a:prstGeom prst="roundRect">
                <a:avLst>
                  <a:gd name="adj" fmla="val 8000"/>
                </a:avLst>
              </a:prstGeom>
              <a:solidFill>
                <a:srgbClr val="FDE68A"/>
              </a:solidFill>
              <a:ln w="31750">
                <a:solidFill>
                  <a:srgbClr val="D97706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78350F"/>
              </a:fontRef>
            </p:style>
            <p:txBody>
              <a:bodyPr rtlCol="0" anchor="ctr" wrap="square" lIns="228600" rIns="228600" tIns="54864" bIns="73152"/>
              <a:lstStyle>
                <a:lvl1pPr>
                  <a:defRPr sz="2400">
                    <a:solidFill>
                      <a:srgbClr val="78350F"/>
                    </a:solidFill>
                  </a:defRPr>
                </a:lvl1pPr>
              </a:lstStyle>
              <a:p>
                <a:pPr algn="l">
                  <a:defRPr sz="2400">
                    <a:solidFill>
                      <a:srgbClr val="78350F"/>
                    </a:solidFill>
                  </a:defRPr>
                </a:pPr>
                <a:r>
                  <a:rPr sz="2400" b="1">
                    <a:solidFill>
                      <a:srgbClr val="78350F"/>
                    </a:solidFill>
                    <a:latin typeface="Arial"/>
                  </a:rPr>
                  <a:t>Key idea:  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(a) is a </a:t>
                </a:r>
                <a14:m>
                  <m:oMath xmlns:m="http://schemas.openxmlformats.org/officeDocument/2006/math">
                    <m:sSup>
                      <m:e>
                        <m: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e>
                      <m:sup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∞</m:t>
                        </m:r>
                      </m:sup>
                    </m:sSup>
                  </m:oMath>
                </a14:m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 limit; for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→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±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∞</m:t>
                    </m:r>
                  </m:oMath>
                </a14:m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 factor out the dominant term </a:t>
                </a:r>
                <a14:m>
                  <m:oMath xmlns:m="http://schemas.openxmlformats.org/officeDocument/2006/math">
                    <m:sSubSup>
                      <m:e>
                        <m: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𝑎</m:t>
                        </m:r>
                      </m:e>
                      <m:sub>
                        <m: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sub>
                      <m:sup>
                        <m: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</m:sup>
                    </m:sSubSup>
                  </m:oMath>
                </a14:m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 (respectively </a:t>
                </a:r>
                <a14:m>
                  <m:oMath xmlns:m="http://schemas.openxmlformats.org/officeDocument/2006/math">
                    <m:sSubSup>
                      <m:e>
                        <m: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𝑎</m:t>
                        </m:r>
                      </m:e>
                      <m:sub>
                        <m: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𝑛</m:t>
                        </m:r>
                      </m:sub>
                      <m:sup>
                        <m: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</m:sup>
                    </m:sSubSup>
                  </m:oMath>
                </a14:m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).</a:t>
                </a:r>
                <a:endParaRPr sz="2400">
                  <a:solidFill>
                    <a:srgbClr val="78350F"/>
                  </a:solidFill>
                </a:endParaRPr>
              </a:p>
            </p:txBody>
          </p:sp>
        </mc:Choice>
        <mc:Fallback>
          <p:sp>
            <p:nvSpPr>
              <p:cNvPr id="4" name="Rounded Rectangle 3"/>
              <p:cNvSpPr/>
              <p:nvPr/>
            </p:nvSpPr>
            <p:spPr>
              <a:xfrm>
                <a:off x="731520" y="1280160"/>
                <a:ext cx="10725912" cy="1109472"/>
              </a:xfrm>
              <a:prstGeom prst="roundRect">
                <a:avLst>
                  <a:gd name="adj" fmla="val 8000"/>
                </a:avLst>
              </a:prstGeom>
              <a:solidFill>
                <a:srgbClr val="FDE68A"/>
              </a:solidFill>
              <a:ln w="31750">
                <a:solidFill>
                  <a:srgbClr val="D97706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78350F"/>
              </a:fontRef>
            </p:style>
            <p:txBody>
              <a:bodyPr rtlCol="0" anchor="ctr" wrap="square" lIns="228600" rIns="228600" tIns="54864" bIns="73152"/>
              <a:lstStyle>
                <a:lvl1pPr>
                  <a:defRPr sz="2400">
                    <a:solidFill>
                      <a:srgbClr val="78350F"/>
                    </a:solidFill>
                  </a:defRPr>
                </a:lvl1pPr>
              </a:lstStyle>
              <a:p>
                <a:pPr algn="l">
                  <a:defRPr sz="2400">
                    <a:solidFill>
                      <a:srgbClr val="78350F"/>
                    </a:solidFill>
                  </a:defRPr>
                </a:pPr>
                <a:r>
                  <a:rPr sz="2400" b="1">
                    <a:solidFill>
                      <a:srgbClr val="78350F"/>
                    </a:solidFill>
                    <a:latin typeface="Arial"/>
                  </a:rPr>
                  <a:t>Key idea:  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(a) is a </a:t>
                </a:r>
                <a:r>
                  <a:rPr lang="en-IN" sz="2400">
                    <a:solidFill>
                      <a:srgbClr val="78350F"/>
                    </a:solidFill>
                    <a:latin typeface="Cambria Math" panose="02040503050406030204" pitchFamily="18" charset="0"/>
                  </a:rPr>
                  <a:t>$1^\infty$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 limit; for </a:t>
                </a:r>
                <a:r>
                  <a:rPr lang="en-IN" sz="2400">
                    <a:solidFill>
                      <a:srgbClr val="78350F"/>
                    </a:solidFill>
                    <a:latin typeface="Cambria Math" panose="02040503050406030204" pitchFamily="18" charset="0"/>
                  </a:rPr>
                  <a:t>$x\to\pm\infty$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 factor out the dominant term </a:t>
                </a:r>
                <a:r>
                  <a:rPr lang="en-IN" sz="2400">
                    <a:solidFill>
                      <a:srgbClr val="78350F"/>
                    </a:solidFill>
                    <a:latin typeface="Cambria Math" panose="02040503050406030204" pitchFamily="18" charset="0"/>
                  </a:rPr>
                  <a:t>$a_1^x$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 (respectively </a:t>
                </a:r>
                <a:r>
                  <a:rPr lang="en-IN" sz="2400">
                    <a:solidFill>
                      <a:srgbClr val="78350F"/>
                    </a:solidFill>
                    <a:latin typeface="Cambria Math" panose="02040503050406030204" pitchFamily="18" charset="0"/>
                  </a:rPr>
                  <a:t>$a_n^x$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).</a:t>
                </a:r>
                <a:endParaRPr sz="2400">
                  <a:solidFill>
                    <a:srgbClr val="78350F"/>
                  </a:solidFill>
                </a:endParaRP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5" name="Rectangle 4"/>
              <p:cNvSpPr/>
              <p:nvPr/>
            </p:nvSpPr>
            <p:spPr>
              <a:xfrm>
                <a:off x="731520" y="2526792"/>
                <a:ext cx="10725912" cy="4148328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(a) As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→</m:t>
                    </m:r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0</m:t>
                        </m:r>
                      </m:e>
                      <m:sup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+</m:t>
                        </m:r>
                      </m:sup>
                    </m:sSup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the base tends to </a:t>
                </a:r>
                <a14:m>
                  <m:oMath xmlns:m="http://schemas.openxmlformats.org/officeDocument/2006/math">
                    <m:sSub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𝑝</m:t>
                        </m:r>
                      </m:e>
                      <m:sub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sub>
                    </m:sSub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…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sSub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𝑝</m:t>
                        </m:r>
                      </m:e>
                      <m:sub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𝑛</m:t>
                        </m:r>
                      </m:sub>
                    </m:sSub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so the limit has the form </a:t>
                </a:r>
                <a14:m>
                  <m:oMath xmlns:m="http://schemas.openxmlformats.org/officeDocument/2006/math"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e>
                      <m:sup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∞</m:t>
                        </m:r>
                      </m:sup>
                    </m:sSup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14:m>
                  <m:oMath xmlns:m="http://schemas.openxmlformats.org/officeDocument/2006/math">
                    <m:sSub>
                      <m:e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lim</m:t>
                        </m:r>
                      </m:e>
                      <m:sub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→</m:t>
                        </m:r>
                        <m:sSup>
                          <m:e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0</m:t>
                            </m:r>
                          </m:e>
                          <m:sup>
                            <m:r>
                              <m:rPr>
                                <m:sty m:val="p"/>
                              </m:rPr>
                              <a:rPr lang="en-IN" sz="2400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+</m:t>
                            </m:r>
                          </m:sup>
                        </m:sSup>
                      </m:sub>
                    </m:sSub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𝐹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𝑒</m:t>
                        </m:r>
                      </m:e>
                      <m:sup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lim</m:t>
                        </m:r>
                        <m:f>
                          <m:fPr>
                            <m:type m:val="bar"/>
                            <m:ctrlP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fPr>
                          <m:num>
                            <m:sSub>
                              <m:e>
                                <m:r>
                                  <a:rPr lang="en-IN" sz="2400" i="1">
                                    <a:solidFill>
                                      <a:srgbClr val="111827"/>
                                    </a:solidFill>
                                    <a:latin typeface="Cambria Math" panose="02040503050406030204" pitchFamily="18" charset="0"/>
                                  </a:rPr>
                                  <m:t>𝑝</m:t>
                                </m:r>
                              </m:e>
                              <m:sub>
                                <m:r>
                                  <a:rPr lang="en-IN" sz="2400" i="1">
                                    <a:solidFill>
                                      <a:srgbClr val="111827"/>
                                    </a:solidFill>
                                    <a:latin typeface="Cambria Math" panose="02040503050406030204" pitchFamily="18" charset="0"/>
                                  </a:rPr>
                                  <m:t>1</m:t>
                                </m:r>
                              </m:sub>
                            </m:sSub>
                            <m:sSubSup>
                              <m:e>
                                <m:r>
                                  <a:rPr lang="en-IN" sz="2400" i="1">
                                    <a:solidFill>
                                      <a:srgbClr val="111827"/>
                                    </a:solidFill>
                                    <a:latin typeface="Cambria Math" panose="02040503050406030204" pitchFamily="18" charset="0"/>
                                  </a:rPr>
                                  <m:t>𝑎</m:t>
                                </m:r>
                              </m:e>
                              <m:sub>
                                <m:r>
                                  <a:rPr lang="en-IN" sz="2400" i="1">
                                    <a:solidFill>
                                      <a:srgbClr val="111827"/>
                                    </a:solidFill>
                                    <a:latin typeface="Cambria Math" panose="02040503050406030204" pitchFamily="18" charset="0"/>
                                  </a:rPr>
                                  <m:t>1</m:t>
                                </m:r>
                              </m:sub>
                              <m:sup>
                                <m:r>
                                  <a:rPr lang="en-IN" sz="2400" i="1">
                                    <a:solidFill>
                                      <a:srgbClr val="111827"/>
                                    </a:solidFill>
                                    <a:latin typeface="Cambria Math" panose="02040503050406030204" pitchFamily="18" charset="0"/>
                                  </a:rPr>
                                  <m:t>𝑥</m:t>
                                </m:r>
                              </m:sup>
                            </m:sSubSup>
                            <m:r>
                              <m:rPr>
                                <m:sty m:val="p"/>
                              </m:rPr>
                              <a:rPr lang="en-IN" sz="2400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+</m:t>
                            </m:r>
                            <m:r>
                              <m:rPr>
                                <m:sty m:val="p"/>
                              </m:rPr>
                              <a:rPr lang="en-IN" sz="2400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…</m:t>
                            </m:r>
                            <m:r>
                              <m:rPr>
                                <m:sty m:val="p"/>
                              </m:rPr>
                              <a:rPr lang="en-IN" sz="2400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+</m:t>
                            </m:r>
                            <m:sSub>
                              <m:e>
                                <m:r>
                                  <a:rPr lang="en-IN" sz="2400" i="1">
                                    <a:solidFill>
                                      <a:srgbClr val="111827"/>
                                    </a:solidFill>
                                    <a:latin typeface="Cambria Math" panose="02040503050406030204" pitchFamily="18" charset="0"/>
                                  </a:rPr>
                                  <m:t>𝑝</m:t>
                                </m:r>
                              </m:e>
                              <m:sub>
                                <m:r>
                                  <a:rPr lang="en-IN" sz="2400" i="1">
                                    <a:solidFill>
                                      <a:srgbClr val="111827"/>
                                    </a:solidFill>
                                    <a:latin typeface="Cambria Math" panose="02040503050406030204" pitchFamily="18" charset="0"/>
                                  </a:rPr>
                                  <m:t>𝑛</m:t>
                                </m:r>
                              </m:sub>
                            </m:sSub>
                            <m:sSubSup>
                              <m:e>
                                <m:r>
                                  <a:rPr lang="en-IN" sz="2400" i="1">
                                    <a:solidFill>
                                      <a:srgbClr val="111827"/>
                                    </a:solidFill>
                                    <a:latin typeface="Cambria Math" panose="02040503050406030204" pitchFamily="18" charset="0"/>
                                  </a:rPr>
                                  <m:t>𝑎</m:t>
                                </m:r>
                              </m:e>
                              <m:sub>
                                <m:r>
                                  <a:rPr lang="en-IN" sz="2400" i="1">
                                    <a:solidFill>
                                      <a:srgbClr val="111827"/>
                                    </a:solidFill>
                                    <a:latin typeface="Cambria Math" panose="02040503050406030204" pitchFamily="18" charset="0"/>
                                  </a:rPr>
                                  <m:t>𝑛</m:t>
                                </m:r>
                              </m:sub>
                              <m:sup>
                                <m:r>
                                  <a:rPr lang="en-IN" sz="2400" i="1">
                                    <a:solidFill>
                                      <a:srgbClr val="111827"/>
                                    </a:solidFill>
                                    <a:latin typeface="Cambria Math" panose="02040503050406030204" pitchFamily="18" charset="0"/>
                                  </a:rPr>
                                  <m:t>𝑥</m:t>
                                </m:r>
                              </m:sup>
                            </m:sSubSup>
                            <m:r>
                              <m:rPr>
                                <m:sty m:val="p"/>
                              </m:rPr>
                              <a:rPr lang="en-IN" sz="2400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−</m:t>
                            </m:r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1</m:t>
                            </m:r>
                          </m:num>
                          <m:den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𝑥</m:t>
                            </m:r>
                          </m:den>
                        </m:f>
                      </m:sup>
                    </m:sSup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The exponent is of the form </a:t>
                </a:r>
                <a14:m>
                  <m:oMath xmlns:m="http://schemas.openxmlformats.org/officeDocument/2006/math"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0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0</m:t>
                        </m:r>
                      </m:den>
                    </m:f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(numerator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→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∑</m:t>
                    </m:r>
                    <m:sSub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𝑝</m:t>
                        </m:r>
                      </m:e>
                      <m:sub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𝑖</m:t>
                        </m:r>
                      </m:sub>
                    </m:sSub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0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). By L'Hospital's rule it equals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lim</m:t>
                    </m:r>
                    <m:d>
                      <m:dPr>
                        <m:begChr m:val="("/>
                        <m:sepChr m:val=""/>
                        <m:endChr m:val=")"/>
                        <m:grow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sSub>
                          <m:e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𝑝</m:t>
                            </m:r>
                          </m:e>
                          <m:sub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1</m:t>
                            </m:r>
                          </m:sub>
                        </m:sSub>
                        <m:sSubSup>
                          <m:e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𝑎</m:t>
                            </m:r>
                          </m:e>
                          <m:sub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1</m:t>
                            </m:r>
                          </m:sub>
                          <m:sup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𝑥</m:t>
                            </m:r>
                          </m:sup>
                        </m:sSubSup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ln</m:t>
                        </m:r>
                        <m:sSub>
                          <m:e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𝑎</m:t>
                            </m:r>
                          </m:e>
                          <m:sub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1</m:t>
                            </m:r>
                          </m:sub>
                        </m:sSub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+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…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+</m:t>
                        </m:r>
                        <m:sSub>
                          <m:e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𝑝</m:t>
                            </m:r>
                          </m:e>
                          <m:sub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𝑛</m:t>
                            </m:r>
                          </m:sub>
                        </m:sSub>
                        <m:sSubSup>
                          <m:e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𝑎</m:t>
                            </m:r>
                          </m:e>
                          <m:sub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𝑛</m:t>
                            </m:r>
                          </m:sub>
                          <m:sup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𝑥</m:t>
                            </m:r>
                          </m:sup>
                        </m:sSubSup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ln</m:t>
                        </m:r>
                        <m:sSub>
                          <m:e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𝑎</m:t>
                            </m:r>
                          </m:e>
                          <m:sub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𝑛</m:t>
                            </m:r>
                          </m:sub>
                        </m:sSub>
                      </m:e>
                    </m:d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sSub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𝑝</m:t>
                        </m:r>
                      </m:e>
                      <m:sub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sub>
                    </m:sSub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ln</m:t>
                    </m:r>
                    <m:sSub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𝑎</m:t>
                        </m:r>
                      </m:e>
                      <m:sub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sub>
                    </m:sSub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…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sSub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𝑝</m:t>
                        </m:r>
                      </m:e>
                      <m:sub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𝑛</m:t>
                        </m:r>
                      </m:sub>
                    </m:sSub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ln</m:t>
                    </m:r>
                    <m:sSub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𝑎</m:t>
                        </m:r>
                      </m:e>
                      <m:sub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𝑛</m:t>
                        </m:r>
                      </m:sub>
                    </m:sSub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Choice>
        <mc:Fallback>
          <p:sp>
            <p:nvSpPr>
              <p:cNvPr id="5" name="Rectangle 4"/>
              <p:cNvSpPr/>
              <p:nvPr/>
            </p:nvSpPr>
            <p:spPr>
              <a:xfrm>
                <a:off x="731520" y="2526792"/>
                <a:ext cx="10725912" cy="4148328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(a) As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$x\to0^+$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the base tends to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$p_1+\dots+p_n=1$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so the limit has the form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$1^\infty$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$\lim_{x\to0^+}F(x)=e^{\lim\frac{p_1a_1^x+\dots+p_na_n^x-1}{x}}$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The exponent is of the form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$\frac00$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(numerator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$\to\sum p_i-1=0$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). By L'Hospital's rule it equals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$\lim\left(p_1a_1^x\ln a_1+\dots+p_na_n^x\ln a_n\right)=p_1\ln a_1+\dots+p_n\ln a_n$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Fallback>
      </mc:AlternateContent>
    </p:spTree>
  </p:cSld>
  <p:clrMapOvr>
    <a:masterClrMapping/>
  </p:clrMapOvr>
</p:sld>
</file>

<file path=ppt/slides/slide7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FFFFFF"/>
          </a:fontRef>
        </p:style>
        <p:txBody>
          <a:bodyPr rtlCol="0" anchor="ctr" lIns="731520"/>
          <a:lstStyle>
            <a:lvl1pPr>
              <a:defRPr sz="3200">
                <a:solidFill>
                  <a:srgbClr val="FFFFFF"/>
                </a:solidFill>
              </a:defRPr>
            </a:lvl1pPr>
          </a:lstStyle>
          <a:p>
            <a:pPr algn="l">
              <a:defRPr sz="3200">
                <a:solidFill>
                  <a:srgbClr val="FFFFFF"/>
                </a:solidFill>
              </a:defRPr>
            </a:pPr>
            <a:r>
              <a:rPr sz="3200" b="1">
                <a:solidFill>
                  <a:srgbClr val="FFFFFF"/>
                </a:solidFill>
                <a:latin typeface="Arial"/>
              </a:rPr>
              <a:t>Question 12</a:t>
            </a:r>
            <a:endParaRPr sz="3200">
              <a:solidFill>
                <a:srgbClr val="FFFFFF"/>
              </a:solidFill>
            </a:endParaRPr>
          </a:p>
        </p:txBody>
      </p:sp>
      <p:sp>
        <p:nvSpPr>
          <p:cNvPr id="3" name="Rounded Rectangle 2"/>
          <p:cNvSpPr/>
          <p:nvPr/>
        </p:nvSpPr>
        <p:spPr>
          <a:xfrm>
            <a:off x="7894015" y="246887"/>
            <a:ext cx="3840480" cy="603504"/>
          </a:xfrm>
          <a:prstGeom prst="roundRect">
            <a:avLst>
              <a:gd name="adj" fmla="val 50000"/>
            </a:avLst>
          </a:prstGeom>
          <a:solidFill>
            <a:srgbClr val="F6B26B"/>
          </a:solidFill>
          <a:ln w="1905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111827"/>
          </a:fontRef>
        </p:style>
        <p:txBody>
          <a:bodyPr rtlCol="0" anchor="ctr" wrap="square" lIns="228600" rIns="228600" tIns="18288" bIns="18288"/>
          <a:lstStyle>
            <a:lvl1pPr>
              <a:defRPr sz="2400">
                <a:solidFill>
                  <a:srgbClr val="111827"/>
                </a:solidFill>
              </a:defRPr>
            </a:lvl1pPr>
          </a:lstStyle>
          <a:p>
            <a:pPr algn="ctr">
              <a:defRPr sz="2400">
                <a:solidFill>
                  <a:srgbClr val="111827"/>
                </a:solidFill>
              </a:defRPr>
            </a:pPr>
            <a:r>
              <a:rPr sz="2400" b="1">
                <a:solidFill>
                  <a:srgbClr val="111827"/>
                </a:solidFill>
                <a:latin typeface="Arial"/>
              </a:rPr>
              <a:t>Level 3  ·  4 Marks</a:t>
            </a:r>
            <a:endParaRPr sz="2400">
              <a:solidFill>
                <a:srgbClr val="111827"/>
              </a:solidFill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4" name="Rectangle 3"/>
              <p:cNvSpPr/>
              <p:nvPr/>
            </p:nvSpPr>
            <p:spPr>
              <a:xfrm>
                <a:off x="731520" y="1353312"/>
                <a:ext cx="10725912" cy="5321808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So the limit is </a:t>
                </a:r>
                <a14:m>
                  <m:oMath xmlns:m="http://schemas.openxmlformats.org/officeDocument/2006/math"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𝑒</m:t>
                        </m:r>
                      </m:e>
                      <m:sup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ln</m:t>
                        </m:r>
                        <m:d>
                          <m:dPr>
                            <m:begChr m:val="("/>
                            <m:sepChr m:val=""/>
                            <m:endChr m:val=")"/>
                            <m:grow/>
                            <m:ctrlP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sSubSup>
                              <m:e>
                                <m:r>
                                  <a:rPr lang="en-IN" sz="2400" i="1">
                                    <a:solidFill>
                                      <a:srgbClr val="111827"/>
                                    </a:solidFill>
                                    <a:latin typeface="Cambria Math" panose="02040503050406030204" pitchFamily="18" charset="0"/>
                                  </a:rPr>
                                  <m:t>𝑎</m:t>
                                </m:r>
                              </m:e>
                              <m:sub>
                                <m:r>
                                  <a:rPr lang="en-IN" sz="2400" i="1">
                                    <a:solidFill>
                                      <a:srgbClr val="111827"/>
                                    </a:solidFill>
                                    <a:latin typeface="Cambria Math" panose="02040503050406030204" pitchFamily="18" charset="0"/>
                                  </a:rPr>
                                  <m:t>1</m:t>
                                </m:r>
                              </m:sub>
                              <m:sup>
                                <m:sSub>
                                  <m:e>
                                    <m:r>
                                      <a:rPr lang="en-IN" sz="2400" i="1">
                                        <a:solidFill>
                                          <a:srgbClr val="111827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𝑝</m:t>
                                    </m:r>
                                  </m:e>
                                  <m:sub>
                                    <m:r>
                                      <a:rPr lang="en-IN" sz="2400" i="1">
                                        <a:solidFill>
                                          <a:srgbClr val="111827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1</m:t>
                                    </m:r>
                                  </m:sub>
                                </m:sSub>
                              </m:sup>
                            </m:sSubSup>
                            <m:sSubSup>
                              <m:e>
                                <m:r>
                                  <a:rPr lang="en-IN" sz="2400" i="1">
                                    <a:solidFill>
                                      <a:srgbClr val="111827"/>
                                    </a:solidFill>
                                    <a:latin typeface="Cambria Math" panose="02040503050406030204" pitchFamily="18" charset="0"/>
                                  </a:rPr>
                                  <m:t>𝑎</m:t>
                                </m:r>
                              </m:e>
                              <m:sub>
                                <m:r>
                                  <a:rPr lang="en-IN" sz="2400" i="1">
                                    <a:solidFill>
                                      <a:srgbClr val="111827"/>
                                    </a:solidFill>
                                    <a:latin typeface="Cambria Math" panose="02040503050406030204" pitchFamily="18" charset="0"/>
                                  </a:rPr>
                                  <m:t>2</m:t>
                                </m:r>
                              </m:sub>
                              <m:sup>
                                <m:sSub>
                                  <m:e>
                                    <m:r>
                                      <a:rPr lang="en-IN" sz="2400" i="1">
                                        <a:solidFill>
                                          <a:srgbClr val="111827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𝑝</m:t>
                                    </m:r>
                                  </m:e>
                                  <m:sub>
                                    <m:r>
                                      <a:rPr lang="en-IN" sz="2400" i="1">
                                        <a:solidFill>
                                          <a:srgbClr val="111827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2</m:t>
                                    </m:r>
                                  </m:sub>
                                </m:sSub>
                              </m:sup>
                            </m:sSubSup>
                            <m:r>
                              <m:rPr>
                                <m:sty m:val="p"/>
                              </m:rPr>
                              <a:rPr lang="en-IN" sz="2400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⋯</m:t>
                            </m:r>
                            <m:sSubSup>
                              <m:e>
                                <m:r>
                                  <a:rPr lang="en-IN" sz="2400" i="1">
                                    <a:solidFill>
                                      <a:srgbClr val="111827"/>
                                    </a:solidFill>
                                    <a:latin typeface="Cambria Math" panose="02040503050406030204" pitchFamily="18" charset="0"/>
                                  </a:rPr>
                                  <m:t>𝑎</m:t>
                                </m:r>
                              </m:e>
                              <m:sub>
                                <m:r>
                                  <a:rPr lang="en-IN" sz="2400" i="1">
                                    <a:solidFill>
                                      <a:srgbClr val="111827"/>
                                    </a:solidFill>
                                    <a:latin typeface="Cambria Math" panose="02040503050406030204" pitchFamily="18" charset="0"/>
                                  </a:rPr>
                                  <m:t>𝑛</m:t>
                                </m:r>
                              </m:sub>
                              <m:sup>
                                <m:sSub>
                                  <m:e>
                                    <m:r>
                                      <a:rPr lang="en-IN" sz="2400" i="1">
                                        <a:solidFill>
                                          <a:srgbClr val="111827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𝑝</m:t>
                                    </m:r>
                                  </m:e>
                                  <m:sub>
                                    <m:r>
                                      <a:rPr lang="en-IN" sz="2400" i="1">
                                        <a:solidFill>
                                          <a:srgbClr val="111827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𝑛</m:t>
                                    </m:r>
                                  </m:sub>
                                </m:sSub>
                              </m:sup>
                            </m:sSubSup>
                          </m:e>
                        </m:d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sSub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𝑎</m:t>
                        </m:r>
                      </m:e>
                      <m:sub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sub>
                      <m:sup>
                        <m:sSub>
                          <m:e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𝑝</m:t>
                            </m:r>
                          </m:e>
                          <m:sub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1</m:t>
                            </m:r>
                          </m:sub>
                        </m:sSub>
                      </m:sup>
                    </m:sSubSup>
                    <m:sSub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𝑎</m:t>
                        </m:r>
                      </m:e>
                      <m:sub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b>
                      <m:sup>
                        <m:sSub>
                          <m:e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𝑝</m:t>
                            </m:r>
                          </m:e>
                          <m:sub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2</m:t>
                            </m:r>
                          </m:sub>
                        </m:sSub>
                      </m:sup>
                    </m:sSub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⋯</m:t>
                    </m:r>
                    <m:sSub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𝑎</m:t>
                        </m:r>
                      </m:e>
                      <m:sub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𝑛</m:t>
                        </m:r>
                      </m:sub>
                      <m:sup>
                        <m:sSub>
                          <m:e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𝑝</m:t>
                            </m:r>
                          </m:e>
                          <m:sub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𝑛</m:t>
                            </m:r>
                          </m:sub>
                        </m:sSub>
                      </m:sup>
                    </m:sSubSup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(b) </a:t>
                </a:r>
                <a14:m>
                  <m:oMath xmlns:m="http://schemas.openxmlformats.org/officeDocument/2006/math">
                    <m:sSub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𝑎</m:t>
                        </m:r>
                      </m:e>
                      <m:sub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sub>
                    </m:sSub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&gt;</m:t>
                    </m:r>
                    <m:sSub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𝑎</m:t>
                        </m:r>
                      </m:e>
                      <m:sub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𝑖</m:t>
                        </m:r>
                      </m:sub>
                    </m:sSub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&gt;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gives </a:t>
                </a:r>
                <a14:m>
                  <m:oMath xmlns:m="http://schemas.openxmlformats.org/officeDocument/2006/math"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sSub>
                          <m:e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𝑎</m:t>
                            </m:r>
                          </m:e>
                          <m:sub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𝑖</m:t>
                            </m:r>
                          </m:sub>
                        </m:sSub>
                      </m:num>
                      <m:den>
                        <m:sSub>
                          <m:e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𝑎</m:t>
                            </m:r>
                          </m:e>
                          <m:sub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1</m:t>
                            </m:r>
                          </m:sub>
                        </m:sSub>
                      </m:den>
                    </m:f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&lt;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so </a:t>
                </a:r>
                <a14:m>
                  <m:oMath xmlns:m="http://schemas.openxmlformats.org/officeDocument/2006/math">
                    <m:sSup>
                      <m:e>
                        <m:d>
                          <m:dPr>
                            <m:begChr m:val="("/>
                            <m:sepChr m:val=""/>
                            <m:endChr m:val=")"/>
                            <m:grow/>
                            <m:ctrlP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f>
                              <m:fPr>
                                <m:type m:val="bar"/>
                                <m:ctrlPr>
                                  <a:rPr lang="en-IN" sz="2400" i="1">
                                    <a:solidFill>
                                      <a:srgbClr val="111827"/>
                                    </a:solidFill>
                                    <a:latin typeface="Cambria Math" panose="02040503050406030204" pitchFamily="18" charset="0"/>
                                  </a:rPr>
                                </m:ctrlPr>
                              </m:fPr>
                              <m:num>
                                <m:sSub>
                                  <m:e>
                                    <m:r>
                                      <a:rPr lang="en-IN" sz="2400" i="1">
                                        <a:solidFill>
                                          <a:srgbClr val="111827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𝑎</m:t>
                                    </m:r>
                                  </m:e>
                                  <m:sub>
                                    <m:r>
                                      <a:rPr lang="en-IN" sz="2400" i="1">
                                        <a:solidFill>
                                          <a:srgbClr val="111827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𝑖</m:t>
                                    </m:r>
                                  </m:sub>
                                </m:sSub>
                              </m:num>
                              <m:den>
                                <m:sSub>
                                  <m:e>
                                    <m:r>
                                      <a:rPr lang="en-IN" sz="2400" i="1">
                                        <a:solidFill>
                                          <a:srgbClr val="111827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𝑎</m:t>
                                    </m:r>
                                  </m:e>
                                  <m:sub>
                                    <m:r>
                                      <a:rPr lang="en-IN" sz="2400" i="1">
                                        <a:solidFill>
                                          <a:srgbClr val="111827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1</m:t>
                                    </m:r>
                                  </m:sub>
                                </m:sSub>
                              </m:den>
                            </m:f>
                          </m:e>
                        </m:d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0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as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→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∞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for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𝑖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,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…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,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𝑛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𝐹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sSub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𝑎</m:t>
                        </m:r>
                      </m:e>
                      <m:sub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sub>
                    </m:sSub>
                    <m:sSup>
                      <m:e>
                        <m:d>
                          <m:dPr>
                            <m:begChr m:val="["/>
                            <m:sepChr m:val=""/>
                            <m:endChr m:val="]"/>
                            <m:grow/>
                            <m:ctrlP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sSub>
                              <m:e>
                                <m:r>
                                  <a:rPr lang="en-IN" sz="2400" i="1">
                                    <a:solidFill>
                                      <a:srgbClr val="111827"/>
                                    </a:solidFill>
                                    <a:latin typeface="Cambria Math" panose="02040503050406030204" pitchFamily="18" charset="0"/>
                                  </a:rPr>
                                  <m:t>𝑝</m:t>
                                </m:r>
                              </m:e>
                              <m:sub>
                                <m:r>
                                  <a:rPr lang="en-IN" sz="2400" i="1">
                                    <a:solidFill>
                                      <a:srgbClr val="111827"/>
                                    </a:solidFill>
                                    <a:latin typeface="Cambria Math" panose="02040503050406030204" pitchFamily="18" charset="0"/>
                                  </a:rPr>
                                  <m:t>1</m:t>
                                </m:r>
                              </m:sub>
                            </m:sSub>
                            <m:r>
                              <m:rPr>
                                <m:sty m:val="p"/>
                              </m:rPr>
                              <a:rPr lang="en-IN" sz="2400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+</m:t>
                            </m:r>
                            <m:sSub>
                              <m:e>
                                <m:r>
                                  <a:rPr lang="en-IN" sz="2400" i="1">
                                    <a:solidFill>
                                      <a:srgbClr val="111827"/>
                                    </a:solidFill>
                                    <a:latin typeface="Cambria Math" panose="02040503050406030204" pitchFamily="18" charset="0"/>
                                  </a:rPr>
                                  <m:t>𝑝</m:t>
                                </m:r>
                              </m:e>
                              <m:sub>
                                <m:r>
                                  <a:rPr lang="en-IN" sz="2400" i="1">
                                    <a:solidFill>
                                      <a:srgbClr val="111827"/>
                                    </a:solidFill>
                                    <a:latin typeface="Cambria Math" panose="02040503050406030204" pitchFamily="18" charset="0"/>
                                  </a:rPr>
                                  <m:t>2</m:t>
                                </m:r>
                              </m:sub>
                            </m:sSub>
                            <m:sSup>
                              <m:e>
                                <m:d>
                                  <m:dPr>
                                    <m:begChr m:val="("/>
                                    <m:sepChr m:val=""/>
                                    <m:endChr m:val=")"/>
                                    <m:grow/>
                                    <m:ctrlPr>
                                      <a:rPr lang="en-IN" sz="2400" i="1">
                                        <a:solidFill>
                                          <a:srgbClr val="111827"/>
                                        </a:solidFill>
                                        <a:latin typeface="Cambria Math" panose="02040503050406030204" pitchFamily="18" charset="0"/>
                                      </a:rPr>
                                    </m:ctrlPr>
                                  </m:dPr>
                                  <m:e>
                                    <m:f>
                                      <m:fPr>
                                        <m:type m:val="bar"/>
                                        <m:ctrlPr>
                                          <a:rPr lang="en-IN" sz="2400" i="1">
                                            <a:solidFill>
                                              <a:srgbClr val="111827"/>
                                            </a:solidFill>
                                            <a:latin typeface="Cambria Math" panose="02040503050406030204" pitchFamily="18" charset="0"/>
                                          </a:rPr>
                                        </m:ctrlPr>
                                      </m:fPr>
                                      <m:num>
                                        <m:sSub>
                                          <m:e>
                                            <m:r>
                                              <a:rPr lang="en-IN" sz="2400" i="1">
                                                <a:solidFill>
                                                  <a:srgbClr val="111827"/>
                                                </a:solidFill>
                                                <a:latin typeface="Cambria Math" panose="02040503050406030204" pitchFamily="18" charset="0"/>
                                              </a:rPr>
                                              <m:t>𝑎</m:t>
                                            </m:r>
                                          </m:e>
                                          <m:sub>
                                            <m:r>
                                              <a:rPr lang="en-IN" sz="2400" i="1">
                                                <a:solidFill>
                                                  <a:srgbClr val="111827"/>
                                                </a:solidFill>
                                                <a:latin typeface="Cambria Math" panose="02040503050406030204" pitchFamily="18" charset="0"/>
                                              </a:rPr>
                                              <m:t>2</m:t>
                                            </m:r>
                                          </m:sub>
                                        </m:sSub>
                                      </m:num>
                                      <m:den>
                                        <m:sSub>
                                          <m:e>
                                            <m:r>
                                              <a:rPr lang="en-IN" sz="2400" i="1">
                                                <a:solidFill>
                                                  <a:srgbClr val="111827"/>
                                                </a:solidFill>
                                                <a:latin typeface="Cambria Math" panose="02040503050406030204" pitchFamily="18" charset="0"/>
                                              </a:rPr>
                                              <m:t>𝑎</m:t>
                                            </m:r>
                                          </m:e>
                                          <m:sub>
                                            <m:r>
                                              <a:rPr lang="en-IN" sz="2400" i="1">
                                                <a:solidFill>
                                                  <a:srgbClr val="111827"/>
                                                </a:solidFill>
                                                <a:latin typeface="Cambria Math" panose="02040503050406030204" pitchFamily="18" charset="0"/>
                                              </a:rPr>
                                              <m:t>1</m:t>
                                            </m:r>
                                          </m:sub>
                                        </m:sSub>
                                      </m:den>
                                    </m:f>
                                  </m:e>
                                </m:d>
                              </m:e>
                              <m:sup>
                                <m:r>
                                  <a:rPr lang="en-IN" sz="2400" i="1">
                                    <a:solidFill>
                                      <a:srgbClr val="111827"/>
                                    </a:solidFill>
                                    <a:latin typeface="Cambria Math" panose="02040503050406030204" pitchFamily="18" charset="0"/>
                                  </a:rPr>
                                  <m:t>𝑥</m:t>
                                </m:r>
                              </m:sup>
                            </m:sSup>
                            <m:r>
                              <m:rPr>
                                <m:sty m:val="p"/>
                              </m:rPr>
                              <a:rPr lang="en-IN" sz="2400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+</m:t>
                            </m:r>
                            <m:r>
                              <m:rPr>
                                <m:sty m:val="p"/>
                              </m:rPr>
                              <a:rPr lang="en-IN" sz="2400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…</m:t>
                            </m:r>
                            <m:r>
                              <m:rPr>
                                <m:sty m:val="p"/>
                              </m:rPr>
                              <a:rPr lang="en-IN" sz="2400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+</m:t>
                            </m:r>
                            <m:sSub>
                              <m:e>
                                <m:r>
                                  <a:rPr lang="en-IN" sz="2400" i="1">
                                    <a:solidFill>
                                      <a:srgbClr val="111827"/>
                                    </a:solidFill>
                                    <a:latin typeface="Cambria Math" panose="02040503050406030204" pitchFamily="18" charset="0"/>
                                  </a:rPr>
                                  <m:t>𝑝</m:t>
                                </m:r>
                              </m:e>
                              <m:sub>
                                <m:r>
                                  <a:rPr lang="en-IN" sz="2400" i="1">
                                    <a:solidFill>
                                      <a:srgbClr val="111827"/>
                                    </a:solidFill>
                                    <a:latin typeface="Cambria Math" panose="02040503050406030204" pitchFamily="18" charset="0"/>
                                  </a:rPr>
                                  <m:t>𝑛</m:t>
                                </m:r>
                              </m:sub>
                            </m:sSub>
                            <m:sSup>
                              <m:e>
                                <m:d>
                                  <m:dPr>
                                    <m:begChr m:val="("/>
                                    <m:sepChr m:val=""/>
                                    <m:endChr m:val=")"/>
                                    <m:grow/>
                                    <m:ctrlPr>
                                      <a:rPr lang="en-IN" sz="2400" i="1">
                                        <a:solidFill>
                                          <a:srgbClr val="111827"/>
                                        </a:solidFill>
                                        <a:latin typeface="Cambria Math" panose="02040503050406030204" pitchFamily="18" charset="0"/>
                                      </a:rPr>
                                    </m:ctrlPr>
                                  </m:dPr>
                                  <m:e>
                                    <m:f>
                                      <m:fPr>
                                        <m:type m:val="bar"/>
                                        <m:ctrlPr>
                                          <a:rPr lang="en-IN" sz="2400" i="1">
                                            <a:solidFill>
                                              <a:srgbClr val="111827"/>
                                            </a:solidFill>
                                            <a:latin typeface="Cambria Math" panose="02040503050406030204" pitchFamily="18" charset="0"/>
                                          </a:rPr>
                                        </m:ctrlPr>
                                      </m:fPr>
                                      <m:num>
                                        <m:sSub>
                                          <m:e>
                                            <m:r>
                                              <a:rPr lang="en-IN" sz="2400" i="1">
                                                <a:solidFill>
                                                  <a:srgbClr val="111827"/>
                                                </a:solidFill>
                                                <a:latin typeface="Cambria Math" panose="02040503050406030204" pitchFamily="18" charset="0"/>
                                              </a:rPr>
                                              <m:t>𝑎</m:t>
                                            </m:r>
                                          </m:e>
                                          <m:sub>
                                            <m:r>
                                              <a:rPr lang="en-IN" sz="2400" i="1">
                                                <a:solidFill>
                                                  <a:srgbClr val="111827"/>
                                                </a:solidFill>
                                                <a:latin typeface="Cambria Math" panose="02040503050406030204" pitchFamily="18" charset="0"/>
                                              </a:rPr>
                                              <m:t>𝑛</m:t>
                                            </m:r>
                                          </m:sub>
                                        </m:sSub>
                                      </m:num>
                                      <m:den>
                                        <m:sSub>
                                          <m:e>
                                            <m:r>
                                              <a:rPr lang="en-IN" sz="2400" i="1">
                                                <a:solidFill>
                                                  <a:srgbClr val="111827"/>
                                                </a:solidFill>
                                                <a:latin typeface="Cambria Math" panose="02040503050406030204" pitchFamily="18" charset="0"/>
                                              </a:rPr>
                                              <m:t>𝑎</m:t>
                                            </m:r>
                                          </m:e>
                                          <m:sub>
                                            <m:r>
                                              <a:rPr lang="en-IN" sz="2400" i="1">
                                                <a:solidFill>
                                                  <a:srgbClr val="111827"/>
                                                </a:solidFill>
                                                <a:latin typeface="Cambria Math" panose="02040503050406030204" pitchFamily="18" charset="0"/>
                                              </a:rPr>
                                              <m:t>1</m:t>
                                            </m:r>
                                          </m:sub>
                                        </m:sSub>
                                      </m:den>
                                    </m:f>
                                  </m:e>
                                </m:d>
                              </m:e>
                              <m:sup>
                                <m:r>
                                  <a:rPr lang="en-IN" sz="2400" i="1">
                                    <a:solidFill>
                                      <a:srgbClr val="111827"/>
                                    </a:solidFill>
                                    <a:latin typeface="Cambria Math" panose="02040503050406030204" pitchFamily="18" charset="0"/>
                                  </a:rPr>
                                  <m:t>𝑥</m:t>
                                </m:r>
                              </m:sup>
                            </m:sSup>
                          </m:e>
                        </m:d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/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</m:sup>
                    </m:sSup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Choice>
        <mc:Fallback>
          <p:sp>
            <p:nvSpPr>
              <p:cNvPr id="4" name="Rectangle 3"/>
              <p:cNvSpPr/>
              <p:nvPr/>
            </p:nvSpPr>
            <p:spPr>
              <a:xfrm>
                <a:off x="731520" y="1353312"/>
                <a:ext cx="10725912" cy="5321808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So the limit is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$e^{\ln\left(a_1^{p_1}a_2^{p_2}\cdots a_n^{p_n}\right)}=a_1^{p_1}a_2^{p_2}\cdots a_n^{p_n}$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(b)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$a_1&gt;a_i&gt;1$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gives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$\frac{a_i}{a_1}&lt;1$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so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$\left(\frac{a_i}{a_1}\right)^x\to0$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as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$x\to\infty$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for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$i=2,\dots,n$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$F(x)=a_1\left[p_1+p_2\left(\frac{a_2}{a_1}\right)^x+\dots+p_n\left(\frac{a_n}{a_1}\right)^x\right]^{1/x}$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Fallback>
      </mc:AlternateContent>
    </p:spTree>
  </p:cSld>
  <p:clrMapOvr>
    <a:masterClrMapping/>
  </p:clrMapOvr>
</p:sld>
</file>

<file path=ppt/slides/slide7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FFFFFF"/>
          </a:fontRef>
        </p:style>
        <p:txBody>
          <a:bodyPr rtlCol="0" anchor="ctr" lIns="731520"/>
          <a:lstStyle>
            <a:lvl1pPr>
              <a:defRPr sz="3200">
                <a:solidFill>
                  <a:srgbClr val="FFFFFF"/>
                </a:solidFill>
              </a:defRPr>
            </a:lvl1pPr>
          </a:lstStyle>
          <a:p>
            <a:pPr algn="l">
              <a:defRPr sz="3200">
                <a:solidFill>
                  <a:srgbClr val="FFFFFF"/>
                </a:solidFill>
              </a:defRPr>
            </a:pPr>
            <a:r>
              <a:rPr sz="3200" b="1">
                <a:solidFill>
                  <a:srgbClr val="FFFFFF"/>
                </a:solidFill>
                <a:latin typeface="Arial"/>
              </a:rPr>
              <a:t>Question 12</a:t>
            </a:r>
            <a:endParaRPr sz="3200">
              <a:solidFill>
                <a:srgbClr val="FFFFFF"/>
              </a:solidFill>
            </a:endParaRPr>
          </a:p>
        </p:txBody>
      </p:sp>
      <p:sp>
        <p:nvSpPr>
          <p:cNvPr id="3" name="Rounded Rectangle 2"/>
          <p:cNvSpPr/>
          <p:nvPr/>
        </p:nvSpPr>
        <p:spPr>
          <a:xfrm>
            <a:off x="7894015" y="246887"/>
            <a:ext cx="3840480" cy="603504"/>
          </a:xfrm>
          <a:prstGeom prst="roundRect">
            <a:avLst>
              <a:gd name="adj" fmla="val 50000"/>
            </a:avLst>
          </a:prstGeom>
          <a:solidFill>
            <a:srgbClr val="F6B26B"/>
          </a:solidFill>
          <a:ln w="1905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111827"/>
          </a:fontRef>
        </p:style>
        <p:txBody>
          <a:bodyPr rtlCol="0" anchor="ctr" wrap="square" lIns="228600" rIns="228600" tIns="18288" bIns="18288"/>
          <a:lstStyle>
            <a:lvl1pPr>
              <a:defRPr sz="2400">
                <a:solidFill>
                  <a:srgbClr val="111827"/>
                </a:solidFill>
              </a:defRPr>
            </a:lvl1pPr>
          </a:lstStyle>
          <a:p>
            <a:pPr algn="ctr">
              <a:defRPr sz="2400">
                <a:solidFill>
                  <a:srgbClr val="111827"/>
                </a:solidFill>
              </a:defRPr>
            </a:pPr>
            <a:r>
              <a:rPr sz="2400" b="1">
                <a:solidFill>
                  <a:srgbClr val="111827"/>
                </a:solidFill>
                <a:latin typeface="Arial"/>
              </a:rPr>
              <a:t>Level 3  ·  4 Marks</a:t>
            </a:r>
            <a:endParaRPr sz="2400">
              <a:solidFill>
                <a:srgbClr val="111827"/>
              </a:solidFill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4" name="Rectangle 3"/>
              <p:cNvSpPr/>
              <p:nvPr/>
            </p:nvSpPr>
            <p:spPr>
              <a:xfrm>
                <a:off x="731520" y="1353312"/>
                <a:ext cx="10725912" cy="4434840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The bracket tends to </a:t>
                </a:r>
                <a14:m>
                  <m:oMath xmlns:m="http://schemas.openxmlformats.org/officeDocument/2006/math">
                    <m:sSub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𝑝</m:t>
                        </m:r>
                      </m:e>
                      <m:sub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sub>
                    </m:sSub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0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…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0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sSub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𝑝</m:t>
                        </m:r>
                      </m:e>
                      <m:sub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sub>
                    </m:sSub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&gt;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0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and the exponent </a:t>
                </a:r>
                <a14:m>
                  <m:oMath xmlns:m="http://schemas.openxmlformats.org/officeDocument/2006/math"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</m:den>
                    </m:f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0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so </a:t>
                </a:r>
                <a14:m>
                  <m:oMath xmlns:m="http://schemas.openxmlformats.org/officeDocument/2006/math">
                    <m:sSub>
                      <m:e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lim</m:t>
                        </m:r>
                      </m:e>
                      <m:sub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→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∞</m:t>
                        </m:r>
                      </m:sub>
                    </m:sSub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𝐹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sSub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𝑎</m:t>
                        </m:r>
                      </m:e>
                      <m:sub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sub>
                    </m:sSub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⋅</m:t>
                    </m:r>
                    <m:sSub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𝑝</m:t>
                        </m:r>
                      </m:e>
                      <m:sub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sub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0</m:t>
                        </m:r>
                      </m:sup>
                    </m:sSub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sSub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𝑎</m:t>
                        </m:r>
                      </m:e>
                      <m:sub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sub>
                    </m:sSub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(c) For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𝑖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,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…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,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𝑛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</a:t>
                </a:r>
                <a14:m>
                  <m:oMath xmlns:m="http://schemas.openxmlformats.org/officeDocument/2006/math"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sSub>
                          <m:e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𝑎</m:t>
                            </m:r>
                          </m:e>
                          <m:sub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𝑖</m:t>
                            </m:r>
                          </m:sub>
                        </m:sSub>
                      </m:num>
                      <m:den>
                        <m:sSub>
                          <m:e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𝑎</m:t>
                            </m:r>
                          </m:e>
                          <m:sub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𝑛</m:t>
                            </m:r>
                          </m:sub>
                        </m:sSub>
                      </m:den>
                    </m:f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&gt;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so </a:t>
                </a:r>
                <a14:m>
                  <m:oMath xmlns:m="http://schemas.openxmlformats.org/officeDocument/2006/math">
                    <m:sSup>
                      <m:e>
                        <m:d>
                          <m:dPr>
                            <m:begChr m:val="("/>
                            <m:sepChr m:val=""/>
                            <m:endChr m:val=")"/>
                            <m:grow/>
                            <m:ctrlP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f>
                              <m:fPr>
                                <m:type m:val="bar"/>
                                <m:ctrlPr>
                                  <a:rPr lang="en-IN" sz="2400" i="1">
                                    <a:solidFill>
                                      <a:srgbClr val="111827"/>
                                    </a:solidFill>
                                    <a:latin typeface="Cambria Math" panose="02040503050406030204" pitchFamily="18" charset="0"/>
                                  </a:rPr>
                                </m:ctrlPr>
                              </m:fPr>
                              <m:num>
                                <m:sSub>
                                  <m:e>
                                    <m:r>
                                      <a:rPr lang="en-IN" sz="2400" i="1">
                                        <a:solidFill>
                                          <a:srgbClr val="111827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𝑎</m:t>
                                    </m:r>
                                  </m:e>
                                  <m:sub>
                                    <m:r>
                                      <a:rPr lang="en-IN" sz="2400" i="1">
                                        <a:solidFill>
                                          <a:srgbClr val="111827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𝑖</m:t>
                                    </m:r>
                                  </m:sub>
                                </m:sSub>
                              </m:num>
                              <m:den>
                                <m:sSub>
                                  <m:e>
                                    <m:r>
                                      <a:rPr lang="en-IN" sz="2400" i="1">
                                        <a:solidFill>
                                          <a:srgbClr val="111827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𝑎</m:t>
                                    </m:r>
                                  </m:e>
                                  <m:sub>
                                    <m:r>
                                      <a:rPr lang="en-IN" sz="2400" i="1">
                                        <a:solidFill>
                                          <a:srgbClr val="111827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𝑛</m:t>
                                    </m:r>
                                  </m:sub>
                                </m:sSub>
                              </m:den>
                            </m:f>
                          </m:e>
                        </m:d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0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as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→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∞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𝐹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sSub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𝑎</m:t>
                        </m:r>
                      </m:e>
                      <m:sub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𝑛</m:t>
                        </m:r>
                      </m:sub>
                    </m:sSub>
                    <m:sSup>
                      <m:e>
                        <m:d>
                          <m:dPr>
                            <m:begChr m:val="["/>
                            <m:sepChr m:val=""/>
                            <m:endChr m:val="]"/>
                            <m:grow/>
                            <m:ctrlP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sSub>
                              <m:e>
                                <m:r>
                                  <a:rPr lang="en-IN" sz="2400" i="1">
                                    <a:solidFill>
                                      <a:srgbClr val="111827"/>
                                    </a:solidFill>
                                    <a:latin typeface="Cambria Math" panose="02040503050406030204" pitchFamily="18" charset="0"/>
                                  </a:rPr>
                                  <m:t>𝑝</m:t>
                                </m:r>
                              </m:e>
                              <m:sub>
                                <m:r>
                                  <a:rPr lang="en-IN" sz="2400" i="1">
                                    <a:solidFill>
                                      <a:srgbClr val="111827"/>
                                    </a:solidFill>
                                    <a:latin typeface="Cambria Math" panose="02040503050406030204" pitchFamily="18" charset="0"/>
                                  </a:rPr>
                                  <m:t>1</m:t>
                                </m:r>
                              </m:sub>
                            </m:sSub>
                            <m:sSup>
                              <m:e>
                                <m:d>
                                  <m:dPr>
                                    <m:begChr m:val="("/>
                                    <m:sepChr m:val=""/>
                                    <m:endChr m:val=")"/>
                                    <m:grow/>
                                    <m:ctrlPr>
                                      <a:rPr lang="en-IN" sz="2400" i="1">
                                        <a:solidFill>
                                          <a:srgbClr val="111827"/>
                                        </a:solidFill>
                                        <a:latin typeface="Cambria Math" panose="02040503050406030204" pitchFamily="18" charset="0"/>
                                      </a:rPr>
                                    </m:ctrlPr>
                                  </m:dPr>
                                  <m:e>
                                    <m:f>
                                      <m:fPr>
                                        <m:type m:val="bar"/>
                                        <m:ctrlPr>
                                          <a:rPr lang="en-IN" sz="2400" i="1">
                                            <a:solidFill>
                                              <a:srgbClr val="111827"/>
                                            </a:solidFill>
                                            <a:latin typeface="Cambria Math" panose="02040503050406030204" pitchFamily="18" charset="0"/>
                                          </a:rPr>
                                        </m:ctrlPr>
                                      </m:fPr>
                                      <m:num>
                                        <m:sSub>
                                          <m:e>
                                            <m:r>
                                              <a:rPr lang="en-IN" sz="2400" i="1">
                                                <a:solidFill>
                                                  <a:srgbClr val="111827"/>
                                                </a:solidFill>
                                                <a:latin typeface="Cambria Math" panose="02040503050406030204" pitchFamily="18" charset="0"/>
                                              </a:rPr>
                                              <m:t>𝑎</m:t>
                                            </m:r>
                                          </m:e>
                                          <m:sub>
                                            <m:r>
                                              <a:rPr lang="en-IN" sz="2400" i="1">
                                                <a:solidFill>
                                                  <a:srgbClr val="111827"/>
                                                </a:solidFill>
                                                <a:latin typeface="Cambria Math" panose="02040503050406030204" pitchFamily="18" charset="0"/>
                                              </a:rPr>
                                              <m:t>1</m:t>
                                            </m:r>
                                          </m:sub>
                                        </m:sSub>
                                      </m:num>
                                      <m:den>
                                        <m:sSub>
                                          <m:e>
                                            <m:r>
                                              <a:rPr lang="en-IN" sz="2400" i="1">
                                                <a:solidFill>
                                                  <a:srgbClr val="111827"/>
                                                </a:solidFill>
                                                <a:latin typeface="Cambria Math" panose="02040503050406030204" pitchFamily="18" charset="0"/>
                                              </a:rPr>
                                              <m:t>𝑎</m:t>
                                            </m:r>
                                          </m:e>
                                          <m:sub>
                                            <m:r>
                                              <a:rPr lang="en-IN" sz="2400" i="1">
                                                <a:solidFill>
                                                  <a:srgbClr val="111827"/>
                                                </a:solidFill>
                                                <a:latin typeface="Cambria Math" panose="02040503050406030204" pitchFamily="18" charset="0"/>
                                              </a:rPr>
                                              <m:t>𝑛</m:t>
                                            </m:r>
                                          </m:sub>
                                        </m:sSub>
                                      </m:den>
                                    </m:f>
                                  </m:e>
                                </m:d>
                              </m:e>
                              <m:sup>
                                <m:r>
                                  <a:rPr lang="en-IN" sz="2400" i="1">
                                    <a:solidFill>
                                      <a:srgbClr val="111827"/>
                                    </a:solidFill>
                                    <a:latin typeface="Cambria Math" panose="02040503050406030204" pitchFamily="18" charset="0"/>
                                  </a:rPr>
                                  <m:t>𝑥</m:t>
                                </m:r>
                              </m:sup>
                            </m:sSup>
                            <m:r>
                              <m:rPr>
                                <m:sty m:val="p"/>
                              </m:rPr>
                              <a:rPr lang="en-IN" sz="2400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+</m:t>
                            </m:r>
                            <m:r>
                              <m:rPr>
                                <m:sty m:val="p"/>
                              </m:rPr>
                              <a:rPr lang="en-IN" sz="2400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…</m:t>
                            </m:r>
                            <m:r>
                              <m:rPr>
                                <m:sty m:val="p"/>
                              </m:rPr>
                              <a:rPr lang="en-IN" sz="2400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+</m:t>
                            </m:r>
                            <m:sSub>
                              <m:e>
                                <m:r>
                                  <a:rPr lang="en-IN" sz="2400" i="1">
                                    <a:solidFill>
                                      <a:srgbClr val="111827"/>
                                    </a:solidFill>
                                    <a:latin typeface="Cambria Math" panose="02040503050406030204" pitchFamily="18" charset="0"/>
                                  </a:rPr>
                                  <m:t>𝑝</m:t>
                                </m:r>
                              </m:e>
                              <m:sub>
                                <m:r>
                                  <a:rPr lang="en-IN" sz="2400" i="1">
                                    <a:solidFill>
                                      <a:srgbClr val="111827"/>
                                    </a:solidFill>
                                    <a:latin typeface="Cambria Math" panose="02040503050406030204" pitchFamily="18" charset="0"/>
                                  </a:rPr>
                                  <m:t>𝑛</m:t>
                                </m:r>
                                <m:r>
                                  <m:rPr>
                                    <m:sty m:val="p"/>
                                  </m:rPr>
                                  <a:rPr lang="en-IN" sz="2400">
                                    <a:solidFill>
                                      <a:srgbClr val="111827"/>
                                    </a:solidFill>
                                    <a:latin typeface="Cambria Math" panose="02040503050406030204" pitchFamily="18" charset="0"/>
                                  </a:rPr>
                                  <m:t>−</m:t>
                                </m:r>
                                <m:r>
                                  <a:rPr lang="en-IN" sz="2400" i="1">
                                    <a:solidFill>
                                      <a:srgbClr val="111827"/>
                                    </a:solidFill>
                                    <a:latin typeface="Cambria Math" panose="02040503050406030204" pitchFamily="18" charset="0"/>
                                  </a:rPr>
                                  <m:t>1</m:t>
                                </m:r>
                              </m:sub>
                            </m:sSub>
                            <m:sSup>
                              <m:e>
                                <m:d>
                                  <m:dPr>
                                    <m:begChr m:val="("/>
                                    <m:sepChr m:val=""/>
                                    <m:endChr m:val=")"/>
                                    <m:grow/>
                                    <m:ctrlPr>
                                      <a:rPr lang="en-IN" sz="2400" i="1">
                                        <a:solidFill>
                                          <a:srgbClr val="111827"/>
                                        </a:solidFill>
                                        <a:latin typeface="Cambria Math" panose="02040503050406030204" pitchFamily="18" charset="0"/>
                                      </a:rPr>
                                    </m:ctrlPr>
                                  </m:dPr>
                                  <m:e>
                                    <m:f>
                                      <m:fPr>
                                        <m:type m:val="bar"/>
                                        <m:ctrlPr>
                                          <a:rPr lang="en-IN" sz="2400" i="1">
                                            <a:solidFill>
                                              <a:srgbClr val="111827"/>
                                            </a:solidFill>
                                            <a:latin typeface="Cambria Math" panose="02040503050406030204" pitchFamily="18" charset="0"/>
                                          </a:rPr>
                                        </m:ctrlPr>
                                      </m:fPr>
                                      <m:num>
                                        <m:sSub>
                                          <m:e>
                                            <m:r>
                                              <a:rPr lang="en-IN" sz="2400" i="1">
                                                <a:solidFill>
                                                  <a:srgbClr val="111827"/>
                                                </a:solidFill>
                                                <a:latin typeface="Cambria Math" panose="02040503050406030204" pitchFamily="18" charset="0"/>
                                              </a:rPr>
                                              <m:t>𝑎</m:t>
                                            </m:r>
                                          </m:e>
                                          <m:sub>
                                            <m:r>
                                              <a:rPr lang="en-IN" sz="2400" i="1">
                                                <a:solidFill>
                                                  <a:srgbClr val="111827"/>
                                                </a:solidFill>
                                                <a:latin typeface="Cambria Math" panose="02040503050406030204" pitchFamily="18" charset="0"/>
                                              </a:rPr>
                                              <m:t>𝑛</m:t>
                                            </m:r>
                                            <m:r>
                                              <m:rPr>
                                                <m:sty m:val="p"/>
                                              </m:rPr>
                                              <a:rPr lang="en-IN" sz="2400">
                                                <a:solidFill>
                                                  <a:srgbClr val="111827"/>
                                                </a:solidFill>
                                                <a:latin typeface="Cambria Math" panose="02040503050406030204" pitchFamily="18" charset="0"/>
                                              </a:rPr>
                                              <m:t>−</m:t>
                                            </m:r>
                                            <m:r>
                                              <a:rPr lang="en-IN" sz="2400" i="1">
                                                <a:solidFill>
                                                  <a:srgbClr val="111827"/>
                                                </a:solidFill>
                                                <a:latin typeface="Cambria Math" panose="02040503050406030204" pitchFamily="18" charset="0"/>
                                              </a:rPr>
                                              <m:t>1</m:t>
                                            </m:r>
                                          </m:sub>
                                        </m:sSub>
                                      </m:num>
                                      <m:den>
                                        <m:sSub>
                                          <m:e>
                                            <m:r>
                                              <a:rPr lang="en-IN" sz="2400" i="1">
                                                <a:solidFill>
                                                  <a:srgbClr val="111827"/>
                                                </a:solidFill>
                                                <a:latin typeface="Cambria Math" panose="02040503050406030204" pitchFamily="18" charset="0"/>
                                              </a:rPr>
                                              <m:t>𝑎</m:t>
                                            </m:r>
                                          </m:e>
                                          <m:sub>
                                            <m:r>
                                              <a:rPr lang="en-IN" sz="2400" i="1">
                                                <a:solidFill>
                                                  <a:srgbClr val="111827"/>
                                                </a:solidFill>
                                                <a:latin typeface="Cambria Math" panose="02040503050406030204" pitchFamily="18" charset="0"/>
                                              </a:rPr>
                                              <m:t>𝑛</m:t>
                                            </m:r>
                                          </m:sub>
                                        </m:sSub>
                                      </m:den>
                                    </m:f>
                                  </m:e>
                                </m:d>
                              </m:e>
                              <m:sup>
                                <m:r>
                                  <a:rPr lang="en-IN" sz="2400" i="1">
                                    <a:solidFill>
                                      <a:srgbClr val="111827"/>
                                    </a:solidFill>
                                    <a:latin typeface="Cambria Math" panose="02040503050406030204" pitchFamily="18" charset="0"/>
                                  </a:rPr>
                                  <m:t>𝑥</m:t>
                                </m:r>
                              </m:sup>
                            </m:sSup>
                            <m:r>
                              <m:rPr>
                                <m:sty m:val="p"/>
                              </m:rPr>
                              <a:rPr lang="en-IN" sz="2400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+</m:t>
                            </m:r>
                            <m:sSub>
                              <m:e>
                                <m:r>
                                  <a:rPr lang="en-IN" sz="2400" i="1">
                                    <a:solidFill>
                                      <a:srgbClr val="111827"/>
                                    </a:solidFill>
                                    <a:latin typeface="Cambria Math" panose="02040503050406030204" pitchFamily="18" charset="0"/>
                                  </a:rPr>
                                  <m:t>𝑝</m:t>
                                </m:r>
                              </m:e>
                              <m:sub>
                                <m:r>
                                  <a:rPr lang="en-IN" sz="2400" i="1">
                                    <a:solidFill>
                                      <a:srgbClr val="111827"/>
                                    </a:solidFill>
                                    <a:latin typeface="Cambria Math" panose="02040503050406030204" pitchFamily="18" charset="0"/>
                                  </a:rPr>
                                  <m:t>𝑛</m:t>
                                </m:r>
                              </m:sub>
                            </m:sSub>
                          </m:e>
                        </m:d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/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→</m:t>
                    </m:r>
                    <m:sSub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𝑎</m:t>
                        </m:r>
                      </m:e>
                      <m:sub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𝑛</m:t>
                        </m:r>
                      </m:sub>
                    </m:sSub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 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[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0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…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0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sSub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𝑝</m:t>
                        </m:r>
                      </m:e>
                      <m:sub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𝑛</m:t>
                        </m:r>
                      </m:sub>
                    </m:sSub>
                    <m:sSup>
                      <m:e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]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0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sSub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𝑎</m:t>
                        </m:r>
                      </m:e>
                      <m:sub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𝑛</m:t>
                        </m:r>
                      </m:sub>
                    </m:sSub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Choice>
        <mc:Fallback>
          <p:sp>
            <p:nvSpPr>
              <p:cNvPr id="4" name="Rectangle 3"/>
              <p:cNvSpPr/>
              <p:nvPr/>
            </p:nvSpPr>
            <p:spPr>
              <a:xfrm>
                <a:off x="731520" y="1353312"/>
                <a:ext cx="10725912" cy="4434840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The bracket tends to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$p_1+0+\dots+0=p_1&gt;0$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and the exponent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$\frac1x\to0$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so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$\lim_{x\to\infty}F(x)=a_1\cdot p_1^0=a_1$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(c) For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$i=1,\dots,n-1$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$\frac{a_i}{a_n}&gt;1$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so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$\left(\frac{a_i}{a_n}\right)^x\to0$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as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$x\to-\infty$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$F(x)=a_n\left[p_1\left(\frac{a_1}{a_n}\right)^x+\dots+p_{n-1}\left(\frac{a_{n-1}}{a_n}\right)^x+p_n\right]^{1/x}\to a_n\,[0+\dots+0+p_n]^{0}=a_n$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5" name="Rounded Rectangle 4"/>
              <p:cNvSpPr/>
              <p:nvPr/>
            </p:nvSpPr>
            <p:spPr>
              <a:xfrm>
                <a:off x="731520" y="5897880"/>
                <a:ext cx="10725912" cy="777240"/>
              </a:xfrm>
              <a:prstGeom prst="roundRect">
                <a:avLst>
                  <a:gd name="adj" fmla="val 8000"/>
                </a:avLst>
              </a:prstGeom>
              <a:solidFill>
                <a:srgbClr val="DCFCE7"/>
              </a:solidFill>
              <a:ln w="25400">
                <a:solidFill>
                  <a:srgbClr val="15803D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5803D"/>
              </a:fontRef>
            </p:style>
            <p:txBody>
              <a:bodyPr rtlCol="0" anchor="ctr" wrap="square" lIns="228600" rIns="228600" tIns="18288" bIns="73152"/>
              <a:lstStyle>
                <a:lvl1pPr>
                  <a:defRPr sz="2800">
                    <a:solidFill>
                      <a:srgbClr val="15803D"/>
                    </a:solidFill>
                  </a:defRPr>
                </a:lvl1pPr>
              </a:lstStyle>
              <a:p>
                <a:pPr algn="ctr">
                  <a:defRPr sz="2800">
                    <a:solidFill>
                      <a:srgbClr val="15803D"/>
                    </a:solidFill>
                  </a:defRPr>
                </a:pPr>
                <a:r>
                  <a:rPr sz="2800" b="1">
                    <a:solidFill>
                      <a:srgbClr val="15803D"/>
                    </a:solidFill>
                    <a:latin typeface="Arial"/>
                  </a:rPr>
                  <a:t>Correct Answer: (a) </a:t>
                </a:r>
                <a14:m>
                  <m:oMath xmlns:m="http://schemas.openxmlformats.org/officeDocument/2006/math">
                    <m:sSubSup>
                      <m:e>
                        <m:r>
                          <a:rPr lang="en-IN" sz="2800" i="1">
                            <a:solidFill>
                              <a:srgbClr val="15803D"/>
                            </a:solidFill>
                            <a:latin typeface="Cambria Math" panose="02040503050406030204" pitchFamily="18" charset="0"/>
                          </a:rPr>
                          <m:t>𝑎</m:t>
                        </m:r>
                      </m:e>
                      <m:sub>
                        <m:r>
                          <a:rPr lang="en-IN" sz="2800" i="1">
                            <a:solidFill>
                              <a:srgbClr val="15803D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sub>
                      <m:sup>
                        <m:sSub>
                          <m:e>
                            <m:r>
                              <a:rPr lang="en-IN" sz="2800" i="1">
                                <a:solidFill>
                                  <a:srgbClr val="15803D"/>
                                </a:solidFill>
                                <a:latin typeface="Cambria Math" panose="02040503050406030204" pitchFamily="18" charset="0"/>
                              </a:rPr>
                              <m:t>𝑝</m:t>
                            </m:r>
                          </m:e>
                          <m:sub>
                            <m:r>
                              <a:rPr lang="en-IN" sz="2800" i="1">
                                <a:solidFill>
                                  <a:srgbClr val="15803D"/>
                                </a:solidFill>
                                <a:latin typeface="Cambria Math" panose="02040503050406030204" pitchFamily="18" charset="0"/>
                              </a:rPr>
                              <m:t>1</m:t>
                            </m:r>
                          </m:sub>
                        </m:sSub>
                      </m:sup>
                    </m:sSubSup>
                    <m:sSubSup>
                      <m:e>
                        <m:r>
                          <a:rPr lang="en-IN" sz="2800" i="1">
                            <a:solidFill>
                              <a:srgbClr val="15803D"/>
                            </a:solidFill>
                            <a:latin typeface="Cambria Math" panose="02040503050406030204" pitchFamily="18" charset="0"/>
                          </a:rPr>
                          <m:t>𝑎</m:t>
                        </m:r>
                      </m:e>
                      <m:sub>
                        <m:r>
                          <a:rPr lang="en-IN" sz="2800" i="1">
                            <a:solidFill>
                              <a:srgbClr val="15803D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b>
                      <m:sup>
                        <m:sSub>
                          <m:e>
                            <m:r>
                              <a:rPr lang="en-IN" sz="2800" i="1">
                                <a:solidFill>
                                  <a:srgbClr val="15803D"/>
                                </a:solidFill>
                                <a:latin typeface="Cambria Math" panose="02040503050406030204" pitchFamily="18" charset="0"/>
                              </a:rPr>
                              <m:t>𝑝</m:t>
                            </m:r>
                          </m:e>
                          <m:sub>
                            <m:r>
                              <a:rPr lang="en-IN" sz="2800" i="1">
                                <a:solidFill>
                                  <a:srgbClr val="15803D"/>
                                </a:solidFill>
                                <a:latin typeface="Cambria Math" panose="02040503050406030204" pitchFamily="18" charset="0"/>
                              </a:rPr>
                              <m:t>2</m:t>
                            </m:r>
                          </m:sub>
                        </m:sSub>
                      </m:sup>
                    </m:sSubSup>
                    <m:r>
                      <m:rPr>
                        <m:sty m:val="p"/>
                      </m:rPr>
                      <a:rPr lang="en-IN" sz="2800">
                        <a:solidFill>
                          <a:srgbClr val="15803D"/>
                        </a:solidFill>
                        <a:latin typeface="Cambria Math" panose="02040503050406030204" pitchFamily="18" charset="0"/>
                      </a:rPr>
                      <m:t>⋯</m:t>
                    </m:r>
                    <m:sSubSup>
                      <m:e>
                        <m:r>
                          <a:rPr lang="en-IN" sz="2800" i="1">
                            <a:solidFill>
                              <a:srgbClr val="15803D"/>
                            </a:solidFill>
                            <a:latin typeface="Cambria Math" panose="02040503050406030204" pitchFamily="18" charset="0"/>
                          </a:rPr>
                          <m:t>𝑎</m:t>
                        </m:r>
                      </m:e>
                      <m:sub>
                        <m:r>
                          <a:rPr lang="en-IN" sz="2800" i="1">
                            <a:solidFill>
                              <a:srgbClr val="15803D"/>
                            </a:solidFill>
                            <a:latin typeface="Cambria Math" panose="02040503050406030204" pitchFamily="18" charset="0"/>
                          </a:rPr>
                          <m:t>𝑛</m:t>
                        </m:r>
                      </m:sub>
                      <m:sup>
                        <m:sSub>
                          <m:e>
                            <m:r>
                              <a:rPr lang="en-IN" sz="2800" i="1">
                                <a:solidFill>
                                  <a:srgbClr val="15803D"/>
                                </a:solidFill>
                                <a:latin typeface="Cambria Math" panose="02040503050406030204" pitchFamily="18" charset="0"/>
                              </a:rPr>
                              <m:t>𝑝</m:t>
                            </m:r>
                          </m:e>
                          <m:sub>
                            <m:r>
                              <a:rPr lang="en-IN" sz="2800" i="1">
                                <a:solidFill>
                                  <a:srgbClr val="15803D"/>
                                </a:solidFill>
                                <a:latin typeface="Cambria Math" panose="02040503050406030204" pitchFamily="18" charset="0"/>
                              </a:rPr>
                              <m:t>𝑛</m:t>
                            </m:r>
                          </m:sub>
                        </m:sSub>
                      </m:sup>
                    </m:sSubSup>
                  </m:oMath>
                </a14:m>
                <a:r>
                  <a:rPr sz="2800" b="1">
                    <a:solidFill>
                      <a:srgbClr val="15803D"/>
                    </a:solidFill>
                    <a:latin typeface="Arial"/>
                  </a:rPr>
                  <a:t>; (b) </a:t>
                </a:r>
                <a14:m>
                  <m:oMath xmlns:m="http://schemas.openxmlformats.org/officeDocument/2006/math">
                    <m:sSub>
                      <m:e>
                        <m:r>
                          <a:rPr lang="en-IN" sz="2800" i="1">
                            <a:solidFill>
                              <a:srgbClr val="15803D"/>
                            </a:solidFill>
                            <a:latin typeface="Cambria Math" panose="02040503050406030204" pitchFamily="18" charset="0"/>
                          </a:rPr>
                          <m:t>𝑎</m:t>
                        </m:r>
                      </m:e>
                      <m:sub>
                        <m:r>
                          <a:rPr lang="en-IN" sz="2800" i="1">
                            <a:solidFill>
                              <a:srgbClr val="15803D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sub>
                    </m:sSub>
                  </m:oMath>
                </a14:m>
                <a:r>
                  <a:rPr sz="2800" b="1">
                    <a:solidFill>
                      <a:srgbClr val="15803D"/>
                    </a:solidFill>
                    <a:latin typeface="Arial"/>
                  </a:rPr>
                  <a:t>; (c) </a:t>
                </a:r>
                <a14:m>
                  <m:oMath xmlns:m="http://schemas.openxmlformats.org/officeDocument/2006/math">
                    <m:sSub>
                      <m:e>
                        <m:r>
                          <a:rPr lang="en-IN" sz="2800" i="1">
                            <a:solidFill>
                              <a:srgbClr val="15803D"/>
                            </a:solidFill>
                            <a:latin typeface="Cambria Math" panose="02040503050406030204" pitchFamily="18" charset="0"/>
                          </a:rPr>
                          <m:t>𝑎</m:t>
                        </m:r>
                      </m:e>
                      <m:sub>
                        <m:r>
                          <a:rPr lang="en-IN" sz="2800" i="1">
                            <a:solidFill>
                              <a:srgbClr val="15803D"/>
                            </a:solidFill>
                            <a:latin typeface="Cambria Math" panose="02040503050406030204" pitchFamily="18" charset="0"/>
                          </a:rPr>
                          <m:t>𝑛</m:t>
                        </m:r>
                      </m:sub>
                    </m:sSub>
                  </m:oMath>
                </a14:m>
                <a:endParaRPr sz="2800">
                  <a:solidFill>
                    <a:srgbClr val="15803D"/>
                  </a:solidFill>
                </a:endParaRPr>
              </a:p>
            </p:txBody>
          </p:sp>
        </mc:Choice>
        <mc:Fallback>
          <p:sp>
            <p:nvSpPr>
              <p:cNvPr id="5" name="Rounded Rectangle 4"/>
              <p:cNvSpPr/>
              <p:nvPr/>
            </p:nvSpPr>
            <p:spPr>
              <a:xfrm>
                <a:off x="731520" y="5897880"/>
                <a:ext cx="10725912" cy="777240"/>
              </a:xfrm>
              <a:prstGeom prst="roundRect">
                <a:avLst>
                  <a:gd name="adj" fmla="val 8000"/>
                </a:avLst>
              </a:prstGeom>
              <a:solidFill>
                <a:srgbClr val="DCFCE7"/>
              </a:solidFill>
              <a:ln w="25400">
                <a:solidFill>
                  <a:srgbClr val="15803D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5803D"/>
              </a:fontRef>
            </p:style>
            <p:txBody>
              <a:bodyPr rtlCol="0" anchor="ctr" wrap="square" lIns="228600" rIns="228600" tIns="18288" bIns="73152"/>
              <a:lstStyle>
                <a:lvl1pPr>
                  <a:defRPr sz="2800">
                    <a:solidFill>
                      <a:srgbClr val="15803D"/>
                    </a:solidFill>
                  </a:defRPr>
                </a:lvl1pPr>
              </a:lstStyle>
              <a:p>
                <a:pPr algn="ctr">
                  <a:defRPr sz="2800">
                    <a:solidFill>
                      <a:srgbClr val="15803D"/>
                    </a:solidFill>
                  </a:defRPr>
                </a:pPr>
                <a:r>
                  <a:rPr sz="2800" b="1">
                    <a:solidFill>
                      <a:srgbClr val="15803D"/>
                    </a:solidFill>
                    <a:latin typeface="Arial"/>
                  </a:rPr>
                  <a:t>Correct Answer: (a) </a:t>
                </a:r>
                <a:r>
                  <a:rPr lang="en-IN" sz="2800">
                    <a:solidFill>
                      <a:srgbClr val="15803D"/>
                    </a:solidFill>
                    <a:latin typeface="Cambria Math" panose="02040503050406030204" pitchFamily="18" charset="0"/>
                  </a:rPr>
                  <a:t>$a_1^{p_1}a_2^{p_2}\cdots a_n^{p_n}$</a:t>
                </a:r>
                <a:r>
                  <a:rPr sz="2800" b="1">
                    <a:solidFill>
                      <a:srgbClr val="15803D"/>
                    </a:solidFill>
                    <a:latin typeface="Arial"/>
                  </a:rPr>
                  <a:t>; (b) </a:t>
                </a:r>
                <a:r>
                  <a:rPr lang="en-IN" sz="2800">
                    <a:solidFill>
                      <a:srgbClr val="15803D"/>
                    </a:solidFill>
                    <a:latin typeface="Cambria Math" panose="02040503050406030204" pitchFamily="18" charset="0"/>
                  </a:rPr>
                  <a:t>$a_1$</a:t>
                </a:r>
                <a:r>
                  <a:rPr sz="2800" b="1">
                    <a:solidFill>
                      <a:srgbClr val="15803D"/>
                    </a:solidFill>
                    <a:latin typeface="Arial"/>
                  </a:rPr>
                  <a:t>; (c) </a:t>
                </a:r>
                <a:r>
                  <a:rPr lang="en-IN" sz="2800">
                    <a:solidFill>
                      <a:srgbClr val="15803D"/>
                    </a:solidFill>
                    <a:latin typeface="Cambria Math" panose="02040503050406030204" pitchFamily="18" charset="0"/>
                  </a:rPr>
                  <a:t>$a_n$</a:t>
                </a:r>
                <a:endParaRPr sz="2800">
                  <a:solidFill>
                    <a:srgbClr val="15803D"/>
                  </a:solidFill>
                </a:endParaRPr>
              </a:p>
            </p:txBody>
          </p:sp>
        </mc:Fallback>
      </mc:AlternateContent>
    </p:spTree>
  </p:cSld>
  <p:clrMapOvr>
    <a:masterClrMapping/>
  </p:clrMapOvr>
</p:sld>
</file>

<file path=ppt/slides/slide7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FFFFFF"/>
          </a:fontRef>
        </p:style>
        <p:txBody>
          <a:bodyPr rtlCol="0" anchor="ctr" lIns="731520"/>
          <a:lstStyle>
            <a:lvl1pPr>
              <a:defRPr sz="3200">
                <a:solidFill>
                  <a:srgbClr val="FFFFFF"/>
                </a:solidFill>
              </a:defRPr>
            </a:lvl1pPr>
          </a:lstStyle>
          <a:p>
            <a:pPr algn="l">
              <a:defRPr sz="3200">
                <a:solidFill>
                  <a:srgbClr val="FFFFFF"/>
                </a:solidFill>
              </a:defRPr>
            </a:pPr>
            <a:r>
              <a:rPr sz="3200" b="1">
                <a:solidFill>
                  <a:srgbClr val="FFFFFF"/>
                </a:solidFill>
                <a:latin typeface="Arial"/>
              </a:rPr>
              <a:t>Question 12</a:t>
            </a:r>
            <a:endParaRPr sz="3200">
              <a:solidFill>
                <a:srgbClr val="FFFFFF"/>
              </a:solidFill>
            </a:endParaRPr>
          </a:p>
        </p:txBody>
      </p:sp>
      <p:sp>
        <p:nvSpPr>
          <p:cNvPr id="3" name="Rounded Rectangle 2"/>
          <p:cNvSpPr/>
          <p:nvPr/>
        </p:nvSpPr>
        <p:spPr>
          <a:xfrm>
            <a:off x="7894015" y="246887"/>
            <a:ext cx="3840480" cy="603504"/>
          </a:xfrm>
          <a:prstGeom prst="roundRect">
            <a:avLst>
              <a:gd name="adj" fmla="val 50000"/>
            </a:avLst>
          </a:prstGeom>
          <a:solidFill>
            <a:srgbClr val="F6B26B"/>
          </a:solidFill>
          <a:ln w="1905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111827"/>
          </a:fontRef>
        </p:style>
        <p:txBody>
          <a:bodyPr rtlCol="0" anchor="ctr" wrap="square" lIns="228600" rIns="228600" tIns="18288" bIns="18288"/>
          <a:lstStyle>
            <a:lvl1pPr>
              <a:defRPr sz="2400">
                <a:solidFill>
                  <a:srgbClr val="111827"/>
                </a:solidFill>
              </a:defRPr>
            </a:lvl1pPr>
          </a:lstStyle>
          <a:p>
            <a:pPr algn="ctr">
              <a:defRPr sz="2400">
                <a:solidFill>
                  <a:srgbClr val="111827"/>
                </a:solidFill>
              </a:defRPr>
            </a:pPr>
            <a:r>
              <a:rPr sz="2400" b="1">
                <a:solidFill>
                  <a:srgbClr val="111827"/>
                </a:solidFill>
                <a:latin typeface="Arial"/>
              </a:rPr>
              <a:t>Level 3  ·  4 Marks</a:t>
            </a:r>
            <a:endParaRPr sz="2400">
              <a:solidFill>
                <a:srgbClr val="111827"/>
              </a:solidFill>
            </a:endParaRPr>
          </a:p>
        </p:txBody>
      </p:sp>
      <p:sp>
        <p:nvSpPr>
          <p:cNvPr id="4" name="Rounded Rectangle 3"/>
          <p:cNvSpPr/>
          <p:nvPr/>
        </p:nvSpPr>
        <p:spPr>
          <a:xfrm>
            <a:off x="3520440" y="265176"/>
            <a:ext cx="4206240" cy="566928"/>
          </a:xfrm>
          <a:prstGeom prst="roundRect">
            <a:avLst>
              <a:gd name="adj" fmla="val 50000"/>
            </a:avLst>
          </a:prstGeom>
          <a:solidFill>
            <a:srgbClr val="FDE68A"/>
          </a:solidFill>
          <a:ln w="25400">
            <a:solidFill>
              <a:srgbClr val="D9770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78350F"/>
          </a:fontRef>
        </p:style>
        <p:txBody>
          <a:bodyPr rtlCol="0" anchor="ctr" wrap="square" lIns="228600" rIns="228600" tIns="18288" bIns="18288"/>
          <a:lstStyle>
            <a:lvl1pPr>
              <a:defRPr sz="2200">
                <a:solidFill>
                  <a:srgbClr val="78350F"/>
                </a:solidFill>
              </a:defRPr>
            </a:lvl1pPr>
          </a:lstStyle>
          <a:p>
            <a:pPr algn="ctr">
              <a:defRPr sz="2200">
                <a:solidFill>
                  <a:srgbClr val="78350F"/>
                </a:solidFill>
              </a:defRPr>
            </a:pPr>
            <a:r>
              <a:rPr sz="2200" b="1">
                <a:solidFill>
                  <a:srgbClr val="78350F"/>
                </a:solidFill>
                <a:latin typeface="Arial"/>
              </a:rPr>
              <a:t>Alternate Solution</a:t>
            </a:r>
            <a:endParaRPr sz="2200">
              <a:solidFill>
                <a:srgbClr val="78350F"/>
              </a:solidFill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5" name="Rounded Rectangle 4"/>
              <p:cNvSpPr/>
              <p:nvPr/>
            </p:nvSpPr>
            <p:spPr>
              <a:xfrm>
                <a:off x="731520" y="1280160"/>
                <a:ext cx="10725912" cy="1481328"/>
              </a:xfrm>
              <a:prstGeom prst="roundRect">
                <a:avLst>
                  <a:gd name="adj" fmla="val 8000"/>
                </a:avLst>
              </a:prstGeom>
              <a:solidFill>
                <a:srgbClr val="FDE68A"/>
              </a:solidFill>
              <a:ln w="31750">
                <a:solidFill>
                  <a:srgbClr val="D97706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78350F"/>
              </a:fontRef>
            </p:style>
            <p:txBody>
              <a:bodyPr rtlCol="0" anchor="ctr" wrap="square" lIns="228600" rIns="228600" tIns="54864" bIns="73152"/>
              <a:lstStyle>
                <a:lvl1pPr>
                  <a:defRPr sz="2400">
                    <a:solidFill>
                      <a:srgbClr val="78350F"/>
                    </a:solidFill>
                  </a:defRPr>
                </a:lvl1pPr>
              </a:lstStyle>
              <a:p>
                <a:pPr algn="l">
                  <a:defRPr sz="2400">
                    <a:solidFill>
                      <a:srgbClr val="78350F"/>
                    </a:solidFill>
                  </a:defRPr>
                </a:pPr>
                <a:r>
                  <a:rPr sz="2400" b="1">
                    <a:solidFill>
                      <a:srgbClr val="78350F"/>
                    </a:solidFill>
                    <a:latin typeface="Arial"/>
                  </a:rPr>
                  <a:t>Idea:  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Squeeze (b) and (c) between the largest/smallest term and the whole sum; expand to first order in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𝑥</m:t>
                    </m:r>
                  </m:oMath>
                </a14:m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 for (a):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𝐹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 is the weighted power mean.</a:t>
                </a:r>
                <a:endParaRPr sz="2400">
                  <a:solidFill>
                    <a:srgbClr val="78350F"/>
                  </a:solidFill>
                </a:endParaRPr>
              </a:p>
            </p:txBody>
          </p:sp>
        </mc:Choice>
        <mc:Fallback>
          <p:sp>
            <p:nvSpPr>
              <p:cNvPr id="5" name="Rounded Rectangle 4"/>
              <p:cNvSpPr/>
              <p:nvPr/>
            </p:nvSpPr>
            <p:spPr>
              <a:xfrm>
                <a:off x="731520" y="1280160"/>
                <a:ext cx="10725912" cy="1481328"/>
              </a:xfrm>
              <a:prstGeom prst="roundRect">
                <a:avLst>
                  <a:gd name="adj" fmla="val 8000"/>
                </a:avLst>
              </a:prstGeom>
              <a:solidFill>
                <a:srgbClr val="FDE68A"/>
              </a:solidFill>
              <a:ln w="31750">
                <a:solidFill>
                  <a:srgbClr val="D97706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78350F"/>
              </a:fontRef>
            </p:style>
            <p:txBody>
              <a:bodyPr rtlCol="0" anchor="ctr" wrap="square" lIns="228600" rIns="228600" tIns="54864" bIns="73152"/>
              <a:lstStyle>
                <a:lvl1pPr>
                  <a:defRPr sz="2400">
                    <a:solidFill>
                      <a:srgbClr val="78350F"/>
                    </a:solidFill>
                  </a:defRPr>
                </a:lvl1pPr>
              </a:lstStyle>
              <a:p>
                <a:pPr algn="l">
                  <a:defRPr sz="2400">
                    <a:solidFill>
                      <a:srgbClr val="78350F"/>
                    </a:solidFill>
                  </a:defRPr>
                </a:pPr>
                <a:r>
                  <a:rPr sz="2400" b="1">
                    <a:solidFill>
                      <a:srgbClr val="78350F"/>
                    </a:solidFill>
                    <a:latin typeface="Arial"/>
                  </a:rPr>
                  <a:t>Idea:  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Squeeze (b) and (c) between the largest/smallest term and the whole sum; expand to first order in </a:t>
                </a:r>
                <a:r>
                  <a:rPr lang="en-IN" sz="2400">
                    <a:solidFill>
                      <a:srgbClr val="78350F"/>
                    </a:solidFill>
                    <a:latin typeface="Cambria Math" panose="02040503050406030204" pitchFamily="18" charset="0"/>
                  </a:rPr>
                  <a:t>$x$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 for (a): </a:t>
                </a:r>
                <a:r>
                  <a:rPr lang="en-IN" sz="2400">
                    <a:solidFill>
                      <a:srgbClr val="78350F"/>
                    </a:solidFill>
                    <a:latin typeface="Cambria Math" panose="02040503050406030204" pitchFamily="18" charset="0"/>
                  </a:rPr>
                  <a:t>$F(x)$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 is the weighted power mean.</a:t>
                </a:r>
                <a:endParaRPr sz="2400">
                  <a:solidFill>
                    <a:srgbClr val="78350F"/>
                  </a:solidFill>
                </a:endParaRP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6" name="Rectangle 5"/>
              <p:cNvSpPr/>
              <p:nvPr/>
            </p:nvSpPr>
            <p:spPr>
              <a:xfrm>
                <a:off x="731520" y="2898648"/>
                <a:ext cx="10725912" cy="3776472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(a) For small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: </a:t>
                </a:r>
                <a14:m>
                  <m:oMath xmlns:m="http://schemas.openxmlformats.org/officeDocument/2006/math">
                    <m:sSub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𝑎</m:t>
                        </m:r>
                      </m:e>
                      <m:sub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𝑖</m:t>
                        </m:r>
                      </m:sub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</m:sup>
                    </m:sSub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ln</m:t>
                    </m:r>
                    <m:sSub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𝑎</m:t>
                        </m:r>
                      </m:e>
                      <m:sub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𝑖</m:t>
                        </m:r>
                      </m:sub>
                    </m:sSub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𝑂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so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∑</m:t>
                    </m:r>
                    <m:sSub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𝑝</m:t>
                        </m:r>
                      </m:e>
                      <m:sub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𝑖</m:t>
                        </m:r>
                      </m:sub>
                    </m:sSub>
                    <m:sSub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𝑎</m:t>
                        </m:r>
                      </m:e>
                      <m:sub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𝑖</m:t>
                        </m:r>
                      </m:sub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</m:sup>
                    </m:sSub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∑</m:t>
                    </m:r>
                    <m:sSub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𝑝</m:t>
                        </m:r>
                      </m:e>
                      <m:sub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𝑖</m:t>
                        </m:r>
                      </m:sub>
                    </m:sSub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ln</m:t>
                    </m:r>
                    <m:sSub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𝑎</m:t>
                        </m:r>
                      </m:e>
                      <m:sub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𝑖</m:t>
                        </m:r>
                      </m:sub>
                    </m:sSub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𝑂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Then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𝐹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sSup>
                      <m:e>
                        <m:d>
                          <m:dPr>
                            <m:begChr m:val="("/>
                            <m:sepChr m:val=""/>
                            <m:endChr m:val=")"/>
                            <m:grow/>
                            <m:ctrlP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1</m:t>
                            </m:r>
                            <m:r>
                              <m:rPr>
                                <m:sty m:val="p"/>
                              </m:rPr>
                              <a:rPr lang="en-IN" sz="2400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+</m:t>
                            </m:r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𝑐</m:t>
                            </m:r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𝑥</m:t>
                            </m:r>
                            <m:r>
                              <m:rPr>
                                <m:sty m:val="p"/>
                              </m:rPr>
                              <a:rPr lang="en-IN" sz="2400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+</m:t>
                            </m:r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𝑂</m:t>
                            </m:r>
                            <m:r>
                              <m:rPr>
                                <m:sty m:val="p"/>
                              </m:rPr>
                              <a:rPr lang="en-IN" sz="2400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(</m:t>
                            </m:r>
                            <m:sSup>
                              <m:e>
                                <m:r>
                                  <a:rPr lang="en-IN" sz="2400" i="1">
                                    <a:solidFill>
                                      <a:srgbClr val="111827"/>
                                    </a:solidFill>
                                    <a:latin typeface="Cambria Math" panose="02040503050406030204" pitchFamily="18" charset="0"/>
                                  </a:rPr>
                                  <m:t>𝑥</m:t>
                                </m:r>
                              </m:e>
                              <m:sup>
                                <m:r>
                                  <a:rPr lang="en-IN" sz="2400" i="1">
                                    <a:solidFill>
                                      <a:srgbClr val="111827"/>
                                    </a:solidFill>
                                    <a:latin typeface="Cambria Math" panose="02040503050406030204" pitchFamily="18" charset="0"/>
                                  </a:rPr>
                                  <m:t>2</m:t>
                                </m:r>
                              </m:sup>
                            </m:sSup>
                            <m:r>
                              <m:rPr>
                                <m:sty m:val="p"/>
                              </m:rPr>
                              <a:rPr lang="en-IN" sz="2400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)</m:t>
                            </m:r>
                          </m:e>
                        </m:d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/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→</m:t>
                    </m:r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𝑒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𝑐</m:t>
                        </m:r>
                      </m:sup>
                    </m:sSup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with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𝑐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∑</m:t>
                    </m:r>
                    <m:sSub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𝑝</m:t>
                        </m:r>
                      </m:e>
                      <m:sub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𝑖</m:t>
                        </m:r>
                      </m:sub>
                    </m:sSub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ln</m:t>
                    </m:r>
                    <m:sSub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𝑎</m:t>
                        </m:r>
                      </m:e>
                      <m:sub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𝑖</m:t>
                        </m:r>
                      </m:sub>
                    </m:sSub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giving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∏</m:t>
                    </m:r>
                    <m:sSub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𝑎</m:t>
                        </m:r>
                      </m:e>
                      <m:sub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𝑖</m:t>
                        </m:r>
                      </m:sub>
                      <m:sup>
                        <m:sSub>
                          <m:e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𝑝</m:t>
                            </m:r>
                          </m:e>
                          <m:sub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𝑖</m:t>
                            </m:r>
                          </m:sub>
                        </m:sSub>
                      </m:sup>
                    </m:sSubSup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Choice>
        <mc:Fallback>
          <p:sp>
            <p:nvSpPr>
              <p:cNvPr id="6" name="Rectangle 5"/>
              <p:cNvSpPr/>
              <p:nvPr/>
            </p:nvSpPr>
            <p:spPr>
              <a:xfrm>
                <a:off x="731520" y="2898648"/>
                <a:ext cx="10725912" cy="3776472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(a) For small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$x$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: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$a_i^x=1+x\ln a_i+O(x^2)$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so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$\sum p_ia_i^x=1+x\sum p_i\ln a_i+O(x^2)$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Then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$F(x)=\left(1+cx+O(x^2)\right)^{1/x}\to e^{c}$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with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$c=\sum p_i\ln a_i$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giving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$\prod a_i^{p_i}$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Fallback>
      </mc:AlternateContent>
    </p:spTree>
  </p:cSld>
  <p:clrMapOvr>
    <a:masterClrMapping/>
  </p:clrMapOvr>
</p:sld>
</file>

<file path=ppt/slides/slide8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FFFFFF"/>
          </a:fontRef>
        </p:style>
        <p:txBody>
          <a:bodyPr rtlCol="0" anchor="ctr" lIns="731520"/>
          <a:lstStyle>
            <a:lvl1pPr>
              <a:defRPr sz="3200">
                <a:solidFill>
                  <a:srgbClr val="FFFFFF"/>
                </a:solidFill>
              </a:defRPr>
            </a:lvl1pPr>
          </a:lstStyle>
          <a:p>
            <a:pPr algn="l">
              <a:defRPr sz="3200">
                <a:solidFill>
                  <a:srgbClr val="FFFFFF"/>
                </a:solidFill>
              </a:defRPr>
            </a:pPr>
            <a:r>
              <a:rPr sz="3200" b="1">
                <a:solidFill>
                  <a:srgbClr val="FFFFFF"/>
                </a:solidFill>
                <a:latin typeface="Arial"/>
              </a:rPr>
              <a:t>Question 12</a:t>
            </a:r>
            <a:endParaRPr sz="3200">
              <a:solidFill>
                <a:srgbClr val="FFFFFF"/>
              </a:solidFill>
            </a:endParaRPr>
          </a:p>
        </p:txBody>
      </p:sp>
      <p:sp>
        <p:nvSpPr>
          <p:cNvPr id="3" name="Rounded Rectangle 2"/>
          <p:cNvSpPr/>
          <p:nvPr/>
        </p:nvSpPr>
        <p:spPr>
          <a:xfrm>
            <a:off x="7894015" y="246887"/>
            <a:ext cx="3840480" cy="603504"/>
          </a:xfrm>
          <a:prstGeom prst="roundRect">
            <a:avLst>
              <a:gd name="adj" fmla="val 50000"/>
            </a:avLst>
          </a:prstGeom>
          <a:solidFill>
            <a:srgbClr val="F6B26B"/>
          </a:solidFill>
          <a:ln w="1905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111827"/>
          </a:fontRef>
        </p:style>
        <p:txBody>
          <a:bodyPr rtlCol="0" anchor="ctr" wrap="square" lIns="228600" rIns="228600" tIns="18288" bIns="18288"/>
          <a:lstStyle>
            <a:lvl1pPr>
              <a:defRPr sz="2400">
                <a:solidFill>
                  <a:srgbClr val="111827"/>
                </a:solidFill>
              </a:defRPr>
            </a:lvl1pPr>
          </a:lstStyle>
          <a:p>
            <a:pPr algn="ctr">
              <a:defRPr sz="2400">
                <a:solidFill>
                  <a:srgbClr val="111827"/>
                </a:solidFill>
              </a:defRPr>
            </a:pPr>
            <a:r>
              <a:rPr sz="2400" b="1">
                <a:solidFill>
                  <a:srgbClr val="111827"/>
                </a:solidFill>
                <a:latin typeface="Arial"/>
              </a:rPr>
              <a:t>Level 3  ·  4 Marks</a:t>
            </a:r>
            <a:endParaRPr sz="2400">
              <a:solidFill>
                <a:srgbClr val="111827"/>
              </a:solidFill>
            </a:endParaRPr>
          </a:p>
        </p:txBody>
      </p:sp>
      <p:sp>
        <p:nvSpPr>
          <p:cNvPr id="4" name="Rounded Rectangle 3"/>
          <p:cNvSpPr/>
          <p:nvPr/>
        </p:nvSpPr>
        <p:spPr>
          <a:xfrm>
            <a:off x="3520440" y="265176"/>
            <a:ext cx="4206240" cy="566928"/>
          </a:xfrm>
          <a:prstGeom prst="roundRect">
            <a:avLst>
              <a:gd name="adj" fmla="val 50000"/>
            </a:avLst>
          </a:prstGeom>
          <a:solidFill>
            <a:srgbClr val="FDE68A"/>
          </a:solidFill>
          <a:ln w="25400">
            <a:solidFill>
              <a:srgbClr val="D9770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78350F"/>
          </a:fontRef>
        </p:style>
        <p:txBody>
          <a:bodyPr rtlCol="0" anchor="ctr" wrap="square" lIns="228600" rIns="228600" tIns="18288" bIns="18288"/>
          <a:lstStyle>
            <a:lvl1pPr>
              <a:defRPr sz="2200">
                <a:solidFill>
                  <a:srgbClr val="78350F"/>
                </a:solidFill>
              </a:defRPr>
            </a:lvl1pPr>
          </a:lstStyle>
          <a:p>
            <a:pPr algn="ctr">
              <a:defRPr sz="2200">
                <a:solidFill>
                  <a:srgbClr val="78350F"/>
                </a:solidFill>
              </a:defRPr>
            </a:pPr>
            <a:r>
              <a:rPr sz="2200" b="1">
                <a:solidFill>
                  <a:srgbClr val="78350F"/>
                </a:solidFill>
                <a:latin typeface="Arial"/>
              </a:rPr>
              <a:t>Alternate Solution</a:t>
            </a:r>
            <a:endParaRPr sz="2200">
              <a:solidFill>
                <a:srgbClr val="78350F"/>
              </a:solidFill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5" name="Rectangle 4"/>
              <p:cNvSpPr/>
              <p:nvPr/>
            </p:nvSpPr>
            <p:spPr>
              <a:xfrm>
                <a:off x="731520" y="1353312"/>
                <a:ext cx="10725912" cy="4434840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(b) For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&gt;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0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: </a:t>
                </a:r>
                <a14:m>
                  <m:oMath xmlns:m="http://schemas.openxmlformats.org/officeDocument/2006/math">
                    <m:sSub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𝑝</m:t>
                        </m:r>
                      </m:e>
                      <m:sub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sub>
                    </m:sSub>
                    <m:sSub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𝑎</m:t>
                        </m:r>
                      </m:e>
                      <m:sub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sub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</m:sup>
                    </m:sSub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≤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∑</m:t>
                    </m:r>
                    <m:sSub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𝑝</m:t>
                        </m:r>
                      </m:e>
                      <m:sub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𝑖</m:t>
                        </m:r>
                      </m:sub>
                    </m:sSub>
                    <m:sSub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𝑎</m:t>
                        </m:r>
                      </m:e>
                      <m:sub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𝑖</m:t>
                        </m:r>
                      </m:sub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</m:sup>
                    </m:sSub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≤</m:t>
                    </m:r>
                    <m:sSub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𝑎</m:t>
                        </m:r>
                      </m:e>
                      <m:sub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sub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</m:sup>
                    </m:sSub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∑</m:t>
                    </m:r>
                    <m:sSub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𝑝</m:t>
                        </m:r>
                      </m:e>
                      <m:sub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𝑖</m:t>
                        </m:r>
                      </m:sub>
                    </m:sSub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sSub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𝑎</m:t>
                        </m:r>
                      </m:e>
                      <m:sub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sub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</m:sup>
                    </m:sSubSup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 Raising to </a:t>
                </a:r>
                <a14:m>
                  <m:oMath xmlns:m="http://schemas.openxmlformats.org/officeDocument/2006/math"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</m:den>
                    </m:f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&gt;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0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: </a:t>
                </a:r>
                <a14:m>
                  <m:oMath xmlns:m="http://schemas.openxmlformats.org/officeDocument/2006/math">
                    <m:sSub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𝑎</m:t>
                        </m:r>
                      </m:e>
                      <m:sub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sub>
                    </m:sSub>
                    <m:sSub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𝑝</m:t>
                        </m:r>
                      </m:e>
                      <m:sub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sub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/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</m:sup>
                    </m:sSub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≤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𝐹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≤</m:t>
                    </m:r>
                    <m:sSub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𝑎</m:t>
                        </m:r>
                      </m:e>
                      <m:sub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sub>
                    </m:sSub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 As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→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∞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</a:t>
                </a:r>
                <a14:m>
                  <m:oMath xmlns:m="http://schemas.openxmlformats.org/officeDocument/2006/math">
                    <m:sSub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𝑝</m:t>
                        </m:r>
                      </m:e>
                      <m:sub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sub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/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</m:sup>
                    </m:sSub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so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𝐹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→</m:t>
                    </m:r>
                    <m:sSub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𝑎</m:t>
                        </m:r>
                      </m:e>
                      <m:sub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sub>
                    </m:sSub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(c) For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&lt;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0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the smallest base </a:t>
                </a:r>
                <a14:m>
                  <m:oMath xmlns:m="http://schemas.openxmlformats.org/officeDocument/2006/math">
                    <m:sSub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𝑎</m:t>
                        </m:r>
                      </m:e>
                      <m:sub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𝑛</m:t>
                        </m:r>
                      </m:sub>
                    </m:sSub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gives the largest term: </a:t>
                </a:r>
                <a14:m>
                  <m:oMath xmlns:m="http://schemas.openxmlformats.org/officeDocument/2006/math">
                    <m:sSub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𝑝</m:t>
                        </m:r>
                      </m:e>
                      <m:sub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𝑛</m:t>
                        </m:r>
                      </m:sub>
                    </m:sSub>
                    <m:sSub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𝑎</m:t>
                        </m:r>
                      </m:e>
                      <m:sub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𝑛</m:t>
                        </m:r>
                      </m:sub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</m:sup>
                    </m:sSub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≤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∑</m:t>
                    </m:r>
                    <m:sSub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𝑝</m:t>
                        </m:r>
                      </m:e>
                      <m:sub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𝑖</m:t>
                        </m:r>
                      </m:sub>
                    </m:sSub>
                    <m:sSub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𝑎</m:t>
                        </m:r>
                      </m:e>
                      <m:sub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𝑖</m:t>
                        </m:r>
                      </m:sub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</m:sup>
                    </m:sSub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≤</m:t>
                    </m:r>
                    <m:sSub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𝑎</m:t>
                        </m:r>
                      </m:e>
                      <m:sub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𝑛</m:t>
                        </m:r>
                      </m:sub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</m:sup>
                    </m:sSubSup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 Raising to </a:t>
                </a:r>
                <a14:m>
                  <m:oMath xmlns:m="http://schemas.openxmlformats.org/officeDocument/2006/math"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</m:den>
                    </m:f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&lt;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0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reverses the inequalities: </a:t>
                </a:r>
                <a14:m>
                  <m:oMath xmlns:m="http://schemas.openxmlformats.org/officeDocument/2006/math">
                    <m:sSub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𝑎</m:t>
                        </m:r>
                      </m:e>
                      <m:sub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𝑛</m:t>
                        </m:r>
                      </m:sub>
                    </m:sSub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≤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𝐹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≤</m:t>
                    </m:r>
                    <m:sSub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𝑝</m:t>
                        </m:r>
                      </m:e>
                      <m:sub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𝑛</m:t>
                        </m:r>
                      </m:sub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/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</m:sup>
                    </m:sSubSup>
                    <m:sSub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𝑎</m:t>
                        </m:r>
                      </m:e>
                      <m:sub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𝑛</m:t>
                        </m:r>
                      </m:sub>
                    </m:sSub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and </a:t>
                </a:r>
                <a14:m>
                  <m:oMath xmlns:m="http://schemas.openxmlformats.org/officeDocument/2006/math">
                    <m:sSub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𝑝</m:t>
                        </m:r>
                      </m:e>
                      <m:sub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𝑛</m:t>
                        </m:r>
                      </m:sub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/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</m:sup>
                    </m:sSub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as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→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∞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so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𝐹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→</m:t>
                    </m:r>
                    <m:sSub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𝑎</m:t>
                        </m:r>
                      </m:e>
                      <m:sub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𝑛</m:t>
                        </m:r>
                      </m:sub>
                    </m:sSub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Choice>
        <mc:Fallback>
          <p:sp>
            <p:nvSpPr>
              <p:cNvPr id="5" name="Rectangle 4"/>
              <p:cNvSpPr/>
              <p:nvPr/>
            </p:nvSpPr>
            <p:spPr>
              <a:xfrm>
                <a:off x="731520" y="1353312"/>
                <a:ext cx="10725912" cy="4434840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(b) For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$x&gt;0$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: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$p_1a_1^x\le\sum p_ia_i^x\le a_1^x\sum p_i=a_1^x$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 Raising to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$\frac1x&gt;0$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: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$a_1p_1^{1/x}\le F(x)\le a_1$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 As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$x\to\infty$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$p_1^{1/x}\to1$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so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$F\to a_1$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(c) For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$x&lt;0$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the smallest base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$a_n$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gives the largest term: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$p_na_n^x\le\sum p_ia_i^x\le a_n^x$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 Raising to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$\frac1x&lt;0$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reverses the inequalities: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$a_n\le F(x)\le p_n^{1/x}a_n$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and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$p_n^{1/x}\to1$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as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$x\to-\infty$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so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$F\to a_n$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6" name="Rounded Rectangle 5"/>
              <p:cNvSpPr/>
              <p:nvPr/>
            </p:nvSpPr>
            <p:spPr>
              <a:xfrm>
                <a:off x="731520" y="5897880"/>
                <a:ext cx="10725912" cy="777240"/>
              </a:xfrm>
              <a:prstGeom prst="roundRect">
                <a:avLst>
                  <a:gd name="adj" fmla="val 8000"/>
                </a:avLst>
              </a:prstGeom>
              <a:solidFill>
                <a:srgbClr val="DCFCE7"/>
              </a:solidFill>
              <a:ln w="25400">
                <a:solidFill>
                  <a:srgbClr val="15803D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5803D"/>
              </a:fontRef>
            </p:style>
            <p:txBody>
              <a:bodyPr rtlCol="0" anchor="ctr" wrap="square" lIns="228600" rIns="228600" tIns="18288" bIns="73152"/>
              <a:lstStyle>
                <a:lvl1pPr>
                  <a:defRPr sz="2800">
                    <a:solidFill>
                      <a:srgbClr val="15803D"/>
                    </a:solidFill>
                  </a:defRPr>
                </a:lvl1pPr>
              </a:lstStyle>
              <a:p>
                <a:pPr algn="ctr">
                  <a:defRPr sz="2800">
                    <a:solidFill>
                      <a:srgbClr val="15803D"/>
                    </a:solidFill>
                  </a:defRPr>
                </a:pPr>
                <a:r>
                  <a:rPr sz="2800" b="1">
                    <a:solidFill>
                      <a:srgbClr val="15803D"/>
                    </a:solidFill>
                    <a:latin typeface="Arial"/>
                  </a:rPr>
                  <a:t>Same answer: (a) </a:t>
                </a:r>
                <a14:m>
                  <m:oMath xmlns:m="http://schemas.openxmlformats.org/officeDocument/2006/math">
                    <m:sSubSup>
                      <m:e>
                        <m:r>
                          <a:rPr lang="en-IN" sz="2800" i="1">
                            <a:solidFill>
                              <a:srgbClr val="15803D"/>
                            </a:solidFill>
                            <a:latin typeface="Cambria Math" panose="02040503050406030204" pitchFamily="18" charset="0"/>
                          </a:rPr>
                          <m:t>𝑎</m:t>
                        </m:r>
                      </m:e>
                      <m:sub>
                        <m:r>
                          <a:rPr lang="en-IN" sz="2800" i="1">
                            <a:solidFill>
                              <a:srgbClr val="15803D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sub>
                      <m:sup>
                        <m:sSub>
                          <m:e>
                            <m:r>
                              <a:rPr lang="en-IN" sz="2800" i="1">
                                <a:solidFill>
                                  <a:srgbClr val="15803D"/>
                                </a:solidFill>
                                <a:latin typeface="Cambria Math" panose="02040503050406030204" pitchFamily="18" charset="0"/>
                              </a:rPr>
                              <m:t>𝑝</m:t>
                            </m:r>
                          </m:e>
                          <m:sub>
                            <m:r>
                              <a:rPr lang="en-IN" sz="2800" i="1">
                                <a:solidFill>
                                  <a:srgbClr val="15803D"/>
                                </a:solidFill>
                                <a:latin typeface="Cambria Math" panose="02040503050406030204" pitchFamily="18" charset="0"/>
                              </a:rPr>
                              <m:t>1</m:t>
                            </m:r>
                          </m:sub>
                        </m:sSub>
                      </m:sup>
                    </m:sSubSup>
                    <m:sSubSup>
                      <m:e>
                        <m:r>
                          <a:rPr lang="en-IN" sz="2800" i="1">
                            <a:solidFill>
                              <a:srgbClr val="15803D"/>
                            </a:solidFill>
                            <a:latin typeface="Cambria Math" panose="02040503050406030204" pitchFamily="18" charset="0"/>
                          </a:rPr>
                          <m:t>𝑎</m:t>
                        </m:r>
                      </m:e>
                      <m:sub>
                        <m:r>
                          <a:rPr lang="en-IN" sz="2800" i="1">
                            <a:solidFill>
                              <a:srgbClr val="15803D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b>
                      <m:sup>
                        <m:sSub>
                          <m:e>
                            <m:r>
                              <a:rPr lang="en-IN" sz="2800" i="1">
                                <a:solidFill>
                                  <a:srgbClr val="15803D"/>
                                </a:solidFill>
                                <a:latin typeface="Cambria Math" panose="02040503050406030204" pitchFamily="18" charset="0"/>
                              </a:rPr>
                              <m:t>𝑝</m:t>
                            </m:r>
                          </m:e>
                          <m:sub>
                            <m:r>
                              <a:rPr lang="en-IN" sz="2800" i="1">
                                <a:solidFill>
                                  <a:srgbClr val="15803D"/>
                                </a:solidFill>
                                <a:latin typeface="Cambria Math" panose="02040503050406030204" pitchFamily="18" charset="0"/>
                              </a:rPr>
                              <m:t>2</m:t>
                            </m:r>
                          </m:sub>
                        </m:sSub>
                      </m:sup>
                    </m:sSubSup>
                    <m:r>
                      <m:rPr>
                        <m:sty m:val="p"/>
                      </m:rPr>
                      <a:rPr lang="en-IN" sz="2800">
                        <a:solidFill>
                          <a:srgbClr val="15803D"/>
                        </a:solidFill>
                        <a:latin typeface="Cambria Math" panose="02040503050406030204" pitchFamily="18" charset="0"/>
                      </a:rPr>
                      <m:t>⋯</m:t>
                    </m:r>
                    <m:sSubSup>
                      <m:e>
                        <m:r>
                          <a:rPr lang="en-IN" sz="2800" i="1">
                            <a:solidFill>
                              <a:srgbClr val="15803D"/>
                            </a:solidFill>
                            <a:latin typeface="Cambria Math" panose="02040503050406030204" pitchFamily="18" charset="0"/>
                          </a:rPr>
                          <m:t>𝑎</m:t>
                        </m:r>
                      </m:e>
                      <m:sub>
                        <m:r>
                          <a:rPr lang="en-IN" sz="2800" i="1">
                            <a:solidFill>
                              <a:srgbClr val="15803D"/>
                            </a:solidFill>
                            <a:latin typeface="Cambria Math" panose="02040503050406030204" pitchFamily="18" charset="0"/>
                          </a:rPr>
                          <m:t>𝑛</m:t>
                        </m:r>
                      </m:sub>
                      <m:sup>
                        <m:sSub>
                          <m:e>
                            <m:r>
                              <a:rPr lang="en-IN" sz="2800" i="1">
                                <a:solidFill>
                                  <a:srgbClr val="15803D"/>
                                </a:solidFill>
                                <a:latin typeface="Cambria Math" panose="02040503050406030204" pitchFamily="18" charset="0"/>
                              </a:rPr>
                              <m:t>𝑝</m:t>
                            </m:r>
                          </m:e>
                          <m:sub>
                            <m:r>
                              <a:rPr lang="en-IN" sz="2800" i="1">
                                <a:solidFill>
                                  <a:srgbClr val="15803D"/>
                                </a:solidFill>
                                <a:latin typeface="Cambria Math" panose="02040503050406030204" pitchFamily="18" charset="0"/>
                              </a:rPr>
                              <m:t>𝑛</m:t>
                            </m:r>
                          </m:sub>
                        </m:sSub>
                      </m:sup>
                    </m:sSubSup>
                  </m:oMath>
                </a14:m>
                <a:r>
                  <a:rPr sz="2800" b="1">
                    <a:solidFill>
                      <a:srgbClr val="15803D"/>
                    </a:solidFill>
                    <a:latin typeface="Arial"/>
                  </a:rPr>
                  <a:t>; (b) </a:t>
                </a:r>
                <a14:m>
                  <m:oMath xmlns:m="http://schemas.openxmlformats.org/officeDocument/2006/math">
                    <m:sSub>
                      <m:e>
                        <m:r>
                          <a:rPr lang="en-IN" sz="2800" i="1">
                            <a:solidFill>
                              <a:srgbClr val="15803D"/>
                            </a:solidFill>
                            <a:latin typeface="Cambria Math" panose="02040503050406030204" pitchFamily="18" charset="0"/>
                          </a:rPr>
                          <m:t>𝑎</m:t>
                        </m:r>
                      </m:e>
                      <m:sub>
                        <m:r>
                          <a:rPr lang="en-IN" sz="2800" i="1">
                            <a:solidFill>
                              <a:srgbClr val="15803D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sub>
                    </m:sSub>
                  </m:oMath>
                </a14:m>
                <a:r>
                  <a:rPr sz="2800" b="1">
                    <a:solidFill>
                      <a:srgbClr val="15803D"/>
                    </a:solidFill>
                    <a:latin typeface="Arial"/>
                  </a:rPr>
                  <a:t>; (c) </a:t>
                </a:r>
                <a14:m>
                  <m:oMath xmlns:m="http://schemas.openxmlformats.org/officeDocument/2006/math">
                    <m:sSub>
                      <m:e>
                        <m:r>
                          <a:rPr lang="en-IN" sz="2800" i="1">
                            <a:solidFill>
                              <a:srgbClr val="15803D"/>
                            </a:solidFill>
                            <a:latin typeface="Cambria Math" panose="02040503050406030204" pitchFamily="18" charset="0"/>
                          </a:rPr>
                          <m:t>𝑎</m:t>
                        </m:r>
                      </m:e>
                      <m:sub>
                        <m:r>
                          <a:rPr lang="en-IN" sz="2800" i="1">
                            <a:solidFill>
                              <a:srgbClr val="15803D"/>
                            </a:solidFill>
                            <a:latin typeface="Cambria Math" panose="02040503050406030204" pitchFamily="18" charset="0"/>
                          </a:rPr>
                          <m:t>𝑛</m:t>
                        </m:r>
                      </m:sub>
                    </m:sSub>
                  </m:oMath>
                </a14:m>
                <a:endParaRPr sz="2800">
                  <a:solidFill>
                    <a:srgbClr val="15803D"/>
                  </a:solidFill>
                </a:endParaRPr>
              </a:p>
            </p:txBody>
          </p:sp>
        </mc:Choice>
        <mc:Fallback>
          <p:sp>
            <p:nvSpPr>
              <p:cNvPr id="6" name="Rounded Rectangle 5"/>
              <p:cNvSpPr/>
              <p:nvPr/>
            </p:nvSpPr>
            <p:spPr>
              <a:xfrm>
                <a:off x="731520" y="5897880"/>
                <a:ext cx="10725912" cy="777240"/>
              </a:xfrm>
              <a:prstGeom prst="roundRect">
                <a:avLst>
                  <a:gd name="adj" fmla="val 8000"/>
                </a:avLst>
              </a:prstGeom>
              <a:solidFill>
                <a:srgbClr val="DCFCE7"/>
              </a:solidFill>
              <a:ln w="25400">
                <a:solidFill>
                  <a:srgbClr val="15803D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5803D"/>
              </a:fontRef>
            </p:style>
            <p:txBody>
              <a:bodyPr rtlCol="0" anchor="ctr" wrap="square" lIns="228600" rIns="228600" tIns="18288" bIns="73152"/>
              <a:lstStyle>
                <a:lvl1pPr>
                  <a:defRPr sz="2800">
                    <a:solidFill>
                      <a:srgbClr val="15803D"/>
                    </a:solidFill>
                  </a:defRPr>
                </a:lvl1pPr>
              </a:lstStyle>
              <a:p>
                <a:pPr algn="ctr">
                  <a:defRPr sz="2800">
                    <a:solidFill>
                      <a:srgbClr val="15803D"/>
                    </a:solidFill>
                  </a:defRPr>
                </a:pPr>
                <a:r>
                  <a:rPr sz="2800" b="1">
                    <a:solidFill>
                      <a:srgbClr val="15803D"/>
                    </a:solidFill>
                    <a:latin typeface="Arial"/>
                  </a:rPr>
                  <a:t>Same answer: (a) </a:t>
                </a:r>
                <a:r>
                  <a:rPr lang="en-IN" sz="2800">
                    <a:solidFill>
                      <a:srgbClr val="15803D"/>
                    </a:solidFill>
                    <a:latin typeface="Cambria Math" panose="02040503050406030204" pitchFamily="18" charset="0"/>
                  </a:rPr>
                  <a:t>$a_1^{p_1}a_2^{p_2}\cdots a_n^{p_n}$</a:t>
                </a:r>
                <a:r>
                  <a:rPr sz="2800" b="1">
                    <a:solidFill>
                      <a:srgbClr val="15803D"/>
                    </a:solidFill>
                    <a:latin typeface="Arial"/>
                  </a:rPr>
                  <a:t>; (b) </a:t>
                </a:r>
                <a:r>
                  <a:rPr lang="en-IN" sz="2800">
                    <a:solidFill>
                      <a:srgbClr val="15803D"/>
                    </a:solidFill>
                    <a:latin typeface="Cambria Math" panose="02040503050406030204" pitchFamily="18" charset="0"/>
                  </a:rPr>
                  <a:t>$a_1$</a:t>
                </a:r>
                <a:r>
                  <a:rPr sz="2800" b="1">
                    <a:solidFill>
                      <a:srgbClr val="15803D"/>
                    </a:solidFill>
                    <a:latin typeface="Arial"/>
                  </a:rPr>
                  <a:t>; (c) </a:t>
                </a:r>
                <a:r>
                  <a:rPr lang="en-IN" sz="2800">
                    <a:solidFill>
                      <a:srgbClr val="15803D"/>
                    </a:solidFill>
                    <a:latin typeface="Cambria Math" panose="02040503050406030204" pitchFamily="18" charset="0"/>
                  </a:rPr>
                  <a:t>$a_n$</a:t>
                </a:r>
                <a:endParaRPr sz="2800">
                  <a:solidFill>
                    <a:srgbClr val="15803D"/>
                  </a:solidFill>
                </a:endParaRPr>
              </a:p>
            </p:txBody>
          </p:sp>
        </mc:Fallback>
      </mc:AlternateContent>
    </p:spTree>
  </p:cSld>
  <p:clrMapOvr>
    <a:masterClrMapping/>
  </p:clrMapOvr>
</p:sld>
</file>

<file path=ppt/slides/slide8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FFFFFF"/>
          </a:fontRef>
        </p:style>
        <p:txBody>
          <a:bodyPr rtlCol="0" anchor="ctr" lIns="731520"/>
          <a:lstStyle>
            <a:lvl1pPr>
              <a:defRPr sz="3200">
                <a:solidFill>
                  <a:srgbClr val="FFFFFF"/>
                </a:solidFill>
              </a:defRPr>
            </a:lvl1pPr>
          </a:lstStyle>
          <a:p>
            <a:pPr algn="l">
              <a:defRPr sz="3200">
                <a:solidFill>
                  <a:srgbClr val="FFFFFF"/>
                </a:solidFill>
              </a:defRPr>
            </a:pPr>
            <a:r>
              <a:rPr sz="3200" b="1">
                <a:solidFill>
                  <a:srgbClr val="FFFFFF"/>
                </a:solidFill>
                <a:latin typeface="Arial"/>
              </a:rPr>
              <a:t>Question 12</a:t>
            </a:r>
            <a:endParaRPr sz="3200">
              <a:solidFill>
                <a:srgbClr val="FFFFFF"/>
              </a:solidFill>
            </a:endParaRPr>
          </a:p>
        </p:txBody>
      </p:sp>
      <p:sp>
        <p:nvSpPr>
          <p:cNvPr id="3" name="Rounded Rectangle 2"/>
          <p:cNvSpPr/>
          <p:nvPr/>
        </p:nvSpPr>
        <p:spPr>
          <a:xfrm>
            <a:off x="7894015" y="246887"/>
            <a:ext cx="3840480" cy="603504"/>
          </a:xfrm>
          <a:prstGeom prst="roundRect">
            <a:avLst>
              <a:gd name="adj" fmla="val 50000"/>
            </a:avLst>
          </a:prstGeom>
          <a:solidFill>
            <a:srgbClr val="F6B26B"/>
          </a:solidFill>
          <a:ln w="1905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111827"/>
          </a:fontRef>
        </p:style>
        <p:txBody>
          <a:bodyPr rtlCol="0" anchor="ctr" wrap="square" lIns="228600" rIns="228600" tIns="18288" bIns="18288"/>
          <a:lstStyle>
            <a:lvl1pPr>
              <a:defRPr sz="2400">
                <a:solidFill>
                  <a:srgbClr val="111827"/>
                </a:solidFill>
              </a:defRPr>
            </a:lvl1pPr>
          </a:lstStyle>
          <a:p>
            <a:pPr algn="ctr">
              <a:defRPr sz="2400">
                <a:solidFill>
                  <a:srgbClr val="111827"/>
                </a:solidFill>
              </a:defRPr>
            </a:pPr>
            <a:r>
              <a:rPr sz="2400" b="1">
                <a:solidFill>
                  <a:srgbClr val="111827"/>
                </a:solidFill>
                <a:latin typeface="Arial"/>
              </a:rPr>
              <a:t>Level 3  ·  4 Marks</a:t>
            </a:r>
            <a:endParaRPr sz="2400">
              <a:solidFill>
                <a:srgbClr val="111827"/>
              </a:solidFill>
            </a:endParaRPr>
          </a:p>
        </p:txBody>
      </p:sp>
      <p:sp>
        <p:nvSpPr>
          <p:cNvPr id="4" name="Rounded Rectangle 3"/>
          <p:cNvSpPr/>
          <p:nvPr/>
        </p:nvSpPr>
        <p:spPr>
          <a:xfrm>
            <a:off x="3520440" y="265176"/>
            <a:ext cx="4206240" cy="566928"/>
          </a:xfrm>
          <a:prstGeom prst="roundRect">
            <a:avLst>
              <a:gd name="adj" fmla="val 50000"/>
            </a:avLst>
          </a:prstGeom>
          <a:solidFill>
            <a:srgbClr val="E0ECFF"/>
          </a:solidFill>
          <a:ln w="25400">
            <a:solidFill>
              <a:srgbClr val="1D4ED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0B1F3A"/>
          </a:fontRef>
        </p:style>
        <p:txBody>
          <a:bodyPr rtlCol="0" anchor="ctr" wrap="square" lIns="228600" rIns="228600" tIns="18288" bIns="18288"/>
          <a:lstStyle>
            <a:lvl1pPr>
              <a:defRPr sz="2200">
                <a:solidFill>
                  <a:srgbClr val="0B1F3A"/>
                </a:solidFill>
              </a:defRPr>
            </a:lvl1pPr>
          </a:lstStyle>
          <a:p>
            <a:pPr algn="ctr">
              <a:defRPr sz="2200">
                <a:solidFill>
                  <a:srgbClr val="0B1F3A"/>
                </a:solidFill>
              </a:defRPr>
            </a:pPr>
            <a:r>
              <a:rPr sz="2200" b="1">
                <a:solidFill>
                  <a:srgbClr val="0B1F3A"/>
                </a:solidFill>
                <a:latin typeface="Arial"/>
              </a:rPr>
              <a:t>Useful Result / Pattern</a:t>
            </a:r>
            <a:endParaRPr sz="2200">
              <a:solidFill>
                <a:srgbClr val="0B1F3A"/>
              </a:solidFill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5" name="Rectangle 4"/>
              <p:cNvSpPr/>
              <p:nvPr/>
            </p:nvSpPr>
            <p:spPr>
              <a:xfrm>
                <a:off x="731520" y="1353312"/>
                <a:ext cx="10725912" cy="5321808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14:m>
                  <m:oMath xmlns:m="http://schemas.openxmlformats.org/officeDocument/2006/math">
                    <m:sSub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𝑀</m:t>
                        </m:r>
                      </m:e>
                      <m:sub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</m:sub>
                    </m:sSub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sSup>
                      <m:e>
                        <m:d>
                          <m:dPr>
                            <m:begChr m:val="("/>
                            <m:sepChr m:val=""/>
                            <m:endChr m:val=")"/>
                            <m:grow/>
                            <m:ctrlP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r>
                              <m:rPr>
                                <m:sty m:val="p"/>
                              </m:rPr>
                              <a:rPr lang="en-IN" sz="2400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∑</m:t>
                            </m:r>
                            <m:sSub>
                              <m:e>
                                <m:r>
                                  <a:rPr lang="en-IN" sz="2400" i="1">
                                    <a:solidFill>
                                      <a:srgbClr val="111827"/>
                                    </a:solidFill>
                                    <a:latin typeface="Cambria Math" panose="02040503050406030204" pitchFamily="18" charset="0"/>
                                  </a:rPr>
                                  <m:t>𝑝</m:t>
                                </m:r>
                              </m:e>
                              <m:sub>
                                <m:r>
                                  <a:rPr lang="en-IN" sz="2400" i="1">
                                    <a:solidFill>
                                      <a:srgbClr val="111827"/>
                                    </a:solidFill>
                                    <a:latin typeface="Cambria Math" panose="02040503050406030204" pitchFamily="18" charset="0"/>
                                  </a:rPr>
                                  <m:t>𝑖</m:t>
                                </m:r>
                              </m:sub>
                            </m:sSub>
                            <m:sSubSup>
                              <m:e>
                                <m:r>
                                  <a:rPr lang="en-IN" sz="2400" i="1">
                                    <a:solidFill>
                                      <a:srgbClr val="111827"/>
                                    </a:solidFill>
                                    <a:latin typeface="Cambria Math" panose="02040503050406030204" pitchFamily="18" charset="0"/>
                                  </a:rPr>
                                  <m:t>𝑎</m:t>
                                </m:r>
                              </m:e>
                              <m:sub>
                                <m:r>
                                  <a:rPr lang="en-IN" sz="2400" i="1">
                                    <a:solidFill>
                                      <a:srgbClr val="111827"/>
                                    </a:solidFill>
                                    <a:latin typeface="Cambria Math" panose="02040503050406030204" pitchFamily="18" charset="0"/>
                                  </a:rPr>
                                  <m:t>𝑖</m:t>
                                </m:r>
                              </m:sub>
                              <m:sup>
                                <m:r>
                                  <a:rPr lang="en-IN" sz="2400" i="1">
                                    <a:solidFill>
                                      <a:srgbClr val="111827"/>
                                    </a:solidFill>
                                    <a:latin typeface="Cambria Math" panose="02040503050406030204" pitchFamily="18" charset="0"/>
                                  </a:rPr>
                                  <m:t>𝑥</m:t>
                                </m:r>
                              </m:sup>
                            </m:sSubSup>
                          </m:e>
                        </m:d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/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</m:sup>
                    </m:sSup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is the weighted power mean: </a:t>
                </a:r>
                <a14:m>
                  <m:oMath xmlns:m="http://schemas.openxmlformats.org/officeDocument/2006/math">
                    <m:sSub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𝑀</m:t>
                        </m:r>
                      </m:e>
                      <m:sub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</m:sub>
                    </m:sSub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→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∏</m:t>
                    </m:r>
                    <m:sSub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𝑎</m:t>
                        </m:r>
                      </m:e>
                      <m:sub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𝑖</m:t>
                        </m:r>
                      </m:sub>
                      <m:sup>
                        <m:sSub>
                          <m:e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𝑝</m:t>
                            </m:r>
                          </m:e>
                          <m:sub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𝑖</m:t>
                            </m:r>
                          </m:sub>
                        </m:sSub>
                      </m:sup>
                    </m:sSubSup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(geometric mean) as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0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</a:t>
                </a:r>
                <a14:m>
                  <m:oMath xmlns:m="http://schemas.openxmlformats.org/officeDocument/2006/math">
                    <m:sSub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𝑀</m:t>
                        </m:r>
                      </m:e>
                      <m:sub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</m:sub>
                    </m:sSub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→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max</m:t>
                    </m:r>
                    <m:sSub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𝑎</m:t>
                        </m:r>
                      </m:e>
                      <m:sub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𝑖</m:t>
                        </m:r>
                      </m:sub>
                    </m:sSub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as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→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∞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and </a:t>
                </a:r>
                <a14:m>
                  <m:oMath xmlns:m="http://schemas.openxmlformats.org/officeDocument/2006/math">
                    <m:sSub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𝑀</m:t>
                        </m:r>
                      </m:e>
                      <m:sub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</m:sub>
                    </m:sSub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→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min</m:t>
                    </m:r>
                    <m:sSub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𝑎</m:t>
                        </m:r>
                      </m:e>
                      <m:sub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𝑖</m:t>
                        </m:r>
                      </m:sub>
                    </m:sSub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as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→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∞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; </a:t>
                </a:r>
                <a14:m>
                  <m:oMath xmlns:m="http://schemas.openxmlformats.org/officeDocument/2006/math">
                    <m:sSub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𝑀</m:t>
                        </m:r>
                      </m:e>
                      <m:sub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</m:sub>
                    </m:sSub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is increasing in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Form </a:t>
                </a:r>
                <a14:m>
                  <m:oMath xmlns:m="http://schemas.openxmlformats.org/officeDocument/2006/math"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e>
                      <m:sup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∞</m:t>
                        </m:r>
                      </m:sup>
                    </m:sSup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: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lim</m:t>
                    </m:r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𝑢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𝑣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𝑒</m:t>
                        </m:r>
                      </m:e>
                      <m:sup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lim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𝑣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(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𝑢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−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)</m:t>
                        </m:r>
                      </m:sup>
                    </m:sSup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when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𝑢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𝑣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→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∞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Dominant-term trick: for large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|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|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factor the largest (or smallest, for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→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∞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) power out of the sum; the leftover bracket tends to the weight </a:t>
                </a:r>
                <a14:m>
                  <m:oMath xmlns:m="http://schemas.openxmlformats.org/officeDocument/2006/math">
                    <m:sSub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𝑝</m:t>
                        </m:r>
                      </m:e>
                      <m:sub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𝑖</m:t>
                        </m:r>
                      </m:sub>
                    </m:sSub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&gt;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0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and </a:t>
                </a:r>
                <a14:m>
                  <m:oMath xmlns:m="http://schemas.openxmlformats.org/officeDocument/2006/math">
                    <m:sSub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𝑝</m:t>
                        </m:r>
                      </m:e>
                      <m:sub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𝑖</m:t>
                        </m:r>
                      </m:sub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/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</m:sup>
                    </m:sSub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Check with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𝑎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4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,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𝑝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den>
                    </m:f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,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den>
                    </m:f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: geometric mean </a:t>
                </a:r>
                <a14:m>
                  <m:oMath xmlns:m="http://schemas.openxmlformats.org/officeDocument/2006/math">
                    <m:rad>
                      <m:radPr>
                        <m:degHide m:val="on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radPr>
                      <m:deg/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8</m:t>
                        </m:r>
                      </m:e>
                    </m:rad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2.83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</a:t>
                </a:r>
                <a14:m>
                  <m:oMath xmlns:m="http://schemas.openxmlformats.org/officeDocument/2006/math">
                    <m:sSub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𝑀</m:t>
                        </m:r>
                      </m:e>
                      <m:sub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sub>
                    </m:sSub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3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</a:t>
                </a:r>
                <a14:m>
                  <m:oMath xmlns:m="http://schemas.openxmlformats.org/officeDocument/2006/math">
                    <m:sSub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𝑀</m:t>
                        </m:r>
                      </m:e>
                      <m:sub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−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sub>
                    </m:sSub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2.67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and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&lt;</m:t>
                    </m:r>
                    <m:sSub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𝑀</m:t>
                        </m:r>
                      </m:e>
                      <m:sub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</m:sub>
                    </m:sSub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&lt;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4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always.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Choice>
        <mc:Fallback>
          <p:sp>
            <p:nvSpPr>
              <p:cNvPr id="5" name="Rectangle 4"/>
              <p:cNvSpPr/>
              <p:nvPr/>
            </p:nvSpPr>
            <p:spPr>
              <a:xfrm>
                <a:off x="731520" y="1353312"/>
                <a:ext cx="10725912" cy="5321808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$M_x=\left(\sum p_ia_i^x\right)^{1/x}$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is the weighted power mean: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$M_x\to\prod a_i^{p_i}$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(geometric mean) as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$x\to0$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$M_x\to\max a_i$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as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$x\to\infty$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and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$M_x\to\min a_i$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as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$x\to-\infty$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;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$M_x$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is increasing in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$x$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Form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$1^\infty$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: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$\lim u^{v}=e^{\lim v(u-1)}$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when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$u\to1$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$v\to\infty$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Dominant-term trick: for large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$|x|$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factor the largest (or smallest, for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$x\to-\infty$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) power out of the sum; the leftover bracket tends to the weight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$p_i&gt;0$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and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$p_i^{1/x}\to1$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Check with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$a=(4,2)$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$p=(\frac12,\frac12)$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: geometric mean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$\sqrt8=2.83$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$M_1=3$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$M_{-1}=2.67$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and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$2&lt;M_x&lt;4$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always.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Fallback>
      </mc:AlternateContent>
    </p:spTree>
  </p:cSld>
  <p:clrMapOvr>
    <a:masterClrMapping/>
  </p:clrMapOvr>
</p:sld>
</file>

<file path=ppt/slides/slide8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FFFFFF"/>
          </a:fontRef>
        </p:style>
        <p:txBody>
          <a:bodyPr rtlCol="0" anchor="ctr" lIns="731520"/>
          <a:lstStyle>
            <a:lvl1pPr>
              <a:defRPr sz="3200">
                <a:solidFill>
                  <a:srgbClr val="FFFFFF"/>
                </a:solidFill>
              </a:defRPr>
            </a:lvl1pPr>
          </a:lstStyle>
          <a:p>
            <a:pPr algn="l">
              <a:defRPr sz="3200">
                <a:solidFill>
                  <a:srgbClr val="FFFFFF"/>
                </a:solidFill>
              </a:defRPr>
            </a:pPr>
            <a:r>
              <a:rPr sz="3200" b="1">
                <a:solidFill>
                  <a:srgbClr val="FFFFFF"/>
                </a:solidFill>
                <a:latin typeface="Arial"/>
              </a:rPr>
              <a:t>Question 13</a:t>
            </a:r>
            <a:endParaRPr sz="3200">
              <a:solidFill>
                <a:srgbClr val="FFFFFF"/>
              </a:solidFill>
            </a:endParaRPr>
          </a:p>
        </p:txBody>
      </p:sp>
      <p:sp>
        <p:nvSpPr>
          <p:cNvPr id="3" name="Rounded Rectangle 2"/>
          <p:cNvSpPr/>
          <p:nvPr/>
        </p:nvSpPr>
        <p:spPr>
          <a:xfrm>
            <a:off x="7894015" y="246887"/>
            <a:ext cx="3840480" cy="603504"/>
          </a:xfrm>
          <a:prstGeom prst="roundRect">
            <a:avLst>
              <a:gd name="adj" fmla="val 50000"/>
            </a:avLst>
          </a:prstGeom>
          <a:solidFill>
            <a:srgbClr val="F6B26B"/>
          </a:solidFill>
          <a:ln w="1905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111827"/>
          </a:fontRef>
        </p:style>
        <p:txBody>
          <a:bodyPr rtlCol="0" anchor="ctr" wrap="square" lIns="228600" rIns="228600" tIns="18288" bIns="18288"/>
          <a:lstStyle>
            <a:lvl1pPr>
              <a:defRPr sz="2400">
                <a:solidFill>
                  <a:srgbClr val="111827"/>
                </a:solidFill>
              </a:defRPr>
            </a:lvl1pPr>
          </a:lstStyle>
          <a:p>
            <a:pPr algn="ctr">
              <a:defRPr sz="2400">
                <a:solidFill>
                  <a:srgbClr val="111827"/>
                </a:solidFill>
              </a:defRPr>
            </a:pPr>
            <a:r>
              <a:rPr sz="2400" b="1">
                <a:solidFill>
                  <a:srgbClr val="111827"/>
                </a:solidFill>
                <a:latin typeface="Arial"/>
              </a:rPr>
              <a:t>Level 3  ·  4 Marks</a:t>
            </a:r>
            <a:endParaRPr sz="2400">
              <a:solidFill>
                <a:srgbClr val="111827"/>
              </a:solidFill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4" name="Rounded Rectangle 3"/>
              <p:cNvSpPr/>
              <p:nvPr/>
            </p:nvSpPr>
            <p:spPr>
              <a:xfrm>
                <a:off x="731520" y="1280160"/>
                <a:ext cx="10725912" cy="2379979"/>
              </a:xfrm>
              <a:prstGeom prst="roundRect">
                <a:avLst>
                  <a:gd name="adj" fmla="val 8000"/>
                </a:avLst>
              </a:prstGeom>
              <a:solidFill>
                <a:srgbClr val="E0ECFF"/>
              </a:solidFill>
              <a:ln w="25400">
                <a:solidFill>
                  <a:srgbClr val="1D4ED8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>
                  <a:spcAft>
                    <a:spcPts val="500"/>
                  </a:spcAft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If </a:t>
                </a:r>
                <a14:m>
                  <m:oMath xmlns:m="http://schemas.openxmlformats.org/officeDocument/2006/math">
                    <m:sSub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  <m:sub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sub>
                    </m:sSub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,</m:t>
                    </m:r>
                    <m:sSub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  <m:sub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sub>
                    </m:sSub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,</m:t>
                    </m:r>
                    <m:sSub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  <m:sub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b>
                    </m:sSub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,</m:t>
                    </m:r>
                    <m:sSub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  <m:sub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3</m:t>
                        </m:r>
                      </m:sub>
                    </m:sSub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,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…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,</m:t>
                    </m:r>
                    <m:sSub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  <m:sub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𝑛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−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sub>
                    </m:sSub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are the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𝑛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zeros of the polynomial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𝑃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𝑛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α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β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where </a:t>
                </a:r>
                <a14:m>
                  <m:oMath xmlns:m="http://schemas.openxmlformats.org/officeDocument/2006/math">
                    <m:sSub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  <m:sub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𝑖</m:t>
                        </m:r>
                      </m:sub>
                    </m:sSub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≠</m:t>
                    </m:r>
                    <m:sSub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  <m:sub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𝑗</m:t>
                        </m:r>
                      </m:sub>
                    </m:sSub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for all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𝑖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≠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𝑗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𝑖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,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𝑗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,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,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3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,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…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,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𝑛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 Prove that the value of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𝑄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sSub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  <m:sub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sub>
                    </m:sSub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sSub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  <m:sub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b>
                    </m:sSub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sSub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  <m:sub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sub>
                    </m:sSub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sSub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  <m:sub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3</m:t>
                        </m:r>
                      </m:sub>
                    </m:sSub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sSub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  <m:sub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sub>
                    </m:sSub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sSub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  <m:sub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4</m:t>
                        </m:r>
                      </m:sub>
                    </m:sSub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⋯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sSub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  <m:sub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sub>
                    </m:sSub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sSub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  <m:sub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𝑛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−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sub>
                    </m:sSub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is equal to </a:t>
                </a:r>
                <a14:m>
                  <m:oMath xmlns:m="http://schemas.openxmlformats.org/officeDocument/2006/math"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​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𝑛</m:t>
                        </m:r>
                      </m:sup>
                    </m:sSup>
                    <m:sSub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𝐶</m:t>
                        </m:r>
                      </m:e>
                      <m:sub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b>
                    </m:sSub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 </m:t>
                    </m:r>
                    <m:sSub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  <m:sub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sub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𝑛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−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bSup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Choice>
        <mc:Fallback>
          <p:sp>
            <p:nvSpPr>
              <p:cNvPr id="4" name="Rounded Rectangle 3"/>
              <p:cNvSpPr/>
              <p:nvPr/>
            </p:nvSpPr>
            <p:spPr>
              <a:xfrm>
                <a:off x="731520" y="1280160"/>
                <a:ext cx="10725912" cy="2379979"/>
              </a:xfrm>
              <a:prstGeom prst="roundRect">
                <a:avLst>
                  <a:gd name="adj" fmla="val 8000"/>
                </a:avLst>
              </a:prstGeom>
              <a:solidFill>
                <a:srgbClr val="E0ECFF"/>
              </a:solidFill>
              <a:ln w="25400">
                <a:solidFill>
                  <a:srgbClr val="1D4ED8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>
                  <a:spcAft>
                    <a:spcPts val="500"/>
                  </a:spcAft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If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$x_1,x_1,x_2,x_3,\dots,x_{n-1}$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are the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$n$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zeros of the polynomial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$P(x)=x^n+\alpha x+\beta$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where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$x_i\neq x_j$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for all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$i\neq j$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$i,j=1,2,3,\dots,(n-1)$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 Prove that the value of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$Q=(x_1-x_2)(x_1-x_3)(x_1-x_4)\cdots(x_1-x_{n-1})$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is equal to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${}^nC_2\,x_1^{n-2}$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Fallback>
      </mc:AlternateContent>
      <p:sp>
        <p:nvSpPr>
          <p:cNvPr id="5" name="Rectangle 4"/>
          <p:cNvSpPr/>
          <p:nvPr/>
        </p:nvSpPr>
        <p:spPr>
          <a:xfrm>
            <a:off x="731520" y="3888739"/>
            <a:ext cx="10725912" cy="1975103"/>
          </a:xfrm>
          <a:prstGeom prst="rect">
            <a:avLst/>
          </a:prstGeom>
          <a:solidFill>
            <a:srgbClr val="FFFFFF"/>
          </a:solidFill>
          <a:ln w="19050">
            <a:solidFill>
              <a:srgbClr val="6B728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111827"/>
          </a:fontRef>
        </p:style>
        <p:txBody>
          <a:bodyPr rtlCol="0" anchor="t" wrap="square" lIns="228600" rIns="228600" tIns="137160" bIns="73152"/>
          <a:lstStyle>
            <a:lvl1pPr>
              <a:defRPr sz="2400">
                <a:solidFill>
                  <a:srgbClr val="111827"/>
                </a:solidFill>
              </a:defRPr>
            </a:lvl1pPr>
          </a:lstStyle>
          <a:p>
            <a:pPr algn="l">
              <a:spcAft>
                <a:spcPts val="200"/>
              </a:spcAft>
              <a:defRPr sz="2400">
                <a:solidFill>
                  <a:srgbClr val="111827"/>
                </a:solidFill>
              </a:defRPr>
            </a:pPr>
            <a:r>
              <a:rPr sz="2400" b="0">
                <a:solidFill>
                  <a:srgbClr val="111827"/>
                </a:solidFill>
                <a:latin typeface="Arial"/>
              </a:rPr>
              <a:t>Subjective Type(4 Marks)</a:t>
            </a:r>
            <a:endParaRPr sz="2400">
              <a:solidFill>
                <a:srgbClr val="111827"/>
              </a:solidFill>
            </a:endParaRPr>
          </a:p>
          <a:p>
            <a:pPr algn="l">
              <a:spcAft>
                <a:spcPts val="200"/>
              </a:spcAft>
              <a:defRPr sz="2400">
                <a:solidFill>
                  <a:srgbClr val="111827"/>
                </a:solidFill>
              </a:defRPr>
            </a:pPr>
            <a:r>
              <a:rPr sz="2400" b="0">
                <a:solidFill>
                  <a:srgbClr val="111827"/>
                </a:solidFill>
                <a:latin typeface="Arial"/>
              </a:rPr>
              <a:t>Concept(s) : Theory of equations: repeated roots, Limits and L'Hospital's rule</a:t>
            </a:r>
            <a:endParaRPr sz="2400">
              <a:solidFill>
                <a:srgbClr val="111827"/>
              </a:solidFill>
            </a:endParaRPr>
          </a:p>
          <a:p>
            <a:pPr algn="l">
              <a:spcAft>
                <a:spcPts val="200"/>
              </a:spcAft>
              <a:defRPr sz="2400">
                <a:solidFill>
                  <a:srgbClr val="111827"/>
                </a:solidFill>
              </a:defRPr>
            </a:pPr>
            <a:r>
              <a:rPr sz="2400" b="0">
                <a:solidFill>
                  <a:srgbClr val="111827"/>
                </a:solidFill>
                <a:latin typeface="Arial"/>
              </a:rPr>
              <a:t>Difficulty Level: Level 3(Average JEE Advanced Level)</a:t>
            </a:r>
            <a:endParaRPr sz="2400">
              <a:solidFill>
                <a:srgbClr val="111827"/>
              </a:solidFill>
            </a:endParaRPr>
          </a:p>
        </p:txBody>
      </p:sp>
    </p:spTree>
  </p:cSld>
  <p:clrMapOvr>
    <a:masterClrMapping/>
  </p:clrMapOvr>
</p:sld>
</file>

<file path=ppt/slides/slide8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FFFFFF"/>
          </a:fontRef>
        </p:style>
        <p:txBody>
          <a:bodyPr rtlCol="0" anchor="ctr" lIns="731520"/>
          <a:lstStyle>
            <a:lvl1pPr>
              <a:defRPr sz="3200">
                <a:solidFill>
                  <a:srgbClr val="FFFFFF"/>
                </a:solidFill>
              </a:defRPr>
            </a:lvl1pPr>
          </a:lstStyle>
          <a:p>
            <a:pPr algn="l">
              <a:defRPr sz="3200">
                <a:solidFill>
                  <a:srgbClr val="FFFFFF"/>
                </a:solidFill>
              </a:defRPr>
            </a:pPr>
            <a:r>
              <a:rPr sz="3200" b="1">
                <a:solidFill>
                  <a:srgbClr val="FFFFFF"/>
                </a:solidFill>
                <a:latin typeface="Arial"/>
              </a:rPr>
              <a:t>Question 13</a:t>
            </a:r>
            <a:endParaRPr sz="3200">
              <a:solidFill>
                <a:srgbClr val="FFFFFF"/>
              </a:solidFill>
            </a:endParaRPr>
          </a:p>
        </p:txBody>
      </p:sp>
      <p:sp>
        <p:nvSpPr>
          <p:cNvPr id="3" name="Rounded Rectangle 2"/>
          <p:cNvSpPr/>
          <p:nvPr/>
        </p:nvSpPr>
        <p:spPr>
          <a:xfrm>
            <a:off x="7894015" y="246887"/>
            <a:ext cx="3840480" cy="603504"/>
          </a:xfrm>
          <a:prstGeom prst="roundRect">
            <a:avLst>
              <a:gd name="adj" fmla="val 50000"/>
            </a:avLst>
          </a:prstGeom>
          <a:solidFill>
            <a:srgbClr val="F6B26B"/>
          </a:solidFill>
          <a:ln w="1905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111827"/>
          </a:fontRef>
        </p:style>
        <p:txBody>
          <a:bodyPr rtlCol="0" anchor="ctr" wrap="square" lIns="228600" rIns="228600" tIns="18288" bIns="18288"/>
          <a:lstStyle>
            <a:lvl1pPr>
              <a:defRPr sz="2400">
                <a:solidFill>
                  <a:srgbClr val="111827"/>
                </a:solidFill>
              </a:defRPr>
            </a:lvl1pPr>
          </a:lstStyle>
          <a:p>
            <a:pPr algn="ctr">
              <a:defRPr sz="2400">
                <a:solidFill>
                  <a:srgbClr val="111827"/>
                </a:solidFill>
              </a:defRPr>
            </a:pPr>
            <a:r>
              <a:rPr sz="2400" b="1">
                <a:solidFill>
                  <a:srgbClr val="111827"/>
                </a:solidFill>
                <a:latin typeface="Arial"/>
              </a:rPr>
              <a:t>Level 3  ·  4 Marks</a:t>
            </a:r>
            <a:endParaRPr sz="2400">
              <a:solidFill>
                <a:srgbClr val="111827"/>
              </a:solidFill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4" name="Rounded Rectangle 3"/>
              <p:cNvSpPr/>
              <p:nvPr/>
            </p:nvSpPr>
            <p:spPr>
              <a:xfrm>
                <a:off x="731520" y="1280160"/>
                <a:ext cx="10725912" cy="1109472"/>
              </a:xfrm>
              <a:prstGeom prst="roundRect">
                <a:avLst>
                  <a:gd name="adj" fmla="val 8000"/>
                </a:avLst>
              </a:prstGeom>
              <a:solidFill>
                <a:srgbClr val="FDE68A"/>
              </a:solidFill>
              <a:ln w="31750">
                <a:solidFill>
                  <a:srgbClr val="D97706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78350F"/>
              </a:fontRef>
            </p:style>
            <p:txBody>
              <a:bodyPr rtlCol="0" anchor="ctr" wrap="square" lIns="228600" rIns="228600" tIns="54864" bIns="73152"/>
              <a:lstStyle>
                <a:lvl1pPr>
                  <a:defRPr sz="2400">
                    <a:solidFill>
                      <a:srgbClr val="78350F"/>
                    </a:solidFill>
                  </a:defRPr>
                </a:lvl1pPr>
              </a:lstStyle>
              <a:p>
                <a:pPr algn="l">
                  <a:defRPr sz="2400">
                    <a:solidFill>
                      <a:srgbClr val="78350F"/>
                    </a:solidFill>
                  </a:defRPr>
                </a:pPr>
                <a:r>
                  <a:rPr sz="2400" b="1">
                    <a:solidFill>
                      <a:srgbClr val="78350F"/>
                    </a:solidFill>
                    <a:latin typeface="Arial"/>
                  </a:rPr>
                  <a:t>Key idea:  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Divide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𝑃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 by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−</m:t>
                    </m:r>
                    <m:sSub>
                      <m:e>
                        <m: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  <m:sub>
                        <m: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sub>
                    </m:sSub>
                    <m:sSup>
                      <m:e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)</m:t>
                        </m:r>
                      </m:e>
                      <m:sup>
                        <m: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</m:oMath>
                </a14:m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; the quotient at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=</m:t>
                    </m:r>
                    <m:sSub>
                      <m:e>
                        <m: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  <m:sub>
                        <m: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sub>
                    </m:sSub>
                  </m:oMath>
                </a14:m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 is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𝑄</m:t>
                    </m:r>
                  </m:oMath>
                </a14:m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, found by applying L'Hospital's rule twice.</a:t>
                </a:r>
                <a:endParaRPr sz="2400">
                  <a:solidFill>
                    <a:srgbClr val="78350F"/>
                  </a:solidFill>
                </a:endParaRPr>
              </a:p>
            </p:txBody>
          </p:sp>
        </mc:Choice>
        <mc:Fallback>
          <p:sp>
            <p:nvSpPr>
              <p:cNvPr id="4" name="Rounded Rectangle 3"/>
              <p:cNvSpPr/>
              <p:nvPr/>
            </p:nvSpPr>
            <p:spPr>
              <a:xfrm>
                <a:off x="731520" y="1280160"/>
                <a:ext cx="10725912" cy="1109472"/>
              </a:xfrm>
              <a:prstGeom prst="roundRect">
                <a:avLst>
                  <a:gd name="adj" fmla="val 8000"/>
                </a:avLst>
              </a:prstGeom>
              <a:solidFill>
                <a:srgbClr val="FDE68A"/>
              </a:solidFill>
              <a:ln w="31750">
                <a:solidFill>
                  <a:srgbClr val="D97706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78350F"/>
              </a:fontRef>
            </p:style>
            <p:txBody>
              <a:bodyPr rtlCol="0" anchor="ctr" wrap="square" lIns="228600" rIns="228600" tIns="54864" bIns="73152"/>
              <a:lstStyle>
                <a:lvl1pPr>
                  <a:defRPr sz="2400">
                    <a:solidFill>
                      <a:srgbClr val="78350F"/>
                    </a:solidFill>
                  </a:defRPr>
                </a:lvl1pPr>
              </a:lstStyle>
              <a:p>
                <a:pPr algn="l">
                  <a:defRPr sz="2400">
                    <a:solidFill>
                      <a:srgbClr val="78350F"/>
                    </a:solidFill>
                  </a:defRPr>
                </a:pPr>
                <a:r>
                  <a:rPr sz="2400" b="1">
                    <a:solidFill>
                      <a:srgbClr val="78350F"/>
                    </a:solidFill>
                    <a:latin typeface="Arial"/>
                  </a:rPr>
                  <a:t>Key idea:  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Divide </a:t>
                </a:r>
                <a:r>
                  <a:rPr lang="en-IN" sz="2400">
                    <a:solidFill>
                      <a:srgbClr val="78350F"/>
                    </a:solidFill>
                    <a:latin typeface="Cambria Math" panose="02040503050406030204" pitchFamily="18" charset="0"/>
                  </a:rPr>
                  <a:t>$P(x)$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 by </a:t>
                </a:r>
                <a:r>
                  <a:rPr lang="en-IN" sz="2400">
                    <a:solidFill>
                      <a:srgbClr val="78350F"/>
                    </a:solidFill>
                    <a:latin typeface="Cambria Math" panose="02040503050406030204" pitchFamily="18" charset="0"/>
                  </a:rPr>
                  <a:t>$(x-x_1)^2$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; the quotient at </a:t>
                </a:r>
                <a:r>
                  <a:rPr lang="en-IN" sz="2400">
                    <a:solidFill>
                      <a:srgbClr val="78350F"/>
                    </a:solidFill>
                    <a:latin typeface="Cambria Math" panose="02040503050406030204" pitchFamily="18" charset="0"/>
                  </a:rPr>
                  <a:t>$x=x_1$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 is </a:t>
                </a:r>
                <a:r>
                  <a:rPr lang="en-IN" sz="2400">
                    <a:solidFill>
                      <a:srgbClr val="78350F"/>
                    </a:solidFill>
                    <a:latin typeface="Cambria Math" panose="02040503050406030204" pitchFamily="18" charset="0"/>
                  </a:rPr>
                  <a:t>$Q$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, found by applying L'Hospital's rule twice.</a:t>
                </a:r>
                <a:endParaRPr sz="2400">
                  <a:solidFill>
                    <a:srgbClr val="78350F"/>
                  </a:solidFill>
                </a:endParaRP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5" name="Rectangle 4"/>
              <p:cNvSpPr/>
              <p:nvPr/>
            </p:nvSpPr>
            <p:spPr>
              <a:xfrm>
                <a:off x="731520" y="2526792"/>
                <a:ext cx="10725912" cy="4148328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𝑃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𝑛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α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β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sSub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  <m:sub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sub>
                    </m:sSub>
                    <m:sSup>
                      <m:e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)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sSub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  <m:sub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b>
                    </m:sSub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sSub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  <m:sub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3</m:t>
                        </m:r>
                      </m:sub>
                    </m:sSub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⋯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sSub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  <m:sub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𝑛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−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sub>
                    </m:sSub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Therefore </a:t>
                </a:r>
                <a14:m>
                  <m:oMath xmlns:m="http://schemas.openxmlformats.org/officeDocument/2006/math"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sSup>
                          <m:e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𝑥</m:t>
                            </m:r>
                          </m:e>
                          <m:sup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𝑛</m:t>
                            </m:r>
                          </m:sup>
                        </m:sSup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+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α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+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β</m:t>
                        </m:r>
                      </m:num>
                      <m:den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(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−</m:t>
                        </m:r>
                        <m:sSub>
                          <m:e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𝑥</m:t>
                            </m:r>
                          </m:e>
                          <m:sub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1</m:t>
                            </m:r>
                          </m:sub>
                        </m:sSub>
                        <m:sSup>
                          <m:e>
                            <m:r>
                              <m:rPr>
                                <m:sty m:val="p"/>
                              </m:rPr>
                              <a:rPr lang="en-IN" sz="2400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)</m:t>
                            </m:r>
                          </m:e>
                          <m:sup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2</m:t>
                            </m:r>
                          </m:sup>
                        </m:sSup>
                      </m:den>
                    </m:f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sSub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  <m:sub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b>
                    </m:sSub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sSub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  <m:sub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3</m:t>
                        </m:r>
                      </m:sub>
                    </m:sSub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⋯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sSub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  <m:sub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𝑛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−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sub>
                    </m:sSub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Let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→</m:t>
                    </m:r>
                    <m:sSub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  <m:sub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sub>
                    </m:sSub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: </a:t>
                </a:r>
                <a14:m>
                  <m:oMath xmlns:m="http://schemas.openxmlformats.org/officeDocument/2006/math">
                    <m:sSub>
                      <m:e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lim</m:t>
                        </m:r>
                      </m:e>
                      <m:sub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→</m:t>
                        </m:r>
                        <m:sSub>
                          <m:e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𝑥</m:t>
                            </m:r>
                          </m:e>
                          <m:sub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1</m:t>
                            </m:r>
                          </m:sub>
                        </m:sSub>
                      </m:sub>
                    </m:sSub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sSup>
                          <m:e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𝑥</m:t>
                            </m:r>
                          </m:e>
                          <m:sup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𝑛</m:t>
                            </m:r>
                          </m:sup>
                        </m:sSup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+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α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+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β</m:t>
                        </m:r>
                      </m:num>
                      <m:den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(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−</m:t>
                        </m:r>
                        <m:sSub>
                          <m:e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𝑥</m:t>
                            </m:r>
                          </m:e>
                          <m:sub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1</m:t>
                            </m:r>
                          </m:sub>
                        </m:sSub>
                        <m:sSup>
                          <m:e>
                            <m:r>
                              <m:rPr>
                                <m:sty m:val="p"/>
                              </m:rPr>
                              <a:rPr lang="en-IN" sz="2400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)</m:t>
                            </m:r>
                          </m:e>
                          <m:sup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2</m:t>
                            </m:r>
                          </m:sup>
                        </m:sSup>
                      </m:den>
                    </m:f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sSub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  <m:sub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sub>
                    </m:sSub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sSub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  <m:sub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b>
                    </m:sSub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sSub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  <m:sub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sub>
                    </m:sSub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sSub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  <m:sub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3</m:t>
                        </m:r>
                      </m:sub>
                    </m:sSub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⋯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sSub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  <m:sub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sub>
                    </m:sSub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sSub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  <m:sub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𝑛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−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sub>
                    </m:sSub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𝑄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Choice>
        <mc:Fallback>
          <p:sp>
            <p:nvSpPr>
              <p:cNvPr id="5" name="Rectangle 4"/>
              <p:cNvSpPr/>
              <p:nvPr/>
            </p:nvSpPr>
            <p:spPr>
              <a:xfrm>
                <a:off x="731520" y="2526792"/>
                <a:ext cx="10725912" cy="4148328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$P(x)=x^n+\alpha x+\beta=(x-x_1)^2(x-x_2)(x-x_3)\cdots(x-x_{n-1})$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Therefore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$\frac{x^n+\alpha x+\beta}{(x-x_1)^2}=(x-x_2)(x-x_3)\cdots(x-x_{n-1})$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Let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$x\to x_1$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: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$\lim_{x\to x_1}\frac{x^n+\alpha x+\beta}{(x-x_1)^2}=(x_1-x_2)(x_1-x_3)\cdots(x_1-x_{n-1})=Q$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Fallback>
      </mc:AlternateContent>
    </p:spTree>
  </p:cSld>
  <p:clrMapOvr>
    <a:masterClrMapping/>
  </p:clrMapOvr>
</p:sld>
</file>

<file path=ppt/slides/slide8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FFFFFF"/>
          </a:fontRef>
        </p:style>
        <p:txBody>
          <a:bodyPr rtlCol="0" anchor="ctr" lIns="731520"/>
          <a:lstStyle>
            <a:lvl1pPr>
              <a:defRPr sz="3200">
                <a:solidFill>
                  <a:srgbClr val="FFFFFF"/>
                </a:solidFill>
              </a:defRPr>
            </a:lvl1pPr>
          </a:lstStyle>
          <a:p>
            <a:pPr algn="l">
              <a:defRPr sz="3200">
                <a:solidFill>
                  <a:srgbClr val="FFFFFF"/>
                </a:solidFill>
              </a:defRPr>
            </a:pPr>
            <a:r>
              <a:rPr sz="3200" b="1">
                <a:solidFill>
                  <a:srgbClr val="FFFFFF"/>
                </a:solidFill>
                <a:latin typeface="Arial"/>
              </a:rPr>
              <a:t>Question 13</a:t>
            </a:r>
            <a:endParaRPr sz="3200">
              <a:solidFill>
                <a:srgbClr val="FFFFFF"/>
              </a:solidFill>
            </a:endParaRPr>
          </a:p>
        </p:txBody>
      </p:sp>
      <p:sp>
        <p:nvSpPr>
          <p:cNvPr id="3" name="Rounded Rectangle 2"/>
          <p:cNvSpPr/>
          <p:nvPr/>
        </p:nvSpPr>
        <p:spPr>
          <a:xfrm>
            <a:off x="7894015" y="246887"/>
            <a:ext cx="3840480" cy="603504"/>
          </a:xfrm>
          <a:prstGeom prst="roundRect">
            <a:avLst>
              <a:gd name="adj" fmla="val 50000"/>
            </a:avLst>
          </a:prstGeom>
          <a:solidFill>
            <a:srgbClr val="F6B26B"/>
          </a:solidFill>
          <a:ln w="1905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111827"/>
          </a:fontRef>
        </p:style>
        <p:txBody>
          <a:bodyPr rtlCol="0" anchor="ctr" wrap="square" lIns="228600" rIns="228600" tIns="18288" bIns="18288"/>
          <a:lstStyle>
            <a:lvl1pPr>
              <a:defRPr sz="2400">
                <a:solidFill>
                  <a:srgbClr val="111827"/>
                </a:solidFill>
              </a:defRPr>
            </a:lvl1pPr>
          </a:lstStyle>
          <a:p>
            <a:pPr algn="ctr">
              <a:defRPr sz="2400">
                <a:solidFill>
                  <a:srgbClr val="111827"/>
                </a:solidFill>
              </a:defRPr>
            </a:pPr>
            <a:r>
              <a:rPr sz="2400" b="1">
                <a:solidFill>
                  <a:srgbClr val="111827"/>
                </a:solidFill>
                <a:latin typeface="Arial"/>
              </a:rPr>
              <a:t>Level 3  ·  4 Marks</a:t>
            </a:r>
            <a:endParaRPr sz="2400">
              <a:solidFill>
                <a:srgbClr val="111827"/>
              </a:solidFill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4" name="Rectangle 3"/>
              <p:cNvSpPr/>
              <p:nvPr/>
            </p:nvSpPr>
            <p:spPr>
              <a:xfrm>
                <a:off x="731520" y="1353312"/>
                <a:ext cx="10725912" cy="4434840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The limit is of the form </a:t>
                </a:r>
                <a14:m>
                  <m:oMath xmlns:m="http://schemas.openxmlformats.org/officeDocument/2006/math"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0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0</m:t>
                        </m:r>
                      </m:den>
                    </m:f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(since </a:t>
                </a:r>
                <a14:m>
                  <m:oMath xmlns:m="http://schemas.openxmlformats.org/officeDocument/2006/math">
                    <m:sSub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  <m:sub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sub>
                    </m:sSub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is a double root). L'Hospital's rule: </a:t>
                </a:r>
                <a14:m>
                  <m:oMath xmlns:m="http://schemas.openxmlformats.org/officeDocument/2006/math">
                    <m:sSub>
                      <m:e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lim</m:t>
                        </m:r>
                      </m:e>
                      <m:sub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→</m:t>
                        </m:r>
                        <m:sSub>
                          <m:e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𝑥</m:t>
                            </m:r>
                          </m:e>
                          <m:sub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1</m:t>
                            </m:r>
                          </m:sub>
                        </m:sSub>
                      </m:sub>
                    </m:sSub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𝑛</m:t>
                        </m:r>
                        <m:sSup>
                          <m:e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𝑥</m:t>
                            </m:r>
                          </m:e>
                          <m:sup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𝑛</m:t>
                            </m:r>
                            <m:r>
                              <m:rPr>
                                <m:sty m:val="p"/>
                              </m:rPr>
                              <a:rPr lang="en-IN" sz="2400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−</m:t>
                            </m:r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1</m:t>
                            </m:r>
                          </m:sup>
                        </m:sSup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+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α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(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−</m:t>
                        </m:r>
                        <m:sSub>
                          <m:e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𝑥</m:t>
                            </m:r>
                          </m:e>
                          <m:sub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1</m:t>
                            </m:r>
                          </m:sub>
                        </m:sSub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)</m:t>
                        </m:r>
                      </m:den>
                    </m:f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𝑄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Again </a:t>
                </a:r>
                <a14:m>
                  <m:oMath xmlns:m="http://schemas.openxmlformats.org/officeDocument/2006/math"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0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0</m:t>
                        </m:r>
                      </m:den>
                    </m:f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(as </a:t>
                </a:r>
                <a14:m>
                  <m:oMath xmlns:m="http://schemas.openxmlformats.org/officeDocument/2006/math"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𝑃</m:t>
                        </m:r>
                      </m:e>
                      <m:sup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′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sSub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  <m:sub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sub>
                    </m:sSub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0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), so L'Hospital's rule once more: </a:t>
                </a:r>
                <a14:m>
                  <m:oMath xmlns:m="http://schemas.openxmlformats.org/officeDocument/2006/math"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𝑛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(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𝑛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−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)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den>
                    </m:f>
                    <m:sSub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  <m:sub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sub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𝑛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−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b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𝑄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Hence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𝑄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​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𝑛</m:t>
                        </m:r>
                      </m:sup>
                    </m:sSup>
                    <m:sSub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𝐶</m:t>
                        </m:r>
                      </m:e>
                      <m:sub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b>
                    </m:sSub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 </m:t>
                    </m:r>
                    <m:sSub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  <m:sub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sub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𝑛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−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bSup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 Proved.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Choice>
        <mc:Fallback>
          <p:sp>
            <p:nvSpPr>
              <p:cNvPr id="4" name="Rectangle 3"/>
              <p:cNvSpPr/>
              <p:nvPr/>
            </p:nvSpPr>
            <p:spPr>
              <a:xfrm>
                <a:off x="731520" y="1353312"/>
                <a:ext cx="10725912" cy="4434840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The limit is of the form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$\frac00$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(since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$x_1$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is a double root). L'Hospital's rule: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$\lim_{x\to x_1}\frac{nx^{n-1}+\alpha}{2(x-x_1)}=Q$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Again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$\frac00$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(as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$P'(x_1)=0$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), so L'Hospital's rule once more: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$\frac{n(n-1)}{2}x_1^{n-2}=Q$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Hence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$Q={}^nC_2\,x_1^{n-2}$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 Proved.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5" name="Rounded Rectangle 4"/>
              <p:cNvSpPr/>
              <p:nvPr/>
            </p:nvSpPr>
            <p:spPr>
              <a:xfrm>
                <a:off x="731520" y="5897880"/>
                <a:ext cx="10725912" cy="777240"/>
              </a:xfrm>
              <a:prstGeom prst="roundRect">
                <a:avLst>
                  <a:gd name="adj" fmla="val 8000"/>
                </a:avLst>
              </a:prstGeom>
              <a:solidFill>
                <a:srgbClr val="DCFCE7"/>
              </a:solidFill>
              <a:ln w="25400">
                <a:solidFill>
                  <a:srgbClr val="15803D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5803D"/>
              </a:fontRef>
            </p:style>
            <p:txBody>
              <a:bodyPr rtlCol="0" anchor="ctr" wrap="square" lIns="228600" rIns="228600" tIns="18288" bIns="73152"/>
              <a:lstStyle>
                <a:lvl1pPr>
                  <a:defRPr sz="2800">
                    <a:solidFill>
                      <a:srgbClr val="15803D"/>
                    </a:solidFill>
                  </a:defRPr>
                </a:lvl1pPr>
              </a:lstStyle>
              <a:p>
                <a:pPr algn="ctr">
                  <a:defRPr sz="2800">
                    <a:solidFill>
                      <a:srgbClr val="15803D"/>
                    </a:solidFill>
                  </a:defRPr>
                </a:pPr>
                <a:r>
                  <a:rPr sz="2800" b="1">
                    <a:solidFill>
                      <a:srgbClr val="15803D"/>
                    </a:solidFill>
                    <a:latin typeface="Arial"/>
                  </a:rPr>
                  <a:t>Correct Answer: Proved: </a:t>
                </a:r>
                <a14:m>
                  <m:oMath xmlns:m="http://schemas.openxmlformats.org/officeDocument/2006/math">
                    <m:r>
                      <a:rPr lang="en-IN" sz="2800" i="1">
                        <a:solidFill>
                          <a:srgbClr val="15803D"/>
                        </a:solidFill>
                        <a:latin typeface="Cambria Math" panose="02040503050406030204" pitchFamily="18" charset="0"/>
                      </a:rPr>
                      <m:t>𝑄</m:t>
                    </m:r>
                    <m:r>
                      <m:rPr>
                        <m:sty m:val="p"/>
                      </m:rPr>
                      <a:rPr lang="en-IN" sz="2800">
                        <a:solidFill>
                          <a:srgbClr val="15803D"/>
                        </a:solidFill>
                        <a:latin typeface="Cambria Math" panose="02040503050406030204" pitchFamily="18" charset="0"/>
                      </a:rPr>
                      <m:t>=</m:t>
                    </m:r>
                    <m:sSup>
                      <m:e>
                        <m:r>
                          <a:rPr lang="en-IN" sz="2800" i="1">
                            <a:solidFill>
                              <a:srgbClr val="15803D"/>
                            </a:solidFill>
                            <a:latin typeface="Cambria Math" panose="02040503050406030204" pitchFamily="18" charset="0"/>
                          </a:rPr>
                          <m:t>​</m:t>
                        </m:r>
                      </m:e>
                      <m:sup>
                        <m:r>
                          <a:rPr lang="en-IN" sz="2800" i="1">
                            <a:solidFill>
                              <a:srgbClr val="15803D"/>
                            </a:solidFill>
                            <a:latin typeface="Cambria Math" panose="02040503050406030204" pitchFamily="18" charset="0"/>
                          </a:rPr>
                          <m:t>𝑛</m:t>
                        </m:r>
                      </m:sup>
                    </m:sSup>
                    <m:sSub>
                      <m:e>
                        <m:r>
                          <a:rPr lang="en-IN" sz="2800" i="1">
                            <a:solidFill>
                              <a:srgbClr val="15803D"/>
                            </a:solidFill>
                            <a:latin typeface="Cambria Math" panose="02040503050406030204" pitchFamily="18" charset="0"/>
                          </a:rPr>
                          <m:t>𝐶</m:t>
                        </m:r>
                      </m:e>
                      <m:sub>
                        <m:r>
                          <a:rPr lang="en-IN" sz="2800" i="1">
                            <a:solidFill>
                              <a:srgbClr val="15803D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b>
                    </m:sSub>
                    <m:r>
                      <a:rPr lang="en-IN" sz="2800" i="1">
                        <a:solidFill>
                          <a:srgbClr val="15803D"/>
                        </a:solidFill>
                        <a:latin typeface="Cambria Math" panose="02040503050406030204" pitchFamily="18" charset="0"/>
                      </a:rPr>
                      <m:t> </m:t>
                    </m:r>
                    <m:sSubSup>
                      <m:e>
                        <m:r>
                          <a:rPr lang="en-IN" sz="2800" i="1">
                            <a:solidFill>
                              <a:srgbClr val="15803D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  <m:sub>
                        <m:r>
                          <a:rPr lang="en-IN" sz="2800" i="1">
                            <a:solidFill>
                              <a:srgbClr val="15803D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sub>
                      <m:sup>
                        <m:r>
                          <a:rPr lang="en-IN" sz="2800" i="1">
                            <a:solidFill>
                              <a:srgbClr val="15803D"/>
                            </a:solidFill>
                            <a:latin typeface="Cambria Math" panose="02040503050406030204" pitchFamily="18" charset="0"/>
                          </a:rPr>
                          <m:t>𝑛</m:t>
                        </m:r>
                        <m:r>
                          <m:rPr>
                            <m:sty m:val="p"/>
                          </m:rPr>
                          <a:rPr lang="en-IN" sz="2800">
                            <a:solidFill>
                              <a:srgbClr val="15803D"/>
                            </a:solidFill>
                            <a:latin typeface="Cambria Math" panose="02040503050406030204" pitchFamily="18" charset="0"/>
                          </a:rPr>
                          <m:t>−</m:t>
                        </m:r>
                        <m:r>
                          <a:rPr lang="en-IN" sz="2800" i="1">
                            <a:solidFill>
                              <a:srgbClr val="15803D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bSup>
                  </m:oMath>
                </a14:m>
                <a:endParaRPr sz="2800">
                  <a:solidFill>
                    <a:srgbClr val="15803D"/>
                  </a:solidFill>
                </a:endParaRPr>
              </a:p>
            </p:txBody>
          </p:sp>
        </mc:Choice>
        <mc:Fallback>
          <p:sp>
            <p:nvSpPr>
              <p:cNvPr id="5" name="Rounded Rectangle 4"/>
              <p:cNvSpPr/>
              <p:nvPr/>
            </p:nvSpPr>
            <p:spPr>
              <a:xfrm>
                <a:off x="731520" y="5897880"/>
                <a:ext cx="10725912" cy="777240"/>
              </a:xfrm>
              <a:prstGeom prst="roundRect">
                <a:avLst>
                  <a:gd name="adj" fmla="val 8000"/>
                </a:avLst>
              </a:prstGeom>
              <a:solidFill>
                <a:srgbClr val="DCFCE7"/>
              </a:solidFill>
              <a:ln w="25400">
                <a:solidFill>
                  <a:srgbClr val="15803D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5803D"/>
              </a:fontRef>
            </p:style>
            <p:txBody>
              <a:bodyPr rtlCol="0" anchor="ctr" wrap="square" lIns="228600" rIns="228600" tIns="18288" bIns="73152"/>
              <a:lstStyle>
                <a:lvl1pPr>
                  <a:defRPr sz="2800">
                    <a:solidFill>
                      <a:srgbClr val="15803D"/>
                    </a:solidFill>
                  </a:defRPr>
                </a:lvl1pPr>
              </a:lstStyle>
              <a:p>
                <a:pPr algn="ctr">
                  <a:defRPr sz="2800">
                    <a:solidFill>
                      <a:srgbClr val="15803D"/>
                    </a:solidFill>
                  </a:defRPr>
                </a:pPr>
                <a:r>
                  <a:rPr sz="2800" b="1">
                    <a:solidFill>
                      <a:srgbClr val="15803D"/>
                    </a:solidFill>
                    <a:latin typeface="Arial"/>
                  </a:rPr>
                  <a:t>Correct Answer: Proved: </a:t>
                </a:r>
                <a:r>
                  <a:rPr lang="en-IN" sz="2800">
                    <a:solidFill>
                      <a:srgbClr val="15803D"/>
                    </a:solidFill>
                    <a:latin typeface="Cambria Math" panose="02040503050406030204" pitchFamily="18" charset="0"/>
                  </a:rPr>
                  <a:t>$Q={}^nC_2\,x_1^{n-2}$</a:t>
                </a:r>
                <a:endParaRPr sz="2800">
                  <a:solidFill>
                    <a:srgbClr val="15803D"/>
                  </a:solidFill>
                </a:endParaRPr>
              </a:p>
            </p:txBody>
          </p:sp>
        </mc:Fallback>
      </mc:AlternateContent>
    </p:spTree>
  </p:cSld>
  <p:clrMapOvr>
    <a:masterClrMapping/>
  </p:clrMapOvr>
</p:sld>
</file>

<file path=ppt/slides/slide8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FFFFFF"/>
          </a:fontRef>
        </p:style>
        <p:txBody>
          <a:bodyPr rtlCol="0" anchor="ctr" lIns="731520"/>
          <a:lstStyle>
            <a:lvl1pPr>
              <a:defRPr sz="3200">
                <a:solidFill>
                  <a:srgbClr val="FFFFFF"/>
                </a:solidFill>
              </a:defRPr>
            </a:lvl1pPr>
          </a:lstStyle>
          <a:p>
            <a:pPr algn="l">
              <a:defRPr sz="3200">
                <a:solidFill>
                  <a:srgbClr val="FFFFFF"/>
                </a:solidFill>
              </a:defRPr>
            </a:pPr>
            <a:r>
              <a:rPr sz="3200" b="1">
                <a:solidFill>
                  <a:srgbClr val="FFFFFF"/>
                </a:solidFill>
                <a:latin typeface="Arial"/>
              </a:rPr>
              <a:t>Question 13</a:t>
            </a:r>
            <a:endParaRPr sz="3200">
              <a:solidFill>
                <a:srgbClr val="FFFFFF"/>
              </a:solidFill>
            </a:endParaRPr>
          </a:p>
        </p:txBody>
      </p:sp>
      <p:sp>
        <p:nvSpPr>
          <p:cNvPr id="3" name="Rounded Rectangle 2"/>
          <p:cNvSpPr/>
          <p:nvPr/>
        </p:nvSpPr>
        <p:spPr>
          <a:xfrm>
            <a:off x="7894015" y="246887"/>
            <a:ext cx="3840480" cy="603504"/>
          </a:xfrm>
          <a:prstGeom prst="roundRect">
            <a:avLst>
              <a:gd name="adj" fmla="val 50000"/>
            </a:avLst>
          </a:prstGeom>
          <a:solidFill>
            <a:srgbClr val="F6B26B"/>
          </a:solidFill>
          <a:ln w="1905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111827"/>
          </a:fontRef>
        </p:style>
        <p:txBody>
          <a:bodyPr rtlCol="0" anchor="ctr" wrap="square" lIns="228600" rIns="228600" tIns="18288" bIns="18288"/>
          <a:lstStyle>
            <a:lvl1pPr>
              <a:defRPr sz="2400">
                <a:solidFill>
                  <a:srgbClr val="111827"/>
                </a:solidFill>
              </a:defRPr>
            </a:lvl1pPr>
          </a:lstStyle>
          <a:p>
            <a:pPr algn="ctr">
              <a:defRPr sz="2400">
                <a:solidFill>
                  <a:srgbClr val="111827"/>
                </a:solidFill>
              </a:defRPr>
            </a:pPr>
            <a:r>
              <a:rPr sz="2400" b="1">
                <a:solidFill>
                  <a:srgbClr val="111827"/>
                </a:solidFill>
                <a:latin typeface="Arial"/>
              </a:rPr>
              <a:t>Level 3  ·  4 Marks</a:t>
            </a:r>
            <a:endParaRPr sz="2400">
              <a:solidFill>
                <a:srgbClr val="111827"/>
              </a:solidFill>
            </a:endParaRPr>
          </a:p>
        </p:txBody>
      </p:sp>
      <p:sp>
        <p:nvSpPr>
          <p:cNvPr id="4" name="Rounded Rectangle 3"/>
          <p:cNvSpPr/>
          <p:nvPr/>
        </p:nvSpPr>
        <p:spPr>
          <a:xfrm>
            <a:off x="3520440" y="265176"/>
            <a:ext cx="4206240" cy="566928"/>
          </a:xfrm>
          <a:prstGeom prst="roundRect">
            <a:avLst>
              <a:gd name="adj" fmla="val 50000"/>
            </a:avLst>
          </a:prstGeom>
          <a:solidFill>
            <a:srgbClr val="FDE68A"/>
          </a:solidFill>
          <a:ln w="25400">
            <a:solidFill>
              <a:srgbClr val="D9770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78350F"/>
          </a:fontRef>
        </p:style>
        <p:txBody>
          <a:bodyPr rtlCol="0" anchor="ctr" wrap="square" lIns="228600" rIns="228600" tIns="18288" bIns="18288"/>
          <a:lstStyle>
            <a:lvl1pPr>
              <a:defRPr sz="2200">
                <a:solidFill>
                  <a:srgbClr val="78350F"/>
                </a:solidFill>
              </a:defRPr>
            </a:lvl1pPr>
          </a:lstStyle>
          <a:p>
            <a:pPr algn="ctr">
              <a:defRPr sz="2200">
                <a:solidFill>
                  <a:srgbClr val="78350F"/>
                </a:solidFill>
              </a:defRPr>
            </a:pPr>
            <a:r>
              <a:rPr sz="2200" b="1">
                <a:solidFill>
                  <a:srgbClr val="78350F"/>
                </a:solidFill>
                <a:latin typeface="Arial"/>
              </a:rPr>
              <a:t>Alternate Solution</a:t>
            </a:r>
            <a:endParaRPr sz="2200">
              <a:solidFill>
                <a:srgbClr val="78350F"/>
              </a:solidFill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5" name="Rounded Rectangle 4"/>
              <p:cNvSpPr/>
              <p:nvPr/>
            </p:nvSpPr>
            <p:spPr>
              <a:xfrm>
                <a:off x="731520" y="1280160"/>
                <a:ext cx="10725912" cy="1109472"/>
              </a:xfrm>
              <a:prstGeom prst="roundRect">
                <a:avLst>
                  <a:gd name="adj" fmla="val 8000"/>
                </a:avLst>
              </a:prstGeom>
              <a:solidFill>
                <a:srgbClr val="FDE68A"/>
              </a:solidFill>
              <a:ln w="31750">
                <a:solidFill>
                  <a:srgbClr val="D97706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78350F"/>
              </a:fontRef>
            </p:style>
            <p:txBody>
              <a:bodyPr rtlCol="0" anchor="ctr" wrap="square" lIns="228600" rIns="228600" tIns="54864" bIns="73152"/>
              <a:lstStyle>
                <a:lvl1pPr>
                  <a:defRPr sz="2400">
                    <a:solidFill>
                      <a:srgbClr val="78350F"/>
                    </a:solidFill>
                  </a:defRPr>
                </a:lvl1pPr>
              </a:lstStyle>
              <a:p>
                <a:pPr algn="l">
                  <a:defRPr sz="2400">
                    <a:solidFill>
                      <a:srgbClr val="78350F"/>
                    </a:solidFill>
                  </a:defRPr>
                </a:pPr>
                <a:r>
                  <a:rPr sz="2400" b="1">
                    <a:solidFill>
                      <a:srgbClr val="78350F"/>
                    </a:solidFill>
                    <a:latin typeface="Arial"/>
                  </a:rPr>
                  <a:t>Idea:  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Write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𝑃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−</m:t>
                    </m:r>
                    <m:sSub>
                      <m:e>
                        <m: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  <m:sub>
                        <m: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sub>
                    </m:sSub>
                    <m:sSup>
                      <m:e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)</m:t>
                        </m:r>
                      </m:e>
                      <m:sup>
                        <m: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𝑅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 with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𝑅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(</m:t>
                    </m:r>
                    <m:sSub>
                      <m:e>
                        <m: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  <m:sub>
                        <m: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sub>
                    </m:sSub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𝑄</m:t>
                    </m:r>
                  </m:oMath>
                </a14:m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 and read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𝑅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(</m:t>
                    </m:r>
                    <m:sSub>
                      <m:e>
                        <m: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  <m:sub>
                        <m: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sub>
                    </m:sSub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 from </a:t>
                </a:r>
                <a14:m>
                  <m:oMath xmlns:m="http://schemas.openxmlformats.org/officeDocument/2006/math">
                    <m:sSup>
                      <m:e>
                        <m: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𝑃</m:t>
                        </m:r>
                      </m:e>
                      <m:sup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″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(</m:t>
                    </m:r>
                    <m:sSub>
                      <m:e>
                        <m: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  <m:sub>
                        <m: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sub>
                    </m:sSub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2</m:t>
                    </m:r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𝑅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(</m:t>
                    </m:r>
                    <m:sSub>
                      <m:e>
                        <m: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  <m:sub>
                        <m: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sub>
                    </m:sSub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.</a:t>
                </a:r>
                <a:endParaRPr sz="2400">
                  <a:solidFill>
                    <a:srgbClr val="78350F"/>
                  </a:solidFill>
                </a:endParaRPr>
              </a:p>
            </p:txBody>
          </p:sp>
        </mc:Choice>
        <mc:Fallback>
          <p:sp>
            <p:nvSpPr>
              <p:cNvPr id="5" name="Rounded Rectangle 4"/>
              <p:cNvSpPr/>
              <p:nvPr/>
            </p:nvSpPr>
            <p:spPr>
              <a:xfrm>
                <a:off x="731520" y="1280160"/>
                <a:ext cx="10725912" cy="1109472"/>
              </a:xfrm>
              <a:prstGeom prst="roundRect">
                <a:avLst>
                  <a:gd name="adj" fmla="val 8000"/>
                </a:avLst>
              </a:prstGeom>
              <a:solidFill>
                <a:srgbClr val="FDE68A"/>
              </a:solidFill>
              <a:ln w="31750">
                <a:solidFill>
                  <a:srgbClr val="D97706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78350F"/>
              </a:fontRef>
            </p:style>
            <p:txBody>
              <a:bodyPr rtlCol="0" anchor="ctr" wrap="square" lIns="228600" rIns="228600" tIns="54864" bIns="73152"/>
              <a:lstStyle>
                <a:lvl1pPr>
                  <a:defRPr sz="2400">
                    <a:solidFill>
                      <a:srgbClr val="78350F"/>
                    </a:solidFill>
                  </a:defRPr>
                </a:lvl1pPr>
              </a:lstStyle>
              <a:p>
                <a:pPr algn="l">
                  <a:defRPr sz="2400">
                    <a:solidFill>
                      <a:srgbClr val="78350F"/>
                    </a:solidFill>
                  </a:defRPr>
                </a:pPr>
                <a:r>
                  <a:rPr sz="2400" b="1">
                    <a:solidFill>
                      <a:srgbClr val="78350F"/>
                    </a:solidFill>
                    <a:latin typeface="Arial"/>
                  </a:rPr>
                  <a:t>Idea:  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Write </a:t>
                </a:r>
                <a:r>
                  <a:rPr lang="en-IN" sz="2400">
                    <a:solidFill>
                      <a:srgbClr val="78350F"/>
                    </a:solidFill>
                    <a:latin typeface="Cambria Math" panose="02040503050406030204" pitchFamily="18" charset="0"/>
                  </a:rPr>
                  <a:t>$P(x)=(x-x_1)^2R(x)$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 with </a:t>
                </a:r>
                <a:r>
                  <a:rPr lang="en-IN" sz="2400">
                    <a:solidFill>
                      <a:srgbClr val="78350F"/>
                    </a:solidFill>
                    <a:latin typeface="Cambria Math" panose="02040503050406030204" pitchFamily="18" charset="0"/>
                  </a:rPr>
                  <a:t>$R(x_1)=Q$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 and read </a:t>
                </a:r>
                <a:r>
                  <a:rPr lang="en-IN" sz="2400">
                    <a:solidFill>
                      <a:srgbClr val="78350F"/>
                    </a:solidFill>
                    <a:latin typeface="Cambria Math" panose="02040503050406030204" pitchFamily="18" charset="0"/>
                  </a:rPr>
                  <a:t>$R(x_1)$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 from </a:t>
                </a:r>
                <a:r>
                  <a:rPr lang="en-IN" sz="2400">
                    <a:solidFill>
                      <a:srgbClr val="78350F"/>
                    </a:solidFill>
                    <a:latin typeface="Cambria Math" panose="02040503050406030204" pitchFamily="18" charset="0"/>
                  </a:rPr>
                  <a:t>$P''(x_1)=2R(x_1)$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.</a:t>
                </a:r>
                <a:endParaRPr sz="2400">
                  <a:solidFill>
                    <a:srgbClr val="78350F"/>
                  </a:solidFill>
                </a:endParaRP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6" name="Rectangle 5"/>
              <p:cNvSpPr/>
              <p:nvPr/>
            </p:nvSpPr>
            <p:spPr>
              <a:xfrm>
                <a:off x="731520" y="2526792"/>
                <a:ext cx="10725912" cy="4148328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Let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𝑅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sSub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  <m:sub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b>
                    </m:sSub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sSub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  <m:sub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3</m:t>
                        </m:r>
                      </m:sub>
                    </m:sSub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⋯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sSub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  <m:sub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𝑛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−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sub>
                    </m:sSub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so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𝑃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sSub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  <m:sub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sub>
                    </m:sSub>
                    <m:sSup>
                      <m:e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)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𝑅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and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𝑅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sSub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  <m:sub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sub>
                    </m:sSub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𝑄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14:m>
                  <m:oMath xmlns:m="http://schemas.openxmlformats.org/officeDocument/2006/math"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𝑃</m:t>
                        </m:r>
                      </m:e>
                      <m:sup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′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sSub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  <m:sub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sub>
                    </m:sSub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𝑅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sSub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  <m:sub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sub>
                    </m:sSub>
                    <m:sSup>
                      <m:e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)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𝑅</m:t>
                        </m:r>
                      </m:e>
                      <m:sup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′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and </a:t>
                </a:r>
                <a14:m>
                  <m:oMath xmlns:m="http://schemas.openxmlformats.org/officeDocument/2006/math"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𝑃</m:t>
                        </m:r>
                      </m:e>
                      <m:sup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″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𝑅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4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sSub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  <m:sub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sub>
                    </m:sSub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𝑅</m:t>
                        </m:r>
                      </m:e>
                      <m:sup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′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sSub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  <m:sub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sub>
                    </m:sSub>
                    <m:sSup>
                      <m:e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)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𝑅</m:t>
                        </m:r>
                      </m:e>
                      <m:sup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″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At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sSub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  <m:sub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sub>
                    </m:sSub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: </a:t>
                </a:r>
                <a14:m>
                  <m:oMath xmlns:m="http://schemas.openxmlformats.org/officeDocument/2006/math"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𝑃</m:t>
                        </m:r>
                      </m:e>
                      <m:sup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″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sSub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  <m:sub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sub>
                    </m:sSub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𝑅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sSub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  <m:sub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sub>
                    </m:sSub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𝑄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Choice>
        <mc:Fallback>
          <p:sp>
            <p:nvSpPr>
              <p:cNvPr id="6" name="Rectangle 5"/>
              <p:cNvSpPr/>
              <p:nvPr/>
            </p:nvSpPr>
            <p:spPr>
              <a:xfrm>
                <a:off x="731520" y="2526792"/>
                <a:ext cx="10725912" cy="4148328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Let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$R(x)=(x-x_2)(x-x_3)\cdots(x-x_{n-1})$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so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$P(x)=(x-x_1)^2R(x)$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and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$R(x_1)=Q$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$P'(x)=2(x-x_1)R(x)+(x-x_1)^2R'(x)$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and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$P''(x)=2R(x)+4(x-x_1)R'(x)+(x-x_1)^2R''(x)$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At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$x=x_1$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: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$P''(x_1)=2R(x_1)=2Q$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Fallback>
      </mc:AlternateContent>
    </p:spTree>
  </p:cSld>
  <p:clrMapOvr>
    <a:masterClrMapping/>
  </p:clrMapOvr>
</p:sld>
</file>

<file path=ppt/slides/slide8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FFFFFF"/>
          </a:fontRef>
        </p:style>
        <p:txBody>
          <a:bodyPr rtlCol="0" anchor="ctr" lIns="731520"/>
          <a:lstStyle>
            <a:lvl1pPr>
              <a:defRPr sz="3200">
                <a:solidFill>
                  <a:srgbClr val="FFFFFF"/>
                </a:solidFill>
              </a:defRPr>
            </a:lvl1pPr>
          </a:lstStyle>
          <a:p>
            <a:pPr algn="l">
              <a:defRPr sz="3200">
                <a:solidFill>
                  <a:srgbClr val="FFFFFF"/>
                </a:solidFill>
              </a:defRPr>
            </a:pPr>
            <a:r>
              <a:rPr sz="3200" b="1">
                <a:solidFill>
                  <a:srgbClr val="FFFFFF"/>
                </a:solidFill>
                <a:latin typeface="Arial"/>
              </a:rPr>
              <a:t>Question 13</a:t>
            </a:r>
            <a:endParaRPr sz="3200">
              <a:solidFill>
                <a:srgbClr val="FFFFFF"/>
              </a:solidFill>
            </a:endParaRPr>
          </a:p>
        </p:txBody>
      </p:sp>
      <p:sp>
        <p:nvSpPr>
          <p:cNvPr id="3" name="Rounded Rectangle 2"/>
          <p:cNvSpPr/>
          <p:nvPr/>
        </p:nvSpPr>
        <p:spPr>
          <a:xfrm>
            <a:off x="7894015" y="246887"/>
            <a:ext cx="3840480" cy="603504"/>
          </a:xfrm>
          <a:prstGeom prst="roundRect">
            <a:avLst>
              <a:gd name="adj" fmla="val 50000"/>
            </a:avLst>
          </a:prstGeom>
          <a:solidFill>
            <a:srgbClr val="F6B26B"/>
          </a:solidFill>
          <a:ln w="1905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111827"/>
          </a:fontRef>
        </p:style>
        <p:txBody>
          <a:bodyPr rtlCol="0" anchor="ctr" wrap="square" lIns="228600" rIns="228600" tIns="18288" bIns="18288"/>
          <a:lstStyle>
            <a:lvl1pPr>
              <a:defRPr sz="2400">
                <a:solidFill>
                  <a:srgbClr val="111827"/>
                </a:solidFill>
              </a:defRPr>
            </a:lvl1pPr>
          </a:lstStyle>
          <a:p>
            <a:pPr algn="ctr">
              <a:defRPr sz="2400">
                <a:solidFill>
                  <a:srgbClr val="111827"/>
                </a:solidFill>
              </a:defRPr>
            </a:pPr>
            <a:r>
              <a:rPr sz="2400" b="1">
                <a:solidFill>
                  <a:srgbClr val="111827"/>
                </a:solidFill>
                <a:latin typeface="Arial"/>
              </a:rPr>
              <a:t>Level 3  ·  4 Marks</a:t>
            </a:r>
            <a:endParaRPr sz="2400">
              <a:solidFill>
                <a:srgbClr val="111827"/>
              </a:solidFill>
            </a:endParaRPr>
          </a:p>
        </p:txBody>
      </p:sp>
      <p:sp>
        <p:nvSpPr>
          <p:cNvPr id="4" name="Rounded Rectangle 3"/>
          <p:cNvSpPr/>
          <p:nvPr/>
        </p:nvSpPr>
        <p:spPr>
          <a:xfrm>
            <a:off x="3520440" y="265176"/>
            <a:ext cx="4206240" cy="566928"/>
          </a:xfrm>
          <a:prstGeom prst="roundRect">
            <a:avLst>
              <a:gd name="adj" fmla="val 50000"/>
            </a:avLst>
          </a:prstGeom>
          <a:solidFill>
            <a:srgbClr val="FDE68A"/>
          </a:solidFill>
          <a:ln w="25400">
            <a:solidFill>
              <a:srgbClr val="D9770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78350F"/>
          </a:fontRef>
        </p:style>
        <p:txBody>
          <a:bodyPr rtlCol="0" anchor="ctr" wrap="square" lIns="228600" rIns="228600" tIns="18288" bIns="18288"/>
          <a:lstStyle>
            <a:lvl1pPr>
              <a:defRPr sz="2200">
                <a:solidFill>
                  <a:srgbClr val="78350F"/>
                </a:solidFill>
              </a:defRPr>
            </a:lvl1pPr>
          </a:lstStyle>
          <a:p>
            <a:pPr algn="ctr">
              <a:defRPr sz="2200">
                <a:solidFill>
                  <a:srgbClr val="78350F"/>
                </a:solidFill>
              </a:defRPr>
            </a:pPr>
            <a:r>
              <a:rPr sz="2200" b="1">
                <a:solidFill>
                  <a:srgbClr val="78350F"/>
                </a:solidFill>
                <a:latin typeface="Arial"/>
              </a:rPr>
              <a:t>Alternate Solution</a:t>
            </a:r>
            <a:endParaRPr sz="2200">
              <a:solidFill>
                <a:srgbClr val="78350F"/>
              </a:solidFill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5" name="Rectangle 4"/>
              <p:cNvSpPr/>
              <p:nvPr/>
            </p:nvSpPr>
            <p:spPr>
              <a:xfrm>
                <a:off x="731520" y="1353312"/>
                <a:ext cx="10725912" cy="4434840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Directly, </a:t>
                </a:r>
                <a14:m>
                  <m:oMath xmlns:m="http://schemas.openxmlformats.org/officeDocument/2006/math"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𝑃</m:t>
                        </m:r>
                      </m:e>
                      <m:sup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″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𝑛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𝑛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𝑛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−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so </a:t>
                </a:r>
                <a14:m>
                  <m:oMath xmlns:m="http://schemas.openxmlformats.org/officeDocument/2006/math"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𝑃</m:t>
                        </m:r>
                      </m:e>
                      <m:sup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″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sSub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  <m:sub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sub>
                    </m:sSub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𝑛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𝑛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sSub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  <m:sub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sub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𝑛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−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bSup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Hence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𝑄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𝑛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(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𝑛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−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)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den>
                    </m:f>
                    <m:sSub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  <m:sub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sub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𝑛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−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b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​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𝑛</m:t>
                        </m:r>
                      </m:sup>
                    </m:sSup>
                    <m:sSub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𝐶</m:t>
                        </m:r>
                      </m:e>
                      <m:sub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b>
                    </m:sSub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 </m:t>
                    </m:r>
                    <m:sSub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  <m:sub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sub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𝑛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−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bSup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Choice>
        <mc:Fallback>
          <p:sp>
            <p:nvSpPr>
              <p:cNvPr id="5" name="Rectangle 4"/>
              <p:cNvSpPr/>
              <p:nvPr/>
            </p:nvSpPr>
            <p:spPr>
              <a:xfrm>
                <a:off x="731520" y="1353312"/>
                <a:ext cx="10725912" cy="4434840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Directly,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$P''(x)=n(n-1)x^{n-2}$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so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$P''(x_1)=n(n-1)x_1^{n-2}$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Hence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$Q=\frac{n(n-1)}{2}x_1^{n-2}={}^nC_2\,x_1^{n-2}$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6" name="Rounded Rectangle 5"/>
              <p:cNvSpPr/>
              <p:nvPr/>
            </p:nvSpPr>
            <p:spPr>
              <a:xfrm>
                <a:off x="731520" y="5897880"/>
                <a:ext cx="10725912" cy="777240"/>
              </a:xfrm>
              <a:prstGeom prst="roundRect">
                <a:avLst>
                  <a:gd name="adj" fmla="val 8000"/>
                </a:avLst>
              </a:prstGeom>
              <a:solidFill>
                <a:srgbClr val="DCFCE7"/>
              </a:solidFill>
              <a:ln w="25400">
                <a:solidFill>
                  <a:srgbClr val="15803D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5803D"/>
              </a:fontRef>
            </p:style>
            <p:txBody>
              <a:bodyPr rtlCol="0" anchor="ctr" wrap="square" lIns="228600" rIns="228600" tIns="18288" bIns="73152"/>
              <a:lstStyle>
                <a:lvl1pPr>
                  <a:defRPr sz="2800">
                    <a:solidFill>
                      <a:srgbClr val="15803D"/>
                    </a:solidFill>
                  </a:defRPr>
                </a:lvl1pPr>
              </a:lstStyle>
              <a:p>
                <a:pPr algn="ctr">
                  <a:defRPr sz="2800">
                    <a:solidFill>
                      <a:srgbClr val="15803D"/>
                    </a:solidFill>
                  </a:defRPr>
                </a:pPr>
                <a:r>
                  <a:rPr sz="2800" b="1">
                    <a:solidFill>
                      <a:srgbClr val="15803D"/>
                    </a:solidFill>
                    <a:latin typeface="Arial"/>
                  </a:rPr>
                  <a:t>Same answer: Proved: </a:t>
                </a:r>
                <a14:m>
                  <m:oMath xmlns:m="http://schemas.openxmlformats.org/officeDocument/2006/math">
                    <m:r>
                      <a:rPr lang="en-IN" sz="2800" i="1">
                        <a:solidFill>
                          <a:srgbClr val="15803D"/>
                        </a:solidFill>
                        <a:latin typeface="Cambria Math" panose="02040503050406030204" pitchFamily="18" charset="0"/>
                      </a:rPr>
                      <m:t>𝑄</m:t>
                    </m:r>
                    <m:r>
                      <m:rPr>
                        <m:sty m:val="p"/>
                      </m:rPr>
                      <a:rPr lang="en-IN" sz="2800">
                        <a:solidFill>
                          <a:srgbClr val="15803D"/>
                        </a:solidFill>
                        <a:latin typeface="Cambria Math" panose="02040503050406030204" pitchFamily="18" charset="0"/>
                      </a:rPr>
                      <m:t>=</m:t>
                    </m:r>
                    <m:sSup>
                      <m:e>
                        <m:r>
                          <a:rPr lang="en-IN" sz="2800" i="1">
                            <a:solidFill>
                              <a:srgbClr val="15803D"/>
                            </a:solidFill>
                            <a:latin typeface="Cambria Math" panose="02040503050406030204" pitchFamily="18" charset="0"/>
                          </a:rPr>
                          <m:t>​</m:t>
                        </m:r>
                      </m:e>
                      <m:sup>
                        <m:r>
                          <a:rPr lang="en-IN" sz="2800" i="1">
                            <a:solidFill>
                              <a:srgbClr val="15803D"/>
                            </a:solidFill>
                            <a:latin typeface="Cambria Math" panose="02040503050406030204" pitchFamily="18" charset="0"/>
                          </a:rPr>
                          <m:t>𝑛</m:t>
                        </m:r>
                      </m:sup>
                    </m:sSup>
                    <m:sSub>
                      <m:e>
                        <m:r>
                          <a:rPr lang="en-IN" sz="2800" i="1">
                            <a:solidFill>
                              <a:srgbClr val="15803D"/>
                            </a:solidFill>
                            <a:latin typeface="Cambria Math" panose="02040503050406030204" pitchFamily="18" charset="0"/>
                          </a:rPr>
                          <m:t>𝐶</m:t>
                        </m:r>
                      </m:e>
                      <m:sub>
                        <m:r>
                          <a:rPr lang="en-IN" sz="2800" i="1">
                            <a:solidFill>
                              <a:srgbClr val="15803D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b>
                    </m:sSub>
                    <m:r>
                      <a:rPr lang="en-IN" sz="2800" i="1">
                        <a:solidFill>
                          <a:srgbClr val="15803D"/>
                        </a:solidFill>
                        <a:latin typeface="Cambria Math" panose="02040503050406030204" pitchFamily="18" charset="0"/>
                      </a:rPr>
                      <m:t> </m:t>
                    </m:r>
                    <m:sSubSup>
                      <m:e>
                        <m:r>
                          <a:rPr lang="en-IN" sz="2800" i="1">
                            <a:solidFill>
                              <a:srgbClr val="15803D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  <m:sub>
                        <m:r>
                          <a:rPr lang="en-IN" sz="2800" i="1">
                            <a:solidFill>
                              <a:srgbClr val="15803D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sub>
                      <m:sup>
                        <m:r>
                          <a:rPr lang="en-IN" sz="2800" i="1">
                            <a:solidFill>
                              <a:srgbClr val="15803D"/>
                            </a:solidFill>
                            <a:latin typeface="Cambria Math" panose="02040503050406030204" pitchFamily="18" charset="0"/>
                          </a:rPr>
                          <m:t>𝑛</m:t>
                        </m:r>
                        <m:r>
                          <m:rPr>
                            <m:sty m:val="p"/>
                          </m:rPr>
                          <a:rPr lang="en-IN" sz="2800">
                            <a:solidFill>
                              <a:srgbClr val="15803D"/>
                            </a:solidFill>
                            <a:latin typeface="Cambria Math" panose="02040503050406030204" pitchFamily="18" charset="0"/>
                          </a:rPr>
                          <m:t>−</m:t>
                        </m:r>
                        <m:r>
                          <a:rPr lang="en-IN" sz="2800" i="1">
                            <a:solidFill>
                              <a:srgbClr val="15803D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bSup>
                  </m:oMath>
                </a14:m>
                <a:endParaRPr sz="2800">
                  <a:solidFill>
                    <a:srgbClr val="15803D"/>
                  </a:solidFill>
                </a:endParaRPr>
              </a:p>
            </p:txBody>
          </p:sp>
        </mc:Choice>
        <mc:Fallback>
          <p:sp>
            <p:nvSpPr>
              <p:cNvPr id="6" name="Rounded Rectangle 5"/>
              <p:cNvSpPr/>
              <p:nvPr/>
            </p:nvSpPr>
            <p:spPr>
              <a:xfrm>
                <a:off x="731520" y="5897880"/>
                <a:ext cx="10725912" cy="777240"/>
              </a:xfrm>
              <a:prstGeom prst="roundRect">
                <a:avLst>
                  <a:gd name="adj" fmla="val 8000"/>
                </a:avLst>
              </a:prstGeom>
              <a:solidFill>
                <a:srgbClr val="DCFCE7"/>
              </a:solidFill>
              <a:ln w="25400">
                <a:solidFill>
                  <a:srgbClr val="15803D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5803D"/>
              </a:fontRef>
            </p:style>
            <p:txBody>
              <a:bodyPr rtlCol="0" anchor="ctr" wrap="square" lIns="228600" rIns="228600" tIns="18288" bIns="73152"/>
              <a:lstStyle>
                <a:lvl1pPr>
                  <a:defRPr sz="2800">
                    <a:solidFill>
                      <a:srgbClr val="15803D"/>
                    </a:solidFill>
                  </a:defRPr>
                </a:lvl1pPr>
              </a:lstStyle>
              <a:p>
                <a:pPr algn="ctr">
                  <a:defRPr sz="2800">
                    <a:solidFill>
                      <a:srgbClr val="15803D"/>
                    </a:solidFill>
                  </a:defRPr>
                </a:pPr>
                <a:r>
                  <a:rPr sz="2800" b="1">
                    <a:solidFill>
                      <a:srgbClr val="15803D"/>
                    </a:solidFill>
                    <a:latin typeface="Arial"/>
                  </a:rPr>
                  <a:t>Same answer: Proved: </a:t>
                </a:r>
                <a:r>
                  <a:rPr lang="en-IN" sz="2800">
                    <a:solidFill>
                      <a:srgbClr val="15803D"/>
                    </a:solidFill>
                    <a:latin typeface="Cambria Math" panose="02040503050406030204" pitchFamily="18" charset="0"/>
                  </a:rPr>
                  <a:t>$Q={}^nC_2\,x_1^{n-2}$</a:t>
                </a:r>
                <a:endParaRPr sz="2800">
                  <a:solidFill>
                    <a:srgbClr val="15803D"/>
                  </a:solidFill>
                </a:endParaRPr>
              </a:p>
            </p:txBody>
          </p:sp>
        </mc:Fallback>
      </mc:AlternateContent>
    </p:spTree>
  </p:cSld>
  <p:clrMapOvr>
    <a:masterClrMapping/>
  </p:clrMapOvr>
</p:sld>
</file>

<file path=ppt/slides/slide8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FFFFFF"/>
          </a:fontRef>
        </p:style>
        <p:txBody>
          <a:bodyPr rtlCol="0" anchor="ctr" lIns="731520"/>
          <a:lstStyle>
            <a:lvl1pPr>
              <a:defRPr sz="3200">
                <a:solidFill>
                  <a:srgbClr val="FFFFFF"/>
                </a:solidFill>
              </a:defRPr>
            </a:lvl1pPr>
          </a:lstStyle>
          <a:p>
            <a:pPr algn="l">
              <a:defRPr sz="3200">
                <a:solidFill>
                  <a:srgbClr val="FFFFFF"/>
                </a:solidFill>
              </a:defRPr>
            </a:pPr>
            <a:r>
              <a:rPr sz="3200" b="1">
                <a:solidFill>
                  <a:srgbClr val="FFFFFF"/>
                </a:solidFill>
                <a:latin typeface="Arial"/>
              </a:rPr>
              <a:t>Question 13</a:t>
            </a:r>
            <a:endParaRPr sz="3200">
              <a:solidFill>
                <a:srgbClr val="FFFFFF"/>
              </a:solidFill>
            </a:endParaRPr>
          </a:p>
        </p:txBody>
      </p:sp>
      <p:sp>
        <p:nvSpPr>
          <p:cNvPr id="3" name="Rounded Rectangle 2"/>
          <p:cNvSpPr/>
          <p:nvPr/>
        </p:nvSpPr>
        <p:spPr>
          <a:xfrm>
            <a:off x="7894015" y="246887"/>
            <a:ext cx="3840480" cy="603504"/>
          </a:xfrm>
          <a:prstGeom prst="roundRect">
            <a:avLst>
              <a:gd name="adj" fmla="val 50000"/>
            </a:avLst>
          </a:prstGeom>
          <a:solidFill>
            <a:srgbClr val="F6B26B"/>
          </a:solidFill>
          <a:ln w="1905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111827"/>
          </a:fontRef>
        </p:style>
        <p:txBody>
          <a:bodyPr rtlCol="0" anchor="ctr" wrap="square" lIns="228600" rIns="228600" tIns="18288" bIns="18288"/>
          <a:lstStyle>
            <a:lvl1pPr>
              <a:defRPr sz="2400">
                <a:solidFill>
                  <a:srgbClr val="111827"/>
                </a:solidFill>
              </a:defRPr>
            </a:lvl1pPr>
          </a:lstStyle>
          <a:p>
            <a:pPr algn="ctr">
              <a:defRPr sz="2400">
                <a:solidFill>
                  <a:srgbClr val="111827"/>
                </a:solidFill>
              </a:defRPr>
            </a:pPr>
            <a:r>
              <a:rPr sz="2400" b="1">
                <a:solidFill>
                  <a:srgbClr val="111827"/>
                </a:solidFill>
                <a:latin typeface="Arial"/>
              </a:rPr>
              <a:t>Level 3  ·  4 Marks</a:t>
            </a:r>
            <a:endParaRPr sz="2400">
              <a:solidFill>
                <a:srgbClr val="111827"/>
              </a:solidFill>
            </a:endParaRPr>
          </a:p>
        </p:txBody>
      </p:sp>
      <p:sp>
        <p:nvSpPr>
          <p:cNvPr id="4" name="Rounded Rectangle 3"/>
          <p:cNvSpPr/>
          <p:nvPr/>
        </p:nvSpPr>
        <p:spPr>
          <a:xfrm>
            <a:off x="3520440" y="265176"/>
            <a:ext cx="4206240" cy="566928"/>
          </a:xfrm>
          <a:prstGeom prst="roundRect">
            <a:avLst>
              <a:gd name="adj" fmla="val 50000"/>
            </a:avLst>
          </a:prstGeom>
          <a:solidFill>
            <a:srgbClr val="E0ECFF"/>
          </a:solidFill>
          <a:ln w="25400">
            <a:solidFill>
              <a:srgbClr val="1D4ED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0B1F3A"/>
          </a:fontRef>
        </p:style>
        <p:txBody>
          <a:bodyPr rtlCol="0" anchor="ctr" wrap="square" lIns="228600" rIns="228600" tIns="18288" bIns="18288"/>
          <a:lstStyle>
            <a:lvl1pPr>
              <a:defRPr sz="2200">
                <a:solidFill>
                  <a:srgbClr val="0B1F3A"/>
                </a:solidFill>
              </a:defRPr>
            </a:lvl1pPr>
          </a:lstStyle>
          <a:p>
            <a:pPr algn="ctr">
              <a:defRPr sz="2200">
                <a:solidFill>
                  <a:srgbClr val="0B1F3A"/>
                </a:solidFill>
              </a:defRPr>
            </a:pPr>
            <a:r>
              <a:rPr sz="2200" b="1">
                <a:solidFill>
                  <a:srgbClr val="0B1F3A"/>
                </a:solidFill>
                <a:latin typeface="Arial"/>
              </a:rPr>
              <a:t>Useful Result / Pattern</a:t>
            </a:r>
            <a:endParaRPr sz="2200">
              <a:solidFill>
                <a:srgbClr val="0B1F3A"/>
              </a:solidFill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5" name="Rectangle 4"/>
              <p:cNvSpPr/>
              <p:nvPr/>
            </p:nvSpPr>
            <p:spPr>
              <a:xfrm>
                <a:off x="731520" y="1353312"/>
                <a:ext cx="10725912" cy="5321808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If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𝑎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is a root of multiplicity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𝑚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of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𝑃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and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𝑃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𝑎</m:t>
                    </m:r>
                    <m:sSup>
                      <m:e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)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𝑚</m:t>
                        </m:r>
                      </m:sup>
                    </m:sSup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𝑅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then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𝑅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𝑎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sSup>
                          <m:e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𝑃</m:t>
                            </m:r>
                          </m:e>
                          <m:sup>
                            <m:r>
                              <m:rPr>
                                <m:sty m:val="p"/>
                              </m:rPr>
                              <a:rPr lang="en-IN" sz="2400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(</m:t>
                            </m:r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𝑚</m:t>
                            </m:r>
                            <m:r>
                              <m:rPr>
                                <m:sty m:val="p"/>
                              </m:rPr>
                              <a:rPr lang="en-IN" sz="2400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)</m:t>
                            </m:r>
                          </m:sup>
                        </m:sSup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(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𝑎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)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𝑚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!</m:t>
                        </m:r>
                      </m:den>
                    </m:f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A double root of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𝑃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𝑛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α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β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is a common root of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𝑃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and </a:t>
                </a:r>
                <a14:m>
                  <m:oMath xmlns:m="http://schemas.openxmlformats.org/officeDocument/2006/math"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𝑃</m:t>
                        </m:r>
                      </m:e>
                      <m:sup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′</m:t>
                        </m:r>
                      </m:sup>
                    </m:sSup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: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𝑛</m:t>
                    </m:r>
                    <m:sSub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  <m:sub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sub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𝑛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−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sup>
                    </m:sSub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α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and then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𝑃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sSub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  <m:sub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sub>
                    </m:sSub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0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gives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β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𝑛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sSub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  <m:sub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sub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𝑛</m:t>
                        </m:r>
                      </m:sup>
                    </m:sSubSup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14:m>
                  <m:oMath xmlns:m="http://schemas.openxmlformats.org/officeDocument/2006/math">
                    <m:nary>
                      <m:naryPr>
                        <m:chr m:val="∏"/>
                        <m:limLoc m:val="undOvr"/>
                        <m:subHide m:val="off"/>
                        <m:supHide m:val="on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naryPr>
                      <m:sub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𝑗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≠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sub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​</m:t>
                        </m:r>
                      </m:sup>
                      <m:e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(</m:t>
                        </m:r>
                      </m:e>
                    </m:nary>
                    <m:sSub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  <m:sub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sub>
                    </m:sSub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sSub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  <m:sub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𝑗</m:t>
                        </m:r>
                      </m:sub>
                    </m:sSub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𝑃</m:t>
                        </m:r>
                      </m:e>
                      <m:sup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′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sSub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  <m:sub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sub>
                    </m:sSub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for simple roots; for a double root, replace this with </a:t>
                </a:r>
                <a14:m>
                  <m:oMath xmlns:m="http://schemas.openxmlformats.org/officeDocument/2006/math"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sSup>
                          <m:e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𝑃</m:t>
                            </m:r>
                          </m:e>
                          <m:sup>
                            <m:r>
                              <m:rPr>
                                <m:sty m:val="p"/>
                              </m:rPr>
                              <a:rPr lang="en-IN" sz="2400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″</m:t>
                            </m:r>
                          </m:sup>
                        </m:sSup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(</m:t>
                        </m:r>
                        <m:sSub>
                          <m:e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𝑥</m:t>
                            </m:r>
                          </m:e>
                          <m:sub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1</m:t>
                            </m:r>
                          </m:sub>
                        </m:sSub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)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den>
                    </m:f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Check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𝑛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3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: </a:t>
                </a:r>
                <a14:m>
                  <m:oMath xmlns:m="http://schemas.openxmlformats.org/officeDocument/2006/math"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3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3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  <m:sSup>
                      <m:e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)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: </a:t>
                </a:r>
                <a14:m>
                  <m:oMath xmlns:m="http://schemas.openxmlformats.org/officeDocument/2006/math">
                    <m:sSub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  <m:sub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sub>
                    </m:sSub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</a:t>
                </a:r>
                <a14:m>
                  <m:oMath xmlns:m="http://schemas.openxmlformats.org/officeDocument/2006/math">
                    <m:sSub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  <m:sub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b>
                    </m:sSub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𝑄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3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and </a:t>
                </a:r>
                <a14:m>
                  <m:oMath xmlns:m="http://schemas.openxmlformats.org/officeDocument/2006/math"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​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3</m:t>
                        </m:r>
                      </m:sup>
                    </m:sSup>
                    <m:sSub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𝐶</m:t>
                        </m:r>
                      </m:e>
                      <m:sub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b>
                    </m:sSub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⋅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3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Choice>
        <mc:Fallback>
          <p:sp>
            <p:nvSpPr>
              <p:cNvPr id="5" name="Rectangle 4"/>
              <p:cNvSpPr/>
              <p:nvPr/>
            </p:nvSpPr>
            <p:spPr>
              <a:xfrm>
                <a:off x="731520" y="1353312"/>
                <a:ext cx="10725912" cy="5321808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If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$a$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is a root of multiplicity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$m$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of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$P$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and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$P(x)=(x-a)^mR(x)$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then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$R(a)=\frac{P^{(m)}(a)}{m!}$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A double root of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$P=x^n+\alpha x+\beta$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is a common root of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$P$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and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$P'$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: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$nx_1^{n-1}=-\alpha$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and then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$P(x_1)=0$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gives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$\beta=(n-1)x_1^n$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$\prod_{j\neq1}(x_1-x_j)=P'(x_1)$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for simple roots; for a double root, replace this with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$\frac{P''(x_1)}{2}$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Check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$n=3$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: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$x^3-3x+2=(x-1)^2(x+2)$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: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$x_1=1$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$x_2=-2$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$Q=3$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and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${}^3C_2\cdot1=3$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Fallback>
      </mc:AlternateContent>
    </p:spTree>
  </p:cSld>
  <p:clrMapOvr>
    <a:masterClrMapping/>
  </p:clrMapOvr>
</p:sld>
</file>

<file path=ppt/slides/slide8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914400" y="1463040"/>
            <a:ext cx="10362895" cy="4114800"/>
          </a:xfrm>
          <a:prstGeom prst="rect">
            <a:avLst/>
          </a:prstGeom>
          <a:noFill/>
        </p:spPr>
        <p:txBody>
          <a:bodyPr wrap="square">
            <a:spAutoFit/>
          </a:bodyPr>
          <a:lstStyle>
            <a:lvl1pPr>
              <a:defRPr sz="2800">
                <a:solidFill>
                  <a:srgbClr val="FFFFFF"/>
                </a:solidFill>
              </a:defRPr>
            </a:lvl1pPr>
          </a:lstStyle>
          <a:p>
            <a:pPr algn="ctr">
              <a:spcAft>
                <a:spcPts val="1000"/>
              </a:spcAft>
              <a:defRPr sz="2800">
                <a:solidFill>
                  <a:srgbClr val="FFFFFF"/>
                </a:solidFill>
              </a:defRPr>
            </a:pPr>
            <a:r>
              <a:rPr sz="2800" b="0">
                <a:solidFill>
                  <a:srgbClr val="93C5FD"/>
                </a:solidFill>
                <a:latin typeface="Arial"/>
              </a:rPr>
              <a:t>Section 8</a:t>
            </a:r>
            <a:endParaRPr sz="2800">
              <a:solidFill>
                <a:srgbClr val="FFFFFF"/>
              </a:solidFill>
            </a:endParaRPr>
          </a:p>
          <a:p>
            <a:pPr algn="ctr">
              <a:spcAft>
                <a:spcPts val="1000"/>
              </a:spcAft>
              <a:defRPr sz="2800">
                <a:solidFill>
                  <a:srgbClr val="FFFFFF"/>
                </a:solidFill>
              </a:defRPr>
            </a:pPr>
            <a:r>
              <a:rPr sz="4400" b="1">
                <a:solidFill>
                  <a:srgbClr val="FFFFFF"/>
                </a:solidFill>
                <a:latin typeface="Arial"/>
              </a:rPr>
              <a:t>Numerical Type</a:t>
            </a:r>
            <a:endParaRPr sz="2800">
              <a:solidFill>
                <a:srgbClr val="FFFFFF"/>
              </a:solidFill>
            </a:endParaRPr>
          </a:p>
          <a:p>
            <a:pPr algn="ctr">
              <a:spcAft>
                <a:spcPts val="1000"/>
              </a:spcAft>
              <a:defRPr sz="2800">
                <a:solidFill>
                  <a:srgbClr val="FFFFFF"/>
                </a:solidFill>
              </a:defRPr>
            </a:pPr>
            <a:r>
              <a:rPr sz="3200" b="1">
                <a:solidFill>
                  <a:srgbClr val="FFFFFF"/>
                </a:solidFill>
                <a:latin typeface="Arial"/>
              </a:rPr>
              <a:t>Q14 – Q17</a:t>
            </a:r>
            <a:endParaRPr sz="2800">
              <a:solidFill>
                <a:srgbClr val="FFFFFF"/>
              </a:solidFill>
            </a:endParaRPr>
          </a:p>
          <a:p>
            <a:pPr algn="ctr">
              <a:spcAft>
                <a:spcPts val="1000"/>
              </a:spcAft>
              <a:defRPr sz="2800">
                <a:solidFill>
                  <a:srgbClr val="FFFFFF"/>
                </a:solidFill>
              </a:defRPr>
            </a:pPr>
            <a:r>
              <a:rPr sz="2800" b="0">
                <a:solidFill>
                  <a:srgbClr val="FFFFFF"/>
                </a:solidFill>
                <a:latin typeface="Arial"/>
              </a:rPr>
              <a:t>4 marks each (no marks printed in the paper: JEE Advanced default assumed)</a:t>
            </a:r>
            <a:endParaRPr sz="2800">
              <a:solidFill>
                <a:srgbClr val="FFFFFF"/>
              </a:solidFill>
            </a:endParaRPr>
          </a:p>
          <a:p>
            <a:pPr algn="ctr">
              <a:spcAft>
                <a:spcPts val="1000"/>
              </a:spcAft>
              <a:defRPr sz="2800">
                <a:solidFill>
                  <a:srgbClr val="FFFFFF"/>
                </a:solidFill>
              </a:defRPr>
            </a:pPr>
            <a:r>
              <a:rPr sz="2800" b="0">
                <a:solidFill>
                  <a:srgbClr val="FFFFFF"/>
                </a:solidFill>
                <a:latin typeface="Arial"/>
              </a:rPr>
              <a:t>Numerical value answer; complete solution with alternate method and result</a:t>
            </a:r>
            <a:endParaRPr sz="2800">
              <a:solidFill>
                <a:srgbClr val="FFFFFF"/>
              </a:solidFill>
            </a:endParaRPr>
          </a:p>
        </p:txBody>
      </p:sp>
    </p:spTree>
  </p:cSld>
  <p:clrMapOvr>
    <a:masterClrMapping/>
  </p:clrMapOvr>
</p:sld>
</file>

<file path=ppt/slides/slide8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FFFFFF"/>
          </a:fontRef>
        </p:style>
        <p:txBody>
          <a:bodyPr rtlCol="0" anchor="ctr" lIns="731520"/>
          <a:lstStyle>
            <a:lvl1pPr>
              <a:defRPr sz="3200">
                <a:solidFill>
                  <a:srgbClr val="FFFFFF"/>
                </a:solidFill>
              </a:defRPr>
            </a:lvl1pPr>
          </a:lstStyle>
          <a:p>
            <a:pPr algn="l">
              <a:defRPr sz="3200">
                <a:solidFill>
                  <a:srgbClr val="FFFFFF"/>
                </a:solidFill>
              </a:defRPr>
            </a:pPr>
            <a:r>
              <a:rPr sz="3200" b="1">
                <a:solidFill>
                  <a:srgbClr val="FFFFFF"/>
                </a:solidFill>
                <a:latin typeface="Arial"/>
              </a:rPr>
              <a:t>Question 14</a:t>
            </a:r>
            <a:endParaRPr sz="3200">
              <a:solidFill>
                <a:srgbClr val="FFFFFF"/>
              </a:solidFill>
            </a:endParaRPr>
          </a:p>
        </p:txBody>
      </p:sp>
      <p:sp>
        <p:nvSpPr>
          <p:cNvPr id="3" name="Rounded Rectangle 2"/>
          <p:cNvSpPr/>
          <p:nvPr/>
        </p:nvSpPr>
        <p:spPr>
          <a:xfrm>
            <a:off x="7894015" y="246887"/>
            <a:ext cx="3840480" cy="603504"/>
          </a:xfrm>
          <a:prstGeom prst="roundRect">
            <a:avLst>
              <a:gd name="adj" fmla="val 50000"/>
            </a:avLst>
          </a:prstGeom>
          <a:solidFill>
            <a:srgbClr val="FFD966"/>
          </a:solidFill>
          <a:ln w="1905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111827"/>
          </a:fontRef>
        </p:style>
        <p:txBody>
          <a:bodyPr rtlCol="0" anchor="ctr" wrap="square" lIns="228600" rIns="228600" tIns="18288" bIns="18288"/>
          <a:lstStyle>
            <a:lvl1pPr>
              <a:defRPr sz="2400">
                <a:solidFill>
                  <a:srgbClr val="111827"/>
                </a:solidFill>
              </a:defRPr>
            </a:lvl1pPr>
          </a:lstStyle>
          <a:p>
            <a:pPr algn="ctr">
              <a:defRPr sz="2400">
                <a:solidFill>
                  <a:srgbClr val="111827"/>
                </a:solidFill>
              </a:defRPr>
            </a:pPr>
            <a:r>
              <a:rPr sz="2400" b="1">
                <a:solidFill>
                  <a:srgbClr val="111827"/>
                </a:solidFill>
                <a:latin typeface="Arial"/>
              </a:rPr>
              <a:t>Level 2  ·  4 Marks</a:t>
            </a:r>
            <a:endParaRPr sz="2400">
              <a:solidFill>
                <a:srgbClr val="111827"/>
              </a:solidFill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4" name="Rounded Rectangle 3"/>
              <p:cNvSpPr/>
              <p:nvPr/>
            </p:nvSpPr>
            <p:spPr>
              <a:xfrm>
                <a:off x="731520" y="1280160"/>
                <a:ext cx="10725912" cy="1737360"/>
              </a:xfrm>
              <a:prstGeom prst="roundRect">
                <a:avLst>
                  <a:gd name="adj" fmla="val 8000"/>
                </a:avLst>
              </a:prstGeom>
              <a:solidFill>
                <a:srgbClr val="E0ECFF"/>
              </a:solidFill>
              <a:ln w="25400">
                <a:solidFill>
                  <a:srgbClr val="1D4ED8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>
                  <a:spcAft>
                    <a:spcPts val="500"/>
                  </a:spcAft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If </a:t>
                </a:r>
                <a14:m>
                  <m:oMath xmlns:m="http://schemas.openxmlformats.org/officeDocument/2006/math"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sSup>
                          <m:e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𝑑</m:t>
                            </m:r>
                          </m:e>
                          <m:sup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2</m:t>
                            </m:r>
                          </m:sup>
                        </m:sSup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𝑑</m:t>
                        </m:r>
                        <m:sSup>
                          <m:e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𝑥</m:t>
                            </m:r>
                          </m:e>
                          <m:sup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2</m:t>
                            </m:r>
                          </m:sup>
                        </m:sSup>
                      </m:den>
                    </m:f>
                    <m:d>
                      <m:dPr>
                        <m:begChr m:val="("/>
                        <m:sepChr m:val=""/>
                        <m:endChr m:val=")"/>
                        <m:grow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f>
                          <m:fPr>
                            <m:type m:val="bar"/>
                            <m:ctrlP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fPr>
                          <m:num>
                            <m:sSup>
                              <m:e>
                                <m:r>
                                  <m:rPr>
                                    <m:sty m:val="p"/>
                                  </m:rPr>
                                  <a:rPr lang="en-IN" sz="2400">
                                    <a:solidFill>
                                      <a:srgbClr val="111827"/>
                                    </a:solidFill>
                                    <a:latin typeface="Cambria Math" panose="02040503050406030204" pitchFamily="18" charset="0"/>
                                  </a:rPr>
                                  <m:t>sin</m:t>
                                </m:r>
                              </m:e>
                              <m:sup>
                                <m:r>
                                  <a:rPr lang="en-IN" sz="2400" i="1">
                                    <a:solidFill>
                                      <a:srgbClr val="111827"/>
                                    </a:solidFill>
                                    <a:latin typeface="Cambria Math" panose="02040503050406030204" pitchFamily="18" charset="0"/>
                                  </a:rPr>
                                  <m:t>4</m:t>
                                </m:r>
                              </m:sup>
                            </m:sSup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𝑥</m:t>
                            </m:r>
                            <m:r>
                              <m:rPr>
                                <m:sty m:val="p"/>
                              </m:rPr>
                              <a:rPr lang="en-IN" sz="2400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+</m:t>
                            </m:r>
                            <m:sSup>
                              <m:e>
                                <m:r>
                                  <m:rPr>
                                    <m:sty m:val="p"/>
                                  </m:rPr>
                                  <a:rPr lang="en-IN" sz="2400">
                                    <a:solidFill>
                                      <a:srgbClr val="111827"/>
                                    </a:solidFill>
                                    <a:latin typeface="Cambria Math" panose="02040503050406030204" pitchFamily="18" charset="0"/>
                                  </a:rPr>
                                  <m:t>sin</m:t>
                                </m:r>
                              </m:e>
                              <m:sup>
                                <m:r>
                                  <a:rPr lang="en-IN" sz="2400" i="1">
                                    <a:solidFill>
                                      <a:srgbClr val="111827"/>
                                    </a:solidFill>
                                    <a:latin typeface="Cambria Math" panose="02040503050406030204" pitchFamily="18" charset="0"/>
                                  </a:rPr>
                                  <m:t>2</m:t>
                                </m:r>
                              </m:sup>
                            </m:sSup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𝑥</m:t>
                            </m:r>
                            <m:r>
                              <m:rPr>
                                <m:sty m:val="p"/>
                              </m:rPr>
                              <a:rPr lang="en-IN" sz="2400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+</m:t>
                            </m:r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1</m:t>
                            </m:r>
                          </m:num>
                          <m:den>
                            <m:sSup>
                              <m:e>
                                <m:r>
                                  <m:rPr>
                                    <m:sty m:val="p"/>
                                  </m:rPr>
                                  <a:rPr lang="en-IN" sz="2400">
                                    <a:solidFill>
                                      <a:srgbClr val="111827"/>
                                    </a:solidFill>
                                    <a:latin typeface="Cambria Math" panose="02040503050406030204" pitchFamily="18" charset="0"/>
                                  </a:rPr>
                                  <m:t>sin</m:t>
                                </m:r>
                              </m:e>
                              <m:sup>
                                <m:r>
                                  <a:rPr lang="en-IN" sz="2400" i="1">
                                    <a:solidFill>
                                      <a:srgbClr val="111827"/>
                                    </a:solidFill>
                                    <a:latin typeface="Cambria Math" panose="02040503050406030204" pitchFamily="18" charset="0"/>
                                  </a:rPr>
                                  <m:t>2</m:t>
                                </m:r>
                              </m:sup>
                            </m:sSup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𝑥</m:t>
                            </m:r>
                            <m:r>
                              <m:rPr>
                                <m:sty m:val="p"/>
                              </m:rPr>
                              <a:rPr lang="en-IN" sz="2400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+</m:t>
                            </m:r>
                            <m:r>
                              <m:rPr>
                                <m:sty m:val="p"/>
                              </m:rPr>
                              <a:rPr lang="en-IN" sz="2400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sin</m:t>
                            </m:r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𝑥</m:t>
                            </m:r>
                            <m:r>
                              <m:rPr>
                                <m:sty m:val="p"/>
                              </m:rPr>
                              <a:rPr lang="en-IN" sz="2400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+</m:t>
                            </m:r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1</m:t>
                            </m:r>
                          </m:den>
                        </m:f>
                      </m:e>
                    </m:d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𝑎</m:t>
                    </m:r>
                    <m:sSup>
                      <m:e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sin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𝑏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sin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𝑐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then find the value of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𝑏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𝑐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𝑎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Choice>
        <mc:Fallback>
          <p:sp>
            <p:nvSpPr>
              <p:cNvPr id="4" name="Rounded Rectangle 3"/>
              <p:cNvSpPr/>
              <p:nvPr/>
            </p:nvSpPr>
            <p:spPr>
              <a:xfrm>
                <a:off x="731520" y="1280160"/>
                <a:ext cx="10725912" cy="1737360"/>
              </a:xfrm>
              <a:prstGeom prst="roundRect">
                <a:avLst>
                  <a:gd name="adj" fmla="val 8000"/>
                </a:avLst>
              </a:prstGeom>
              <a:solidFill>
                <a:srgbClr val="E0ECFF"/>
              </a:solidFill>
              <a:ln w="25400">
                <a:solidFill>
                  <a:srgbClr val="1D4ED8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>
                  <a:spcAft>
                    <a:spcPts val="500"/>
                  </a:spcAft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If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$\frac{d^2}{dx^2}\left(\frac{\sin^4x+\sin^2x+1}{\sin^2x+\sin x+1}\right)=a\sin^2x+b\sin x+c$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then find the value of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$b+c-a$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Fallback>
      </mc:AlternateContent>
      <p:sp>
        <p:nvSpPr>
          <p:cNvPr id="5" name="Rectangle 4"/>
          <p:cNvSpPr/>
          <p:nvPr/>
        </p:nvSpPr>
        <p:spPr>
          <a:xfrm>
            <a:off x="731520" y="3246120"/>
            <a:ext cx="10725912" cy="2194560"/>
          </a:xfrm>
          <a:prstGeom prst="rect">
            <a:avLst/>
          </a:prstGeom>
          <a:solidFill>
            <a:srgbClr val="FFFFFF"/>
          </a:solidFill>
          <a:ln w="19050">
            <a:solidFill>
              <a:srgbClr val="6B728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111827"/>
          </a:fontRef>
        </p:style>
        <p:txBody>
          <a:bodyPr rtlCol="0" anchor="t" wrap="square" lIns="228600" rIns="228600" tIns="137160" bIns="73152"/>
          <a:lstStyle>
            <a:lvl1pPr>
              <a:defRPr sz="2400">
                <a:solidFill>
                  <a:srgbClr val="111827"/>
                </a:solidFill>
              </a:defRPr>
            </a:lvl1pPr>
          </a:lstStyle>
          <a:p>
            <a:pPr algn="l">
              <a:spcAft>
                <a:spcPts val="200"/>
              </a:spcAft>
              <a:defRPr sz="2400">
                <a:solidFill>
                  <a:srgbClr val="111827"/>
                </a:solidFill>
              </a:defRPr>
            </a:pPr>
            <a:r>
              <a:rPr sz="2400" b="0">
                <a:solidFill>
                  <a:srgbClr val="111827"/>
                </a:solidFill>
                <a:latin typeface="Arial"/>
              </a:rPr>
              <a:t>Numerical Type (4 Marks)</a:t>
            </a:r>
            <a:endParaRPr sz="2400">
              <a:solidFill>
                <a:srgbClr val="111827"/>
              </a:solidFill>
            </a:endParaRPr>
          </a:p>
          <a:p>
            <a:pPr algn="l">
              <a:spcAft>
                <a:spcPts val="200"/>
              </a:spcAft>
              <a:defRPr sz="2400">
                <a:solidFill>
                  <a:srgbClr val="111827"/>
                </a:solidFill>
              </a:defRPr>
            </a:pPr>
            <a:r>
              <a:rPr sz="2400" b="0">
                <a:solidFill>
                  <a:srgbClr val="111827"/>
                </a:solidFill>
                <a:latin typeface="Arial"/>
              </a:rPr>
              <a:t>Concept(s) : Algebraic identities and factorisation, Second order derivative of trigonometric functions</a:t>
            </a:r>
            <a:endParaRPr sz="2400">
              <a:solidFill>
                <a:srgbClr val="111827"/>
              </a:solidFill>
            </a:endParaRPr>
          </a:p>
          <a:p>
            <a:pPr algn="l">
              <a:spcAft>
                <a:spcPts val="200"/>
              </a:spcAft>
              <a:defRPr sz="2400">
                <a:solidFill>
                  <a:srgbClr val="111827"/>
                </a:solidFill>
              </a:defRPr>
            </a:pPr>
            <a:r>
              <a:rPr sz="2400" b="0">
                <a:solidFill>
                  <a:srgbClr val="111827"/>
                </a:solidFill>
                <a:latin typeface="Arial"/>
              </a:rPr>
              <a:t>Difficulty Level: Level 2(A level below Average JEE Advanced Level)</a:t>
            </a:r>
            <a:endParaRPr sz="2400">
              <a:solidFill>
                <a:srgbClr val="111827"/>
              </a:solidFill>
            </a:endParaRPr>
          </a:p>
        </p:txBody>
      </p:sp>
    </p:spTree>
  </p:cSld>
  <p:clrMapOvr>
    <a:masterClrMapping/>
  </p:clrMapOvr>
</p:sld>
</file>

<file path=ppt/slides/slide9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FFFFFF"/>
          </a:fontRef>
        </p:style>
        <p:txBody>
          <a:bodyPr rtlCol="0" anchor="ctr" lIns="731520"/>
          <a:lstStyle>
            <a:lvl1pPr>
              <a:defRPr sz="3200">
                <a:solidFill>
                  <a:srgbClr val="FFFFFF"/>
                </a:solidFill>
              </a:defRPr>
            </a:lvl1pPr>
          </a:lstStyle>
          <a:p>
            <a:pPr algn="l">
              <a:defRPr sz="3200">
                <a:solidFill>
                  <a:srgbClr val="FFFFFF"/>
                </a:solidFill>
              </a:defRPr>
            </a:pPr>
            <a:r>
              <a:rPr sz="3200" b="1">
                <a:solidFill>
                  <a:srgbClr val="FFFFFF"/>
                </a:solidFill>
                <a:latin typeface="Arial"/>
              </a:rPr>
              <a:t>Question 14</a:t>
            </a:r>
            <a:endParaRPr sz="3200">
              <a:solidFill>
                <a:srgbClr val="FFFFFF"/>
              </a:solidFill>
            </a:endParaRPr>
          </a:p>
        </p:txBody>
      </p:sp>
      <p:sp>
        <p:nvSpPr>
          <p:cNvPr id="3" name="Rounded Rectangle 2"/>
          <p:cNvSpPr/>
          <p:nvPr/>
        </p:nvSpPr>
        <p:spPr>
          <a:xfrm>
            <a:off x="7894015" y="246887"/>
            <a:ext cx="3840480" cy="603504"/>
          </a:xfrm>
          <a:prstGeom prst="roundRect">
            <a:avLst>
              <a:gd name="adj" fmla="val 50000"/>
            </a:avLst>
          </a:prstGeom>
          <a:solidFill>
            <a:srgbClr val="FFD966"/>
          </a:solidFill>
          <a:ln w="1905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111827"/>
          </a:fontRef>
        </p:style>
        <p:txBody>
          <a:bodyPr rtlCol="0" anchor="ctr" wrap="square" lIns="228600" rIns="228600" tIns="18288" bIns="18288"/>
          <a:lstStyle>
            <a:lvl1pPr>
              <a:defRPr sz="2400">
                <a:solidFill>
                  <a:srgbClr val="111827"/>
                </a:solidFill>
              </a:defRPr>
            </a:lvl1pPr>
          </a:lstStyle>
          <a:p>
            <a:pPr algn="ctr">
              <a:defRPr sz="2400">
                <a:solidFill>
                  <a:srgbClr val="111827"/>
                </a:solidFill>
              </a:defRPr>
            </a:pPr>
            <a:r>
              <a:rPr sz="2400" b="1">
                <a:solidFill>
                  <a:srgbClr val="111827"/>
                </a:solidFill>
                <a:latin typeface="Arial"/>
              </a:rPr>
              <a:t>Level 2  ·  4 Marks</a:t>
            </a:r>
            <a:endParaRPr sz="2400">
              <a:solidFill>
                <a:srgbClr val="111827"/>
              </a:solidFill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4" name="Rounded Rectangle 3"/>
              <p:cNvSpPr/>
              <p:nvPr/>
            </p:nvSpPr>
            <p:spPr>
              <a:xfrm>
                <a:off x="731520" y="1280160"/>
                <a:ext cx="10725912" cy="1109472"/>
              </a:xfrm>
              <a:prstGeom prst="roundRect">
                <a:avLst>
                  <a:gd name="adj" fmla="val 8000"/>
                </a:avLst>
              </a:prstGeom>
              <a:solidFill>
                <a:srgbClr val="FDE68A"/>
              </a:solidFill>
              <a:ln w="31750">
                <a:solidFill>
                  <a:srgbClr val="D97706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78350F"/>
              </a:fontRef>
            </p:style>
            <p:txBody>
              <a:bodyPr rtlCol="0" anchor="ctr" wrap="square" lIns="228600" rIns="228600" tIns="54864" bIns="73152"/>
              <a:lstStyle>
                <a:lvl1pPr>
                  <a:defRPr sz="2400">
                    <a:solidFill>
                      <a:srgbClr val="78350F"/>
                    </a:solidFill>
                  </a:defRPr>
                </a:lvl1pPr>
              </a:lstStyle>
              <a:p>
                <a:pPr algn="l">
                  <a:defRPr sz="2400">
                    <a:solidFill>
                      <a:srgbClr val="78350F"/>
                    </a:solidFill>
                  </a:defRPr>
                </a:pPr>
                <a:r>
                  <a:rPr sz="2400" b="1">
                    <a:solidFill>
                      <a:srgbClr val="78350F"/>
                    </a:solidFill>
                    <a:latin typeface="Arial"/>
                  </a:rPr>
                  <a:t>Key idea:  </a:t>
                </a:r>
                <a14:m>
                  <m:oMath xmlns:m="http://schemas.openxmlformats.org/officeDocument/2006/math">
                    <m:sSup>
                      <m:e>
                        <m: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𝑃</m:t>
                        </m:r>
                      </m:e>
                      <m:sup>
                        <m: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4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+</m:t>
                    </m:r>
                    <m:sSup>
                      <m:e>
                        <m: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𝑃</m:t>
                        </m:r>
                      </m:e>
                      <m:sup>
                        <m: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1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(</m:t>
                    </m:r>
                    <m:sSup>
                      <m:e>
                        <m: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𝑃</m:t>
                        </m:r>
                      </m:e>
                      <m:sup>
                        <m: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𝑃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1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(</m:t>
                    </m:r>
                    <m:sSup>
                      <m:e>
                        <m: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𝑃</m:t>
                        </m:r>
                      </m:e>
                      <m:sup>
                        <m: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𝑃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1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 with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𝑃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sin</m:t>
                    </m:r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𝑥</m:t>
                    </m:r>
                  </m:oMath>
                </a14:m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 cancels the denominator.</a:t>
                </a:r>
                <a:endParaRPr sz="2400">
                  <a:solidFill>
                    <a:srgbClr val="78350F"/>
                  </a:solidFill>
                </a:endParaRPr>
              </a:p>
            </p:txBody>
          </p:sp>
        </mc:Choice>
        <mc:Fallback>
          <p:sp>
            <p:nvSpPr>
              <p:cNvPr id="4" name="Rounded Rectangle 3"/>
              <p:cNvSpPr/>
              <p:nvPr/>
            </p:nvSpPr>
            <p:spPr>
              <a:xfrm>
                <a:off x="731520" y="1280160"/>
                <a:ext cx="10725912" cy="1109472"/>
              </a:xfrm>
              <a:prstGeom prst="roundRect">
                <a:avLst>
                  <a:gd name="adj" fmla="val 8000"/>
                </a:avLst>
              </a:prstGeom>
              <a:solidFill>
                <a:srgbClr val="FDE68A"/>
              </a:solidFill>
              <a:ln w="31750">
                <a:solidFill>
                  <a:srgbClr val="D97706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78350F"/>
              </a:fontRef>
            </p:style>
            <p:txBody>
              <a:bodyPr rtlCol="0" anchor="ctr" wrap="square" lIns="228600" rIns="228600" tIns="54864" bIns="73152"/>
              <a:lstStyle>
                <a:lvl1pPr>
                  <a:defRPr sz="2400">
                    <a:solidFill>
                      <a:srgbClr val="78350F"/>
                    </a:solidFill>
                  </a:defRPr>
                </a:lvl1pPr>
              </a:lstStyle>
              <a:p>
                <a:pPr algn="l">
                  <a:defRPr sz="2400">
                    <a:solidFill>
                      <a:srgbClr val="78350F"/>
                    </a:solidFill>
                  </a:defRPr>
                </a:pPr>
                <a:r>
                  <a:rPr sz="2400" b="1">
                    <a:solidFill>
                      <a:srgbClr val="78350F"/>
                    </a:solidFill>
                    <a:latin typeface="Arial"/>
                  </a:rPr>
                  <a:t>Key idea:  </a:t>
                </a:r>
                <a:r>
                  <a:rPr lang="en-IN" sz="2400">
                    <a:solidFill>
                      <a:srgbClr val="78350F"/>
                    </a:solidFill>
                    <a:latin typeface="Cambria Math" panose="02040503050406030204" pitchFamily="18" charset="0"/>
                  </a:rPr>
                  <a:t>$P^4+P^2+1=(P^2-P+1)(P^2+P+1)$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 with </a:t>
                </a:r>
                <a:r>
                  <a:rPr lang="en-IN" sz="2400">
                    <a:solidFill>
                      <a:srgbClr val="78350F"/>
                    </a:solidFill>
                    <a:latin typeface="Cambria Math" panose="02040503050406030204" pitchFamily="18" charset="0"/>
                  </a:rPr>
                  <a:t>$P=\sin x$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 cancels the denominator.</a:t>
                </a:r>
                <a:endParaRPr sz="2400">
                  <a:solidFill>
                    <a:srgbClr val="78350F"/>
                  </a:solidFill>
                </a:endParaRP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5" name="Rectangle 4"/>
              <p:cNvSpPr/>
              <p:nvPr/>
            </p:nvSpPr>
            <p:spPr>
              <a:xfrm>
                <a:off x="731520" y="2526792"/>
                <a:ext cx="10725912" cy="4148328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With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𝑃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sin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: </a:t>
                </a:r>
                <a14:m>
                  <m:oMath xmlns:m="http://schemas.openxmlformats.org/officeDocument/2006/math"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𝑃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4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𝑃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𝑃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𝑃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𝑃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𝑃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Hence </a:t>
                </a:r>
                <a14:m>
                  <m:oMath xmlns:m="http://schemas.openxmlformats.org/officeDocument/2006/math"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sSup>
                          <m:e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𝑃</m:t>
                            </m:r>
                          </m:e>
                          <m:sup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4</m:t>
                            </m:r>
                          </m:sup>
                        </m:sSup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+</m:t>
                        </m:r>
                        <m:sSup>
                          <m:e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𝑃</m:t>
                            </m:r>
                          </m:e>
                          <m:sup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2</m:t>
                            </m:r>
                          </m:sup>
                        </m:sSup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+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num>
                      <m:den>
                        <m:sSup>
                          <m:e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𝑃</m:t>
                            </m:r>
                          </m:e>
                          <m:sup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2</m:t>
                            </m:r>
                          </m:sup>
                        </m:sSup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+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𝑃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+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den>
                    </m:f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𝑃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𝑃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i.e. </a:t>
                </a:r>
                <a14:m>
                  <m:oMath xmlns:m="http://schemas.openxmlformats.org/officeDocument/2006/math"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sSup>
                          <m:e>
                            <m:r>
                              <m:rPr>
                                <m:sty m:val="p"/>
                              </m:rPr>
                              <a:rPr lang="en-IN" sz="2400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sin</m:t>
                            </m:r>
                          </m:e>
                          <m:sup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4</m:t>
                            </m:r>
                          </m:sup>
                        </m:s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+</m:t>
                        </m:r>
                        <m:sSup>
                          <m:e>
                            <m:r>
                              <m:rPr>
                                <m:sty m:val="p"/>
                              </m:rPr>
                              <a:rPr lang="en-IN" sz="2400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sin</m:t>
                            </m:r>
                          </m:e>
                          <m:sup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2</m:t>
                            </m:r>
                          </m:sup>
                        </m:s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+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num>
                      <m:den>
                        <m:sSup>
                          <m:e>
                            <m:r>
                              <m:rPr>
                                <m:sty m:val="p"/>
                              </m:rPr>
                              <a:rPr lang="en-IN" sz="2400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sin</m:t>
                            </m:r>
                          </m:e>
                          <m:sup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2</m:t>
                            </m:r>
                          </m:sup>
                        </m:s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+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sin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+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den>
                    </m:f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sSup>
                      <m:e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sin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sin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14:m>
                  <m:oMath xmlns:m="http://schemas.openxmlformats.org/officeDocument/2006/math"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sSup>
                          <m:e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𝑑</m:t>
                            </m:r>
                          </m:e>
                          <m:sup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2</m:t>
                            </m:r>
                          </m:sup>
                        </m:sSup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𝑑</m:t>
                        </m:r>
                        <m:sSup>
                          <m:e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𝑥</m:t>
                            </m:r>
                          </m:e>
                          <m:sup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2</m:t>
                            </m:r>
                          </m:sup>
                        </m:sSup>
                      </m:den>
                    </m:f>
                    <m:d>
                      <m:dPr>
                        <m:begChr m:val="("/>
                        <m:sepChr m:val=""/>
                        <m:endChr m:val=")"/>
                        <m:grow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sSup>
                          <m:e>
                            <m:r>
                              <m:rPr>
                                <m:sty m:val="p"/>
                              </m:rPr>
                              <a:rPr lang="en-IN" sz="2400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sin</m:t>
                            </m:r>
                          </m:e>
                          <m:sup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2</m:t>
                            </m:r>
                          </m:sup>
                        </m:s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−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sin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+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e>
                    </m:d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cos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sin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Choice>
        <mc:Fallback>
          <p:sp>
            <p:nvSpPr>
              <p:cNvPr id="5" name="Rectangle 4"/>
              <p:cNvSpPr/>
              <p:nvPr/>
            </p:nvSpPr>
            <p:spPr>
              <a:xfrm>
                <a:off x="731520" y="2526792"/>
                <a:ext cx="10725912" cy="4148328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With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$P=\sin x$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: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$P^4+P^2+1=(P^2-P+1)(P^2+P+1)$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Hence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$\frac{P^4+P^2+1}{P^2+P+1}=P^2-P+1$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i.e.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$\frac{\sin^4x+\sin^2x+1}{\sin^2x+\sin x+1}=\sin^2x-\sin x+1$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$\frac{d^2}{dx^2}\left(\sin^2x-\sin x+1\right)=2\cos2x+\sin x$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Fallback>
      </mc:AlternateContent>
    </p:spTree>
  </p:cSld>
  <p:clrMapOvr>
    <a:masterClrMapping/>
  </p:clrMapOvr>
</p:sld>
</file>

<file path=ppt/slides/slide9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FFFFFF"/>
          </a:fontRef>
        </p:style>
        <p:txBody>
          <a:bodyPr rtlCol="0" anchor="ctr" lIns="731520"/>
          <a:lstStyle>
            <a:lvl1pPr>
              <a:defRPr sz="3200">
                <a:solidFill>
                  <a:srgbClr val="FFFFFF"/>
                </a:solidFill>
              </a:defRPr>
            </a:lvl1pPr>
          </a:lstStyle>
          <a:p>
            <a:pPr algn="l">
              <a:defRPr sz="3200">
                <a:solidFill>
                  <a:srgbClr val="FFFFFF"/>
                </a:solidFill>
              </a:defRPr>
            </a:pPr>
            <a:r>
              <a:rPr sz="3200" b="1">
                <a:solidFill>
                  <a:srgbClr val="FFFFFF"/>
                </a:solidFill>
                <a:latin typeface="Arial"/>
              </a:rPr>
              <a:t>Question 14</a:t>
            </a:r>
            <a:endParaRPr sz="3200">
              <a:solidFill>
                <a:srgbClr val="FFFFFF"/>
              </a:solidFill>
            </a:endParaRPr>
          </a:p>
        </p:txBody>
      </p:sp>
      <p:sp>
        <p:nvSpPr>
          <p:cNvPr id="3" name="Rounded Rectangle 2"/>
          <p:cNvSpPr/>
          <p:nvPr/>
        </p:nvSpPr>
        <p:spPr>
          <a:xfrm>
            <a:off x="7894015" y="246887"/>
            <a:ext cx="3840480" cy="603504"/>
          </a:xfrm>
          <a:prstGeom prst="roundRect">
            <a:avLst>
              <a:gd name="adj" fmla="val 50000"/>
            </a:avLst>
          </a:prstGeom>
          <a:solidFill>
            <a:srgbClr val="FFD966"/>
          </a:solidFill>
          <a:ln w="1905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111827"/>
          </a:fontRef>
        </p:style>
        <p:txBody>
          <a:bodyPr rtlCol="0" anchor="ctr" wrap="square" lIns="228600" rIns="228600" tIns="18288" bIns="18288"/>
          <a:lstStyle>
            <a:lvl1pPr>
              <a:defRPr sz="2400">
                <a:solidFill>
                  <a:srgbClr val="111827"/>
                </a:solidFill>
              </a:defRPr>
            </a:lvl1pPr>
          </a:lstStyle>
          <a:p>
            <a:pPr algn="ctr">
              <a:defRPr sz="2400">
                <a:solidFill>
                  <a:srgbClr val="111827"/>
                </a:solidFill>
              </a:defRPr>
            </a:pPr>
            <a:r>
              <a:rPr sz="2400" b="1">
                <a:solidFill>
                  <a:srgbClr val="111827"/>
                </a:solidFill>
                <a:latin typeface="Arial"/>
              </a:rPr>
              <a:t>Level 2  ·  4 Marks</a:t>
            </a:r>
            <a:endParaRPr sz="2400">
              <a:solidFill>
                <a:srgbClr val="111827"/>
              </a:solidFill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4" name="Rectangle 3"/>
              <p:cNvSpPr/>
              <p:nvPr/>
            </p:nvSpPr>
            <p:spPr>
              <a:xfrm>
                <a:off x="731520" y="1353312"/>
                <a:ext cx="10725912" cy="4434840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cos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sin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  <m:d>
                      <m:dPr>
                        <m:begChr m:val="("/>
                        <m:sepChr m:val=""/>
                        <m:endChr m:val=")"/>
                        <m:grow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−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  <m:sSup>
                          <m:e>
                            <m:r>
                              <m:rPr>
                                <m:sty m:val="p"/>
                              </m:rPr>
                              <a:rPr lang="en-IN" sz="2400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sin</m:t>
                            </m:r>
                          </m:e>
                          <m:sup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2</m:t>
                            </m:r>
                          </m:sup>
                        </m:s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</m:d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sin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4</m:t>
                    </m:r>
                    <m:sSup>
                      <m:e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sin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sin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Comparing with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𝑎</m:t>
                    </m:r>
                    <m:sSup>
                      <m:e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sin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𝑏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sin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𝑐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: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𝑎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4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𝑏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𝑐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𝑏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𝑐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𝑎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4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7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Choice>
        <mc:Fallback>
          <p:sp>
            <p:nvSpPr>
              <p:cNvPr id="4" name="Rectangle 3"/>
              <p:cNvSpPr/>
              <p:nvPr/>
            </p:nvSpPr>
            <p:spPr>
              <a:xfrm>
                <a:off x="731520" y="1353312"/>
                <a:ext cx="10725912" cy="4434840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$2\cos2x+\sin x=2\left(1-2\sin^2x\right)+\sin x=-4\sin^2x+\sin x+2$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Comparing with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$a\sin^2x+b\sin x+c$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: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$a=-4$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$b=1$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$c=2$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$b+c-a=1+2+4=7$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5" name="Rounded Rectangle 4"/>
              <p:cNvSpPr/>
              <p:nvPr/>
            </p:nvSpPr>
            <p:spPr>
              <a:xfrm>
                <a:off x="731520" y="5897880"/>
                <a:ext cx="10725912" cy="777240"/>
              </a:xfrm>
              <a:prstGeom prst="roundRect">
                <a:avLst>
                  <a:gd name="adj" fmla="val 8000"/>
                </a:avLst>
              </a:prstGeom>
              <a:solidFill>
                <a:srgbClr val="DCFCE7"/>
              </a:solidFill>
              <a:ln w="25400">
                <a:solidFill>
                  <a:srgbClr val="15803D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5803D"/>
              </a:fontRef>
            </p:style>
            <p:txBody>
              <a:bodyPr rtlCol="0" anchor="ctr" wrap="square" lIns="228600" rIns="228600" tIns="18288" bIns="73152"/>
              <a:lstStyle>
                <a:lvl1pPr>
                  <a:defRPr sz="2800">
                    <a:solidFill>
                      <a:srgbClr val="15803D"/>
                    </a:solidFill>
                  </a:defRPr>
                </a:lvl1pPr>
              </a:lstStyle>
              <a:p>
                <a:pPr algn="ctr">
                  <a:defRPr sz="2800">
                    <a:solidFill>
                      <a:srgbClr val="15803D"/>
                    </a:solidFill>
                  </a:defRPr>
                </a:pPr>
                <a:r>
                  <a:rPr sz="2800" b="1">
                    <a:solidFill>
                      <a:srgbClr val="15803D"/>
                    </a:solidFill>
                    <a:latin typeface="Arial"/>
                  </a:rPr>
                  <a:t>Correct Answer: </a:t>
                </a:r>
                <a14:m>
                  <m:oMath xmlns:m="http://schemas.openxmlformats.org/officeDocument/2006/math">
                    <m:r>
                      <a:rPr lang="en-IN" sz="2800" i="1">
                        <a:solidFill>
                          <a:srgbClr val="15803D"/>
                        </a:solidFill>
                        <a:latin typeface="Cambria Math" panose="02040503050406030204" pitchFamily="18" charset="0"/>
                      </a:rPr>
                      <m:t>7</m:t>
                    </m:r>
                  </m:oMath>
                </a14:m>
                <a:endParaRPr sz="2800">
                  <a:solidFill>
                    <a:srgbClr val="15803D"/>
                  </a:solidFill>
                </a:endParaRPr>
              </a:p>
            </p:txBody>
          </p:sp>
        </mc:Choice>
        <mc:Fallback>
          <p:sp>
            <p:nvSpPr>
              <p:cNvPr id="5" name="Rounded Rectangle 4"/>
              <p:cNvSpPr/>
              <p:nvPr/>
            </p:nvSpPr>
            <p:spPr>
              <a:xfrm>
                <a:off x="731520" y="5897880"/>
                <a:ext cx="10725912" cy="777240"/>
              </a:xfrm>
              <a:prstGeom prst="roundRect">
                <a:avLst>
                  <a:gd name="adj" fmla="val 8000"/>
                </a:avLst>
              </a:prstGeom>
              <a:solidFill>
                <a:srgbClr val="DCFCE7"/>
              </a:solidFill>
              <a:ln w="25400">
                <a:solidFill>
                  <a:srgbClr val="15803D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5803D"/>
              </a:fontRef>
            </p:style>
            <p:txBody>
              <a:bodyPr rtlCol="0" anchor="ctr" wrap="square" lIns="228600" rIns="228600" tIns="18288" bIns="73152"/>
              <a:lstStyle>
                <a:lvl1pPr>
                  <a:defRPr sz="2800">
                    <a:solidFill>
                      <a:srgbClr val="15803D"/>
                    </a:solidFill>
                  </a:defRPr>
                </a:lvl1pPr>
              </a:lstStyle>
              <a:p>
                <a:pPr algn="ctr">
                  <a:defRPr sz="2800">
                    <a:solidFill>
                      <a:srgbClr val="15803D"/>
                    </a:solidFill>
                  </a:defRPr>
                </a:pPr>
                <a:r>
                  <a:rPr sz="2800" b="1">
                    <a:solidFill>
                      <a:srgbClr val="15803D"/>
                    </a:solidFill>
                    <a:latin typeface="Arial"/>
                  </a:rPr>
                  <a:t>Correct Answer: </a:t>
                </a:r>
                <a:r>
                  <a:rPr lang="en-IN" sz="2800">
                    <a:solidFill>
                      <a:srgbClr val="15803D"/>
                    </a:solidFill>
                    <a:latin typeface="Cambria Math" panose="02040503050406030204" pitchFamily="18" charset="0"/>
                  </a:rPr>
                  <a:t>$7$</a:t>
                </a:r>
                <a:endParaRPr sz="2800">
                  <a:solidFill>
                    <a:srgbClr val="15803D"/>
                  </a:solidFill>
                </a:endParaRPr>
              </a:p>
            </p:txBody>
          </p:sp>
        </mc:Fallback>
      </mc:AlternateContent>
    </p:spTree>
  </p:cSld>
  <p:clrMapOvr>
    <a:masterClrMapping/>
  </p:clrMapOvr>
</p:sld>
</file>

<file path=ppt/slides/slide9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FFFFFF"/>
          </a:fontRef>
        </p:style>
        <p:txBody>
          <a:bodyPr rtlCol="0" anchor="ctr" lIns="731520"/>
          <a:lstStyle>
            <a:lvl1pPr>
              <a:defRPr sz="3200">
                <a:solidFill>
                  <a:srgbClr val="FFFFFF"/>
                </a:solidFill>
              </a:defRPr>
            </a:lvl1pPr>
          </a:lstStyle>
          <a:p>
            <a:pPr algn="l">
              <a:defRPr sz="3200">
                <a:solidFill>
                  <a:srgbClr val="FFFFFF"/>
                </a:solidFill>
              </a:defRPr>
            </a:pPr>
            <a:r>
              <a:rPr sz="3200" b="1">
                <a:solidFill>
                  <a:srgbClr val="FFFFFF"/>
                </a:solidFill>
                <a:latin typeface="Arial"/>
              </a:rPr>
              <a:t>Question 14</a:t>
            </a:r>
            <a:endParaRPr sz="3200">
              <a:solidFill>
                <a:srgbClr val="FFFFFF"/>
              </a:solidFill>
            </a:endParaRPr>
          </a:p>
        </p:txBody>
      </p:sp>
      <p:sp>
        <p:nvSpPr>
          <p:cNvPr id="3" name="Rounded Rectangle 2"/>
          <p:cNvSpPr/>
          <p:nvPr/>
        </p:nvSpPr>
        <p:spPr>
          <a:xfrm>
            <a:off x="7894015" y="246887"/>
            <a:ext cx="3840480" cy="603504"/>
          </a:xfrm>
          <a:prstGeom prst="roundRect">
            <a:avLst>
              <a:gd name="adj" fmla="val 50000"/>
            </a:avLst>
          </a:prstGeom>
          <a:solidFill>
            <a:srgbClr val="FFD966"/>
          </a:solidFill>
          <a:ln w="1905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111827"/>
          </a:fontRef>
        </p:style>
        <p:txBody>
          <a:bodyPr rtlCol="0" anchor="ctr" wrap="square" lIns="228600" rIns="228600" tIns="18288" bIns="18288"/>
          <a:lstStyle>
            <a:lvl1pPr>
              <a:defRPr sz="2400">
                <a:solidFill>
                  <a:srgbClr val="111827"/>
                </a:solidFill>
              </a:defRPr>
            </a:lvl1pPr>
          </a:lstStyle>
          <a:p>
            <a:pPr algn="ctr">
              <a:defRPr sz="2400">
                <a:solidFill>
                  <a:srgbClr val="111827"/>
                </a:solidFill>
              </a:defRPr>
            </a:pPr>
            <a:r>
              <a:rPr sz="2400" b="1">
                <a:solidFill>
                  <a:srgbClr val="111827"/>
                </a:solidFill>
                <a:latin typeface="Arial"/>
              </a:rPr>
              <a:t>Level 2  ·  4 Marks</a:t>
            </a:r>
            <a:endParaRPr sz="2400">
              <a:solidFill>
                <a:srgbClr val="111827"/>
              </a:solidFill>
            </a:endParaRPr>
          </a:p>
        </p:txBody>
      </p:sp>
      <p:sp>
        <p:nvSpPr>
          <p:cNvPr id="4" name="Rounded Rectangle 3"/>
          <p:cNvSpPr/>
          <p:nvPr/>
        </p:nvSpPr>
        <p:spPr>
          <a:xfrm>
            <a:off x="3520440" y="265176"/>
            <a:ext cx="4206240" cy="566928"/>
          </a:xfrm>
          <a:prstGeom prst="roundRect">
            <a:avLst>
              <a:gd name="adj" fmla="val 50000"/>
            </a:avLst>
          </a:prstGeom>
          <a:solidFill>
            <a:srgbClr val="E0ECFF"/>
          </a:solidFill>
          <a:ln w="25400">
            <a:solidFill>
              <a:srgbClr val="1D4ED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0B1F3A"/>
          </a:fontRef>
        </p:style>
        <p:txBody>
          <a:bodyPr rtlCol="0" anchor="ctr" wrap="square" lIns="228600" rIns="228600" tIns="18288" bIns="18288"/>
          <a:lstStyle>
            <a:lvl1pPr>
              <a:defRPr sz="2200">
                <a:solidFill>
                  <a:srgbClr val="0B1F3A"/>
                </a:solidFill>
              </a:defRPr>
            </a:lvl1pPr>
          </a:lstStyle>
          <a:p>
            <a:pPr algn="ctr">
              <a:defRPr sz="2200">
                <a:solidFill>
                  <a:srgbClr val="0B1F3A"/>
                </a:solidFill>
              </a:defRPr>
            </a:pPr>
            <a:r>
              <a:rPr sz="2200" b="1">
                <a:solidFill>
                  <a:srgbClr val="0B1F3A"/>
                </a:solidFill>
                <a:latin typeface="Arial"/>
              </a:rPr>
              <a:t>Useful Result / Pattern</a:t>
            </a:r>
            <a:endParaRPr sz="2200">
              <a:solidFill>
                <a:srgbClr val="0B1F3A"/>
              </a:solidFill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5" name="Rectangle 4"/>
              <p:cNvSpPr/>
              <p:nvPr/>
            </p:nvSpPr>
            <p:spPr>
              <a:xfrm>
                <a:off x="731520" y="1353312"/>
                <a:ext cx="10725912" cy="5321808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14:m>
                  <m:oMath xmlns:m="http://schemas.openxmlformats.org/officeDocument/2006/math"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𝑡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4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𝑡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𝑡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𝑡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𝑡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𝑡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(difference of squares: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𝑡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  <m:sSup>
                      <m:e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)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𝑡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); in general </a:t>
                </a:r>
                <a14:m>
                  <m:oMath xmlns:m="http://schemas.openxmlformats.org/officeDocument/2006/math"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𝑡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4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𝑡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𝑘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𝑘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4</m:t>
                        </m:r>
                      </m:sup>
                    </m:sSup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factors the same way.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14:m>
                  <m:oMath xmlns:m="http://schemas.openxmlformats.org/officeDocument/2006/math"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sSup>
                          <m:e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𝑑</m:t>
                            </m:r>
                          </m:e>
                          <m:sup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2</m:t>
                            </m:r>
                          </m:sup>
                        </m:sSup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𝑑</m:t>
                        </m:r>
                        <m:sSup>
                          <m:e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𝑥</m:t>
                            </m:r>
                          </m:e>
                          <m:sup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2</m:t>
                            </m:r>
                          </m:sup>
                        </m:sSup>
                      </m:den>
                    </m:f>
                    <m:sSup>
                      <m:e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sin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cos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and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cos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  <m:sSup>
                      <m:e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sin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: second derivatives of </a:t>
                </a:r>
                <a14:m>
                  <m:oMath xmlns:m="http://schemas.openxmlformats.org/officeDocument/2006/math">
                    <m:sSup>
                      <m:e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sin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stay polynomial in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sin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Always simplify a quotient of polynomials in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sin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before differentiating.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Choice>
        <mc:Fallback>
          <p:sp>
            <p:nvSpPr>
              <p:cNvPr id="5" name="Rectangle 4"/>
              <p:cNvSpPr/>
              <p:nvPr/>
            </p:nvSpPr>
            <p:spPr>
              <a:xfrm>
                <a:off x="731520" y="1353312"/>
                <a:ext cx="10725912" cy="5321808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$t^4+t^2+1=(t^2+t+1)(t^2-t+1)$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(difference of squares: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$(t^2+1)^2-t^2$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); in general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$t^4+t^2k^2+k^4$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factors the same way.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$\frac{d^2}{dx^2}\sin^2x=2\cos2x$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and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$\cos2x=1-2\sin^2x$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: second derivatives of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$\sin^2x$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stay polynomial in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$\sin x$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Always simplify a quotient of polynomials in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$\sin x$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before differentiating.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Fallback>
      </mc:AlternateContent>
    </p:spTree>
  </p:cSld>
  <p:clrMapOvr>
    <a:masterClrMapping/>
  </p:clrMapOvr>
</p:sld>
</file>

<file path=ppt/slides/slide9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FFFFFF"/>
          </a:fontRef>
        </p:style>
        <p:txBody>
          <a:bodyPr rtlCol="0" anchor="ctr" lIns="731520"/>
          <a:lstStyle>
            <a:lvl1pPr>
              <a:defRPr sz="3200">
                <a:solidFill>
                  <a:srgbClr val="FFFFFF"/>
                </a:solidFill>
              </a:defRPr>
            </a:lvl1pPr>
          </a:lstStyle>
          <a:p>
            <a:pPr algn="l">
              <a:defRPr sz="3200">
                <a:solidFill>
                  <a:srgbClr val="FFFFFF"/>
                </a:solidFill>
              </a:defRPr>
            </a:pPr>
            <a:r>
              <a:rPr sz="3200" b="1">
                <a:solidFill>
                  <a:srgbClr val="FFFFFF"/>
                </a:solidFill>
                <a:latin typeface="Arial"/>
              </a:rPr>
              <a:t>Question 15</a:t>
            </a:r>
            <a:endParaRPr sz="3200">
              <a:solidFill>
                <a:srgbClr val="FFFFFF"/>
              </a:solidFill>
            </a:endParaRPr>
          </a:p>
        </p:txBody>
      </p:sp>
      <p:sp>
        <p:nvSpPr>
          <p:cNvPr id="3" name="Rounded Rectangle 2"/>
          <p:cNvSpPr/>
          <p:nvPr/>
        </p:nvSpPr>
        <p:spPr>
          <a:xfrm>
            <a:off x="7894015" y="246887"/>
            <a:ext cx="3840480" cy="603504"/>
          </a:xfrm>
          <a:prstGeom prst="roundRect">
            <a:avLst>
              <a:gd name="adj" fmla="val 50000"/>
            </a:avLst>
          </a:prstGeom>
          <a:solidFill>
            <a:srgbClr val="FFD966"/>
          </a:solidFill>
          <a:ln w="1905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111827"/>
          </a:fontRef>
        </p:style>
        <p:txBody>
          <a:bodyPr rtlCol="0" anchor="ctr" wrap="square" lIns="228600" rIns="228600" tIns="18288" bIns="18288"/>
          <a:lstStyle>
            <a:lvl1pPr>
              <a:defRPr sz="2400">
                <a:solidFill>
                  <a:srgbClr val="111827"/>
                </a:solidFill>
              </a:defRPr>
            </a:lvl1pPr>
          </a:lstStyle>
          <a:p>
            <a:pPr algn="ctr">
              <a:defRPr sz="2400">
                <a:solidFill>
                  <a:srgbClr val="111827"/>
                </a:solidFill>
              </a:defRPr>
            </a:pPr>
            <a:r>
              <a:rPr sz="2400" b="1">
                <a:solidFill>
                  <a:srgbClr val="111827"/>
                </a:solidFill>
                <a:latin typeface="Arial"/>
              </a:rPr>
              <a:t>Level 2  ·  4 Marks</a:t>
            </a:r>
            <a:endParaRPr sz="2400">
              <a:solidFill>
                <a:srgbClr val="111827"/>
              </a:solidFill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4" name="Rounded Rectangle 3"/>
              <p:cNvSpPr/>
              <p:nvPr/>
            </p:nvSpPr>
            <p:spPr>
              <a:xfrm>
                <a:off x="731520" y="1280160"/>
                <a:ext cx="10725912" cy="1737360"/>
              </a:xfrm>
              <a:prstGeom prst="roundRect">
                <a:avLst>
                  <a:gd name="adj" fmla="val 8000"/>
                </a:avLst>
              </a:prstGeom>
              <a:solidFill>
                <a:srgbClr val="E0ECFF"/>
              </a:solidFill>
              <a:ln w="25400">
                <a:solidFill>
                  <a:srgbClr val="1D4ED8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>
                  <a:spcAft>
                    <a:spcPts val="500"/>
                  </a:spcAft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Let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𝑓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sSup>
                          <m:e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𝑥</m:t>
                            </m:r>
                          </m:e>
                          <m:sup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2</m:t>
                            </m:r>
                          </m:sup>
                        </m:sSup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den>
                    </m:f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sSup>
                          <m:e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𝑥</m:t>
                            </m:r>
                          </m:e>
                          <m:sup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3</m:t>
                            </m:r>
                          </m:sup>
                        </m:sSup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3</m:t>
                        </m:r>
                      </m:den>
                    </m:f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sSup>
                          <m:e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𝑥</m:t>
                            </m:r>
                          </m:e>
                          <m:sup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4</m:t>
                            </m:r>
                          </m:sup>
                        </m:sSup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4</m:t>
                        </m:r>
                      </m:den>
                    </m:f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sSup>
                          <m:e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𝑥</m:t>
                            </m:r>
                          </m:e>
                          <m:sup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5</m:t>
                            </m:r>
                          </m:sup>
                        </m:sSup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5</m:t>
                        </m:r>
                      </m:den>
                    </m:f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and let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𝑔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𝑓</m:t>
                        </m:r>
                      </m:e>
                      <m:sup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−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 Find </a:t>
                </a:r>
                <a14:m>
                  <m:oMath xmlns:m="http://schemas.openxmlformats.org/officeDocument/2006/math"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𝑔</m:t>
                        </m:r>
                      </m:e>
                      <m:sup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‴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0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Choice>
        <mc:Fallback>
          <p:sp>
            <p:nvSpPr>
              <p:cNvPr id="4" name="Rounded Rectangle 3"/>
              <p:cNvSpPr/>
              <p:nvPr/>
            </p:nvSpPr>
            <p:spPr>
              <a:xfrm>
                <a:off x="731520" y="1280160"/>
                <a:ext cx="10725912" cy="1737360"/>
              </a:xfrm>
              <a:prstGeom prst="roundRect">
                <a:avLst>
                  <a:gd name="adj" fmla="val 8000"/>
                </a:avLst>
              </a:prstGeom>
              <a:solidFill>
                <a:srgbClr val="E0ECFF"/>
              </a:solidFill>
              <a:ln w="25400">
                <a:solidFill>
                  <a:srgbClr val="1D4ED8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>
                  <a:spcAft>
                    <a:spcPts val="500"/>
                  </a:spcAft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Let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$f(x)=x+\frac{x^2}{2}+\frac{x^3}{3}+\frac{x^4}{4}+\frac{x^5}{5}$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and let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$g(x)=f^{-1}(x)$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 Find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$g'''(0)$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Fallback>
      </mc:AlternateContent>
      <p:sp>
        <p:nvSpPr>
          <p:cNvPr id="5" name="Rectangle 4"/>
          <p:cNvSpPr/>
          <p:nvPr/>
        </p:nvSpPr>
        <p:spPr>
          <a:xfrm>
            <a:off x="731520" y="3246120"/>
            <a:ext cx="10725912" cy="2194560"/>
          </a:xfrm>
          <a:prstGeom prst="rect">
            <a:avLst/>
          </a:prstGeom>
          <a:solidFill>
            <a:srgbClr val="FFFFFF"/>
          </a:solidFill>
          <a:ln w="19050">
            <a:solidFill>
              <a:srgbClr val="6B728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111827"/>
          </a:fontRef>
        </p:style>
        <p:txBody>
          <a:bodyPr rtlCol="0" anchor="t" wrap="square" lIns="228600" rIns="228600" tIns="137160" bIns="73152"/>
          <a:lstStyle>
            <a:lvl1pPr>
              <a:defRPr sz="2400">
                <a:solidFill>
                  <a:srgbClr val="111827"/>
                </a:solidFill>
              </a:defRPr>
            </a:lvl1pPr>
          </a:lstStyle>
          <a:p>
            <a:pPr algn="l">
              <a:spcAft>
                <a:spcPts val="200"/>
              </a:spcAft>
              <a:defRPr sz="2400">
                <a:solidFill>
                  <a:srgbClr val="111827"/>
                </a:solidFill>
              </a:defRPr>
            </a:pPr>
            <a:r>
              <a:rPr sz="2400" b="0">
                <a:solidFill>
                  <a:srgbClr val="111827"/>
                </a:solidFill>
                <a:latin typeface="Arial"/>
              </a:rPr>
              <a:t>Numerical Type (4 Marks)</a:t>
            </a:r>
            <a:endParaRPr sz="2400">
              <a:solidFill>
                <a:srgbClr val="111827"/>
              </a:solidFill>
            </a:endParaRPr>
          </a:p>
          <a:p>
            <a:pPr algn="l">
              <a:spcAft>
                <a:spcPts val="200"/>
              </a:spcAft>
              <a:defRPr sz="2400">
                <a:solidFill>
                  <a:srgbClr val="111827"/>
                </a:solidFill>
              </a:defRPr>
            </a:pPr>
            <a:r>
              <a:rPr sz="2400" b="0">
                <a:solidFill>
                  <a:srgbClr val="111827"/>
                </a:solidFill>
                <a:latin typeface="Arial"/>
              </a:rPr>
              <a:t>Concept(s) : Derivatives of inverse functions, Higher order derivatives</a:t>
            </a:r>
            <a:endParaRPr sz="2400">
              <a:solidFill>
                <a:srgbClr val="111827"/>
              </a:solidFill>
            </a:endParaRPr>
          </a:p>
          <a:p>
            <a:pPr algn="l">
              <a:spcAft>
                <a:spcPts val="200"/>
              </a:spcAft>
              <a:defRPr sz="2400">
                <a:solidFill>
                  <a:srgbClr val="111827"/>
                </a:solidFill>
              </a:defRPr>
            </a:pPr>
            <a:r>
              <a:rPr sz="2400" b="0">
                <a:solidFill>
                  <a:srgbClr val="111827"/>
                </a:solidFill>
                <a:latin typeface="Arial"/>
              </a:rPr>
              <a:t>Difficulty Level: Level 2(A level below Average JEE Advanced Level)</a:t>
            </a:r>
            <a:endParaRPr sz="2400">
              <a:solidFill>
                <a:srgbClr val="111827"/>
              </a:solidFill>
            </a:endParaRPr>
          </a:p>
        </p:txBody>
      </p:sp>
    </p:spTree>
  </p:cSld>
  <p:clrMapOvr>
    <a:masterClrMapping/>
  </p:clrMapOvr>
</p:sld>
</file>

<file path=ppt/slides/slide9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FFFFFF"/>
          </a:fontRef>
        </p:style>
        <p:txBody>
          <a:bodyPr rtlCol="0" anchor="ctr" lIns="731520"/>
          <a:lstStyle>
            <a:lvl1pPr>
              <a:defRPr sz="3200">
                <a:solidFill>
                  <a:srgbClr val="FFFFFF"/>
                </a:solidFill>
              </a:defRPr>
            </a:lvl1pPr>
          </a:lstStyle>
          <a:p>
            <a:pPr algn="l">
              <a:defRPr sz="3200">
                <a:solidFill>
                  <a:srgbClr val="FFFFFF"/>
                </a:solidFill>
              </a:defRPr>
            </a:pPr>
            <a:r>
              <a:rPr sz="3200" b="1">
                <a:solidFill>
                  <a:srgbClr val="FFFFFF"/>
                </a:solidFill>
                <a:latin typeface="Arial"/>
              </a:rPr>
              <a:t>Question 15</a:t>
            </a:r>
            <a:endParaRPr sz="3200">
              <a:solidFill>
                <a:srgbClr val="FFFFFF"/>
              </a:solidFill>
            </a:endParaRPr>
          </a:p>
        </p:txBody>
      </p:sp>
      <p:sp>
        <p:nvSpPr>
          <p:cNvPr id="3" name="Rounded Rectangle 2"/>
          <p:cNvSpPr/>
          <p:nvPr/>
        </p:nvSpPr>
        <p:spPr>
          <a:xfrm>
            <a:off x="7894015" y="246887"/>
            <a:ext cx="3840480" cy="603504"/>
          </a:xfrm>
          <a:prstGeom prst="roundRect">
            <a:avLst>
              <a:gd name="adj" fmla="val 50000"/>
            </a:avLst>
          </a:prstGeom>
          <a:solidFill>
            <a:srgbClr val="FFD966"/>
          </a:solidFill>
          <a:ln w="1905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111827"/>
          </a:fontRef>
        </p:style>
        <p:txBody>
          <a:bodyPr rtlCol="0" anchor="ctr" wrap="square" lIns="228600" rIns="228600" tIns="18288" bIns="18288"/>
          <a:lstStyle>
            <a:lvl1pPr>
              <a:defRPr sz="2400">
                <a:solidFill>
                  <a:srgbClr val="111827"/>
                </a:solidFill>
              </a:defRPr>
            </a:lvl1pPr>
          </a:lstStyle>
          <a:p>
            <a:pPr algn="ctr">
              <a:defRPr sz="2400">
                <a:solidFill>
                  <a:srgbClr val="111827"/>
                </a:solidFill>
              </a:defRPr>
            </a:pPr>
            <a:r>
              <a:rPr sz="2400" b="1">
                <a:solidFill>
                  <a:srgbClr val="111827"/>
                </a:solidFill>
                <a:latin typeface="Arial"/>
              </a:rPr>
              <a:t>Level 2  ·  4 Marks</a:t>
            </a:r>
            <a:endParaRPr sz="2400">
              <a:solidFill>
                <a:srgbClr val="111827"/>
              </a:solidFill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4" name="Rounded Rectangle 3"/>
              <p:cNvSpPr/>
              <p:nvPr/>
            </p:nvSpPr>
            <p:spPr>
              <a:xfrm>
                <a:off x="731520" y="1280160"/>
                <a:ext cx="10725912" cy="1109472"/>
              </a:xfrm>
              <a:prstGeom prst="roundRect">
                <a:avLst>
                  <a:gd name="adj" fmla="val 8000"/>
                </a:avLst>
              </a:prstGeom>
              <a:solidFill>
                <a:srgbClr val="FDE68A"/>
              </a:solidFill>
              <a:ln w="31750">
                <a:solidFill>
                  <a:srgbClr val="D97706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78350F"/>
              </a:fontRef>
            </p:style>
            <p:txBody>
              <a:bodyPr rtlCol="0" anchor="ctr" wrap="square" lIns="228600" rIns="228600" tIns="54864" bIns="73152"/>
              <a:lstStyle>
                <a:lvl1pPr>
                  <a:defRPr sz="2400">
                    <a:solidFill>
                      <a:srgbClr val="78350F"/>
                    </a:solidFill>
                  </a:defRPr>
                </a:lvl1pPr>
              </a:lstStyle>
              <a:p>
                <a:pPr algn="l">
                  <a:defRPr sz="2400">
                    <a:solidFill>
                      <a:srgbClr val="78350F"/>
                    </a:solidFill>
                  </a:defRPr>
                </a:pPr>
                <a:r>
                  <a:rPr sz="2400" b="1">
                    <a:solidFill>
                      <a:srgbClr val="78350F"/>
                    </a:solidFill>
                    <a:latin typeface="Arial"/>
                  </a:rPr>
                  <a:t>Key idea:  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Differentiate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𝑔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𝑓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𝑥</m:t>
                    </m:r>
                  </m:oMath>
                </a14:m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 three times and evaluate at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0</m:t>
                    </m:r>
                  </m:oMath>
                </a14:m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, where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𝑓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0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0</m:t>
                    </m:r>
                  </m:oMath>
                </a14:m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 and </a:t>
                </a:r>
                <a14:m>
                  <m:oMath xmlns:m="http://schemas.openxmlformats.org/officeDocument/2006/math">
                    <m:sSup>
                      <m:e>
                        <m: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𝑓</m:t>
                        </m:r>
                      </m:e>
                      <m:sup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′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0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,</m:t>
                    </m:r>
                    <m:sSup>
                      <m:e>
                        <m: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𝑓</m:t>
                        </m:r>
                      </m:e>
                      <m:sup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″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0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,</m:t>
                    </m:r>
                    <m:sSup>
                      <m:e>
                        <m: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𝑓</m:t>
                        </m:r>
                      </m:e>
                      <m:sup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‴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0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 are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1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,</m:t>
                    </m:r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1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,</m:t>
                    </m:r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2</m:t>
                    </m:r>
                  </m:oMath>
                </a14:m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.</a:t>
                </a:r>
                <a:endParaRPr sz="2400">
                  <a:solidFill>
                    <a:srgbClr val="78350F"/>
                  </a:solidFill>
                </a:endParaRPr>
              </a:p>
            </p:txBody>
          </p:sp>
        </mc:Choice>
        <mc:Fallback>
          <p:sp>
            <p:nvSpPr>
              <p:cNvPr id="4" name="Rounded Rectangle 3"/>
              <p:cNvSpPr/>
              <p:nvPr/>
            </p:nvSpPr>
            <p:spPr>
              <a:xfrm>
                <a:off x="731520" y="1280160"/>
                <a:ext cx="10725912" cy="1109472"/>
              </a:xfrm>
              <a:prstGeom prst="roundRect">
                <a:avLst>
                  <a:gd name="adj" fmla="val 8000"/>
                </a:avLst>
              </a:prstGeom>
              <a:solidFill>
                <a:srgbClr val="FDE68A"/>
              </a:solidFill>
              <a:ln w="31750">
                <a:solidFill>
                  <a:srgbClr val="D97706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78350F"/>
              </a:fontRef>
            </p:style>
            <p:txBody>
              <a:bodyPr rtlCol="0" anchor="ctr" wrap="square" lIns="228600" rIns="228600" tIns="54864" bIns="73152"/>
              <a:lstStyle>
                <a:lvl1pPr>
                  <a:defRPr sz="2400">
                    <a:solidFill>
                      <a:srgbClr val="78350F"/>
                    </a:solidFill>
                  </a:defRPr>
                </a:lvl1pPr>
              </a:lstStyle>
              <a:p>
                <a:pPr algn="l">
                  <a:defRPr sz="2400">
                    <a:solidFill>
                      <a:srgbClr val="78350F"/>
                    </a:solidFill>
                  </a:defRPr>
                </a:pPr>
                <a:r>
                  <a:rPr sz="2400" b="1">
                    <a:solidFill>
                      <a:srgbClr val="78350F"/>
                    </a:solidFill>
                    <a:latin typeface="Arial"/>
                  </a:rPr>
                  <a:t>Key idea:  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Differentiate </a:t>
                </a:r>
                <a:r>
                  <a:rPr lang="en-IN" sz="2400">
                    <a:solidFill>
                      <a:srgbClr val="78350F"/>
                    </a:solidFill>
                    <a:latin typeface="Cambria Math" panose="02040503050406030204" pitchFamily="18" charset="0"/>
                  </a:rPr>
                  <a:t>$g(f(x))=x$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 three times and evaluate at </a:t>
                </a:r>
                <a:r>
                  <a:rPr lang="en-IN" sz="2400">
                    <a:solidFill>
                      <a:srgbClr val="78350F"/>
                    </a:solidFill>
                    <a:latin typeface="Cambria Math" panose="02040503050406030204" pitchFamily="18" charset="0"/>
                  </a:rPr>
                  <a:t>$x=0$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, where </a:t>
                </a:r>
                <a:r>
                  <a:rPr lang="en-IN" sz="2400">
                    <a:solidFill>
                      <a:srgbClr val="78350F"/>
                    </a:solidFill>
                    <a:latin typeface="Cambria Math" panose="02040503050406030204" pitchFamily="18" charset="0"/>
                  </a:rPr>
                  <a:t>$f(0)=0$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 and </a:t>
                </a:r>
                <a:r>
                  <a:rPr lang="en-IN" sz="2400">
                    <a:solidFill>
                      <a:srgbClr val="78350F"/>
                    </a:solidFill>
                    <a:latin typeface="Cambria Math" panose="02040503050406030204" pitchFamily="18" charset="0"/>
                  </a:rPr>
                  <a:t>$f'(0),f''(0),f'''(0)$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 are </a:t>
                </a:r>
                <a:r>
                  <a:rPr lang="en-IN" sz="2400">
                    <a:solidFill>
                      <a:srgbClr val="78350F"/>
                    </a:solidFill>
                    <a:latin typeface="Cambria Math" panose="02040503050406030204" pitchFamily="18" charset="0"/>
                  </a:rPr>
                  <a:t>$1,1,2$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.</a:t>
                </a:r>
                <a:endParaRPr sz="2400">
                  <a:solidFill>
                    <a:srgbClr val="78350F"/>
                  </a:solidFill>
                </a:endParaRP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5" name="Rectangle 4"/>
              <p:cNvSpPr/>
              <p:nvPr/>
            </p:nvSpPr>
            <p:spPr>
              <a:xfrm>
                <a:off x="731520" y="2526792"/>
                <a:ext cx="10725912" cy="4148328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𝑓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0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0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so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𝑔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0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0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 </a:t>
                </a:r>
                <a14:m>
                  <m:oMath xmlns:m="http://schemas.openxmlformats.org/officeDocument/2006/math"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𝑓</m:t>
                        </m:r>
                      </m:e>
                      <m:sup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′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3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4</m:t>
                        </m:r>
                      </m:sup>
                    </m:sSup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</a:t>
                </a:r>
                <a14:m>
                  <m:oMath xmlns:m="http://schemas.openxmlformats.org/officeDocument/2006/math"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𝑓</m:t>
                        </m:r>
                      </m:e>
                      <m:sup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″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3</m:t>
                    </m:r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4</m:t>
                    </m:r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3</m:t>
                        </m:r>
                      </m:sup>
                    </m:sSup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</a:t>
                </a:r>
                <a14:m>
                  <m:oMath xmlns:m="http://schemas.openxmlformats.org/officeDocument/2006/math"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𝑓</m:t>
                        </m:r>
                      </m:e>
                      <m:sup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‴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6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12</m:t>
                    </m:r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14:m>
                  <m:oMath xmlns:m="http://schemas.openxmlformats.org/officeDocument/2006/math"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𝑓</m:t>
                        </m:r>
                      </m:e>
                      <m:sup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′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0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</a:t>
                </a:r>
                <a14:m>
                  <m:oMath xmlns:m="http://schemas.openxmlformats.org/officeDocument/2006/math"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𝑓</m:t>
                        </m:r>
                      </m:e>
                      <m:sup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″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0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</a:t>
                </a:r>
                <a14:m>
                  <m:oMath xmlns:m="http://schemas.openxmlformats.org/officeDocument/2006/math"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𝑓</m:t>
                        </m:r>
                      </m:e>
                      <m:sup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‴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0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𝑔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𝑓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 Differentiate: </a:t>
                </a:r>
                <a14:m>
                  <m:oMath xmlns:m="http://schemas.openxmlformats.org/officeDocument/2006/math"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𝑔</m:t>
                        </m:r>
                      </m:e>
                      <m:sup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′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𝑓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𝑓</m:t>
                        </m:r>
                      </m:e>
                      <m:sup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′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 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At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0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: </a:t>
                </a:r>
                <a14:m>
                  <m:oMath xmlns:m="http://schemas.openxmlformats.org/officeDocument/2006/math"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𝑔</m:t>
                        </m:r>
                      </m:e>
                      <m:sup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′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0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Differentiate (1): </a:t>
                </a:r>
                <a14:m>
                  <m:oMath xmlns:m="http://schemas.openxmlformats.org/officeDocument/2006/math"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𝑔</m:t>
                        </m:r>
                      </m:e>
                      <m:sup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″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𝑓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{</m:t>
                    </m:r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𝑓</m:t>
                        </m:r>
                      </m:e>
                      <m:sup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′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sSup>
                      <m:e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}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𝑔</m:t>
                        </m:r>
                      </m:e>
                      <m:sup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′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𝑓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𝑓</m:t>
                        </m:r>
                      </m:e>
                      <m:sup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″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0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 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endParaRPr sz="2400">
                  <a:solidFill>
                    <a:srgbClr val="111827"/>
                  </a:solidFill>
                </a:endParaRPr>
              </a:p>
            </p:txBody>
          </p:sp>
        </mc:Choice>
        <mc:Fallback>
          <p:sp>
            <p:nvSpPr>
              <p:cNvPr id="5" name="Rectangle 4"/>
              <p:cNvSpPr/>
              <p:nvPr/>
            </p:nvSpPr>
            <p:spPr>
              <a:xfrm>
                <a:off x="731520" y="2526792"/>
                <a:ext cx="10725912" cy="4148328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$f(0)=0$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so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$g(0)=0$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$f'(x)=1+x+x^2+x^3+x^4$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$f''(x)=1+2x+3x^2+4x^3$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$f'''(x)=2+6x+12x^2$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$f'(0)=1$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$f''(0)=1$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$f'''(0)=2$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$g(f(x))=x$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 Differentiate: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$g'(f(x))f'(x)=1$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$\quad(1)$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At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$x=0$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: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$g'(0)=1$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Differentiate (1):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$g''(f(x))\{f'(x)\}^2+g'(f(x))f''(x)=0$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$\quad(2)$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Fallback>
      </mc:AlternateContent>
    </p:spTree>
  </p:cSld>
  <p:clrMapOvr>
    <a:masterClrMapping/>
  </p:clrMapOvr>
</p:sld>
</file>

<file path=ppt/slides/slide9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FFFFFF"/>
          </a:fontRef>
        </p:style>
        <p:txBody>
          <a:bodyPr rtlCol="0" anchor="ctr" lIns="731520"/>
          <a:lstStyle>
            <a:lvl1pPr>
              <a:defRPr sz="3200">
                <a:solidFill>
                  <a:srgbClr val="FFFFFF"/>
                </a:solidFill>
              </a:defRPr>
            </a:lvl1pPr>
          </a:lstStyle>
          <a:p>
            <a:pPr algn="l">
              <a:defRPr sz="3200">
                <a:solidFill>
                  <a:srgbClr val="FFFFFF"/>
                </a:solidFill>
              </a:defRPr>
            </a:pPr>
            <a:r>
              <a:rPr sz="3200" b="1">
                <a:solidFill>
                  <a:srgbClr val="FFFFFF"/>
                </a:solidFill>
                <a:latin typeface="Arial"/>
              </a:rPr>
              <a:t>Question 15</a:t>
            </a:r>
            <a:endParaRPr sz="3200">
              <a:solidFill>
                <a:srgbClr val="FFFFFF"/>
              </a:solidFill>
            </a:endParaRPr>
          </a:p>
        </p:txBody>
      </p:sp>
      <p:sp>
        <p:nvSpPr>
          <p:cNvPr id="3" name="Rounded Rectangle 2"/>
          <p:cNvSpPr/>
          <p:nvPr/>
        </p:nvSpPr>
        <p:spPr>
          <a:xfrm>
            <a:off x="7894015" y="246887"/>
            <a:ext cx="3840480" cy="603504"/>
          </a:xfrm>
          <a:prstGeom prst="roundRect">
            <a:avLst>
              <a:gd name="adj" fmla="val 50000"/>
            </a:avLst>
          </a:prstGeom>
          <a:solidFill>
            <a:srgbClr val="FFD966"/>
          </a:solidFill>
          <a:ln w="1905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111827"/>
          </a:fontRef>
        </p:style>
        <p:txBody>
          <a:bodyPr rtlCol="0" anchor="ctr" wrap="square" lIns="228600" rIns="228600" tIns="18288" bIns="18288"/>
          <a:lstStyle>
            <a:lvl1pPr>
              <a:defRPr sz="2400">
                <a:solidFill>
                  <a:srgbClr val="111827"/>
                </a:solidFill>
              </a:defRPr>
            </a:lvl1pPr>
          </a:lstStyle>
          <a:p>
            <a:pPr algn="ctr">
              <a:defRPr sz="2400">
                <a:solidFill>
                  <a:srgbClr val="111827"/>
                </a:solidFill>
              </a:defRPr>
            </a:pPr>
            <a:r>
              <a:rPr sz="2400" b="1">
                <a:solidFill>
                  <a:srgbClr val="111827"/>
                </a:solidFill>
                <a:latin typeface="Arial"/>
              </a:rPr>
              <a:t>Level 2  ·  4 Marks</a:t>
            </a:r>
            <a:endParaRPr sz="2400">
              <a:solidFill>
                <a:srgbClr val="111827"/>
              </a:solidFill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4" name="Rectangle 3"/>
              <p:cNvSpPr/>
              <p:nvPr/>
            </p:nvSpPr>
            <p:spPr>
              <a:xfrm>
                <a:off x="731520" y="1353312"/>
                <a:ext cx="10725912" cy="4434840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Put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0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: </a:t>
                </a:r>
                <a14:m>
                  <m:oMath xmlns:m="http://schemas.openxmlformats.org/officeDocument/2006/math"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𝑔</m:t>
                        </m:r>
                      </m:e>
                      <m:sup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″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0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𝑔</m:t>
                        </m:r>
                      </m:e>
                      <m:sup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′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0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⋅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0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so </a:t>
                </a:r>
                <a14:m>
                  <m:oMath xmlns:m="http://schemas.openxmlformats.org/officeDocument/2006/math"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𝑔</m:t>
                        </m:r>
                      </m:e>
                      <m:sup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″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0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Differentiate (2): </a:t>
                </a:r>
                <a14:m>
                  <m:oMath xmlns:m="http://schemas.openxmlformats.org/officeDocument/2006/math"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𝑔</m:t>
                        </m:r>
                      </m:e>
                      <m:sup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‴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𝑓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{</m:t>
                    </m:r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𝑓</m:t>
                        </m:r>
                      </m:e>
                      <m:sup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′</m:t>
                        </m:r>
                      </m:sup>
                    </m:sSup>
                    <m:sSup>
                      <m:e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}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3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𝑔</m:t>
                        </m:r>
                      </m:e>
                      <m:sup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″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𝑓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⋅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𝑓</m:t>
                        </m:r>
                      </m:e>
                      <m:sup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′</m:t>
                        </m:r>
                      </m:sup>
                    </m:sSup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𝑓</m:t>
                        </m:r>
                      </m:e>
                      <m:sup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″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𝑔</m:t>
                        </m:r>
                      </m:e>
                      <m:sup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″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𝑓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𝑓</m:t>
                        </m:r>
                      </m:e>
                      <m:sup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′</m:t>
                        </m:r>
                      </m:sup>
                    </m:sSup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𝑓</m:t>
                        </m:r>
                      </m:e>
                      <m:sup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″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𝑔</m:t>
                        </m:r>
                      </m:e>
                      <m:sup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′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𝑓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𝑓</m:t>
                        </m:r>
                      </m:e>
                      <m:sup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‴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0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Put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0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: </a:t>
                </a:r>
                <a14:m>
                  <m:oMath xmlns:m="http://schemas.openxmlformats.org/officeDocument/2006/math"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𝑔</m:t>
                        </m:r>
                      </m:e>
                      <m:sup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‴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0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𝑔</m:t>
                        </m:r>
                      </m:e>
                      <m:sup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″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0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𝑔</m:t>
                        </m:r>
                      </m:e>
                      <m:sup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″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0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𝑔</m:t>
                        </m:r>
                      </m:e>
                      <m:sup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′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0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⋅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0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14:m>
                  <m:oMath xmlns:m="http://schemas.openxmlformats.org/officeDocument/2006/math"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𝑔</m:t>
                        </m:r>
                      </m:e>
                      <m:sup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‴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0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3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0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so </a:t>
                </a:r>
                <a14:m>
                  <m:oMath xmlns:m="http://schemas.openxmlformats.org/officeDocument/2006/math"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𝑔</m:t>
                        </m:r>
                      </m:e>
                      <m:sup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‴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0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Choice>
        <mc:Fallback>
          <p:sp>
            <p:nvSpPr>
              <p:cNvPr id="4" name="Rectangle 3"/>
              <p:cNvSpPr/>
              <p:nvPr/>
            </p:nvSpPr>
            <p:spPr>
              <a:xfrm>
                <a:off x="731520" y="1353312"/>
                <a:ext cx="10725912" cy="4434840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Put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$x=0$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: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$g''(0)+g'(0)\cdot1=0$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so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$g''(0)=-1$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Differentiate (2):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$g'''(f)\{f'\}^3+g''(f)\cdot2f'f''+g''(f)f'f''+g'(f)f'''=0$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Put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$x=0$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: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$g'''(0)+2g''(0)+g''(0)+g'(0)\cdot2=0$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$g'''(0)+3(-1)+2=0$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so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$g'''(0)=1$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5" name="Rounded Rectangle 4"/>
              <p:cNvSpPr/>
              <p:nvPr/>
            </p:nvSpPr>
            <p:spPr>
              <a:xfrm>
                <a:off x="731520" y="5897880"/>
                <a:ext cx="10725912" cy="777240"/>
              </a:xfrm>
              <a:prstGeom prst="roundRect">
                <a:avLst>
                  <a:gd name="adj" fmla="val 8000"/>
                </a:avLst>
              </a:prstGeom>
              <a:solidFill>
                <a:srgbClr val="DCFCE7"/>
              </a:solidFill>
              <a:ln w="25400">
                <a:solidFill>
                  <a:srgbClr val="15803D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5803D"/>
              </a:fontRef>
            </p:style>
            <p:txBody>
              <a:bodyPr rtlCol="0" anchor="ctr" wrap="square" lIns="228600" rIns="228600" tIns="18288" bIns="73152"/>
              <a:lstStyle>
                <a:lvl1pPr>
                  <a:defRPr sz="2800">
                    <a:solidFill>
                      <a:srgbClr val="15803D"/>
                    </a:solidFill>
                  </a:defRPr>
                </a:lvl1pPr>
              </a:lstStyle>
              <a:p>
                <a:pPr algn="ctr">
                  <a:defRPr sz="2800">
                    <a:solidFill>
                      <a:srgbClr val="15803D"/>
                    </a:solidFill>
                  </a:defRPr>
                </a:pPr>
                <a:r>
                  <a:rPr sz="2800" b="1">
                    <a:solidFill>
                      <a:srgbClr val="15803D"/>
                    </a:solidFill>
                    <a:latin typeface="Arial"/>
                  </a:rPr>
                  <a:t>Correct Answer: </a:t>
                </a:r>
                <a14:m>
                  <m:oMath xmlns:m="http://schemas.openxmlformats.org/officeDocument/2006/math">
                    <m:r>
                      <a:rPr lang="en-IN" sz="2800" i="1">
                        <a:solidFill>
                          <a:srgbClr val="15803D"/>
                        </a:solidFill>
                        <a:latin typeface="Cambria Math" panose="02040503050406030204" pitchFamily="18" charset="0"/>
                      </a:rPr>
                      <m:t>1</m:t>
                    </m:r>
                  </m:oMath>
                </a14:m>
                <a:endParaRPr sz="2800">
                  <a:solidFill>
                    <a:srgbClr val="15803D"/>
                  </a:solidFill>
                </a:endParaRPr>
              </a:p>
            </p:txBody>
          </p:sp>
        </mc:Choice>
        <mc:Fallback>
          <p:sp>
            <p:nvSpPr>
              <p:cNvPr id="5" name="Rounded Rectangle 4"/>
              <p:cNvSpPr/>
              <p:nvPr/>
            </p:nvSpPr>
            <p:spPr>
              <a:xfrm>
                <a:off x="731520" y="5897880"/>
                <a:ext cx="10725912" cy="777240"/>
              </a:xfrm>
              <a:prstGeom prst="roundRect">
                <a:avLst>
                  <a:gd name="adj" fmla="val 8000"/>
                </a:avLst>
              </a:prstGeom>
              <a:solidFill>
                <a:srgbClr val="DCFCE7"/>
              </a:solidFill>
              <a:ln w="25400">
                <a:solidFill>
                  <a:srgbClr val="15803D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5803D"/>
              </a:fontRef>
            </p:style>
            <p:txBody>
              <a:bodyPr rtlCol="0" anchor="ctr" wrap="square" lIns="228600" rIns="228600" tIns="18288" bIns="73152"/>
              <a:lstStyle>
                <a:lvl1pPr>
                  <a:defRPr sz="2800">
                    <a:solidFill>
                      <a:srgbClr val="15803D"/>
                    </a:solidFill>
                  </a:defRPr>
                </a:lvl1pPr>
              </a:lstStyle>
              <a:p>
                <a:pPr algn="ctr">
                  <a:defRPr sz="2800">
                    <a:solidFill>
                      <a:srgbClr val="15803D"/>
                    </a:solidFill>
                  </a:defRPr>
                </a:pPr>
                <a:r>
                  <a:rPr sz="2800" b="1">
                    <a:solidFill>
                      <a:srgbClr val="15803D"/>
                    </a:solidFill>
                    <a:latin typeface="Arial"/>
                  </a:rPr>
                  <a:t>Correct Answer: </a:t>
                </a:r>
                <a:r>
                  <a:rPr lang="en-IN" sz="2800">
                    <a:solidFill>
                      <a:srgbClr val="15803D"/>
                    </a:solidFill>
                    <a:latin typeface="Cambria Math" panose="02040503050406030204" pitchFamily="18" charset="0"/>
                  </a:rPr>
                  <a:t>$1$</a:t>
                </a:r>
                <a:endParaRPr sz="2800">
                  <a:solidFill>
                    <a:srgbClr val="15803D"/>
                  </a:solidFill>
                </a:endParaRPr>
              </a:p>
            </p:txBody>
          </p:sp>
        </mc:Fallback>
      </mc:AlternateContent>
    </p:spTree>
  </p:cSld>
  <p:clrMapOvr>
    <a:masterClrMapping/>
  </p:clrMapOvr>
</p:sld>
</file>

<file path=ppt/slides/slide9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FFFFFF"/>
          </a:fontRef>
        </p:style>
        <p:txBody>
          <a:bodyPr rtlCol="0" anchor="ctr" lIns="731520"/>
          <a:lstStyle>
            <a:lvl1pPr>
              <a:defRPr sz="3200">
                <a:solidFill>
                  <a:srgbClr val="FFFFFF"/>
                </a:solidFill>
              </a:defRPr>
            </a:lvl1pPr>
          </a:lstStyle>
          <a:p>
            <a:pPr algn="l">
              <a:defRPr sz="3200">
                <a:solidFill>
                  <a:srgbClr val="FFFFFF"/>
                </a:solidFill>
              </a:defRPr>
            </a:pPr>
            <a:r>
              <a:rPr sz="3200" b="1">
                <a:solidFill>
                  <a:srgbClr val="FFFFFF"/>
                </a:solidFill>
                <a:latin typeface="Arial"/>
              </a:rPr>
              <a:t>Question 15</a:t>
            </a:r>
            <a:endParaRPr sz="3200">
              <a:solidFill>
                <a:srgbClr val="FFFFFF"/>
              </a:solidFill>
            </a:endParaRPr>
          </a:p>
        </p:txBody>
      </p:sp>
      <p:sp>
        <p:nvSpPr>
          <p:cNvPr id="3" name="Rounded Rectangle 2"/>
          <p:cNvSpPr/>
          <p:nvPr/>
        </p:nvSpPr>
        <p:spPr>
          <a:xfrm>
            <a:off x="7894015" y="246887"/>
            <a:ext cx="3840480" cy="603504"/>
          </a:xfrm>
          <a:prstGeom prst="roundRect">
            <a:avLst>
              <a:gd name="adj" fmla="val 50000"/>
            </a:avLst>
          </a:prstGeom>
          <a:solidFill>
            <a:srgbClr val="FFD966"/>
          </a:solidFill>
          <a:ln w="1905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111827"/>
          </a:fontRef>
        </p:style>
        <p:txBody>
          <a:bodyPr rtlCol="0" anchor="ctr" wrap="square" lIns="228600" rIns="228600" tIns="18288" bIns="18288"/>
          <a:lstStyle>
            <a:lvl1pPr>
              <a:defRPr sz="2400">
                <a:solidFill>
                  <a:srgbClr val="111827"/>
                </a:solidFill>
              </a:defRPr>
            </a:lvl1pPr>
          </a:lstStyle>
          <a:p>
            <a:pPr algn="ctr">
              <a:defRPr sz="2400">
                <a:solidFill>
                  <a:srgbClr val="111827"/>
                </a:solidFill>
              </a:defRPr>
            </a:pPr>
            <a:r>
              <a:rPr sz="2400" b="1">
                <a:solidFill>
                  <a:srgbClr val="111827"/>
                </a:solidFill>
                <a:latin typeface="Arial"/>
              </a:rPr>
              <a:t>Level 2  ·  4 Marks</a:t>
            </a:r>
            <a:endParaRPr sz="2400">
              <a:solidFill>
                <a:srgbClr val="111827"/>
              </a:solidFill>
            </a:endParaRPr>
          </a:p>
        </p:txBody>
      </p:sp>
      <p:sp>
        <p:nvSpPr>
          <p:cNvPr id="4" name="Rounded Rectangle 3"/>
          <p:cNvSpPr/>
          <p:nvPr/>
        </p:nvSpPr>
        <p:spPr>
          <a:xfrm>
            <a:off x="3520440" y="265176"/>
            <a:ext cx="4206240" cy="566928"/>
          </a:xfrm>
          <a:prstGeom prst="roundRect">
            <a:avLst>
              <a:gd name="adj" fmla="val 50000"/>
            </a:avLst>
          </a:prstGeom>
          <a:solidFill>
            <a:srgbClr val="FDE68A"/>
          </a:solidFill>
          <a:ln w="25400">
            <a:solidFill>
              <a:srgbClr val="D9770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78350F"/>
          </a:fontRef>
        </p:style>
        <p:txBody>
          <a:bodyPr rtlCol="0" anchor="ctr" wrap="square" lIns="228600" rIns="228600" tIns="18288" bIns="18288"/>
          <a:lstStyle>
            <a:lvl1pPr>
              <a:defRPr sz="2200">
                <a:solidFill>
                  <a:srgbClr val="78350F"/>
                </a:solidFill>
              </a:defRPr>
            </a:lvl1pPr>
          </a:lstStyle>
          <a:p>
            <a:pPr algn="ctr">
              <a:defRPr sz="2200">
                <a:solidFill>
                  <a:srgbClr val="78350F"/>
                </a:solidFill>
              </a:defRPr>
            </a:pPr>
            <a:r>
              <a:rPr sz="2200" b="1">
                <a:solidFill>
                  <a:srgbClr val="78350F"/>
                </a:solidFill>
                <a:latin typeface="Arial"/>
              </a:rPr>
              <a:t>Alternate Solution</a:t>
            </a:r>
            <a:endParaRPr sz="2200">
              <a:solidFill>
                <a:srgbClr val="78350F"/>
              </a:solidFill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5" name="Rounded Rectangle 4"/>
              <p:cNvSpPr/>
              <p:nvPr/>
            </p:nvSpPr>
            <p:spPr>
              <a:xfrm>
                <a:off x="731520" y="1280160"/>
                <a:ext cx="10725912" cy="1109472"/>
              </a:xfrm>
              <a:prstGeom prst="roundRect">
                <a:avLst>
                  <a:gd name="adj" fmla="val 8000"/>
                </a:avLst>
              </a:prstGeom>
              <a:solidFill>
                <a:srgbClr val="FDE68A"/>
              </a:solidFill>
              <a:ln w="31750">
                <a:solidFill>
                  <a:srgbClr val="D97706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78350F"/>
              </a:fontRef>
            </p:style>
            <p:txBody>
              <a:bodyPr rtlCol="0" anchor="ctr" wrap="square" lIns="228600" rIns="228600" tIns="54864" bIns="73152"/>
              <a:lstStyle>
                <a:lvl1pPr>
                  <a:defRPr sz="2400">
                    <a:solidFill>
                      <a:srgbClr val="78350F"/>
                    </a:solidFill>
                  </a:defRPr>
                </a:lvl1pPr>
              </a:lstStyle>
              <a:p>
                <a:pPr algn="l">
                  <a:defRPr sz="2400">
                    <a:solidFill>
                      <a:srgbClr val="78350F"/>
                    </a:solidFill>
                  </a:defRPr>
                </a:pPr>
                <a:r>
                  <a:rPr sz="2400" b="1">
                    <a:solidFill>
                      <a:srgbClr val="78350F"/>
                    </a:solidFill>
                    <a:latin typeface="Arial"/>
                  </a:rPr>
                  <a:t>Idea:  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Invert the Maclaurin series: find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𝑔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𝑦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𝑦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+</m:t>
                    </m:r>
                    <m:sSub>
                      <m:e>
                        <m: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𝑐</m:t>
                        </m:r>
                      </m:e>
                      <m:sub>
                        <m: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b>
                    </m:sSub>
                    <m:sSup>
                      <m:e>
                        <m: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𝑦</m:t>
                        </m:r>
                      </m:e>
                      <m:sup>
                        <m: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+</m:t>
                    </m:r>
                    <m:sSub>
                      <m:e>
                        <m: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𝑐</m:t>
                        </m:r>
                      </m:e>
                      <m:sub>
                        <m: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3</m:t>
                        </m:r>
                      </m:sub>
                    </m:sSub>
                    <m:sSup>
                      <m:e>
                        <m: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𝑦</m:t>
                        </m:r>
                      </m:e>
                      <m:sup>
                        <m: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3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…</m:t>
                    </m:r>
                  </m:oMath>
                </a14:m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 and read </a:t>
                </a:r>
                <a14:m>
                  <m:oMath xmlns:m="http://schemas.openxmlformats.org/officeDocument/2006/math">
                    <m:sSup>
                      <m:e>
                        <m: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𝑔</m:t>
                        </m:r>
                      </m:e>
                      <m:sup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‴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0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6</m:t>
                    </m:r>
                    <m:sSub>
                      <m:e>
                        <m: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𝑐</m:t>
                        </m:r>
                      </m:e>
                      <m:sub>
                        <m: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3</m:t>
                        </m:r>
                      </m:sub>
                    </m:sSub>
                  </m:oMath>
                </a14:m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.</a:t>
                </a:r>
                <a:endParaRPr sz="2400">
                  <a:solidFill>
                    <a:srgbClr val="78350F"/>
                  </a:solidFill>
                </a:endParaRPr>
              </a:p>
            </p:txBody>
          </p:sp>
        </mc:Choice>
        <mc:Fallback>
          <p:sp>
            <p:nvSpPr>
              <p:cNvPr id="5" name="Rounded Rectangle 4"/>
              <p:cNvSpPr/>
              <p:nvPr/>
            </p:nvSpPr>
            <p:spPr>
              <a:xfrm>
                <a:off x="731520" y="1280160"/>
                <a:ext cx="10725912" cy="1109472"/>
              </a:xfrm>
              <a:prstGeom prst="roundRect">
                <a:avLst>
                  <a:gd name="adj" fmla="val 8000"/>
                </a:avLst>
              </a:prstGeom>
              <a:solidFill>
                <a:srgbClr val="FDE68A"/>
              </a:solidFill>
              <a:ln w="31750">
                <a:solidFill>
                  <a:srgbClr val="D97706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78350F"/>
              </a:fontRef>
            </p:style>
            <p:txBody>
              <a:bodyPr rtlCol="0" anchor="ctr" wrap="square" lIns="228600" rIns="228600" tIns="54864" bIns="73152"/>
              <a:lstStyle>
                <a:lvl1pPr>
                  <a:defRPr sz="2400">
                    <a:solidFill>
                      <a:srgbClr val="78350F"/>
                    </a:solidFill>
                  </a:defRPr>
                </a:lvl1pPr>
              </a:lstStyle>
              <a:p>
                <a:pPr algn="l">
                  <a:defRPr sz="2400">
                    <a:solidFill>
                      <a:srgbClr val="78350F"/>
                    </a:solidFill>
                  </a:defRPr>
                </a:pPr>
                <a:r>
                  <a:rPr sz="2400" b="1">
                    <a:solidFill>
                      <a:srgbClr val="78350F"/>
                    </a:solidFill>
                    <a:latin typeface="Arial"/>
                  </a:rPr>
                  <a:t>Idea:  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Invert the Maclaurin series: find </a:t>
                </a:r>
                <a:r>
                  <a:rPr lang="en-IN" sz="2400">
                    <a:solidFill>
                      <a:srgbClr val="78350F"/>
                    </a:solidFill>
                    <a:latin typeface="Cambria Math" panose="02040503050406030204" pitchFamily="18" charset="0"/>
                  </a:rPr>
                  <a:t>$g(y)=y+c_2y^2+c_3y^3+\dots$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 and read </a:t>
                </a:r>
                <a:r>
                  <a:rPr lang="en-IN" sz="2400">
                    <a:solidFill>
                      <a:srgbClr val="78350F"/>
                    </a:solidFill>
                    <a:latin typeface="Cambria Math" panose="02040503050406030204" pitchFamily="18" charset="0"/>
                  </a:rPr>
                  <a:t>$g'''(0)=6c_3$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.</a:t>
                </a:r>
                <a:endParaRPr sz="2400">
                  <a:solidFill>
                    <a:srgbClr val="78350F"/>
                  </a:solidFill>
                </a:endParaRP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6" name="Rectangle 5"/>
              <p:cNvSpPr/>
              <p:nvPr/>
            </p:nvSpPr>
            <p:spPr>
              <a:xfrm>
                <a:off x="731520" y="2526792"/>
                <a:ext cx="10725912" cy="4148328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Near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0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: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𝑦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𝑓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sSup>
                          <m:e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𝑥</m:t>
                            </m:r>
                          </m:e>
                          <m:sup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2</m:t>
                            </m:r>
                          </m:sup>
                        </m:sSup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den>
                    </m:f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sSup>
                          <m:e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𝑥</m:t>
                            </m:r>
                          </m:e>
                          <m:sup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3</m:t>
                            </m:r>
                          </m:sup>
                        </m:sSup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3</m:t>
                        </m:r>
                      </m:den>
                    </m:f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𝑂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4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 Let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𝑔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𝑦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𝑦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sSub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𝑐</m:t>
                        </m:r>
                      </m:e>
                      <m:sub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b>
                    </m:sSub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𝑦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sSub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𝑐</m:t>
                        </m:r>
                      </m:e>
                      <m:sub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3</m:t>
                        </m:r>
                      </m:sub>
                    </m:sSub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𝑦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3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…</m:t>
                    </m:r>
                  </m:oMath>
                </a14:m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From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𝑦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sSup>
                          <m:e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𝑥</m:t>
                            </m:r>
                          </m:e>
                          <m:sup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2</m:t>
                            </m:r>
                          </m:sup>
                        </m:sSup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den>
                    </m:f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sSup>
                          <m:e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𝑥</m:t>
                            </m:r>
                          </m:e>
                          <m:sup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3</m:t>
                            </m:r>
                          </m:sup>
                        </m:sSup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3</m:t>
                        </m:r>
                      </m:den>
                    </m:f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𝑂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4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with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𝑦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𝑂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𝑦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: </a:t>
                </a:r>
                <a14:m>
                  <m:oMath xmlns:m="http://schemas.openxmlformats.org/officeDocument/2006/math"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𝑦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  <m:sSub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𝑐</m:t>
                        </m:r>
                      </m:e>
                      <m:sub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b>
                    </m:sSub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𝑦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3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…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and </a:t>
                </a:r>
                <a14:m>
                  <m:oMath xmlns:m="http://schemas.openxmlformats.org/officeDocument/2006/math"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3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𝑦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3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…</m:t>
                    </m:r>
                  </m:oMath>
                </a14:m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So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𝑦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sSup>
                          <m:e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𝑦</m:t>
                            </m:r>
                          </m:e>
                          <m:sup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2</m:t>
                            </m:r>
                          </m:sup>
                        </m:sSup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den>
                    </m:f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sSub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𝑐</m:t>
                        </m:r>
                      </m:e>
                      <m:sub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b>
                    </m:sSub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𝑦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3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sSup>
                          <m:e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𝑦</m:t>
                            </m:r>
                          </m:e>
                          <m:sup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3</m:t>
                            </m:r>
                          </m:sup>
                        </m:sSup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3</m:t>
                        </m:r>
                      </m:den>
                    </m:f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𝑂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𝑦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4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 Comparing: </a:t>
                </a:r>
                <a14:m>
                  <m:oMath xmlns:m="http://schemas.openxmlformats.org/officeDocument/2006/math">
                    <m:sSub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𝑐</m:t>
                        </m:r>
                      </m:e>
                      <m:sub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b>
                    </m:sSub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den>
                    </m:f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Choice>
        <mc:Fallback>
          <p:sp>
            <p:nvSpPr>
              <p:cNvPr id="6" name="Rectangle 5"/>
              <p:cNvSpPr/>
              <p:nvPr/>
            </p:nvSpPr>
            <p:spPr>
              <a:xfrm>
                <a:off x="731520" y="2526792"/>
                <a:ext cx="10725912" cy="4148328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Near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$0$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: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$y=f(x)=x+\frac{x^2}2+\frac{x^3}3+O(x^4)$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 Let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$x=g(y)=y+c_2y^2+c_3y^3+\dots$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From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$x=y-\frac{x^2}{2}-\frac{x^3}{3}+O(x^4)$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with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$x=y+O(y^2)$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: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$x^2=y^2+2c_2y^3+\dots$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and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$x^3=y^3+\dots$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So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$x=y-\frac{y^2}{2}-c_2y^3-\frac{y^3}{3}+O(y^4)$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 Comparing: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$c_2=-\frac12$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Fallback>
      </mc:AlternateContent>
    </p:spTree>
  </p:cSld>
  <p:clrMapOvr>
    <a:masterClrMapping/>
  </p:clrMapOvr>
</p:sld>
</file>

<file path=ppt/slides/slide9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FFFFFF"/>
          </a:fontRef>
        </p:style>
        <p:txBody>
          <a:bodyPr rtlCol="0" anchor="ctr" lIns="731520"/>
          <a:lstStyle>
            <a:lvl1pPr>
              <a:defRPr sz="3200">
                <a:solidFill>
                  <a:srgbClr val="FFFFFF"/>
                </a:solidFill>
              </a:defRPr>
            </a:lvl1pPr>
          </a:lstStyle>
          <a:p>
            <a:pPr algn="l">
              <a:defRPr sz="3200">
                <a:solidFill>
                  <a:srgbClr val="FFFFFF"/>
                </a:solidFill>
              </a:defRPr>
            </a:pPr>
            <a:r>
              <a:rPr sz="3200" b="1">
                <a:solidFill>
                  <a:srgbClr val="FFFFFF"/>
                </a:solidFill>
                <a:latin typeface="Arial"/>
              </a:rPr>
              <a:t>Question 15</a:t>
            </a:r>
            <a:endParaRPr sz="3200">
              <a:solidFill>
                <a:srgbClr val="FFFFFF"/>
              </a:solidFill>
            </a:endParaRPr>
          </a:p>
        </p:txBody>
      </p:sp>
      <p:sp>
        <p:nvSpPr>
          <p:cNvPr id="3" name="Rounded Rectangle 2"/>
          <p:cNvSpPr/>
          <p:nvPr/>
        </p:nvSpPr>
        <p:spPr>
          <a:xfrm>
            <a:off x="7894015" y="246887"/>
            <a:ext cx="3840480" cy="603504"/>
          </a:xfrm>
          <a:prstGeom prst="roundRect">
            <a:avLst>
              <a:gd name="adj" fmla="val 50000"/>
            </a:avLst>
          </a:prstGeom>
          <a:solidFill>
            <a:srgbClr val="FFD966"/>
          </a:solidFill>
          <a:ln w="1905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111827"/>
          </a:fontRef>
        </p:style>
        <p:txBody>
          <a:bodyPr rtlCol="0" anchor="ctr" wrap="square" lIns="228600" rIns="228600" tIns="18288" bIns="18288"/>
          <a:lstStyle>
            <a:lvl1pPr>
              <a:defRPr sz="2400">
                <a:solidFill>
                  <a:srgbClr val="111827"/>
                </a:solidFill>
              </a:defRPr>
            </a:lvl1pPr>
          </a:lstStyle>
          <a:p>
            <a:pPr algn="ctr">
              <a:defRPr sz="2400">
                <a:solidFill>
                  <a:srgbClr val="111827"/>
                </a:solidFill>
              </a:defRPr>
            </a:pPr>
            <a:r>
              <a:rPr sz="2400" b="1">
                <a:solidFill>
                  <a:srgbClr val="111827"/>
                </a:solidFill>
                <a:latin typeface="Arial"/>
              </a:rPr>
              <a:t>Level 2  ·  4 Marks</a:t>
            </a:r>
            <a:endParaRPr sz="2400">
              <a:solidFill>
                <a:srgbClr val="111827"/>
              </a:solidFill>
            </a:endParaRPr>
          </a:p>
        </p:txBody>
      </p:sp>
      <p:sp>
        <p:nvSpPr>
          <p:cNvPr id="4" name="Rounded Rectangle 3"/>
          <p:cNvSpPr/>
          <p:nvPr/>
        </p:nvSpPr>
        <p:spPr>
          <a:xfrm>
            <a:off x="3520440" y="265176"/>
            <a:ext cx="4206240" cy="566928"/>
          </a:xfrm>
          <a:prstGeom prst="roundRect">
            <a:avLst>
              <a:gd name="adj" fmla="val 50000"/>
            </a:avLst>
          </a:prstGeom>
          <a:solidFill>
            <a:srgbClr val="FDE68A"/>
          </a:solidFill>
          <a:ln w="25400">
            <a:solidFill>
              <a:srgbClr val="D9770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78350F"/>
          </a:fontRef>
        </p:style>
        <p:txBody>
          <a:bodyPr rtlCol="0" anchor="ctr" wrap="square" lIns="228600" rIns="228600" tIns="18288" bIns="18288"/>
          <a:lstStyle>
            <a:lvl1pPr>
              <a:defRPr sz="2200">
                <a:solidFill>
                  <a:srgbClr val="78350F"/>
                </a:solidFill>
              </a:defRPr>
            </a:lvl1pPr>
          </a:lstStyle>
          <a:p>
            <a:pPr algn="ctr">
              <a:defRPr sz="2200">
                <a:solidFill>
                  <a:srgbClr val="78350F"/>
                </a:solidFill>
              </a:defRPr>
            </a:pPr>
            <a:r>
              <a:rPr sz="2200" b="1">
                <a:solidFill>
                  <a:srgbClr val="78350F"/>
                </a:solidFill>
                <a:latin typeface="Arial"/>
              </a:rPr>
              <a:t>Alternate Solution</a:t>
            </a:r>
            <a:endParaRPr sz="2200">
              <a:solidFill>
                <a:srgbClr val="78350F"/>
              </a:solidFill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5" name="Rectangle 4"/>
              <p:cNvSpPr/>
              <p:nvPr/>
            </p:nvSpPr>
            <p:spPr>
              <a:xfrm>
                <a:off x="731520" y="1353312"/>
                <a:ext cx="10725912" cy="4434840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Then </a:t>
                </a:r>
                <a14:m>
                  <m:oMath xmlns:m="http://schemas.openxmlformats.org/officeDocument/2006/math">
                    <m:sSub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𝑐</m:t>
                        </m:r>
                      </m:e>
                      <m:sub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3</m:t>
                        </m:r>
                      </m:sub>
                    </m:sSub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sSub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𝑐</m:t>
                        </m:r>
                      </m:e>
                      <m:sub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b>
                    </m:sSub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3</m:t>
                        </m:r>
                      </m:den>
                    </m:f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den>
                    </m:f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3</m:t>
                        </m:r>
                      </m:den>
                    </m:f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6</m:t>
                        </m:r>
                      </m:den>
                    </m:f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14:m>
                  <m:oMath xmlns:m="http://schemas.openxmlformats.org/officeDocument/2006/math"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𝑔</m:t>
                        </m:r>
                      </m:e>
                      <m:sup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‴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0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3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!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 </m:t>
                    </m:r>
                    <m:sSub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𝑐</m:t>
                        </m:r>
                      </m:e>
                      <m:sub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3</m:t>
                        </m:r>
                      </m:sub>
                    </m:sSub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6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⋅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6</m:t>
                        </m:r>
                      </m:den>
                    </m:f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Choice>
        <mc:Fallback>
          <p:sp>
            <p:nvSpPr>
              <p:cNvPr id="5" name="Rectangle 4"/>
              <p:cNvSpPr/>
              <p:nvPr/>
            </p:nvSpPr>
            <p:spPr>
              <a:xfrm>
                <a:off x="731520" y="1353312"/>
                <a:ext cx="10725912" cy="4434840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Then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$c_3=-c_2-\frac13=\frac12-\frac13=\frac16$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$g'''(0)=3!\,c_3=6\cdot\frac16=1$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6" name="Rounded Rectangle 5"/>
              <p:cNvSpPr/>
              <p:nvPr/>
            </p:nvSpPr>
            <p:spPr>
              <a:xfrm>
                <a:off x="731520" y="5897880"/>
                <a:ext cx="10725912" cy="777240"/>
              </a:xfrm>
              <a:prstGeom prst="roundRect">
                <a:avLst>
                  <a:gd name="adj" fmla="val 8000"/>
                </a:avLst>
              </a:prstGeom>
              <a:solidFill>
                <a:srgbClr val="DCFCE7"/>
              </a:solidFill>
              <a:ln w="25400">
                <a:solidFill>
                  <a:srgbClr val="15803D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5803D"/>
              </a:fontRef>
            </p:style>
            <p:txBody>
              <a:bodyPr rtlCol="0" anchor="ctr" wrap="square" lIns="228600" rIns="228600" tIns="18288" bIns="73152"/>
              <a:lstStyle>
                <a:lvl1pPr>
                  <a:defRPr sz="2800">
                    <a:solidFill>
                      <a:srgbClr val="15803D"/>
                    </a:solidFill>
                  </a:defRPr>
                </a:lvl1pPr>
              </a:lstStyle>
              <a:p>
                <a:pPr algn="ctr">
                  <a:defRPr sz="2800">
                    <a:solidFill>
                      <a:srgbClr val="15803D"/>
                    </a:solidFill>
                  </a:defRPr>
                </a:pPr>
                <a:r>
                  <a:rPr sz="2800" b="1">
                    <a:solidFill>
                      <a:srgbClr val="15803D"/>
                    </a:solidFill>
                    <a:latin typeface="Arial"/>
                  </a:rPr>
                  <a:t>Same answer: </a:t>
                </a:r>
                <a14:m>
                  <m:oMath xmlns:m="http://schemas.openxmlformats.org/officeDocument/2006/math">
                    <m:r>
                      <a:rPr lang="en-IN" sz="2800" i="1">
                        <a:solidFill>
                          <a:srgbClr val="15803D"/>
                        </a:solidFill>
                        <a:latin typeface="Cambria Math" panose="02040503050406030204" pitchFamily="18" charset="0"/>
                      </a:rPr>
                      <m:t>1</m:t>
                    </m:r>
                  </m:oMath>
                </a14:m>
                <a:endParaRPr sz="2800">
                  <a:solidFill>
                    <a:srgbClr val="15803D"/>
                  </a:solidFill>
                </a:endParaRPr>
              </a:p>
            </p:txBody>
          </p:sp>
        </mc:Choice>
        <mc:Fallback>
          <p:sp>
            <p:nvSpPr>
              <p:cNvPr id="6" name="Rounded Rectangle 5"/>
              <p:cNvSpPr/>
              <p:nvPr/>
            </p:nvSpPr>
            <p:spPr>
              <a:xfrm>
                <a:off x="731520" y="5897880"/>
                <a:ext cx="10725912" cy="777240"/>
              </a:xfrm>
              <a:prstGeom prst="roundRect">
                <a:avLst>
                  <a:gd name="adj" fmla="val 8000"/>
                </a:avLst>
              </a:prstGeom>
              <a:solidFill>
                <a:srgbClr val="DCFCE7"/>
              </a:solidFill>
              <a:ln w="25400">
                <a:solidFill>
                  <a:srgbClr val="15803D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5803D"/>
              </a:fontRef>
            </p:style>
            <p:txBody>
              <a:bodyPr rtlCol="0" anchor="ctr" wrap="square" lIns="228600" rIns="228600" tIns="18288" bIns="73152"/>
              <a:lstStyle>
                <a:lvl1pPr>
                  <a:defRPr sz="2800">
                    <a:solidFill>
                      <a:srgbClr val="15803D"/>
                    </a:solidFill>
                  </a:defRPr>
                </a:lvl1pPr>
              </a:lstStyle>
              <a:p>
                <a:pPr algn="ctr">
                  <a:defRPr sz="2800">
                    <a:solidFill>
                      <a:srgbClr val="15803D"/>
                    </a:solidFill>
                  </a:defRPr>
                </a:pPr>
                <a:r>
                  <a:rPr sz="2800" b="1">
                    <a:solidFill>
                      <a:srgbClr val="15803D"/>
                    </a:solidFill>
                    <a:latin typeface="Arial"/>
                  </a:rPr>
                  <a:t>Same answer: </a:t>
                </a:r>
                <a:r>
                  <a:rPr lang="en-IN" sz="2800">
                    <a:solidFill>
                      <a:srgbClr val="15803D"/>
                    </a:solidFill>
                    <a:latin typeface="Cambria Math" panose="02040503050406030204" pitchFamily="18" charset="0"/>
                  </a:rPr>
                  <a:t>$1$</a:t>
                </a:r>
                <a:endParaRPr sz="2800">
                  <a:solidFill>
                    <a:srgbClr val="15803D"/>
                  </a:solidFill>
                </a:endParaRPr>
              </a:p>
            </p:txBody>
          </p:sp>
        </mc:Fallback>
      </mc:AlternateContent>
    </p:spTree>
  </p:cSld>
  <p:clrMapOvr>
    <a:masterClrMapping/>
  </p:clrMapOvr>
</p:sld>
</file>

<file path=ppt/slides/slide9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FFFFFF"/>
          </a:fontRef>
        </p:style>
        <p:txBody>
          <a:bodyPr rtlCol="0" anchor="ctr" lIns="731520"/>
          <a:lstStyle>
            <a:lvl1pPr>
              <a:defRPr sz="3200">
                <a:solidFill>
                  <a:srgbClr val="FFFFFF"/>
                </a:solidFill>
              </a:defRPr>
            </a:lvl1pPr>
          </a:lstStyle>
          <a:p>
            <a:pPr algn="l">
              <a:defRPr sz="3200">
                <a:solidFill>
                  <a:srgbClr val="FFFFFF"/>
                </a:solidFill>
              </a:defRPr>
            </a:pPr>
            <a:r>
              <a:rPr sz="3200" b="1">
                <a:solidFill>
                  <a:srgbClr val="FFFFFF"/>
                </a:solidFill>
                <a:latin typeface="Arial"/>
              </a:rPr>
              <a:t>Question 15</a:t>
            </a:r>
            <a:endParaRPr sz="3200">
              <a:solidFill>
                <a:srgbClr val="FFFFFF"/>
              </a:solidFill>
            </a:endParaRPr>
          </a:p>
        </p:txBody>
      </p:sp>
      <p:sp>
        <p:nvSpPr>
          <p:cNvPr id="3" name="Rounded Rectangle 2"/>
          <p:cNvSpPr/>
          <p:nvPr/>
        </p:nvSpPr>
        <p:spPr>
          <a:xfrm>
            <a:off x="7894015" y="246887"/>
            <a:ext cx="3840480" cy="603504"/>
          </a:xfrm>
          <a:prstGeom prst="roundRect">
            <a:avLst>
              <a:gd name="adj" fmla="val 50000"/>
            </a:avLst>
          </a:prstGeom>
          <a:solidFill>
            <a:srgbClr val="FFD966"/>
          </a:solidFill>
          <a:ln w="1905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111827"/>
          </a:fontRef>
        </p:style>
        <p:txBody>
          <a:bodyPr rtlCol="0" anchor="ctr" wrap="square" lIns="228600" rIns="228600" tIns="18288" bIns="18288"/>
          <a:lstStyle>
            <a:lvl1pPr>
              <a:defRPr sz="2400">
                <a:solidFill>
                  <a:srgbClr val="111827"/>
                </a:solidFill>
              </a:defRPr>
            </a:lvl1pPr>
          </a:lstStyle>
          <a:p>
            <a:pPr algn="ctr">
              <a:defRPr sz="2400">
                <a:solidFill>
                  <a:srgbClr val="111827"/>
                </a:solidFill>
              </a:defRPr>
            </a:pPr>
            <a:r>
              <a:rPr sz="2400" b="1">
                <a:solidFill>
                  <a:srgbClr val="111827"/>
                </a:solidFill>
                <a:latin typeface="Arial"/>
              </a:rPr>
              <a:t>Level 2  ·  4 Marks</a:t>
            </a:r>
            <a:endParaRPr sz="2400">
              <a:solidFill>
                <a:srgbClr val="111827"/>
              </a:solidFill>
            </a:endParaRPr>
          </a:p>
        </p:txBody>
      </p:sp>
      <p:sp>
        <p:nvSpPr>
          <p:cNvPr id="4" name="Rounded Rectangle 3"/>
          <p:cNvSpPr/>
          <p:nvPr/>
        </p:nvSpPr>
        <p:spPr>
          <a:xfrm>
            <a:off x="3520440" y="265176"/>
            <a:ext cx="4206240" cy="566928"/>
          </a:xfrm>
          <a:prstGeom prst="roundRect">
            <a:avLst>
              <a:gd name="adj" fmla="val 50000"/>
            </a:avLst>
          </a:prstGeom>
          <a:solidFill>
            <a:srgbClr val="E0ECFF"/>
          </a:solidFill>
          <a:ln w="25400">
            <a:solidFill>
              <a:srgbClr val="1D4ED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0B1F3A"/>
          </a:fontRef>
        </p:style>
        <p:txBody>
          <a:bodyPr rtlCol="0" anchor="ctr" wrap="square" lIns="228600" rIns="228600" tIns="18288" bIns="18288"/>
          <a:lstStyle>
            <a:lvl1pPr>
              <a:defRPr sz="2200">
                <a:solidFill>
                  <a:srgbClr val="0B1F3A"/>
                </a:solidFill>
              </a:defRPr>
            </a:lvl1pPr>
          </a:lstStyle>
          <a:p>
            <a:pPr algn="ctr">
              <a:defRPr sz="2200">
                <a:solidFill>
                  <a:srgbClr val="0B1F3A"/>
                </a:solidFill>
              </a:defRPr>
            </a:pPr>
            <a:r>
              <a:rPr sz="2200" b="1">
                <a:solidFill>
                  <a:srgbClr val="0B1F3A"/>
                </a:solidFill>
                <a:latin typeface="Arial"/>
              </a:rPr>
              <a:t>Useful Result / Pattern</a:t>
            </a:r>
            <a:endParaRPr sz="2200">
              <a:solidFill>
                <a:srgbClr val="0B1F3A"/>
              </a:solidFill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5" name="Rectangle 4"/>
              <p:cNvSpPr/>
              <p:nvPr/>
            </p:nvSpPr>
            <p:spPr>
              <a:xfrm>
                <a:off x="731520" y="1353312"/>
                <a:ext cx="10725912" cy="5321808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Inverse function derivatives at a point: </a:t>
                </a:r>
                <a14:m>
                  <m:oMath xmlns:m="http://schemas.openxmlformats.org/officeDocument/2006/math"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𝑔</m:t>
                        </m:r>
                      </m:e>
                      <m:sup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′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num>
                      <m:den>
                        <m:sSup>
                          <m:e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𝑓</m:t>
                            </m:r>
                          </m:e>
                          <m:sup>
                            <m:r>
                              <m:rPr>
                                <m:sty m:val="p"/>
                              </m:rPr>
                              <a:rPr lang="en-IN" sz="2400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′</m:t>
                            </m:r>
                          </m:sup>
                        </m:sSup>
                      </m:den>
                    </m:f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</a:t>
                </a:r>
                <a14:m>
                  <m:oMath xmlns:m="http://schemas.openxmlformats.org/officeDocument/2006/math"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𝑔</m:t>
                        </m:r>
                      </m:e>
                      <m:sup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″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sSup>
                          <m:e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𝑓</m:t>
                            </m:r>
                          </m:e>
                          <m:sup>
                            <m:r>
                              <m:rPr>
                                <m:sty m:val="p"/>
                              </m:rPr>
                              <a:rPr lang="en-IN" sz="2400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″</m:t>
                            </m:r>
                          </m:sup>
                        </m:sSup>
                      </m:num>
                      <m:den>
                        <m:sSup>
                          <m:e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𝑓</m:t>
                            </m:r>
                          </m:e>
                          <m:sup>
                            <m:r>
                              <m:rPr>
                                <m:sty m:val="p"/>
                              </m:rPr>
                              <a:rPr lang="en-IN" sz="2400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′</m:t>
                            </m:r>
                          </m:sup>
                        </m:sSup>
                        <m:sSup>
                          <m:e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​</m:t>
                            </m:r>
                          </m:e>
                          <m:sup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3</m:t>
                            </m:r>
                          </m:sup>
                        </m:sSup>
                      </m:den>
                    </m:f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</a:t>
                </a:r>
                <a14:m>
                  <m:oMath xmlns:m="http://schemas.openxmlformats.org/officeDocument/2006/math"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𝑔</m:t>
                        </m:r>
                      </m:e>
                      <m:sup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‴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3</m:t>
                        </m:r>
                        <m:sSup>
                          <m:e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𝑓</m:t>
                            </m:r>
                          </m:e>
                          <m:sup>
                            <m:r>
                              <m:rPr>
                                <m:sty m:val="p"/>
                              </m:rPr>
                              <a:rPr lang="en-IN" sz="2400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″</m:t>
                            </m:r>
                          </m:sup>
                        </m:sSup>
                        <m:sSup>
                          <m:e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​</m:t>
                            </m:r>
                          </m:e>
                          <m:sup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2</m:t>
                            </m:r>
                          </m:sup>
                        </m:sSup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−</m:t>
                        </m:r>
                        <m:sSup>
                          <m:e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𝑓</m:t>
                            </m:r>
                          </m:e>
                          <m:sup>
                            <m:r>
                              <m:rPr>
                                <m:sty m:val="p"/>
                              </m:rPr>
                              <a:rPr lang="en-IN" sz="2400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′</m:t>
                            </m:r>
                          </m:sup>
                        </m:sSup>
                        <m:sSup>
                          <m:e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𝑓</m:t>
                            </m:r>
                          </m:e>
                          <m:sup>
                            <m:r>
                              <m:rPr>
                                <m:sty m:val="p"/>
                              </m:rPr>
                              <a:rPr lang="en-IN" sz="2400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‴</m:t>
                            </m:r>
                          </m:sup>
                        </m:sSup>
                      </m:num>
                      <m:den>
                        <m:sSup>
                          <m:e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𝑓</m:t>
                            </m:r>
                          </m:e>
                          <m:sup>
                            <m:r>
                              <m:rPr>
                                <m:sty m:val="p"/>
                              </m:rPr>
                              <a:rPr lang="en-IN" sz="2400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′</m:t>
                            </m:r>
                          </m:sup>
                        </m:sSup>
                        <m:sSup>
                          <m:e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​</m:t>
                            </m:r>
                          </m:e>
                          <m:sup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5</m:t>
                            </m:r>
                          </m:sup>
                        </m:sSup>
                      </m:den>
                    </m:f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(evaluated at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𝑓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of the point). Here </a:t>
                </a:r>
                <a14:m>
                  <m:oMath xmlns:m="http://schemas.openxmlformats.org/officeDocument/2006/math"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3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−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den>
                    </m:f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Only the first few Maclaurin terms of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𝑓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matter for a derivative of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𝑔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at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0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when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𝑓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0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0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: </a:t>
                </a:r>
                <a14:m>
                  <m:oMath xmlns:m="http://schemas.openxmlformats.org/officeDocument/2006/math"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𝑔</m:t>
                        </m:r>
                      </m:e>
                      <m:sup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‴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0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needs </a:t>
                </a:r>
                <a14:m>
                  <m:oMath xmlns:m="http://schemas.openxmlformats.org/officeDocument/2006/math"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𝑓</m:t>
                        </m:r>
                      </m:e>
                      <m:sup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′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,</m:t>
                    </m:r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𝑓</m:t>
                        </m:r>
                      </m:e>
                      <m:sup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″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,</m:t>
                    </m:r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𝑓</m:t>
                        </m:r>
                      </m:e>
                      <m:sup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‴</m:t>
                        </m:r>
                      </m:sup>
                    </m:sSup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at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0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Series reversion: if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𝑦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sSub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𝑎</m:t>
                        </m:r>
                      </m:e>
                      <m:sub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b>
                    </m:sSub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sSub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𝑎</m:t>
                        </m:r>
                      </m:e>
                      <m:sub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3</m:t>
                        </m:r>
                      </m:sub>
                    </m:sSub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3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…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then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𝑦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sSub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𝑎</m:t>
                        </m:r>
                      </m:e>
                      <m:sub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b>
                    </m:sSub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𝑦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  <m:sSub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𝑎</m:t>
                        </m:r>
                      </m:e>
                      <m:sub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b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b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sSub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𝑎</m:t>
                        </m:r>
                      </m:e>
                      <m:sub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3</m:t>
                        </m:r>
                      </m:sub>
                    </m:sSub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𝑦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3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…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 Here </a:t>
                </a:r>
                <a14:m>
                  <m:oMath xmlns:m="http://schemas.openxmlformats.org/officeDocument/2006/math">
                    <m:sSub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𝑎</m:t>
                        </m:r>
                      </m:e>
                      <m:sub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b>
                    </m:sSub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den>
                    </m:f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</a:t>
                </a:r>
                <a14:m>
                  <m:oMath xmlns:m="http://schemas.openxmlformats.org/officeDocument/2006/math">
                    <m:sSub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𝑎</m:t>
                        </m:r>
                      </m:e>
                      <m:sub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3</m:t>
                        </m:r>
                      </m:sub>
                    </m:sSub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3</m:t>
                        </m:r>
                      </m:den>
                    </m:f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: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⋅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4</m:t>
                        </m:r>
                      </m:den>
                    </m:f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3</m:t>
                        </m:r>
                      </m:den>
                    </m:f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6</m:t>
                        </m:r>
                      </m:den>
                    </m:f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Choice>
        <mc:Fallback>
          <p:sp>
            <p:nvSpPr>
              <p:cNvPr id="5" name="Rectangle 4"/>
              <p:cNvSpPr/>
              <p:nvPr/>
            </p:nvSpPr>
            <p:spPr>
              <a:xfrm>
                <a:off x="731520" y="1353312"/>
                <a:ext cx="10725912" cy="5321808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Inverse function derivatives at a point: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$g'=\frac1{f'}$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$g''=-\frac{f''}{f'^3}$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$g'''=\frac{3f''^2-f'f'''}{f'^5}$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(evaluated at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$f$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of the point). Here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$\frac{3-2}{1}=1$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Only the first few Maclaurin terms of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$f$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matter for a derivative of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$g$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at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$0$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when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$f(0)=0$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: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$g'''(0)$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needs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$f',f'',f'''$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at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$0$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Series reversion: if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$y=x+a_2x^2+a_3x^3+\dots$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then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$x=y-a_2y^2+(2a_2^2-a_3)y^3+\dots$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 Here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$a_2=\frac12$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$a_3=\frac13$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: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$2\cdot\frac14-\frac13=\frac16$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Fallback>
      </mc:AlternateContent>
    </p:spTree>
  </p:cSld>
  <p:clrMapOvr>
    <a:masterClrMapping/>
  </p:clrMapOvr>
</p:sld>
</file>

<file path=ppt/slides/slide9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FFFFFF"/>
          </a:fontRef>
        </p:style>
        <p:txBody>
          <a:bodyPr rtlCol="0" anchor="ctr" lIns="731520"/>
          <a:lstStyle>
            <a:lvl1pPr>
              <a:defRPr sz="3200">
                <a:solidFill>
                  <a:srgbClr val="FFFFFF"/>
                </a:solidFill>
              </a:defRPr>
            </a:lvl1pPr>
          </a:lstStyle>
          <a:p>
            <a:pPr algn="l">
              <a:defRPr sz="3200">
                <a:solidFill>
                  <a:srgbClr val="FFFFFF"/>
                </a:solidFill>
              </a:defRPr>
            </a:pPr>
            <a:r>
              <a:rPr sz="3200" b="1">
                <a:solidFill>
                  <a:srgbClr val="FFFFFF"/>
                </a:solidFill>
                <a:latin typeface="Arial"/>
              </a:rPr>
              <a:t>Question 16</a:t>
            </a:r>
            <a:endParaRPr sz="3200">
              <a:solidFill>
                <a:srgbClr val="FFFFFF"/>
              </a:solidFill>
            </a:endParaRPr>
          </a:p>
        </p:txBody>
      </p:sp>
      <p:sp>
        <p:nvSpPr>
          <p:cNvPr id="3" name="Rounded Rectangle 2"/>
          <p:cNvSpPr/>
          <p:nvPr/>
        </p:nvSpPr>
        <p:spPr>
          <a:xfrm>
            <a:off x="7894015" y="246887"/>
            <a:ext cx="3840480" cy="603504"/>
          </a:xfrm>
          <a:prstGeom prst="roundRect">
            <a:avLst>
              <a:gd name="adj" fmla="val 50000"/>
            </a:avLst>
          </a:prstGeom>
          <a:solidFill>
            <a:srgbClr val="F6B26B"/>
          </a:solidFill>
          <a:ln w="1905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111827"/>
          </a:fontRef>
        </p:style>
        <p:txBody>
          <a:bodyPr rtlCol="0" anchor="ctr" wrap="square" lIns="228600" rIns="228600" tIns="18288" bIns="18288"/>
          <a:lstStyle>
            <a:lvl1pPr>
              <a:defRPr sz="2400">
                <a:solidFill>
                  <a:srgbClr val="111827"/>
                </a:solidFill>
              </a:defRPr>
            </a:lvl1pPr>
          </a:lstStyle>
          <a:p>
            <a:pPr algn="ctr">
              <a:defRPr sz="2400">
                <a:solidFill>
                  <a:srgbClr val="111827"/>
                </a:solidFill>
              </a:defRPr>
            </a:pPr>
            <a:r>
              <a:rPr sz="2400" b="1">
                <a:solidFill>
                  <a:srgbClr val="111827"/>
                </a:solidFill>
                <a:latin typeface="Arial"/>
              </a:rPr>
              <a:t>Level 3  ·  4 Marks</a:t>
            </a:r>
            <a:endParaRPr sz="2400">
              <a:solidFill>
                <a:srgbClr val="111827"/>
              </a:solidFill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4" name="Rounded Rectangle 3"/>
              <p:cNvSpPr/>
              <p:nvPr/>
            </p:nvSpPr>
            <p:spPr>
              <a:xfrm>
                <a:off x="731520" y="1280160"/>
                <a:ext cx="10725912" cy="1737360"/>
              </a:xfrm>
              <a:prstGeom prst="roundRect">
                <a:avLst>
                  <a:gd name="adj" fmla="val 8000"/>
                </a:avLst>
              </a:prstGeom>
              <a:solidFill>
                <a:srgbClr val="E0ECFF"/>
              </a:solidFill>
              <a:ln w="25400">
                <a:solidFill>
                  <a:srgbClr val="1D4ED8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>
                  <a:spcAft>
                    <a:spcPts val="500"/>
                  </a:spcAft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The value of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∈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,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∞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where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𝑓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ad>
                      <m:radPr>
                        <m:degHide m:val="on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radPr>
                      <m:deg/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+</m:t>
                        </m:r>
                        <m:rad>
                          <m:radPr>
                            <m:degHide m:val="on"/>
                            <m:ctrlP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radPr>
                          <m:deg/>
                          <m:e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8</m:t>
                            </m:r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𝑥</m:t>
                            </m:r>
                            <m:r>
                              <m:rPr>
                                <m:sty m:val="p"/>
                              </m:rPr>
                              <a:rPr lang="en-IN" sz="2400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−</m:t>
                            </m:r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16</m:t>
                            </m:r>
                          </m:e>
                        </m:rad>
                      </m:e>
                    </m:rad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ad>
                      <m:radPr>
                        <m:degHide m:val="on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radPr>
                      <m:deg/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−</m:t>
                        </m:r>
                        <m:rad>
                          <m:radPr>
                            <m:degHide m:val="on"/>
                            <m:ctrlP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radPr>
                          <m:deg/>
                          <m:e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8</m:t>
                            </m:r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𝑥</m:t>
                            </m:r>
                            <m:r>
                              <m:rPr>
                                <m:sty m:val="p"/>
                              </m:rPr>
                              <a:rPr lang="en-IN" sz="2400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−</m:t>
                            </m:r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16</m:t>
                            </m:r>
                          </m:e>
                        </m:rad>
                      </m:e>
                    </m:rad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is not differentiable is.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Choice>
        <mc:Fallback>
          <p:sp>
            <p:nvSpPr>
              <p:cNvPr id="4" name="Rounded Rectangle 3"/>
              <p:cNvSpPr/>
              <p:nvPr/>
            </p:nvSpPr>
            <p:spPr>
              <a:xfrm>
                <a:off x="731520" y="1280160"/>
                <a:ext cx="10725912" cy="1737360"/>
              </a:xfrm>
              <a:prstGeom prst="roundRect">
                <a:avLst>
                  <a:gd name="adj" fmla="val 8000"/>
                </a:avLst>
              </a:prstGeom>
              <a:solidFill>
                <a:srgbClr val="E0ECFF"/>
              </a:solidFill>
              <a:ln w="25400">
                <a:solidFill>
                  <a:srgbClr val="1D4ED8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>
                  <a:spcAft>
                    <a:spcPts val="500"/>
                  </a:spcAft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The value of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$x$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$x\in(2,\infty)$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where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$f(x)=\sqrt{x+\sqrt{8x-16}}+\sqrt{x-\sqrt{8x-16}}$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is not differentiable is.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Fallback>
      </mc:AlternateContent>
      <p:sp>
        <p:nvSpPr>
          <p:cNvPr id="5" name="Rectangle 4"/>
          <p:cNvSpPr/>
          <p:nvPr/>
        </p:nvSpPr>
        <p:spPr>
          <a:xfrm>
            <a:off x="731520" y="3246120"/>
            <a:ext cx="10725912" cy="1975103"/>
          </a:xfrm>
          <a:prstGeom prst="rect">
            <a:avLst/>
          </a:prstGeom>
          <a:solidFill>
            <a:srgbClr val="FFFFFF"/>
          </a:solidFill>
          <a:ln w="19050">
            <a:solidFill>
              <a:srgbClr val="6B728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111827"/>
          </a:fontRef>
        </p:style>
        <p:txBody>
          <a:bodyPr rtlCol="0" anchor="t" wrap="square" lIns="228600" rIns="228600" tIns="137160" bIns="73152"/>
          <a:lstStyle>
            <a:lvl1pPr>
              <a:defRPr sz="2400">
                <a:solidFill>
                  <a:srgbClr val="111827"/>
                </a:solidFill>
              </a:defRPr>
            </a:lvl1pPr>
          </a:lstStyle>
          <a:p>
            <a:pPr algn="l">
              <a:spcAft>
                <a:spcPts val="200"/>
              </a:spcAft>
              <a:defRPr sz="2400">
                <a:solidFill>
                  <a:srgbClr val="111827"/>
                </a:solidFill>
              </a:defRPr>
            </a:pPr>
            <a:r>
              <a:rPr sz="2400" b="0">
                <a:solidFill>
                  <a:srgbClr val="111827"/>
                </a:solidFill>
                <a:latin typeface="Arial"/>
              </a:rPr>
              <a:t>Numerical Type (4 Marks)</a:t>
            </a:r>
            <a:endParaRPr sz="2400">
              <a:solidFill>
                <a:srgbClr val="111827"/>
              </a:solidFill>
            </a:endParaRPr>
          </a:p>
          <a:p>
            <a:pPr algn="l">
              <a:spcAft>
                <a:spcPts val="200"/>
              </a:spcAft>
              <a:defRPr sz="2400">
                <a:solidFill>
                  <a:srgbClr val="111827"/>
                </a:solidFill>
              </a:defRPr>
            </a:pPr>
            <a:r>
              <a:rPr sz="2400" b="0">
                <a:solidFill>
                  <a:srgbClr val="111827"/>
                </a:solidFill>
                <a:latin typeface="Arial"/>
              </a:rPr>
              <a:t>Concept(s) : Differentiability of functions involving radicals and modulus, Nested radicals</a:t>
            </a:r>
            <a:endParaRPr sz="2400">
              <a:solidFill>
                <a:srgbClr val="111827"/>
              </a:solidFill>
            </a:endParaRPr>
          </a:p>
          <a:p>
            <a:pPr algn="l">
              <a:spcAft>
                <a:spcPts val="200"/>
              </a:spcAft>
              <a:defRPr sz="2400">
                <a:solidFill>
                  <a:srgbClr val="111827"/>
                </a:solidFill>
              </a:defRPr>
            </a:pPr>
            <a:r>
              <a:rPr sz="2400" b="0">
                <a:solidFill>
                  <a:srgbClr val="111827"/>
                </a:solidFill>
                <a:latin typeface="Arial"/>
              </a:rPr>
              <a:t>Difficulty Level: Level 3(Average JEE Advanced Level)</a:t>
            </a:r>
            <a:endParaRPr sz="2400">
              <a:solidFill>
                <a:srgbClr val="111827"/>
              </a:solidFill>
            </a:endParaRPr>
          </a:p>
        </p:txBody>
      </p:sp>
    </p:spTree>
  </p:cSld>
  <p:clrMapOvr>
    <a:masterClrMapping/>
  </p:clrMapOvr>
</p:sld>
</file>

<file path=ppt/slides/slide10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FFFFFF"/>
          </a:fontRef>
        </p:style>
        <p:txBody>
          <a:bodyPr rtlCol="0" anchor="ctr" lIns="731520"/>
          <a:lstStyle>
            <a:lvl1pPr>
              <a:defRPr sz="3200">
                <a:solidFill>
                  <a:srgbClr val="FFFFFF"/>
                </a:solidFill>
              </a:defRPr>
            </a:lvl1pPr>
          </a:lstStyle>
          <a:p>
            <a:pPr algn="l">
              <a:defRPr sz="3200">
                <a:solidFill>
                  <a:srgbClr val="FFFFFF"/>
                </a:solidFill>
              </a:defRPr>
            </a:pPr>
            <a:r>
              <a:rPr sz="3200" b="1">
                <a:solidFill>
                  <a:srgbClr val="FFFFFF"/>
                </a:solidFill>
                <a:latin typeface="Arial"/>
              </a:rPr>
              <a:t>Question 16</a:t>
            </a:r>
            <a:endParaRPr sz="3200">
              <a:solidFill>
                <a:srgbClr val="FFFFFF"/>
              </a:solidFill>
            </a:endParaRPr>
          </a:p>
        </p:txBody>
      </p:sp>
      <p:sp>
        <p:nvSpPr>
          <p:cNvPr id="3" name="Rounded Rectangle 2"/>
          <p:cNvSpPr/>
          <p:nvPr/>
        </p:nvSpPr>
        <p:spPr>
          <a:xfrm>
            <a:off x="7894015" y="246887"/>
            <a:ext cx="3840480" cy="603504"/>
          </a:xfrm>
          <a:prstGeom prst="roundRect">
            <a:avLst>
              <a:gd name="adj" fmla="val 50000"/>
            </a:avLst>
          </a:prstGeom>
          <a:solidFill>
            <a:srgbClr val="F6B26B"/>
          </a:solidFill>
          <a:ln w="1905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111827"/>
          </a:fontRef>
        </p:style>
        <p:txBody>
          <a:bodyPr rtlCol="0" anchor="ctr" wrap="square" lIns="228600" rIns="228600" tIns="18288" bIns="18288"/>
          <a:lstStyle>
            <a:lvl1pPr>
              <a:defRPr sz="2400">
                <a:solidFill>
                  <a:srgbClr val="111827"/>
                </a:solidFill>
              </a:defRPr>
            </a:lvl1pPr>
          </a:lstStyle>
          <a:p>
            <a:pPr algn="ctr">
              <a:defRPr sz="2400">
                <a:solidFill>
                  <a:srgbClr val="111827"/>
                </a:solidFill>
              </a:defRPr>
            </a:pPr>
            <a:r>
              <a:rPr sz="2400" b="1">
                <a:solidFill>
                  <a:srgbClr val="111827"/>
                </a:solidFill>
                <a:latin typeface="Arial"/>
              </a:rPr>
              <a:t>Level 3  ·  4 Marks</a:t>
            </a:r>
            <a:endParaRPr sz="2400">
              <a:solidFill>
                <a:srgbClr val="111827"/>
              </a:solidFill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4" name="Rounded Rectangle 3"/>
              <p:cNvSpPr/>
              <p:nvPr/>
            </p:nvSpPr>
            <p:spPr>
              <a:xfrm>
                <a:off x="731520" y="1280160"/>
                <a:ext cx="10725912" cy="1219200"/>
              </a:xfrm>
              <a:prstGeom prst="roundRect">
                <a:avLst>
                  <a:gd name="adj" fmla="val 8000"/>
                </a:avLst>
              </a:prstGeom>
              <a:solidFill>
                <a:srgbClr val="FDE68A"/>
              </a:solidFill>
              <a:ln w="31750">
                <a:solidFill>
                  <a:srgbClr val="D97706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78350F"/>
              </a:fontRef>
            </p:style>
            <p:txBody>
              <a:bodyPr rtlCol="0" anchor="ctr" wrap="square" lIns="228600" rIns="228600" tIns="54864" bIns="73152"/>
              <a:lstStyle>
                <a:lvl1pPr>
                  <a:defRPr sz="2400">
                    <a:solidFill>
                      <a:srgbClr val="78350F"/>
                    </a:solidFill>
                  </a:defRPr>
                </a:lvl1pPr>
              </a:lstStyle>
              <a:p>
                <a:pPr algn="l">
                  <a:defRPr sz="2400">
                    <a:solidFill>
                      <a:srgbClr val="78350F"/>
                    </a:solidFill>
                  </a:defRPr>
                </a:pPr>
                <a:r>
                  <a:rPr sz="2400" b="1">
                    <a:solidFill>
                      <a:srgbClr val="78350F"/>
                    </a:solidFill>
                    <a:latin typeface="Arial"/>
                  </a:rPr>
                  <a:t>Key idea:  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With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8</m:t>
                    </m:r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16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=</m:t>
                    </m:r>
                    <m:sSup>
                      <m:e>
                        <m: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𝑝</m:t>
                        </m:r>
                      </m:e>
                      <m:sup>
                        <m: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</m:oMath>
                </a14:m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, each radicand is a perfect square, </a:t>
                </a:r>
                <a14:m>
                  <m:oMath xmlns:m="http://schemas.openxmlformats.org/officeDocument/2006/math"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(</m:t>
                        </m:r>
                        <m: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𝑝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±</m:t>
                        </m:r>
                        <m: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4</m:t>
                        </m:r>
                        <m:sSup>
                          <m:e>
                            <m:r>
                              <m:rPr>
                                <m:sty m:val="p"/>
                              </m:rPr>
                              <a:rPr lang="en-IN" sz="2400">
                                <a:solidFill>
                                  <a:srgbClr val="78350F"/>
                                </a:solidFill>
                                <a:latin typeface="Cambria Math" panose="02040503050406030204" pitchFamily="18" charset="0"/>
                              </a:rPr>
                              <m:t>)</m:t>
                            </m:r>
                          </m:e>
                          <m:sup>
                            <m:r>
                              <a:rPr lang="en-IN" sz="2400" i="1">
                                <a:solidFill>
                                  <a:srgbClr val="78350F"/>
                                </a:solidFill>
                                <a:latin typeface="Cambria Math" panose="02040503050406030204" pitchFamily="18" charset="0"/>
                              </a:rPr>
                              <m:t>2</m:t>
                            </m:r>
                          </m:sup>
                        </m:sSup>
                      </m:num>
                      <m:den>
                        <m: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8</m:t>
                        </m:r>
                      </m:den>
                    </m:f>
                  </m:oMath>
                </a14:m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, so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𝑓</m:t>
                    </m:r>
                  </m:oMath>
                </a14:m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 contains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|</m:t>
                    </m:r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𝑝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4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|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|</m:t>
                    </m:r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𝑝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4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|</m:t>
                    </m:r>
                  </m:oMath>
                </a14:m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.</a:t>
                </a:r>
                <a:endParaRPr sz="2400">
                  <a:solidFill>
                    <a:srgbClr val="78350F"/>
                  </a:solidFill>
                </a:endParaRPr>
              </a:p>
            </p:txBody>
          </p:sp>
        </mc:Choice>
        <mc:Fallback>
          <p:sp>
            <p:nvSpPr>
              <p:cNvPr id="4" name="Rounded Rectangle 3"/>
              <p:cNvSpPr/>
              <p:nvPr/>
            </p:nvSpPr>
            <p:spPr>
              <a:xfrm>
                <a:off x="731520" y="1280160"/>
                <a:ext cx="10725912" cy="1219200"/>
              </a:xfrm>
              <a:prstGeom prst="roundRect">
                <a:avLst>
                  <a:gd name="adj" fmla="val 8000"/>
                </a:avLst>
              </a:prstGeom>
              <a:solidFill>
                <a:srgbClr val="FDE68A"/>
              </a:solidFill>
              <a:ln w="31750">
                <a:solidFill>
                  <a:srgbClr val="D97706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78350F"/>
              </a:fontRef>
            </p:style>
            <p:txBody>
              <a:bodyPr rtlCol="0" anchor="ctr" wrap="square" lIns="228600" rIns="228600" tIns="54864" bIns="73152"/>
              <a:lstStyle>
                <a:lvl1pPr>
                  <a:defRPr sz="2400">
                    <a:solidFill>
                      <a:srgbClr val="78350F"/>
                    </a:solidFill>
                  </a:defRPr>
                </a:lvl1pPr>
              </a:lstStyle>
              <a:p>
                <a:pPr algn="l">
                  <a:defRPr sz="2400">
                    <a:solidFill>
                      <a:srgbClr val="78350F"/>
                    </a:solidFill>
                  </a:defRPr>
                </a:pPr>
                <a:r>
                  <a:rPr sz="2400" b="1">
                    <a:solidFill>
                      <a:srgbClr val="78350F"/>
                    </a:solidFill>
                    <a:latin typeface="Arial"/>
                  </a:rPr>
                  <a:t>Key idea:  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With </a:t>
                </a:r>
                <a:r>
                  <a:rPr lang="en-IN" sz="2400">
                    <a:solidFill>
                      <a:srgbClr val="78350F"/>
                    </a:solidFill>
                    <a:latin typeface="Cambria Math" panose="02040503050406030204" pitchFamily="18" charset="0"/>
                  </a:rPr>
                  <a:t>$8x-16=p^2$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, each radicand is a perfect square, </a:t>
                </a:r>
                <a:r>
                  <a:rPr lang="en-IN" sz="2400">
                    <a:solidFill>
                      <a:srgbClr val="78350F"/>
                    </a:solidFill>
                    <a:latin typeface="Cambria Math" panose="02040503050406030204" pitchFamily="18" charset="0"/>
                  </a:rPr>
                  <a:t>$\frac{(p\pm4)^2}{8}$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, so </a:t>
                </a:r>
                <a:r>
                  <a:rPr lang="en-IN" sz="2400">
                    <a:solidFill>
                      <a:srgbClr val="78350F"/>
                    </a:solidFill>
                    <a:latin typeface="Cambria Math" panose="02040503050406030204" pitchFamily="18" charset="0"/>
                  </a:rPr>
                  <a:t>$f$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 contains </a:t>
                </a:r>
                <a:r>
                  <a:rPr lang="en-IN" sz="2400">
                    <a:solidFill>
                      <a:srgbClr val="78350F"/>
                    </a:solidFill>
                    <a:latin typeface="Cambria Math" panose="02040503050406030204" pitchFamily="18" charset="0"/>
                  </a:rPr>
                  <a:t>$|p+4|+|p-4|$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.</a:t>
                </a:r>
                <a:endParaRPr sz="2400">
                  <a:solidFill>
                    <a:srgbClr val="78350F"/>
                  </a:solidFill>
                </a:endParaRP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5" name="Rectangle 4"/>
              <p:cNvSpPr/>
              <p:nvPr/>
            </p:nvSpPr>
            <p:spPr>
              <a:xfrm>
                <a:off x="731520" y="2636520"/>
                <a:ext cx="10725912" cy="4038599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Let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8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16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𝑝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with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𝑝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&gt;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0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so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sSup>
                          <m:e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𝑝</m:t>
                            </m:r>
                          </m:e>
                          <m:sup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2</m:t>
                            </m:r>
                          </m:sup>
                        </m:sSup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+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16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8</m:t>
                        </m:r>
                      </m:den>
                    </m:f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𝑓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ad>
                          <m:radPr>
                            <m:degHide m:val="on"/>
                            <m:ctrlP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radPr>
                          <m:deg/>
                          <m:e>
                            <m:sSup>
                              <m:e>
                                <m:r>
                                  <a:rPr lang="en-IN" sz="2400" i="1">
                                    <a:solidFill>
                                      <a:srgbClr val="111827"/>
                                    </a:solidFill>
                                    <a:latin typeface="Cambria Math" panose="02040503050406030204" pitchFamily="18" charset="0"/>
                                  </a:rPr>
                                  <m:t>𝑝</m:t>
                                </m:r>
                              </m:e>
                              <m:sup>
                                <m:r>
                                  <a:rPr lang="en-IN" sz="2400" i="1">
                                    <a:solidFill>
                                      <a:srgbClr val="111827"/>
                                    </a:solidFill>
                                    <a:latin typeface="Cambria Math" panose="02040503050406030204" pitchFamily="18" charset="0"/>
                                  </a:rPr>
                                  <m:t>2</m:t>
                                </m:r>
                              </m:sup>
                            </m:sSup>
                            <m:r>
                              <m:rPr>
                                <m:sty m:val="p"/>
                              </m:rPr>
                              <a:rPr lang="en-IN" sz="2400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+</m:t>
                            </m:r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16</m:t>
                            </m:r>
                            <m:r>
                              <m:rPr>
                                <m:sty m:val="p"/>
                              </m:rPr>
                              <a:rPr lang="en-IN" sz="2400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+</m:t>
                            </m:r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8</m:t>
                            </m:r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𝑝</m:t>
                            </m:r>
                          </m:e>
                        </m:rad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+</m:t>
                        </m:r>
                        <m:rad>
                          <m:radPr>
                            <m:degHide m:val="on"/>
                            <m:ctrlP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radPr>
                          <m:deg/>
                          <m:e>
                            <m:sSup>
                              <m:e>
                                <m:r>
                                  <a:rPr lang="en-IN" sz="2400" i="1">
                                    <a:solidFill>
                                      <a:srgbClr val="111827"/>
                                    </a:solidFill>
                                    <a:latin typeface="Cambria Math" panose="02040503050406030204" pitchFamily="18" charset="0"/>
                                  </a:rPr>
                                  <m:t>𝑝</m:t>
                                </m:r>
                              </m:e>
                              <m:sup>
                                <m:r>
                                  <a:rPr lang="en-IN" sz="2400" i="1">
                                    <a:solidFill>
                                      <a:srgbClr val="111827"/>
                                    </a:solidFill>
                                    <a:latin typeface="Cambria Math" panose="02040503050406030204" pitchFamily="18" charset="0"/>
                                  </a:rPr>
                                  <m:t>2</m:t>
                                </m:r>
                              </m:sup>
                            </m:sSup>
                            <m:r>
                              <m:rPr>
                                <m:sty m:val="p"/>
                              </m:rPr>
                              <a:rPr lang="en-IN" sz="2400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+</m:t>
                            </m:r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16</m:t>
                            </m:r>
                            <m:r>
                              <m:rPr>
                                <m:sty m:val="p"/>
                              </m:rPr>
                              <a:rPr lang="en-IN" sz="2400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−</m:t>
                            </m:r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8</m:t>
                            </m:r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𝑝</m:t>
                            </m:r>
                          </m:e>
                        </m:rad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  <m:rad>
                          <m:radPr>
                            <m:degHide m:val="on"/>
                            <m:ctrlP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radPr>
                          <m:deg/>
                          <m:e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2</m:t>
                            </m:r>
                          </m:e>
                        </m:rad>
                      </m:den>
                    </m:f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𝑓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|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𝑝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+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4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|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+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|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𝑝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−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4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|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  <m:rad>
                          <m:radPr>
                            <m:degHide m:val="on"/>
                            <m:ctrlP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radPr>
                          <m:deg/>
                          <m:e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2</m:t>
                            </m:r>
                          </m:e>
                        </m:rad>
                      </m:den>
                    </m:f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𝑝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+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4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+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|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𝑝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−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4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|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  <m:rad>
                          <m:radPr>
                            <m:degHide m:val="on"/>
                            <m:ctrlP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radPr>
                          <m:deg/>
                          <m:e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2</m:t>
                            </m:r>
                          </m:e>
                        </m:rad>
                      </m:den>
                    </m:f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since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𝑝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&gt;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0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For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𝑝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≥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4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(that is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8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≥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32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≥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4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):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𝑓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𝑝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  <m:rad>
                          <m:radPr>
                            <m:degHide m:val="on"/>
                            <m:ctrlP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radPr>
                          <m:deg/>
                          <m:e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2</m:t>
                            </m:r>
                          </m:e>
                        </m:rad>
                      </m:den>
                    </m:f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𝑝</m:t>
                        </m:r>
                      </m:num>
                      <m:den>
                        <m:rad>
                          <m:radPr>
                            <m:degHide m:val="on"/>
                            <m:ctrlP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radPr>
                          <m:deg/>
                          <m:e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2</m:t>
                            </m:r>
                          </m:e>
                        </m:rad>
                      </m:den>
                    </m:f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Choice>
        <mc:Fallback>
          <p:sp>
            <p:nvSpPr>
              <p:cNvPr id="5" name="Rectangle 4"/>
              <p:cNvSpPr/>
              <p:nvPr/>
            </p:nvSpPr>
            <p:spPr>
              <a:xfrm>
                <a:off x="731520" y="2636520"/>
                <a:ext cx="10725912" cy="4038599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Let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$8x-16=p^2$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with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$p&gt;0$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so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$x=\frac{p^2+16}{8}$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$f(x)=\frac{\sqrt{p^2+16+8p}+\sqrt{p^2+16-8p}}{2\sqrt2}$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$f(x)=\frac{|p+4|+|p-4|}{2\sqrt2}=\frac{p+4+|p-4|}{2\sqrt2}$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since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$p&gt;0$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For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$p\ge4$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(that is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$8x\ge32$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$x\ge4$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):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$f(x)=\frac{2p}{2\sqrt2}=\frac{p}{\sqrt2}$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Fallback>
      </mc:AlternateContent>
    </p:spTree>
  </p:cSld>
  <p:clrMapOvr>
    <a:masterClrMapping/>
  </p:clrMapOvr>
</p:sld>
</file>

<file path=ppt/slides/slide10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FFFFFF"/>
          </a:fontRef>
        </p:style>
        <p:txBody>
          <a:bodyPr rtlCol="0" anchor="ctr" lIns="731520"/>
          <a:lstStyle>
            <a:lvl1pPr>
              <a:defRPr sz="3200">
                <a:solidFill>
                  <a:srgbClr val="FFFFFF"/>
                </a:solidFill>
              </a:defRPr>
            </a:lvl1pPr>
          </a:lstStyle>
          <a:p>
            <a:pPr algn="l">
              <a:defRPr sz="3200">
                <a:solidFill>
                  <a:srgbClr val="FFFFFF"/>
                </a:solidFill>
              </a:defRPr>
            </a:pPr>
            <a:r>
              <a:rPr sz="3200" b="1">
                <a:solidFill>
                  <a:srgbClr val="FFFFFF"/>
                </a:solidFill>
                <a:latin typeface="Arial"/>
              </a:rPr>
              <a:t>Question 16</a:t>
            </a:r>
            <a:endParaRPr sz="3200">
              <a:solidFill>
                <a:srgbClr val="FFFFFF"/>
              </a:solidFill>
            </a:endParaRPr>
          </a:p>
        </p:txBody>
      </p:sp>
      <p:sp>
        <p:nvSpPr>
          <p:cNvPr id="3" name="Rounded Rectangle 2"/>
          <p:cNvSpPr/>
          <p:nvPr/>
        </p:nvSpPr>
        <p:spPr>
          <a:xfrm>
            <a:off x="7894015" y="246887"/>
            <a:ext cx="3840480" cy="603504"/>
          </a:xfrm>
          <a:prstGeom prst="roundRect">
            <a:avLst>
              <a:gd name="adj" fmla="val 50000"/>
            </a:avLst>
          </a:prstGeom>
          <a:solidFill>
            <a:srgbClr val="F6B26B"/>
          </a:solidFill>
          <a:ln w="1905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111827"/>
          </a:fontRef>
        </p:style>
        <p:txBody>
          <a:bodyPr rtlCol="0" anchor="ctr" wrap="square" lIns="228600" rIns="228600" tIns="18288" bIns="18288"/>
          <a:lstStyle>
            <a:lvl1pPr>
              <a:defRPr sz="2400">
                <a:solidFill>
                  <a:srgbClr val="111827"/>
                </a:solidFill>
              </a:defRPr>
            </a:lvl1pPr>
          </a:lstStyle>
          <a:p>
            <a:pPr algn="ctr">
              <a:defRPr sz="2400">
                <a:solidFill>
                  <a:srgbClr val="111827"/>
                </a:solidFill>
              </a:defRPr>
            </a:pPr>
            <a:r>
              <a:rPr sz="2400" b="1">
                <a:solidFill>
                  <a:srgbClr val="111827"/>
                </a:solidFill>
                <a:latin typeface="Arial"/>
              </a:rPr>
              <a:t>Level 3  ·  4 Marks</a:t>
            </a:r>
            <a:endParaRPr sz="2400">
              <a:solidFill>
                <a:srgbClr val="111827"/>
              </a:solidFill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4" name="Rectangle 3"/>
              <p:cNvSpPr/>
              <p:nvPr/>
            </p:nvSpPr>
            <p:spPr>
              <a:xfrm>
                <a:off x="731520" y="1353312"/>
                <a:ext cx="10725912" cy="4434840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For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𝑝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&lt;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4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(that is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&lt;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&lt;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4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):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𝑓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8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  <m:rad>
                          <m:radPr>
                            <m:degHide m:val="on"/>
                            <m:ctrlP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radPr>
                          <m:deg/>
                          <m:e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2</m:t>
                            </m:r>
                          </m:e>
                        </m:rad>
                      </m:den>
                    </m:f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  <m:rad>
                      <m:radPr>
                        <m:degHide m:val="on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radPr>
                      <m:deg/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e>
                    </m:rad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a constant.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Right derivative at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4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: </a:t>
                </a:r>
                <a14:m>
                  <m:oMath xmlns:m="http://schemas.openxmlformats.org/officeDocument/2006/math"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𝑓</m:t>
                        </m:r>
                      </m:e>
                      <m:sup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′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4</m:t>
                        </m:r>
                      </m:e>
                      <m:sup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+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  <m:rad>
                          <m:radPr>
                            <m:degHide m:val="on"/>
                            <m:ctrlP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radPr>
                          <m:deg/>
                          <m:e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16</m:t>
                            </m:r>
                          </m:e>
                        </m:rad>
                      </m:den>
                    </m:f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⋅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8</m:t>
                        </m:r>
                      </m:num>
                      <m:den>
                        <m:rad>
                          <m:radPr>
                            <m:degHide m:val="on"/>
                            <m:ctrlP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radPr>
                          <m:deg/>
                          <m:e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2</m:t>
                            </m:r>
                          </m:e>
                        </m:rad>
                      </m:den>
                    </m:f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num>
                      <m:den>
                        <m:rad>
                          <m:radPr>
                            <m:degHide m:val="on"/>
                            <m:ctrlP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radPr>
                          <m:deg/>
                          <m:e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2</m:t>
                            </m:r>
                          </m:e>
                        </m:rad>
                      </m:den>
                    </m:f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(from </a:t>
                </a:r>
                <a14:m>
                  <m:oMath xmlns:m="http://schemas.openxmlformats.org/officeDocument/2006/math"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num>
                      <m:den>
                        <m:rad>
                          <m:radPr>
                            <m:degHide m:val="on"/>
                            <m:ctrlP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radPr>
                          <m:deg/>
                          <m:e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2</m:t>
                            </m:r>
                          </m:e>
                        </m:rad>
                      </m:den>
                    </m:f>
                    <m:rad>
                      <m:radPr>
                        <m:degHide m:val="on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radPr>
                      <m:deg/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8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−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16</m:t>
                        </m:r>
                      </m:e>
                    </m:rad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).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Left derivative at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4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: </a:t>
                </a:r>
                <a14:m>
                  <m:oMath xmlns:m="http://schemas.openxmlformats.org/officeDocument/2006/math"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𝑓</m:t>
                        </m:r>
                      </m:e>
                      <m:sup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′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4</m:t>
                        </m:r>
                      </m:e>
                      <m:sup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−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0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The one-sided derivatives differ, so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𝑓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is not differentiable at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4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Choice>
        <mc:Fallback>
          <p:sp>
            <p:nvSpPr>
              <p:cNvPr id="4" name="Rectangle 3"/>
              <p:cNvSpPr/>
              <p:nvPr/>
            </p:nvSpPr>
            <p:spPr>
              <a:xfrm>
                <a:off x="731520" y="1353312"/>
                <a:ext cx="10725912" cy="4434840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For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$p&lt;4$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(that is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$2&lt;x&lt;4$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):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$f(x)=\frac{8}{2\sqrt2}=2\sqrt2$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a constant.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Right derivative at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$4$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: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$f'(4^+)=\frac{1}{2\sqrt{16}}\cdot\frac{8}{\sqrt2}=\frac{1}{\sqrt2}$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(from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$\frac{1}{\sqrt2}\sqrt{8x-16}$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).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Left derivative at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$4$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: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$f'(4^-)=0$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The one-sided derivatives differ, so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$f$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is not differentiable at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$x=4$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5" name="Rounded Rectangle 4"/>
              <p:cNvSpPr/>
              <p:nvPr/>
            </p:nvSpPr>
            <p:spPr>
              <a:xfrm>
                <a:off x="731520" y="5897880"/>
                <a:ext cx="10725912" cy="777240"/>
              </a:xfrm>
              <a:prstGeom prst="roundRect">
                <a:avLst>
                  <a:gd name="adj" fmla="val 8000"/>
                </a:avLst>
              </a:prstGeom>
              <a:solidFill>
                <a:srgbClr val="DCFCE7"/>
              </a:solidFill>
              <a:ln w="25400">
                <a:solidFill>
                  <a:srgbClr val="15803D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5803D"/>
              </a:fontRef>
            </p:style>
            <p:txBody>
              <a:bodyPr rtlCol="0" anchor="ctr" wrap="square" lIns="228600" rIns="228600" tIns="18288" bIns="73152"/>
              <a:lstStyle>
                <a:lvl1pPr>
                  <a:defRPr sz="2800">
                    <a:solidFill>
                      <a:srgbClr val="15803D"/>
                    </a:solidFill>
                  </a:defRPr>
                </a:lvl1pPr>
              </a:lstStyle>
              <a:p>
                <a:pPr algn="ctr">
                  <a:defRPr sz="2800">
                    <a:solidFill>
                      <a:srgbClr val="15803D"/>
                    </a:solidFill>
                  </a:defRPr>
                </a:pPr>
                <a:r>
                  <a:rPr sz="2800" b="1">
                    <a:solidFill>
                      <a:srgbClr val="15803D"/>
                    </a:solidFill>
                    <a:latin typeface="Arial"/>
                  </a:rPr>
                  <a:t>Correct Answer: </a:t>
                </a:r>
                <a14:m>
                  <m:oMath xmlns:m="http://schemas.openxmlformats.org/officeDocument/2006/math">
                    <m:r>
                      <a:rPr lang="en-IN" sz="2800" i="1">
                        <a:solidFill>
                          <a:srgbClr val="15803D"/>
                        </a:solidFill>
                        <a:latin typeface="Cambria Math" panose="02040503050406030204" pitchFamily="18" charset="0"/>
                      </a:rPr>
                      <m:t>4</m:t>
                    </m:r>
                  </m:oMath>
                </a14:m>
                <a:endParaRPr sz="2800">
                  <a:solidFill>
                    <a:srgbClr val="15803D"/>
                  </a:solidFill>
                </a:endParaRPr>
              </a:p>
            </p:txBody>
          </p:sp>
        </mc:Choice>
        <mc:Fallback>
          <p:sp>
            <p:nvSpPr>
              <p:cNvPr id="5" name="Rounded Rectangle 4"/>
              <p:cNvSpPr/>
              <p:nvPr/>
            </p:nvSpPr>
            <p:spPr>
              <a:xfrm>
                <a:off x="731520" y="5897880"/>
                <a:ext cx="10725912" cy="777240"/>
              </a:xfrm>
              <a:prstGeom prst="roundRect">
                <a:avLst>
                  <a:gd name="adj" fmla="val 8000"/>
                </a:avLst>
              </a:prstGeom>
              <a:solidFill>
                <a:srgbClr val="DCFCE7"/>
              </a:solidFill>
              <a:ln w="25400">
                <a:solidFill>
                  <a:srgbClr val="15803D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5803D"/>
              </a:fontRef>
            </p:style>
            <p:txBody>
              <a:bodyPr rtlCol="0" anchor="ctr" wrap="square" lIns="228600" rIns="228600" tIns="18288" bIns="73152"/>
              <a:lstStyle>
                <a:lvl1pPr>
                  <a:defRPr sz="2800">
                    <a:solidFill>
                      <a:srgbClr val="15803D"/>
                    </a:solidFill>
                  </a:defRPr>
                </a:lvl1pPr>
              </a:lstStyle>
              <a:p>
                <a:pPr algn="ctr">
                  <a:defRPr sz="2800">
                    <a:solidFill>
                      <a:srgbClr val="15803D"/>
                    </a:solidFill>
                  </a:defRPr>
                </a:pPr>
                <a:r>
                  <a:rPr sz="2800" b="1">
                    <a:solidFill>
                      <a:srgbClr val="15803D"/>
                    </a:solidFill>
                    <a:latin typeface="Arial"/>
                  </a:rPr>
                  <a:t>Correct Answer: </a:t>
                </a:r>
                <a:r>
                  <a:rPr lang="en-IN" sz="2800">
                    <a:solidFill>
                      <a:srgbClr val="15803D"/>
                    </a:solidFill>
                    <a:latin typeface="Cambria Math" panose="02040503050406030204" pitchFamily="18" charset="0"/>
                  </a:rPr>
                  <a:t>$4$</a:t>
                </a:r>
                <a:endParaRPr sz="2800">
                  <a:solidFill>
                    <a:srgbClr val="15803D"/>
                  </a:solidFill>
                </a:endParaRPr>
              </a:p>
            </p:txBody>
          </p:sp>
        </mc:Fallback>
      </mc:AlternateContent>
    </p:spTree>
  </p:cSld>
  <p:clrMapOvr>
    <a:masterClrMapping/>
  </p:clrMapOvr>
</p:sld>
</file>

<file path=ppt/slides/slide10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FFFFFF"/>
          </a:fontRef>
        </p:style>
        <p:txBody>
          <a:bodyPr rtlCol="0" anchor="ctr" lIns="731520"/>
          <a:lstStyle>
            <a:lvl1pPr>
              <a:defRPr sz="3200">
                <a:solidFill>
                  <a:srgbClr val="FFFFFF"/>
                </a:solidFill>
              </a:defRPr>
            </a:lvl1pPr>
          </a:lstStyle>
          <a:p>
            <a:pPr algn="l">
              <a:defRPr sz="3200">
                <a:solidFill>
                  <a:srgbClr val="FFFFFF"/>
                </a:solidFill>
              </a:defRPr>
            </a:pPr>
            <a:r>
              <a:rPr sz="3200" b="1">
                <a:solidFill>
                  <a:srgbClr val="FFFFFF"/>
                </a:solidFill>
                <a:latin typeface="Arial"/>
              </a:rPr>
              <a:t>Question 16</a:t>
            </a:r>
            <a:endParaRPr sz="3200">
              <a:solidFill>
                <a:srgbClr val="FFFFFF"/>
              </a:solidFill>
            </a:endParaRPr>
          </a:p>
        </p:txBody>
      </p:sp>
      <p:sp>
        <p:nvSpPr>
          <p:cNvPr id="3" name="Rounded Rectangle 2"/>
          <p:cNvSpPr/>
          <p:nvPr/>
        </p:nvSpPr>
        <p:spPr>
          <a:xfrm>
            <a:off x="7894015" y="246887"/>
            <a:ext cx="3840480" cy="603504"/>
          </a:xfrm>
          <a:prstGeom prst="roundRect">
            <a:avLst>
              <a:gd name="adj" fmla="val 50000"/>
            </a:avLst>
          </a:prstGeom>
          <a:solidFill>
            <a:srgbClr val="F6B26B"/>
          </a:solidFill>
          <a:ln w="1905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111827"/>
          </a:fontRef>
        </p:style>
        <p:txBody>
          <a:bodyPr rtlCol="0" anchor="ctr" wrap="square" lIns="228600" rIns="228600" tIns="18288" bIns="18288"/>
          <a:lstStyle>
            <a:lvl1pPr>
              <a:defRPr sz="2400">
                <a:solidFill>
                  <a:srgbClr val="111827"/>
                </a:solidFill>
              </a:defRPr>
            </a:lvl1pPr>
          </a:lstStyle>
          <a:p>
            <a:pPr algn="ctr">
              <a:defRPr sz="2400">
                <a:solidFill>
                  <a:srgbClr val="111827"/>
                </a:solidFill>
              </a:defRPr>
            </a:pPr>
            <a:r>
              <a:rPr sz="2400" b="1">
                <a:solidFill>
                  <a:srgbClr val="111827"/>
                </a:solidFill>
                <a:latin typeface="Arial"/>
              </a:rPr>
              <a:t>Level 3  ·  4 Marks</a:t>
            </a:r>
            <a:endParaRPr sz="2400">
              <a:solidFill>
                <a:srgbClr val="111827"/>
              </a:solidFill>
            </a:endParaRPr>
          </a:p>
        </p:txBody>
      </p:sp>
      <p:sp>
        <p:nvSpPr>
          <p:cNvPr id="4" name="Rounded Rectangle 3"/>
          <p:cNvSpPr/>
          <p:nvPr/>
        </p:nvSpPr>
        <p:spPr>
          <a:xfrm>
            <a:off x="3520440" y="265176"/>
            <a:ext cx="4206240" cy="566928"/>
          </a:xfrm>
          <a:prstGeom prst="roundRect">
            <a:avLst>
              <a:gd name="adj" fmla="val 50000"/>
            </a:avLst>
          </a:prstGeom>
          <a:solidFill>
            <a:srgbClr val="FDE68A"/>
          </a:solidFill>
          <a:ln w="25400">
            <a:solidFill>
              <a:srgbClr val="D9770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78350F"/>
          </a:fontRef>
        </p:style>
        <p:txBody>
          <a:bodyPr rtlCol="0" anchor="ctr" wrap="square" lIns="228600" rIns="228600" tIns="18288" bIns="18288"/>
          <a:lstStyle>
            <a:lvl1pPr>
              <a:defRPr sz="2200">
                <a:solidFill>
                  <a:srgbClr val="78350F"/>
                </a:solidFill>
              </a:defRPr>
            </a:lvl1pPr>
          </a:lstStyle>
          <a:p>
            <a:pPr algn="ctr">
              <a:defRPr sz="2200">
                <a:solidFill>
                  <a:srgbClr val="78350F"/>
                </a:solidFill>
              </a:defRPr>
            </a:pPr>
            <a:r>
              <a:rPr sz="2200" b="1">
                <a:solidFill>
                  <a:srgbClr val="78350F"/>
                </a:solidFill>
                <a:latin typeface="Arial"/>
              </a:rPr>
              <a:t>Alternate Solution</a:t>
            </a:r>
            <a:endParaRPr sz="2200">
              <a:solidFill>
                <a:srgbClr val="78350F"/>
              </a:solidFill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5" name="Rounded Rectangle 4"/>
              <p:cNvSpPr/>
              <p:nvPr/>
            </p:nvSpPr>
            <p:spPr>
              <a:xfrm>
                <a:off x="731520" y="1280160"/>
                <a:ext cx="10725912" cy="1109472"/>
              </a:xfrm>
              <a:prstGeom prst="roundRect">
                <a:avLst>
                  <a:gd name="adj" fmla="val 8000"/>
                </a:avLst>
              </a:prstGeom>
              <a:solidFill>
                <a:srgbClr val="FDE68A"/>
              </a:solidFill>
              <a:ln w="31750">
                <a:solidFill>
                  <a:srgbClr val="D97706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78350F"/>
              </a:fontRef>
            </p:style>
            <p:txBody>
              <a:bodyPr rtlCol="0" anchor="ctr" wrap="square" lIns="228600" rIns="228600" tIns="54864" bIns="73152"/>
              <a:lstStyle>
                <a:lvl1pPr>
                  <a:defRPr sz="2400">
                    <a:solidFill>
                      <a:srgbClr val="78350F"/>
                    </a:solidFill>
                  </a:defRPr>
                </a:lvl1pPr>
              </a:lstStyle>
              <a:p>
                <a:pPr algn="l">
                  <a:defRPr sz="2400">
                    <a:solidFill>
                      <a:srgbClr val="78350F"/>
                    </a:solidFill>
                  </a:defRPr>
                </a:pPr>
                <a:r>
                  <a:rPr sz="2400" b="1">
                    <a:solidFill>
                      <a:srgbClr val="78350F"/>
                    </a:solidFill>
                    <a:latin typeface="Arial"/>
                  </a:rPr>
                  <a:t>Idea:  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Square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𝑓</m:t>
                    </m:r>
                  </m:oMath>
                </a14:m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: the cross term collapses because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+</m:t>
                    </m:r>
                    <m:rad>
                      <m:radPr>
                        <m:degHide m:val="on"/>
                        <m:ctrlP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</m:ctrlPr>
                      </m:radPr>
                      <m:deg/>
                      <m:e>
                        <m: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8</m:t>
                        </m:r>
                        <m: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−</m:t>
                        </m:r>
                        <m: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16</m:t>
                        </m:r>
                      </m:e>
                    </m:rad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ad>
                      <m:radPr>
                        <m:degHide m:val="on"/>
                        <m:ctrlP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</m:ctrlPr>
                      </m:radPr>
                      <m:deg/>
                      <m:e>
                        <m: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8</m:t>
                        </m:r>
                        <m: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−</m:t>
                        </m:r>
                        <m: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16</m:t>
                        </m:r>
                      </m:e>
                    </m:rad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4</m:t>
                    </m:r>
                    <m:sSup>
                      <m:e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)</m:t>
                        </m:r>
                      </m:e>
                      <m:sup>
                        <m: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</m:oMath>
                </a14:m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, giving </a:t>
                </a:r>
                <a14:m>
                  <m:oMath xmlns:m="http://schemas.openxmlformats.org/officeDocument/2006/math">
                    <m:sSup>
                      <m:e>
                        <m: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𝑓</m:t>
                        </m:r>
                      </m:e>
                      <m:sup>
                        <m: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2</m:t>
                    </m:r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2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|</m:t>
                    </m:r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4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|</m:t>
                    </m:r>
                  </m:oMath>
                </a14:m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.</a:t>
                </a:r>
                <a:endParaRPr sz="2400">
                  <a:solidFill>
                    <a:srgbClr val="78350F"/>
                  </a:solidFill>
                </a:endParaRPr>
              </a:p>
            </p:txBody>
          </p:sp>
        </mc:Choice>
        <mc:Fallback>
          <p:sp>
            <p:nvSpPr>
              <p:cNvPr id="5" name="Rounded Rectangle 4"/>
              <p:cNvSpPr/>
              <p:nvPr/>
            </p:nvSpPr>
            <p:spPr>
              <a:xfrm>
                <a:off x="731520" y="1280160"/>
                <a:ext cx="10725912" cy="1109472"/>
              </a:xfrm>
              <a:prstGeom prst="roundRect">
                <a:avLst>
                  <a:gd name="adj" fmla="val 8000"/>
                </a:avLst>
              </a:prstGeom>
              <a:solidFill>
                <a:srgbClr val="FDE68A"/>
              </a:solidFill>
              <a:ln w="31750">
                <a:solidFill>
                  <a:srgbClr val="D97706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78350F"/>
              </a:fontRef>
            </p:style>
            <p:txBody>
              <a:bodyPr rtlCol="0" anchor="ctr" wrap="square" lIns="228600" rIns="228600" tIns="54864" bIns="73152"/>
              <a:lstStyle>
                <a:lvl1pPr>
                  <a:defRPr sz="2400">
                    <a:solidFill>
                      <a:srgbClr val="78350F"/>
                    </a:solidFill>
                  </a:defRPr>
                </a:lvl1pPr>
              </a:lstStyle>
              <a:p>
                <a:pPr algn="l">
                  <a:defRPr sz="2400">
                    <a:solidFill>
                      <a:srgbClr val="78350F"/>
                    </a:solidFill>
                  </a:defRPr>
                </a:pPr>
                <a:r>
                  <a:rPr sz="2400" b="1">
                    <a:solidFill>
                      <a:srgbClr val="78350F"/>
                    </a:solidFill>
                    <a:latin typeface="Arial"/>
                  </a:rPr>
                  <a:t>Idea:  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Square </a:t>
                </a:r>
                <a:r>
                  <a:rPr lang="en-IN" sz="2400">
                    <a:solidFill>
                      <a:srgbClr val="78350F"/>
                    </a:solidFill>
                    <a:latin typeface="Cambria Math" panose="02040503050406030204" pitchFamily="18" charset="0"/>
                  </a:rPr>
                  <a:t>$f$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: the cross term collapses because </a:t>
                </a:r>
                <a:r>
                  <a:rPr lang="en-IN" sz="2400">
                    <a:solidFill>
                      <a:srgbClr val="78350F"/>
                    </a:solidFill>
                    <a:latin typeface="Cambria Math" panose="02040503050406030204" pitchFamily="18" charset="0"/>
                  </a:rPr>
                  <a:t>$(x+\sqrt{8x-16})(x-\sqrt{8x-16})=(x-4)^2$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, giving </a:t>
                </a:r>
                <a:r>
                  <a:rPr lang="en-IN" sz="2400">
                    <a:solidFill>
                      <a:srgbClr val="78350F"/>
                    </a:solidFill>
                    <a:latin typeface="Cambria Math" panose="02040503050406030204" pitchFamily="18" charset="0"/>
                  </a:rPr>
                  <a:t>$f^2=2x+2|x-4|$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.</a:t>
                </a:r>
                <a:endParaRPr sz="2400">
                  <a:solidFill>
                    <a:srgbClr val="78350F"/>
                  </a:solidFill>
                </a:endParaRP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6" name="Rectangle 5"/>
              <p:cNvSpPr/>
              <p:nvPr/>
            </p:nvSpPr>
            <p:spPr>
              <a:xfrm>
                <a:off x="731520" y="2526792"/>
                <a:ext cx="10725912" cy="4148328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𝑓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&gt;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0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and </a:t>
                </a:r>
                <a14:m>
                  <m:oMath xmlns:m="http://schemas.openxmlformats.org/officeDocument/2006/math"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𝑓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d>
                      <m:dPr>
                        <m:begChr m:val="("/>
                        <m:sepChr m:val=""/>
                        <m:endChr m:val=")"/>
                        <m:grow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+</m:t>
                        </m:r>
                        <m:rad>
                          <m:radPr>
                            <m:degHide m:val="on"/>
                            <m:ctrlP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radPr>
                          <m:deg/>
                          <m:e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8</m:t>
                            </m:r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𝑥</m:t>
                            </m:r>
                            <m:r>
                              <m:rPr>
                                <m:sty m:val="p"/>
                              </m:rPr>
                              <a:rPr lang="en-IN" sz="2400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−</m:t>
                            </m:r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16</m:t>
                            </m:r>
                          </m:e>
                        </m:rad>
                      </m:e>
                    </m:d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d>
                      <m:dPr>
                        <m:begChr m:val="("/>
                        <m:sepChr m:val=""/>
                        <m:endChr m:val=")"/>
                        <m:grow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−</m:t>
                        </m:r>
                        <m:rad>
                          <m:radPr>
                            <m:degHide m:val="on"/>
                            <m:ctrlP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radPr>
                          <m:deg/>
                          <m:e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8</m:t>
                            </m:r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𝑥</m:t>
                            </m:r>
                            <m:r>
                              <m:rPr>
                                <m:sty m:val="p"/>
                              </m:rPr>
                              <a:rPr lang="en-IN" sz="2400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−</m:t>
                            </m:r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16</m:t>
                            </m:r>
                          </m:e>
                        </m:rad>
                      </m:e>
                    </m:d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  <m:rad>
                      <m:radPr>
                        <m:degHide m:val="on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radPr>
                      <m:deg/>
                      <m:e>
                        <m:sSup>
                          <m:e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𝑥</m:t>
                            </m:r>
                          </m:e>
                          <m:sup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2</m:t>
                            </m:r>
                          </m:sup>
                        </m:sSup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−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(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8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−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16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)</m:t>
                        </m:r>
                      </m:e>
                    </m:rad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  <m:rad>
                      <m:radPr>
                        <m:degHide m:val="on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radPr>
                      <m:deg/>
                      <m:e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(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−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4</m:t>
                        </m:r>
                        <m:sSup>
                          <m:e>
                            <m:r>
                              <m:rPr>
                                <m:sty m:val="p"/>
                              </m:rPr>
                              <a:rPr lang="en-IN" sz="2400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)</m:t>
                            </m:r>
                          </m:e>
                          <m:sup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2</m:t>
                            </m:r>
                          </m:sup>
                        </m:sSup>
                      </m:e>
                    </m:rad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So </a:t>
                </a:r>
                <a14:m>
                  <m:oMath xmlns:m="http://schemas.openxmlformats.org/officeDocument/2006/math"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𝑓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|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4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|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: for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&lt;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≤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4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</a:t>
                </a:r>
                <a14:m>
                  <m:oMath xmlns:m="http://schemas.openxmlformats.org/officeDocument/2006/math"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𝑓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8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; for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≥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4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</a:t>
                </a:r>
                <a14:m>
                  <m:oMath xmlns:m="http://schemas.openxmlformats.org/officeDocument/2006/math"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𝑓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4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8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Hence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𝑓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  <m:rad>
                      <m:radPr>
                        <m:degHide m:val="on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radPr>
                      <m:deg/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e>
                    </m:rad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on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,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4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]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and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𝑓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  <m:rad>
                      <m:radPr>
                        <m:degHide m:val="on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radPr>
                      <m:deg/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−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e>
                    </m:rad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for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≥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4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; both equal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  <m:rad>
                      <m:radPr>
                        <m:degHide m:val="on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radPr>
                      <m:deg/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e>
                    </m:rad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at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4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so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𝑓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is continuous.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Choice>
        <mc:Fallback>
          <p:sp>
            <p:nvSpPr>
              <p:cNvPr id="6" name="Rectangle 5"/>
              <p:cNvSpPr/>
              <p:nvPr/>
            </p:nvSpPr>
            <p:spPr>
              <a:xfrm>
                <a:off x="731520" y="2526792"/>
                <a:ext cx="10725912" cy="4148328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$f&gt;0$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and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$f^2=\left(x+\sqrt{8x-16}\right)+\left(x-\sqrt{8x-16}\right)+2\sqrt{x^2-(8x-16)}=2x+2\sqrt{(x-4)^2}$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So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$f^2=2x+2|x-4|$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: for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$2&lt;x\le4$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$f^2=8$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; for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$x\ge4$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$f^2=4x-8$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Hence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$f=2\sqrt2$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on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$(2,4]$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and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$f=2\sqrt{x-2}$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for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$x\ge4$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; both equal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$2\sqrt2$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at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$x=4$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so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$f$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is continuous.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Fallback>
      </mc:AlternateContent>
    </p:spTree>
  </p:cSld>
  <p:clrMapOvr>
    <a:masterClrMapping/>
  </p:clrMapOvr>
</p:sld>
</file>

<file path=ppt/slides/slide10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FFFFFF"/>
          </a:fontRef>
        </p:style>
        <p:txBody>
          <a:bodyPr rtlCol="0" anchor="ctr" lIns="731520"/>
          <a:lstStyle>
            <a:lvl1pPr>
              <a:defRPr sz="3200">
                <a:solidFill>
                  <a:srgbClr val="FFFFFF"/>
                </a:solidFill>
              </a:defRPr>
            </a:lvl1pPr>
          </a:lstStyle>
          <a:p>
            <a:pPr algn="l">
              <a:defRPr sz="3200">
                <a:solidFill>
                  <a:srgbClr val="FFFFFF"/>
                </a:solidFill>
              </a:defRPr>
            </a:pPr>
            <a:r>
              <a:rPr sz="3200" b="1">
                <a:solidFill>
                  <a:srgbClr val="FFFFFF"/>
                </a:solidFill>
                <a:latin typeface="Arial"/>
              </a:rPr>
              <a:t>Question 16</a:t>
            </a:r>
            <a:endParaRPr sz="3200">
              <a:solidFill>
                <a:srgbClr val="FFFFFF"/>
              </a:solidFill>
            </a:endParaRPr>
          </a:p>
        </p:txBody>
      </p:sp>
      <p:sp>
        <p:nvSpPr>
          <p:cNvPr id="3" name="Rounded Rectangle 2"/>
          <p:cNvSpPr/>
          <p:nvPr/>
        </p:nvSpPr>
        <p:spPr>
          <a:xfrm>
            <a:off x="7894015" y="246887"/>
            <a:ext cx="3840480" cy="603504"/>
          </a:xfrm>
          <a:prstGeom prst="roundRect">
            <a:avLst>
              <a:gd name="adj" fmla="val 50000"/>
            </a:avLst>
          </a:prstGeom>
          <a:solidFill>
            <a:srgbClr val="F6B26B"/>
          </a:solidFill>
          <a:ln w="1905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111827"/>
          </a:fontRef>
        </p:style>
        <p:txBody>
          <a:bodyPr rtlCol="0" anchor="ctr" wrap="square" lIns="228600" rIns="228600" tIns="18288" bIns="18288"/>
          <a:lstStyle>
            <a:lvl1pPr>
              <a:defRPr sz="2400">
                <a:solidFill>
                  <a:srgbClr val="111827"/>
                </a:solidFill>
              </a:defRPr>
            </a:lvl1pPr>
          </a:lstStyle>
          <a:p>
            <a:pPr algn="ctr">
              <a:defRPr sz="2400">
                <a:solidFill>
                  <a:srgbClr val="111827"/>
                </a:solidFill>
              </a:defRPr>
            </a:pPr>
            <a:r>
              <a:rPr sz="2400" b="1">
                <a:solidFill>
                  <a:srgbClr val="111827"/>
                </a:solidFill>
                <a:latin typeface="Arial"/>
              </a:rPr>
              <a:t>Level 3  ·  4 Marks</a:t>
            </a:r>
            <a:endParaRPr sz="2400">
              <a:solidFill>
                <a:srgbClr val="111827"/>
              </a:solidFill>
            </a:endParaRPr>
          </a:p>
        </p:txBody>
      </p:sp>
      <p:sp>
        <p:nvSpPr>
          <p:cNvPr id="4" name="Rounded Rectangle 3"/>
          <p:cNvSpPr/>
          <p:nvPr/>
        </p:nvSpPr>
        <p:spPr>
          <a:xfrm>
            <a:off x="3520440" y="265176"/>
            <a:ext cx="4206240" cy="566928"/>
          </a:xfrm>
          <a:prstGeom prst="roundRect">
            <a:avLst>
              <a:gd name="adj" fmla="val 50000"/>
            </a:avLst>
          </a:prstGeom>
          <a:solidFill>
            <a:srgbClr val="FDE68A"/>
          </a:solidFill>
          <a:ln w="25400">
            <a:solidFill>
              <a:srgbClr val="D9770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78350F"/>
          </a:fontRef>
        </p:style>
        <p:txBody>
          <a:bodyPr rtlCol="0" anchor="ctr" wrap="square" lIns="228600" rIns="228600" tIns="18288" bIns="18288"/>
          <a:lstStyle>
            <a:lvl1pPr>
              <a:defRPr sz="2200">
                <a:solidFill>
                  <a:srgbClr val="78350F"/>
                </a:solidFill>
              </a:defRPr>
            </a:lvl1pPr>
          </a:lstStyle>
          <a:p>
            <a:pPr algn="ctr">
              <a:defRPr sz="2200">
                <a:solidFill>
                  <a:srgbClr val="78350F"/>
                </a:solidFill>
              </a:defRPr>
            </a:pPr>
            <a:r>
              <a:rPr sz="2200" b="1">
                <a:solidFill>
                  <a:srgbClr val="78350F"/>
                </a:solidFill>
                <a:latin typeface="Arial"/>
              </a:rPr>
              <a:t>Alternate Solution</a:t>
            </a:r>
            <a:endParaRPr sz="2200">
              <a:solidFill>
                <a:srgbClr val="78350F"/>
              </a:solidFill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5" name="Rectangle 4"/>
              <p:cNvSpPr/>
              <p:nvPr/>
            </p:nvSpPr>
            <p:spPr>
              <a:xfrm>
                <a:off x="731520" y="1353312"/>
                <a:ext cx="10725912" cy="4434840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Slopes at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4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: left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0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; right </a:t>
                </a:r>
                <a14:m>
                  <m:oMath xmlns:m="http://schemas.openxmlformats.org/officeDocument/2006/math"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num>
                      <m:den>
                        <m:rad>
                          <m:radPr>
                            <m:degHide m:val="on"/>
                            <m:ctrlP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radPr>
                          <m:deg/>
                          <m:e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𝑥</m:t>
                            </m:r>
                            <m:r>
                              <m:rPr>
                                <m:sty m:val="p"/>
                              </m:rPr>
                              <a:rPr lang="en-IN" sz="2400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−</m:t>
                            </m:r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2</m:t>
                            </m:r>
                          </m:e>
                        </m:rad>
                      </m:den>
                    </m:f>
                    <m:sSub>
                      <m:e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|</m:t>
                        </m:r>
                      </m:e>
                      <m:sub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=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4</m:t>
                        </m:r>
                      </m:sub>
                    </m:sSub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num>
                      <m:den>
                        <m:rad>
                          <m:radPr>
                            <m:degHide m:val="on"/>
                            <m:ctrlP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radPr>
                          <m:deg/>
                          <m:e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2</m:t>
                            </m:r>
                          </m:e>
                        </m:rad>
                      </m:den>
                    </m:f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≠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0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So the only point of non-differentiability is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4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Choice>
        <mc:Fallback>
          <p:sp>
            <p:nvSpPr>
              <p:cNvPr id="5" name="Rectangle 4"/>
              <p:cNvSpPr/>
              <p:nvPr/>
            </p:nvSpPr>
            <p:spPr>
              <a:xfrm>
                <a:off x="731520" y="1353312"/>
                <a:ext cx="10725912" cy="4434840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Slopes at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$4$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: left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$0$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; right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$\frac{1}{\sqrt{x-2}}\big|_{x=4}=\frac1{\sqrt2}\neq0$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So the only point of non-differentiability is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$x=4$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6" name="Rounded Rectangle 5"/>
              <p:cNvSpPr/>
              <p:nvPr/>
            </p:nvSpPr>
            <p:spPr>
              <a:xfrm>
                <a:off x="731520" y="5897880"/>
                <a:ext cx="10725912" cy="777240"/>
              </a:xfrm>
              <a:prstGeom prst="roundRect">
                <a:avLst>
                  <a:gd name="adj" fmla="val 8000"/>
                </a:avLst>
              </a:prstGeom>
              <a:solidFill>
                <a:srgbClr val="DCFCE7"/>
              </a:solidFill>
              <a:ln w="25400">
                <a:solidFill>
                  <a:srgbClr val="15803D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5803D"/>
              </a:fontRef>
            </p:style>
            <p:txBody>
              <a:bodyPr rtlCol="0" anchor="ctr" wrap="square" lIns="228600" rIns="228600" tIns="18288" bIns="73152"/>
              <a:lstStyle>
                <a:lvl1pPr>
                  <a:defRPr sz="2800">
                    <a:solidFill>
                      <a:srgbClr val="15803D"/>
                    </a:solidFill>
                  </a:defRPr>
                </a:lvl1pPr>
              </a:lstStyle>
              <a:p>
                <a:pPr algn="ctr">
                  <a:defRPr sz="2800">
                    <a:solidFill>
                      <a:srgbClr val="15803D"/>
                    </a:solidFill>
                  </a:defRPr>
                </a:pPr>
                <a:r>
                  <a:rPr sz="2800" b="1">
                    <a:solidFill>
                      <a:srgbClr val="15803D"/>
                    </a:solidFill>
                    <a:latin typeface="Arial"/>
                  </a:rPr>
                  <a:t>Same answer: </a:t>
                </a:r>
                <a14:m>
                  <m:oMath xmlns:m="http://schemas.openxmlformats.org/officeDocument/2006/math">
                    <m:r>
                      <a:rPr lang="en-IN" sz="2800" i="1">
                        <a:solidFill>
                          <a:srgbClr val="15803D"/>
                        </a:solidFill>
                        <a:latin typeface="Cambria Math" panose="02040503050406030204" pitchFamily="18" charset="0"/>
                      </a:rPr>
                      <m:t>4</m:t>
                    </m:r>
                  </m:oMath>
                </a14:m>
                <a:endParaRPr sz="2800">
                  <a:solidFill>
                    <a:srgbClr val="15803D"/>
                  </a:solidFill>
                </a:endParaRPr>
              </a:p>
            </p:txBody>
          </p:sp>
        </mc:Choice>
        <mc:Fallback>
          <p:sp>
            <p:nvSpPr>
              <p:cNvPr id="6" name="Rounded Rectangle 5"/>
              <p:cNvSpPr/>
              <p:nvPr/>
            </p:nvSpPr>
            <p:spPr>
              <a:xfrm>
                <a:off x="731520" y="5897880"/>
                <a:ext cx="10725912" cy="777240"/>
              </a:xfrm>
              <a:prstGeom prst="roundRect">
                <a:avLst>
                  <a:gd name="adj" fmla="val 8000"/>
                </a:avLst>
              </a:prstGeom>
              <a:solidFill>
                <a:srgbClr val="DCFCE7"/>
              </a:solidFill>
              <a:ln w="25400">
                <a:solidFill>
                  <a:srgbClr val="15803D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5803D"/>
              </a:fontRef>
            </p:style>
            <p:txBody>
              <a:bodyPr rtlCol="0" anchor="ctr" wrap="square" lIns="228600" rIns="228600" tIns="18288" bIns="73152"/>
              <a:lstStyle>
                <a:lvl1pPr>
                  <a:defRPr sz="2800">
                    <a:solidFill>
                      <a:srgbClr val="15803D"/>
                    </a:solidFill>
                  </a:defRPr>
                </a:lvl1pPr>
              </a:lstStyle>
              <a:p>
                <a:pPr algn="ctr">
                  <a:defRPr sz="2800">
                    <a:solidFill>
                      <a:srgbClr val="15803D"/>
                    </a:solidFill>
                  </a:defRPr>
                </a:pPr>
                <a:r>
                  <a:rPr sz="2800" b="1">
                    <a:solidFill>
                      <a:srgbClr val="15803D"/>
                    </a:solidFill>
                    <a:latin typeface="Arial"/>
                  </a:rPr>
                  <a:t>Same answer: </a:t>
                </a:r>
                <a:r>
                  <a:rPr lang="en-IN" sz="2800">
                    <a:solidFill>
                      <a:srgbClr val="15803D"/>
                    </a:solidFill>
                    <a:latin typeface="Cambria Math" panose="02040503050406030204" pitchFamily="18" charset="0"/>
                  </a:rPr>
                  <a:t>$4$</a:t>
                </a:r>
                <a:endParaRPr sz="2800">
                  <a:solidFill>
                    <a:srgbClr val="15803D"/>
                  </a:solidFill>
                </a:endParaRPr>
              </a:p>
            </p:txBody>
          </p:sp>
        </mc:Fallback>
      </mc:AlternateContent>
    </p:spTree>
  </p:cSld>
  <p:clrMapOvr>
    <a:masterClrMapping/>
  </p:clrMapOvr>
</p:sld>
</file>

<file path=ppt/slides/slide10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FFFFFF"/>
          </a:fontRef>
        </p:style>
        <p:txBody>
          <a:bodyPr rtlCol="0" anchor="ctr" lIns="731520"/>
          <a:lstStyle>
            <a:lvl1pPr>
              <a:defRPr sz="3200">
                <a:solidFill>
                  <a:srgbClr val="FFFFFF"/>
                </a:solidFill>
              </a:defRPr>
            </a:lvl1pPr>
          </a:lstStyle>
          <a:p>
            <a:pPr algn="l">
              <a:defRPr sz="3200">
                <a:solidFill>
                  <a:srgbClr val="FFFFFF"/>
                </a:solidFill>
              </a:defRPr>
            </a:pPr>
            <a:r>
              <a:rPr sz="3200" b="1">
                <a:solidFill>
                  <a:srgbClr val="FFFFFF"/>
                </a:solidFill>
                <a:latin typeface="Arial"/>
              </a:rPr>
              <a:t>Question 16</a:t>
            </a:r>
            <a:endParaRPr sz="3200">
              <a:solidFill>
                <a:srgbClr val="FFFFFF"/>
              </a:solidFill>
            </a:endParaRPr>
          </a:p>
        </p:txBody>
      </p:sp>
      <p:sp>
        <p:nvSpPr>
          <p:cNvPr id="3" name="Rounded Rectangle 2"/>
          <p:cNvSpPr/>
          <p:nvPr/>
        </p:nvSpPr>
        <p:spPr>
          <a:xfrm>
            <a:off x="7894015" y="246887"/>
            <a:ext cx="3840480" cy="603504"/>
          </a:xfrm>
          <a:prstGeom prst="roundRect">
            <a:avLst>
              <a:gd name="adj" fmla="val 50000"/>
            </a:avLst>
          </a:prstGeom>
          <a:solidFill>
            <a:srgbClr val="F6B26B"/>
          </a:solidFill>
          <a:ln w="1905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111827"/>
          </a:fontRef>
        </p:style>
        <p:txBody>
          <a:bodyPr rtlCol="0" anchor="ctr" wrap="square" lIns="228600" rIns="228600" tIns="18288" bIns="18288"/>
          <a:lstStyle>
            <a:lvl1pPr>
              <a:defRPr sz="2400">
                <a:solidFill>
                  <a:srgbClr val="111827"/>
                </a:solidFill>
              </a:defRPr>
            </a:lvl1pPr>
          </a:lstStyle>
          <a:p>
            <a:pPr algn="ctr">
              <a:defRPr sz="2400">
                <a:solidFill>
                  <a:srgbClr val="111827"/>
                </a:solidFill>
              </a:defRPr>
            </a:pPr>
            <a:r>
              <a:rPr sz="2400" b="1">
                <a:solidFill>
                  <a:srgbClr val="111827"/>
                </a:solidFill>
                <a:latin typeface="Arial"/>
              </a:rPr>
              <a:t>Level 3  ·  4 Marks</a:t>
            </a:r>
            <a:endParaRPr sz="2400">
              <a:solidFill>
                <a:srgbClr val="111827"/>
              </a:solidFill>
            </a:endParaRPr>
          </a:p>
        </p:txBody>
      </p:sp>
      <p:sp>
        <p:nvSpPr>
          <p:cNvPr id="4" name="Rounded Rectangle 3"/>
          <p:cNvSpPr/>
          <p:nvPr/>
        </p:nvSpPr>
        <p:spPr>
          <a:xfrm>
            <a:off x="3520440" y="265176"/>
            <a:ext cx="4206240" cy="566928"/>
          </a:xfrm>
          <a:prstGeom prst="roundRect">
            <a:avLst>
              <a:gd name="adj" fmla="val 50000"/>
            </a:avLst>
          </a:prstGeom>
          <a:solidFill>
            <a:srgbClr val="E0ECFF"/>
          </a:solidFill>
          <a:ln w="25400">
            <a:solidFill>
              <a:srgbClr val="1D4ED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0B1F3A"/>
          </a:fontRef>
        </p:style>
        <p:txBody>
          <a:bodyPr rtlCol="0" anchor="ctr" wrap="square" lIns="228600" rIns="228600" tIns="18288" bIns="18288"/>
          <a:lstStyle>
            <a:lvl1pPr>
              <a:defRPr sz="2200">
                <a:solidFill>
                  <a:srgbClr val="0B1F3A"/>
                </a:solidFill>
              </a:defRPr>
            </a:lvl1pPr>
          </a:lstStyle>
          <a:p>
            <a:pPr algn="ctr">
              <a:defRPr sz="2200">
                <a:solidFill>
                  <a:srgbClr val="0B1F3A"/>
                </a:solidFill>
              </a:defRPr>
            </a:pPr>
            <a:r>
              <a:rPr sz="2200" b="1">
                <a:solidFill>
                  <a:srgbClr val="0B1F3A"/>
                </a:solidFill>
                <a:latin typeface="Arial"/>
              </a:rPr>
              <a:t>Useful Result / Pattern</a:t>
            </a:r>
            <a:endParaRPr sz="2200">
              <a:solidFill>
                <a:srgbClr val="0B1F3A"/>
              </a:solidFill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5" name="Rectangle 4"/>
              <p:cNvSpPr/>
              <p:nvPr/>
            </p:nvSpPr>
            <p:spPr>
              <a:xfrm>
                <a:off x="731520" y="1353312"/>
                <a:ext cx="10725912" cy="5321808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14:m>
                  <m:oMath xmlns:m="http://schemas.openxmlformats.org/officeDocument/2006/math">
                    <m:rad>
                      <m:radPr>
                        <m:degHide m:val="on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radPr>
                      <m:deg/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+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  <m:rad>
                          <m:radPr>
                            <m:degHide m:val="on"/>
                            <m:ctrlP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radPr>
                          <m:deg/>
                          <m:e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𝑥</m:t>
                            </m:r>
                            <m:r>
                              <m:rPr>
                                <m:sty m:val="p"/>
                              </m:rPr>
                              <a:rPr lang="en-IN" sz="2400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−</m:t>
                            </m:r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1</m:t>
                            </m:r>
                          </m:e>
                        </m:rad>
                      </m:e>
                    </m:rad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|</m:t>
                    </m:r>
                    <m:rad>
                      <m:radPr>
                        <m:degHide m:val="on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radPr>
                      <m:deg/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−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e>
                    </m:rad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|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and similar: radicals </a:t>
                </a:r>
                <a14:m>
                  <m:oMath xmlns:m="http://schemas.openxmlformats.org/officeDocument/2006/math">
                    <m:rad>
                      <m:radPr>
                        <m:degHide m:val="on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radPr>
                      <m:deg/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𝐴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±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  <m:rad>
                          <m:radPr>
                            <m:degHide m:val="on"/>
                            <m:ctrlP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radPr>
                          <m:deg/>
                          <m:e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𝐵</m:t>
                            </m:r>
                          </m:e>
                        </m:rad>
                      </m:e>
                    </m:rad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are perfect squares when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𝐴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𝑢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𝑣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𝐵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𝑢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𝑣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 Here, with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𝑝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ad>
                      <m:radPr>
                        <m:degHide m:val="on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radPr>
                      <m:deg/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8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−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16</m:t>
                        </m:r>
                      </m:e>
                    </m:rad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±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𝑝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(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𝑝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±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4</m:t>
                        </m:r>
                        <m:sSup>
                          <m:e>
                            <m:r>
                              <m:rPr>
                                <m:sty m:val="p"/>
                              </m:rPr>
                              <a:rPr lang="en-IN" sz="2400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)</m:t>
                            </m:r>
                          </m:e>
                          <m:sup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2</m:t>
                            </m:r>
                          </m:sup>
                        </m:sSup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8</m:t>
                        </m:r>
                      </m:den>
                    </m:f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14:m>
                  <m:oMath xmlns:m="http://schemas.openxmlformats.org/officeDocument/2006/math">
                    <m:rad>
                      <m:radPr>
                        <m:degHide m:val="on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radPr>
                      <m:deg/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𝑢</m:t>
                        </m:r>
                      </m:e>
                    </m:rad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ad>
                      <m:radPr>
                        <m:degHide m:val="on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radPr>
                      <m:deg/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𝑣</m:t>
                        </m:r>
                      </m:e>
                    </m:rad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with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𝑢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𝑣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 perfect square: square the sum, </a:t>
                </a:r>
                <a14:m>
                  <m:oMath xmlns:m="http://schemas.openxmlformats.org/officeDocument/2006/math"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𝑓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𝑢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𝑣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  <m:rad>
                      <m:radPr>
                        <m:degHide m:val="on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radPr>
                      <m:deg/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𝑢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𝑣</m:t>
                        </m:r>
                      </m:e>
                    </m:rad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and the modulus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|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⋅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|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appears exactly where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𝑓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may fail to be differentiable.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A function equal to a constant on one side and a strictly monotone function on the other side of a junction is non-differentiable there whenever the right-hand slope is non-zero.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Choice>
        <mc:Fallback>
          <p:sp>
            <p:nvSpPr>
              <p:cNvPr id="5" name="Rectangle 4"/>
              <p:cNvSpPr/>
              <p:nvPr/>
            </p:nvSpPr>
            <p:spPr>
              <a:xfrm>
                <a:off x="731520" y="1353312"/>
                <a:ext cx="10725912" cy="5321808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$\sqrt{x+2\sqrt{x-1}}=|\sqrt{x-1}+1|$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and similar: radicals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$\sqrt{A\pm2\sqrt{B}}$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are perfect squares when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$A=u+v$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$B=uv$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 Here, with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$p=\sqrt{8x-16}$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$x\pm p=\frac{(p\pm4)^2}{8}$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$\sqrt{u}+\sqrt{v}$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with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$uv$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 perfect square: square the sum,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$f^2=u+v+2\sqrt{uv}$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and the modulus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$|\cdot|$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appears exactly where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$f$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may fail to be differentiable.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A function equal to a constant on one side and a strictly monotone function on the other side of a junction is non-differentiable there whenever the right-hand slope is non-zero.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Fallback>
      </mc:AlternateContent>
    </p:spTree>
  </p:cSld>
  <p:clrMapOvr>
    <a:masterClrMapping/>
  </p:clrMapOvr>
</p:sld>
</file>

<file path=ppt/slides/slide10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FFFFFF"/>
          </a:fontRef>
        </p:style>
        <p:txBody>
          <a:bodyPr rtlCol="0" anchor="ctr" lIns="731520"/>
          <a:lstStyle>
            <a:lvl1pPr>
              <a:defRPr sz="3200">
                <a:solidFill>
                  <a:srgbClr val="FFFFFF"/>
                </a:solidFill>
              </a:defRPr>
            </a:lvl1pPr>
          </a:lstStyle>
          <a:p>
            <a:pPr algn="l">
              <a:defRPr sz="3200">
                <a:solidFill>
                  <a:srgbClr val="FFFFFF"/>
                </a:solidFill>
              </a:defRPr>
            </a:pPr>
            <a:r>
              <a:rPr sz="3200" b="1">
                <a:solidFill>
                  <a:srgbClr val="FFFFFF"/>
                </a:solidFill>
                <a:latin typeface="Arial"/>
              </a:rPr>
              <a:t>Question 17</a:t>
            </a:r>
            <a:endParaRPr sz="3200">
              <a:solidFill>
                <a:srgbClr val="FFFFFF"/>
              </a:solidFill>
            </a:endParaRPr>
          </a:p>
        </p:txBody>
      </p:sp>
      <p:sp>
        <p:nvSpPr>
          <p:cNvPr id="3" name="Rounded Rectangle 2"/>
          <p:cNvSpPr/>
          <p:nvPr/>
        </p:nvSpPr>
        <p:spPr>
          <a:xfrm>
            <a:off x="7894015" y="246887"/>
            <a:ext cx="3840480" cy="603504"/>
          </a:xfrm>
          <a:prstGeom prst="roundRect">
            <a:avLst>
              <a:gd name="adj" fmla="val 50000"/>
            </a:avLst>
          </a:prstGeom>
          <a:solidFill>
            <a:srgbClr val="FFD966"/>
          </a:solidFill>
          <a:ln w="1905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111827"/>
          </a:fontRef>
        </p:style>
        <p:txBody>
          <a:bodyPr rtlCol="0" anchor="ctr" wrap="square" lIns="228600" rIns="228600" tIns="18288" bIns="18288"/>
          <a:lstStyle>
            <a:lvl1pPr>
              <a:defRPr sz="2400">
                <a:solidFill>
                  <a:srgbClr val="111827"/>
                </a:solidFill>
              </a:defRPr>
            </a:lvl1pPr>
          </a:lstStyle>
          <a:p>
            <a:pPr algn="ctr">
              <a:defRPr sz="2400">
                <a:solidFill>
                  <a:srgbClr val="111827"/>
                </a:solidFill>
              </a:defRPr>
            </a:pPr>
            <a:r>
              <a:rPr sz="2400" b="1">
                <a:solidFill>
                  <a:srgbClr val="111827"/>
                </a:solidFill>
                <a:latin typeface="Arial"/>
              </a:rPr>
              <a:t>Level 2  ·  4 Marks</a:t>
            </a:r>
            <a:endParaRPr sz="2400">
              <a:solidFill>
                <a:srgbClr val="111827"/>
              </a:solidFill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4" name="Rounded Rectangle 3"/>
              <p:cNvSpPr/>
              <p:nvPr/>
            </p:nvSpPr>
            <p:spPr>
              <a:xfrm>
                <a:off x="731520" y="1280160"/>
                <a:ext cx="10725912" cy="1965452"/>
              </a:xfrm>
              <a:prstGeom prst="roundRect">
                <a:avLst>
                  <a:gd name="adj" fmla="val 8000"/>
                </a:avLst>
              </a:prstGeom>
              <a:solidFill>
                <a:srgbClr val="E0ECFF"/>
              </a:solidFill>
              <a:ln w="25400">
                <a:solidFill>
                  <a:srgbClr val="1D4ED8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>
                  <a:spcAft>
                    <a:spcPts val="500"/>
                  </a:spcAft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If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𝑦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sSup>
                      <m:e>
                        <m:d>
                          <m:dPr>
                            <m:begChr m:val="["/>
                            <m:sepChr m:val=""/>
                            <m:endChr m:val="]"/>
                            <m:grow/>
                            <m:ctrlP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r>
                              <m:rPr>
                                <m:sty m:val="p"/>
                              </m:rPr>
                              <a:rPr lang="en-IN" sz="2400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ln</m:t>
                            </m:r>
                            <m:d>
                              <m:dPr>
                                <m:begChr m:val="("/>
                                <m:sepChr m:val=""/>
                                <m:endChr m:val=")"/>
                                <m:grow/>
                                <m:ctrlPr>
                                  <a:rPr lang="en-IN" sz="2400" i="1">
                                    <a:solidFill>
                                      <a:srgbClr val="111827"/>
                                    </a:solidFill>
                                    <a:latin typeface="Cambria Math" panose="02040503050406030204" pitchFamily="18" charset="0"/>
                                  </a:rPr>
                                </m:ctrlPr>
                              </m:dPr>
                              <m:e>
                                <m:f>
                                  <m:fPr>
                                    <m:type m:val="bar"/>
                                    <m:ctrlPr>
                                      <a:rPr lang="en-IN" sz="2400" i="1">
                                        <a:solidFill>
                                          <a:srgbClr val="111827"/>
                                        </a:solidFill>
                                        <a:latin typeface="Cambria Math" panose="02040503050406030204" pitchFamily="18" charset="0"/>
                                      </a:rPr>
                                    </m:ctrlPr>
                                  </m:fPr>
                                  <m:num>
                                    <m:r>
                                      <a:rPr lang="en-IN" sz="2400" i="1">
                                        <a:solidFill>
                                          <a:srgbClr val="111827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𝑥</m:t>
                                    </m:r>
                                    <m:r>
                                      <m:rPr>
                                        <m:sty m:val="p"/>
                                      </m:rPr>
                                      <a:rPr lang="en-IN" sz="2400">
                                        <a:solidFill>
                                          <a:srgbClr val="111827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+</m:t>
                                    </m:r>
                                    <m:rad>
                                      <m:radPr>
                                        <m:degHide m:val="on"/>
                                        <m:ctrlPr>
                                          <a:rPr lang="en-IN" sz="2400" i="1">
                                            <a:solidFill>
                                              <a:srgbClr val="111827"/>
                                            </a:solidFill>
                                            <a:latin typeface="Cambria Math" panose="02040503050406030204" pitchFamily="18" charset="0"/>
                                          </a:rPr>
                                        </m:ctrlPr>
                                      </m:radPr>
                                      <m:deg/>
                                      <m:e>
                                        <m:sSup>
                                          <m:e>
                                            <m:r>
                                              <a:rPr lang="en-IN" sz="2400" i="1">
                                                <a:solidFill>
                                                  <a:srgbClr val="111827"/>
                                                </a:solidFill>
                                                <a:latin typeface="Cambria Math" panose="02040503050406030204" pitchFamily="18" charset="0"/>
                                              </a:rPr>
                                              <m:t>𝑥</m:t>
                                            </m:r>
                                          </m:e>
                                          <m:sup>
                                            <m:r>
                                              <a:rPr lang="en-IN" sz="2400" i="1">
                                                <a:solidFill>
                                                  <a:srgbClr val="111827"/>
                                                </a:solidFill>
                                                <a:latin typeface="Cambria Math" panose="02040503050406030204" pitchFamily="18" charset="0"/>
                                              </a:rPr>
                                              <m:t>2</m:t>
                                            </m:r>
                                          </m:sup>
                                        </m:sSup>
                                        <m:r>
                                          <m:rPr>
                                            <m:sty m:val="p"/>
                                          </m:rPr>
                                          <a:rPr lang="en-IN" sz="2400">
                                            <a:solidFill>
                                              <a:srgbClr val="111827"/>
                                            </a:solidFill>
                                            <a:latin typeface="Cambria Math" panose="02040503050406030204" pitchFamily="18" charset="0"/>
                                          </a:rPr>
                                          <m:t>−</m:t>
                                        </m:r>
                                        <m:sSup>
                                          <m:e>
                                            <m:r>
                                              <a:rPr lang="en-IN" sz="2400" i="1">
                                                <a:solidFill>
                                                  <a:srgbClr val="111827"/>
                                                </a:solidFill>
                                                <a:latin typeface="Cambria Math" panose="02040503050406030204" pitchFamily="18" charset="0"/>
                                              </a:rPr>
                                              <m:t>𝑎</m:t>
                                            </m:r>
                                          </m:e>
                                          <m:sup>
                                            <m:r>
                                              <a:rPr lang="en-IN" sz="2400" i="1">
                                                <a:solidFill>
                                                  <a:srgbClr val="111827"/>
                                                </a:solidFill>
                                                <a:latin typeface="Cambria Math" panose="02040503050406030204" pitchFamily="18" charset="0"/>
                                              </a:rPr>
                                              <m:t>2</m:t>
                                            </m:r>
                                          </m:sup>
                                        </m:sSup>
                                      </m:e>
                                    </m:rad>
                                  </m:num>
                                  <m:den>
                                    <m:r>
                                      <a:rPr lang="en-IN" sz="2400" i="1">
                                        <a:solidFill>
                                          <a:srgbClr val="111827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𝑎</m:t>
                                    </m:r>
                                  </m:den>
                                </m:f>
                              </m:e>
                            </m:d>
                          </m:e>
                        </m:d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𝑘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ln</m:t>
                    </m:r>
                    <m:d>
                      <m:dPr>
                        <m:begChr m:val="("/>
                        <m:sepChr m:val=""/>
                        <m:endChr m:val=")"/>
                        <m:grow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+</m:t>
                        </m:r>
                        <m:rad>
                          <m:radPr>
                            <m:degHide m:val="on"/>
                            <m:ctrlP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radPr>
                          <m:deg/>
                          <m:e>
                            <m:sSup>
                              <m:e>
                                <m:r>
                                  <a:rPr lang="en-IN" sz="2400" i="1">
                                    <a:solidFill>
                                      <a:srgbClr val="111827"/>
                                    </a:solidFill>
                                    <a:latin typeface="Cambria Math" panose="02040503050406030204" pitchFamily="18" charset="0"/>
                                  </a:rPr>
                                  <m:t>𝑥</m:t>
                                </m:r>
                              </m:e>
                              <m:sup>
                                <m:r>
                                  <a:rPr lang="en-IN" sz="2400" i="1">
                                    <a:solidFill>
                                      <a:srgbClr val="111827"/>
                                    </a:solidFill>
                                    <a:latin typeface="Cambria Math" panose="02040503050406030204" pitchFamily="18" charset="0"/>
                                  </a:rPr>
                                  <m:t>2</m:t>
                                </m:r>
                              </m:sup>
                            </m:sSup>
                            <m:r>
                              <m:rPr>
                                <m:sty m:val="p"/>
                              </m:rPr>
                              <a:rPr lang="en-IN" sz="2400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−</m:t>
                            </m:r>
                            <m:sSup>
                              <m:e>
                                <m:r>
                                  <a:rPr lang="en-IN" sz="2400" i="1">
                                    <a:solidFill>
                                      <a:srgbClr val="111827"/>
                                    </a:solidFill>
                                    <a:latin typeface="Cambria Math" panose="02040503050406030204" pitchFamily="18" charset="0"/>
                                  </a:rPr>
                                  <m:t>𝑎</m:t>
                                </m:r>
                              </m:e>
                              <m:sup>
                                <m:r>
                                  <a:rPr lang="en-IN" sz="2400" i="1">
                                    <a:solidFill>
                                      <a:srgbClr val="111827"/>
                                    </a:solidFill>
                                    <a:latin typeface="Cambria Math" panose="02040503050406030204" pitchFamily="18" charset="0"/>
                                  </a:rPr>
                                  <m:t>2</m:t>
                                </m:r>
                              </m:sup>
                            </m:sSup>
                          </m:e>
                        </m:rad>
                      </m:e>
                    </m:d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then find the value of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𝑎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sSup>
                          <m:e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𝑑</m:t>
                            </m:r>
                          </m:e>
                          <m:sup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2</m:t>
                            </m:r>
                          </m:sup>
                        </m:s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𝑦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𝑑</m:t>
                        </m:r>
                        <m:sSup>
                          <m:e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𝑥</m:t>
                            </m:r>
                          </m:e>
                          <m:sup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2</m:t>
                            </m:r>
                          </m:sup>
                        </m:sSup>
                      </m:den>
                    </m:f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𝑑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𝑦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𝑑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</m:den>
                    </m:f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Choice>
        <mc:Fallback>
          <p:sp>
            <p:nvSpPr>
              <p:cNvPr id="4" name="Rounded Rectangle 3"/>
              <p:cNvSpPr/>
              <p:nvPr/>
            </p:nvSpPr>
            <p:spPr>
              <a:xfrm>
                <a:off x="731520" y="1280160"/>
                <a:ext cx="10725912" cy="1965452"/>
              </a:xfrm>
              <a:prstGeom prst="roundRect">
                <a:avLst>
                  <a:gd name="adj" fmla="val 8000"/>
                </a:avLst>
              </a:prstGeom>
              <a:solidFill>
                <a:srgbClr val="E0ECFF"/>
              </a:solidFill>
              <a:ln w="25400">
                <a:solidFill>
                  <a:srgbClr val="1D4ED8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>
                  <a:spcAft>
                    <a:spcPts val="500"/>
                  </a:spcAft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If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$y=\left[\ln\left(\frac{x+\sqrt{x^2-a^2}}{a}\right)\right]^2+k\ln\left(x+\sqrt{x^2-a^2}\right)$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then find the value of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$(x^2-a^2)\frac{d^2y}{dx^2}+x\frac{dy}{dx}$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Fallback>
      </mc:AlternateContent>
      <p:sp>
        <p:nvSpPr>
          <p:cNvPr id="5" name="Rectangle 4"/>
          <p:cNvSpPr/>
          <p:nvPr/>
        </p:nvSpPr>
        <p:spPr>
          <a:xfrm>
            <a:off x="731520" y="3474212"/>
            <a:ext cx="10725912" cy="2194560"/>
          </a:xfrm>
          <a:prstGeom prst="rect">
            <a:avLst/>
          </a:prstGeom>
          <a:solidFill>
            <a:srgbClr val="FFFFFF"/>
          </a:solidFill>
          <a:ln w="19050">
            <a:solidFill>
              <a:srgbClr val="6B728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111827"/>
          </a:fontRef>
        </p:style>
        <p:txBody>
          <a:bodyPr rtlCol="0" anchor="t" wrap="square" lIns="228600" rIns="228600" tIns="137160" bIns="73152"/>
          <a:lstStyle>
            <a:lvl1pPr>
              <a:defRPr sz="2400">
                <a:solidFill>
                  <a:srgbClr val="111827"/>
                </a:solidFill>
              </a:defRPr>
            </a:lvl1pPr>
          </a:lstStyle>
          <a:p>
            <a:pPr algn="l">
              <a:spcAft>
                <a:spcPts val="200"/>
              </a:spcAft>
              <a:defRPr sz="2400">
                <a:solidFill>
                  <a:srgbClr val="111827"/>
                </a:solidFill>
              </a:defRPr>
            </a:pPr>
            <a:r>
              <a:rPr sz="2400" b="0">
                <a:solidFill>
                  <a:srgbClr val="111827"/>
                </a:solidFill>
                <a:latin typeface="Arial"/>
              </a:rPr>
              <a:t>Numerical Type (4 Marks)</a:t>
            </a:r>
            <a:endParaRPr sz="2400">
              <a:solidFill>
                <a:srgbClr val="111827"/>
              </a:solidFill>
            </a:endParaRPr>
          </a:p>
          <a:p>
            <a:pPr algn="l">
              <a:spcAft>
                <a:spcPts val="200"/>
              </a:spcAft>
              <a:defRPr sz="2400">
                <a:solidFill>
                  <a:srgbClr val="111827"/>
                </a:solidFill>
              </a:defRPr>
            </a:pPr>
            <a:r>
              <a:rPr sz="2400" b="0">
                <a:solidFill>
                  <a:srgbClr val="111827"/>
                </a:solidFill>
                <a:latin typeface="Arial"/>
              </a:rPr>
              <a:t>Concept(s) : Differentiation of logarithmic and inverse hyperbolic type functions, Second order derivatives</a:t>
            </a:r>
            <a:endParaRPr sz="2400">
              <a:solidFill>
                <a:srgbClr val="111827"/>
              </a:solidFill>
            </a:endParaRPr>
          </a:p>
          <a:p>
            <a:pPr algn="l">
              <a:spcAft>
                <a:spcPts val="200"/>
              </a:spcAft>
              <a:defRPr sz="2400">
                <a:solidFill>
                  <a:srgbClr val="111827"/>
                </a:solidFill>
              </a:defRPr>
            </a:pPr>
            <a:r>
              <a:rPr sz="2400" b="0">
                <a:solidFill>
                  <a:srgbClr val="111827"/>
                </a:solidFill>
                <a:latin typeface="Arial"/>
              </a:rPr>
              <a:t>Difficulty Level: Level 2(A level below Average JEE Advanced Level)</a:t>
            </a:r>
            <a:endParaRPr sz="2400">
              <a:solidFill>
                <a:srgbClr val="111827"/>
              </a:solidFill>
            </a:endParaRPr>
          </a:p>
        </p:txBody>
      </p:sp>
    </p:spTree>
  </p:cSld>
  <p:clrMapOvr>
    <a:masterClrMapping/>
  </p:clrMapOvr>
</p:sld>
</file>

<file path=ppt/slides/slide10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FFFFFF"/>
          </a:fontRef>
        </p:style>
        <p:txBody>
          <a:bodyPr rtlCol="0" anchor="ctr" lIns="731520"/>
          <a:lstStyle>
            <a:lvl1pPr>
              <a:defRPr sz="3200">
                <a:solidFill>
                  <a:srgbClr val="FFFFFF"/>
                </a:solidFill>
              </a:defRPr>
            </a:lvl1pPr>
          </a:lstStyle>
          <a:p>
            <a:pPr algn="l">
              <a:defRPr sz="3200">
                <a:solidFill>
                  <a:srgbClr val="FFFFFF"/>
                </a:solidFill>
              </a:defRPr>
            </a:pPr>
            <a:r>
              <a:rPr sz="3200" b="1">
                <a:solidFill>
                  <a:srgbClr val="FFFFFF"/>
                </a:solidFill>
                <a:latin typeface="Arial"/>
              </a:rPr>
              <a:t>Question 17</a:t>
            </a:r>
            <a:endParaRPr sz="3200">
              <a:solidFill>
                <a:srgbClr val="FFFFFF"/>
              </a:solidFill>
            </a:endParaRPr>
          </a:p>
        </p:txBody>
      </p:sp>
      <p:sp>
        <p:nvSpPr>
          <p:cNvPr id="3" name="Rounded Rectangle 2"/>
          <p:cNvSpPr/>
          <p:nvPr/>
        </p:nvSpPr>
        <p:spPr>
          <a:xfrm>
            <a:off x="7894015" y="246887"/>
            <a:ext cx="3840480" cy="603504"/>
          </a:xfrm>
          <a:prstGeom prst="roundRect">
            <a:avLst>
              <a:gd name="adj" fmla="val 50000"/>
            </a:avLst>
          </a:prstGeom>
          <a:solidFill>
            <a:srgbClr val="FFD966"/>
          </a:solidFill>
          <a:ln w="1905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111827"/>
          </a:fontRef>
        </p:style>
        <p:txBody>
          <a:bodyPr rtlCol="0" anchor="ctr" wrap="square" lIns="228600" rIns="228600" tIns="18288" bIns="18288"/>
          <a:lstStyle>
            <a:lvl1pPr>
              <a:defRPr sz="2400">
                <a:solidFill>
                  <a:srgbClr val="111827"/>
                </a:solidFill>
              </a:defRPr>
            </a:lvl1pPr>
          </a:lstStyle>
          <a:p>
            <a:pPr algn="ctr">
              <a:defRPr sz="2400">
                <a:solidFill>
                  <a:srgbClr val="111827"/>
                </a:solidFill>
              </a:defRPr>
            </a:pPr>
            <a:r>
              <a:rPr sz="2400" b="1">
                <a:solidFill>
                  <a:srgbClr val="111827"/>
                </a:solidFill>
                <a:latin typeface="Arial"/>
              </a:rPr>
              <a:t>Level 2  ·  4 Marks</a:t>
            </a:r>
            <a:endParaRPr sz="2400">
              <a:solidFill>
                <a:srgbClr val="111827"/>
              </a:solidFill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4" name="Rounded Rectangle 3"/>
              <p:cNvSpPr/>
              <p:nvPr/>
            </p:nvSpPr>
            <p:spPr>
              <a:xfrm>
                <a:off x="731520" y="1280160"/>
                <a:ext cx="10725912" cy="1328928"/>
              </a:xfrm>
              <a:prstGeom prst="roundRect">
                <a:avLst>
                  <a:gd name="adj" fmla="val 8000"/>
                </a:avLst>
              </a:prstGeom>
              <a:solidFill>
                <a:srgbClr val="FDE68A"/>
              </a:solidFill>
              <a:ln w="31750">
                <a:solidFill>
                  <a:srgbClr val="D97706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78350F"/>
              </a:fontRef>
            </p:style>
            <p:txBody>
              <a:bodyPr rtlCol="0" anchor="ctr" wrap="square" lIns="228600" rIns="228600" tIns="54864" bIns="73152"/>
              <a:lstStyle>
                <a:lvl1pPr>
                  <a:defRPr sz="2400">
                    <a:solidFill>
                      <a:srgbClr val="78350F"/>
                    </a:solidFill>
                  </a:defRPr>
                </a:lvl1pPr>
              </a:lstStyle>
              <a:p>
                <a:pPr algn="l">
                  <a:defRPr sz="2400">
                    <a:solidFill>
                      <a:srgbClr val="78350F"/>
                    </a:solidFill>
                  </a:defRPr>
                </a:pPr>
                <a:r>
                  <a:rPr sz="2400" b="1">
                    <a:solidFill>
                      <a:srgbClr val="78350F"/>
                    </a:solidFill>
                    <a:latin typeface="Arial"/>
                  </a:rPr>
                  <a:t>Key idea:  </a:t>
                </a:r>
                <a14:m>
                  <m:oMath xmlns:m="http://schemas.openxmlformats.org/officeDocument/2006/math"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𝑑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𝑑</m:t>
                        </m:r>
                        <m: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</m:den>
                    </m:f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ln</m:t>
                    </m:r>
                    <m:d>
                      <m:dPr>
                        <m:begChr m:val="("/>
                        <m:sepChr m:val=""/>
                        <m:endChr m:val=")"/>
                        <m:grow/>
                        <m:ctrlP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+</m:t>
                        </m:r>
                        <m:rad>
                          <m:radPr>
                            <m:degHide m:val="on"/>
                            <m:ctrlPr>
                              <a:rPr lang="en-IN" sz="2400" i="1">
                                <a:solidFill>
                                  <a:srgbClr val="78350F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radPr>
                          <m:deg/>
                          <m:e>
                            <m:sSup>
                              <m:e>
                                <m:r>
                                  <a:rPr lang="en-IN" sz="2400" i="1">
                                    <a:solidFill>
                                      <a:srgbClr val="78350F"/>
                                    </a:solidFill>
                                    <a:latin typeface="Cambria Math" panose="02040503050406030204" pitchFamily="18" charset="0"/>
                                  </a:rPr>
                                  <m:t>𝑥</m:t>
                                </m:r>
                              </m:e>
                              <m:sup>
                                <m:r>
                                  <a:rPr lang="en-IN" sz="2400" i="1">
                                    <a:solidFill>
                                      <a:srgbClr val="78350F"/>
                                    </a:solidFill>
                                    <a:latin typeface="Cambria Math" panose="02040503050406030204" pitchFamily="18" charset="0"/>
                                  </a:rPr>
                                  <m:t>2</m:t>
                                </m:r>
                              </m:sup>
                            </m:sSup>
                            <m:r>
                              <m:rPr>
                                <m:sty m:val="p"/>
                              </m:rPr>
                              <a:rPr lang="en-IN" sz="2400">
                                <a:solidFill>
                                  <a:srgbClr val="78350F"/>
                                </a:solidFill>
                                <a:latin typeface="Cambria Math" panose="02040503050406030204" pitchFamily="18" charset="0"/>
                              </a:rPr>
                              <m:t>−</m:t>
                            </m:r>
                            <m:sSup>
                              <m:e>
                                <m:r>
                                  <a:rPr lang="en-IN" sz="2400" i="1">
                                    <a:solidFill>
                                      <a:srgbClr val="78350F"/>
                                    </a:solidFill>
                                    <a:latin typeface="Cambria Math" panose="02040503050406030204" pitchFamily="18" charset="0"/>
                                  </a:rPr>
                                  <m:t>𝑎</m:t>
                                </m:r>
                              </m:e>
                              <m:sup>
                                <m:r>
                                  <a:rPr lang="en-IN" sz="2400" i="1">
                                    <a:solidFill>
                                      <a:srgbClr val="78350F"/>
                                    </a:solidFill>
                                    <a:latin typeface="Cambria Math" panose="02040503050406030204" pitchFamily="18" charset="0"/>
                                  </a:rPr>
                                  <m:t>2</m:t>
                                </m:r>
                              </m:sup>
                            </m:sSup>
                          </m:e>
                        </m:rad>
                      </m:e>
                    </m:d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num>
                      <m:den>
                        <m:rad>
                          <m:radPr>
                            <m:degHide m:val="on"/>
                            <m:ctrlPr>
                              <a:rPr lang="en-IN" sz="2400" i="1">
                                <a:solidFill>
                                  <a:srgbClr val="78350F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radPr>
                          <m:deg/>
                          <m:e>
                            <m:sSup>
                              <m:e>
                                <m:r>
                                  <a:rPr lang="en-IN" sz="2400" i="1">
                                    <a:solidFill>
                                      <a:srgbClr val="78350F"/>
                                    </a:solidFill>
                                    <a:latin typeface="Cambria Math" panose="02040503050406030204" pitchFamily="18" charset="0"/>
                                  </a:rPr>
                                  <m:t>𝑥</m:t>
                                </m:r>
                              </m:e>
                              <m:sup>
                                <m:r>
                                  <a:rPr lang="en-IN" sz="2400" i="1">
                                    <a:solidFill>
                                      <a:srgbClr val="78350F"/>
                                    </a:solidFill>
                                    <a:latin typeface="Cambria Math" panose="02040503050406030204" pitchFamily="18" charset="0"/>
                                  </a:rPr>
                                  <m:t>2</m:t>
                                </m:r>
                              </m:sup>
                            </m:sSup>
                            <m:r>
                              <m:rPr>
                                <m:sty m:val="p"/>
                              </m:rPr>
                              <a:rPr lang="en-IN" sz="2400">
                                <a:solidFill>
                                  <a:srgbClr val="78350F"/>
                                </a:solidFill>
                                <a:latin typeface="Cambria Math" panose="02040503050406030204" pitchFamily="18" charset="0"/>
                              </a:rPr>
                              <m:t>−</m:t>
                            </m:r>
                            <m:sSup>
                              <m:e>
                                <m:r>
                                  <a:rPr lang="en-IN" sz="2400" i="1">
                                    <a:solidFill>
                                      <a:srgbClr val="78350F"/>
                                    </a:solidFill>
                                    <a:latin typeface="Cambria Math" panose="02040503050406030204" pitchFamily="18" charset="0"/>
                                  </a:rPr>
                                  <m:t>𝑎</m:t>
                                </m:r>
                              </m:e>
                              <m:sup>
                                <m:r>
                                  <a:rPr lang="en-IN" sz="2400" i="1">
                                    <a:solidFill>
                                      <a:srgbClr val="78350F"/>
                                    </a:solidFill>
                                    <a:latin typeface="Cambria Math" panose="02040503050406030204" pitchFamily="18" charset="0"/>
                                  </a:rPr>
                                  <m:t>2</m:t>
                                </m:r>
                              </m:sup>
                            </m:sSup>
                          </m:e>
                        </m:rad>
                      </m:den>
                    </m:f>
                  </m:oMath>
                </a14:m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, so </a:t>
                </a:r>
                <a14:m>
                  <m:oMath xmlns:m="http://schemas.openxmlformats.org/officeDocument/2006/math">
                    <m:rad>
                      <m:radPr>
                        <m:degHide m:val="on"/>
                        <m:ctrlP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</m:ctrlPr>
                      </m:radPr>
                      <m:deg/>
                      <m:e>
                        <m:sSup>
                          <m:e>
                            <m:r>
                              <a:rPr lang="en-IN" sz="2400" i="1">
                                <a:solidFill>
                                  <a:srgbClr val="78350F"/>
                                </a:solidFill>
                                <a:latin typeface="Cambria Math" panose="02040503050406030204" pitchFamily="18" charset="0"/>
                              </a:rPr>
                              <m:t>𝑥</m:t>
                            </m:r>
                          </m:e>
                          <m:sup>
                            <m:r>
                              <a:rPr lang="en-IN" sz="2400" i="1">
                                <a:solidFill>
                                  <a:srgbClr val="78350F"/>
                                </a:solidFill>
                                <a:latin typeface="Cambria Math" panose="02040503050406030204" pitchFamily="18" charset="0"/>
                              </a:rPr>
                              <m:t>2</m:t>
                            </m:r>
                          </m:sup>
                        </m:sSup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−</m:t>
                        </m:r>
                        <m:sSup>
                          <m:e>
                            <m:r>
                              <a:rPr lang="en-IN" sz="2400" i="1">
                                <a:solidFill>
                                  <a:srgbClr val="78350F"/>
                                </a:solidFill>
                                <a:latin typeface="Cambria Math" panose="02040503050406030204" pitchFamily="18" charset="0"/>
                              </a:rPr>
                              <m:t>𝑎</m:t>
                            </m:r>
                          </m:e>
                          <m:sup>
                            <m:r>
                              <a:rPr lang="en-IN" sz="2400" i="1">
                                <a:solidFill>
                                  <a:srgbClr val="78350F"/>
                                </a:solidFill>
                                <a:latin typeface="Cambria Math" panose="02040503050406030204" pitchFamily="18" charset="0"/>
                              </a:rPr>
                              <m:t>2</m:t>
                            </m:r>
                          </m:sup>
                        </m:sSup>
                      </m:e>
                    </m:rad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 </m:t>
                    </m:r>
                    <m:sSup>
                      <m:e>
                        <m: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𝑦</m:t>
                        </m:r>
                      </m:e>
                      <m:sup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′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2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ln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⋅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𝑘</m:t>
                    </m:r>
                  </m:oMath>
                </a14:m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.</a:t>
                </a:r>
                <a:endParaRPr sz="2400">
                  <a:solidFill>
                    <a:srgbClr val="78350F"/>
                  </a:solidFill>
                </a:endParaRPr>
              </a:p>
            </p:txBody>
          </p:sp>
        </mc:Choice>
        <mc:Fallback>
          <p:sp>
            <p:nvSpPr>
              <p:cNvPr id="4" name="Rounded Rectangle 3"/>
              <p:cNvSpPr/>
              <p:nvPr/>
            </p:nvSpPr>
            <p:spPr>
              <a:xfrm>
                <a:off x="731520" y="1280160"/>
                <a:ext cx="10725912" cy="1328928"/>
              </a:xfrm>
              <a:prstGeom prst="roundRect">
                <a:avLst>
                  <a:gd name="adj" fmla="val 8000"/>
                </a:avLst>
              </a:prstGeom>
              <a:solidFill>
                <a:srgbClr val="FDE68A"/>
              </a:solidFill>
              <a:ln w="31750">
                <a:solidFill>
                  <a:srgbClr val="D97706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78350F"/>
              </a:fontRef>
            </p:style>
            <p:txBody>
              <a:bodyPr rtlCol="0" anchor="ctr" wrap="square" lIns="228600" rIns="228600" tIns="54864" bIns="73152"/>
              <a:lstStyle>
                <a:lvl1pPr>
                  <a:defRPr sz="2400">
                    <a:solidFill>
                      <a:srgbClr val="78350F"/>
                    </a:solidFill>
                  </a:defRPr>
                </a:lvl1pPr>
              </a:lstStyle>
              <a:p>
                <a:pPr algn="l">
                  <a:defRPr sz="2400">
                    <a:solidFill>
                      <a:srgbClr val="78350F"/>
                    </a:solidFill>
                  </a:defRPr>
                </a:pPr>
                <a:r>
                  <a:rPr sz="2400" b="1">
                    <a:solidFill>
                      <a:srgbClr val="78350F"/>
                    </a:solidFill>
                    <a:latin typeface="Arial"/>
                  </a:rPr>
                  <a:t>Key idea:  </a:t>
                </a:r>
                <a:r>
                  <a:rPr lang="en-IN" sz="2400">
                    <a:solidFill>
                      <a:srgbClr val="78350F"/>
                    </a:solidFill>
                    <a:latin typeface="Cambria Math" panose="02040503050406030204" pitchFamily="18" charset="0"/>
                  </a:rPr>
                  <a:t>$\frac{d}{dx}\ln\left(x+\sqrt{x^2-a^2}\right)=\frac1{\sqrt{x^2-a^2}}$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, so </a:t>
                </a:r>
                <a:r>
                  <a:rPr lang="en-IN" sz="2400">
                    <a:solidFill>
                      <a:srgbClr val="78350F"/>
                    </a:solidFill>
                    <a:latin typeface="Cambria Math" panose="02040503050406030204" pitchFamily="18" charset="0"/>
                  </a:rPr>
                  <a:t>$\sqrt{x^2-a^2}\,y'=2\ln(\cdot)+k$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.</a:t>
                </a:r>
                <a:endParaRPr sz="2400">
                  <a:solidFill>
                    <a:srgbClr val="78350F"/>
                  </a:solidFill>
                </a:endParaRP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5" name="Rectangle 4"/>
              <p:cNvSpPr/>
              <p:nvPr/>
            </p:nvSpPr>
            <p:spPr>
              <a:xfrm>
                <a:off x="731520" y="2746248"/>
                <a:ext cx="10725912" cy="3928872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𝑦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sSup>
                      <m:e>
                        <m:d>
                          <m:dPr>
                            <m:begChr m:val="["/>
                            <m:sepChr m:val=""/>
                            <m:endChr m:val="]"/>
                            <m:grow/>
                            <m:ctrlP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r>
                              <m:rPr>
                                <m:sty m:val="p"/>
                              </m:rPr>
                              <a:rPr lang="en-IN" sz="2400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ln</m:t>
                            </m:r>
                            <m:f>
                              <m:fPr>
                                <m:type m:val="bar"/>
                                <m:ctrlPr>
                                  <a:rPr lang="en-IN" sz="2400" i="1">
                                    <a:solidFill>
                                      <a:srgbClr val="111827"/>
                                    </a:solidFill>
                                    <a:latin typeface="Cambria Math" panose="02040503050406030204" pitchFamily="18" charset="0"/>
                                  </a:rPr>
                                </m:ctrlPr>
                              </m:fPr>
                              <m:num>
                                <m:r>
                                  <a:rPr lang="en-IN" sz="2400" i="1">
                                    <a:solidFill>
                                      <a:srgbClr val="111827"/>
                                    </a:solidFill>
                                    <a:latin typeface="Cambria Math" panose="02040503050406030204" pitchFamily="18" charset="0"/>
                                  </a:rPr>
                                  <m:t>𝑥</m:t>
                                </m:r>
                                <m:r>
                                  <m:rPr>
                                    <m:sty m:val="p"/>
                                  </m:rPr>
                                  <a:rPr lang="en-IN" sz="2400">
                                    <a:solidFill>
                                      <a:srgbClr val="111827"/>
                                    </a:solidFill>
                                    <a:latin typeface="Cambria Math" panose="02040503050406030204" pitchFamily="18" charset="0"/>
                                  </a:rPr>
                                  <m:t>+</m:t>
                                </m:r>
                                <m:rad>
                                  <m:radPr>
                                    <m:degHide m:val="on"/>
                                    <m:ctrlPr>
                                      <a:rPr lang="en-IN" sz="2400" i="1">
                                        <a:solidFill>
                                          <a:srgbClr val="111827"/>
                                        </a:solidFill>
                                        <a:latin typeface="Cambria Math" panose="02040503050406030204" pitchFamily="18" charset="0"/>
                                      </a:rPr>
                                    </m:ctrlPr>
                                  </m:radPr>
                                  <m:deg/>
                                  <m:e>
                                    <m:sSup>
                                      <m:e>
                                        <m:r>
                                          <a:rPr lang="en-IN" sz="2400" i="1">
                                            <a:solidFill>
                                              <a:srgbClr val="111827"/>
                                            </a:solidFill>
                                            <a:latin typeface="Cambria Math" panose="02040503050406030204" pitchFamily="18" charset="0"/>
                                          </a:rPr>
                                          <m:t>𝑥</m:t>
                                        </m:r>
                                      </m:e>
                                      <m:sup>
                                        <m:r>
                                          <a:rPr lang="en-IN" sz="2400" i="1">
                                            <a:solidFill>
                                              <a:srgbClr val="111827"/>
                                            </a:solidFill>
                                            <a:latin typeface="Cambria Math" panose="02040503050406030204" pitchFamily="18" charset="0"/>
                                          </a:rPr>
                                          <m:t>2</m:t>
                                        </m:r>
                                      </m:sup>
                                    </m:sSup>
                                    <m:r>
                                      <m:rPr>
                                        <m:sty m:val="p"/>
                                      </m:rPr>
                                      <a:rPr lang="en-IN" sz="2400">
                                        <a:solidFill>
                                          <a:srgbClr val="111827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−</m:t>
                                    </m:r>
                                    <m:sSup>
                                      <m:e>
                                        <m:r>
                                          <a:rPr lang="en-IN" sz="2400" i="1">
                                            <a:solidFill>
                                              <a:srgbClr val="111827"/>
                                            </a:solidFill>
                                            <a:latin typeface="Cambria Math" panose="02040503050406030204" pitchFamily="18" charset="0"/>
                                          </a:rPr>
                                          <m:t>𝑎</m:t>
                                        </m:r>
                                      </m:e>
                                      <m:sup>
                                        <m:r>
                                          <a:rPr lang="en-IN" sz="2400" i="1">
                                            <a:solidFill>
                                              <a:srgbClr val="111827"/>
                                            </a:solidFill>
                                            <a:latin typeface="Cambria Math" panose="02040503050406030204" pitchFamily="18" charset="0"/>
                                          </a:rPr>
                                          <m:t>2</m:t>
                                        </m:r>
                                      </m:sup>
                                    </m:sSup>
                                  </m:e>
                                </m:rad>
                              </m:num>
                              <m:den>
                                <m:r>
                                  <a:rPr lang="en-IN" sz="2400" i="1">
                                    <a:solidFill>
                                      <a:srgbClr val="111827"/>
                                    </a:solidFill>
                                    <a:latin typeface="Cambria Math" panose="02040503050406030204" pitchFamily="18" charset="0"/>
                                  </a:rPr>
                                  <m:t>𝑎</m:t>
                                </m:r>
                              </m:den>
                            </m:f>
                          </m:e>
                        </m:d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𝑘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ln</m:t>
                    </m:r>
                    <m:d>
                      <m:dPr>
                        <m:begChr m:val="("/>
                        <m:sepChr m:val=""/>
                        <m:endChr m:val=")"/>
                        <m:grow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+</m:t>
                        </m:r>
                        <m:rad>
                          <m:radPr>
                            <m:degHide m:val="on"/>
                            <m:ctrlP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radPr>
                          <m:deg/>
                          <m:e>
                            <m:sSup>
                              <m:e>
                                <m:r>
                                  <a:rPr lang="en-IN" sz="2400" i="1">
                                    <a:solidFill>
                                      <a:srgbClr val="111827"/>
                                    </a:solidFill>
                                    <a:latin typeface="Cambria Math" panose="02040503050406030204" pitchFamily="18" charset="0"/>
                                  </a:rPr>
                                  <m:t>𝑥</m:t>
                                </m:r>
                              </m:e>
                              <m:sup>
                                <m:r>
                                  <a:rPr lang="en-IN" sz="2400" i="1">
                                    <a:solidFill>
                                      <a:srgbClr val="111827"/>
                                    </a:solidFill>
                                    <a:latin typeface="Cambria Math" panose="02040503050406030204" pitchFamily="18" charset="0"/>
                                  </a:rPr>
                                  <m:t>2</m:t>
                                </m:r>
                              </m:sup>
                            </m:sSup>
                            <m:r>
                              <m:rPr>
                                <m:sty m:val="p"/>
                              </m:rPr>
                              <a:rPr lang="en-IN" sz="2400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−</m:t>
                            </m:r>
                            <m:sSup>
                              <m:e>
                                <m:r>
                                  <a:rPr lang="en-IN" sz="2400" i="1">
                                    <a:solidFill>
                                      <a:srgbClr val="111827"/>
                                    </a:solidFill>
                                    <a:latin typeface="Cambria Math" panose="02040503050406030204" pitchFamily="18" charset="0"/>
                                  </a:rPr>
                                  <m:t>𝑎</m:t>
                                </m:r>
                              </m:e>
                              <m:sup>
                                <m:r>
                                  <a:rPr lang="en-IN" sz="2400" i="1">
                                    <a:solidFill>
                                      <a:srgbClr val="111827"/>
                                    </a:solidFill>
                                    <a:latin typeface="Cambria Math" panose="02040503050406030204" pitchFamily="18" charset="0"/>
                                  </a:rPr>
                                  <m:t>2</m:t>
                                </m:r>
                              </m:sup>
                            </m:sSup>
                          </m:e>
                        </m:rad>
                      </m:e>
                    </m:d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Differentiate: </a:t>
                </a:r>
                <a14:m>
                  <m:oMath xmlns:m="http://schemas.openxmlformats.org/officeDocument/2006/math"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𝑑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𝑦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𝑑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</m:den>
                    </m:f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ln</m:t>
                    </m:r>
                    <m:d>
                      <m:dPr>
                        <m:begChr m:val="("/>
                        <m:sepChr m:val=""/>
                        <m:endChr m:val=")"/>
                        <m:grow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f>
                          <m:fPr>
                            <m:type m:val="bar"/>
                            <m:ctrlP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fPr>
                          <m:num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𝑥</m:t>
                            </m:r>
                            <m:r>
                              <m:rPr>
                                <m:sty m:val="p"/>
                              </m:rPr>
                              <a:rPr lang="en-IN" sz="2400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+</m:t>
                            </m:r>
                            <m:rad>
                              <m:radPr>
                                <m:degHide m:val="on"/>
                                <m:ctrlPr>
                                  <a:rPr lang="en-IN" sz="2400" i="1">
                                    <a:solidFill>
                                      <a:srgbClr val="111827"/>
                                    </a:solidFill>
                                    <a:latin typeface="Cambria Math" panose="02040503050406030204" pitchFamily="18" charset="0"/>
                                  </a:rPr>
                                </m:ctrlPr>
                              </m:radPr>
                              <m:deg/>
                              <m:e>
                                <m:sSup>
                                  <m:e>
                                    <m:r>
                                      <a:rPr lang="en-IN" sz="2400" i="1">
                                        <a:solidFill>
                                          <a:srgbClr val="111827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𝑥</m:t>
                                    </m:r>
                                  </m:e>
                                  <m:sup>
                                    <m:r>
                                      <a:rPr lang="en-IN" sz="2400" i="1">
                                        <a:solidFill>
                                          <a:srgbClr val="111827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2</m:t>
                                    </m:r>
                                  </m:sup>
                                </m:sSup>
                                <m:r>
                                  <m:rPr>
                                    <m:sty m:val="p"/>
                                  </m:rPr>
                                  <a:rPr lang="en-IN" sz="2400">
                                    <a:solidFill>
                                      <a:srgbClr val="111827"/>
                                    </a:solidFill>
                                    <a:latin typeface="Cambria Math" panose="02040503050406030204" pitchFamily="18" charset="0"/>
                                  </a:rPr>
                                  <m:t>−</m:t>
                                </m:r>
                                <m:sSup>
                                  <m:e>
                                    <m:r>
                                      <a:rPr lang="en-IN" sz="2400" i="1">
                                        <a:solidFill>
                                          <a:srgbClr val="111827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𝑎</m:t>
                                    </m:r>
                                  </m:e>
                                  <m:sup>
                                    <m:r>
                                      <a:rPr lang="en-IN" sz="2400" i="1">
                                        <a:solidFill>
                                          <a:srgbClr val="111827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2</m:t>
                                    </m:r>
                                  </m:sup>
                                </m:sSup>
                              </m:e>
                            </m:rad>
                          </m:num>
                          <m:den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𝑎</m:t>
                            </m:r>
                          </m:den>
                        </m:f>
                      </m:e>
                    </m:d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num>
                      <m:den>
                        <m:rad>
                          <m:radPr>
                            <m:degHide m:val="on"/>
                            <m:ctrlP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radPr>
                          <m:deg/>
                          <m:e>
                            <m:sSup>
                              <m:e>
                                <m:r>
                                  <a:rPr lang="en-IN" sz="2400" i="1">
                                    <a:solidFill>
                                      <a:srgbClr val="111827"/>
                                    </a:solidFill>
                                    <a:latin typeface="Cambria Math" panose="02040503050406030204" pitchFamily="18" charset="0"/>
                                  </a:rPr>
                                  <m:t>𝑥</m:t>
                                </m:r>
                              </m:e>
                              <m:sup>
                                <m:r>
                                  <a:rPr lang="en-IN" sz="2400" i="1">
                                    <a:solidFill>
                                      <a:srgbClr val="111827"/>
                                    </a:solidFill>
                                    <a:latin typeface="Cambria Math" panose="02040503050406030204" pitchFamily="18" charset="0"/>
                                  </a:rPr>
                                  <m:t>2</m:t>
                                </m:r>
                              </m:sup>
                            </m:sSup>
                            <m:r>
                              <m:rPr>
                                <m:sty m:val="p"/>
                              </m:rPr>
                              <a:rPr lang="en-IN" sz="2400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−</m:t>
                            </m:r>
                            <m:sSup>
                              <m:e>
                                <m:r>
                                  <a:rPr lang="en-IN" sz="2400" i="1">
                                    <a:solidFill>
                                      <a:srgbClr val="111827"/>
                                    </a:solidFill>
                                    <a:latin typeface="Cambria Math" panose="02040503050406030204" pitchFamily="18" charset="0"/>
                                  </a:rPr>
                                  <m:t>𝑎</m:t>
                                </m:r>
                              </m:e>
                              <m:sup>
                                <m:r>
                                  <a:rPr lang="en-IN" sz="2400" i="1">
                                    <a:solidFill>
                                      <a:srgbClr val="111827"/>
                                    </a:solidFill>
                                    <a:latin typeface="Cambria Math" panose="02040503050406030204" pitchFamily="18" charset="0"/>
                                  </a:rPr>
                                  <m:t>2</m:t>
                                </m:r>
                              </m:sup>
                            </m:sSup>
                          </m:e>
                        </m:rad>
                      </m:den>
                    </m:f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𝑘</m:t>
                        </m:r>
                      </m:num>
                      <m:den>
                        <m:rad>
                          <m:radPr>
                            <m:degHide m:val="on"/>
                            <m:ctrlP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radPr>
                          <m:deg/>
                          <m:e>
                            <m:sSup>
                              <m:e>
                                <m:r>
                                  <a:rPr lang="en-IN" sz="2400" i="1">
                                    <a:solidFill>
                                      <a:srgbClr val="111827"/>
                                    </a:solidFill>
                                    <a:latin typeface="Cambria Math" panose="02040503050406030204" pitchFamily="18" charset="0"/>
                                  </a:rPr>
                                  <m:t>𝑥</m:t>
                                </m:r>
                              </m:e>
                              <m:sup>
                                <m:r>
                                  <a:rPr lang="en-IN" sz="2400" i="1">
                                    <a:solidFill>
                                      <a:srgbClr val="111827"/>
                                    </a:solidFill>
                                    <a:latin typeface="Cambria Math" panose="02040503050406030204" pitchFamily="18" charset="0"/>
                                  </a:rPr>
                                  <m:t>2</m:t>
                                </m:r>
                              </m:sup>
                            </m:sSup>
                            <m:r>
                              <m:rPr>
                                <m:sty m:val="p"/>
                              </m:rPr>
                              <a:rPr lang="en-IN" sz="2400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−</m:t>
                            </m:r>
                            <m:sSup>
                              <m:e>
                                <m:r>
                                  <a:rPr lang="en-IN" sz="2400" i="1">
                                    <a:solidFill>
                                      <a:srgbClr val="111827"/>
                                    </a:solidFill>
                                    <a:latin typeface="Cambria Math" panose="02040503050406030204" pitchFamily="18" charset="0"/>
                                  </a:rPr>
                                  <m:t>𝑎</m:t>
                                </m:r>
                              </m:e>
                              <m:sup>
                                <m:r>
                                  <a:rPr lang="en-IN" sz="2400" i="1">
                                    <a:solidFill>
                                      <a:srgbClr val="111827"/>
                                    </a:solidFill>
                                    <a:latin typeface="Cambria Math" panose="02040503050406030204" pitchFamily="18" charset="0"/>
                                  </a:rPr>
                                  <m:t>2</m:t>
                                </m:r>
                              </m:sup>
                            </m:sSup>
                          </m:e>
                        </m:rad>
                      </m:den>
                    </m:f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So </a:t>
                </a:r>
                <a14:m>
                  <m:oMath xmlns:m="http://schemas.openxmlformats.org/officeDocument/2006/math">
                    <m:rad>
                      <m:radPr>
                        <m:degHide m:val="on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radPr>
                      <m:deg/>
                      <m:e>
                        <m:sSup>
                          <m:e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𝑥</m:t>
                            </m:r>
                          </m:e>
                          <m:sup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2</m:t>
                            </m:r>
                          </m:sup>
                        </m:sSup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−</m:t>
                        </m:r>
                        <m:sSup>
                          <m:e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𝑎</m:t>
                            </m:r>
                          </m:e>
                          <m:sup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2</m:t>
                            </m:r>
                          </m:sup>
                        </m:sSup>
                      </m:e>
                    </m:rad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 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𝑑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𝑦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𝑑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</m:den>
                    </m:f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ln</m:t>
                    </m:r>
                    <m:d>
                      <m:dPr>
                        <m:begChr m:val="("/>
                        <m:sepChr m:val=""/>
                        <m:endChr m:val=")"/>
                        <m:grow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f>
                          <m:fPr>
                            <m:type m:val="bar"/>
                            <m:ctrlP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fPr>
                          <m:num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𝑥</m:t>
                            </m:r>
                            <m:r>
                              <m:rPr>
                                <m:sty m:val="p"/>
                              </m:rPr>
                              <a:rPr lang="en-IN" sz="2400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+</m:t>
                            </m:r>
                            <m:rad>
                              <m:radPr>
                                <m:degHide m:val="on"/>
                                <m:ctrlPr>
                                  <a:rPr lang="en-IN" sz="2400" i="1">
                                    <a:solidFill>
                                      <a:srgbClr val="111827"/>
                                    </a:solidFill>
                                    <a:latin typeface="Cambria Math" panose="02040503050406030204" pitchFamily="18" charset="0"/>
                                  </a:rPr>
                                </m:ctrlPr>
                              </m:radPr>
                              <m:deg/>
                              <m:e>
                                <m:sSup>
                                  <m:e>
                                    <m:r>
                                      <a:rPr lang="en-IN" sz="2400" i="1">
                                        <a:solidFill>
                                          <a:srgbClr val="111827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𝑥</m:t>
                                    </m:r>
                                  </m:e>
                                  <m:sup>
                                    <m:r>
                                      <a:rPr lang="en-IN" sz="2400" i="1">
                                        <a:solidFill>
                                          <a:srgbClr val="111827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2</m:t>
                                    </m:r>
                                  </m:sup>
                                </m:sSup>
                                <m:r>
                                  <m:rPr>
                                    <m:sty m:val="p"/>
                                  </m:rPr>
                                  <a:rPr lang="en-IN" sz="2400">
                                    <a:solidFill>
                                      <a:srgbClr val="111827"/>
                                    </a:solidFill>
                                    <a:latin typeface="Cambria Math" panose="02040503050406030204" pitchFamily="18" charset="0"/>
                                  </a:rPr>
                                  <m:t>−</m:t>
                                </m:r>
                                <m:sSup>
                                  <m:e>
                                    <m:r>
                                      <a:rPr lang="en-IN" sz="2400" i="1">
                                        <a:solidFill>
                                          <a:srgbClr val="111827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𝑎</m:t>
                                    </m:r>
                                  </m:e>
                                  <m:sup>
                                    <m:r>
                                      <a:rPr lang="en-IN" sz="2400" i="1">
                                        <a:solidFill>
                                          <a:srgbClr val="111827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2</m:t>
                                    </m:r>
                                  </m:sup>
                                </m:sSup>
                              </m:e>
                            </m:rad>
                          </m:num>
                          <m:den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𝑎</m:t>
                            </m:r>
                          </m:den>
                        </m:f>
                      </m:e>
                    </m:d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𝑘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Choice>
        <mc:Fallback>
          <p:sp>
            <p:nvSpPr>
              <p:cNvPr id="5" name="Rectangle 4"/>
              <p:cNvSpPr/>
              <p:nvPr/>
            </p:nvSpPr>
            <p:spPr>
              <a:xfrm>
                <a:off x="731520" y="2746248"/>
                <a:ext cx="10725912" cy="3928872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$y=\left[\ln\frac{x+\sqrt{x^2-a^2}}{a}\right]^2+k\ln\left(x+\sqrt{x^2-a^2}\right)$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Differentiate: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$\frac{dy}{dx}=2\ln\left(\frac{x+\sqrt{x^2-a^2}}{a}\right)\frac{1}{\sqrt{x^2-a^2}}+\frac{k}{\sqrt{x^2-a^2}}$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So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$\sqrt{x^2-a^2}\,\frac{dy}{dx}=2\ln\left(\frac{x+\sqrt{x^2-a^2}}{a}\right)+k$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Fallback>
      </mc:AlternateContent>
    </p:spTree>
  </p:cSld>
  <p:clrMapOvr>
    <a:masterClrMapping/>
  </p:clrMapOvr>
</p:sld>
</file>

<file path=ppt/slides/slide10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FFFFFF"/>
          </a:fontRef>
        </p:style>
        <p:txBody>
          <a:bodyPr rtlCol="0" anchor="ctr" lIns="731520"/>
          <a:lstStyle>
            <a:lvl1pPr>
              <a:defRPr sz="3200">
                <a:solidFill>
                  <a:srgbClr val="FFFFFF"/>
                </a:solidFill>
              </a:defRPr>
            </a:lvl1pPr>
          </a:lstStyle>
          <a:p>
            <a:pPr algn="l">
              <a:defRPr sz="3200">
                <a:solidFill>
                  <a:srgbClr val="FFFFFF"/>
                </a:solidFill>
              </a:defRPr>
            </a:pPr>
            <a:r>
              <a:rPr sz="3200" b="1">
                <a:solidFill>
                  <a:srgbClr val="FFFFFF"/>
                </a:solidFill>
                <a:latin typeface="Arial"/>
              </a:rPr>
              <a:t>Question 17</a:t>
            </a:r>
            <a:endParaRPr sz="3200">
              <a:solidFill>
                <a:srgbClr val="FFFFFF"/>
              </a:solidFill>
            </a:endParaRPr>
          </a:p>
        </p:txBody>
      </p:sp>
      <p:sp>
        <p:nvSpPr>
          <p:cNvPr id="3" name="Rounded Rectangle 2"/>
          <p:cNvSpPr/>
          <p:nvPr/>
        </p:nvSpPr>
        <p:spPr>
          <a:xfrm>
            <a:off x="7894015" y="246887"/>
            <a:ext cx="3840480" cy="603504"/>
          </a:xfrm>
          <a:prstGeom prst="roundRect">
            <a:avLst>
              <a:gd name="adj" fmla="val 50000"/>
            </a:avLst>
          </a:prstGeom>
          <a:solidFill>
            <a:srgbClr val="FFD966"/>
          </a:solidFill>
          <a:ln w="1905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111827"/>
          </a:fontRef>
        </p:style>
        <p:txBody>
          <a:bodyPr rtlCol="0" anchor="ctr" wrap="square" lIns="228600" rIns="228600" tIns="18288" bIns="18288"/>
          <a:lstStyle>
            <a:lvl1pPr>
              <a:defRPr sz="2400">
                <a:solidFill>
                  <a:srgbClr val="111827"/>
                </a:solidFill>
              </a:defRPr>
            </a:lvl1pPr>
          </a:lstStyle>
          <a:p>
            <a:pPr algn="ctr">
              <a:defRPr sz="2400">
                <a:solidFill>
                  <a:srgbClr val="111827"/>
                </a:solidFill>
              </a:defRPr>
            </a:pPr>
            <a:r>
              <a:rPr sz="2400" b="1">
                <a:solidFill>
                  <a:srgbClr val="111827"/>
                </a:solidFill>
                <a:latin typeface="Arial"/>
              </a:rPr>
              <a:t>Level 2  ·  4 Marks</a:t>
            </a:r>
            <a:endParaRPr sz="2400">
              <a:solidFill>
                <a:srgbClr val="111827"/>
              </a:solidFill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4" name="Rectangle 3"/>
              <p:cNvSpPr/>
              <p:nvPr/>
            </p:nvSpPr>
            <p:spPr>
              <a:xfrm>
                <a:off x="731520" y="1353312"/>
                <a:ext cx="10725912" cy="4434840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Differentiate again: </a:t>
                </a:r>
                <a14:m>
                  <m:oMath xmlns:m="http://schemas.openxmlformats.org/officeDocument/2006/math">
                    <m:rad>
                      <m:radPr>
                        <m:degHide m:val="on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radPr>
                      <m:deg/>
                      <m:e>
                        <m:sSup>
                          <m:e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𝑥</m:t>
                            </m:r>
                          </m:e>
                          <m:sup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2</m:t>
                            </m:r>
                          </m:sup>
                        </m:sSup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−</m:t>
                        </m:r>
                        <m:sSup>
                          <m:e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𝑎</m:t>
                            </m:r>
                          </m:e>
                          <m:sup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2</m:t>
                            </m:r>
                          </m:sup>
                        </m:sSup>
                      </m:e>
                    </m:rad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 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sSup>
                          <m:e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𝑑</m:t>
                            </m:r>
                          </m:e>
                          <m:sup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2</m:t>
                            </m:r>
                          </m:sup>
                        </m:s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𝑦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𝑑</m:t>
                        </m:r>
                        <m:sSup>
                          <m:e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𝑥</m:t>
                            </m:r>
                          </m:e>
                          <m:sup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2</m:t>
                            </m:r>
                          </m:sup>
                        </m:sSup>
                      </m:den>
                    </m:f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</m:num>
                      <m:den>
                        <m:rad>
                          <m:radPr>
                            <m:degHide m:val="on"/>
                            <m:ctrlP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radPr>
                          <m:deg/>
                          <m:e>
                            <m:sSup>
                              <m:e>
                                <m:r>
                                  <a:rPr lang="en-IN" sz="2400" i="1">
                                    <a:solidFill>
                                      <a:srgbClr val="111827"/>
                                    </a:solidFill>
                                    <a:latin typeface="Cambria Math" panose="02040503050406030204" pitchFamily="18" charset="0"/>
                                  </a:rPr>
                                  <m:t>𝑥</m:t>
                                </m:r>
                              </m:e>
                              <m:sup>
                                <m:r>
                                  <a:rPr lang="en-IN" sz="2400" i="1">
                                    <a:solidFill>
                                      <a:srgbClr val="111827"/>
                                    </a:solidFill>
                                    <a:latin typeface="Cambria Math" panose="02040503050406030204" pitchFamily="18" charset="0"/>
                                  </a:rPr>
                                  <m:t>2</m:t>
                                </m:r>
                              </m:sup>
                            </m:sSup>
                            <m:r>
                              <m:rPr>
                                <m:sty m:val="p"/>
                              </m:rPr>
                              <a:rPr lang="en-IN" sz="2400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−</m:t>
                            </m:r>
                            <m:sSup>
                              <m:e>
                                <m:r>
                                  <a:rPr lang="en-IN" sz="2400" i="1">
                                    <a:solidFill>
                                      <a:srgbClr val="111827"/>
                                    </a:solidFill>
                                    <a:latin typeface="Cambria Math" panose="02040503050406030204" pitchFamily="18" charset="0"/>
                                  </a:rPr>
                                  <m:t>𝑎</m:t>
                                </m:r>
                              </m:e>
                              <m:sup>
                                <m:r>
                                  <a:rPr lang="en-IN" sz="2400" i="1">
                                    <a:solidFill>
                                      <a:srgbClr val="111827"/>
                                    </a:solidFill>
                                    <a:latin typeface="Cambria Math" panose="02040503050406030204" pitchFamily="18" charset="0"/>
                                  </a:rPr>
                                  <m:t>2</m:t>
                                </m:r>
                              </m:sup>
                            </m:sSup>
                          </m:e>
                        </m:rad>
                      </m:den>
                    </m:f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𝑑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𝑦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𝑑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</m:den>
                    </m:f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num>
                      <m:den>
                        <m:rad>
                          <m:radPr>
                            <m:degHide m:val="on"/>
                            <m:ctrlP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radPr>
                          <m:deg/>
                          <m:e>
                            <m:sSup>
                              <m:e>
                                <m:r>
                                  <a:rPr lang="en-IN" sz="2400" i="1">
                                    <a:solidFill>
                                      <a:srgbClr val="111827"/>
                                    </a:solidFill>
                                    <a:latin typeface="Cambria Math" panose="02040503050406030204" pitchFamily="18" charset="0"/>
                                  </a:rPr>
                                  <m:t>𝑥</m:t>
                                </m:r>
                              </m:e>
                              <m:sup>
                                <m:r>
                                  <a:rPr lang="en-IN" sz="2400" i="1">
                                    <a:solidFill>
                                      <a:srgbClr val="111827"/>
                                    </a:solidFill>
                                    <a:latin typeface="Cambria Math" panose="02040503050406030204" pitchFamily="18" charset="0"/>
                                  </a:rPr>
                                  <m:t>2</m:t>
                                </m:r>
                              </m:sup>
                            </m:sSup>
                            <m:r>
                              <m:rPr>
                                <m:sty m:val="p"/>
                              </m:rPr>
                              <a:rPr lang="en-IN" sz="2400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−</m:t>
                            </m:r>
                            <m:sSup>
                              <m:e>
                                <m:r>
                                  <a:rPr lang="en-IN" sz="2400" i="1">
                                    <a:solidFill>
                                      <a:srgbClr val="111827"/>
                                    </a:solidFill>
                                    <a:latin typeface="Cambria Math" panose="02040503050406030204" pitchFamily="18" charset="0"/>
                                  </a:rPr>
                                  <m:t>𝑎</m:t>
                                </m:r>
                              </m:e>
                              <m:sup>
                                <m:r>
                                  <a:rPr lang="en-IN" sz="2400" i="1">
                                    <a:solidFill>
                                      <a:srgbClr val="111827"/>
                                    </a:solidFill>
                                    <a:latin typeface="Cambria Math" panose="02040503050406030204" pitchFamily="18" charset="0"/>
                                  </a:rPr>
                                  <m:t>2</m:t>
                                </m:r>
                              </m:sup>
                            </m:sSup>
                          </m:e>
                        </m:rad>
                      </m:den>
                    </m:f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Multiply by </a:t>
                </a:r>
                <a14:m>
                  <m:oMath xmlns:m="http://schemas.openxmlformats.org/officeDocument/2006/math">
                    <m:rad>
                      <m:radPr>
                        <m:degHide m:val="on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radPr>
                      <m:deg/>
                      <m:e>
                        <m:sSup>
                          <m:e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𝑥</m:t>
                            </m:r>
                          </m:e>
                          <m:sup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2</m:t>
                            </m:r>
                          </m:sup>
                        </m:sSup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−</m:t>
                        </m:r>
                        <m:sSup>
                          <m:e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𝑎</m:t>
                            </m:r>
                          </m:e>
                          <m:sup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2</m:t>
                            </m:r>
                          </m:sup>
                        </m:sSup>
                      </m:e>
                    </m:rad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: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𝑎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sSup>
                          <m:e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𝑑</m:t>
                            </m:r>
                          </m:e>
                          <m:sup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2</m:t>
                            </m:r>
                          </m:sup>
                        </m:s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𝑦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𝑑</m:t>
                        </m:r>
                        <m:sSup>
                          <m:e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𝑥</m:t>
                            </m:r>
                          </m:e>
                          <m:sup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2</m:t>
                            </m:r>
                          </m:sup>
                        </m:sSup>
                      </m:den>
                    </m:f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𝑑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𝑦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𝑑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</m:den>
                    </m:f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Choice>
        <mc:Fallback>
          <p:sp>
            <p:nvSpPr>
              <p:cNvPr id="4" name="Rectangle 3"/>
              <p:cNvSpPr/>
              <p:nvPr/>
            </p:nvSpPr>
            <p:spPr>
              <a:xfrm>
                <a:off x="731520" y="1353312"/>
                <a:ext cx="10725912" cy="4434840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Differentiate again: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$\sqrt{x^2-a^2}\,\frac{d^2y}{dx^2}+\frac{x}{\sqrt{x^2-a^2}}\frac{dy}{dx}=\frac{2}{\sqrt{x^2-a^2}}$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Multiply by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$\sqrt{x^2-a^2}$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: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$(x^2-a^2)\frac{d^2y}{dx^2}+x\frac{dy}{dx}=2$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5" name="Rounded Rectangle 4"/>
              <p:cNvSpPr/>
              <p:nvPr/>
            </p:nvSpPr>
            <p:spPr>
              <a:xfrm>
                <a:off x="731520" y="5897880"/>
                <a:ext cx="10725912" cy="777240"/>
              </a:xfrm>
              <a:prstGeom prst="roundRect">
                <a:avLst>
                  <a:gd name="adj" fmla="val 8000"/>
                </a:avLst>
              </a:prstGeom>
              <a:solidFill>
                <a:srgbClr val="DCFCE7"/>
              </a:solidFill>
              <a:ln w="25400">
                <a:solidFill>
                  <a:srgbClr val="15803D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5803D"/>
              </a:fontRef>
            </p:style>
            <p:txBody>
              <a:bodyPr rtlCol="0" anchor="ctr" wrap="square" lIns="228600" rIns="228600" tIns="18288" bIns="73152"/>
              <a:lstStyle>
                <a:lvl1pPr>
                  <a:defRPr sz="2800">
                    <a:solidFill>
                      <a:srgbClr val="15803D"/>
                    </a:solidFill>
                  </a:defRPr>
                </a:lvl1pPr>
              </a:lstStyle>
              <a:p>
                <a:pPr algn="ctr">
                  <a:defRPr sz="2800">
                    <a:solidFill>
                      <a:srgbClr val="15803D"/>
                    </a:solidFill>
                  </a:defRPr>
                </a:pPr>
                <a:r>
                  <a:rPr sz="2800" b="1">
                    <a:solidFill>
                      <a:srgbClr val="15803D"/>
                    </a:solidFill>
                    <a:latin typeface="Arial"/>
                  </a:rPr>
                  <a:t>Correct Answer: </a:t>
                </a:r>
                <a14:m>
                  <m:oMath xmlns:m="http://schemas.openxmlformats.org/officeDocument/2006/math">
                    <m:r>
                      <a:rPr lang="en-IN" sz="2800" i="1">
                        <a:solidFill>
                          <a:srgbClr val="15803D"/>
                        </a:solidFill>
                        <a:latin typeface="Cambria Math" panose="02040503050406030204" pitchFamily="18" charset="0"/>
                      </a:rPr>
                      <m:t>2</m:t>
                    </m:r>
                  </m:oMath>
                </a14:m>
                <a:endParaRPr sz="2800">
                  <a:solidFill>
                    <a:srgbClr val="15803D"/>
                  </a:solidFill>
                </a:endParaRPr>
              </a:p>
            </p:txBody>
          </p:sp>
        </mc:Choice>
        <mc:Fallback>
          <p:sp>
            <p:nvSpPr>
              <p:cNvPr id="5" name="Rounded Rectangle 4"/>
              <p:cNvSpPr/>
              <p:nvPr/>
            </p:nvSpPr>
            <p:spPr>
              <a:xfrm>
                <a:off x="731520" y="5897880"/>
                <a:ext cx="10725912" cy="777240"/>
              </a:xfrm>
              <a:prstGeom prst="roundRect">
                <a:avLst>
                  <a:gd name="adj" fmla="val 8000"/>
                </a:avLst>
              </a:prstGeom>
              <a:solidFill>
                <a:srgbClr val="DCFCE7"/>
              </a:solidFill>
              <a:ln w="25400">
                <a:solidFill>
                  <a:srgbClr val="15803D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5803D"/>
              </a:fontRef>
            </p:style>
            <p:txBody>
              <a:bodyPr rtlCol="0" anchor="ctr" wrap="square" lIns="228600" rIns="228600" tIns="18288" bIns="73152"/>
              <a:lstStyle>
                <a:lvl1pPr>
                  <a:defRPr sz="2800">
                    <a:solidFill>
                      <a:srgbClr val="15803D"/>
                    </a:solidFill>
                  </a:defRPr>
                </a:lvl1pPr>
              </a:lstStyle>
              <a:p>
                <a:pPr algn="ctr">
                  <a:defRPr sz="2800">
                    <a:solidFill>
                      <a:srgbClr val="15803D"/>
                    </a:solidFill>
                  </a:defRPr>
                </a:pPr>
                <a:r>
                  <a:rPr sz="2800" b="1">
                    <a:solidFill>
                      <a:srgbClr val="15803D"/>
                    </a:solidFill>
                    <a:latin typeface="Arial"/>
                  </a:rPr>
                  <a:t>Correct Answer: </a:t>
                </a:r>
                <a:r>
                  <a:rPr lang="en-IN" sz="2800">
                    <a:solidFill>
                      <a:srgbClr val="15803D"/>
                    </a:solidFill>
                    <a:latin typeface="Cambria Math" panose="02040503050406030204" pitchFamily="18" charset="0"/>
                  </a:rPr>
                  <a:t>$2$</a:t>
                </a:r>
                <a:endParaRPr sz="2800">
                  <a:solidFill>
                    <a:srgbClr val="15803D"/>
                  </a:solidFill>
                </a:endParaRPr>
              </a:p>
            </p:txBody>
          </p:sp>
        </mc:Fallback>
      </mc:AlternateContent>
    </p:spTree>
  </p:cSld>
  <p:clrMapOvr>
    <a:masterClrMapping/>
  </p:clrMapOvr>
</p:sld>
</file>

<file path=ppt/slides/slide10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FFFFFF"/>
          </a:fontRef>
        </p:style>
        <p:txBody>
          <a:bodyPr rtlCol="0" anchor="ctr" lIns="731520"/>
          <a:lstStyle>
            <a:lvl1pPr>
              <a:defRPr sz="3200">
                <a:solidFill>
                  <a:srgbClr val="FFFFFF"/>
                </a:solidFill>
              </a:defRPr>
            </a:lvl1pPr>
          </a:lstStyle>
          <a:p>
            <a:pPr algn="l">
              <a:defRPr sz="3200">
                <a:solidFill>
                  <a:srgbClr val="FFFFFF"/>
                </a:solidFill>
              </a:defRPr>
            </a:pPr>
            <a:r>
              <a:rPr sz="3200" b="1">
                <a:solidFill>
                  <a:srgbClr val="FFFFFF"/>
                </a:solidFill>
                <a:latin typeface="Arial"/>
              </a:rPr>
              <a:t>Question 17</a:t>
            </a:r>
            <a:endParaRPr sz="3200">
              <a:solidFill>
                <a:srgbClr val="FFFFFF"/>
              </a:solidFill>
            </a:endParaRPr>
          </a:p>
        </p:txBody>
      </p:sp>
      <p:sp>
        <p:nvSpPr>
          <p:cNvPr id="3" name="Rounded Rectangle 2"/>
          <p:cNvSpPr/>
          <p:nvPr/>
        </p:nvSpPr>
        <p:spPr>
          <a:xfrm>
            <a:off x="7894015" y="246887"/>
            <a:ext cx="3840480" cy="603504"/>
          </a:xfrm>
          <a:prstGeom prst="roundRect">
            <a:avLst>
              <a:gd name="adj" fmla="val 50000"/>
            </a:avLst>
          </a:prstGeom>
          <a:solidFill>
            <a:srgbClr val="FFD966"/>
          </a:solidFill>
          <a:ln w="1905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111827"/>
          </a:fontRef>
        </p:style>
        <p:txBody>
          <a:bodyPr rtlCol="0" anchor="ctr" wrap="square" lIns="228600" rIns="228600" tIns="18288" bIns="18288"/>
          <a:lstStyle>
            <a:lvl1pPr>
              <a:defRPr sz="2400">
                <a:solidFill>
                  <a:srgbClr val="111827"/>
                </a:solidFill>
              </a:defRPr>
            </a:lvl1pPr>
          </a:lstStyle>
          <a:p>
            <a:pPr algn="ctr">
              <a:defRPr sz="2400">
                <a:solidFill>
                  <a:srgbClr val="111827"/>
                </a:solidFill>
              </a:defRPr>
            </a:pPr>
            <a:r>
              <a:rPr sz="2400" b="1">
                <a:solidFill>
                  <a:srgbClr val="111827"/>
                </a:solidFill>
                <a:latin typeface="Arial"/>
              </a:rPr>
              <a:t>Level 2  ·  4 Marks</a:t>
            </a:r>
            <a:endParaRPr sz="2400">
              <a:solidFill>
                <a:srgbClr val="111827"/>
              </a:solidFill>
            </a:endParaRPr>
          </a:p>
        </p:txBody>
      </p:sp>
      <p:sp>
        <p:nvSpPr>
          <p:cNvPr id="4" name="Rounded Rectangle 3"/>
          <p:cNvSpPr/>
          <p:nvPr/>
        </p:nvSpPr>
        <p:spPr>
          <a:xfrm>
            <a:off x="3520440" y="265176"/>
            <a:ext cx="4206240" cy="566928"/>
          </a:xfrm>
          <a:prstGeom prst="roundRect">
            <a:avLst>
              <a:gd name="adj" fmla="val 50000"/>
            </a:avLst>
          </a:prstGeom>
          <a:solidFill>
            <a:srgbClr val="FDE68A"/>
          </a:solidFill>
          <a:ln w="25400">
            <a:solidFill>
              <a:srgbClr val="D9770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78350F"/>
          </a:fontRef>
        </p:style>
        <p:txBody>
          <a:bodyPr rtlCol="0" anchor="ctr" wrap="square" lIns="228600" rIns="228600" tIns="18288" bIns="18288"/>
          <a:lstStyle>
            <a:lvl1pPr>
              <a:defRPr sz="2200">
                <a:solidFill>
                  <a:srgbClr val="78350F"/>
                </a:solidFill>
              </a:defRPr>
            </a:lvl1pPr>
          </a:lstStyle>
          <a:p>
            <a:pPr algn="ctr">
              <a:defRPr sz="2200">
                <a:solidFill>
                  <a:srgbClr val="78350F"/>
                </a:solidFill>
              </a:defRPr>
            </a:pPr>
            <a:r>
              <a:rPr sz="2200" b="1">
                <a:solidFill>
                  <a:srgbClr val="78350F"/>
                </a:solidFill>
                <a:latin typeface="Arial"/>
              </a:rPr>
              <a:t>Alternate Solution</a:t>
            </a:r>
            <a:endParaRPr sz="2200">
              <a:solidFill>
                <a:srgbClr val="78350F"/>
              </a:solidFill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5" name="Rounded Rectangle 4"/>
              <p:cNvSpPr/>
              <p:nvPr/>
            </p:nvSpPr>
            <p:spPr>
              <a:xfrm>
                <a:off x="731520" y="1280160"/>
                <a:ext cx="10725912" cy="1328928"/>
              </a:xfrm>
              <a:prstGeom prst="roundRect">
                <a:avLst>
                  <a:gd name="adj" fmla="val 8000"/>
                </a:avLst>
              </a:prstGeom>
              <a:solidFill>
                <a:srgbClr val="FDE68A"/>
              </a:solidFill>
              <a:ln w="31750">
                <a:solidFill>
                  <a:srgbClr val="D97706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78350F"/>
              </a:fontRef>
            </p:style>
            <p:txBody>
              <a:bodyPr rtlCol="0" anchor="ctr" wrap="square" lIns="228600" rIns="228600" tIns="54864" bIns="73152"/>
              <a:lstStyle>
                <a:lvl1pPr>
                  <a:defRPr sz="2400">
                    <a:solidFill>
                      <a:srgbClr val="78350F"/>
                    </a:solidFill>
                  </a:defRPr>
                </a:lvl1pPr>
              </a:lstStyle>
              <a:p>
                <a:pPr algn="l">
                  <a:defRPr sz="2400">
                    <a:solidFill>
                      <a:srgbClr val="78350F"/>
                    </a:solidFill>
                  </a:defRPr>
                </a:pPr>
                <a:r>
                  <a:rPr sz="2400" b="1">
                    <a:solidFill>
                      <a:srgbClr val="78350F"/>
                    </a:solidFill>
                    <a:latin typeface="Arial"/>
                  </a:rPr>
                  <a:t>Idea:  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Substitute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𝑎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cosh</m:t>
                    </m:r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𝑢</m:t>
                    </m:r>
                  </m:oMath>
                </a14:m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: the operator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(</m:t>
                    </m:r>
                    <m:sSup>
                      <m:e>
                        <m: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  <m:sup>
                        <m: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−</m:t>
                    </m:r>
                    <m:sSup>
                      <m:e>
                        <m: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𝑎</m:t>
                        </m:r>
                      </m:e>
                      <m:sup>
                        <m: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)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sSup>
                          <m:e>
                            <m:r>
                              <a:rPr lang="en-IN" sz="2400" i="1">
                                <a:solidFill>
                                  <a:srgbClr val="78350F"/>
                                </a:solidFill>
                                <a:latin typeface="Cambria Math" panose="02040503050406030204" pitchFamily="18" charset="0"/>
                              </a:rPr>
                              <m:t>𝑑</m:t>
                            </m:r>
                          </m:e>
                          <m:sup>
                            <m:r>
                              <a:rPr lang="en-IN" sz="2400" i="1">
                                <a:solidFill>
                                  <a:srgbClr val="78350F"/>
                                </a:solidFill>
                                <a:latin typeface="Cambria Math" panose="02040503050406030204" pitchFamily="18" charset="0"/>
                              </a:rPr>
                              <m:t>2</m:t>
                            </m:r>
                          </m:sup>
                        </m:sSup>
                      </m:num>
                      <m:den>
                        <m: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𝑑</m:t>
                        </m:r>
                        <m:sSup>
                          <m:e>
                            <m:r>
                              <a:rPr lang="en-IN" sz="2400" i="1">
                                <a:solidFill>
                                  <a:srgbClr val="78350F"/>
                                </a:solidFill>
                                <a:latin typeface="Cambria Math" panose="02040503050406030204" pitchFamily="18" charset="0"/>
                              </a:rPr>
                              <m:t>𝑥</m:t>
                            </m:r>
                          </m:e>
                          <m:sup>
                            <m:r>
                              <a:rPr lang="en-IN" sz="2400" i="1">
                                <a:solidFill>
                                  <a:srgbClr val="78350F"/>
                                </a:solidFill>
                                <a:latin typeface="Cambria Math" panose="02040503050406030204" pitchFamily="18" charset="0"/>
                              </a:rPr>
                              <m:t>2</m:t>
                            </m:r>
                          </m:sup>
                        </m:sSup>
                      </m:den>
                    </m:f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𝑑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𝑑</m:t>
                        </m:r>
                        <m: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</m:den>
                    </m:f>
                  </m:oMath>
                </a14:m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 is just </a:t>
                </a:r>
                <a14:m>
                  <m:oMath xmlns:m="http://schemas.openxmlformats.org/officeDocument/2006/math"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sSup>
                          <m:e>
                            <m:r>
                              <a:rPr lang="en-IN" sz="2400" i="1">
                                <a:solidFill>
                                  <a:srgbClr val="78350F"/>
                                </a:solidFill>
                                <a:latin typeface="Cambria Math" panose="02040503050406030204" pitchFamily="18" charset="0"/>
                              </a:rPr>
                              <m:t>𝑑</m:t>
                            </m:r>
                          </m:e>
                          <m:sup>
                            <m:r>
                              <a:rPr lang="en-IN" sz="2400" i="1">
                                <a:solidFill>
                                  <a:srgbClr val="78350F"/>
                                </a:solidFill>
                                <a:latin typeface="Cambria Math" panose="02040503050406030204" pitchFamily="18" charset="0"/>
                              </a:rPr>
                              <m:t>2</m:t>
                            </m:r>
                          </m:sup>
                        </m:sSup>
                      </m:num>
                      <m:den>
                        <m: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𝑑</m:t>
                        </m:r>
                        <m:sSup>
                          <m:e>
                            <m:r>
                              <a:rPr lang="en-IN" sz="2400" i="1">
                                <a:solidFill>
                                  <a:srgbClr val="78350F"/>
                                </a:solidFill>
                                <a:latin typeface="Cambria Math" panose="02040503050406030204" pitchFamily="18" charset="0"/>
                              </a:rPr>
                              <m:t>𝑢</m:t>
                            </m:r>
                          </m:e>
                          <m:sup>
                            <m:r>
                              <a:rPr lang="en-IN" sz="2400" i="1">
                                <a:solidFill>
                                  <a:srgbClr val="78350F"/>
                                </a:solidFill>
                                <a:latin typeface="Cambria Math" panose="02040503050406030204" pitchFamily="18" charset="0"/>
                              </a:rPr>
                              <m:t>2</m:t>
                            </m:r>
                          </m:sup>
                        </m:sSup>
                      </m:den>
                    </m:f>
                  </m:oMath>
                </a14:m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.</a:t>
                </a:r>
                <a:endParaRPr sz="2400">
                  <a:solidFill>
                    <a:srgbClr val="78350F"/>
                  </a:solidFill>
                </a:endParaRPr>
              </a:p>
            </p:txBody>
          </p:sp>
        </mc:Choice>
        <mc:Fallback>
          <p:sp>
            <p:nvSpPr>
              <p:cNvPr id="5" name="Rounded Rectangle 4"/>
              <p:cNvSpPr/>
              <p:nvPr/>
            </p:nvSpPr>
            <p:spPr>
              <a:xfrm>
                <a:off x="731520" y="1280160"/>
                <a:ext cx="10725912" cy="1328928"/>
              </a:xfrm>
              <a:prstGeom prst="roundRect">
                <a:avLst>
                  <a:gd name="adj" fmla="val 8000"/>
                </a:avLst>
              </a:prstGeom>
              <a:solidFill>
                <a:srgbClr val="FDE68A"/>
              </a:solidFill>
              <a:ln w="31750">
                <a:solidFill>
                  <a:srgbClr val="D97706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78350F"/>
              </a:fontRef>
            </p:style>
            <p:txBody>
              <a:bodyPr rtlCol="0" anchor="ctr" wrap="square" lIns="228600" rIns="228600" tIns="54864" bIns="73152"/>
              <a:lstStyle>
                <a:lvl1pPr>
                  <a:defRPr sz="2400">
                    <a:solidFill>
                      <a:srgbClr val="78350F"/>
                    </a:solidFill>
                  </a:defRPr>
                </a:lvl1pPr>
              </a:lstStyle>
              <a:p>
                <a:pPr algn="l">
                  <a:defRPr sz="2400">
                    <a:solidFill>
                      <a:srgbClr val="78350F"/>
                    </a:solidFill>
                  </a:defRPr>
                </a:pPr>
                <a:r>
                  <a:rPr sz="2400" b="1">
                    <a:solidFill>
                      <a:srgbClr val="78350F"/>
                    </a:solidFill>
                    <a:latin typeface="Arial"/>
                  </a:rPr>
                  <a:t>Idea:  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Substitute </a:t>
                </a:r>
                <a:r>
                  <a:rPr lang="en-IN" sz="2400">
                    <a:solidFill>
                      <a:srgbClr val="78350F"/>
                    </a:solidFill>
                    <a:latin typeface="Cambria Math" panose="02040503050406030204" pitchFamily="18" charset="0"/>
                  </a:rPr>
                  <a:t>$x=a\cosh u$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: the operator </a:t>
                </a:r>
                <a:r>
                  <a:rPr lang="en-IN" sz="2400">
                    <a:solidFill>
                      <a:srgbClr val="78350F"/>
                    </a:solidFill>
                    <a:latin typeface="Cambria Math" panose="02040503050406030204" pitchFamily="18" charset="0"/>
                  </a:rPr>
                  <a:t>$(x^2-a^2)\frac{d^2}{dx^2}+x\frac{d}{dx}$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 is just </a:t>
                </a:r>
                <a:r>
                  <a:rPr lang="en-IN" sz="2400">
                    <a:solidFill>
                      <a:srgbClr val="78350F"/>
                    </a:solidFill>
                    <a:latin typeface="Cambria Math" panose="02040503050406030204" pitchFamily="18" charset="0"/>
                  </a:rPr>
                  <a:t>$\frac{d^2}{du^2}$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.</a:t>
                </a:r>
                <a:endParaRPr sz="2400">
                  <a:solidFill>
                    <a:srgbClr val="78350F"/>
                  </a:solidFill>
                </a:endParaRP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6" name="Rectangle 5"/>
              <p:cNvSpPr/>
              <p:nvPr/>
            </p:nvSpPr>
            <p:spPr>
              <a:xfrm>
                <a:off x="731520" y="2746248"/>
                <a:ext cx="10725912" cy="3928872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Let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𝑎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cosh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𝑢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so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𝑢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ln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+</m:t>
                        </m:r>
                        <m:rad>
                          <m:radPr>
                            <m:degHide m:val="on"/>
                            <m:ctrlP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radPr>
                          <m:deg/>
                          <m:e>
                            <m:sSup>
                              <m:e>
                                <m:r>
                                  <a:rPr lang="en-IN" sz="2400" i="1">
                                    <a:solidFill>
                                      <a:srgbClr val="111827"/>
                                    </a:solidFill>
                                    <a:latin typeface="Cambria Math" panose="02040503050406030204" pitchFamily="18" charset="0"/>
                                  </a:rPr>
                                  <m:t>𝑥</m:t>
                                </m:r>
                              </m:e>
                              <m:sup>
                                <m:r>
                                  <a:rPr lang="en-IN" sz="2400" i="1">
                                    <a:solidFill>
                                      <a:srgbClr val="111827"/>
                                    </a:solidFill>
                                    <a:latin typeface="Cambria Math" panose="02040503050406030204" pitchFamily="18" charset="0"/>
                                  </a:rPr>
                                  <m:t>2</m:t>
                                </m:r>
                              </m:sup>
                            </m:sSup>
                            <m:r>
                              <m:rPr>
                                <m:sty m:val="p"/>
                              </m:rPr>
                              <a:rPr lang="en-IN" sz="2400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−</m:t>
                            </m:r>
                            <m:sSup>
                              <m:e>
                                <m:r>
                                  <a:rPr lang="en-IN" sz="2400" i="1">
                                    <a:solidFill>
                                      <a:srgbClr val="111827"/>
                                    </a:solidFill>
                                    <a:latin typeface="Cambria Math" panose="02040503050406030204" pitchFamily="18" charset="0"/>
                                  </a:rPr>
                                  <m:t>𝑎</m:t>
                                </m:r>
                              </m:e>
                              <m:sup>
                                <m:r>
                                  <a:rPr lang="en-IN" sz="2400" i="1">
                                    <a:solidFill>
                                      <a:srgbClr val="111827"/>
                                    </a:solidFill>
                                    <a:latin typeface="Cambria Math" panose="02040503050406030204" pitchFamily="18" charset="0"/>
                                  </a:rPr>
                                  <m:t>2</m:t>
                                </m:r>
                              </m:sup>
                            </m:sSup>
                          </m:e>
                        </m:rad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𝑎</m:t>
                        </m:r>
                      </m:den>
                    </m:f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and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ln</m:t>
                    </m:r>
                    <m:d>
                      <m:dPr>
                        <m:begChr m:val="("/>
                        <m:sepChr m:val=""/>
                        <m:endChr m:val=")"/>
                        <m:grow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+</m:t>
                        </m:r>
                        <m:rad>
                          <m:radPr>
                            <m:degHide m:val="on"/>
                            <m:ctrlP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radPr>
                          <m:deg/>
                          <m:e>
                            <m:sSup>
                              <m:e>
                                <m:r>
                                  <a:rPr lang="en-IN" sz="2400" i="1">
                                    <a:solidFill>
                                      <a:srgbClr val="111827"/>
                                    </a:solidFill>
                                    <a:latin typeface="Cambria Math" panose="02040503050406030204" pitchFamily="18" charset="0"/>
                                  </a:rPr>
                                  <m:t>𝑥</m:t>
                                </m:r>
                              </m:e>
                              <m:sup>
                                <m:r>
                                  <a:rPr lang="en-IN" sz="2400" i="1">
                                    <a:solidFill>
                                      <a:srgbClr val="111827"/>
                                    </a:solidFill>
                                    <a:latin typeface="Cambria Math" panose="02040503050406030204" pitchFamily="18" charset="0"/>
                                  </a:rPr>
                                  <m:t>2</m:t>
                                </m:r>
                              </m:sup>
                            </m:sSup>
                            <m:r>
                              <m:rPr>
                                <m:sty m:val="p"/>
                              </m:rPr>
                              <a:rPr lang="en-IN" sz="2400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−</m:t>
                            </m:r>
                            <m:sSup>
                              <m:e>
                                <m:r>
                                  <a:rPr lang="en-IN" sz="2400" i="1">
                                    <a:solidFill>
                                      <a:srgbClr val="111827"/>
                                    </a:solidFill>
                                    <a:latin typeface="Cambria Math" panose="02040503050406030204" pitchFamily="18" charset="0"/>
                                  </a:rPr>
                                  <m:t>𝑎</m:t>
                                </m:r>
                              </m:e>
                              <m:sup>
                                <m:r>
                                  <a:rPr lang="en-IN" sz="2400" i="1">
                                    <a:solidFill>
                                      <a:srgbClr val="111827"/>
                                    </a:solidFill>
                                    <a:latin typeface="Cambria Math" panose="02040503050406030204" pitchFamily="18" charset="0"/>
                                  </a:rPr>
                                  <m:t>2</m:t>
                                </m:r>
                              </m:sup>
                            </m:sSup>
                          </m:e>
                        </m:rad>
                      </m:e>
                    </m:d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𝑢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ln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𝑎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Then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𝑦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𝑢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𝑘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𝑢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ln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𝑎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Choice>
        <mc:Fallback>
          <p:sp>
            <p:nvSpPr>
              <p:cNvPr id="6" name="Rectangle 5"/>
              <p:cNvSpPr/>
              <p:nvPr/>
            </p:nvSpPr>
            <p:spPr>
              <a:xfrm>
                <a:off x="731520" y="2746248"/>
                <a:ext cx="10725912" cy="3928872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Let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$x=a\cosh u$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so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$u=\ln\frac{x+\sqrt{x^2-a^2}}{a}$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and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$\ln\left(x+\sqrt{x^2-a^2}\right)=u+\ln a$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Then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$y=u^2+k(u+\ln a)$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Fallback>
      </mc:AlternateContent>
    </p:spTree>
  </p:cSld>
  <p:clrMapOvr>
    <a:masterClrMapping/>
  </p:clrMapOvr>
</p:sld>
</file>

<file path=ppt/slides/slide10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FFFFFF"/>
          </a:fontRef>
        </p:style>
        <p:txBody>
          <a:bodyPr rtlCol="0" anchor="ctr" lIns="731520"/>
          <a:lstStyle>
            <a:lvl1pPr>
              <a:defRPr sz="3200">
                <a:solidFill>
                  <a:srgbClr val="FFFFFF"/>
                </a:solidFill>
              </a:defRPr>
            </a:lvl1pPr>
          </a:lstStyle>
          <a:p>
            <a:pPr algn="l">
              <a:defRPr sz="3200">
                <a:solidFill>
                  <a:srgbClr val="FFFFFF"/>
                </a:solidFill>
              </a:defRPr>
            </a:pPr>
            <a:r>
              <a:rPr sz="3200" b="1">
                <a:solidFill>
                  <a:srgbClr val="FFFFFF"/>
                </a:solidFill>
                <a:latin typeface="Arial"/>
              </a:rPr>
              <a:t>Question 17</a:t>
            </a:r>
            <a:endParaRPr sz="3200">
              <a:solidFill>
                <a:srgbClr val="FFFFFF"/>
              </a:solidFill>
            </a:endParaRPr>
          </a:p>
        </p:txBody>
      </p:sp>
      <p:sp>
        <p:nvSpPr>
          <p:cNvPr id="3" name="Rounded Rectangle 2"/>
          <p:cNvSpPr/>
          <p:nvPr/>
        </p:nvSpPr>
        <p:spPr>
          <a:xfrm>
            <a:off x="7894015" y="246887"/>
            <a:ext cx="3840480" cy="603504"/>
          </a:xfrm>
          <a:prstGeom prst="roundRect">
            <a:avLst>
              <a:gd name="adj" fmla="val 50000"/>
            </a:avLst>
          </a:prstGeom>
          <a:solidFill>
            <a:srgbClr val="FFD966"/>
          </a:solidFill>
          <a:ln w="1905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111827"/>
          </a:fontRef>
        </p:style>
        <p:txBody>
          <a:bodyPr rtlCol="0" anchor="ctr" wrap="square" lIns="228600" rIns="228600" tIns="18288" bIns="18288"/>
          <a:lstStyle>
            <a:lvl1pPr>
              <a:defRPr sz="2400">
                <a:solidFill>
                  <a:srgbClr val="111827"/>
                </a:solidFill>
              </a:defRPr>
            </a:lvl1pPr>
          </a:lstStyle>
          <a:p>
            <a:pPr algn="ctr">
              <a:defRPr sz="2400">
                <a:solidFill>
                  <a:srgbClr val="111827"/>
                </a:solidFill>
              </a:defRPr>
            </a:pPr>
            <a:r>
              <a:rPr sz="2400" b="1">
                <a:solidFill>
                  <a:srgbClr val="111827"/>
                </a:solidFill>
                <a:latin typeface="Arial"/>
              </a:rPr>
              <a:t>Level 2  ·  4 Marks</a:t>
            </a:r>
            <a:endParaRPr sz="2400">
              <a:solidFill>
                <a:srgbClr val="111827"/>
              </a:solidFill>
            </a:endParaRPr>
          </a:p>
        </p:txBody>
      </p:sp>
      <p:sp>
        <p:nvSpPr>
          <p:cNvPr id="4" name="Rounded Rectangle 3"/>
          <p:cNvSpPr/>
          <p:nvPr/>
        </p:nvSpPr>
        <p:spPr>
          <a:xfrm>
            <a:off x="3520440" y="265176"/>
            <a:ext cx="4206240" cy="566928"/>
          </a:xfrm>
          <a:prstGeom prst="roundRect">
            <a:avLst>
              <a:gd name="adj" fmla="val 50000"/>
            </a:avLst>
          </a:prstGeom>
          <a:solidFill>
            <a:srgbClr val="FDE68A"/>
          </a:solidFill>
          <a:ln w="25400">
            <a:solidFill>
              <a:srgbClr val="D9770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78350F"/>
          </a:fontRef>
        </p:style>
        <p:txBody>
          <a:bodyPr rtlCol="0" anchor="ctr" wrap="square" lIns="228600" rIns="228600" tIns="18288" bIns="18288"/>
          <a:lstStyle>
            <a:lvl1pPr>
              <a:defRPr sz="2200">
                <a:solidFill>
                  <a:srgbClr val="78350F"/>
                </a:solidFill>
              </a:defRPr>
            </a:lvl1pPr>
          </a:lstStyle>
          <a:p>
            <a:pPr algn="ctr">
              <a:defRPr sz="2200">
                <a:solidFill>
                  <a:srgbClr val="78350F"/>
                </a:solidFill>
              </a:defRPr>
            </a:pPr>
            <a:r>
              <a:rPr sz="2200" b="1">
                <a:solidFill>
                  <a:srgbClr val="78350F"/>
                </a:solidFill>
                <a:latin typeface="Arial"/>
              </a:rPr>
              <a:t>Alternate Solution</a:t>
            </a:r>
            <a:endParaRPr sz="2200">
              <a:solidFill>
                <a:srgbClr val="78350F"/>
              </a:solidFill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5" name="Rectangle 4"/>
              <p:cNvSpPr/>
              <p:nvPr/>
            </p:nvSpPr>
            <p:spPr>
              <a:xfrm>
                <a:off x="731520" y="1353312"/>
                <a:ext cx="10725912" cy="4434840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14:m>
                  <m:oMath xmlns:m="http://schemas.openxmlformats.org/officeDocument/2006/math"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𝑑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𝑦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𝑑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𝑢</m:t>
                        </m:r>
                      </m:den>
                    </m:f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𝑦</m:t>
                        </m:r>
                      </m:e>
                      <m:sup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′</m:t>
                        </m:r>
                      </m:sup>
                    </m:sSup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 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𝑎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sinh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𝑢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and </a:t>
                </a:r>
                <a14:m>
                  <m:oMath xmlns:m="http://schemas.openxmlformats.org/officeDocument/2006/math"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sSup>
                          <m:e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𝑑</m:t>
                            </m:r>
                          </m:e>
                          <m:sup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2</m:t>
                            </m:r>
                          </m:sup>
                        </m:s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𝑦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𝑑</m:t>
                        </m:r>
                        <m:sSup>
                          <m:e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𝑢</m:t>
                            </m:r>
                          </m:e>
                          <m:sup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2</m:t>
                            </m:r>
                          </m:sup>
                        </m:sSup>
                      </m:den>
                    </m:f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𝑦</m:t>
                        </m:r>
                      </m:e>
                      <m:sup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″</m:t>
                        </m:r>
                      </m:sup>
                    </m:sSup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𝑎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sSup>
                      <m:e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sinh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𝑢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𝑦</m:t>
                        </m:r>
                      </m:e>
                      <m:sup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′</m:t>
                        </m:r>
                      </m:sup>
                    </m:sSup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𝑎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cosh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𝑢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𝑎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𝑦</m:t>
                        </m:r>
                      </m:e>
                      <m:sup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″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𝑦</m:t>
                        </m:r>
                      </m:e>
                      <m:sup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′</m:t>
                        </m:r>
                      </m:sup>
                    </m:sSup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Hence the required expression is </a:t>
                </a:r>
                <a14:m>
                  <m:oMath xmlns:m="http://schemas.openxmlformats.org/officeDocument/2006/math"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sSup>
                          <m:e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𝑑</m:t>
                            </m:r>
                          </m:e>
                          <m:sup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2</m:t>
                            </m:r>
                          </m:sup>
                        </m:s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𝑦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𝑑</m:t>
                        </m:r>
                        <m:sSup>
                          <m:e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𝑢</m:t>
                            </m:r>
                          </m:e>
                          <m:sup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2</m:t>
                            </m:r>
                          </m:sup>
                        </m:sSup>
                      </m:den>
                    </m:f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independent of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𝑘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Choice>
        <mc:Fallback>
          <p:sp>
            <p:nvSpPr>
              <p:cNvPr id="5" name="Rectangle 4"/>
              <p:cNvSpPr/>
              <p:nvPr/>
            </p:nvSpPr>
            <p:spPr>
              <a:xfrm>
                <a:off x="731520" y="1353312"/>
                <a:ext cx="10725912" cy="4434840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$\frac{dy}{du}=y'\,a\sinh u$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and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$\frac{d^2y}{du^2}=y''a^2\sinh^2u+y'a\cosh u=(x^2-a^2)y''+xy'$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Hence the required expression is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$\frac{d^2y}{du^2}=2$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independent of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$k$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6" name="Rounded Rectangle 5"/>
              <p:cNvSpPr/>
              <p:nvPr/>
            </p:nvSpPr>
            <p:spPr>
              <a:xfrm>
                <a:off x="731520" y="5897880"/>
                <a:ext cx="10725912" cy="777240"/>
              </a:xfrm>
              <a:prstGeom prst="roundRect">
                <a:avLst>
                  <a:gd name="adj" fmla="val 8000"/>
                </a:avLst>
              </a:prstGeom>
              <a:solidFill>
                <a:srgbClr val="DCFCE7"/>
              </a:solidFill>
              <a:ln w="25400">
                <a:solidFill>
                  <a:srgbClr val="15803D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5803D"/>
              </a:fontRef>
            </p:style>
            <p:txBody>
              <a:bodyPr rtlCol="0" anchor="ctr" wrap="square" lIns="228600" rIns="228600" tIns="18288" bIns="73152"/>
              <a:lstStyle>
                <a:lvl1pPr>
                  <a:defRPr sz="2800">
                    <a:solidFill>
                      <a:srgbClr val="15803D"/>
                    </a:solidFill>
                  </a:defRPr>
                </a:lvl1pPr>
              </a:lstStyle>
              <a:p>
                <a:pPr algn="ctr">
                  <a:defRPr sz="2800">
                    <a:solidFill>
                      <a:srgbClr val="15803D"/>
                    </a:solidFill>
                  </a:defRPr>
                </a:pPr>
                <a:r>
                  <a:rPr sz="2800" b="1">
                    <a:solidFill>
                      <a:srgbClr val="15803D"/>
                    </a:solidFill>
                    <a:latin typeface="Arial"/>
                  </a:rPr>
                  <a:t>Same answer: </a:t>
                </a:r>
                <a14:m>
                  <m:oMath xmlns:m="http://schemas.openxmlformats.org/officeDocument/2006/math">
                    <m:r>
                      <a:rPr lang="en-IN" sz="2800" i="1">
                        <a:solidFill>
                          <a:srgbClr val="15803D"/>
                        </a:solidFill>
                        <a:latin typeface="Cambria Math" panose="02040503050406030204" pitchFamily="18" charset="0"/>
                      </a:rPr>
                      <m:t>2</m:t>
                    </m:r>
                  </m:oMath>
                </a14:m>
                <a:endParaRPr sz="2800">
                  <a:solidFill>
                    <a:srgbClr val="15803D"/>
                  </a:solidFill>
                </a:endParaRPr>
              </a:p>
            </p:txBody>
          </p:sp>
        </mc:Choice>
        <mc:Fallback>
          <p:sp>
            <p:nvSpPr>
              <p:cNvPr id="6" name="Rounded Rectangle 5"/>
              <p:cNvSpPr/>
              <p:nvPr/>
            </p:nvSpPr>
            <p:spPr>
              <a:xfrm>
                <a:off x="731520" y="5897880"/>
                <a:ext cx="10725912" cy="777240"/>
              </a:xfrm>
              <a:prstGeom prst="roundRect">
                <a:avLst>
                  <a:gd name="adj" fmla="val 8000"/>
                </a:avLst>
              </a:prstGeom>
              <a:solidFill>
                <a:srgbClr val="DCFCE7"/>
              </a:solidFill>
              <a:ln w="25400">
                <a:solidFill>
                  <a:srgbClr val="15803D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5803D"/>
              </a:fontRef>
            </p:style>
            <p:txBody>
              <a:bodyPr rtlCol="0" anchor="ctr" wrap="square" lIns="228600" rIns="228600" tIns="18288" bIns="73152"/>
              <a:lstStyle>
                <a:lvl1pPr>
                  <a:defRPr sz="2800">
                    <a:solidFill>
                      <a:srgbClr val="15803D"/>
                    </a:solidFill>
                  </a:defRPr>
                </a:lvl1pPr>
              </a:lstStyle>
              <a:p>
                <a:pPr algn="ctr">
                  <a:defRPr sz="2800">
                    <a:solidFill>
                      <a:srgbClr val="15803D"/>
                    </a:solidFill>
                  </a:defRPr>
                </a:pPr>
                <a:r>
                  <a:rPr sz="2800" b="1">
                    <a:solidFill>
                      <a:srgbClr val="15803D"/>
                    </a:solidFill>
                    <a:latin typeface="Arial"/>
                  </a:rPr>
                  <a:t>Same answer: </a:t>
                </a:r>
                <a:r>
                  <a:rPr lang="en-IN" sz="2800">
                    <a:solidFill>
                      <a:srgbClr val="15803D"/>
                    </a:solidFill>
                    <a:latin typeface="Cambria Math" panose="02040503050406030204" pitchFamily="18" charset="0"/>
                  </a:rPr>
                  <a:t>$2$</a:t>
                </a:r>
                <a:endParaRPr sz="2800">
                  <a:solidFill>
                    <a:srgbClr val="15803D"/>
                  </a:solidFill>
                </a:endParaRPr>
              </a:p>
            </p:txBody>
          </p:sp>
        </mc:Fallback>
      </mc:AlternateContent>
    </p:spTree>
  </p:cSld>
  <p:clrMapOvr>
    <a:masterClrMapping/>
  </p:clrMapOvr>
</p:sld>
</file>

<file path=ppt/slides/slide1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FFFFFF"/>
          </a:fontRef>
        </p:style>
        <p:txBody>
          <a:bodyPr rtlCol="0" anchor="ctr" lIns="731520"/>
          <a:lstStyle>
            <a:lvl1pPr>
              <a:defRPr sz="3200">
                <a:solidFill>
                  <a:srgbClr val="FFFFFF"/>
                </a:solidFill>
              </a:defRPr>
            </a:lvl1pPr>
          </a:lstStyle>
          <a:p>
            <a:pPr algn="l">
              <a:defRPr sz="3200">
                <a:solidFill>
                  <a:srgbClr val="FFFFFF"/>
                </a:solidFill>
              </a:defRPr>
            </a:pPr>
            <a:r>
              <a:rPr sz="3200" b="1">
                <a:solidFill>
                  <a:srgbClr val="FFFFFF"/>
                </a:solidFill>
                <a:latin typeface="Arial"/>
              </a:rPr>
              <a:t>Question 17</a:t>
            </a:r>
            <a:endParaRPr sz="3200">
              <a:solidFill>
                <a:srgbClr val="FFFFFF"/>
              </a:solidFill>
            </a:endParaRPr>
          </a:p>
        </p:txBody>
      </p:sp>
      <p:sp>
        <p:nvSpPr>
          <p:cNvPr id="3" name="Rounded Rectangle 2"/>
          <p:cNvSpPr/>
          <p:nvPr/>
        </p:nvSpPr>
        <p:spPr>
          <a:xfrm>
            <a:off x="7894015" y="246887"/>
            <a:ext cx="3840480" cy="603504"/>
          </a:xfrm>
          <a:prstGeom prst="roundRect">
            <a:avLst>
              <a:gd name="adj" fmla="val 50000"/>
            </a:avLst>
          </a:prstGeom>
          <a:solidFill>
            <a:srgbClr val="FFD966"/>
          </a:solidFill>
          <a:ln w="1905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111827"/>
          </a:fontRef>
        </p:style>
        <p:txBody>
          <a:bodyPr rtlCol="0" anchor="ctr" wrap="square" lIns="228600" rIns="228600" tIns="18288" bIns="18288"/>
          <a:lstStyle>
            <a:lvl1pPr>
              <a:defRPr sz="2400">
                <a:solidFill>
                  <a:srgbClr val="111827"/>
                </a:solidFill>
              </a:defRPr>
            </a:lvl1pPr>
          </a:lstStyle>
          <a:p>
            <a:pPr algn="ctr">
              <a:defRPr sz="2400">
                <a:solidFill>
                  <a:srgbClr val="111827"/>
                </a:solidFill>
              </a:defRPr>
            </a:pPr>
            <a:r>
              <a:rPr sz="2400" b="1">
                <a:solidFill>
                  <a:srgbClr val="111827"/>
                </a:solidFill>
                <a:latin typeface="Arial"/>
              </a:rPr>
              <a:t>Level 2  ·  4 Marks</a:t>
            </a:r>
            <a:endParaRPr sz="2400">
              <a:solidFill>
                <a:srgbClr val="111827"/>
              </a:solidFill>
            </a:endParaRPr>
          </a:p>
        </p:txBody>
      </p:sp>
      <p:sp>
        <p:nvSpPr>
          <p:cNvPr id="4" name="Rounded Rectangle 3"/>
          <p:cNvSpPr/>
          <p:nvPr/>
        </p:nvSpPr>
        <p:spPr>
          <a:xfrm>
            <a:off x="3520440" y="265176"/>
            <a:ext cx="4206240" cy="566928"/>
          </a:xfrm>
          <a:prstGeom prst="roundRect">
            <a:avLst>
              <a:gd name="adj" fmla="val 50000"/>
            </a:avLst>
          </a:prstGeom>
          <a:solidFill>
            <a:srgbClr val="E0ECFF"/>
          </a:solidFill>
          <a:ln w="25400">
            <a:solidFill>
              <a:srgbClr val="1D4ED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0B1F3A"/>
          </a:fontRef>
        </p:style>
        <p:txBody>
          <a:bodyPr rtlCol="0" anchor="ctr" wrap="square" lIns="228600" rIns="228600" tIns="18288" bIns="18288"/>
          <a:lstStyle>
            <a:lvl1pPr>
              <a:defRPr sz="2200">
                <a:solidFill>
                  <a:srgbClr val="0B1F3A"/>
                </a:solidFill>
              </a:defRPr>
            </a:lvl1pPr>
          </a:lstStyle>
          <a:p>
            <a:pPr algn="ctr">
              <a:defRPr sz="2200">
                <a:solidFill>
                  <a:srgbClr val="0B1F3A"/>
                </a:solidFill>
              </a:defRPr>
            </a:pPr>
            <a:r>
              <a:rPr sz="2200" b="1">
                <a:solidFill>
                  <a:srgbClr val="0B1F3A"/>
                </a:solidFill>
                <a:latin typeface="Arial"/>
              </a:rPr>
              <a:t>Useful Result / Pattern</a:t>
            </a:r>
            <a:endParaRPr sz="2200">
              <a:solidFill>
                <a:srgbClr val="0B1F3A"/>
              </a:solidFill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5" name="Rectangle 4"/>
              <p:cNvSpPr/>
              <p:nvPr/>
            </p:nvSpPr>
            <p:spPr>
              <a:xfrm>
                <a:off x="731520" y="1353312"/>
                <a:ext cx="10725912" cy="5321808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14:m>
                  <m:oMath xmlns:m="http://schemas.openxmlformats.org/officeDocument/2006/math"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𝑑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𝑑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</m:den>
                    </m:f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ln</m:t>
                    </m:r>
                    <m:d>
                      <m:dPr>
                        <m:begChr m:val="("/>
                        <m:sepChr m:val=""/>
                        <m:endChr m:val=")"/>
                        <m:grow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+</m:t>
                        </m:r>
                        <m:rad>
                          <m:radPr>
                            <m:degHide m:val="on"/>
                            <m:ctrlP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radPr>
                          <m:deg/>
                          <m:e>
                            <m:sSup>
                              <m:e>
                                <m:r>
                                  <a:rPr lang="en-IN" sz="2400" i="1">
                                    <a:solidFill>
                                      <a:srgbClr val="111827"/>
                                    </a:solidFill>
                                    <a:latin typeface="Cambria Math" panose="02040503050406030204" pitchFamily="18" charset="0"/>
                                  </a:rPr>
                                  <m:t>𝑥</m:t>
                                </m:r>
                              </m:e>
                              <m:sup>
                                <m:r>
                                  <a:rPr lang="en-IN" sz="2400" i="1">
                                    <a:solidFill>
                                      <a:srgbClr val="111827"/>
                                    </a:solidFill>
                                    <a:latin typeface="Cambria Math" panose="02040503050406030204" pitchFamily="18" charset="0"/>
                                  </a:rPr>
                                  <m:t>2</m:t>
                                </m:r>
                              </m:sup>
                            </m:sSup>
                            <m:r>
                              <m:rPr>
                                <m:sty m:val="p"/>
                              </m:rPr>
                              <a:rPr lang="en-IN" sz="2400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±</m:t>
                            </m:r>
                            <m:sSup>
                              <m:e>
                                <m:r>
                                  <a:rPr lang="en-IN" sz="2400" i="1">
                                    <a:solidFill>
                                      <a:srgbClr val="111827"/>
                                    </a:solidFill>
                                    <a:latin typeface="Cambria Math" panose="02040503050406030204" pitchFamily="18" charset="0"/>
                                  </a:rPr>
                                  <m:t>𝑎</m:t>
                                </m:r>
                              </m:e>
                              <m:sup>
                                <m:r>
                                  <a:rPr lang="en-IN" sz="2400" i="1">
                                    <a:solidFill>
                                      <a:srgbClr val="111827"/>
                                    </a:solidFill>
                                    <a:latin typeface="Cambria Math" panose="02040503050406030204" pitchFamily="18" charset="0"/>
                                  </a:rPr>
                                  <m:t>2</m:t>
                                </m:r>
                              </m:sup>
                            </m:sSup>
                          </m:e>
                        </m:rad>
                      </m:e>
                    </m:d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num>
                      <m:den>
                        <m:rad>
                          <m:radPr>
                            <m:degHide m:val="on"/>
                            <m:ctrlP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radPr>
                          <m:deg/>
                          <m:e>
                            <m:sSup>
                              <m:e>
                                <m:r>
                                  <a:rPr lang="en-IN" sz="2400" i="1">
                                    <a:solidFill>
                                      <a:srgbClr val="111827"/>
                                    </a:solidFill>
                                    <a:latin typeface="Cambria Math" panose="02040503050406030204" pitchFamily="18" charset="0"/>
                                  </a:rPr>
                                  <m:t>𝑥</m:t>
                                </m:r>
                              </m:e>
                              <m:sup>
                                <m:r>
                                  <a:rPr lang="en-IN" sz="2400" i="1">
                                    <a:solidFill>
                                      <a:srgbClr val="111827"/>
                                    </a:solidFill>
                                    <a:latin typeface="Cambria Math" panose="02040503050406030204" pitchFamily="18" charset="0"/>
                                  </a:rPr>
                                  <m:t>2</m:t>
                                </m:r>
                              </m:sup>
                            </m:sSup>
                            <m:r>
                              <m:rPr>
                                <m:sty m:val="p"/>
                              </m:rPr>
                              <a:rPr lang="en-IN" sz="2400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±</m:t>
                            </m:r>
                            <m:sSup>
                              <m:e>
                                <m:r>
                                  <a:rPr lang="en-IN" sz="2400" i="1">
                                    <a:solidFill>
                                      <a:srgbClr val="111827"/>
                                    </a:solidFill>
                                    <a:latin typeface="Cambria Math" panose="02040503050406030204" pitchFamily="18" charset="0"/>
                                  </a:rPr>
                                  <m:t>𝑎</m:t>
                                </m:r>
                              </m:e>
                              <m:sup>
                                <m:r>
                                  <a:rPr lang="en-IN" sz="2400" i="1">
                                    <a:solidFill>
                                      <a:srgbClr val="111827"/>
                                    </a:solidFill>
                                    <a:latin typeface="Cambria Math" panose="02040503050406030204" pitchFamily="18" charset="0"/>
                                  </a:rPr>
                                  <m:t>2</m:t>
                                </m:r>
                              </m:sup>
                            </m:sSup>
                          </m:e>
                        </m:rad>
                      </m:den>
                    </m:f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and </a:t>
                </a:r>
                <a14:m>
                  <m:oMath xmlns:m="http://schemas.openxmlformats.org/officeDocument/2006/math"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𝑑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𝑑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</m:den>
                    </m:f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ln</m:t>
                    </m:r>
                    <m:d>
                      <m:dPr>
                        <m:begChr m:val="("/>
                        <m:sepChr m:val=""/>
                        <m:endChr m:val=")"/>
                        <m:grow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f>
                          <m:fPr>
                            <m:type m:val="bar"/>
                            <m:ctrlP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fPr>
                          <m:num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𝑥</m:t>
                            </m:r>
                            <m:r>
                              <m:rPr>
                                <m:sty m:val="p"/>
                              </m:rPr>
                              <a:rPr lang="en-IN" sz="2400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+</m:t>
                            </m:r>
                            <m:rad>
                              <m:radPr>
                                <m:degHide m:val="on"/>
                                <m:ctrlPr>
                                  <a:rPr lang="en-IN" sz="2400" i="1">
                                    <a:solidFill>
                                      <a:srgbClr val="111827"/>
                                    </a:solidFill>
                                    <a:latin typeface="Cambria Math" panose="02040503050406030204" pitchFamily="18" charset="0"/>
                                  </a:rPr>
                                </m:ctrlPr>
                              </m:radPr>
                              <m:deg/>
                              <m:e>
                                <m:sSup>
                                  <m:e>
                                    <m:r>
                                      <a:rPr lang="en-IN" sz="2400" i="1">
                                        <a:solidFill>
                                          <a:srgbClr val="111827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𝑥</m:t>
                                    </m:r>
                                  </m:e>
                                  <m:sup>
                                    <m:r>
                                      <a:rPr lang="en-IN" sz="2400" i="1">
                                        <a:solidFill>
                                          <a:srgbClr val="111827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2</m:t>
                                    </m:r>
                                  </m:sup>
                                </m:sSup>
                                <m:r>
                                  <m:rPr>
                                    <m:sty m:val="p"/>
                                  </m:rPr>
                                  <a:rPr lang="en-IN" sz="2400">
                                    <a:solidFill>
                                      <a:srgbClr val="111827"/>
                                    </a:solidFill>
                                    <a:latin typeface="Cambria Math" panose="02040503050406030204" pitchFamily="18" charset="0"/>
                                  </a:rPr>
                                  <m:t>−</m:t>
                                </m:r>
                                <m:sSup>
                                  <m:e>
                                    <m:r>
                                      <a:rPr lang="en-IN" sz="2400" i="1">
                                        <a:solidFill>
                                          <a:srgbClr val="111827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𝑎</m:t>
                                    </m:r>
                                  </m:e>
                                  <m:sup>
                                    <m:r>
                                      <a:rPr lang="en-IN" sz="2400" i="1">
                                        <a:solidFill>
                                          <a:srgbClr val="111827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2</m:t>
                                    </m:r>
                                  </m:sup>
                                </m:sSup>
                              </m:e>
                            </m:rad>
                          </m:num>
                          <m:den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𝑎</m:t>
                            </m:r>
                          </m:den>
                        </m:f>
                      </m:e>
                    </m:d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num>
                      <m:den>
                        <m:rad>
                          <m:radPr>
                            <m:degHide m:val="on"/>
                            <m:ctrlP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radPr>
                          <m:deg/>
                          <m:e>
                            <m:sSup>
                              <m:e>
                                <m:r>
                                  <a:rPr lang="en-IN" sz="2400" i="1">
                                    <a:solidFill>
                                      <a:srgbClr val="111827"/>
                                    </a:solidFill>
                                    <a:latin typeface="Cambria Math" panose="02040503050406030204" pitchFamily="18" charset="0"/>
                                  </a:rPr>
                                  <m:t>𝑥</m:t>
                                </m:r>
                              </m:e>
                              <m:sup>
                                <m:r>
                                  <a:rPr lang="en-IN" sz="2400" i="1">
                                    <a:solidFill>
                                      <a:srgbClr val="111827"/>
                                    </a:solidFill>
                                    <a:latin typeface="Cambria Math" panose="02040503050406030204" pitchFamily="18" charset="0"/>
                                  </a:rPr>
                                  <m:t>2</m:t>
                                </m:r>
                              </m:sup>
                            </m:sSup>
                            <m:r>
                              <m:rPr>
                                <m:sty m:val="p"/>
                              </m:rPr>
                              <a:rPr lang="en-IN" sz="2400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−</m:t>
                            </m:r>
                            <m:sSup>
                              <m:e>
                                <m:r>
                                  <a:rPr lang="en-IN" sz="2400" i="1">
                                    <a:solidFill>
                                      <a:srgbClr val="111827"/>
                                    </a:solidFill>
                                    <a:latin typeface="Cambria Math" panose="02040503050406030204" pitchFamily="18" charset="0"/>
                                  </a:rPr>
                                  <m:t>𝑎</m:t>
                                </m:r>
                              </m:e>
                              <m:sup>
                                <m:r>
                                  <a:rPr lang="en-IN" sz="2400" i="1">
                                    <a:solidFill>
                                      <a:srgbClr val="111827"/>
                                    </a:solidFill>
                                    <a:latin typeface="Cambria Math" panose="02040503050406030204" pitchFamily="18" charset="0"/>
                                  </a:rPr>
                                  <m:t>2</m:t>
                                </m:r>
                              </m:sup>
                            </m:sSup>
                          </m:e>
                        </m:rad>
                      </m:den>
                    </m:f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For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𝑦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𝐴</m:t>
                    </m:r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𝑢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𝐵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𝑢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𝐶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with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𝑢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sSup>
                      <m:e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cosh</m:t>
                        </m:r>
                      </m:e>
                      <m:sup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−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sup>
                    </m:sSup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𝑎</m:t>
                        </m:r>
                      </m:den>
                    </m:f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𝑎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𝑦</m:t>
                        </m:r>
                      </m:e>
                      <m:sup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″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𝑦</m:t>
                        </m:r>
                      </m:e>
                      <m:sup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′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𝐴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(the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𝑘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term is a null term as it is linear in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𝑢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).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A term linear in the 'natural' variable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𝑢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is killed by </a:t>
                </a:r>
                <a14:m>
                  <m:oMath xmlns:m="http://schemas.openxmlformats.org/officeDocument/2006/math"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sSup>
                          <m:e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𝑑</m:t>
                            </m:r>
                          </m:e>
                          <m:sup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2</m:t>
                            </m:r>
                          </m:sup>
                        </m:sSup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𝑑</m:t>
                        </m:r>
                        <m:sSup>
                          <m:e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𝑢</m:t>
                            </m:r>
                          </m:e>
                          <m:sup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2</m:t>
                            </m:r>
                          </m:sup>
                        </m:sSup>
                      </m:den>
                    </m:f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: so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𝑘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never matters.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Choice>
        <mc:Fallback>
          <p:sp>
            <p:nvSpPr>
              <p:cNvPr id="5" name="Rectangle 4"/>
              <p:cNvSpPr/>
              <p:nvPr/>
            </p:nvSpPr>
            <p:spPr>
              <a:xfrm>
                <a:off x="731520" y="1353312"/>
                <a:ext cx="10725912" cy="5321808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$\frac{d}{dx}\ln\left(x+\sqrt{x^2\pm a^2}\right)=\frac1{\sqrt{x^2\pm a^2}}$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and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$\frac{d}{dx}\ln\left(\frac{x+\sqrt{x^2-a^2}}{a}\right)=\frac{1}{\sqrt{x^2-a^2}}$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For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$y=Au^2+Bu+C$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with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$u=\cosh^{-1}\frac xa$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$(x^2-a^2)y''+xy'=2A$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(the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$k$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term is a null term as it is linear in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$u$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).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A term linear in the 'natural' variable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$u$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is killed by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$\frac{d^2}{du^2}$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: so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$k$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never matters.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Fallback>
      </mc:AlternateContent>
    </p:spTree>
  </p:cSld>
  <p:clrMapOvr>
    <a:masterClrMapping/>
  </p:clrMapOvr>
</p:sld>
</file>

<file path=ppt/slides/slide1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914400" y="1463040"/>
            <a:ext cx="10362895" cy="4114800"/>
          </a:xfrm>
          <a:prstGeom prst="rect">
            <a:avLst/>
          </a:prstGeom>
          <a:noFill/>
        </p:spPr>
        <p:txBody>
          <a:bodyPr wrap="square">
            <a:spAutoFit/>
          </a:bodyPr>
          <a:lstStyle>
            <a:lvl1pPr>
              <a:defRPr sz="2800">
                <a:solidFill>
                  <a:srgbClr val="FFFFFF"/>
                </a:solidFill>
              </a:defRPr>
            </a:lvl1pPr>
          </a:lstStyle>
          <a:p>
            <a:pPr algn="ctr">
              <a:spcAft>
                <a:spcPts val="1000"/>
              </a:spcAft>
              <a:defRPr sz="2800">
                <a:solidFill>
                  <a:srgbClr val="FFFFFF"/>
                </a:solidFill>
              </a:defRPr>
            </a:pPr>
            <a:r>
              <a:rPr sz="2800" b="0">
                <a:solidFill>
                  <a:srgbClr val="93C5FD"/>
                </a:solidFill>
                <a:latin typeface="Arial"/>
              </a:rPr>
              <a:t>Section 9</a:t>
            </a:r>
            <a:endParaRPr sz="2800">
              <a:solidFill>
                <a:srgbClr val="FFFFFF"/>
              </a:solidFill>
            </a:endParaRPr>
          </a:p>
          <a:p>
            <a:pPr algn="ctr">
              <a:spcAft>
                <a:spcPts val="1000"/>
              </a:spcAft>
              <a:defRPr sz="2800">
                <a:solidFill>
                  <a:srgbClr val="FFFFFF"/>
                </a:solidFill>
              </a:defRPr>
            </a:pPr>
            <a:r>
              <a:rPr sz="4400" b="1">
                <a:solidFill>
                  <a:srgbClr val="FFFFFF"/>
                </a:solidFill>
                <a:latin typeface="Arial"/>
              </a:rPr>
              <a:t>Subjective Type</a:t>
            </a:r>
            <a:endParaRPr sz="2800">
              <a:solidFill>
                <a:srgbClr val="FFFFFF"/>
              </a:solidFill>
            </a:endParaRPr>
          </a:p>
          <a:p>
            <a:pPr algn="ctr">
              <a:spcAft>
                <a:spcPts val="1000"/>
              </a:spcAft>
              <a:defRPr sz="2800">
                <a:solidFill>
                  <a:srgbClr val="FFFFFF"/>
                </a:solidFill>
              </a:defRPr>
            </a:pPr>
            <a:r>
              <a:rPr sz="3200" b="1">
                <a:solidFill>
                  <a:srgbClr val="FFFFFF"/>
                </a:solidFill>
                <a:latin typeface="Arial"/>
              </a:rPr>
              <a:t>Q18 – Q20</a:t>
            </a:r>
            <a:endParaRPr sz="2800">
              <a:solidFill>
                <a:srgbClr val="FFFFFF"/>
              </a:solidFill>
            </a:endParaRPr>
          </a:p>
          <a:p>
            <a:pPr algn="ctr">
              <a:spcAft>
                <a:spcPts val="1000"/>
              </a:spcAft>
              <a:defRPr sz="2800">
                <a:solidFill>
                  <a:srgbClr val="FFFFFF"/>
                </a:solidFill>
              </a:defRPr>
            </a:pPr>
            <a:r>
              <a:rPr sz="2800" b="0">
                <a:solidFill>
                  <a:srgbClr val="FFFFFF"/>
                </a:solidFill>
                <a:latin typeface="Arial"/>
              </a:rPr>
              <a:t>4 marks each (no marks printed in the paper: JEE Advanced default assumed)</a:t>
            </a:r>
            <a:endParaRPr sz="2800">
              <a:solidFill>
                <a:srgbClr val="FFFFFF"/>
              </a:solidFill>
            </a:endParaRPr>
          </a:p>
          <a:p>
            <a:pPr algn="ctr">
              <a:spcAft>
                <a:spcPts val="1000"/>
              </a:spcAft>
              <a:defRPr sz="2800">
                <a:solidFill>
                  <a:srgbClr val="FFFFFF"/>
                </a:solidFill>
              </a:defRPr>
            </a:pPr>
            <a:r>
              <a:rPr sz="2800" b="0">
                <a:solidFill>
                  <a:srgbClr val="FFFFFF"/>
                </a:solidFill>
                <a:latin typeface="Arial"/>
              </a:rPr>
              <a:t>Show / prove; complete solution with alternate method and result</a:t>
            </a:r>
            <a:endParaRPr sz="2800">
              <a:solidFill>
                <a:srgbClr val="FFFFFF"/>
              </a:solidFill>
            </a:endParaRPr>
          </a:p>
        </p:txBody>
      </p:sp>
    </p:spTree>
  </p:cSld>
  <p:clrMapOvr>
    <a:masterClrMapping/>
  </p:clrMapOvr>
</p:sld>
</file>

<file path=ppt/slides/slide1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FFFFFF"/>
          </a:fontRef>
        </p:style>
        <p:txBody>
          <a:bodyPr rtlCol="0" anchor="ctr" lIns="731520"/>
          <a:lstStyle>
            <a:lvl1pPr>
              <a:defRPr sz="3200">
                <a:solidFill>
                  <a:srgbClr val="FFFFFF"/>
                </a:solidFill>
              </a:defRPr>
            </a:lvl1pPr>
          </a:lstStyle>
          <a:p>
            <a:pPr algn="l">
              <a:defRPr sz="3200">
                <a:solidFill>
                  <a:srgbClr val="FFFFFF"/>
                </a:solidFill>
              </a:defRPr>
            </a:pPr>
            <a:r>
              <a:rPr sz="3200" b="1">
                <a:solidFill>
                  <a:srgbClr val="FFFFFF"/>
                </a:solidFill>
                <a:latin typeface="Arial"/>
              </a:rPr>
              <a:t>Question 18</a:t>
            </a:r>
            <a:endParaRPr sz="3200">
              <a:solidFill>
                <a:srgbClr val="FFFFFF"/>
              </a:solidFill>
            </a:endParaRPr>
          </a:p>
        </p:txBody>
      </p:sp>
      <p:sp>
        <p:nvSpPr>
          <p:cNvPr id="3" name="Rounded Rectangle 2"/>
          <p:cNvSpPr/>
          <p:nvPr/>
        </p:nvSpPr>
        <p:spPr>
          <a:xfrm>
            <a:off x="7894015" y="246887"/>
            <a:ext cx="3840480" cy="603504"/>
          </a:xfrm>
          <a:prstGeom prst="roundRect">
            <a:avLst>
              <a:gd name="adj" fmla="val 50000"/>
            </a:avLst>
          </a:prstGeom>
          <a:solidFill>
            <a:srgbClr val="FFD966"/>
          </a:solidFill>
          <a:ln w="1905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111827"/>
          </a:fontRef>
        </p:style>
        <p:txBody>
          <a:bodyPr rtlCol="0" anchor="ctr" wrap="square" lIns="228600" rIns="228600" tIns="18288" bIns="18288"/>
          <a:lstStyle>
            <a:lvl1pPr>
              <a:defRPr sz="2400">
                <a:solidFill>
                  <a:srgbClr val="111827"/>
                </a:solidFill>
              </a:defRPr>
            </a:lvl1pPr>
          </a:lstStyle>
          <a:p>
            <a:pPr algn="ctr">
              <a:defRPr sz="2400">
                <a:solidFill>
                  <a:srgbClr val="111827"/>
                </a:solidFill>
              </a:defRPr>
            </a:pPr>
            <a:r>
              <a:rPr sz="2400" b="1">
                <a:solidFill>
                  <a:srgbClr val="111827"/>
                </a:solidFill>
                <a:latin typeface="Arial"/>
              </a:rPr>
              <a:t>Level 2  ·  4 Marks</a:t>
            </a:r>
            <a:endParaRPr sz="2400">
              <a:solidFill>
                <a:srgbClr val="111827"/>
              </a:solidFill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4" name="Rounded Rectangle 3"/>
              <p:cNvSpPr/>
              <p:nvPr/>
            </p:nvSpPr>
            <p:spPr>
              <a:xfrm>
                <a:off x="731520" y="1280160"/>
                <a:ext cx="10725912" cy="1737360"/>
              </a:xfrm>
              <a:prstGeom prst="roundRect">
                <a:avLst>
                  <a:gd name="adj" fmla="val 8000"/>
                </a:avLst>
              </a:prstGeom>
              <a:solidFill>
                <a:srgbClr val="E0ECFF"/>
              </a:solidFill>
              <a:ln w="25400">
                <a:solidFill>
                  <a:srgbClr val="1D4ED8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>
                  <a:spcAft>
                    <a:spcPts val="500"/>
                  </a:spcAft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If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𝑎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𝑏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𝑒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𝑦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/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show that </a:t>
                </a:r>
                <a14:m>
                  <m:oMath xmlns:m="http://schemas.openxmlformats.org/officeDocument/2006/math"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3</m:t>
                        </m:r>
                      </m:sup>
                    </m:sSup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𝑦</m:t>
                        </m:r>
                      </m:e>
                      <m:sup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″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𝑦</m:t>
                        </m:r>
                      </m:e>
                      <m:sup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′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𝑦</m:t>
                    </m:r>
                    <m:sSup>
                      <m:e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)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Choice>
        <mc:Fallback>
          <p:sp>
            <p:nvSpPr>
              <p:cNvPr id="4" name="Rounded Rectangle 3"/>
              <p:cNvSpPr/>
              <p:nvPr/>
            </p:nvSpPr>
            <p:spPr>
              <a:xfrm>
                <a:off x="731520" y="1280160"/>
                <a:ext cx="10725912" cy="1737360"/>
              </a:xfrm>
              <a:prstGeom prst="roundRect">
                <a:avLst>
                  <a:gd name="adj" fmla="val 8000"/>
                </a:avLst>
              </a:prstGeom>
              <a:solidFill>
                <a:srgbClr val="E0ECFF"/>
              </a:solidFill>
              <a:ln w="25400">
                <a:solidFill>
                  <a:srgbClr val="1D4ED8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>
                  <a:spcAft>
                    <a:spcPts val="500"/>
                  </a:spcAft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If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$(a+bx)e^{y/x}=x$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show that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$x^3y''=(xy'-y)^2$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Fallback>
      </mc:AlternateContent>
      <p:sp>
        <p:nvSpPr>
          <p:cNvPr id="5" name="Rectangle 4"/>
          <p:cNvSpPr/>
          <p:nvPr/>
        </p:nvSpPr>
        <p:spPr>
          <a:xfrm>
            <a:off x="731520" y="3246120"/>
            <a:ext cx="10725912" cy="2194560"/>
          </a:xfrm>
          <a:prstGeom prst="rect">
            <a:avLst/>
          </a:prstGeom>
          <a:solidFill>
            <a:srgbClr val="FFFFFF"/>
          </a:solidFill>
          <a:ln w="19050">
            <a:solidFill>
              <a:srgbClr val="6B728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111827"/>
          </a:fontRef>
        </p:style>
        <p:txBody>
          <a:bodyPr rtlCol="0" anchor="t" wrap="square" lIns="228600" rIns="228600" tIns="137160" bIns="73152"/>
          <a:lstStyle>
            <a:lvl1pPr>
              <a:defRPr sz="2400">
                <a:solidFill>
                  <a:srgbClr val="111827"/>
                </a:solidFill>
              </a:defRPr>
            </a:lvl1pPr>
          </a:lstStyle>
          <a:p>
            <a:pPr algn="l">
              <a:spcAft>
                <a:spcPts val="200"/>
              </a:spcAft>
              <a:defRPr sz="2400">
                <a:solidFill>
                  <a:srgbClr val="111827"/>
                </a:solidFill>
              </a:defRPr>
            </a:pPr>
            <a:r>
              <a:rPr sz="2400" b="0">
                <a:solidFill>
                  <a:srgbClr val="111827"/>
                </a:solidFill>
                <a:latin typeface="Arial"/>
              </a:rPr>
              <a:t>Subjective Type(4 Marks)</a:t>
            </a:r>
            <a:endParaRPr sz="2400">
              <a:solidFill>
                <a:srgbClr val="111827"/>
              </a:solidFill>
            </a:endParaRPr>
          </a:p>
          <a:p>
            <a:pPr algn="l">
              <a:spcAft>
                <a:spcPts val="200"/>
              </a:spcAft>
              <a:defRPr sz="2400">
                <a:solidFill>
                  <a:srgbClr val="111827"/>
                </a:solidFill>
              </a:defRPr>
            </a:pPr>
            <a:r>
              <a:rPr sz="2400" b="0">
                <a:solidFill>
                  <a:srgbClr val="111827"/>
                </a:solidFill>
                <a:latin typeface="Arial"/>
              </a:rPr>
              <a:t>Concept(s) : Second order derivatives of implicit functions, Logarithmic differentiation</a:t>
            </a:r>
            <a:endParaRPr sz="2400">
              <a:solidFill>
                <a:srgbClr val="111827"/>
              </a:solidFill>
            </a:endParaRPr>
          </a:p>
          <a:p>
            <a:pPr algn="l">
              <a:spcAft>
                <a:spcPts val="200"/>
              </a:spcAft>
              <a:defRPr sz="2400">
                <a:solidFill>
                  <a:srgbClr val="111827"/>
                </a:solidFill>
              </a:defRPr>
            </a:pPr>
            <a:r>
              <a:rPr sz="2400" b="0">
                <a:solidFill>
                  <a:srgbClr val="111827"/>
                </a:solidFill>
                <a:latin typeface="Arial"/>
              </a:rPr>
              <a:t>Difficulty Level: Level 2(A level below Average JEE Advanced Level)</a:t>
            </a:r>
            <a:endParaRPr sz="2400">
              <a:solidFill>
                <a:srgbClr val="111827"/>
              </a:solidFill>
            </a:endParaRPr>
          </a:p>
        </p:txBody>
      </p:sp>
    </p:spTree>
  </p:cSld>
  <p:clrMapOvr>
    <a:masterClrMapping/>
  </p:clrMapOvr>
</p:sld>
</file>

<file path=ppt/slides/slide1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FFFFFF"/>
          </a:fontRef>
        </p:style>
        <p:txBody>
          <a:bodyPr rtlCol="0" anchor="ctr" lIns="731520"/>
          <a:lstStyle>
            <a:lvl1pPr>
              <a:defRPr sz="3200">
                <a:solidFill>
                  <a:srgbClr val="FFFFFF"/>
                </a:solidFill>
              </a:defRPr>
            </a:lvl1pPr>
          </a:lstStyle>
          <a:p>
            <a:pPr algn="l">
              <a:defRPr sz="3200">
                <a:solidFill>
                  <a:srgbClr val="FFFFFF"/>
                </a:solidFill>
              </a:defRPr>
            </a:pPr>
            <a:r>
              <a:rPr sz="3200" b="1">
                <a:solidFill>
                  <a:srgbClr val="FFFFFF"/>
                </a:solidFill>
                <a:latin typeface="Arial"/>
              </a:rPr>
              <a:t>Question 18</a:t>
            </a:r>
            <a:endParaRPr sz="3200">
              <a:solidFill>
                <a:srgbClr val="FFFFFF"/>
              </a:solidFill>
            </a:endParaRPr>
          </a:p>
        </p:txBody>
      </p:sp>
      <p:sp>
        <p:nvSpPr>
          <p:cNvPr id="3" name="Rounded Rectangle 2"/>
          <p:cNvSpPr/>
          <p:nvPr/>
        </p:nvSpPr>
        <p:spPr>
          <a:xfrm>
            <a:off x="7894015" y="246887"/>
            <a:ext cx="3840480" cy="603504"/>
          </a:xfrm>
          <a:prstGeom prst="roundRect">
            <a:avLst>
              <a:gd name="adj" fmla="val 50000"/>
            </a:avLst>
          </a:prstGeom>
          <a:solidFill>
            <a:srgbClr val="FFD966"/>
          </a:solidFill>
          <a:ln w="1905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111827"/>
          </a:fontRef>
        </p:style>
        <p:txBody>
          <a:bodyPr rtlCol="0" anchor="ctr" wrap="square" lIns="228600" rIns="228600" tIns="18288" bIns="18288"/>
          <a:lstStyle>
            <a:lvl1pPr>
              <a:defRPr sz="2400">
                <a:solidFill>
                  <a:srgbClr val="111827"/>
                </a:solidFill>
              </a:defRPr>
            </a:lvl1pPr>
          </a:lstStyle>
          <a:p>
            <a:pPr algn="ctr">
              <a:defRPr sz="2400">
                <a:solidFill>
                  <a:srgbClr val="111827"/>
                </a:solidFill>
              </a:defRPr>
            </a:pPr>
            <a:r>
              <a:rPr sz="2400" b="1">
                <a:solidFill>
                  <a:srgbClr val="111827"/>
                </a:solidFill>
                <a:latin typeface="Arial"/>
              </a:rPr>
              <a:t>Level 2  ·  4 Marks</a:t>
            </a:r>
            <a:endParaRPr sz="2400">
              <a:solidFill>
                <a:srgbClr val="111827"/>
              </a:solidFill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4" name="Rounded Rectangle 3"/>
              <p:cNvSpPr/>
              <p:nvPr/>
            </p:nvSpPr>
            <p:spPr>
              <a:xfrm>
                <a:off x="731520" y="1280160"/>
                <a:ext cx="10725912" cy="1328928"/>
              </a:xfrm>
              <a:prstGeom prst="roundRect">
                <a:avLst>
                  <a:gd name="adj" fmla="val 8000"/>
                </a:avLst>
              </a:prstGeom>
              <a:solidFill>
                <a:srgbClr val="FDE68A"/>
              </a:solidFill>
              <a:ln w="31750">
                <a:solidFill>
                  <a:srgbClr val="D97706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78350F"/>
              </a:fontRef>
            </p:style>
            <p:txBody>
              <a:bodyPr rtlCol="0" anchor="ctr" wrap="square" lIns="228600" rIns="228600" tIns="54864" bIns="73152"/>
              <a:lstStyle>
                <a:lvl1pPr>
                  <a:defRPr sz="2400">
                    <a:solidFill>
                      <a:srgbClr val="78350F"/>
                    </a:solidFill>
                  </a:defRPr>
                </a:lvl1pPr>
              </a:lstStyle>
              <a:p>
                <a:pPr algn="l">
                  <a:defRPr sz="2400">
                    <a:solidFill>
                      <a:srgbClr val="78350F"/>
                    </a:solidFill>
                  </a:defRPr>
                </a:pPr>
                <a:r>
                  <a:rPr sz="2400" b="1">
                    <a:solidFill>
                      <a:srgbClr val="78350F"/>
                    </a:solidFill>
                    <a:latin typeface="Arial"/>
                  </a:rPr>
                  <a:t>Key idea: 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𝑦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ln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𝑎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+</m:t>
                        </m:r>
                        <m: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𝑏</m:t>
                        </m:r>
                        <m: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</m:den>
                    </m:f>
                  </m:oMath>
                </a14:m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 gives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sSup>
                      <m:e>
                        <m: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𝑦</m:t>
                        </m:r>
                      </m:e>
                      <m:sup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′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𝑦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𝑎</m:t>
                        </m:r>
                        <m: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𝑎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+</m:t>
                        </m:r>
                        <m: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𝑏</m:t>
                        </m:r>
                        <m: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</m:den>
                    </m:f>
                  </m:oMath>
                </a14:m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, whose square is exactly </a:t>
                </a:r>
                <a14:m>
                  <m:oMath xmlns:m="http://schemas.openxmlformats.org/officeDocument/2006/math">
                    <m:sSup>
                      <m:e>
                        <m: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  <m:sup>
                        <m: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3</m:t>
                        </m:r>
                      </m:sup>
                    </m:sSup>
                    <m:sSup>
                      <m:e>
                        <m: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𝑦</m:t>
                        </m:r>
                      </m:e>
                      <m:sup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″</m:t>
                        </m:r>
                      </m:sup>
                    </m:sSup>
                  </m:oMath>
                </a14:m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.</a:t>
                </a:r>
                <a:endParaRPr sz="2400">
                  <a:solidFill>
                    <a:srgbClr val="78350F"/>
                  </a:solidFill>
                </a:endParaRPr>
              </a:p>
            </p:txBody>
          </p:sp>
        </mc:Choice>
        <mc:Fallback>
          <p:sp>
            <p:nvSpPr>
              <p:cNvPr id="4" name="Rounded Rectangle 3"/>
              <p:cNvSpPr/>
              <p:nvPr/>
            </p:nvSpPr>
            <p:spPr>
              <a:xfrm>
                <a:off x="731520" y="1280160"/>
                <a:ext cx="10725912" cy="1328928"/>
              </a:xfrm>
              <a:prstGeom prst="roundRect">
                <a:avLst>
                  <a:gd name="adj" fmla="val 8000"/>
                </a:avLst>
              </a:prstGeom>
              <a:solidFill>
                <a:srgbClr val="FDE68A"/>
              </a:solidFill>
              <a:ln w="31750">
                <a:solidFill>
                  <a:srgbClr val="D97706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78350F"/>
              </a:fontRef>
            </p:style>
            <p:txBody>
              <a:bodyPr rtlCol="0" anchor="ctr" wrap="square" lIns="228600" rIns="228600" tIns="54864" bIns="73152"/>
              <a:lstStyle>
                <a:lvl1pPr>
                  <a:defRPr sz="2400">
                    <a:solidFill>
                      <a:srgbClr val="78350F"/>
                    </a:solidFill>
                  </a:defRPr>
                </a:lvl1pPr>
              </a:lstStyle>
              <a:p>
                <a:pPr algn="l">
                  <a:defRPr sz="2400">
                    <a:solidFill>
                      <a:srgbClr val="78350F"/>
                    </a:solidFill>
                  </a:defRPr>
                </a:pPr>
                <a:r>
                  <a:rPr sz="2400" b="1">
                    <a:solidFill>
                      <a:srgbClr val="78350F"/>
                    </a:solidFill>
                    <a:latin typeface="Arial"/>
                  </a:rPr>
                  <a:t>Key idea:  </a:t>
                </a:r>
                <a:r>
                  <a:rPr lang="en-IN" sz="2400">
                    <a:solidFill>
                      <a:srgbClr val="78350F"/>
                    </a:solidFill>
                    <a:latin typeface="Cambria Math" panose="02040503050406030204" pitchFamily="18" charset="0"/>
                  </a:rPr>
                  <a:t>$y=x\ln\frac{x}{a+bx}$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 gives </a:t>
                </a:r>
                <a:r>
                  <a:rPr lang="en-IN" sz="2400">
                    <a:solidFill>
                      <a:srgbClr val="78350F"/>
                    </a:solidFill>
                    <a:latin typeface="Cambria Math" panose="02040503050406030204" pitchFamily="18" charset="0"/>
                  </a:rPr>
                  <a:t>$xy'-y=\frac{ax}{a+bx}$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, whose square is exactly </a:t>
                </a:r>
                <a:r>
                  <a:rPr lang="en-IN" sz="2400">
                    <a:solidFill>
                      <a:srgbClr val="78350F"/>
                    </a:solidFill>
                    <a:latin typeface="Cambria Math" panose="02040503050406030204" pitchFamily="18" charset="0"/>
                  </a:rPr>
                  <a:t>$x^3y''$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.</a:t>
                </a:r>
                <a:endParaRPr sz="2400">
                  <a:solidFill>
                    <a:srgbClr val="78350F"/>
                  </a:solidFill>
                </a:endParaRP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5" name="Rectangle 4"/>
              <p:cNvSpPr/>
              <p:nvPr/>
            </p:nvSpPr>
            <p:spPr>
              <a:xfrm>
                <a:off x="731520" y="2746248"/>
                <a:ext cx="10725912" cy="3928872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14:m>
                  <m:oMath xmlns:m="http://schemas.openxmlformats.org/officeDocument/2006/math"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𝑒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𝑦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/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𝑎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+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𝑏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</m:den>
                    </m:f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so </a:t>
                </a:r>
                <a14:m>
                  <m:oMath xmlns:m="http://schemas.openxmlformats.org/officeDocument/2006/math"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𝑦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</m:den>
                    </m:f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ln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𝑎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+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𝑏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</m:den>
                    </m:f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and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𝑦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ln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𝑎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+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𝑏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</m:den>
                    </m:f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Differentiate: </a:t>
                </a:r>
                <a14:m>
                  <m:oMath xmlns:m="http://schemas.openxmlformats.org/officeDocument/2006/math"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𝑦</m:t>
                        </m:r>
                      </m:e>
                      <m:sup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′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ln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𝑎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+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𝑏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</m:den>
                    </m:f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d>
                      <m:dPr>
                        <m:begChr m:val="["/>
                        <m:sepChr m:val=""/>
                        <m:endChr m:val="]"/>
                        <m:grow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f>
                          <m:fPr>
                            <m:type m:val="bar"/>
                            <m:ctrlP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fPr>
                          <m:num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1</m:t>
                            </m:r>
                          </m:num>
                          <m:den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𝑥</m:t>
                            </m:r>
                          </m:den>
                        </m:f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−</m:t>
                        </m:r>
                        <m:f>
                          <m:fPr>
                            <m:type m:val="bar"/>
                            <m:ctrlP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fPr>
                          <m:num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𝑏</m:t>
                            </m:r>
                          </m:num>
                          <m:den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𝑎</m:t>
                            </m:r>
                            <m:r>
                              <m:rPr>
                                <m:sty m:val="p"/>
                              </m:rPr>
                              <a:rPr lang="en-IN" sz="2400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+</m:t>
                            </m:r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𝑏</m:t>
                            </m:r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𝑥</m:t>
                            </m:r>
                          </m:den>
                        </m:f>
                      </m:e>
                    </m:d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14:m>
                  <m:oMath xmlns:m="http://schemas.openxmlformats.org/officeDocument/2006/math"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𝑦</m:t>
                        </m:r>
                      </m:e>
                      <m:sup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′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𝑦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</m:den>
                    </m:f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𝑎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𝑎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+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𝑏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</m:den>
                    </m:f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 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So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𝑦</m:t>
                        </m:r>
                      </m:e>
                      <m:sup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′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𝑦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𝑎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𝑎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+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𝑏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</m:den>
                    </m:f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𝑎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 </m:t>
                    </m:r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𝑒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𝑦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/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</m:sup>
                    </m:sSup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 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Differentiate (1): </a:t>
                </a:r>
                <a14:m>
                  <m:oMath xmlns:m="http://schemas.openxmlformats.org/officeDocument/2006/math"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𝑦</m:t>
                        </m:r>
                      </m:e>
                      <m:sup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″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  <m:sSup>
                          <m:e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𝑦</m:t>
                            </m:r>
                          </m:e>
                          <m:sup>
                            <m:r>
                              <m:rPr>
                                <m:sty m:val="p"/>
                              </m:rPr>
                              <a:rPr lang="en-IN" sz="2400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′</m:t>
                            </m:r>
                          </m:sup>
                        </m:sSup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−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𝑦</m:t>
                        </m:r>
                      </m:num>
                      <m:den>
                        <m:sSup>
                          <m:e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𝑥</m:t>
                            </m:r>
                          </m:e>
                          <m:sup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2</m:t>
                            </m:r>
                          </m:sup>
                        </m:sSup>
                      </m:den>
                    </m:f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𝑎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𝑏</m:t>
                        </m:r>
                      </m:num>
                      <m:den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(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𝑎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+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𝑏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  <m:sSup>
                          <m:e>
                            <m:r>
                              <m:rPr>
                                <m:sty m:val="p"/>
                              </m:rPr>
                              <a:rPr lang="en-IN" sz="2400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)</m:t>
                            </m:r>
                          </m:e>
                          <m:sup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2</m:t>
                            </m:r>
                          </m:sup>
                        </m:sSup>
                      </m:den>
                    </m:f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Choice>
        <mc:Fallback>
          <p:sp>
            <p:nvSpPr>
              <p:cNvPr id="5" name="Rectangle 4"/>
              <p:cNvSpPr/>
              <p:nvPr/>
            </p:nvSpPr>
            <p:spPr>
              <a:xfrm>
                <a:off x="731520" y="2746248"/>
                <a:ext cx="10725912" cy="3928872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$e^{y/x}=\frac{x}{a+bx}$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so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$\frac yx=\ln\frac{x}{a+bx}$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and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$y=x\ln\frac{x}{a+bx}$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Differentiate: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$y'=\ln\frac{x}{a+bx}+x\left[\frac1x-\frac{b}{a+bx}\right]$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$y'=\frac yx+\frac{a}{a+bx}$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$\quad(1)$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So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$xy'-y=\frac{ax}{a+bx}=a\,e^{y/x}$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$\quad(2)$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Differentiate (1):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$y''=\frac{xy'-y}{x^2}-\frac{ab}{(a+bx)^2}$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Fallback>
      </mc:AlternateContent>
    </p:spTree>
  </p:cSld>
  <p:clrMapOvr>
    <a:masterClrMapping/>
  </p:clrMapOvr>
</p:sld>
</file>

<file path=ppt/slides/slide1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FFFFFF"/>
          </a:fontRef>
        </p:style>
        <p:txBody>
          <a:bodyPr rtlCol="0" anchor="ctr" lIns="731520"/>
          <a:lstStyle>
            <a:lvl1pPr>
              <a:defRPr sz="3200">
                <a:solidFill>
                  <a:srgbClr val="FFFFFF"/>
                </a:solidFill>
              </a:defRPr>
            </a:lvl1pPr>
          </a:lstStyle>
          <a:p>
            <a:pPr algn="l">
              <a:defRPr sz="3200">
                <a:solidFill>
                  <a:srgbClr val="FFFFFF"/>
                </a:solidFill>
              </a:defRPr>
            </a:pPr>
            <a:r>
              <a:rPr sz="3200" b="1">
                <a:solidFill>
                  <a:srgbClr val="FFFFFF"/>
                </a:solidFill>
                <a:latin typeface="Arial"/>
              </a:rPr>
              <a:t>Question 18</a:t>
            </a:r>
            <a:endParaRPr sz="3200">
              <a:solidFill>
                <a:srgbClr val="FFFFFF"/>
              </a:solidFill>
            </a:endParaRPr>
          </a:p>
        </p:txBody>
      </p:sp>
      <p:sp>
        <p:nvSpPr>
          <p:cNvPr id="3" name="Rounded Rectangle 2"/>
          <p:cNvSpPr/>
          <p:nvPr/>
        </p:nvSpPr>
        <p:spPr>
          <a:xfrm>
            <a:off x="7894015" y="246887"/>
            <a:ext cx="3840480" cy="603504"/>
          </a:xfrm>
          <a:prstGeom prst="roundRect">
            <a:avLst>
              <a:gd name="adj" fmla="val 50000"/>
            </a:avLst>
          </a:prstGeom>
          <a:solidFill>
            <a:srgbClr val="FFD966"/>
          </a:solidFill>
          <a:ln w="1905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111827"/>
          </a:fontRef>
        </p:style>
        <p:txBody>
          <a:bodyPr rtlCol="0" anchor="ctr" wrap="square" lIns="228600" rIns="228600" tIns="18288" bIns="18288"/>
          <a:lstStyle>
            <a:lvl1pPr>
              <a:defRPr sz="2400">
                <a:solidFill>
                  <a:srgbClr val="111827"/>
                </a:solidFill>
              </a:defRPr>
            </a:lvl1pPr>
          </a:lstStyle>
          <a:p>
            <a:pPr algn="ctr">
              <a:defRPr sz="2400">
                <a:solidFill>
                  <a:srgbClr val="111827"/>
                </a:solidFill>
              </a:defRPr>
            </a:pPr>
            <a:r>
              <a:rPr sz="2400" b="1">
                <a:solidFill>
                  <a:srgbClr val="111827"/>
                </a:solidFill>
                <a:latin typeface="Arial"/>
              </a:rPr>
              <a:t>Level 2  ·  4 Marks</a:t>
            </a:r>
            <a:endParaRPr sz="2400">
              <a:solidFill>
                <a:srgbClr val="111827"/>
              </a:solidFill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4" name="Rectangle 3"/>
              <p:cNvSpPr/>
              <p:nvPr/>
            </p:nvSpPr>
            <p:spPr>
              <a:xfrm>
                <a:off x="731520" y="1353312"/>
                <a:ext cx="10725912" cy="4434840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Multiply by </a:t>
                </a:r>
                <a14:m>
                  <m:oMath xmlns:m="http://schemas.openxmlformats.org/officeDocument/2006/math"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3</m:t>
                        </m:r>
                      </m:sup>
                    </m:sSup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: </a:t>
                </a:r>
                <a14:m>
                  <m:oMath xmlns:m="http://schemas.openxmlformats.org/officeDocument/2006/math"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3</m:t>
                        </m:r>
                      </m:sup>
                    </m:sSup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𝑦</m:t>
                        </m:r>
                      </m:e>
                      <m:sup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″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𝑦</m:t>
                        </m:r>
                      </m:e>
                      <m:sup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′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𝑦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𝑏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𝑎</m:t>
                        </m:r>
                      </m:den>
                    </m:f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 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sSup>
                      <m:e>
                        <m:d>
                          <m:dPr>
                            <m:begChr m:val="("/>
                            <m:sepChr m:val=""/>
                            <m:endChr m:val=")"/>
                            <m:grow/>
                            <m:ctrlP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f>
                              <m:fPr>
                                <m:type m:val="bar"/>
                                <m:ctrlPr>
                                  <a:rPr lang="en-IN" sz="2400" i="1">
                                    <a:solidFill>
                                      <a:srgbClr val="111827"/>
                                    </a:solidFill>
                                    <a:latin typeface="Cambria Math" panose="02040503050406030204" pitchFamily="18" charset="0"/>
                                  </a:rPr>
                                </m:ctrlPr>
                              </m:fPr>
                              <m:num>
                                <m:r>
                                  <a:rPr lang="en-IN" sz="2400" i="1">
                                    <a:solidFill>
                                      <a:srgbClr val="111827"/>
                                    </a:solidFill>
                                    <a:latin typeface="Cambria Math" panose="02040503050406030204" pitchFamily="18" charset="0"/>
                                  </a:rPr>
                                  <m:t>𝑎</m:t>
                                </m:r>
                                <m:r>
                                  <a:rPr lang="en-IN" sz="2400" i="1">
                                    <a:solidFill>
                                      <a:srgbClr val="111827"/>
                                    </a:solidFill>
                                    <a:latin typeface="Cambria Math" panose="02040503050406030204" pitchFamily="18" charset="0"/>
                                  </a:rPr>
                                  <m:t>𝑥</m:t>
                                </m:r>
                              </m:num>
                              <m:den>
                                <m:r>
                                  <a:rPr lang="en-IN" sz="2400" i="1">
                                    <a:solidFill>
                                      <a:srgbClr val="111827"/>
                                    </a:solidFill>
                                    <a:latin typeface="Cambria Math" panose="02040503050406030204" pitchFamily="18" charset="0"/>
                                  </a:rPr>
                                  <m:t>𝑎</m:t>
                                </m:r>
                                <m:r>
                                  <m:rPr>
                                    <m:sty m:val="p"/>
                                  </m:rPr>
                                  <a:rPr lang="en-IN" sz="2400">
                                    <a:solidFill>
                                      <a:srgbClr val="111827"/>
                                    </a:solidFill>
                                    <a:latin typeface="Cambria Math" panose="02040503050406030204" pitchFamily="18" charset="0"/>
                                  </a:rPr>
                                  <m:t>+</m:t>
                                </m:r>
                                <m:r>
                                  <a:rPr lang="en-IN" sz="2400" i="1">
                                    <a:solidFill>
                                      <a:srgbClr val="111827"/>
                                    </a:solidFill>
                                    <a:latin typeface="Cambria Math" panose="02040503050406030204" pitchFamily="18" charset="0"/>
                                  </a:rPr>
                                  <m:t>𝑏</m:t>
                                </m:r>
                                <m:r>
                                  <a:rPr lang="en-IN" sz="2400" i="1">
                                    <a:solidFill>
                                      <a:srgbClr val="111827"/>
                                    </a:solidFill>
                                    <a:latin typeface="Cambria Math" panose="02040503050406030204" pitchFamily="18" charset="0"/>
                                  </a:rPr>
                                  <m:t>𝑥</m:t>
                                </m:r>
                              </m:den>
                            </m:f>
                          </m:e>
                        </m:d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By (2), </a:t>
                </a:r>
                <a14:m>
                  <m:oMath xmlns:m="http://schemas.openxmlformats.org/officeDocument/2006/math">
                    <m:sSup>
                      <m:e>
                        <m:d>
                          <m:dPr>
                            <m:begChr m:val="("/>
                            <m:sepChr m:val=""/>
                            <m:endChr m:val=")"/>
                            <m:grow/>
                            <m:ctrlP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f>
                              <m:fPr>
                                <m:type m:val="bar"/>
                                <m:ctrlPr>
                                  <a:rPr lang="en-IN" sz="2400" i="1">
                                    <a:solidFill>
                                      <a:srgbClr val="111827"/>
                                    </a:solidFill>
                                    <a:latin typeface="Cambria Math" panose="02040503050406030204" pitchFamily="18" charset="0"/>
                                  </a:rPr>
                                </m:ctrlPr>
                              </m:fPr>
                              <m:num>
                                <m:r>
                                  <a:rPr lang="en-IN" sz="2400" i="1">
                                    <a:solidFill>
                                      <a:srgbClr val="111827"/>
                                    </a:solidFill>
                                    <a:latin typeface="Cambria Math" panose="02040503050406030204" pitchFamily="18" charset="0"/>
                                  </a:rPr>
                                  <m:t>𝑎</m:t>
                                </m:r>
                                <m:r>
                                  <a:rPr lang="en-IN" sz="2400" i="1">
                                    <a:solidFill>
                                      <a:srgbClr val="111827"/>
                                    </a:solidFill>
                                    <a:latin typeface="Cambria Math" panose="02040503050406030204" pitchFamily="18" charset="0"/>
                                  </a:rPr>
                                  <m:t>𝑥</m:t>
                                </m:r>
                              </m:num>
                              <m:den>
                                <m:r>
                                  <a:rPr lang="en-IN" sz="2400" i="1">
                                    <a:solidFill>
                                      <a:srgbClr val="111827"/>
                                    </a:solidFill>
                                    <a:latin typeface="Cambria Math" panose="02040503050406030204" pitchFamily="18" charset="0"/>
                                  </a:rPr>
                                  <m:t>𝑎</m:t>
                                </m:r>
                                <m:r>
                                  <m:rPr>
                                    <m:sty m:val="p"/>
                                  </m:rPr>
                                  <a:rPr lang="en-IN" sz="2400">
                                    <a:solidFill>
                                      <a:srgbClr val="111827"/>
                                    </a:solidFill>
                                    <a:latin typeface="Cambria Math" panose="02040503050406030204" pitchFamily="18" charset="0"/>
                                  </a:rPr>
                                  <m:t>+</m:t>
                                </m:r>
                                <m:r>
                                  <a:rPr lang="en-IN" sz="2400" i="1">
                                    <a:solidFill>
                                      <a:srgbClr val="111827"/>
                                    </a:solidFill>
                                    <a:latin typeface="Cambria Math" panose="02040503050406030204" pitchFamily="18" charset="0"/>
                                  </a:rPr>
                                  <m:t>𝑏</m:t>
                                </m:r>
                                <m:r>
                                  <a:rPr lang="en-IN" sz="2400" i="1">
                                    <a:solidFill>
                                      <a:srgbClr val="111827"/>
                                    </a:solidFill>
                                    <a:latin typeface="Cambria Math" panose="02040503050406030204" pitchFamily="18" charset="0"/>
                                  </a:rPr>
                                  <m:t>𝑥</m:t>
                                </m:r>
                              </m:den>
                            </m:f>
                          </m:e>
                        </m:d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𝑦</m:t>
                        </m:r>
                      </m:e>
                      <m:sup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′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𝑦</m:t>
                    </m:r>
                    <m:sSup>
                      <m:e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)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so </a:t>
                </a:r>
                <a14:m>
                  <m:oMath xmlns:m="http://schemas.openxmlformats.org/officeDocument/2006/math"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3</m:t>
                        </m:r>
                      </m:sup>
                    </m:sSup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𝑦</m:t>
                        </m:r>
                      </m:e>
                      <m:sup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″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𝑦</m:t>
                        </m:r>
                      </m:e>
                      <m:sup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′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𝑦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d>
                      <m:dPr>
                        <m:begChr m:val="["/>
                        <m:sepChr m:val=""/>
                        <m:endChr m:val="]"/>
                        <m:grow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−</m:t>
                        </m:r>
                        <m:f>
                          <m:fPr>
                            <m:type m:val="bar"/>
                            <m:ctrlP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fPr>
                          <m:num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𝑏</m:t>
                            </m:r>
                          </m:num>
                          <m:den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𝑎</m:t>
                            </m:r>
                          </m:den>
                        </m:f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⋅</m:t>
                        </m:r>
                        <m:f>
                          <m:fPr>
                            <m:type m:val="bar"/>
                            <m:ctrlP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fPr>
                          <m:num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𝑎</m:t>
                            </m:r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𝑥</m:t>
                            </m:r>
                          </m:num>
                          <m:den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𝑎</m:t>
                            </m:r>
                            <m:r>
                              <m:rPr>
                                <m:sty m:val="p"/>
                              </m:rPr>
                              <a:rPr lang="en-IN" sz="2400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+</m:t>
                            </m:r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𝑏</m:t>
                            </m:r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𝑥</m:t>
                            </m:r>
                          </m:den>
                        </m:f>
                      </m:e>
                    </m:d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𝑏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𝑎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+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𝑏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</m:den>
                    </m:f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𝑎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𝑎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+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𝑏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</m:den>
                    </m:f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so </a:t>
                </a:r>
                <a14:m>
                  <m:oMath xmlns:m="http://schemas.openxmlformats.org/officeDocument/2006/math"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3</m:t>
                        </m:r>
                      </m:sup>
                    </m:sSup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𝑦</m:t>
                        </m:r>
                      </m:e>
                      <m:sup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″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𝑦</m:t>
                        </m:r>
                      </m:e>
                      <m:sup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′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𝑦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⋅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𝑎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𝑎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+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𝑏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</m:den>
                    </m:f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By (2) this is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𝑦</m:t>
                        </m:r>
                      </m:e>
                      <m:sup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′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𝑦</m:t>
                    </m:r>
                    <m:sSup>
                      <m:e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)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 Hence </a:t>
                </a:r>
                <a14:m>
                  <m:oMath xmlns:m="http://schemas.openxmlformats.org/officeDocument/2006/math"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3</m:t>
                        </m:r>
                      </m:sup>
                    </m:sSup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𝑦</m:t>
                        </m:r>
                      </m:e>
                      <m:sup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″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𝑦</m:t>
                        </m:r>
                      </m:e>
                      <m:sup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′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𝑦</m:t>
                    </m:r>
                    <m:sSup>
                      <m:e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)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Choice>
        <mc:Fallback>
          <p:sp>
            <p:nvSpPr>
              <p:cNvPr id="4" name="Rectangle 3"/>
              <p:cNvSpPr/>
              <p:nvPr/>
            </p:nvSpPr>
            <p:spPr>
              <a:xfrm>
                <a:off x="731520" y="1353312"/>
                <a:ext cx="10725912" cy="4434840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Multiply by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$x^3$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: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$x^3y''=x(xy'-y)-\frac ba\,x\left(\frac{ax}{a+bx}\right)^2$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By (2),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$\left(\frac{ax}{a+bx}\right)^2=(xy'-y)^2$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so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$x^3y''=x(xy'-y)\left[1-\frac ba\cdot\frac{ax}{a+bx}\right]$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$1-\frac{bx}{a+bx}=\frac{a}{a+bx}$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so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$x^3y''=(xy'-y)\cdot\frac{ax}{a+bx}$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By (2) this is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$(xy'-y)^2$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 Hence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$x^3y''=(xy'-y)^2$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5" name="Rounded Rectangle 4"/>
              <p:cNvSpPr/>
              <p:nvPr/>
            </p:nvSpPr>
            <p:spPr>
              <a:xfrm>
                <a:off x="731520" y="5897880"/>
                <a:ext cx="10725912" cy="777240"/>
              </a:xfrm>
              <a:prstGeom prst="roundRect">
                <a:avLst>
                  <a:gd name="adj" fmla="val 8000"/>
                </a:avLst>
              </a:prstGeom>
              <a:solidFill>
                <a:srgbClr val="DCFCE7"/>
              </a:solidFill>
              <a:ln w="25400">
                <a:solidFill>
                  <a:srgbClr val="15803D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5803D"/>
              </a:fontRef>
            </p:style>
            <p:txBody>
              <a:bodyPr rtlCol="0" anchor="ctr" wrap="square" lIns="228600" rIns="228600" tIns="18288" bIns="73152"/>
              <a:lstStyle>
                <a:lvl1pPr>
                  <a:defRPr sz="2800">
                    <a:solidFill>
                      <a:srgbClr val="15803D"/>
                    </a:solidFill>
                  </a:defRPr>
                </a:lvl1pPr>
              </a:lstStyle>
              <a:p>
                <a:pPr algn="ctr">
                  <a:defRPr sz="2800">
                    <a:solidFill>
                      <a:srgbClr val="15803D"/>
                    </a:solidFill>
                  </a:defRPr>
                </a:pPr>
                <a:r>
                  <a:rPr sz="2800" b="1">
                    <a:solidFill>
                      <a:srgbClr val="15803D"/>
                    </a:solidFill>
                    <a:latin typeface="Arial"/>
                  </a:rPr>
                  <a:t>Correct Answer: Shown: </a:t>
                </a:r>
                <a14:m>
                  <m:oMath xmlns:m="http://schemas.openxmlformats.org/officeDocument/2006/math">
                    <m:sSup>
                      <m:e>
                        <m:r>
                          <a:rPr lang="en-IN" sz="2800" i="1">
                            <a:solidFill>
                              <a:srgbClr val="15803D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  <m:sup>
                        <m:r>
                          <a:rPr lang="en-IN" sz="2800" i="1">
                            <a:solidFill>
                              <a:srgbClr val="15803D"/>
                            </a:solidFill>
                            <a:latin typeface="Cambria Math" panose="02040503050406030204" pitchFamily="18" charset="0"/>
                          </a:rPr>
                          <m:t>3</m:t>
                        </m:r>
                      </m:sup>
                    </m:sSup>
                    <m:sSup>
                      <m:e>
                        <m:r>
                          <a:rPr lang="en-IN" sz="2800" i="1">
                            <a:solidFill>
                              <a:srgbClr val="15803D"/>
                            </a:solidFill>
                            <a:latin typeface="Cambria Math" panose="02040503050406030204" pitchFamily="18" charset="0"/>
                          </a:rPr>
                          <m:t>𝑦</m:t>
                        </m:r>
                      </m:e>
                      <m:sup>
                        <m:r>
                          <m:rPr>
                            <m:sty m:val="p"/>
                          </m:rPr>
                          <a:rPr lang="en-IN" sz="2800">
                            <a:solidFill>
                              <a:srgbClr val="15803D"/>
                            </a:solidFill>
                            <a:latin typeface="Cambria Math" panose="02040503050406030204" pitchFamily="18" charset="0"/>
                          </a:rPr>
                          <m:t>″</m:t>
                        </m:r>
                      </m:sup>
                    </m:sSup>
                    <m:r>
                      <m:rPr>
                        <m:sty m:val="p"/>
                      </m:rPr>
                      <a:rPr lang="en-IN" sz="2800">
                        <a:solidFill>
                          <a:srgbClr val="15803D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m:rPr>
                        <m:sty m:val="p"/>
                      </m:rPr>
                      <a:rPr lang="en-IN" sz="2800">
                        <a:solidFill>
                          <a:srgbClr val="15803D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800" i="1">
                        <a:solidFill>
                          <a:srgbClr val="15803D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sSup>
                      <m:e>
                        <m:r>
                          <a:rPr lang="en-IN" sz="2800" i="1">
                            <a:solidFill>
                              <a:srgbClr val="15803D"/>
                            </a:solidFill>
                            <a:latin typeface="Cambria Math" panose="02040503050406030204" pitchFamily="18" charset="0"/>
                          </a:rPr>
                          <m:t>𝑦</m:t>
                        </m:r>
                      </m:e>
                      <m:sup>
                        <m:r>
                          <m:rPr>
                            <m:sty m:val="p"/>
                          </m:rPr>
                          <a:rPr lang="en-IN" sz="2800">
                            <a:solidFill>
                              <a:srgbClr val="15803D"/>
                            </a:solidFill>
                            <a:latin typeface="Cambria Math" panose="02040503050406030204" pitchFamily="18" charset="0"/>
                          </a:rPr>
                          <m:t>′</m:t>
                        </m:r>
                      </m:sup>
                    </m:sSup>
                    <m:r>
                      <m:rPr>
                        <m:sty m:val="p"/>
                      </m:rPr>
                      <a:rPr lang="en-IN" sz="2800">
                        <a:solidFill>
                          <a:srgbClr val="15803D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800" i="1">
                        <a:solidFill>
                          <a:srgbClr val="15803D"/>
                        </a:solidFill>
                        <a:latin typeface="Cambria Math" panose="02040503050406030204" pitchFamily="18" charset="0"/>
                      </a:rPr>
                      <m:t>𝑦</m:t>
                    </m:r>
                    <m:sSup>
                      <m:e>
                        <m:r>
                          <m:rPr>
                            <m:sty m:val="p"/>
                          </m:rPr>
                          <a:rPr lang="en-IN" sz="2800">
                            <a:solidFill>
                              <a:srgbClr val="15803D"/>
                            </a:solidFill>
                            <a:latin typeface="Cambria Math" panose="02040503050406030204" pitchFamily="18" charset="0"/>
                          </a:rPr>
                          <m:t>)</m:t>
                        </m:r>
                      </m:e>
                      <m:sup>
                        <m:r>
                          <a:rPr lang="en-IN" sz="2800" i="1">
                            <a:solidFill>
                              <a:srgbClr val="15803D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</m:oMath>
                </a14:m>
                <a:endParaRPr sz="2800">
                  <a:solidFill>
                    <a:srgbClr val="15803D"/>
                  </a:solidFill>
                </a:endParaRPr>
              </a:p>
            </p:txBody>
          </p:sp>
        </mc:Choice>
        <mc:Fallback>
          <p:sp>
            <p:nvSpPr>
              <p:cNvPr id="5" name="Rounded Rectangle 4"/>
              <p:cNvSpPr/>
              <p:nvPr/>
            </p:nvSpPr>
            <p:spPr>
              <a:xfrm>
                <a:off x="731520" y="5897880"/>
                <a:ext cx="10725912" cy="777240"/>
              </a:xfrm>
              <a:prstGeom prst="roundRect">
                <a:avLst>
                  <a:gd name="adj" fmla="val 8000"/>
                </a:avLst>
              </a:prstGeom>
              <a:solidFill>
                <a:srgbClr val="DCFCE7"/>
              </a:solidFill>
              <a:ln w="25400">
                <a:solidFill>
                  <a:srgbClr val="15803D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5803D"/>
              </a:fontRef>
            </p:style>
            <p:txBody>
              <a:bodyPr rtlCol="0" anchor="ctr" wrap="square" lIns="228600" rIns="228600" tIns="18288" bIns="73152"/>
              <a:lstStyle>
                <a:lvl1pPr>
                  <a:defRPr sz="2800">
                    <a:solidFill>
                      <a:srgbClr val="15803D"/>
                    </a:solidFill>
                  </a:defRPr>
                </a:lvl1pPr>
              </a:lstStyle>
              <a:p>
                <a:pPr algn="ctr">
                  <a:defRPr sz="2800">
                    <a:solidFill>
                      <a:srgbClr val="15803D"/>
                    </a:solidFill>
                  </a:defRPr>
                </a:pPr>
                <a:r>
                  <a:rPr sz="2800" b="1">
                    <a:solidFill>
                      <a:srgbClr val="15803D"/>
                    </a:solidFill>
                    <a:latin typeface="Arial"/>
                  </a:rPr>
                  <a:t>Correct Answer: Shown: </a:t>
                </a:r>
                <a:r>
                  <a:rPr lang="en-IN" sz="2800">
                    <a:solidFill>
                      <a:srgbClr val="15803D"/>
                    </a:solidFill>
                    <a:latin typeface="Cambria Math" panose="02040503050406030204" pitchFamily="18" charset="0"/>
                  </a:rPr>
                  <a:t>$x^3y''=(xy'-y)^2$</a:t>
                </a:r>
                <a:endParaRPr sz="2800">
                  <a:solidFill>
                    <a:srgbClr val="15803D"/>
                  </a:solidFill>
                </a:endParaRPr>
              </a:p>
            </p:txBody>
          </p:sp>
        </mc:Fallback>
      </mc:AlternateContent>
    </p:spTree>
  </p:cSld>
  <p:clrMapOvr>
    <a:masterClrMapping/>
  </p:clrMapOvr>
</p:sld>
</file>

<file path=ppt/slides/slide1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FFFFFF"/>
          </a:fontRef>
        </p:style>
        <p:txBody>
          <a:bodyPr rtlCol="0" anchor="ctr" lIns="731520"/>
          <a:lstStyle>
            <a:lvl1pPr>
              <a:defRPr sz="3200">
                <a:solidFill>
                  <a:srgbClr val="FFFFFF"/>
                </a:solidFill>
              </a:defRPr>
            </a:lvl1pPr>
          </a:lstStyle>
          <a:p>
            <a:pPr algn="l">
              <a:defRPr sz="3200">
                <a:solidFill>
                  <a:srgbClr val="FFFFFF"/>
                </a:solidFill>
              </a:defRPr>
            </a:pPr>
            <a:r>
              <a:rPr sz="3200" b="1">
                <a:solidFill>
                  <a:srgbClr val="FFFFFF"/>
                </a:solidFill>
                <a:latin typeface="Arial"/>
              </a:rPr>
              <a:t>Question 18</a:t>
            </a:r>
            <a:endParaRPr sz="3200">
              <a:solidFill>
                <a:srgbClr val="FFFFFF"/>
              </a:solidFill>
            </a:endParaRPr>
          </a:p>
        </p:txBody>
      </p:sp>
      <p:sp>
        <p:nvSpPr>
          <p:cNvPr id="3" name="Rounded Rectangle 2"/>
          <p:cNvSpPr/>
          <p:nvPr/>
        </p:nvSpPr>
        <p:spPr>
          <a:xfrm>
            <a:off x="7894015" y="246887"/>
            <a:ext cx="3840480" cy="603504"/>
          </a:xfrm>
          <a:prstGeom prst="roundRect">
            <a:avLst>
              <a:gd name="adj" fmla="val 50000"/>
            </a:avLst>
          </a:prstGeom>
          <a:solidFill>
            <a:srgbClr val="FFD966"/>
          </a:solidFill>
          <a:ln w="1905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111827"/>
          </a:fontRef>
        </p:style>
        <p:txBody>
          <a:bodyPr rtlCol="0" anchor="ctr" wrap="square" lIns="228600" rIns="228600" tIns="18288" bIns="18288"/>
          <a:lstStyle>
            <a:lvl1pPr>
              <a:defRPr sz="2400">
                <a:solidFill>
                  <a:srgbClr val="111827"/>
                </a:solidFill>
              </a:defRPr>
            </a:lvl1pPr>
          </a:lstStyle>
          <a:p>
            <a:pPr algn="ctr">
              <a:defRPr sz="2400">
                <a:solidFill>
                  <a:srgbClr val="111827"/>
                </a:solidFill>
              </a:defRPr>
            </a:pPr>
            <a:r>
              <a:rPr sz="2400" b="1">
                <a:solidFill>
                  <a:srgbClr val="111827"/>
                </a:solidFill>
                <a:latin typeface="Arial"/>
              </a:rPr>
              <a:t>Level 2  ·  4 Marks</a:t>
            </a:r>
            <a:endParaRPr sz="2400">
              <a:solidFill>
                <a:srgbClr val="111827"/>
              </a:solidFill>
            </a:endParaRPr>
          </a:p>
        </p:txBody>
      </p:sp>
      <p:sp>
        <p:nvSpPr>
          <p:cNvPr id="4" name="Rounded Rectangle 3"/>
          <p:cNvSpPr/>
          <p:nvPr/>
        </p:nvSpPr>
        <p:spPr>
          <a:xfrm>
            <a:off x="3520440" y="265176"/>
            <a:ext cx="4206240" cy="566928"/>
          </a:xfrm>
          <a:prstGeom prst="roundRect">
            <a:avLst>
              <a:gd name="adj" fmla="val 50000"/>
            </a:avLst>
          </a:prstGeom>
          <a:solidFill>
            <a:srgbClr val="FDE68A"/>
          </a:solidFill>
          <a:ln w="25400">
            <a:solidFill>
              <a:srgbClr val="D9770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78350F"/>
          </a:fontRef>
        </p:style>
        <p:txBody>
          <a:bodyPr rtlCol="0" anchor="ctr" wrap="square" lIns="228600" rIns="228600" tIns="18288" bIns="18288"/>
          <a:lstStyle>
            <a:lvl1pPr>
              <a:defRPr sz="2200">
                <a:solidFill>
                  <a:srgbClr val="78350F"/>
                </a:solidFill>
              </a:defRPr>
            </a:lvl1pPr>
          </a:lstStyle>
          <a:p>
            <a:pPr algn="ctr">
              <a:defRPr sz="2200">
                <a:solidFill>
                  <a:srgbClr val="78350F"/>
                </a:solidFill>
              </a:defRPr>
            </a:pPr>
            <a:r>
              <a:rPr sz="2200" b="1">
                <a:solidFill>
                  <a:srgbClr val="78350F"/>
                </a:solidFill>
                <a:latin typeface="Arial"/>
              </a:rPr>
              <a:t>Alternate Solution</a:t>
            </a:r>
            <a:endParaRPr sz="2200">
              <a:solidFill>
                <a:srgbClr val="78350F"/>
              </a:solidFill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5" name="Rounded Rectangle 4"/>
              <p:cNvSpPr/>
              <p:nvPr/>
            </p:nvSpPr>
            <p:spPr>
              <a:xfrm>
                <a:off x="731520" y="1280160"/>
                <a:ext cx="10725912" cy="1219200"/>
              </a:xfrm>
              <a:prstGeom prst="roundRect">
                <a:avLst>
                  <a:gd name="adj" fmla="val 8000"/>
                </a:avLst>
              </a:prstGeom>
              <a:solidFill>
                <a:srgbClr val="FDE68A"/>
              </a:solidFill>
              <a:ln w="31750">
                <a:solidFill>
                  <a:srgbClr val="D97706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78350F"/>
              </a:fontRef>
            </p:style>
            <p:txBody>
              <a:bodyPr rtlCol="0" anchor="ctr" wrap="square" lIns="228600" rIns="228600" tIns="54864" bIns="73152"/>
              <a:lstStyle>
                <a:lvl1pPr>
                  <a:defRPr sz="2400">
                    <a:solidFill>
                      <a:srgbClr val="78350F"/>
                    </a:solidFill>
                  </a:defRPr>
                </a:lvl1pPr>
              </a:lstStyle>
              <a:p>
                <a:pPr algn="l">
                  <a:defRPr sz="2400">
                    <a:solidFill>
                      <a:srgbClr val="78350F"/>
                    </a:solidFill>
                  </a:defRPr>
                </a:pPr>
                <a:r>
                  <a:rPr sz="2400" b="1">
                    <a:solidFill>
                      <a:srgbClr val="78350F"/>
                    </a:solidFill>
                    <a:latin typeface="Arial"/>
                  </a:rPr>
                  <a:t>Idea:  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Put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𝑌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𝑦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</m:den>
                    </m:f>
                  </m:oMath>
                </a14:m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 so that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sSup>
                      <m:e>
                        <m: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𝑦</m:t>
                        </m:r>
                      </m:e>
                      <m:sup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′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𝑦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=</m:t>
                    </m:r>
                    <m:sSup>
                      <m:e>
                        <m: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  <m:sup>
                        <m: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sSup>
                      <m:e>
                        <m: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𝑌</m:t>
                        </m:r>
                      </m:e>
                      <m:sup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′</m:t>
                        </m:r>
                      </m:sup>
                    </m:sSup>
                  </m:oMath>
                </a14:m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 and </a:t>
                </a:r>
                <a14:m>
                  <m:oMath xmlns:m="http://schemas.openxmlformats.org/officeDocument/2006/math">
                    <m:sSup>
                      <m:e>
                        <m: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  <m:sup>
                        <m: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3</m:t>
                        </m:r>
                      </m:sup>
                    </m:sSup>
                    <m:sSup>
                      <m:e>
                        <m: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𝑦</m:t>
                        </m:r>
                      </m:e>
                      <m:sup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″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2</m:t>
                    </m:r>
                    <m:sSup>
                      <m:e>
                        <m: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  <m:sup>
                        <m: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3</m:t>
                        </m:r>
                      </m:sup>
                    </m:sSup>
                    <m:sSup>
                      <m:e>
                        <m: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𝑌</m:t>
                        </m:r>
                      </m:e>
                      <m:sup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′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+</m:t>
                    </m:r>
                    <m:sSup>
                      <m:e>
                        <m: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  <m:sup>
                        <m: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4</m:t>
                        </m:r>
                      </m:sup>
                    </m:sSup>
                    <m:sSup>
                      <m:e>
                        <m: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𝑌</m:t>
                        </m:r>
                      </m:e>
                      <m:sup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″</m:t>
                        </m:r>
                      </m:sup>
                    </m:sSup>
                  </m:oMath>
                </a14:m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, with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𝑌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ln</m:t>
                    </m:r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ln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𝑎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𝑏</m:t>
                    </m:r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 explicit.</a:t>
                </a:r>
                <a:endParaRPr sz="2400">
                  <a:solidFill>
                    <a:srgbClr val="78350F"/>
                  </a:solidFill>
                </a:endParaRPr>
              </a:p>
            </p:txBody>
          </p:sp>
        </mc:Choice>
        <mc:Fallback>
          <p:sp>
            <p:nvSpPr>
              <p:cNvPr id="5" name="Rounded Rectangle 4"/>
              <p:cNvSpPr/>
              <p:nvPr/>
            </p:nvSpPr>
            <p:spPr>
              <a:xfrm>
                <a:off x="731520" y="1280160"/>
                <a:ext cx="10725912" cy="1219200"/>
              </a:xfrm>
              <a:prstGeom prst="roundRect">
                <a:avLst>
                  <a:gd name="adj" fmla="val 8000"/>
                </a:avLst>
              </a:prstGeom>
              <a:solidFill>
                <a:srgbClr val="FDE68A"/>
              </a:solidFill>
              <a:ln w="31750">
                <a:solidFill>
                  <a:srgbClr val="D97706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78350F"/>
              </a:fontRef>
            </p:style>
            <p:txBody>
              <a:bodyPr rtlCol="0" anchor="ctr" wrap="square" lIns="228600" rIns="228600" tIns="54864" bIns="73152"/>
              <a:lstStyle>
                <a:lvl1pPr>
                  <a:defRPr sz="2400">
                    <a:solidFill>
                      <a:srgbClr val="78350F"/>
                    </a:solidFill>
                  </a:defRPr>
                </a:lvl1pPr>
              </a:lstStyle>
              <a:p>
                <a:pPr algn="l">
                  <a:defRPr sz="2400">
                    <a:solidFill>
                      <a:srgbClr val="78350F"/>
                    </a:solidFill>
                  </a:defRPr>
                </a:pPr>
                <a:r>
                  <a:rPr sz="2400" b="1">
                    <a:solidFill>
                      <a:srgbClr val="78350F"/>
                    </a:solidFill>
                    <a:latin typeface="Arial"/>
                  </a:rPr>
                  <a:t>Idea:  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Put </a:t>
                </a:r>
                <a:r>
                  <a:rPr lang="en-IN" sz="2400">
                    <a:solidFill>
                      <a:srgbClr val="78350F"/>
                    </a:solidFill>
                    <a:latin typeface="Cambria Math" panose="02040503050406030204" pitchFamily="18" charset="0"/>
                  </a:rPr>
                  <a:t>$Y=\frac yx$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 so that </a:t>
                </a:r>
                <a:r>
                  <a:rPr lang="en-IN" sz="2400">
                    <a:solidFill>
                      <a:srgbClr val="78350F"/>
                    </a:solidFill>
                    <a:latin typeface="Cambria Math" panose="02040503050406030204" pitchFamily="18" charset="0"/>
                  </a:rPr>
                  <a:t>$xy'-y=x^2Y'$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 and </a:t>
                </a:r>
                <a:r>
                  <a:rPr lang="en-IN" sz="2400">
                    <a:solidFill>
                      <a:srgbClr val="78350F"/>
                    </a:solidFill>
                    <a:latin typeface="Cambria Math" panose="02040503050406030204" pitchFamily="18" charset="0"/>
                  </a:rPr>
                  <a:t>$x^3y''=2x^3Y'+x^4Y''$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, with </a:t>
                </a:r>
                <a:r>
                  <a:rPr lang="en-IN" sz="2400">
                    <a:solidFill>
                      <a:srgbClr val="78350F"/>
                    </a:solidFill>
                    <a:latin typeface="Cambria Math" panose="02040503050406030204" pitchFamily="18" charset="0"/>
                  </a:rPr>
                  <a:t>$Y=\ln x-\ln(a+bx)$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 explicit.</a:t>
                </a:r>
                <a:endParaRPr sz="2400">
                  <a:solidFill>
                    <a:srgbClr val="78350F"/>
                  </a:solidFill>
                </a:endParaRP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6" name="Rectangle 5"/>
              <p:cNvSpPr/>
              <p:nvPr/>
            </p:nvSpPr>
            <p:spPr>
              <a:xfrm>
                <a:off x="731520" y="2636520"/>
                <a:ext cx="10725912" cy="4038599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𝑦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𝑌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with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𝑌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ln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ln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𝑎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𝑏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 Then </a:t>
                </a:r>
                <a14:m>
                  <m:oMath xmlns:m="http://schemas.openxmlformats.org/officeDocument/2006/math"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𝑦</m:t>
                        </m:r>
                      </m:e>
                      <m:sup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′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𝑌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𝑌</m:t>
                        </m:r>
                      </m:e>
                      <m:sup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′</m:t>
                        </m:r>
                      </m:sup>
                    </m:sSup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so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𝑦</m:t>
                        </m:r>
                      </m:e>
                      <m:sup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′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𝑦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𝑌</m:t>
                        </m:r>
                      </m:e>
                      <m:sup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′</m:t>
                        </m:r>
                      </m:sup>
                    </m:sSup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and </a:t>
                </a:r>
                <a14:m>
                  <m:oMath xmlns:m="http://schemas.openxmlformats.org/officeDocument/2006/math"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𝑦</m:t>
                        </m:r>
                      </m:e>
                      <m:sup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″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𝑌</m:t>
                        </m:r>
                      </m:e>
                      <m:sup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′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𝑌</m:t>
                        </m:r>
                      </m:e>
                      <m:sup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″</m:t>
                        </m:r>
                      </m:sup>
                    </m:sSup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14:m>
                  <m:oMath xmlns:m="http://schemas.openxmlformats.org/officeDocument/2006/math"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𝑌</m:t>
                        </m:r>
                      </m:e>
                      <m:sup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′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</m:den>
                    </m:f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𝑏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𝑎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+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𝑏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</m:den>
                    </m:f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𝑎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(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𝑎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+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𝑏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)</m:t>
                        </m:r>
                      </m:den>
                    </m:f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and </a:t>
                </a:r>
                <a14:m>
                  <m:oMath xmlns:m="http://schemas.openxmlformats.org/officeDocument/2006/math"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𝑌</m:t>
                        </m:r>
                      </m:e>
                      <m:sup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″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num>
                      <m:den>
                        <m:sSup>
                          <m:e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𝑥</m:t>
                            </m:r>
                          </m:e>
                          <m:sup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2</m:t>
                            </m:r>
                          </m:sup>
                        </m:sSup>
                      </m:den>
                    </m:f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sSup>
                          <m:e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𝑏</m:t>
                            </m:r>
                          </m:e>
                          <m:sup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2</m:t>
                            </m:r>
                          </m:sup>
                        </m:sSup>
                      </m:num>
                      <m:den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(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𝑎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+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𝑏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  <m:sSup>
                          <m:e>
                            <m:r>
                              <m:rPr>
                                <m:sty m:val="p"/>
                              </m:rPr>
                              <a:rPr lang="en-IN" sz="2400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)</m:t>
                            </m:r>
                          </m:e>
                          <m:sup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2</m:t>
                            </m:r>
                          </m:sup>
                        </m:sSup>
                      </m:den>
                    </m:f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14:m>
                  <m:oMath xmlns:m="http://schemas.openxmlformats.org/officeDocument/2006/math"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𝑌</m:t>
                        </m:r>
                      </m:e>
                      <m:sup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′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𝑎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𝑎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+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𝑏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</m:den>
                    </m:f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so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𝑦</m:t>
                        </m:r>
                      </m:e>
                      <m:sup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′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𝑦</m:t>
                    </m:r>
                    <m:sSup>
                      <m:e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)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sSup>
                          <m:e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𝑎</m:t>
                            </m:r>
                          </m:e>
                          <m:sup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2</m:t>
                            </m:r>
                          </m:sup>
                        </m:sSup>
                        <m:sSup>
                          <m:e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𝑥</m:t>
                            </m:r>
                          </m:e>
                          <m:sup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2</m:t>
                            </m:r>
                          </m:sup>
                        </m:sSup>
                      </m:num>
                      <m:den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(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𝑎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+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𝑏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  <m:sSup>
                          <m:e>
                            <m:r>
                              <m:rPr>
                                <m:sty m:val="p"/>
                              </m:rPr>
                              <a:rPr lang="en-IN" sz="2400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)</m:t>
                            </m:r>
                          </m:e>
                          <m:sup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2</m:t>
                            </m:r>
                          </m:sup>
                        </m:sSup>
                      </m:den>
                    </m:f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Choice>
        <mc:Fallback>
          <p:sp>
            <p:nvSpPr>
              <p:cNvPr id="6" name="Rectangle 5"/>
              <p:cNvSpPr/>
              <p:nvPr/>
            </p:nvSpPr>
            <p:spPr>
              <a:xfrm>
                <a:off x="731520" y="2636520"/>
                <a:ext cx="10725912" cy="4038599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$y=xY$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with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$Y=\ln x-\ln(a+bx)$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 Then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$y'=Y+xY'$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so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$xy'-y=x^2Y'$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and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$y''=2Y'+xY''$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$Y'=\frac1x-\frac{b}{a+bx}=\frac{a}{x(a+bx)}$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and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$Y''=-\frac1{x^2}+\frac{b^2}{(a+bx)^2}$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$x^2Y'=\frac{ax}{a+bx}$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so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$(xy'-y)^2=\frac{a^2x^2}{(a+bx)^2}$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Fallback>
      </mc:AlternateContent>
    </p:spTree>
  </p:cSld>
  <p:clrMapOvr>
    <a:masterClrMapping/>
  </p:clrMapOvr>
</p:sld>
</file>

<file path=ppt/slides/slide1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FFFFFF"/>
          </a:fontRef>
        </p:style>
        <p:txBody>
          <a:bodyPr rtlCol="0" anchor="ctr" lIns="731520"/>
          <a:lstStyle>
            <a:lvl1pPr>
              <a:defRPr sz="3200">
                <a:solidFill>
                  <a:srgbClr val="FFFFFF"/>
                </a:solidFill>
              </a:defRPr>
            </a:lvl1pPr>
          </a:lstStyle>
          <a:p>
            <a:pPr algn="l">
              <a:defRPr sz="3200">
                <a:solidFill>
                  <a:srgbClr val="FFFFFF"/>
                </a:solidFill>
              </a:defRPr>
            </a:pPr>
            <a:r>
              <a:rPr sz="3200" b="1">
                <a:solidFill>
                  <a:srgbClr val="FFFFFF"/>
                </a:solidFill>
                <a:latin typeface="Arial"/>
              </a:rPr>
              <a:t>Question 18</a:t>
            </a:r>
            <a:endParaRPr sz="3200">
              <a:solidFill>
                <a:srgbClr val="FFFFFF"/>
              </a:solidFill>
            </a:endParaRPr>
          </a:p>
        </p:txBody>
      </p:sp>
      <p:sp>
        <p:nvSpPr>
          <p:cNvPr id="3" name="Rounded Rectangle 2"/>
          <p:cNvSpPr/>
          <p:nvPr/>
        </p:nvSpPr>
        <p:spPr>
          <a:xfrm>
            <a:off x="7894015" y="246887"/>
            <a:ext cx="3840480" cy="603504"/>
          </a:xfrm>
          <a:prstGeom prst="roundRect">
            <a:avLst>
              <a:gd name="adj" fmla="val 50000"/>
            </a:avLst>
          </a:prstGeom>
          <a:solidFill>
            <a:srgbClr val="FFD966"/>
          </a:solidFill>
          <a:ln w="1905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111827"/>
          </a:fontRef>
        </p:style>
        <p:txBody>
          <a:bodyPr rtlCol="0" anchor="ctr" wrap="square" lIns="228600" rIns="228600" tIns="18288" bIns="18288"/>
          <a:lstStyle>
            <a:lvl1pPr>
              <a:defRPr sz="2400">
                <a:solidFill>
                  <a:srgbClr val="111827"/>
                </a:solidFill>
              </a:defRPr>
            </a:lvl1pPr>
          </a:lstStyle>
          <a:p>
            <a:pPr algn="ctr">
              <a:defRPr sz="2400">
                <a:solidFill>
                  <a:srgbClr val="111827"/>
                </a:solidFill>
              </a:defRPr>
            </a:pPr>
            <a:r>
              <a:rPr sz="2400" b="1">
                <a:solidFill>
                  <a:srgbClr val="111827"/>
                </a:solidFill>
                <a:latin typeface="Arial"/>
              </a:rPr>
              <a:t>Level 2  ·  4 Marks</a:t>
            </a:r>
            <a:endParaRPr sz="2400">
              <a:solidFill>
                <a:srgbClr val="111827"/>
              </a:solidFill>
            </a:endParaRPr>
          </a:p>
        </p:txBody>
      </p:sp>
      <p:sp>
        <p:nvSpPr>
          <p:cNvPr id="4" name="Rounded Rectangle 3"/>
          <p:cNvSpPr/>
          <p:nvPr/>
        </p:nvSpPr>
        <p:spPr>
          <a:xfrm>
            <a:off x="3520440" y="265176"/>
            <a:ext cx="4206240" cy="566928"/>
          </a:xfrm>
          <a:prstGeom prst="roundRect">
            <a:avLst>
              <a:gd name="adj" fmla="val 50000"/>
            </a:avLst>
          </a:prstGeom>
          <a:solidFill>
            <a:srgbClr val="FDE68A"/>
          </a:solidFill>
          <a:ln w="25400">
            <a:solidFill>
              <a:srgbClr val="D9770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78350F"/>
          </a:fontRef>
        </p:style>
        <p:txBody>
          <a:bodyPr rtlCol="0" anchor="ctr" wrap="square" lIns="228600" rIns="228600" tIns="18288" bIns="18288"/>
          <a:lstStyle>
            <a:lvl1pPr>
              <a:defRPr sz="2200">
                <a:solidFill>
                  <a:srgbClr val="78350F"/>
                </a:solidFill>
              </a:defRPr>
            </a:lvl1pPr>
          </a:lstStyle>
          <a:p>
            <a:pPr algn="ctr">
              <a:defRPr sz="2200">
                <a:solidFill>
                  <a:srgbClr val="78350F"/>
                </a:solidFill>
              </a:defRPr>
            </a:pPr>
            <a:r>
              <a:rPr sz="2200" b="1">
                <a:solidFill>
                  <a:srgbClr val="78350F"/>
                </a:solidFill>
                <a:latin typeface="Arial"/>
              </a:rPr>
              <a:t>Alternate Solution</a:t>
            </a:r>
            <a:endParaRPr sz="2200">
              <a:solidFill>
                <a:srgbClr val="78350F"/>
              </a:solidFill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5" name="Rectangle 4"/>
              <p:cNvSpPr/>
              <p:nvPr/>
            </p:nvSpPr>
            <p:spPr>
              <a:xfrm>
                <a:off x="731520" y="1353312"/>
                <a:ext cx="10725912" cy="4434840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14:m>
                  <m:oMath xmlns:m="http://schemas.openxmlformats.org/officeDocument/2006/math"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3</m:t>
                        </m:r>
                      </m:sup>
                    </m:sSup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𝑦</m:t>
                        </m:r>
                      </m:e>
                      <m:sup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″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3</m:t>
                        </m:r>
                      </m:sup>
                    </m:sSup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𝑌</m:t>
                        </m:r>
                      </m:e>
                      <m:sup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′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4</m:t>
                        </m:r>
                      </m:sup>
                    </m:sSup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𝑌</m:t>
                        </m:r>
                      </m:e>
                      <m:sup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″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𝑎</m:t>
                        </m:r>
                        <m:sSup>
                          <m:e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𝑥</m:t>
                            </m:r>
                          </m:e>
                          <m:sup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2</m:t>
                            </m:r>
                          </m:sup>
                        </m:sSup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𝑎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+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𝑏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</m:den>
                    </m:f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sSup>
                          <m:e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𝑏</m:t>
                            </m:r>
                          </m:e>
                          <m:sup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2</m:t>
                            </m:r>
                          </m:sup>
                        </m:sSup>
                        <m:sSup>
                          <m:e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𝑥</m:t>
                            </m:r>
                          </m:e>
                          <m:sup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4</m:t>
                            </m:r>
                          </m:sup>
                        </m:sSup>
                      </m:num>
                      <m:den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(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𝑎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+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𝑏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  <m:sSup>
                          <m:e>
                            <m:r>
                              <m:rPr>
                                <m:sty m:val="p"/>
                              </m:rPr>
                              <a:rPr lang="en-IN" sz="2400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)</m:t>
                            </m:r>
                          </m:e>
                          <m:sup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2</m:t>
                            </m:r>
                          </m:sup>
                        </m:sSup>
                      </m:den>
                    </m:f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sSup>
                          <m:e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𝑥</m:t>
                            </m:r>
                          </m:e>
                          <m:sup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2</m:t>
                            </m:r>
                          </m:sup>
                        </m:sSup>
                        <m:d>
                          <m:dPr>
                            <m:begChr m:val="["/>
                            <m:sepChr m:val=""/>
                            <m:endChr m:val="]"/>
                            <m:grow/>
                            <m:ctrlP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r>
                              <m:rPr>
                                <m:sty m:val="p"/>
                              </m:rPr>
                              <a:rPr lang="en-IN" sz="2400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−</m:t>
                            </m:r>
                            <m:r>
                              <m:rPr>
                                <m:sty m:val="p"/>
                              </m:rPr>
                              <a:rPr lang="en-IN" sz="2400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(</m:t>
                            </m:r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𝑎</m:t>
                            </m:r>
                            <m:r>
                              <m:rPr>
                                <m:sty m:val="p"/>
                              </m:rPr>
                              <a:rPr lang="en-IN" sz="2400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+</m:t>
                            </m:r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𝑏</m:t>
                            </m:r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𝑥</m:t>
                            </m:r>
                            <m:sSup>
                              <m:e>
                                <m:r>
                                  <m:rPr>
                                    <m:sty m:val="p"/>
                                  </m:rPr>
                                  <a:rPr lang="en-IN" sz="2400">
                                    <a:solidFill>
                                      <a:srgbClr val="111827"/>
                                    </a:solidFill>
                                    <a:latin typeface="Cambria Math" panose="02040503050406030204" pitchFamily="18" charset="0"/>
                                  </a:rPr>
                                  <m:t>)</m:t>
                                </m:r>
                              </m:e>
                              <m:sup>
                                <m:r>
                                  <a:rPr lang="en-IN" sz="2400" i="1">
                                    <a:solidFill>
                                      <a:srgbClr val="111827"/>
                                    </a:solidFill>
                                    <a:latin typeface="Cambria Math" panose="02040503050406030204" pitchFamily="18" charset="0"/>
                                  </a:rPr>
                                  <m:t>2</m:t>
                                </m:r>
                              </m:sup>
                            </m:sSup>
                            <m:r>
                              <m:rPr>
                                <m:sty m:val="p"/>
                              </m:rPr>
                              <a:rPr lang="en-IN" sz="2400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+</m:t>
                            </m:r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2</m:t>
                            </m:r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𝑎</m:t>
                            </m:r>
                            <m:r>
                              <m:rPr>
                                <m:sty m:val="p"/>
                              </m:rPr>
                              <a:rPr lang="en-IN" sz="2400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(</m:t>
                            </m:r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𝑎</m:t>
                            </m:r>
                            <m:r>
                              <m:rPr>
                                <m:sty m:val="p"/>
                              </m:rPr>
                              <a:rPr lang="en-IN" sz="2400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+</m:t>
                            </m:r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𝑏</m:t>
                            </m:r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𝑥</m:t>
                            </m:r>
                            <m:r>
                              <m:rPr>
                                <m:sty m:val="p"/>
                              </m:rPr>
                              <a:rPr lang="en-IN" sz="2400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)</m:t>
                            </m:r>
                            <m:r>
                              <m:rPr>
                                <m:sty m:val="p"/>
                              </m:rPr>
                              <a:rPr lang="en-IN" sz="2400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+</m:t>
                            </m:r>
                            <m:sSup>
                              <m:e>
                                <m:r>
                                  <a:rPr lang="en-IN" sz="2400" i="1">
                                    <a:solidFill>
                                      <a:srgbClr val="111827"/>
                                    </a:solidFill>
                                    <a:latin typeface="Cambria Math" panose="02040503050406030204" pitchFamily="18" charset="0"/>
                                  </a:rPr>
                                  <m:t>𝑏</m:t>
                                </m:r>
                              </m:e>
                              <m:sup>
                                <m:r>
                                  <a:rPr lang="en-IN" sz="2400" i="1">
                                    <a:solidFill>
                                      <a:srgbClr val="111827"/>
                                    </a:solidFill>
                                    <a:latin typeface="Cambria Math" panose="02040503050406030204" pitchFamily="18" charset="0"/>
                                  </a:rPr>
                                  <m:t>2</m:t>
                                </m:r>
                              </m:sup>
                            </m:sSup>
                            <m:sSup>
                              <m:e>
                                <m:r>
                                  <a:rPr lang="en-IN" sz="2400" i="1">
                                    <a:solidFill>
                                      <a:srgbClr val="111827"/>
                                    </a:solidFill>
                                    <a:latin typeface="Cambria Math" panose="02040503050406030204" pitchFamily="18" charset="0"/>
                                  </a:rPr>
                                  <m:t>𝑥</m:t>
                                </m:r>
                              </m:e>
                              <m:sup>
                                <m:r>
                                  <a:rPr lang="en-IN" sz="2400" i="1">
                                    <a:solidFill>
                                      <a:srgbClr val="111827"/>
                                    </a:solidFill>
                                    <a:latin typeface="Cambria Math" panose="02040503050406030204" pitchFamily="18" charset="0"/>
                                  </a:rPr>
                                  <m:t>2</m:t>
                                </m:r>
                              </m:sup>
                            </m:sSup>
                          </m:e>
                        </m:d>
                      </m:num>
                      <m:den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(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𝑎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+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𝑏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  <m:sSup>
                          <m:e>
                            <m:r>
                              <m:rPr>
                                <m:sty m:val="p"/>
                              </m:rPr>
                              <a:rPr lang="en-IN" sz="2400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)</m:t>
                            </m:r>
                          </m:e>
                          <m:sup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2</m:t>
                            </m:r>
                          </m:sup>
                        </m:sSup>
                      </m:den>
                    </m:f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The bracket is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𝑎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𝑎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𝑏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𝑏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𝑎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𝑎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𝑏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𝑏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𝑎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so </a:t>
                </a:r>
                <a14:m>
                  <m:oMath xmlns:m="http://schemas.openxmlformats.org/officeDocument/2006/math"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3</m:t>
                        </m:r>
                      </m:sup>
                    </m:sSup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𝑦</m:t>
                        </m:r>
                      </m:e>
                      <m:sup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″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sSup>
                          <m:e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𝑎</m:t>
                            </m:r>
                          </m:e>
                          <m:sup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2</m:t>
                            </m:r>
                          </m:sup>
                        </m:sSup>
                        <m:sSup>
                          <m:e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𝑥</m:t>
                            </m:r>
                          </m:e>
                          <m:sup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2</m:t>
                            </m:r>
                          </m:sup>
                        </m:sSup>
                      </m:num>
                      <m:den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(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𝑎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+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𝑏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  <m:sSup>
                          <m:e>
                            <m:r>
                              <m:rPr>
                                <m:sty m:val="p"/>
                              </m:rPr>
                              <a:rPr lang="en-IN" sz="2400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)</m:t>
                            </m:r>
                          </m:e>
                          <m:sup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2</m:t>
                            </m:r>
                          </m:sup>
                        </m:sSup>
                      </m:den>
                    </m:f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𝑦</m:t>
                        </m:r>
                      </m:e>
                      <m:sup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′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𝑦</m:t>
                    </m:r>
                    <m:sSup>
                      <m:e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)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Choice>
        <mc:Fallback>
          <p:sp>
            <p:nvSpPr>
              <p:cNvPr id="5" name="Rectangle 4"/>
              <p:cNvSpPr/>
              <p:nvPr/>
            </p:nvSpPr>
            <p:spPr>
              <a:xfrm>
                <a:off x="731520" y="1353312"/>
                <a:ext cx="10725912" cy="4434840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$x^3y''=2x^3Y'+x^4Y''=\frac{2ax^2}{a+bx}-x^2+\frac{b^2x^4}{(a+bx)^2}=\frac{x^2\left[-(a+bx)^2+2a(a+bx)+b^2x^2\right]}{(a+bx)^2}$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The bracket is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$-a^2-2abx-b^2x^2+2a^2+2abx+b^2x^2=a^2$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so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$x^3y''=\frac{a^2x^2}{(a+bx)^2}=(xy'-y)^2$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6" name="Rounded Rectangle 5"/>
              <p:cNvSpPr/>
              <p:nvPr/>
            </p:nvSpPr>
            <p:spPr>
              <a:xfrm>
                <a:off x="731520" y="5897880"/>
                <a:ext cx="10725912" cy="777240"/>
              </a:xfrm>
              <a:prstGeom prst="roundRect">
                <a:avLst>
                  <a:gd name="adj" fmla="val 8000"/>
                </a:avLst>
              </a:prstGeom>
              <a:solidFill>
                <a:srgbClr val="DCFCE7"/>
              </a:solidFill>
              <a:ln w="25400">
                <a:solidFill>
                  <a:srgbClr val="15803D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5803D"/>
              </a:fontRef>
            </p:style>
            <p:txBody>
              <a:bodyPr rtlCol="0" anchor="ctr" wrap="square" lIns="228600" rIns="228600" tIns="18288" bIns="73152"/>
              <a:lstStyle>
                <a:lvl1pPr>
                  <a:defRPr sz="2800">
                    <a:solidFill>
                      <a:srgbClr val="15803D"/>
                    </a:solidFill>
                  </a:defRPr>
                </a:lvl1pPr>
              </a:lstStyle>
              <a:p>
                <a:pPr algn="ctr">
                  <a:defRPr sz="2800">
                    <a:solidFill>
                      <a:srgbClr val="15803D"/>
                    </a:solidFill>
                  </a:defRPr>
                </a:pPr>
                <a:r>
                  <a:rPr sz="2800" b="1">
                    <a:solidFill>
                      <a:srgbClr val="15803D"/>
                    </a:solidFill>
                    <a:latin typeface="Arial"/>
                  </a:rPr>
                  <a:t>Same answer: Shown: </a:t>
                </a:r>
                <a14:m>
                  <m:oMath xmlns:m="http://schemas.openxmlformats.org/officeDocument/2006/math">
                    <m:sSup>
                      <m:e>
                        <m:r>
                          <a:rPr lang="en-IN" sz="2800" i="1">
                            <a:solidFill>
                              <a:srgbClr val="15803D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  <m:sup>
                        <m:r>
                          <a:rPr lang="en-IN" sz="2800" i="1">
                            <a:solidFill>
                              <a:srgbClr val="15803D"/>
                            </a:solidFill>
                            <a:latin typeface="Cambria Math" panose="02040503050406030204" pitchFamily="18" charset="0"/>
                          </a:rPr>
                          <m:t>3</m:t>
                        </m:r>
                      </m:sup>
                    </m:sSup>
                    <m:sSup>
                      <m:e>
                        <m:r>
                          <a:rPr lang="en-IN" sz="2800" i="1">
                            <a:solidFill>
                              <a:srgbClr val="15803D"/>
                            </a:solidFill>
                            <a:latin typeface="Cambria Math" panose="02040503050406030204" pitchFamily="18" charset="0"/>
                          </a:rPr>
                          <m:t>𝑦</m:t>
                        </m:r>
                      </m:e>
                      <m:sup>
                        <m:r>
                          <m:rPr>
                            <m:sty m:val="p"/>
                          </m:rPr>
                          <a:rPr lang="en-IN" sz="2800">
                            <a:solidFill>
                              <a:srgbClr val="15803D"/>
                            </a:solidFill>
                            <a:latin typeface="Cambria Math" panose="02040503050406030204" pitchFamily="18" charset="0"/>
                          </a:rPr>
                          <m:t>″</m:t>
                        </m:r>
                      </m:sup>
                    </m:sSup>
                    <m:r>
                      <m:rPr>
                        <m:sty m:val="p"/>
                      </m:rPr>
                      <a:rPr lang="en-IN" sz="2800">
                        <a:solidFill>
                          <a:srgbClr val="15803D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m:rPr>
                        <m:sty m:val="p"/>
                      </m:rPr>
                      <a:rPr lang="en-IN" sz="2800">
                        <a:solidFill>
                          <a:srgbClr val="15803D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800" i="1">
                        <a:solidFill>
                          <a:srgbClr val="15803D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sSup>
                      <m:e>
                        <m:r>
                          <a:rPr lang="en-IN" sz="2800" i="1">
                            <a:solidFill>
                              <a:srgbClr val="15803D"/>
                            </a:solidFill>
                            <a:latin typeface="Cambria Math" panose="02040503050406030204" pitchFamily="18" charset="0"/>
                          </a:rPr>
                          <m:t>𝑦</m:t>
                        </m:r>
                      </m:e>
                      <m:sup>
                        <m:r>
                          <m:rPr>
                            <m:sty m:val="p"/>
                          </m:rPr>
                          <a:rPr lang="en-IN" sz="2800">
                            <a:solidFill>
                              <a:srgbClr val="15803D"/>
                            </a:solidFill>
                            <a:latin typeface="Cambria Math" panose="02040503050406030204" pitchFamily="18" charset="0"/>
                          </a:rPr>
                          <m:t>′</m:t>
                        </m:r>
                      </m:sup>
                    </m:sSup>
                    <m:r>
                      <m:rPr>
                        <m:sty m:val="p"/>
                      </m:rPr>
                      <a:rPr lang="en-IN" sz="2800">
                        <a:solidFill>
                          <a:srgbClr val="15803D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800" i="1">
                        <a:solidFill>
                          <a:srgbClr val="15803D"/>
                        </a:solidFill>
                        <a:latin typeface="Cambria Math" panose="02040503050406030204" pitchFamily="18" charset="0"/>
                      </a:rPr>
                      <m:t>𝑦</m:t>
                    </m:r>
                    <m:sSup>
                      <m:e>
                        <m:r>
                          <m:rPr>
                            <m:sty m:val="p"/>
                          </m:rPr>
                          <a:rPr lang="en-IN" sz="2800">
                            <a:solidFill>
                              <a:srgbClr val="15803D"/>
                            </a:solidFill>
                            <a:latin typeface="Cambria Math" panose="02040503050406030204" pitchFamily="18" charset="0"/>
                          </a:rPr>
                          <m:t>)</m:t>
                        </m:r>
                      </m:e>
                      <m:sup>
                        <m:r>
                          <a:rPr lang="en-IN" sz="2800" i="1">
                            <a:solidFill>
                              <a:srgbClr val="15803D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</m:oMath>
                </a14:m>
                <a:endParaRPr sz="2800">
                  <a:solidFill>
                    <a:srgbClr val="15803D"/>
                  </a:solidFill>
                </a:endParaRPr>
              </a:p>
            </p:txBody>
          </p:sp>
        </mc:Choice>
        <mc:Fallback>
          <p:sp>
            <p:nvSpPr>
              <p:cNvPr id="6" name="Rounded Rectangle 5"/>
              <p:cNvSpPr/>
              <p:nvPr/>
            </p:nvSpPr>
            <p:spPr>
              <a:xfrm>
                <a:off x="731520" y="5897880"/>
                <a:ext cx="10725912" cy="777240"/>
              </a:xfrm>
              <a:prstGeom prst="roundRect">
                <a:avLst>
                  <a:gd name="adj" fmla="val 8000"/>
                </a:avLst>
              </a:prstGeom>
              <a:solidFill>
                <a:srgbClr val="DCFCE7"/>
              </a:solidFill>
              <a:ln w="25400">
                <a:solidFill>
                  <a:srgbClr val="15803D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5803D"/>
              </a:fontRef>
            </p:style>
            <p:txBody>
              <a:bodyPr rtlCol="0" anchor="ctr" wrap="square" lIns="228600" rIns="228600" tIns="18288" bIns="73152"/>
              <a:lstStyle>
                <a:lvl1pPr>
                  <a:defRPr sz="2800">
                    <a:solidFill>
                      <a:srgbClr val="15803D"/>
                    </a:solidFill>
                  </a:defRPr>
                </a:lvl1pPr>
              </a:lstStyle>
              <a:p>
                <a:pPr algn="ctr">
                  <a:defRPr sz="2800">
                    <a:solidFill>
                      <a:srgbClr val="15803D"/>
                    </a:solidFill>
                  </a:defRPr>
                </a:pPr>
                <a:r>
                  <a:rPr sz="2800" b="1">
                    <a:solidFill>
                      <a:srgbClr val="15803D"/>
                    </a:solidFill>
                    <a:latin typeface="Arial"/>
                  </a:rPr>
                  <a:t>Same answer: Shown: </a:t>
                </a:r>
                <a:r>
                  <a:rPr lang="en-IN" sz="2800">
                    <a:solidFill>
                      <a:srgbClr val="15803D"/>
                    </a:solidFill>
                    <a:latin typeface="Cambria Math" panose="02040503050406030204" pitchFamily="18" charset="0"/>
                  </a:rPr>
                  <a:t>$x^3y''=(xy'-y)^2$</a:t>
                </a:r>
                <a:endParaRPr sz="2800">
                  <a:solidFill>
                    <a:srgbClr val="15803D"/>
                  </a:solidFill>
                </a:endParaRPr>
              </a:p>
            </p:txBody>
          </p:sp>
        </mc:Fallback>
      </mc:AlternateContent>
    </p:spTree>
  </p:cSld>
  <p:clrMapOvr>
    <a:masterClrMapping/>
  </p:clrMapOvr>
</p:sld>
</file>

<file path=ppt/slides/slide11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FFFFFF"/>
          </a:fontRef>
        </p:style>
        <p:txBody>
          <a:bodyPr rtlCol="0" anchor="ctr" lIns="731520"/>
          <a:lstStyle>
            <a:lvl1pPr>
              <a:defRPr sz="3200">
                <a:solidFill>
                  <a:srgbClr val="FFFFFF"/>
                </a:solidFill>
              </a:defRPr>
            </a:lvl1pPr>
          </a:lstStyle>
          <a:p>
            <a:pPr algn="l">
              <a:defRPr sz="3200">
                <a:solidFill>
                  <a:srgbClr val="FFFFFF"/>
                </a:solidFill>
              </a:defRPr>
            </a:pPr>
            <a:r>
              <a:rPr sz="3200" b="1">
                <a:solidFill>
                  <a:srgbClr val="FFFFFF"/>
                </a:solidFill>
                <a:latin typeface="Arial"/>
              </a:rPr>
              <a:t>Question 18</a:t>
            </a:r>
            <a:endParaRPr sz="3200">
              <a:solidFill>
                <a:srgbClr val="FFFFFF"/>
              </a:solidFill>
            </a:endParaRPr>
          </a:p>
        </p:txBody>
      </p:sp>
      <p:sp>
        <p:nvSpPr>
          <p:cNvPr id="3" name="Rounded Rectangle 2"/>
          <p:cNvSpPr/>
          <p:nvPr/>
        </p:nvSpPr>
        <p:spPr>
          <a:xfrm>
            <a:off x="7894015" y="246887"/>
            <a:ext cx="3840480" cy="603504"/>
          </a:xfrm>
          <a:prstGeom prst="roundRect">
            <a:avLst>
              <a:gd name="adj" fmla="val 50000"/>
            </a:avLst>
          </a:prstGeom>
          <a:solidFill>
            <a:srgbClr val="FFD966"/>
          </a:solidFill>
          <a:ln w="1905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111827"/>
          </a:fontRef>
        </p:style>
        <p:txBody>
          <a:bodyPr rtlCol="0" anchor="ctr" wrap="square" lIns="228600" rIns="228600" tIns="18288" bIns="18288"/>
          <a:lstStyle>
            <a:lvl1pPr>
              <a:defRPr sz="2400">
                <a:solidFill>
                  <a:srgbClr val="111827"/>
                </a:solidFill>
              </a:defRPr>
            </a:lvl1pPr>
          </a:lstStyle>
          <a:p>
            <a:pPr algn="ctr">
              <a:defRPr sz="2400">
                <a:solidFill>
                  <a:srgbClr val="111827"/>
                </a:solidFill>
              </a:defRPr>
            </a:pPr>
            <a:r>
              <a:rPr sz="2400" b="1">
                <a:solidFill>
                  <a:srgbClr val="111827"/>
                </a:solidFill>
                <a:latin typeface="Arial"/>
              </a:rPr>
              <a:t>Level 2  ·  4 Marks</a:t>
            </a:r>
            <a:endParaRPr sz="2400">
              <a:solidFill>
                <a:srgbClr val="111827"/>
              </a:solidFill>
            </a:endParaRPr>
          </a:p>
        </p:txBody>
      </p:sp>
      <p:sp>
        <p:nvSpPr>
          <p:cNvPr id="4" name="Rounded Rectangle 3"/>
          <p:cNvSpPr/>
          <p:nvPr/>
        </p:nvSpPr>
        <p:spPr>
          <a:xfrm>
            <a:off x="3520440" y="265176"/>
            <a:ext cx="4206240" cy="566928"/>
          </a:xfrm>
          <a:prstGeom prst="roundRect">
            <a:avLst>
              <a:gd name="adj" fmla="val 50000"/>
            </a:avLst>
          </a:prstGeom>
          <a:solidFill>
            <a:srgbClr val="E0ECFF"/>
          </a:solidFill>
          <a:ln w="25400">
            <a:solidFill>
              <a:srgbClr val="1D4ED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0B1F3A"/>
          </a:fontRef>
        </p:style>
        <p:txBody>
          <a:bodyPr rtlCol="0" anchor="ctr" wrap="square" lIns="228600" rIns="228600" tIns="18288" bIns="18288"/>
          <a:lstStyle>
            <a:lvl1pPr>
              <a:defRPr sz="2200">
                <a:solidFill>
                  <a:srgbClr val="0B1F3A"/>
                </a:solidFill>
              </a:defRPr>
            </a:lvl1pPr>
          </a:lstStyle>
          <a:p>
            <a:pPr algn="ctr">
              <a:defRPr sz="2200">
                <a:solidFill>
                  <a:srgbClr val="0B1F3A"/>
                </a:solidFill>
              </a:defRPr>
            </a:pPr>
            <a:r>
              <a:rPr sz="2200" b="1">
                <a:solidFill>
                  <a:srgbClr val="0B1F3A"/>
                </a:solidFill>
                <a:latin typeface="Arial"/>
              </a:rPr>
              <a:t>Useful Result / Pattern</a:t>
            </a:r>
            <a:endParaRPr sz="2200">
              <a:solidFill>
                <a:srgbClr val="0B1F3A"/>
              </a:solidFill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5" name="Rectangle 4"/>
              <p:cNvSpPr/>
              <p:nvPr/>
            </p:nvSpPr>
            <p:spPr>
              <a:xfrm>
                <a:off x="731520" y="1353312"/>
                <a:ext cx="10725912" cy="5321808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For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𝑦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𝑌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: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𝑦</m:t>
                        </m:r>
                      </m:e>
                      <m:sup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′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𝑦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𝑌</m:t>
                        </m:r>
                      </m:e>
                      <m:sup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′</m:t>
                        </m:r>
                      </m:sup>
                    </m:sSup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and </a:t>
                </a:r>
                <a14:m>
                  <m:oMath xmlns:m="http://schemas.openxmlformats.org/officeDocument/2006/math"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𝑦</m:t>
                        </m:r>
                      </m:e>
                      <m:sup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″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𝑌</m:t>
                        </m:r>
                      </m:e>
                      <m:sup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′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𝑌</m:t>
                        </m:r>
                      </m:e>
                      <m:sup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″</m:t>
                        </m:r>
                      </m:sup>
                    </m:sSup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 Relations involving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𝑦</m:t>
                        </m:r>
                      </m:e>
                      <m:sup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′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𝑦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(the intercept of the tangent on the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𝑦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-axis is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𝑦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𝑦</m:t>
                        </m:r>
                      </m:e>
                      <m:sup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′</m:t>
                        </m:r>
                      </m:sup>
                    </m:sSup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) are best handled through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𝑌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𝑦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</m:den>
                    </m:f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A relation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𝑎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𝑏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𝑒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𝑦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/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is homogeneous in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𝑦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and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only through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𝑦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/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: take logs first.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Check: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𝑎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𝑏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: </a:t>
                </a:r>
                <a14:m>
                  <m:oMath xmlns:m="http://schemas.openxmlformats.org/officeDocument/2006/math"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𝑒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𝑦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den>
                    </m:f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𝑦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ln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;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𝑦</m:t>
                        </m:r>
                      </m:e>
                      <m:sup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′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𝑦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den>
                    </m:f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; </a:t>
                </a:r>
                <a14:m>
                  <m:oMath xmlns:m="http://schemas.openxmlformats.org/officeDocument/2006/math"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𝑦</m:t>
                        </m:r>
                      </m:e>
                      <m:sup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″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  <m:sSup>
                          <m:e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𝑦</m:t>
                            </m:r>
                          </m:e>
                          <m:sup>
                            <m:r>
                              <m:rPr>
                                <m:sty m:val="p"/>
                              </m:rPr>
                              <a:rPr lang="en-IN" sz="2400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′</m:t>
                            </m:r>
                          </m:sup>
                        </m:sSup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−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𝑦</m:t>
                        </m:r>
                      </m:num>
                      <m:den>
                        <m:sSup>
                          <m:e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𝑥</m:t>
                            </m:r>
                          </m:e>
                          <m:sup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2</m:t>
                            </m:r>
                          </m:sup>
                        </m:sSup>
                      </m:den>
                    </m:f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𝑎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𝑏</m:t>
                        </m:r>
                      </m:num>
                      <m:den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(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𝑎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+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𝑏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  <m:sSup>
                          <m:e>
                            <m:r>
                              <m:rPr>
                                <m:sty m:val="p"/>
                              </m:rPr>
                              <a:rPr lang="en-IN" sz="2400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)</m:t>
                            </m:r>
                          </m:e>
                          <m:sup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2</m:t>
                            </m:r>
                          </m:sup>
                        </m:sSup>
                      </m:den>
                    </m:f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den>
                    </m:f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4</m:t>
                        </m:r>
                      </m:den>
                    </m:f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4</m:t>
                        </m:r>
                      </m:den>
                    </m:f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and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𝑦</m:t>
                        </m:r>
                      </m:e>
                      <m:sup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′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𝑦</m:t>
                    </m:r>
                    <m:sSup>
                      <m:e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)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4</m:t>
                        </m:r>
                      </m:den>
                    </m:f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Choice>
        <mc:Fallback>
          <p:sp>
            <p:nvSpPr>
              <p:cNvPr id="5" name="Rectangle 4"/>
              <p:cNvSpPr/>
              <p:nvPr/>
            </p:nvSpPr>
            <p:spPr>
              <a:xfrm>
                <a:off x="731520" y="1353312"/>
                <a:ext cx="10725912" cy="5321808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For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$y=xY(x)$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: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$xy'-y=x^2Y'$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and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$y''=2Y'+xY''$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 Relations involving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$xy'-y$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(the intercept of the tangent on the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$y$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-axis is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$y-xy'$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) are best handled through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$Y=\frac yx$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A relation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$(a+bx)e^{y/x}=x$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is homogeneous in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$y$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and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$x$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only through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$y/x$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: take logs first.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Check: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$a=b=1$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$x=1$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: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$e^{y}=\frac12$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$y=-\ln2$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;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$xy'-y=\frac12$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;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$y''=\frac{xy'-y}{x^2}-\frac{ab}{(a+bx)^2}=\frac12-\frac14=\frac14$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and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$(xy'-y)^2=\frac14$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Fallback>
      </mc:AlternateContent>
    </p:spTree>
  </p:cSld>
  <p:clrMapOvr>
    <a:masterClrMapping/>
  </p:clrMapOvr>
</p:sld>
</file>

<file path=ppt/slides/slide11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FFFFFF"/>
          </a:fontRef>
        </p:style>
        <p:txBody>
          <a:bodyPr rtlCol="0" anchor="ctr" lIns="731520"/>
          <a:lstStyle>
            <a:lvl1pPr>
              <a:defRPr sz="3200">
                <a:solidFill>
                  <a:srgbClr val="FFFFFF"/>
                </a:solidFill>
              </a:defRPr>
            </a:lvl1pPr>
          </a:lstStyle>
          <a:p>
            <a:pPr algn="l">
              <a:defRPr sz="3200">
                <a:solidFill>
                  <a:srgbClr val="FFFFFF"/>
                </a:solidFill>
              </a:defRPr>
            </a:pPr>
            <a:r>
              <a:rPr sz="3200" b="1">
                <a:solidFill>
                  <a:srgbClr val="FFFFFF"/>
                </a:solidFill>
                <a:latin typeface="Arial"/>
              </a:rPr>
              <a:t>Question 19</a:t>
            </a:r>
            <a:endParaRPr sz="3200">
              <a:solidFill>
                <a:srgbClr val="FFFFFF"/>
              </a:solidFill>
            </a:endParaRPr>
          </a:p>
        </p:txBody>
      </p:sp>
      <p:sp>
        <p:nvSpPr>
          <p:cNvPr id="3" name="Rounded Rectangle 2"/>
          <p:cNvSpPr/>
          <p:nvPr/>
        </p:nvSpPr>
        <p:spPr>
          <a:xfrm>
            <a:off x="7894015" y="246887"/>
            <a:ext cx="3840480" cy="603504"/>
          </a:xfrm>
          <a:prstGeom prst="roundRect">
            <a:avLst>
              <a:gd name="adj" fmla="val 50000"/>
            </a:avLst>
          </a:prstGeom>
          <a:solidFill>
            <a:srgbClr val="FFD966"/>
          </a:solidFill>
          <a:ln w="1905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111827"/>
          </a:fontRef>
        </p:style>
        <p:txBody>
          <a:bodyPr rtlCol="0" anchor="ctr" wrap="square" lIns="228600" rIns="228600" tIns="18288" bIns="18288"/>
          <a:lstStyle>
            <a:lvl1pPr>
              <a:defRPr sz="2400">
                <a:solidFill>
                  <a:srgbClr val="111827"/>
                </a:solidFill>
              </a:defRPr>
            </a:lvl1pPr>
          </a:lstStyle>
          <a:p>
            <a:pPr algn="ctr">
              <a:defRPr sz="2400">
                <a:solidFill>
                  <a:srgbClr val="111827"/>
                </a:solidFill>
              </a:defRPr>
            </a:pPr>
            <a:r>
              <a:rPr sz="2400" b="1">
                <a:solidFill>
                  <a:srgbClr val="111827"/>
                </a:solidFill>
                <a:latin typeface="Arial"/>
              </a:rPr>
              <a:t>Level 2  ·  4 Marks</a:t>
            </a:r>
            <a:endParaRPr sz="2400">
              <a:solidFill>
                <a:srgbClr val="111827"/>
              </a:solidFill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4" name="Rounded Rectangle 3"/>
              <p:cNvSpPr/>
              <p:nvPr/>
            </p:nvSpPr>
            <p:spPr>
              <a:xfrm>
                <a:off x="731520" y="1280160"/>
                <a:ext cx="10725912" cy="1737360"/>
              </a:xfrm>
              <a:prstGeom prst="roundRect">
                <a:avLst>
                  <a:gd name="adj" fmla="val 8000"/>
                </a:avLst>
              </a:prstGeom>
              <a:solidFill>
                <a:srgbClr val="E0ECFF"/>
              </a:solidFill>
              <a:ln w="25400">
                <a:solidFill>
                  <a:srgbClr val="1D4ED8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>
                  <a:spcAft>
                    <a:spcPts val="500"/>
                  </a:spcAft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If </a:t>
                </a:r>
                <a14:m>
                  <m:oMath xmlns:m="http://schemas.openxmlformats.org/officeDocument/2006/math"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+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𝑏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den>
                    </m:f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𝑎</m:t>
                    </m:r>
                    <m:sSup>
                      <m:e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tan</m:t>
                        </m:r>
                      </m:e>
                      <m:sup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−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𝑎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ln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𝑦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𝑎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&gt;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0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prove that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𝑦</m:t>
                    </m:r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𝑦</m:t>
                        </m:r>
                      </m:e>
                      <m:sup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″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𝑦</m:t>
                    </m:r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𝑦</m:t>
                        </m:r>
                      </m:e>
                      <m:sup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′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ln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𝑦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𝑦</m:t>
                        </m:r>
                      </m:e>
                      <m:sup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′</m:t>
                        </m:r>
                      </m:sup>
                    </m:sSup>
                    <m:sSup>
                      <m:e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)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Choice>
        <mc:Fallback>
          <p:sp>
            <p:nvSpPr>
              <p:cNvPr id="4" name="Rounded Rectangle 3"/>
              <p:cNvSpPr/>
              <p:nvPr/>
            </p:nvSpPr>
            <p:spPr>
              <a:xfrm>
                <a:off x="731520" y="1280160"/>
                <a:ext cx="10725912" cy="1737360"/>
              </a:xfrm>
              <a:prstGeom prst="roundRect">
                <a:avLst>
                  <a:gd name="adj" fmla="val 8000"/>
                </a:avLst>
              </a:prstGeom>
              <a:solidFill>
                <a:srgbClr val="E0ECFF"/>
              </a:solidFill>
              <a:ln w="25400">
                <a:solidFill>
                  <a:srgbClr val="1D4ED8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>
                  <a:spcAft>
                    <a:spcPts val="500"/>
                  </a:spcAft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If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$\frac{x+b}{2}=a\tan^{-1}(a\ln y)$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$a&gt;0$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prove that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$yy''-yy'\ln y=(y')^2$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Fallback>
      </mc:AlternateContent>
      <p:sp>
        <p:nvSpPr>
          <p:cNvPr id="5" name="Rectangle 4"/>
          <p:cNvSpPr/>
          <p:nvPr/>
        </p:nvSpPr>
        <p:spPr>
          <a:xfrm>
            <a:off x="731520" y="3246120"/>
            <a:ext cx="10725912" cy="2194560"/>
          </a:xfrm>
          <a:prstGeom prst="rect">
            <a:avLst/>
          </a:prstGeom>
          <a:solidFill>
            <a:srgbClr val="FFFFFF"/>
          </a:solidFill>
          <a:ln w="19050">
            <a:solidFill>
              <a:srgbClr val="6B728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111827"/>
          </a:fontRef>
        </p:style>
        <p:txBody>
          <a:bodyPr rtlCol="0" anchor="t" wrap="square" lIns="228600" rIns="228600" tIns="137160" bIns="73152"/>
          <a:lstStyle>
            <a:lvl1pPr>
              <a:defRPr sz="2400">
                <a:solidFill>
                  <a:srgbClr val="111827"/>
                </a:solidFill>
              </a:defRPr>
            </a:lvl1pPr>
          </a:lstStyle>
          <a:p>
            <a:pPr algn="l">
              <a:spcAft>
                <a:spcPts val="200"/>
              </a:spcAft>
              <a:defRPr sz="2400">
                <a:solidFill>
                  <a:srgbClr val="111827"/>
                </a:solidFill>
              </a:defRPr>
            </a:pPr>
            <a:r>
              <a:rPr sz="2400" b="0">
                <a:solidFill>
                  <a:srgbClr val="111827"/>
                </a:solidFill>
                <a:latin typeface="Arial"/>
              </a:rPr>
              <a:t>Subjective Type(4 Marks)</a:t>
            </a:r>
            <a:endParaRPr sz="2400">
              <a:solidFill>
                <a:srgbClr val="111827"/>
              </a:solidFill>
            </a:endParaRPr>
          </a:p>
          <a:p>
            <a:pPr algn="l">
              <a:spcAft>
                <a:spcPts val="200"/>
              </a:spcAft>
              <a:defRPr sz="2400">
                <a:solidFill>
                  <a:srgbClr val="111827"/>
                </a:solidFill>
              </a:defRPr>
            </a:pPr>
            <a:r>
              <a:rPr sz="2400" b="0">
                <a:solidFill>
                  <a:srgbClr val="111827"/>
                </a:solidFill>
                <a:latin typeface="Arial"/>
              </a:rPr>
              <a:t>Concept(s) : Second order derivatives of implicit functions, Logarithmic differentiation of inverse trigonometric relations</a:t>
            </a:r>
            <a:endParaRPr sz="2400">
              <a:solidFill>
                <a:srgbClr val="111827"/>
              </a:solidFill>
            </a:endParaRPr>
          </a:p>
          <a:p>
            <a:pPr algn="l">
              <a:spcAft>
                <a:spcPts val="200"/>
              </a:spcAft>
              <a:defRPr sz="2400">
                <a:solidFill>
                  <a:srgbClr val="111827"/>
                </a:solidFill>
              </a:defRPr>
            </a:pPr>
            <a:r>
              <a:rPr sz="2400" b="0">
                <a:solidFill>
                  <a:srgbClr val="111827"/>
                </a:solidFill>
                <a:latin typeface="Arial"/>
              </a:rPr>
              <a:t>Difficulty Level: Level 2(A level below Average JEE Advanced Level)</a:t>
            </a:r>
            <a:endParaRPr sz="2400">
              <a:solidFill>
                <a:srgbClr val="111827"/>
              </a:solidFill>
            </a:endParaRPr>
          </a:p>
        </p:txBody>
      </p:sp>
    </p:spTree>
  </p:cSld>
  <p:clrMapOvr>
    <a:masterClrMapping/>
  </p:clrMapOvr>
</p:sld>
</file>

<file path=ppt/slides/slide11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FFFFFF"/>
          </a:fontRef>
        </p:style>
        <p:txBody>
          <a:bodyPr rtlCol="0" anchor="ctr" lIns="731520"/>
          <a:lstStyle>
            <a:lvl1pPr>
              <a:defRPr sz="3200">
                <a:solidFill>
                  <a:srgbClr val="FFFFFF"/>
                </a:solidFill>
              </a:defRPr>
            </a:lvl1pPr>
          </a:lstStyle>
          <a:p>
            <a:pPr algn="l">
              <a:defRPr sz="3200">
                <a:solidFill>
                  <a:srgbClr val="FFFFFF"/>
                </a:solidFill>
              </a:defRPr>
            </a:pPr>
            <a:r>
              <a:rPr sz="3200" b="1">
                <a:solidFill>
                  <a:srgbClr val="FFFFFF"/>
                </a:solidFill>
                <a:latin typeface="Arial"/>
              </a:rPr>
              <a:t>Question 19</a:t>
            </a:r>
            <a:endParaRPr sz="3200">
              <a:solidFill>
                <a:srgbClr val="FFFFFF"/>
              </a:solidFill>
            </a:endParaRPr>
          </a:p>
        </p:txBody>
      </p:sp>
      <p:sp>
        <p:nvSpPr>
          <p:cNvPr id="3" name="Rounded Rectangle 2"/>
          <p:cNvSpPr/>
          <p:nvPr/>
        </p:nvSpPr>
        <p:spPr>
          <a:xfrm>
            <a:off x="7894015" y="246887"/>
            <a:ext cx="3840480" cy="603504"/>
          </a:xfrm>
          <a:prstGeom prst="roundRect">
            <a:avLst>
              <a:gd name="adj" fmla="val 50000"/>
            </a:avLst>
          </a:prstGeom>
          <a:solidFill>
            <a:srgbClr val="FFD966"/>
          </a:solidFill>
          <a:ln w="1905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111827"/>
          </a:fontRef>
        </p:style>
        <p:txBody>
          <a:bodyPr rtlCol="0" anchor="ctr" wrap="square" lIns="228600" rIns="228600" tIns="18288" bIns="18288"/>
          <a:lstStyle>
            <a:lvl1pPr>
              <a:defRPr sz="2400">
                <a:solidFill>
                  <a:srgbClr val="111827"/>
                </a:solidFill>
              </a:defRPr>
            </a:lvl1pPr>
          </a:lstStyle>
          <a:p>
            <a:pPr algn="ctr">
              <a:defRPr sz="2400">
                <a:solidFill>
                  <a:srgbClr val="111827"/>
                </a:solidFill>
              </a:defRPr>
            </a:pPr>
            <a:r>
              <a:rPr sz="2400" b="1">
                <a:solidFill>
                  <a:srgbClr val="111827"/>
                </a:solidFill>
                <a:latin typeface="Arial"/>
              </a:rPr>
              <a:t>Level 2  ·  4 Marks</a:t>
            </a:r>
            <a:endParaRPr sz="2400">
              <a:solidFill>
                <a:srgbClr val="111827"/>
              </a:solidFill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4" name="Rounded Rectangle 3"/>
              <p:cNvSpPr/>
              <p:nvPr/>
            </p:nvSpPr>
            <p:spPr>
              <a:xfrm>
                <a:off x="731520" y="1280160"/>
                <a:ext cx="10725912" cy="1328928"/>
              </a:xfrm>
              <a:prstGeom prst="roundRect">
                <a:avLst>
                  <a:gd name="adj" fmla="val 8000"/>
                </a:avLst>
              </a:prstGeom>
              <a:solidFill>
                <a:srgbClr val="FDE68A"/>
              </a:solidFill>
              <a:ln w="31750">
                <a:solidFill>
                  <a:srgbClr val="D97706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78350F"/>
              </a:fontRef>
            </p:style>
            <p:txBody>
              <a:bodyPr rtlCol="0" anchor="ctr" wrap="square" lIns="228600" rIns="228600" tIns="54864" bIns="73152"/>
              <a:lstStyle>
                <a:lvl1pPr>
                  <a:defRPr sz="2400">
                    <a:solidFill>
                      <a:srgbClr val="78350F"/>
                    </a:solidFill>
                  </a:defRPr>
                </a:lvl1pPr>
              </a:lstStyle>
              <a:p>
                <a:pPr algn="l">
                  <a:defRPr sz="2400">
                    <a:solidFill>
                      <a:srgbClr val="78350F"/>
                    </a:solidFill>
                  </a:defRPr>
                </a:pPr>
                <a:r>
                  <a:rPr sz="2400" b="1">
                    <a:solidFill>
                      <a:srgbClr val="78350F"/>
                    </a:solidFill>
                    <a:latin typeface="Arial"/>
                  </a:rPr>
                  <a:t>Key idea:  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Writing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tan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+</m:t>
                        </m:r>
                        <m: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𝑏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  <m: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𝑎</m:t>
                        </m:r>
                      </m:den>
                    </m:f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𝑎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ln</m:t>
                    </m:r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𝑦</m:t>
                    </m:r>
                  </m:oMath>
                </a14:m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 and differentiating gives </a:t>
                </a:r>
                <a14:m>
                  <m:oMath xmlns:m="http://schemas.openxmlformats.org/officeDocument/2006/math"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  <m:sSup>
                          <m:e>
                            <m:r>
                              <a:rPr lang="en-IN" sz="2400" i="1">
                                <a:solidFill>
                                  <a:srgbClr val="78350F"/>
                                </a:solidFill>
                                <a:latin typeface="Cambria Math" panose="02040503050406030204" pitchFamily="18" charset="0"/>
                              </a:rPr>
                              <m:t>𝑎</m:t>
                            </m:r>
                          </m:e>
                          <m:sup>
                            <m:r>
                              <a:rPr lang="en-IN" sz="2400" i="1">
                                <a:solidFill>
                                  <a:srgbClr val="78350F"/>
                                </a:solidFill>
                                <a:latin typeface="Cambria Math" panose="02040503050406030204" pitchFamily="18" charset="0"/>
                              </a:rPr>
                              <m:t>2</m:t>
                            </m:r>
                          </m:sup>
                        </m:sSup>
                        <m:sSup>
                          <m:e>
                            <m:r>
                              <a:rPr lang="en-IN" sz="2400" i="1">
                                <a:solidFill>
                                  <a:srgbClr val="78350F"/>
                                </a:solidFill>
                                <a:latin typeface="Cambria Math" panose="02040503050406030204" pitchFamily="18" charset="0"/>
                              </a:rPr>
                              <m:t>𝑦</m:t>
                            </m:r>
                          </m:e>
                          <m:sup>
                            <m:r>
                              <m:rPr>
                                <m:sty m:val="p"/>
                              </m:rPr>
                              <a:rPr lang="en-IN" sz="2400">
                                <a:solidFill>
                                  <a:srgbClr val="78350F"/>
                                </a:solidFill>
                                <a:latin typeface="Cambria Math" panose="02040503050406030204" pitchFamily="18" charset="0"/>
                              </a:rPr>
                              <m:t>′</m:t>
                            </m:r>
                          </m:sup>
                        </m:sSup>
                      </m:num>
                      <m:den>
                        <m: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𝑦</m:t>
                        </m:r>
                      </m:den>
                    </m:f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1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+</m:t>
                    </m:r>
                    <m:sSup>
                      <m:e>
                        <m: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𝑎</m:t>
                        </m:r>
                      </m:e>
                      <m:sup>
                        <m: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sSup>
                      <m:e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ln</m:t>
                        </m:r>
                      </m:e>
                      <m:sup>
                        <m: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𝑦</m:t>
                    </m:r>
                  </m:oMath>
                </a14:m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.</a:t>
                </a:r>
                <a:endParaRPr sz="2400">
                  <a:solidFill>
                    <a:srgbClr val="78350F"/>
                  </a:solidFill>
                </a:endParaRPr>
              </a:p>
            </p:txBody>
          </p:sp>
        </mc:Choice>
        <mc:Fallback>
          <p:sp>
            <p:nvSpPr>
              <p:cNvPr id="4" name="Rounded Rectangle 3"/>
              <p:cNvSpPr/>
              <p:nvPr/>
            </p:nvSpPr>
            <p:spPr>
              <a:xfrm>
                <a:off x="731520" y="1280160"/>
                <a:ext cx="10725912" cy="1328928"/>
              </a:xfrm>
              <a:prstGeom prst="roundRect">
                <a:avLst>
                  <a:gd name="adj" fmla="val 8000"/>
                </a:avLst>
              </a:prstGeom>
              <a:solidFill>
                <a:srgbClr val="FDE68A"/>
              </a:solidFill>
              <a:ln w="31750">
                <a:solidFill>
                  <a:srgbClr val="D97706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78350F"/>
              </a:fontRef>
            </p:style>
            <p:txBody>
              <a:bodyPr rtlCol="0" anchor="ctr" wrap="square" lIns="228600" rIns="228600" tIns="54864" bIns="73152"/>
              <a:lstStyle>
                <a:lvl1pPr>
                  <a:defRPr sz="2400">
                    <a:solidFill>
                      <a:srgbClr val="78350F"/>
                    </a:solidFill>
                  </a:defRPr>
                </a:lvl1pPr>
              </a:lstStyle>
              <a:p>
                <a:pPr algn="l">
                  <a:defRPr sz="2400">
                    <a:solidFill>
                      <a:srgbClr val="78350F"/>
                    </a:solidFill>
                  </a:defRPr>
                </a:pPr>
                <a:r>
                  <a:rPr sz="2400" b="1">
                    <a:solidFill>
                      <a:srgbClr val="78350F"/>
                    </a:solidFill>
                    <a:latin typeface="Arial"/>
                  </a:rPr>
                  <a:t>Key idea:  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Writing </a:t>
                </a:r>
                <a:r>
                  <a:rPr lang="en-IN" sz="2400">
                    <a:solidFill>
                      <a:srgbClr val="78350F"/>
                    </a:solidFill>
                    <a:latin typeface="Cambria Math" panose="02040503050406030204" pitchFamily="18" charset="0"/>
                  </a:rPr>
                  <a:t>$\tan\frac{x+b}{2a}=a\ln y$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 and differentiating gives </a:t>
                </a:r>
                <a:r>
                  <a:rPr lang="en-IN" sz="2400">
                    <a:solidFill>
                      <a:srgbClr val="78350F"/>
                    </a:solidFill>
                    <a:latin typeface="Cambria Math" panose="02040503050406030204" pitchFamily="18" charset="0"/>
                  </a:rPr>
                  <a:t>$\frac{2a^2y'}{y}=1+a^2\ln^2y$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.</a:t>
                </a:r>
                <a:endParaRPr sz="2400">
                  <a:solidFill>
                    <a:srgbClr val="78350F"/>
                  </a:solidFill>
                </a:endParaRP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5" name="Rectangle 4"/>
              <p:cNvSpPr/>
              <p:nvPr/>
            </p:nvSpPr>
            <p:spPr>
              <a:xfrm>
                <a:off x="731520" y="2746248"/>
                <a:ext cx="10725912" cy="3928872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14:m>
                  <m:oMath xmlns:m="http://schemas.openxmlformats.org/officeDocument/2006/math"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+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𝑏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den>
                    </m:f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𝑎</m:t>
                    </m:r>
                    <m:sSup>
                      <m:e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tan</m:t>
                        </m:r>
                      </m:e>
                      <m:sup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−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𝑎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ln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𝑦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so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tan</m:t>
                    </m:r>
                    <m:d>
                      <m:dPr>
                        <m:begChr m:val="("/>
                        <m:sepChr m:val=""/>
                        <m:endChr m:val=")"/>
                        <m:grow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f>
                          <m:fPr>
                            <m:type m:val="bar"/>
                            <m:ctrlP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fPr>
                          <m:num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𝑥</m:t>
                            </m:r>
                            <m:r>
                              <m:rPr>
                                <m:sty m:val="p"/>
                              </m:rPr>
                              <a:rPr lang="en-IN" sz="2400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+</m:t>
                            </m:r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𝑏</m:t>
                            </m:r>
                          </m:num>
                          <m:den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2</m:t>
                            </m:r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𝑎</m:t>
                            </m:r>
                          </m:den>
                        </m:f>
                      </m:e>
                    </m:d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𝑎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ln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𝑦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0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Differentiate: </a:t>
                </a:r>
                <a14:m>
                  <m:oMath xmlns:m="http://schemas.openxmlformats.org/officeDocument/2006/math"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𝑎</m:t>
                        </m:r>
                      </m:den>
                    </m:f>
                    <m:sSup>
                      <m:e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sec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d>
                      <m:dPr>
                        <m:begChr m:val="("/>
                        <m:sepChr m:val=""/>
                        <m:endChr m:val=")"/>
                        <m:grow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f>
                          <m:fPr>
                            <m:type m:val="bar"/>
                            <m:ctrlP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fPr>
                          <m:num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𝑥</m:t>
                            </m:r>
                            <m:r>
                              <m:rPr>
                                <m:sty m:val="p"/>
                              </m:rPr>
                              <a:rPr lang="en-IN" sz="2400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+</m:t>
                            </m:r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𝑏</m:t>
                            </m:r>
                          </m:num>
                          <m:den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2</m:t>
                            </m:r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𝑎</m:t>
                            </m:r>
                          </m:den>
                        </m:f>
                      </m:e>
                    </m:d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𝑎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𝑦</m:t>
                        </m:r>
                      </m:den>
                    </m:f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𝑦</m:t>
                        </m:r>
                      </m:e>
                      <m:sup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′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0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so </a:t>
                </a:r>
                <a14:m>
                  <m:oMath xmlns:m="http://schemas.openxmlformats.org/officeDocument/2006/math"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𝑑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𝑦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𝑑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</m:den>
                    </m:f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𝑦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  <m:sSup>
                          <m:e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𝑎</m:t>
                            </m:r>
                          </m:e>
                          <m:sup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2</m:t>
                            </m:r>
                          </m:sup>
                        </m:sSup>
                      </m:den>
                    </m:f>
                    <m:sSup>
                      <m:e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sec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d>
                      <m:dPr>
                        <m:begChr m:val="("/>
                        <m:sepChr m:val=""/>
                        <m:endChr m:val=")"/>
                        <m:grow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f>
                          <m:fPr>
                            <m:type m:val="bar"/>
                            <m:ctrlP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fPr>
                          <m:num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𝑥</m:t>
                            </m:r>
                            <m:r>
                              <m:rPr>
                                <m:sty m:val="p"/>
                              </m:rPr>
                              <a:rPr lang="en-IN" sz="2400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+</m:t>
                            </m:r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𝑏</m:t>
                            </m:r>
                          </m:num>
                          <m:den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2</m:t>
                            </m:r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𝑎</m:t>
                            </m:r>
                          </m:den>
                        </m:f>
                      </m:e>
                    </m:d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That is </a:t>
                </a:r>
                <a14:m>
                  <m:oMath xmlns:m="http://schemas.openxmlformats.org/officeDocument/2006/math"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  <m:sSup>
                          <m:e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𝑎</m:t>
                            </m:r>
                          </m:e>
                          <m:sup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2</m:t>
                            </m:r>
                          </m:sup>
                        </m:sSup>
                        <m:sSup>
                          <m:e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𝑦</m:t>
                            </m:r>
                          </m:e>
                          <m:sup>
                            <m:r>
                              <m:rPr>
                                <m:sty m:val="p"/>
                              </m:rPr>
                              <a:rPr lang="en-IN" sz="2400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′</m:t>
                            </m:r>
                          </m:sup>
                        </m:sSup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𝑦</m:t>
                        </m:r>
                      </m:den>
                    </m:f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sSup>
                      <m:e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tan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d>
                      <m:dPr>
                        <m:begChr m:val="("/>
                        <m:sepChr m:val=""/>
                        <m:endChr m:val=")"/>
                        <m:grow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f>
                          <m:fPr>
                            <m:type m:val="bar"/>
                            <m:ctrlP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fPr>
                          <m:num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𝑥</m:t>
                            </m:r>
                            <m:r>
                              <m:rPr>
                                <m:sty m:val="p"/>
                              </m:rPr>
                              <a:rPr lang="en-IN" sz="2400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+</m:t>
                            </m:r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𝑏</m:t>
                            </m:r>
                          </m:num>
                          <m:den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2</m:t>
                            </m:r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𝑎</m:t>
                            </m:r>
                          </m:den>
                        </m:f>
                      </m:e>
                    </m:d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Using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tan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+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𝑏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𝑎</m:t>
                        </m:r>
                      </m:den>
                    </m:f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𝑎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ln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𝑦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: </a:t>
                </a:r>
                <a14:m>
                  <m:oMath xmlns:m="http://schemas.openxmlformats.org/officeDocument/2006/math"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  <m:sSup>
                          <m:e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𝑎</m:t>
                            </m:r>
                          </m:e>
                          <m:sup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2</m:t>
                            </m:r>
                          </m:sup>
                        </m:sSup>
                        <m:sSup>
                          <m:e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𝑦</m:t>
                            </m:r>
                          </m:e>
                          <m:sup>
                            <m:r>
                              <m:rPr>
                                <m:sty m:val="p"/>
                              </m:rPr>
                              <a:rPr lang="en-IN" sz="2400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′</m:t>
                            </m:r>
                          </m:sup>
                        </m:sSup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𝑦</m:t>
                        </m:r>
                      </m:den>
                    </m:f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𝑎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sSup>
                      <m:e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ln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𝑦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Choice>
        <mc:Fallback>
          <p:sp>
            <p:nvSpPr>
              <p:cNvPr id="5" name="Rectangle 4"/>
              <p:cNvSpPr/>
              <p:nvPr/>
            </p:nvSpPr>
            <p:spPr>
              <a:xfrm>
                <a:off x="731520" y="2746248"/>
                <a:ext cx="10725912" cy="3928872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$\frac{x+b}2=a\tan^{-1}(a\ln y)$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so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$\tan\left(\frac{x+b}{2a}\right)-a\ln y=0$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Differentiate: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$\frac{1}{2a}\sec^2\left(\frac{x+b}{2a}\right)-\frac{a}{y}y'=0$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so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$\frac{dy}{dx}=\frac{y}{2a^2}\sec^2\left(\frac{x+b}{2a}\right)$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That is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$\frac{2a^2y'}{y}=1+\tan^2\left(\frac{x+b}{2a}\right)$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Using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$\tan\frac{x+b}{2a}=a\ln y$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: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$\frac{2a^2y'}{y}=1+a^2\ln^2y$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Fallback>
      </mc:AlternateContent>
    </p:spTree>
  </p:cSld>
  <p:clrMapOvr>
    <a:masterClrMapping/>
  </p:clrMapOvr>
</p:sld>
</file>

<file path=ppt/slides/slide12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FFFFFF"/>
          </a:fontRef>
        </p:style>
        <p:txBody>
          <a:bodyPr rtlCol="0" anchor="ctr" lIns="731520"/>
          <a:lstStyle>
            <a:lvl1pPr>
              <a:defRPr sz="3200">
                <a:solidFill>
                  <a:srgbClr val="FFFFFF"/>
                </a:solidFill>
              </a:defRPr>
            </a:lvl1pPr>
          </a:lstStyle>
          <a:p>
            <a:pPr algn="l">
              <a:defRPr sz="3200">
                <a:solidFill>
                  <a:srgbClr val="FFFFFF"/>
                </a:solidFill>
              </a:defRPr>
            </a:pPr>
            <a:r>
              <a:rPr sz="3200" b="1">
                <a:solidFill>
                  <a:srgbClr val="FFFFFF"/>
                </a:solidFill>
                <a:latin typeface="Arial"/>
              </a:rPr>
              <a:t>Question 19</a:t>
            </a:r>
            <a:endParaRPr sz="3200">
              <a:solidFill>
                <a:srgbClr val="FFFFFF"/>
              </a:solidFill>
            </a:endParaRPr>
          </a:p>
        </p:txBody>
      </p:sp>
      <p:sp>
        <p:nvSpPr>
          <p:cNvPr id="3" name="Rounded Rectangle 2"/>
          <p:cNvSpPr/>
          <p:nvPr/>
        </p:nvSpPr>
        <p:spPr>
          <a:xfrm>
            <a:off x="7894015" y="246887"/>
            <a:ext cx="3840480" cy="603504"/>
          </a:xfrm>
          <a:prstGeom prst="roundRect">
            <a:avLst>
              <a:gd name="adj" fmla="val 50000"/>
            </a:avLst>
          </a:prstGeom>
          <a:solidFill>
            <a:srgbClr val="FFD966"/>
          </a:solidFill>
          <a:ln w="1905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111827"/>
          </a:fontRef>
        </p:style>
        <p:txBody>
          <a:bodyPr rtlCol="0" anchor="ctr" wrap="square" lIns="228600" rIns="228600" tIns="18288" bIns="18288"/>
          <a:lstStyle>
            <a:lvl1pPr>
              <a:defRPr sz="2400">
                <a:solidFill>
                  <a:srgbClr val="111827"/>
                </a:solidFill>
              </a:defRPr>
            </a:lvl1pPr>
          </a:lstStyle>
          <a:p>
            <a:pPr algn="ctr">
              <a:defRPr sz="2400">
                <a:solidFill>
                  <a:srgbClr val="111827"/>
                </a:solidFill>
              </a:defRPr>
            </a:pPr>
            <a:r>
              <a:rPr sz="2400" b="1">
                <a:solidFill>
                  <a:srgbClr val="111827"/>
                </a:solidFill>
                <a:latin typeface="Arial"/>
              </a:rPr>
              <a:t>Level 2  ·  4 Marks</a:t>
            </a:r>
            <a:endParaRPr sz="2400">
              <a:solidFill>
                <a:srgbClr val="111827"/>
              </a:solidFill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4" name="Rectangle 3"/>
              <p:cNvSpPr/>
              <p:nvPr/>
            </p:nvSpPr>
            <p:spPr>
              <a:xfrm>
                <a:off x="731520" y="1353312"/>
                <a:ext cx="10725912" cy="4434840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Differentiate again: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𝑎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⋅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𝑦</m:t>
                        </m:r>
                        <m:sSup>
                          <m:e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𝑦</m:t>
                            </m:r>
                          </m:e>
                          <m:sup>
                            <m:r>
                              <m:rPr>
                                <m:sty m:val="p"/>
                              </m:rPr>
                              <a:rPr lang="en-IN" sz="2400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″</m:t>
                            </m:r>
                          </m:sup>
                        </m:sSup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−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(</m:t>
                        </m:r>
                        <m:sSup>
                          <m:e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𝑦</m:t>
                            </m:r>
                          </m:e>
                          <m:sup>
                            <m:r>
                              <m:rPr>
                                <m:sty m:val="p"/>
                              </m:rPr>
                              <a:rPr lang="en-IN" sz="2400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′</m:t>
                            </m:r>
                          </m:sup>
                        </m:sSup>
                        <m:sSup>
                          <m:e>
                            <m:r>
                              <m:rPr>
                                <m:sty m:val="p"/>
                              </m:rPr>
                              <a:rPr lang="en-IN" sz="2400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)</m:t>
                            </m:r>
                          </m:e>
                          <m:sup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2</m:t>
                            </m:r>
                          </m:sup>
                        </m:sSup>
                      </m:num>
                      <m:den>
                        <m:sSup>
                          <m:e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𝑦</m:t>
                            </m:r>
                          </m:e>
                          <m:sup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2</m:t>
                            </m:r>
                          </m:sup>
                        </m:sSup>
                      </m:den>
                    </m:f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𝑎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ln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𝑦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⋅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𝑦</m:t>
                        </m:r>
                      </m:den>
                    </m:f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 </m:t>
                    </m:r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𝑦</m:t>
                        </m:r>
                      </m:e>
                      <m:sup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′</m:t>
                        </m:r>
                      </m:sup>
                    </m:sSup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𝑦</m:t>
                    </m:r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𝑦</m:t>
                        </m:r>
                      </m:e>
                      <m:sup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″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𝑦</m:t>
                        </m:r>
                      </m:e>
                      <m:sup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′</m:t>
                        </m:r>
                      </m:sup>
                    </m:sSup>
                    <m:sSup>
                      <m:e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)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𝑦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 </m:t>
                    </m:r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𝑦</m:t>
                        </m:r>
                      </m:e>
                      <m:sup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′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ln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𝑦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Hence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𝑦</m:t>
                    </m:r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𝑦</m:t>
                        </m:r>
                      </m:e>
                      <m:sup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″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𝑦</m:t>
                    </m:r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𝑦</m:t>
                        </m:r>
                      </m:e>
                      <m:sup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′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ln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𝑦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𝑦</m:t>
                        </m:r>
                      </m:e>
                      <m:sup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′</m:t>
                        </m:r>
                      </m:sup>
                    </m:sSup>
                    <m:sSup>
                      <m:e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)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Choice>
        <mc:Fallback>
          <p:sp>
            <p:nvSpPr>
              <p:cNvPr id="4" name="Rectangle 3"/>
              <p:cNvSpPr/>
              <p:nvPr/>
            </p:nvSpPr>
            <p:spPr>
              <a:xfrm>
                <a:off x="731520" y="1353312"/>
                <a:ext cx="10725912" cy="4434840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Differentiate again: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$2a^2\cdot\frac{yy''-(y')^2}{y^2}=2a^2\ln y\cdot\frac{1}{y}\,y'$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$yy''-(y')^2=y\,y'\ln y$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Hence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$yy''-yy'\ln y=(y')^2$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5" name="Rounded Rectangle 4"/>
              <p:cNvSpPr/>
              <p:nvPr/>
            </p:nvSpPr>
            <p:spPr>
              <a:xfrm>
                <a:off x="731520" y="5897880"/>
                <a:ext cx="10725912" cy="777240"/>
              </a:xfrm>
              <a:prstGeom prst="roundRect">
                <a:avLst>
                  <a:gd name="adj" fmla="val 8000"/>
                </a:avLst>
              </a:prstGeom>
              <a:solidFill>
                <a:srgbClr val="DCFCE7"/>
              </a:solidFill>
              <a:ln w="25400">
                <a:solidFill>
                  <a:srgbClr val="15803D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5803D"/>
              </a:fontRef>
            </p:style>
            <p:txBody>
              <a:bodyPr rtlCol="0" anchor="ctr" wrap="square" lIns="228600" rIns="228600" tIns="18288" bIns="73152"/>
              <a:lstStyle>
                <a:lvl1pPr>
                  <a:defRPr sz="2800">
                    <a:solidFill>
                      <a:srgbClr val="15803D"/>
                    </a:solidFill>
                  </a:defRPr>
                </a:lvl1pPr>
              </a:lstStyle>
              <a:p>
                <a:pPr algn="ctr">
                  <a:defRPr sz="2800">
                    <a:solidFill>
                      <a:srgbClr val="15803D"/>
                    </a:solidFill>
                  </a:defRPr>
                </a:pPr>
                <a:r>
                  <a:rPr sz="2800" b="1">
                    <a:solidFill>
                      <a:srgbClr val="15803D"/>
                    </a:solidFill>
                    <a:latin typeface="Arial"/>
                  </a:rPr>
                  <a:t>Correct Answer: Proved: </a:t>
                </a:r>
                <a14:m>
                  <m:oMath xmlns:m="http://schemas.openxmlformats.org/officeDocument/2006/math">
                    <m:r>
                      <a:rPr lang="en-IN" sz="2800" i="1">
                        <a:solidFill>
                          <a:srgbClr val="15803D"/>
                        </a:solidFill>
                        <a:latin typeface="Cambria Math" panose="02040503050406030204" pitchFamily="18" charset="0"/>
                      </a:rPr>
                      <m:t>𝑦</m:t>
                    </m:r>
                    <m:sSup>
                      <m:e>
                        <m:r>
                          <a:rPr lang="en-IN" sz="2800" i="1">
                            <a:solidFill>
                              <a:srgbClr val="15803D"/>
                            </a:solidFill>
                            <a:latin typeface="Cambria Math" panose="02040503050406030204" pitchFamily="18" charset="0"/>
                          </a:rPr>
                          <m:t>𝑦</m:t>
                        </m:r>
                      </m:e>
                      <m:sup>
                        <m:r>
                          <m:rPr>
                            <m:sty m:val="p"/>
                          </m:rPr>
                          <a:rPr lang="en-IN" sz="2800">
                            <a:solidFill>
                              <a:srgbClr val="15803D"/>
                            </a:solidFill>
                            <a:latin typeface="Cambria Math" panose="02040503050406030204" pitchFamily="18" charset="0"/>
                          </a:rPr>
                          <m:t>″</m:t>
                        </m:r>
                      </m:sup>
                    </m:sSup>
                    <m:r>
                      <m:rPr>
                        <m:sty m:val="p"/>
                      </m:rPr>
                      <a:rPr lang="en-IN" sz="2800">
                        <a:solidFill>
                          <a:srgbClr val="15803D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800" i="1">
                        <a:solidFill>
                          <a:srgbClr val="15803D"/>
                        </a:solidFill>
                        <a:latin typeface="Cambria Math" panose="02040503050406030204" pitchFamily="18" charset="0"/>
                      </a:rPr>
                      <m:t>𝑦</m:t>
                    </m:r>
                    <m:sSup>
                      <m:e>
                        <m:r>
                          <a:rPr lang="en-IN" sz="2800" i="1">
                            <a:solidFill>
                              <a:srgbClr val="15803D"/>
                            </a:solidFill>
                            <a:latin typeface="Cambria Math" panose="02040503050406030204" pitchFamily="18" charset="0"/>
                          </a:rPr>
                          <m:t>𝑦</m:t>
                        </m:r>
                      </m:e>
                      <m:sup>
                        <m:r>
                          <m:rPr>
                            <m:sty m:val="p"/>
                          </m:rPr>
                          <a:rPr lang="en-IN" sz="2800">
                            <a:solidFill>
                              <a:srgbClr val="15803D"/>
                            </a:solidFill>
                            <a:latin typeface="Cambria Math" panose="02040503050406030204" pitchFamily="18" charset="0"/>
                          </a:rPr>
                          <m:t>′</m:t>
                        </m:r>
                      </m:sup>
                    </m:sSup>
                    <m:r>
                      <m:rPr>
                        <m:sty m:val="p"/>
                      </m:rPr>
                      <a:rPr lang="en-IN" sz="2800">
                        <a:solidFill>
                          <a:srgbClr val="15803D"/>
                        </a:solidFill>
                        <a:latin typeface="Cambria Math" panose="02040503050406030204" pitchFamily="18" charset="0"/>
                      </a:rPr>
                      <m:t>ln</m:t>
                    </m:r>
                    <m:r>
                      <a:rPr lang="en-IN" sz="2800" i="1">
                        <a:solidFill>
                          <a:srgbClr val="15803D"/>
                        </a:solidFill>
                        <a:latin typeface="Cambria Math" panose="02040503050406030204" pitchFamily="18" charset="0"/>
                      </a:rPr>
                      <m:t>𝑦</m:t>
                    </m:r>
                    <m:r>
                      <m:rPr>
                        <m:sty m:val="p"/>
                      </m:rPr>
                      <a:rPr lang="en-IN" sz="2800">
                        <a:solidFill>
                          <a:srgbClr val="15803D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m:rPr>
                        <m:sty m:val="p"/>
                      </m:rPr>
                      <a:rPr lang="en-IN" sz="2800">
                        <a:solidFill>
                          <a:srgbClr val="15803D"/>
                        </a:solidFill>
                        <a:latin typeface="Cambria Math" panose="02040503050406030204" pitchFamily="18" charset="0"/>
                      </a:rPr>
                      <m:t>(</m:t>
                    </m:r>
                    <m:sSup>
                      <m:e>
                        <m:r>
                          <a:rPr lang="en-IN" sz="2800" i="1">
                            <a:solidFill>
                              <a:srgbClr val="15803D"/>
                            </a:solidFill>
                            <a:latin typeface="Cambria Math" panose="02040503050406030204" pitchFamily="18" charset="0"/>
                          </a:rPr>
                          <m:t>𝑦</m:t>
                        </m:r>
                      </m:e>
                      <m:sup>
                        <m:r>
                          <m:rPr>
                            <m:sty m:val="p"/>
                          </m:rPr>
                          <a:rPr lang="en-IN" sz="2800">
                            <a:solidFill>
                              <a:srgbClr val="15803D"/>
                            </a:solidFill>
                            <a:latin typeface="Cambria Math" panose="02040503050406030204" pitchFamily="18" charset="0"/>
                          </a:rPr>
                          <m:t>′</m:t>
                        </m:r>
                      </m:sup>
                    </m:sSup>
                    <m:sSup>
                      <m:e>
                        <m:r>
                          <m:rPr>
                            <m:sty m:val="p"/>
                          </m:rPr>
                          <a:rPr lang="en-IN" sz="2800">
                            <a:solidFill>
                              <a:srgbClr val="15803D"/>
                            </a:solidFill>
                            <a:latin typeface="Cambria Math" panose="02040503050406030204" pitchFamily="18" charset="0"/>
                          </a:rPr>
                          <m:t>)</m:t>
                        </m:r>
                      </m:e>
                      <m:sup>
                        <m:r>
                          <a:rPr lang="en-IN" sz="2800" i="1">
                            <a:solidFill>
                              <a:srgbClr val="15803D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</m:oMath>
                </a14:m>
                <a:endParaRPr sz="2800">
                  <a:solidFill>
                    <a:srgbClr val="15803D"/>
                  </a:solidFill>
                </a:endParaRPr>
              </a:p>
            </p:txBody>
          </p:sp>
        </mc:Choice>
        <mc:Fallback>
          <p:sp>
            <p:nvSpPr>
              <p:cNvPr id="5" name="Rounded Rectangle 4"/>
              <p:cNvSpPr/>
              <p:nvPr/>
            </p:nvSpPr>
            <p:spPr>
              <a:xfrm>
                <a:off x="731520" y="5897880"/>
                <a:ext cx="10725912" cy="777240"/>
              </a:xfrm>
              <a:prstGeom prst="roundRect">
                <a:avLst>
                  <a:gd name="adj" fmla="val 8000"/>
                </a:avLst>
              </a:prstGeom>
              <a:solidFill>
                <a:srgbClr val="DCFCE7"/>
              </a:solidFill>
              <a:ln w="25400">
                <a:solidFill>
                  <a:srgbClr val="15803D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5803D"/>
              </a:fontRef>
            </p:style>
            <p:txBody>
              <a:bodyPr rtlCol="0" anchor="ctr" wrap="square" lIns="228600" rIns="228600" tIns="18288" bIns="73152"/>
              <a:lstStyle>
                <a:lvl1pPr>
                  <a:defRPr sz="2800">
                    <a:solidFill>
                      <a:srgbClr val="15803D"/>
                    </a:solidFill>
                  </a:defRPr>
                </a:lvl1pPr>
              </a:lstStyle>
              <a:p>
                <a:pPr algn="ctr">
                  <a:defRPr sz="2800">
                    <a:solidFill>
                      <a:srgbClr val="15803D"/>
                    </a:solidFill>
                  </a:defRPr>
                </a:pPr>
                <a:r>
                  <a:rPr sz="2800" b="1">
                    <a:solidFill>
                      <a:srgbClr val="15803D"/>
                    </a:solidFill>
                    <a:latin typeface="Arial"/>
                  </a:rPr>
                  <a:t>Correct Answer: Proved: </a:t>
                </a:r>
                <a:r>
                  <a:rPr lang="en-IN" sz="2800">
                    <a:solidFill>
                      <a:srgbClr val="15803D"/>
                    </a:solidFill>
                    <a:latin typeface="Cambria Math" panose="02040503050406030204" pitchFamily="18" charset="0"/>
                  </a:rPr>
                  <a:t>$yy''-yy'\ln y=(y')^2$</a:t>
                </a:r>
                <a:endParaRPr sz="2800">
                  <a:solidFill>
                    <a:srgbClr val="15803D"/>
                  </a:solidFill>
                </a:endParaRPr>
              </a:p>
            </p:txBody>
          </p:sp>
        </mc:Fallback>
      </mc:AlternateContent>
    </p:spTree>
  </p:cSld>
  <p:clrMapOvr>
    <a:masterClrMapping/>
  </p:clrMapOvr>
</p:sld>
</file>

<file path=ppt/slides/slide12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FFFFFF"/>
          </a:fontRef>
        </p:style>
        <p:txBody>
          <a:bodyPr rtlCol="0" anchor="ctr" lIns="731520"/>
          <a:lstStyle>
            <a:lvl1pPr>
              <a:defRPr sz="3200">
                <a:solidFill>
                  <a:srgbClr val="FFFFFF"/>
                </a:solidFill>
              </a:defRPr>
            </a:lvl1pPr>
          </a:lstStyle>
          <a:p>
            <a:pPr algn="l">
              <a:defRPr sz="3200">
                <a:solidFill>
                  <a:srgbClr val="FFFFFF"/>
                </a:solidFill>
              </a:defRPr>
            </a:pPr>
            <a:r>
              <a:rPr sz="3200" b="1">
                <a:solidFill>
                  <a:srgbClr val="FFFFFF"/>
                </a:solidFill>
                <a:latin typeface="Arial"/>
              </a:rPr>
              <a:t>Question 19</a:t>
            </a:r>
            <a:endParaRPr sz="3200">
              <a:solidFill>
                <a:srgbClr val="FFFFFF"/>
              </a:solidFill>
            </a:endParaRPr>
          </a:p>
        </p:txBody>
      </p:sp>
      <p:sp>
        <p:nvSpPr>
          <p:cNvPr id="3" name="Rounded Rectangle 2"/>
          <p:cNvSpPr/>
          <p:nvPr/>
        </p:nvSpPr>
        <p:spPr>
          <a:xfrm>
            <a:off x="7894015" y="246887"/>
            <a:ext cx="3840480" cy="603504"/>
          </a:xfrm>
          <a:prstGeom prst="roundRect">
            <a:avLst>
              <a:gd name="adj" fmla="val 50000"/>
            </a:avLst>
          </a:prstGeom>
          <a:solidFill>
            <a:srgbClr val="FFD966"/>
          </a:solidFill>
          <a:ln w="1905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111827"/>
          </a:fontRef>
        </p:style>
        <p:txBody>
          <a:bodyPr rtlCol="0" anchor="ctr" wrap="square" lIns="228600" rIns="228600" tIns="18288" bIns="18288"/>
          <a:lstStyle>
            <a:lvl1pPr>
              <a:defRPr sz="2400">
                <a:solidFill>
                  <a:srgbClr val="111827"/>
                </a:solidFill>
              </a:defRPr>
            </a:lvl1pPr>
          </a:lstStyle>
          <a:p>
            <a:pPr algn="ctr">
              <a:defRPr sz="2400">
                <a:solidFill>
                  <a:srgbClr val="111827"/>
                </a:solidFill>
              </a:defRPr>
            </a:pPr>
            <a:r>
              <a:rPr sz="2400" b="1">
                <a:solidFill>
                  <a:srgbClr val="111827"/>
                </a:solidFill>
                <a:latin typeface="Arial"/>
              </a:rPr>
              <a:t>Level 2  ·  4 Marks</a:t>
            </a:r>
            <a:endParaRPr sz="2400">
              <a:solidFill>
                <a:srgbClr val="111827"/>
              </a:solidFill>
            </a:endParaRPr>
          </a:p>
        </p:txBody>
      </p:sp>
      <p:sp>
        <p:nvSpPr>
          <p:cNvPr id="4" name="Rounded Rectangle 3"/>
          <p:cNvSpPr/>
          <p:nvPr/>
        </p:nvSpPr>
        <p:spPr>
          <a:xfrm>
            <a:off x="3520440" y="265176"/>
            <a:ext cx="4206240" cy="566928"/>
          </a:xfrm>
          <a:prstGeom prst="roundRect">
            <a:avLst>
              <a:gd name="adj" fmla="val 50000"/>
            </a:avLst>
          </a:prstGeom>
          <a:solidFill>
            <a:srgbClr val="FDE68A"/>
          </a:solidFill>
          <a:ln w="25400">
            <a:solidFill>
              <a:srgbClr val="D9770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78350F"/>
          </a:fontRef>
        </p:style>
        <p:txBody>
          <a:bodyPr rtlCol="0" anchor="ctr" wrap="square" lIns="228600" rIns="228600" tIns="18288" bIns="18288"/>
          <a:lstStyle>
            <a:lvl1pPr>
              <a:defRPr sz="2200">
                <a:solidFill>
                  <a:srgbClr val="78350F"/>
                </a:solidFill>
              </a:defRPr>
            </a:lvl1pPr>
          </a:lstStyle>
          <a:p>
            <a:pPr algn="ctr">
              <a:defRPr sz="2200">
                <a:solidFill>
                  <a:srgbClr val="78350F"/>
                </a:solidFill>
              </a:defRPr>
            </a:pPr>
            <a:r>
              <a:rPr sz="2200" b="1">
                <a:solidFill>
                  <a:srgbClr val="78350F"/>
                </a:solidFill>
                <a:latin typeface="Arial"/>
              </a:rPr>
              <a:t>Alternate Solution</a:t>
            </a:r>
            <a:endParaRPr sz="2200">
              <a:solidFill>
                <a:srgbClr val="78350F"/>
              </a:solidFill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5" name="Rounded Rectangle 4"/>
              <p:cNvSpPr/>
              <p:nvPr/>
            </p:nvSpPr>
            <p:spPr>
              <a:xfrm>
                <a:off x="731520" y="1280160"/>
                <a:ext cx="10725912" cy="1328928"/>
              </a:xfrm>
              <a:prstGeom prst="roundRect">
                <a:avLst>
                  <a:gd name="adj" fmla="val 8000"/>
                </a:avLst>
              </a:prstGeom>
              <a:solidFill>
                <a:srgbClr val="FDE68A"/>
              </a:solidFill>
              <a:ln w="31750">
                <a:solidFill>
                  <a:srgbClr val="D97706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78350F"/>
              </a:fontRef>
            </p:style>
            <p:txBody>
              <a:bodyPr rtlCol="0" anchor="ctr" wrap="square" lIns="228600" rIns="228600" tIns="54864" bIns="73152"/>
              <a:lstStyle>
                <a:lvl1pPr>
                  <a:defRPr sz="2400">
                    <a:solidFill>
                      <a:srgbClr val="78350F"/>
                    </a:solidFill>
                  </a:defRPr>
                </a:lvl1pPr>
              </a:lstStyle>
              <a:p>
                <a:pPr algn="l">
                  <a:defRPr sz="2400">
                    <a:solidFill>
                      <a:srgbClr val="78350F"/>
                    </a:solidFill>
                  </a:defRPr>
                </a:pPr>
                <a:r>
                  <a:rPr sz="2400" b="1">
                    <a:solidFill>
                      <a:srgbClr val="78350F"/>
                    </a:solidFill>
                    <a:latin typeface="Arial"/>
                  </a:rPr>
                  <a:t>Idea:  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Substitute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𝑢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ln</m:t>
                    </m:r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𝑦</m:t>
                    </m:r>
                  </m:oMath>
                </a14:m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: the equation reduces to the Riccati-type relation </a:t>
                </a:r>
                <a14:m>
                  <m:oMath xmlns:m="http://schemas.openxmlformats.org/officeDocument/2006/math">
                    <m:sSup>
                      <m:e>
                        <m: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𝑢</m:t>
                        </m:r>
                      </m:e>
                      <m:sup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″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𝑢</m:t>
                    </m:r>
                    <m:sSup>
                      <m:e>
                        <m: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𝑢</m:t>
                        </m:r>
                      </m:e>
                      <m:sup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′</m:t>
                        </m:r>
                      </m:sup>
                    </m:sSup>
                  </m:oMath>
                </a14:m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, true for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𝑢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𝑎</m:t>
                        </m:r>
                      </m:den>
                    </m:f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tan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+</m:t>
                        </m:r>
                        <m: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𝑏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  <m: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𝑎</m:t>
                        </m:r>
                      </m:den>
                    </m:f>
                  </m:oMath>
                </a14:m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.</a:t>
                </a:r>
                <a:endParaRPr sz="2400">
                  <a:solidFill>
                    <a:srgbClr val="78350F"/>
                  </a:solidFill>
                </a:endParaRPr>
              </a:p>
            </p:txBody>
          </p:sp>
        </mc:Choice>
        <mc:Fallback>
          <p:sp>
            <p:nvSpPr>
              <p:cNvPr id="5" name="Rounded Rectangle 4"/>
              <p:cNvSpPr/>
              <p:nvPr/>
            </p:nvSpPr>
            <p:spPr>
              <a:xfrm>
                <a:off x="731520" y="1280160"/>
                <a:ext cx="10725912" cy="1328928"/>
              </a:xfrm>
              <a:prstGeom prst="roundRect">
                <a:avLst>
                  <a:gd name="adj" fmla="val 8000"/>
                </a:avLst>
              </a:prstGeom>
              <a:solidFill>
                <a:srgbClr val="FDE68A"/>
              </a:solidFill>
              <a:ln w="31750">
                <a:solidFill>
                  <a:srgbClr val="D97706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78350F"/>
              </a:fontRef>
            </p:style>
            <p:txBody>
              <a:bodyPr rtlCol="0" anchor="ctr" wrap="square" lIns="228600" rIns="228600" tIns="54864" bIns="73152"/>
              <a:lstStyle>
                <a:lvl1pPr>
                  <a:defRPr sz="2400">
                    <a:solidFill>
                      <a:srgbClr val="78350F"/>
                    </a:solidFill>
                  </a:defRPr>
                </a:lvl1pPr>
              </a:lstStyle>
              <a:p>
                <a:pPr algn="l">
                  <a:defRPr sz="2400">
                    <a:solidFill>
                      <a:srgbClr val="78350F"/>
                    </a:solidFill>
                  </a:defRPr>
                </a:pPr>
                <a:r>
                  <a:rPr sz="2400" b="1">
                    <a:solidFill>
                      <a:srgbClr val="78350F"/>
                    </a:solidFill>
                    <a:latin typeface="Arial"/>
                  </a:rPr>
                  <a:t>Idea:  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Substitute </a:t>
                </a:r>
                <a:r>
                  <a:rPr lang="en-IN" sz="2400">
                    <a:solidFill>
                      <a:srgbClr val="78350F"/>
                    </a:solidFill>
                    <a:latin typeface="Cambria Math" panose="02040503050406030204" pitchFamily="18" charset="0"/>
                  </a:rPr>
                  <a:t>$u=\ln y$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: the equation reduces to the Riccati-type relation </a:t>
                </a:r>
                <a:r>
                  <a:rPr lang="en-IN" sz="2400">
                    <a:solidFill>
                      <a:srgbClr val="78350F"/>
                    </a:solidFill>
                    <a:latin typeface="Cambria Math" panose="02040503050406030204" pitchFamily="18" charset="0"/>
                  </a:rPr>
                  <a:t>$u''=uu'$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, true for </a:t>
                </a:r>
                <a:r>
                  <a:rPr lang="en-IN" sz="2400">
                    <a:solidFill>
                      <a:srgbClr val="78350F"/>
                    </a:solidFill>
                    <a:latin typeface="Cambria Math" panose="02040503050406030204" pitchFamily="18" charset="0"/>
                  </a:rPr>
                  <a:t>$u=\frac1a\tan\frac{x+b}{2a}$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.</a:t>
                </a:r>
                <a:endParaRPr sz="2400">
                  <a:solidFill>
                    <a:srgbClr val="78350F"/>
                  </a:solidFill>
                </a:endParaRP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6" name="Rectangle 5"/>
              <p:cNvSpPr/>
              <p:nvPr/>
            </p:nvSpPr>
            <p:spPr>
              <a:xfrm>
                <a:off x="731520" y="2746248"/>
                <a:ext cx="10725912" cy="3928872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Let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𝑢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ln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𝑦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so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𝑦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𝑒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𝑢</m:t>
                        </m:r>
                      </m:sup>
                    </m:sSup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</a:t>
                </a:r>
                <a14:m>
                  <m:oMath xmlns:m="http://schemas.openxmlformats.org/officeDocument/2006/math"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𝑦</m:t>
                        </m:r>
                      </m:e>
                      <m:sup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′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𝑒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𝑢</m:t>
                        </m:r>
                      </m:sup>
                    </m:sSup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𝑢</m:t>
                        </m:r>
                      </m:e>
                      <m:sup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′</m:t>
                        </m:r>
                      </m:sup>
                    </m:sSup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</a:t>
                </a:r>
                <a14:m>
                  <m:oMath xmlns:m="http://schemas.openxmlformats.org/officeDocument/2006/math"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𝑦</m:t>
                        </m:r>
                      </m:e>
                      <m:sup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″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𝑒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𝑢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𝑢</m:t>
                        </m:r>
                      </m:e>
                      <m:sup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″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𝑢</m:t>
                        </m:r>
                      </m:e>
                      <m:sup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′</m:t>
                        </m:r>
                      </m:sup>
                    </m:sSup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​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𝑦</m:t>
                    </m:r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𝑦</m:t>
                        </m:r>
                      </m:e>
                      <m:sup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″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𝑦</m:t>
                    </m:r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𝑦</m:t>
                        </m:r>
                      </m:e>
                      <m:sup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′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ln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𝑦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𝑦</m:t>
                        </m:r>
                      </m:e>
                      <m:sup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′</m:t>
                        </m:r>
                      </m:sup>
                    </m:sSup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​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𝑒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𝑢</m:t>
                        </m:r>
                      </m:sup>
                    </m:sSup>
                    <m:d>
                      <m:dPr>
                        <m:begChr m:val="("/>
                        <m:sepChr m:val=""/>
                        <m:endChr m:val=")"/>
                        <m:grow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sSup>
                          <m:e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𝑢</m:t>
                            </m:r>
                          </m:e>
                          <m:sup>
                            <m:r>
                              <m:rPr>
                                <m:sty m:val="p"/>
                              </m:rPr>
                              <a:rPr lang="en-IN" sz="2400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″</m:t>
                            </m:r>
                          </m:sup>
                        </m:sSup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+</m:t>
                        </m:r>
                        <m:sSup>
                          <m:e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𝑢</m:t>
                            </m:r>
                          </m:e>
                          <m:sup>
                            <m:r>
                              <m:rPr>
                                <m:sty m:val="p"/>
                              </m:rPr>
                              <a:rPr lang="en-IN" sz="2400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′</m:t>
                            </m:r>
                          </m:sup>
                        </m:sSup>
                        <m:sSup>
                          <m:e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​</m:t>
                            </m:r>
                          </m:e>
                          <m:sup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2</m:t>
                            </m:r>
                          </m:sup>
                        </m:sSup>
                      </m:e>
                    </m:d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𝑒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𝑢</m:t>
                        </m:r>
                      </m:sup>
                    </m:sSup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𝑢</m:t>
                        </m:r>
                      </m:e>
                      <m:sup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′</m:t>
                        </m:r>
                      </m:sup>
                    </m:sSup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𝑢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𝑒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𝑢</m:t>
                        </m:r>
                      </m:sup>
                    </m:sSup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𝑢</m:t>
                        </m:r>
                      </m:e>
                      <m:sup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′</m:t>
                        </m:r>
                      </m:sup>
                    </m:sSup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​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𝑒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𝑢</m:t>
                        </m:r>
                      </m:sup>
                    </m:sSup>
                    <m:d>
                      <m:dPr>
                        <m:begChr m:val="("/>
                        <m:sepChr m:val=""/>
                        <m:endChr m:val=")"/>
                        <m:grow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sSup>
                          <m:e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𝑢</m:t>
                            </m:r>
                          </m:e>
                          <m:sup>
                            <m:r>
                              <m:rPr>
                                <m:sty m:val="p"/>
                              </m:rPr>
                              <a:rPr lang="en-IN" sz="2400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″</m:t>
                            </m:r>
                          </m:sup>
                        </m:sSup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−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𝑢</m:t>
                        </m:r>
                        <m:sSup>
                          <m:e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𝑢</m:t>
                            </m:r>
                          </m:e>
                          <m:sup>
                            <m:r>
                              <m:rPr>
                                <m:sty m:val="p"/>
                              </m:rPr>
                              <a:rPr lang="en-IN" sz="2400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′</m:t>
                            </m:r>
                          </m:sup>
                        </m:sSup>
                      </m:e>
                    </m:d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Choice>
        <mc:Fallback>
          <p:sp>
            <p:nvSpPr>
              <p:cNvPr id="6" name="Rectangle 5"/>
              <p:cNvSpPr/>
              <p:nvPr/>
            </p:nvSpPr>
            <p:spPr>
              <a:xfrm>
                <a:off x="731520" y="2746248"/>
                <a:ext cx="10725912" cy="3928872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Let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$u=\ln y$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so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$y=e^u$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$y'=e^uu'$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$y''=e^u(u''+u'^2)$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$yy''-yy'\ln y-y'^2=e^{2u}\left(u''+u'^2\right)-e^{2u}u'u-e^{2u}u'^2=e^{2u}\left(u''-uu'\right)$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Fallback>
      </mc:AlternateContent>
    </p:spTree>
  </p:cSld>
  <p:clrMapOvr>
    <a:masterClrMapping/>
  </p:clrMapOvr>
</p:sld>
</file>

<file path=ppt/slides/slide12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FFFFFF"/>
          </a:fontRef>
        </p:style>
        <p:txBody>
          <a:bodyPr rtlCol="0" anchor="ctr" lIns="731520"/>
          <a:lstStyle>
            <a:lvl1pPr>
              <a:defRPr sz="3200">
                <a:solidFill>
                  <a:srgbClr val="FFFFFF"/>
                </a:solidFill>
              </a:defRPr>
            </a:lvl1pPr>
          </a:lstStyle>
          <a:p>
            <a:pPr algn="l">
              <a:defRPr sz="3200">
                <a:solidFill>
                  <a:srgbClr val="FFFFFF"/>
                </a:solidFill>
              </a:defRPr>
            </a:pPr>
            <a:r>
              <a:rPr sz="3200" b="1">
                <a:solidFill>
                  <a:srgbClr val="FFFFFF"/>
                </a:solidFill>
                <a:latin typeface="Arial"/>
              </a:rPr>
              <a:t>Question 19</a:t>
            </a:r>
            <a:endParaRPr sz="3200">
              <a:solidFill>
                <a:srgbClr val="FFFFFF"/>
              </a:solidFill>
            </a:endParaRPr>
          </a:p>
        </p:txBody>
      </p:sp>
      <p:sp>
        <p:nvSpPr>
          <p:cNvPr id="3" name="Rounded Rectangle 2"/>
          <p:cNvSpPr/>
          <p:nvPr/>
        </p:nvSpPr>
        <p:spPr>
          <a:xfrm>
            <a:off x="7894015" y="246887"/>
            <a:ext cx="3840480" cy="603504"/>
          </a:xfrm>
          <a:prstGeom prst="roundRect">
            <a:avLst>
              <a:gd name="adj" fmla="val 50000"/>
            </a:avLst>
          </a:prstGeom>
          <a:solidFill>
            <a:srgbClr val="FFD966"/>
          </a:solidFill>
          <a:ln w="1905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111827"/>
          </a:fontRef>
        </p:style>
        <p:txBody>
          <a:bodyPr rtlCol="0" anchor="ctr" wrap="square" lIns="228600" rIns="228600" tIns="18288" bIns="18288"/>
          <a:lstStyle>
            <a:lvl1pPr>
              <a:defRPr sz="2400">
                <a:solidFill>
                  <a:srgbClr val="111827"/>
                </a:solidFill>
              </a:defRPr>
            </a:lvl1pPr>
          </a:lstStyle>
          <a:p>
            <a:pPr algn="ctr">
              <a:defRPr sz="2400">
                <a:solidFill>
                  <a:srgbClr val="111827"/>
                </a:solidFill>
              </a:defRPr>
            </a:pPr>
            <a:r>
              <a:rPr sz="2400" b="1">
                <a:solidFill>
                  <a:srgbClr val="111827"/>
                </a:solidFill>
                <a:latin typeface="Arial"/>
              </a:rPr>
              <a:t>Level 2  ·  4 Marks</a:t>
            </a:r>
            <a:endParaRPr sz="2400">
              <a:solidFill>
                <a:srgbClr val="111827"/>
              </a:solidFill>
            </a:endParaRPr>
          </a:p>
        </p:txBody>
      </p:sp>
      <p:sp>
        <p:nvSpPr>
          <p:cNvPr id="4" name="Rounded Rectangle 3"/>
          <p:cNvSpPr/>
          <p:nvPr/>
        </p:nvSpPr>
        <p:spPr>
          <a:xfrm>
            <a:off x="3520440" y="265176"/>
            <a:ext cx="4206240" cy="566928"/>
          </a:xfrm>
          <a:prstGeom prst="roundRect">
            <a:avLst>
              <a:gd name="adj" fmla="val 50000"/>
            </a:avLst>
          </a:prstGeom>
          <a:solidFill>
            <a:srgbClr val="FDE68A"/>
          </a:solidFill>
          <a:ln w="25400">
            <a:solidFill>
              <a:srgbClr val="D9770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78350F"/>
          </a:fontRef>
        </p:style>
        <p:txBody>
          <a:bodyPr rtlCol="0" anchor="ctr" wrap="square" lIns="228600" rIns="228600" tIns="18288" bIns="18288"/>
          <a:lstStyle>
            <a:lvl1pPr>
              <a:defRPr sz="2200">
                <a:solidFill>
                  <a:srgbClr val="78350F"/>
                </a:solidFill>
              </a:defRPr>
            </a:lvl1pPr>
          </a:lstStyle>
          <a:p>
            <a:pPr algn="ctr">
              <a:defRPr sz="2200">
                <a:solidFill>
                  <a:srgbClr val="78350F"/>
                </a:solidFill>
              </a:defRPr>
            </a:pPr>
            <a:r>
              <a:rPr sz="2200" b="1">
                <a:solidFill>
                  <a:srgbClr val="78350F"/>
                </a:solidFill>
                <a:latin typeface="Arial"/>
              </a:rPr>
              <a:t>Alternate Solution</a:t>
            </a:r>
            <a:endParaRPr sz="2200">
              <a:solidFill>
                <a:srgbClr val="78350F"/>
              </a:solidFill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5" name="Rectangle 4"/>
              <p:cNvSpPr/>
              <p:nvPr/>
            </p:nvSpPr>
            <p:spPr>
              <a:xfrm>
                <a:off x="731520" y="1353312"/>
                <a:ext cx="10725912" cy="4434840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The given relation says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𝑢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𝑎</m:t>
                        </m:r>
                      </m:den>
                    </m:f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tan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+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𝑏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𝑎</m:t>
                        </m:r>
                      </m:den>
                    </m:f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 Then </a:t>
                </a:r>
                <a14:m>
                  <m:oMath xmlns:m="http://schemas.openxmlformats.org/officeDocument/2006/math"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𝑢</m:t>
                        </m:r>
                      </m:e>
                      <m:sup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′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  <m:sSup>
                          <m:e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𝑎</m:t>
                            </m:r>
                          </m:e>
                          <m:sup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2</m:t>
                            </m:r>
                          </m:sup>
                        </m:sSup>
                      </m:den>
                    </m:f>
                    <m:sSup>
                      <m:e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sec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+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𝑏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𝑎</m:t>
                        </m:r>
                      </m:den>
                    </m:f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+</m:t>
                        </m:r>
                        <m:sSup>
                          <m:e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𝑎</m:t>
                            </m:r>
                          </m:e>
                          <m:sup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2</m:t>
                            </m:r>
                          </m:sup>
                        </m:sSup>
                        <m:sSup>
                          <m:e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𝑢</m:t>
                            </m:r>
                          </m:e>
                          <m:sup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2</m:t>
                            </m:r>
                          </m:sup>
                        </m:sSup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  <m:sSup>
                          <m:e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𝑎</m:t>
                            </m:r>
                          </m:e>
                          <m:sup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2</m:t>
                            </m:r>
                          </m:sup>
                        </m:sSup>
                      </m:den>
                    </m:f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14:m>
                  <m:oMath xmlns:m="http://schemas.openxmlformats.org/officeDocument/2006/math"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𝑢</m:t>
                        </m:r>
                      </m:e>
                      <m:sup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″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  <m:sSup>
                          <m:e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𝑎</m:t>
                            </m:r>
                          </m:e>
                          <m:sup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2</m:t>
                            </m:r>
                          </m:sup>
                        </m:s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𝑢</m:t>
                        </m:r>
                        <m:sSup>
                          <m:e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𝑢</m:t>
                            </m:r>
                          </m:e>
                          <m:sup>
                            <m:r>
                              <m:rPr>
                                <m:sty m:val="p"/>
                              </m:rPr>
                              <a:rPr lang="en-IN" sz="2400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′</m:t>
                            </m:r>
                          </m:sup>
                        </m:sSup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  <m:sSup>
                          <m:e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𝑎</m:t>
                            </m:r>
                          </m:e>
                          <m:sup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2</m:t>
                            </m:r>
                          </m:sup>
                        </m:sSup>
                      </m:den>
                    </m:f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𝑢</m:t>
                    </m:r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𝑢</m:t>
                        </m:r>
                      </m:e>
                      <m:sup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′</m:t>
                        </m:r>
                      </m:sup>
                    </m:sSup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so </a:t>
                </a:r>
                <a14:m>
                  <m:oMath xmlns:m="http://schemas.openxmlformats.org/officeDocument/2006/math"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𝑢</m:t>
                        </m:r>
                      </m:e>
                      <m:sup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″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𝑢</m:t>
                    </m:r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𝑢</m:t>
                        </m:r>
                      </m:e>
                      <m:sup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′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0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and the expression is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0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Choice>
        <mc:Fallback>
          <p:sp>
            <p:nvSpPr>
              <p:cNvPr id="5" name="Rectangle 4"/>
              <p:cNvSpPr/>
              <p:nvPr/>
            </p:nvSpPr>
            <p:spPr>
              <a:xfrm>
                <a:off x="731520" y="1353312"/>
                <a:ext cx="10725912" cy="4434840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The given relation says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$u=\frac1a\tan\frac{x+b}{2a}$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 Then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$u'=\frac{1}{2a^2}\sec^2\frac{x+b}{2a}=\frac{1+a^2u^2}{2a^2}$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$u''=\frac{2a^2uu'}{2a^2}=uu'$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so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$u''-uu'=0$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and the expression is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$0$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6" name="Rounded Rectangle 5"/>
              <p:cNvSpPr/>
              <p:nvPr/>
            </p:nvSpPr>
            <p:spPr>
              <a:xfrm>
                <a:off x="731520" y="5897880"/>
                <a:ext cx="10725912" cy="777240"/>
              </a:xfrm>
              <a:prstGeom prst="roundRect">
                <a:avLst>
                  <a:gd name="adj" fmla="val 8000"/>
                </a:avLst>
              </a:prstGeom>
              <a:solidFill>
                <a:srgbClr val="DCFCE7"/>
              </a:solidFill>
              <a:ln w="25400">
                <a:solidFill>
                  <a:srgbClr val="15803D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5803D"/>
              </a:fontRef>
            </p:style>
            <p:txBody>
              <a:bodyPr rtlCol="0" anchor="ctr" wrap="square" lIns="228600" rIns="228600" tIns="18288" bIns="73152"/>
              <a:lstStyle>
                <a:lvl1pPr>
                  <a:defRPr sz="2800">
                    <a:solidFill>
                      <a:srgbClr val="15803D"/>
                    </a:solidFill>
                  </a:defRPr>
                </a:lvl1pPr>
              </a:lstStyle>
              <a:p>
                <a:pPr algn="ctr">
                  <a:defRPr sz="2800">
                    <a:solidFill>
                      <a:srgbClr val="15803D"/>
                    </a:solidFill>
                  </a:defRPr>
                </a:pPr>
                <a:r>
                  <a:rPr sz="2800" b="1">
                    <a:solidFill>
                      <a:srgbClr val="15803D"/>
                    </a:solidFill>
                    <a:latin typeface="Arial"/>
                  </a:rPr>
                  <a:t>Same answer: Proved: </a:t>
                </a:r>
                <a14:m>
                  <m:oMath xmlns:m="http://schemas.openxmlformats.org/officeDocument/2006/math">
                    <m:r>
                      <a:rPr lang="en-IN" sz="2800" i="1">
                        <a:solidFill>
                          <a:srgbClr val="15803D"/>
                        </a:solidFill>
                        <a:latin typeface="Cambria Math" panose="02040503050406030204" pitchFamily="18" charset="0"/>
                      </a:rPr>
                      <m:t>𝑦</m:t>
                    </m:r>
                    <m:sSup>
                      <m:e>
                        <m:r>
                          <a:rPr lang="en-IN" sz="2800" i="1">
                            <a:solidFill>
                              <a:srgbClr val="15803D"/>
                            </a:solidFill>
                            <a:latin typeface="Cambria Math" panose="02040503050406030204" pitchFamily="18" charset="0"/>
                          </a:rPr>
                          <m:t>𝑦</m:t>
                        </m:r>
                      </m:e>
                      <m:sup>
                        <m:r>
                          <m:rPr>
                            <m:sty m:val="p"/>
                          </m:rPr>
                          <a:rPr lang="en-IN" sz="2800">
                            <a:solidFill>
                              <a:srgbClr val="15803D"/>
                            </a:solidFill>
                            <a:latin typeface="Cambria Math" panose="02040503050406030204" pitchFamily="18" charset="0"/>
                          </a:rPr>
                          <m:t>″</m:t>
                        </m:r>
                      </m:sup>
                    </m:sSup>
                    <m:r>
                      <m:rPr>
                        <m:sty m:val="p"/>
                      </m:rPr>
                      <a:rPr lang="en-IN" sz="2800">
                        <a:solidFill>
                          <a:srgbClr val="15803D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800" i="1">
                        <a:solidFill>
                          <a:srgbClr val="15803D"/>
                        </a:solidFill>
                        <a:latin typeface="Cambria Math" panose="02040503050406030204" pitchFamily="18" charset="0"/>
                      </a:rPr>
                      <m:t>𝑦</m:t>
                    </m:r>
                    <m:sSup>
                      <m:e>
                        <m:r>
                          <a:rPr lang="en-IN" sz="2800" i="1">
                            <a:solidFill>
                              <a:srgbClr val="15803D"/>
                            </a:solidFill>
                            <a:latin typeface="Cambria Math" panose="02040503050406030204" pitchFamily="18" charset="0"/>
                          </a:rPr>
                          <m:t>𝑦</m:t>
                        </m:r>
                      </m:e>
                      <m:sup>
                        <m:r>
                          <m:rPr>
                            <m:sty m:val="p"/>
                          </m:rPr>
                          <a:rPr lang="en-IN" sz="2800">
                            <a:solidFill>
                              <a:srgbClr val="15803D"/>
                            </a:solidFill>
                            <a:latin typeface="Cambria Math" panose="02040503050406030204" pitchFamily="18" charset="0"/>
                          </a:rPr>
                          <m:t>′</m:t>
                        </m:r>
                      </m:sup>
                    </m:sSup>
                    <m:r>
                      <m:rPr>
                        <m:sty m:val="p"/>
                      </m:rPr>
                      <a:rPr lang="en-IN" sz="2800">
                        <a:solidFill>
                          <a:srgbClr val="15803D"/>
                        </a:solidFill>
                        <a:latin typeface="Cambria Math" panose="02040503050406030204" pitchFamily="18" charset="0"/>
                      </a:rPr>
                      <m:t>ln</m:t>
                    </m:r>
                    <m:r>
                      <a:rPr lang="en-IN" sz="2800" i="1">
                        <a:solidFill>
                          <a:srgbClr val="15803D"/>
                        </a:solidFill>
                        <a:latin typeface="Cambria Math" panose="02040503050406030204" pitchFamily="18" charset="0"/>
                      </a:rPr>
                      <m:t>𝑦</m:t>
                    </m:r>
                    <m:r>
                      <m:rPr>
                        <m:sty m:val="p"/>
                      </m:rPr>
                      <a:rPr lang="en-IN" sz="2800">
                        <a:solidFill>
                          <a:srgbClr val="15803D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m:rPr>
                        <m:sty m:val="p"/>
                      </m:rPr>
                      <a:rPr lang="en-IN" sz="2800">
                        <a:solidFill>
                          <a:srgbClr val="15803D"/>
                        </a:solidFill>
                        <a:latin typeface="Cambria Math" panose="02040503050406030204" pitchFamily="18" charset="0"/>
                      </a:rPr>
                      <m:t>(</m:t>
                    </m:r>
                    <m:sSup>
                      <m:e>
                        <m:r>
                          <a:rPr lang="en-IN" sz="2800" i="1">
                            <a:solidFill>
                              <a:srgbClr val="15803D"/>
                            </a:solidFill>
                            <a:latin typeface="Cambria Math" panose="02040503050406030204" pitchFamily="18" charset="0"/>
                          </a:rPr>
                          <m:t>𝑦</m:t>
                        </m:r>
                      </m:e>
                      <m:sup>
                        <m:r>
                          <m:rPr>
                            <m:sty m:val="p"/>
                          </m:rPr>
                          <a:rPr lang="en-IN" sz="2800">
                            <a:solidFill>
                              <a:srgbClr val="15803D"/>
                            </a:solidFill>
                            <a:latin typeface="Cambria Math" panose="02040503050406030204" pitchFamily="18" charset="0"/>
                          </a:rPr>
                          <m:t>′</m:t>
                        </m:r>
                      </m:sup>
                    </m:sSup>
                    <m:sSup>
                      <m:e>
                        <m:r>
                          <m:rPr>
                            <m:sty m:val="p"/>
                          </m:rPr>
                          <a:rPr lang="en-IN" sz="2800">
                            <a:solidFill>
                              <a:srgbClr val="15803D"/>
                            </a:solidFill>
                            <a:latin typeface="Cambria Math" panose="02040503050406030204" pitchFamily="18" charset="0"/>
                          </a:rPr>
                          <m:t>)</m:t>
                        </m:r>
                      </m:e>
                      <m:sup>
                        <m:r>
                          <a:rPr lang="en-IN" sz="2800" i="1">
                            <a:solidFill>
                              <a:srgbClr val="15803D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</m:oMath>
                </a14:m>
                <a:endParaRPr sz="2800">
                  <a:solidFill>
                    <a:srgbClr val="15803D"/>
                  </a:solidFill>
                </a:endParaRPr>
              </a:p>
            </p:txBody>
          </p:sp>
        </mc:Choice>
        <mc:Fallback>
          <p:sp>
            <p:nvSpPr>
              <p:cNvPr id="6" name="Rounded Rectangle 5"/>
              <p:cNvSpPr/>
              <p:nvPr/>
            </p:nvSpPr>
            <p:spPr>
              <a:xfrm>
                <a:off x="731520" y="5897880"/>
                <a:ext cx="10725912" cy="777240"/>
              </a:xfrm>
              <a:prstGeom prst="roundRect">
                <a:avLst>
                  <a:gd name="adj" fmla="val 8000"/>
                </a:avLst>
              </a:prstGeom>
              <a:solidFill>
                <a:srgbClr val="DCFCE7"/>
              </a:solidFill>
              <a:ln w="25400">
                <a:solidFill>
                  <a:srgbClr val="15803D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5803D"/>
              </a:fontRef>
            </p:style>
            <p:txBody>
              <a:bodyPr rtlCol="0" anchor="ctr" wrap="square" lIns="228600" rIns="228600" tIns="18288" bIns="73152"/>
              <a:lstStyle>
                <a:lvl1pPr>
                  <a:defRPr sz="2800">
                    <a:solidFill>
                      <a:srgbClr val="15803D"/>
                    </a:solidFill>
                  </a:defRPr>
                </a:lvl1pPr>
              </a:lstStyle>
              <a:p>
                <a:pPr algn="ctr">
                  <a:defRPr sz="2800">
                    <a:solidFill>
                      <a:srgbClr val="15803D"/>
                    </a:solidFill>
                  </a:defRPr>
                </a:pPr>
                <a:r>
                  <a:rPr sz="2800" b="1">
                    <a:solidFill>
                      <a:srgbClr val="15803D"/>
                    </a:solidFill>
                    <a:latin typeface="Arial"/>
                  </a:rPr>
                  <a:t>Same answer: Proved: </a:t>
                </a:r>
                <a:r>
                  <a:rPr lang="en-IN" sz="2800">
                    <a:solidFill>
                      <a:srgbClr val="15803D"/>
                    </a:solidFill>
                    <a:latin typeface="Cambria Math" panose="02040503050406030204" pitchFamily="18" charset="0"/>
                  </a:rPr>
                  <a:t>$yy''-yy'\ln y=(y')^2$</a:t>
                </a:r>
                <a:endParaRPr sz="2800">
                  <a:solidFill>
                    <a:srgbClr val="15803D"/>
                  </a:solidFill>
                </a:endParaRPr>
              </a:p>
            </p:txBody>
          </p:sp>
        </mc:Fallback>
      </mc:AlternateContent>
    </p:spTree>
  </p:cSld>
  <p:clrMapOvr>
    <a:masterClrMapping/>
  </p:clrMapOvr>
</p:sld>
</file>

<file path=ppt/slides/slide12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FFFFFF"/>
          </a:fontRef>
        </p:style>
        <p:txBody>
          <a:bodyPr rtlCol="0" anchor="ctr" lIns="731520"/>
          <a:lstStyle>
            <a:lvl1pPr>
              <a:defRPr sz="3200">
                <a:solidFill>
                  <a:srgbClr val="FFFFFF"/>
                </a:solidFill>
              </a:defRPr>
            </a:lvl1pPr>
          </a:lstStyle>
          <a:p>
            <a:pPr algn="l">
              <a:defRPr sz="3200">
                <a:solidFill>
                  <a:srgbClr val="FFFFFF"/>
                </a:solidFill>
              </a:defRPr>
            </a:pPr>
            <a:r>
              <a:rPr sz="3200" b="1">
                <a:solidFill>
                  <a:srgbClr val="FFFFFF"/>
                </a:solidFill>
                <a:latin typeface="Arial"/>
              </a:rPr>
              <a:t>Question 19</a:t>
            </a:r>
            <a:endParaRPr sz="3200">
              <a:solidFill>
                <a:srgbClr val="FFFFFF"/>
              </a:solidFill>
            </a:endParaRPr>
          </a:p>
        </p:txBody>
      </p:sp>
      <p:sp>
        <p:nvSpPr>
          <p:cNvPr id="3" name="Rounded Rectangle 2"/>
          <p:cNvSpPr/>
          <p:nvPr/>
        </p:nvSpPr>
        <p:spPr>
          <a:xfrm>
            <a:off x="7894015" y="246887"/>
            <a:ext cx="3840480" cy="603504"/>
          </a:xfrm>
          <a:prstGeom prst="roundRect">
            <a:avLst>
              <a:gd name="adj" fmla="val 50000"/>
            </a:avLst>
          </a:prstGeom>
          <a:solidFill>
            <a:srgbClr val="FFD966"/>
          </a:solidFill>
          <a:ln w="1905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111827"/>
          </a:fontRef>
        </p:style>
        <p:txBody>
          <a:bodyPr rtlCol="0" anchor="ctr" wrap="square" lIns="228600" rIns="228600" tIns="18288" bIns="18288"/>
          <a:lstStyle>
            <a:lvl1pPr>
              <a:defRPr sz="2400">
                <a:solidFill>
                  <a:srgbClr val="111827"/>
                </a:solidFill>
              </a:defRPr>
            </a:lvl1pPr>
          </a:lstStyle>
          <a:p>
            <a:pPr algn="ctr">
              <a:defRPr sz="2400">
                <a:solidFill>
                  <a:srgbClr val="111827"/>
                </a:solidFill>
              </a:defRPr>
            </a:pPr>
            <a:r>
              <a:rPr sz="2400" b="1">
                <a:solidFill>
                  <a:srgbClr val="111827"/>
                </a:solidFill>
                <a:latin typeface="Arial"/>
              </a:rPr>
              <a:t>Level 2  ·  4 Marks</a:t>
            </a:r>
            <a:endParaRPr sz="2400">
              <a:solidFill>
                <a:srgbClr val="111827"/>
              </a:solidFill>
            </a:endParaRPr>
          </a:p>
        </p:txBody>
      </p:sp>
      <p:sp>
        <p:nvSpPr>
          <p:cNvPr id="4" name="Rounded Rectangle 3"/>
          <p:cNvSpPr/>
          <p:nvPr/>
        </p:nvSpPr>
        <p:spPr>
          <a:xfrm>
            <a:off x="3520440" y="265176"/>
            <a:ext cx="4206240" cy="566928"/>
          </a:xfrm>
          <a:prstGeom prst="roundRect">
            <a:avLst>
              <a:gd name="adj" fmla="val 50000"/>
            </a:avLst>
          </a:prstGeom>
          <a:solidFill>
            <a:srgbClr val="E0ECFF"/>
          </a:solidFill>
          <a:ln w="25400">
            <a:solidFill>
              <a:srgbClr val="1D4ED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0B1F3A"/>
          </a:fontRef>
        </p:style>
        <p:txBody>
          <a:bodyPr rtlCol="0" anchor="ctr" wrap="square" lIns="228600" rIns="228600" tIns="18288" bIns="18288"/>
          <a:lstStyle>
            <a:lvl1pPr>
              <a:defRPr sz="2200">
                <a:solidFill>
                  <a:srgbClr val="0B1F3A"/>
                </a:solidFill>
              </a:defRPr>
            </a:lvl1pPr>
          </a:lstStyle>
          <a:p>
            <a:pPr algn="ctr">
              <a:defRPr sz="2200">
                <a:solidFill>
                  <a:srgbClr val="0B1F3A"/>
                </a:solidFill>
              </a:defRPr>
            </a:pPr>
            <a:r>
              <a:rPr sz="2200" b="1">
                <a:solidFill>
                  <a:srgbClr val="0B1F3A"/>
                </a:solidFill>
                <a:latin typeface="Arial"/>
              </a:rPr>
              <a:t>Useful Result / Pattern</a:t>
            </a:r>
            <a:endParaRPr sz="2200">
              <a:solidFill>
                <a:srgbClr val="0B1F3A"/>
              </a:solidFill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5" name="Rectangle 4"/>
              <p:cNvSpPr/>
              <p:nvPr/>
            </p:nvSpPr>
            <p:spPr>
              <a:xfrm>
                <a:off x="731520" y="1353312"/>
                <a:ext cx="10725912" cy="5321808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For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𝑦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𝑒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𝑢</m:t>
                        </m:r>
                      </m:sup>
                    </m:sSup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: </a:t>
                </a:r>
                <a14:m>
                  <m:oMath xmlns:m="http://schemas.openxmlformats.org/officeDocument/2006/math"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𝑦</m:t>
                        </m:r>
                      </m:e>
                      <m:sup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′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𝑒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𝑢</m:t>
                        </m:r>
                      </m:sup>
                    </m:sSup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𝑢</m:t>
                        </m:r>
                      </m:e>
                      <m:sup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′</m:t>
                        </m:r>
                      </m:sup>
                    </m:sSup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</a:t>
                </a:r>
                <a14:m>
                  <m:oMath xmlns:m="http://schemas.openxmlformats.org/officeDocument/2006/math"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𝑦</m:t>
                        </m:r>
                      </m:e>
                      <m:sup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″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𝑒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𝑢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𝑢</m:t>
                        </m:r>
                      </m:e>
                      <m:sup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″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𝑢</m:t>
                        </m:r>
                      </m:e>
                      <m:sup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′</m:t>
                        </m:r>
                      </m:sup>
                    </m:sSup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​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; so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𝑦</m:t>
                    </m:r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𝑦</m:t>
                        </m:r>
                      </m:e>
                      <m:sup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″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𝑦</m:t>
                        </m:r>
                      </m:e>
                      <m:sup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′</m:t>
                        </m:r>
                      </m:sup>
                    </m:sSup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​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𝑦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𝑢</m:t>
                        </m:r>
                      </m:e>
                      <m:sup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″</m:t>
                        </m:r>
                      </m:sup>
                    </m:sSup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— logarithmic substitution turns such expressions into </a:t>
                </a:r>
                <a14:m>
                  <m:oMath xmlns:m="http://schemas.openxmlformats.org/officeDocument/2006/math"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𝑢</m:t>
                        </m:r>
                      </m:e>
                      <m:sup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″</m:t>
                        </m:r>
                      </m:sup>
                    </m:sSup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14:m>
                  <m:oMath xmlns:m="http://schemas.openxmlformats.org/officeDocument/2006/math"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𝑑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𝑑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</m:den>
                    </m:f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tan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θ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sSup>
                      <m:e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sec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θ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 </m:t>
                    </m:r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θ</m:t>
                        </m:r>
                      </m:e>
                      <m:sup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′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sSup>
                      <m:e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tan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θ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θ</m:t>
                        </m:r>
                      </m:e>
                      <m:sup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′</m:t>
                        </m:r>
                      </m:sup>
                    </m:sSup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: a tangent satisfies the Riccati equation </a:t>
                </a:r>
                <a14:m>
                  <m:oMath xmlns:m="http://schemas.openxmlformats.org/officeDocument/2006/math"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𝑇</m:t>
                        </m:r>
                      </m:e>
                      <m:sup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′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θ</m:t>
                        </m:r>
                      </m:e>
                      <m:sup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′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𝑇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To prove a differential relation, eliminate the constants/parameters by differentiating until none remain (here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𝑏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disappears).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Choice>
        <mc:Fallback>
          <p:sp>
            <p:nvSpPr>
              <p:cNvPr id="5" name="Rectangle 4"/>
              <p:cNvSpPr/>
              <p:nvPr/>
            </p:nvSpPr>
            <p:spPr>
              <a:xfrm>
                <a:off x="731520" y="1353312"/>
                <a:ext cx="10725912" cy="5321808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For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$y=e^u$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: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$y'=e^uu'$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$y''=e^u(u''+u'^2)$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; so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$yy''-y'^2=y^2u''$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— logarithmic substitution turns such expressions into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$u''$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$\frac{d}{dx}\tan\theta=\sec^2\theta\,\theta'=(1+\tan^2\theta)\theta'$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: a tangent satisfies the Riccati equation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$T'=\theta'(1+T^2)$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To prove a differential relation, eliminate the constants/parameters by differentiating until none remain (here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$b$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disappears).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Fallback>
      </mc:AlternateContent>
    </p:spTree>
  </p:cSld>
  <p:clrMapOvr>
    <a:masterClrMapping/>
  </p:clrMapOvr>
</p:sld>
</file>

<file path=ppt/slides/slide12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FFFFFF"/>
          </a:fontRef>
        </p:style>
        <p:txBody>
          <a:bodyPr rtlCol="0" anchor="ctr" lIns="731520"/>
          <a:lstStyle>
            <a:lvl1pPr>
              <a:defRPr sz="3200">
                <a:solidFill>
                  <a:srgbClr val="FFFFFF"/>
                </a:solidFill>
              </a:defRPr>
            </a:lvl1pPr>
          </a:lstStyle>
          <a:p>
            <a:pPr algn="l">
              <a:defRPr sz="3200">
                <a:solidFill>
                  <a:srgbClr val="FFFFFF"/>
                </a:solidFill>
              </a:defRPr>
            </a:pPr>
            <a:r>
              <a:rPr sz="3200" b="1">
                <a:solidFill>
                  <a:srgbClr val="FFFFFF"/>
                </a:solidFill>
                <a:latin typeface="Arial"/>
              </a:rPr>
              <a:t>Question 20</a:t>
            </a:r>
            <a:endParaRPr sz="3200">
              <a:solidFill>
                <a:srgbClr val="FFFFFF"/>
              </a:solidFill>
            </a:endParaRPr>
          </a:p>
        </p:txBody>
      </p:sp>
      <p:sp>
        <p:nvSpPr>
          <p:cNvPr id="3" name="Rounded Rectangle 2"/>
          <p:cNvSpPr/>
          <p:nvPr/>
        </p:nvSpPr>
        <p:spPr>
          <a:xfrm>
            <a:off x="7894015" y="246887"/>
            <a:ext cx="3840480" cy="603504"/>
          </a:xfrm>
          <a:prstGeom prst="roundRect">
            <a:avLst>
              <a:gd name="adj" fmla="val 50000"/>
            </a:avLst>
          </a:prstGeom>
          <a:solidFill>
            <a:srgbClr val="F6B26B"/>
          </a:solidFill>
          <a:ln w="1905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111827"/>
          </a:fontRef>
        </p:style>
        <p:txBody>
          <a:bodyPr rtlCol="0" anchor="ctr" wrap="square" lIns="228600" rIns="228600" tIns="18288" bIns="18288"/>
          <a:lstStyle>
            <a:lvl1pPr>
              <a:defRPr sz="2400">
                <a:solidFill>
                  <a:srgbClr val="111827"/>
                </a:solidFill>
              </a:defRPr>
            </a:lvl1pPr>
          </a:lstStyle>
          <a:p>
            <a:pPr algn="ctr">
              <a:defRPr sz="2400">
                <a:solidFill>
                  <a:srgbClr val="111827"/>
                </a:solidFill>
              </a:defRPr>
            </a:pPr>
            <a:r>
              <a:rPr sz="2400" b="1">
                <a:solidFill>
                  <a:srgbClr val="111827"/>
                </a:solidFill>
                <a:latin typeface="Arial"/>
              </a:rPr>
              <a:t>Level 3  ·  4 Marks</a:t>
            </a:r>
            <a:endParaRPr sz="2400">
              <a:solidFill>
                <a:srgbClr val="111827"/>
              </a:solidFill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4" name="Rounded Rectangle 3"/>
              <p:cNvSpPr/>
              <p:nvPr/>
            </p:nvSpPr>
            <p:spPr>
              <a:xfrm>
                <a:off x="731520" y="1280160"/>
                <a:ext cx="10725912" cy="1965452"/>
              </a:xfrm>
              <a:prstGeom prst="roundRect">
                <a:avLst>
                  <a:gd name="adj" fmla="val 8000"/>
                </a:avLst>
              </a:prstGeom>
              <a:solidFill>
                <a:srgbClr val="E0ECFF"/>
              </a:solidFill>
              <a:ln w="25400">
                <a:solidFill>
                  <a:srgbClr val="1D4ED8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>
                  <a:spcAft>
                    <a:spcPts val="500"/>
                  </a:spcAft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If </a:t>
                </a:r>
                <a14:m>
                  <m:oMath xmlns:m="http://schemas.openxmlformats.org/officeDocument/2006/math"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𝑦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3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𝑦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then prove that </a:t>
                </a:r>
                <a14:m>
                  <m:oMath xmlns:m="http://schemas.openxmlformats.org/officeDocument/2006/math"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sSup>
                          <m:e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𝑑</m:t>
                            </m:r>
                          </m:e>
                          <m:sup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2</m:t>
                            </m:r>
                          </m:sup>
                        </m:s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𝑦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𝑑</m:t>
                        </m:r>
                        <m:sSup>
                          <m:e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𝑥</m:t>
                            </m:r>
                          </m:e>
                          <m:sup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2</m:t>
                            </m:r>
                          </m:sup>
                        </m:sSup>
                      </m:den>
                    </m:f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24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𝑦</m:t>
                        </m:r>
                      </m:num>
                      <m:den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(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3</m:t>
                        </m:r>
                        <m:sSup>
                          <m:e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𝑦</m:t>
                            </m:r>
                          </m:e>
                          <m:sup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2</m:t>
                            </m:r>
                          </m:sup>
                        </m:sSup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−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  <m:sSup>
                          <m:e>
                            <m:r>
                              <m:rPr>
                                <m:sty m:val="p"/>
                              </m:rPr>
                              <a:rPr lang="en-IN" sz="2400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)</m:t>
                            </m:r>
                          </m:e>
                          <m:sup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3</m:t>
                            </m:r>
                          </m:sup>
                        </m:sSup>
                      </m:den>
                    </m:f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 Hence show that </a:t>
                </a:r>
                <a14:m>
                  <m:oMath xmlns:m="http://schemas.openxmlformats.org/officeDocument/2006/math">
                    <m:d>
                      <m:dPr>
                        <m:begChr m:val="("/>
                        <m:sepChr m:val=""/>
                        <m:endChr m:val=")"/>
                        <m:grow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sSup>
                          <m:e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𝑥</m:t>
                            </m:r>
                          </m:e>
                          <m:sup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2</m:t>
                            </m:r>
                          </m:sup>
                        </m:sSup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−</m:t>
                        </m:r>
                        <m:f>
                          <m:fPr>
                            <m:type m:val="bar"/>
                            <m:ctrlP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fPr>
                          <m:num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1</m:t>
                            </m:r>
                          </m:num>
                          <m:den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27</m:t>
                            </m:r>
                          </m:den>
                        </m:f>
                      </m:e>
                    </m:d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sSup>
                          <m:e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𝑑</m:t>
                            </m:r>
                          </m:e>
                          <m:sup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2</m:t>
                            </m:r>
                          </m:sup>
                        </m:s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𝑦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𝑑</m:t>
                        </m:r>
                        <m:sSup>
                          <m:e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𝑥</m:t>
                            </m:r>
                          </m:e>
                          <m:sup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2</m:t>
                            </m:r>
                          </m:sup>
                        </m:sSup>
                      </m:den>
                    </m:f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𝑑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𝑦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𝑑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</m:den>
                    </m:f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𝑦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9</m:t>
                        </m:r>
                      </m:den>
                    </m:f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Choice>
        <mc:Fallback>
          <p:sp>
            <p:nvSpPr>
              <p:cNvPr id="4" name="Rounded Rectangle 3"/>
              <p:cNvSpPr/>
              <p:nvPr/>
            </p:nvSpPr>
            <p:spPr>
              <a:xfrm>
                <a:off x="731520" y="1280160"/>
                <a:ext cx="10725912" cy="1965452"/>
              </a:xfrm>
              <a:prstGeom prst="roundRect">
                <a:avLst>
                  <a:gd name="adj" fmla="val 8000"/>
                </a:avLst>
              </a:prstGeom>
              <a:solidFill>
                <a:srgbClr val="E0ECFF"/>
              </a:solidFill>
              <a:ln w="25400">
                <a:solidFill>
                  <a:srgbClr val="1D4ED8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>
                  <a:spcAft>
                    <a:spcPts val="500"/>
                  </a:spcAft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If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$y^3-y=2x$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then prove that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$\frac{d^2y}{dx^2}=-\frac{24y}{(3y^2-1)^3}$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 Hence show that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$\left(x^2-\frac1{27}\right)\frac{d^2y}{dx^2}+x\frac{dy}{dx}=\frac y9$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Fallback>
      </mc:AlternateContent>
      <p:sp>
        <p:nvSpPr>
          <p:cNvPr id="5" name="Rectangle 4"/>
          <p:cNvSpPr/>
          <p:nvPr/>
        </p:nvSpPr>
        <p:spPr>
          <a:xfrm>
            <a:off x="731520" y="3474212"/>
            <a:ext cx="10725912" cy="1975103"/>
          </a:xfrm>
          <a:prstGeom prst="rect">
            <a:avLst/>
          </a:prstGeom>
          <a:solidFill>
            <a:srgbClr val="FFFFFF"/>
          </a:solidFill>
          <a:ln w="19050">
            <a:solidFill>
              <a:srgbClr val="6B728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111827"/>
          </a:fontRef>
        </p:style>
        <p:txBody>
          <a:bodyPr rtlCol="0" anchor="t" wrap="square" lIns="228600" rIns="228600" tIns="137160" bIns="73152"/>
          <a:lstStyle>
            <a:lvl1pPr>
              <a:defRPr sz="2400">
                <a:solidFill>
                  <a:srgbClr val="111827"/>
                </a:solidFill>
              </a:defRPr>
            </a:lvl1pPr>
          </a:lstStyle>
          <a:p>
            <a:pPr algn="l">
              <a:spcAft>
                <a:spcPts val="200"/>
              </a:spcAft>
              <a:defRPr sz="2400">
                <a:solidFill>
                  <a:srgbClr val="111827"/>
                </a:solidFill>
              </a:defRPr>
            </a:pPr>
            <a:r>
              <a:rPr sz="2400" b="0">
                <a:solidFill>
                  <a:srgbClr val="111827"/>
                </a:solidFill>
                <a:latin typeface="Arial"/>
              </a:rPr>
              <a:t>Subjective Type(4 Marks)</a:t>
            </a:r>
            <a:endParaRPr sz="2400">
              <a:solidFill>
                <a:srgbClr val="111827"/>
              </a:solidFill>
            </a:endParaRPr>
          </a:p>
          <a:p>
            <a:pPr algn="l">
              <a:spcAft>
                <a:spcPts val="200"/>
              </a:spcAft>
              <a:defRPr sz="2400">
                <a:solidFill>
                  <a:srgbClr val="111827"/>
                </a:solidFill>
              </a:defRPr>
            </a:pPr>
            <a:r>
              <a:rPr sz="2400" b="0">
                <a:solidFill>
                  <a:srgbClr val="111827"/>
                </a:solidFill>
                <a:latin typeface="Arial"/>
              </a:rPr>
              <a:t>Concept(s) : Second order derivatives of implicit functions, Algebraic identities involving cubics</a:t>
            </a:r>
            <a:endParaRPr sz="2400">
              <a:solidFill>
                <a:srgbClr val="111827"/>
              </a:solidFill>
            </a:endParaRPr>
          </a:p>
          <a:p>
            <a:pPr algn="l">
              <a:spcAft>
                <a:spcPts val="200"/>
              </a:spcAft>
              <a:defRPr sz="2400">
                <a:solidFill>
                  <a:srgbClr val="111827"/>
                </a:solidFill>
              </a:defRPr>
            </a:pPr>
            <a:r>
              <a:rPr sz="2400" b="0">
                <a:solidFill>
                  <a:srgbClr val="111827"/>
                </a:solidFill>
                <a:latin typeface="Arial"/>
              </a:rPr>
              <a:t>Difficulty Level: Level 3(Average JEE Advanced Level)</a:t>
            </a:r>
            <a:endParaRPr sz="2400">
              <a:solidFill>
                <a:srgbClr val="111827"/>
              </a:solidFill>
            </a:endParaRPr>
          </a:p>
        </p:txBody>
      </p:sp>
    </p:spTree>
  </p:cSld>
  <p:clrMapOvr>
    <a:masterClrMapping/>
  </p:clrMapOvr>
</p:sld>
</file>

<file path=ppt/slides/slide12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FFFFFF"/>
          </a:fontRef>
        </p:style>
        <p:txBody>
          <a:bodyPr rtlCol="0" anchor="ctr" lIns="731520"/>
          <a:lstStyle>
            <a:lvl1pPr>
              <a:defRPr sz="3200">
                <a:solidFill>
                  <a:srgbClr val="FFFFFF"/>
                </a:solidFill>
              </a:defRPr>
            </a:lvl1pPr>
          </a:lstStyle>
          <a:p>
            <a:pPr algn="l">
              <a:defRPr sz="3200">
                <a:solidFill>
                  <a:srgbClr val="FFFFFF"/>
                </a:solidFill>
              </a:defRPr>
            </a:pPr>
            <a:r>
              <a:rPr sz="3200" b="1">
                <a:solidFill>
                  <a:srgbClr val="FFFFFF"/>
                </a:solidFill>
                <a:latin typeface="Arial"/>
              </a:rPr>
              <a:t>Question 20</a:t>
            </a:r>
            <a:endParaRPr sz="3200">
              <a:solidFill>
                <a:srgbClr val="FFFFFF"/>
              </a:solidFill>
            </a:endParaRPr>
          </a:p>
        </p:txBody>
      </p:sp>
      <p:sp>
        <p:nvSpPr>
          <p:cNvPr id="3" name="Rounded Rectangle 2"/>
          <p:cNvSpPr/>
          <p:nvPr/>
        </p:nvSpPr>
        <p:spPr>
          <a:xfrm>
            <a:off x="7894015" y="246887"/>
            <a:ext cx="3840480" cy="603504"/>
          </a:xfrm>
          <a:prstGeom prst="roundRect">
            <a:avLst>
              <a:gd name="adj" fmla="val 50000"/>
            </a:avLst>
          </a:prstGeom>
          <a:solidFill>
            <a:srgbClr val="F6B26B"/>
          </a:solidFill>
          <a:ln w="1905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111827"/>
          </a:fontRef>
        </p:style>
        <p:txBody>
          <a:bodyPr rtlCol="0" anchor="ctr" wrap="square" lIns="228600" rIns="228600" tIns="18288" bIns="18288"/>
          <a:lstStyle>
            <a:lvl1pPr>
              <a:defRPr sz="2400">
                <a:solidFill>
                  <a:srgbClr val="111827"/>
                </a:solidFill>
              </a:defRPr>
            </a:lvl1pPr>
          </a:lstStyle>
          <a:p>
            <a:pPr algn="ctr">
              <a:defRPr sz="2400">
                <a:solidFill>
                  <a:srgbClr val="111827"/>
                </a:solidFill>
              </a:defRPr>
            </a:pPr>
            <a:r>
              <a:rPr sz="2400" b="1">
                <a:solidFill>
                  <a:srgbClr val="111827"/>
                </a:solidFill>
                <a:latin typeface="Arial"/>
              </a:rPr>
              <a:t>Level 3  ·  4 Marks</a:t>
            </a:r>
            <a:endParaRPr sz="2400">
              <a:solidFill>
                <a:srgbClr val="111827"/>
              </a:solidFill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4" name="Rounded Rectangle 3"/>
              <p:cNvSpPr/>
              <p:nvPr/>
            </p:nvSpPr>
            <p:spPr>
              <a:xfrm>
                <a:off x="731520" y="1280160"/>
                <a:ext cx="10725912" cy="1328928"/>
              </a:xfrm>
              <a:prstGeom prst="roundRect">
                <a:avLst>
                  <a:gd name="adj" fmla="val 8000"/>
                </a:avLst>
              </a:prstGeom>
              <a:solidFill>
                <a:srgbClr val="FDE68A"/>
              </a:solidFill>
              <a:ln w="31750">
                <a:solidFill>
                  <a:srgbClr val="D97706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78350F"/>
              </a:fontRef>
            </p:style>
            <p:txBody>
              <a:bodyPr rtlCol="0" anchor="ctr" wrap="square" lIns="228600" rIns="228600" tIns="54864" bIns="73152"/>
              <a:lstStyle>
                <a:lvl1pPr>
                  <a:defRPr sz="2400">
                    <a:solidFill>
                      <a:srgbClr val="78350F"/>
                    </a:solidFill>
                  </a:defRPr>
                </a:lvl1pPr>
              </a:lstStyle>
              <a:p>
                <a:pPr algn="l">
                  <a:defRPr sz="2400">
                    <a:solidFill>
                      <a:srgbClr val="78350F"/>
                    </a:solidFill>
                  </a:defRPr>
                </a:pPr>
                <a:r>
                  <a:rPr sz="2400" b="1">
                    <a:solidFill>
                      <a:srgbClr val="78350F"/>
                    </a:solidFill>
                    <a:latin typeface="Arial"/>
                  </a:rPr>
                  <a:t>Key idea:  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Put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α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3</m:t>
                    </m:r>
                    <m:sSup>
                      <m:e>
                        <m: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𝑦</m:t>
                        </m:r>
                      </m:e>
                      <m:sup>
                        <m: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1</m:t>
                    </m:r>
                  </m:oMath>
                </a14:m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: then </a:t>
                </a:r>
                <a14:m>
                  <m:oMath xmlns:m="http://schemas.openxmlformats.org/officeDocument/2006/math">
                    <m:sSup>
                      <m:e>
                        <m: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𝑦</m:t>
                        </m:r>
                      </m:e>
                      <m:sup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′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α</m:t>
                        </m:r>
                      </m:den>
                    </m:f>
                  </m:oMath>
                </a14:m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, </a:t>
                </a:r>
                <a14:m>
                  <m:oMath xmlns:m="http://schemas.openxmlformats.org/officeDocument/2006/math">
                    <m:sSup>
                      <m:e>
                        <m: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𝑦</m:t>
                        </m:r>
                      </m:e>
                      <m:sup>
                        <m: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1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α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−</m:t>
                        </m:r>
                        <m: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3</m:t>
                        </m:r>
                      </m:den>
                    </m:f>
                  </m:oMath>
                </a14:m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, and the identity becomes a polynomial identity in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α</m:t>
                    </m:r>
                  </m:oMath>
                </a14:m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.</a:t>
                </a:r>
                <a:endParaRPr sz="2400">
                  <a:solidFill>
                    <a:srgbClr val="78350F"/>
                  </a:solidFill>
                </a:endParaRPr>
              </a:p>
            </p:txBody>
          </p:sp>
        </mc:Choice>
        <mc:Fallback>
          <p:sp>
            <p:nvSpPr>
              <p:cNvPr id="4" name="Rounded Rectangle 3"/>
              <p:cNvSpPr/>
              <p:nvPr/>
            </p:nvSpPr>
            <p:spPr>
              <a:xfrm>
                <a:off x="731520" y="1280160"/>
                <a:ext cx="10725912" cy="1328928"/>
              </a:xfrm>
              <a:prstGeom prst="roundRect">
                <a:avLst>
                  <a:gd name="adj" fmla="val 8000"/>
                </a:avLst>
              </a:prstGeom>
              <a:solidFill>
                <a:srgbClr val="FDE68A"/>
              </a:solidFill>
              <a:ln w="31750">
                <a:solidFill>
                  <a:srgbClr val="D97706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78350F"/>
              </a:fontRef>
            </p:style>
            <p:txBody>
              <a:bodyPr rtlCol="0" anchor="ctr" wrap="square" lIns="228600" rIns="228600" tIns="54864" bIns="73152"/>
              <a:lstStyle>
                <a:lvl1pPr>
                  <a:defRPr sz="2400">
                    <a:solidFill>
                      <a:srgbClr val="78350F"/>
                    </a:solidFill>
                  </a:defRPr>
                </a:lvl1pPr>
              </a:lstStyle>
              <a:p>
                <a:pPr algn="l">
                  <a:defRPr sz="2400">
                    <a:solidFill>
                      <a:srgbClr val="78350F"/>
                    </a:solidFill>
                  </a:defRPr>
                </a:pPr>
                <a:r>
                  <a:rPr sz="2400" b="1">
                    <a:solidFill>
                      <a:srgbClr val="78350F"/>
                    </a:solidFill>
                    <a:latin typeface="Arial"/>
                  </a:rPr>
                  <a:t>Key idea:  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Put </a:t>
                </a:r>
                <a:r>
                  <a:rPr lang="en-IN" sz="2400">
                    <a:solidFill>
                      <a:srgbClr val="78350F"/>
                    </a:solidFill>
                    <a:latin typeface="Cambria Math" panose="02040503050406030204" pitchFamily="18" charset="0"/>
                  </a:rPr>
                  <a:t>$\alpha=3y^2-1$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: then </a:t>
                </a:r>
                <a:r>
                  <a:rPr lang="en-IN" sz="2400">
                    <a:solidFill>
                      <a:srgbClr val="78350F"/>
                    </a:solidFill>
                    <a:latin typeface="Cambria Math" panose="02040503050406030204" pitchFamily="18" charset="0"/>
                  </a:rPr>
                  <a:t>$y'=\frac2\alpha$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, </a:t>
                </a:r>
                <a:r>
                  <a:rPr lang="en-IN" sz="2400">
                    <a:solidFill>
                      <a:srgbClr val="78350F"/>
                    </a:solidFill>
                    <a:latin typeface="Cambria Math" panose="02040503050406030204" pitchFamily="18" charset="0"/>
                  </a:rPr>
                  <a:t>$y^2-1=\frac{\alpha-2}{3}$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, and the identity becomes a polynomial identity in </a:t>
                </a:r>
                <a:r>
                  <a:rPr lang="en-IN" sz="2400">
                    <a:solidFill>
                      <a:srgbClr val="78350F"/>
                    </a:solidFill>
                    <a:latin typeface="Cambria Math" panose="02040503050406030204" pitchFamily="18" charset="0"/>
                  </a:rPr>
                  <a:t>$\alpha$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.</a:t>
                </a:r>
                <a:endParaRPr sz="2400">
                  <a:solidFill>
                    <a:srgbClr val="78350F"/>
                  </a:solidFill>
                </a:endParaRP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5" name="Rectangle 4"/>
              <p:cNvSpPr/>
              <p:nvPr/>
            </p:nvSpPr>
            <p:spPr>
              <a:xfrm>
                <a:off x="731520" y="2746248"/>
                <a:ext cx="10725912" cy="3928872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14:m>
                  <m:oMath xmlns:m="http://schemas.openxmlformats.org/officeDocument/2006/math"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𝑦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3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𝑦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so </a:t>
                </a:r>
                <a14:m>
                  <m:oMath xmlns:m="http://schemas.openxmlformats.org/officeDocument/2006/math"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𝑦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𝑦</m:t>
                        </m:r>
                      </m:den>
                    </m:f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 Differentiate: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3</m:t>
                    </m:r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𝑦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𝑑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𝑦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𝑑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</m:den>
                    </m:f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14:m>
                  <m:oMath xmlns:m="http://schemas.openxmlformats.org/officeDocument/2006/math"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𝑑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𝑦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𝑑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</m:den>
                    </m:f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3</m:t>
                        </m:r>
                        <m:sSup>
                          <m:e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𝑦</m:t>
                            </m:r>
                          </m:e>
                          <m:sup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2</m:t>
                            </m:r>
                          </m:sup>
                        </m:sSup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−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den>
                    </m:f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α</m:t>
                        </m:r>
                      </m:den>
                    </m:f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(say), with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α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3</m:t>
                    </m:r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𝑦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14:m>
                  <m:oMath xmlns:m="http://schemas.openxmlformats.org/officeDocument/2006/math"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sSup>
                          <m:e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𝑑</m:t>
                            </m:r>
                          </m:e>
                          <m:sup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2</m:t>
                            </m:r>
                          </m:sup>
                        </m:s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𝑦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𝑑</m:t>
                        </m:r>
                        <m:sSup>
                          <m:e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𝑥</m:t>
                            </m:r>
                          </m:e>
                          <m:sup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2</m:t>
                            </m:r>
                          </m:sup>
                        </m:sSup>
                      </m:den>
                    </m:f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12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𝑦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 </m:t>
                        </m:r>
                        <m:sSup>
                          <m:e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𝑦</m:t>
                            </m:r>
                          </m:e>
                          <m:sup>
                            <m:r>
                              <m:rPr>
                                <m:sty m:val="p"/>
                              </m:rPr>
                              <a:rPr lang="en-IN" sz="2400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′</m:t>
                            </m:r>
                          </m:sup>
                        </m:sSup>
                      </m:num>
                      <m:den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(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3</m:t>
                        </m:r>
                        <m:sSup>
                          <m:e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𝑦</m:t>
                            </m:r>
                          </m:e>
                          <m:sup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2</m:t>
                            </m:r>
                          </m:sup>
                        </m:sSup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−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  <m:sSup>
                          <m:e>
                            <m:r>
                              <m:rPr>
                                <m:sty m:val="p"/>
                              </m:rPr>
                              <a:rPr lang="en-IN" sz="2400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)</m:t>
                            </m:r>
                          </m:e>
                          <m:sup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2</m:t>
                            </m:r>
                          </m:sup>
                        </m:sSup>
                      </m:den>
                    </m:f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12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𝑦</m:t>
                        </m:r>
                      </m:num>
                      <m:den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(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3</m:t>
                        </m:r>
                        <m:sSup>
                          <m:e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𝑦</m:t>
                            </m:r>
                          </m:e>
                          <m:sup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2</m:t>
                            </m:r>
                          </m:sup>
                        </m:sSup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−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  <m:sSup>
                          <m:e>
                            <m:r>
                              <m:rPr>
                                <m:sty m:val="p"/>
                              </m:rPr>
                              <a:rPr lang="en-IN" sz="2400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)</m:t>
                            </m:r>
                          </m:e>
                          <m:sup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2</m:t>
                            </m:r>
                          </m:sup>
                        </m:sSup>
                      </m:den>
                    </m:f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⋅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3</m:t>
                        </m:r>
                        <m:sSup>
                          <m:e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𝑦</m:t>
                            </m:r>
                          </m:e>
                          <m:sup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2</m:t>
                            </m:r>
                          </m:sup>
                        </m:sSup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−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den>
                    </m:f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24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𝑦</m:t>
                        </m:r>
                      </m:num>
                      <m:den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(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3</m:t>
                        </m:r>
                        <m:sSup>
                          <m:e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𝑦</m:t>
                            </m:r>
                          </m:e>
                          <m:sup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2</m:t>
                            </m:r>
                          </m:sup>
                        </m:sSup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−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  <m:sSup>
                          <m:e>
                            <m:r>
                              <m:rPr>
                                <m:sty m:val="p"/>
                              </m:rPr>
                              <a:rPr lang="en-IN" sz="2400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)</m:t>
                            </m:r>
                          </m:e>
                          <m:sup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3</m:t>
                            </m:r>
                          </m:sup>
                        </m:sSup>
                      </m:den>
                    </m:f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 This proves the first part.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Also </a:t>
                </a:r>
                <a14:m>
                  <m:oMath xmlns:m="http://schemas.openxmlformats.org/officeDocument/2006/math"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𝑦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α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+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3</m:t>
                        </m:r>
                      </m:den>
                    </m:f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and </a:t>
                </a:r>
                <a14:m>
                  <m:oMath xmlns:m="http://schemas.openxmlformats.org/officeDocument/2006/math"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𝑦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α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−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3</m:t>
                        </m:r>
                      </m:den>
                    </m:f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;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𝑦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(</m:t>
                        </m:r>
                        <m:sSup>
                          <m:e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𝑦</m:t>
                            </m:r>
                          </m:e>
                          <m:sup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2</m:t>
                            </m:r>
                          </m:sup>
                        </m:sSup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−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)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den>
                    </m:f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so </a:t>
                </a:r>
                <a14:m>
                  <m:oMath xmlns:m="http://schemas.openxmlformats.org/officeDocument/2006/math"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sSup>
                          <m:e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𝑦</m:t>
                            </m:r>
                          </m:e>
                          <m:sup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2</m:t>
                            </m:r>
                          </m:sup>
                        </m:sSup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(</m:t>
                        </m:r>
                        <m:sSup>
                          <m:e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𝑦</m:t>
                            </m:r>
                          </m:e>
                          <m:sup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2</m:t>
                            </m:r>
                          </m:sup>
                        </m:sSup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−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  <m:sSup>
                          <m:e>
                            <m:r>
                              <m:rPr>
                                <m:sty m:val="p"/>
                              </m:rPr>
                              <a:rPr lang="en-IN" sz="2400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)</m:t>
                            </m:r>
                          </m:e>
                          <m:sup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2</m:t>
                            </m:r>
                          </m:sup>
                        </m:sSup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4</m:t>
                        </m:r>
                      </m:den>
                    </m:f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Choice>
        <mc:Fallback>
          <p:sp>
            <p:nvSpPr>
              <p:cNvPr id="5" name="Rectangle 4"/>
              <p:cNvSpPr/>
              <p:nvPr/>
            </p:nvSpPr>
            <p:spPr>
              <a:xfrm>
                <a:off x="731520" y="2746248"/>
                <a:ext cx="10725912" cy="3928872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$y^3-y=2x$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so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$y^2-1=\frac{2x}{y}$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 Differentiate: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$(3y^2-1)\frac{dy}{dx}=2$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$\frac{dy}{dx}=\frac{2}{3y^2-1}=\frac2\alpha$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(say), with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$\alpha=3y^2-1$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$\frac{d^2y}{dx^2}=-\frac{12y\,y'}{(3y^2-1)^2}=-\frac{12y}{(3y^2-1)^2}\cdot\frac{2}{3y^2-1}=-\frac{24y}{(3y^2-1)^3}$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 This proves the first part.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Also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$y^2=\frac{\alpha+1}{3}$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and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$y^2-1=\frac{\alpha-2}{3}$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;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$x=\frac{y(y^2-1)}{2}$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so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$x^2=\frac{y^2(y^2-1)^2}{4}$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Fallback>
      </mc:AlternateContent>
    </p:spTree>
  </p:cSld>
  <p:clrMapOvr>
    <a:masterClrMapping/>
  </p:clrMapOvr>
</p:sld>
</file>

<file path=ppt/slides/slide12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FFFFFF"/>
          </a:fontRef>
        </p:style>
        <p:txBody>
          <a:bodyPr rtlCol="0" anchor="ctr" lIns="731520"/>
          <a:lstStyle>
            <a:lvl1pPr>
              <a:defRPr sz="3200">
                <a:solidFill>
                  <a:srgbClr val="FFFFFF"/>
                </a:solidFill>
              </a:defRPr>
            </a:lvl1pPr>
          </a:lstStyle>
          <a:p>
            <a:pPr algn="l">
              <a:defRPr sz="3200">
                <a:solidFill>
                  <a:srgbClr val="FFFFFF"/>
                </a:solidFill>
              </a:defRPr>
            </a:pPr>
            <a:r>
              <a:rPr sz="3200" b="1">
                <a:solidFill>
                  <a:srgbClr val="FFFFFF"/>
                </a:solidFill>
                <a:latin typeface="Arial"/>
              </a:rPr>
              <a:t>Question 20</a:t>
            </a:r>
            <a:endParaRPr sz="3200">
              <a:solidFill>
                <a:srgbClr val="FFFFFF"/>
              </a:solidFill>
            </a:endParaRPr>
          </a:p>
        </p:txBody>
      </p:sp>
      <p:sp>
        <p:nvSpPr>
          <p:cNvPr id="3" name="Rounded Rectangle 2"/>
          <p:cNvSpPr/>
          <p:nvPr/>
        </p:nvSpPr>
        <p:spPr>
          <a:xfrm>
            <a:off x="7894015" y="246887"/>
            <a:ext cx="3840480" cy="603504"/>
          </a:xfrm>
          <a:prstGeom prst="roundRect">
            <a:avLst>
              <a:gd name="adj" fmla="val 50000"/>
            </a:avLst>
          </a:prstGeom>
          <a:solidFill>
            <a:srgbClr val="F6B26B"/>
          </a:solidFill>
          <a:ln w="1905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111827"/>
          </a:fontRef>
        </p:style>
        <p:txBody>
          <a:bodyPr rtlCol="0" anchor="ctr" wrap="square" lIns="228600" rIns="228600" tIns="18288" bIns="18288"/>
          <a:lstStyle>
            <a:lvl1pPr>
              <a:defRPr sz="2400">
                <a:solidFill>
                  <a:srgbClr val="111827"/>
                </a:solidFill>
              </a:defRPr>
            </a:lvl1pPr>
          </a:lstStyle>
          <a:p>
            <a:pPr algn="ctr">
              <a:defRPr sz="2400">
                <a:solidFill>
                  <a:srgbClr val="111827"/>
                </a:solidFill>
              </a:defRPr>
            </a:pPr>
            <a:r>
              <a:rPr sz="2400" b="1">
                <a:solidFill>
                  <a:srgbClr val="111827"/>
                </a:solidFill>
                <a:latin typeface="Arial"/>
              </a:rPr>
              <a:t>Level 3  ·  4 Marks</a:t>
            </a:r>
            <a:endParaRPr sz="2400">
              <a:solidFill>
                <a:srgbClr val="111827"/>
              </a:solidFill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4" name="Rectangle 3"/>
              <p:cNvSpPr/>
              <p:nvPr/>
            </p:nvSpPr>
            <p:spPr>
              <a:xfrm>
                <a:off x="731520" y="1353312"/>
                <a:ext cx="10725912" cy="5321808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LHS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d>
                      <m:dPr>
                        <m:begChr m:val="["/>
                        <m:sepChr m:val=""/>
                        <m:endChr m:val="]"/>
                        <m:grow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f>
                          <m:fPr>
                            <m:type m:val="bar"/>
                            <m:ctrlP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fPr>
                          <m:num>
                            <m:sSup>
                              <m:e>
                                <m:r>
                                  <a:rPr lang="en-IN" sz="2400" i="1">
                                    <a:solidFill>
                                      <a:srgbClr val="111827"/>
                                    </a:solidFill>
                                    <a:latin typeface="Cambria Math" panose="02040503050406030204" pitchFamily="18" charset="0"/>
                                  </a:rPr>
                                  <m:t>𝑦</m:t>
                                </m:r>
                              </m:e>
                              <m:sup>
                                <m:r>
                                  <a:rPr lang="en-IN" sz="2400" i="1">
                                    <a:solidFill>
                                      <a:srgbClr val="111827"/>
                                    </a:solidFill>
                                    <a:latin typeface="Cambria Math" panose="02040503050406030204" pitchFamily="18" charset="0"/>
                                  </a:rPr>
                                  <m:t>2</m:t>
                                </m:r>
                              </m:sup>
                            </m:sSup>
                            <m:r>
                              <m:rPr>
                                <m:sty m:val="p"/>
                              </m:rPr>
                              <a:rPr lang="en-IN" sz="2400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(</m:t>
                            </m:r>
                            <m:sSup>
                              <m:e>
                                <m:r>
                                  <a:rPr lang="en-IN" sz="2400" i="1">
                                    <a:solidFill>
                                      <a:srgbClr val="111827"/>
                                    </a:solidFill>
                                    <a:latin typeface="Cambria Math" panose="02040503050406030204" pitchFamily="18" charset="0"/>
                                  </a:rPr>
                                  <m:t>𝑦</m:t>
                                </m:r>
                              </m:e>
                              <m:sup>
                                <m:r>
                                  <a:rPr lang="en-IN" sz="2400" i="1">
                                    <a:solidFill>
                                      <a:srgbClr val="111827"/>
                                    </a:solidFill>
                                    <a:latin typeface="Cambria Math" panose="02040503050406030204" pitchFamily="18" charset="0"/>
                                  </a:rPr>
                                  <m:t>2</m:t>
                                </m:r>
                              </m:sup>
                            </m:sSup>
                            <m:r>
                              <m:rPr>
                                <m:sty m:val="p"/>
                              </m:rPr>
                              <a:rPr lang="en-IN" sz="2400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−</m:t>
                            </m:r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1</m:t>
                            </m:r>
                            <m:sSup>
                              <m:e>
                                <m:r>
                                  <m:rPr>
                                    <m:sty m:val="p"/>
                                  </m:rPr>
                                  <a:rPr lang="en-IN" sz="2400">
                                    <a:solidFill>
                                      <a:srgbClr val="111827"/>
                                    </a:solidFill>
                                    <a:latin typeface="Cambria Math" panose="02040503050406030204" pitchFamily="18" charset="0"/>
                                  </a:rPr>
                                  <m:t>)</m:t>
                                </m:r>
                              </m:e>
                              <m:sup>
                                <m:r>
                                  <a:rPr lang="en-IN" sz="2400" i="1">
                                    <a:solidFill>
                                      <a:srgbClr val="111827"/>
                                    </a:solidFill>
                                    <a:latin typeface="Cambria Math" panose="02040503050406030204" pitchFamily="18" charset="0"/>
                                  </a:rPr>
                                  <m:t>2</m:t>
                                </m:r>
                              </m:sup>
                            </m:sSup>
                          </m:num>
                          <m:den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4</m:t>
                            </m:r>
                          </m:den>
                        </m:f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−</m:t>
                        </m:r>
                        <m:f>
                          <m:fPr>
                            <m:type m:val="bar"/>
                            <m:ctrlP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fPr>
                          <m:num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1</m:t>
                            </m:r>
                          </m:num>
                          <m:den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27</m:t>
                            </m:r>
                          </m:den>
                        </m:f>
                      </m:e>
                    </m:d>
                    <m:d>
                      <m:dPr>
                        <m:begChr m:val="["/>
                        <m:sepChr m:val=""/>
                        <m:endChr m:val="]"/>
                        <m:grow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f>
                          <m:fPr>
                            <m:type m:val="bar"/>
                            <m:ctrlP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fPr>
                          <m:num>
                            <m:r>
                              <m:rPr>
                                <m:sty m:val="p"/>
                              </m:rPr>
                              <a:rPr lang="en-IN" sz="2400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−</m:t>
                            </m:r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24</m:t>
                            </m:r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𝑦</m:t>
                            </m:r>
                          </m:num>
                          <m:den>
                            <m:r>
                              <m:rPr>
                                <m:sty m:val="p"/>
                              </m:rPr>
                              <a:rPr lang="en-IN" sz="2400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(</m:t>
                            </m:r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3</m:t>
                            </m:r>
                            <m:sSup>
                              <m:e>
                                <m:r>
                                  <a:rPr lang="en-IN" sz="2400" i="1">
                                    <a:solidFill>
                                      <a:srgbClr val="111827"/>
                                    </a:solidFill>
                                    <a:latin typeface="Cambria Math" panose="02040503050406030204" pitchFamily="18" charset="0"/>
                                  </a:rPr>
                                  <m:t>𝑦</m:t>
                                </m:r>
                              </m:e>
                              <m:sup>
                                <m:r>
                                  <a:rPr lang="en-IN" sz="2400" i="1">
                                    <a:solidFill>
                                      <a:srgbClr val="111827"/>
                                    </a:solidFill>
                                    <a:latin typeface="Cambria Math" panose="02040503050406030204" pitchFamily="18" charset="0"/>
                                  </a:rPr>
                                  <m:t>2</m:t>
                                </m:r>
                              </m:sup>
                            </m:sSup>
                            <m:r>
                              <m:rPr>
                                <m:sty m:val="p"/>
                              </m:rPr>
                              <a:rPr lang="en-IN" sz="2400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−</m:t>
                            </m:r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1</m:t>
                            </m:r>
                            <m:sSup>
                              <m:e>
                                <m:r>
                                  <m:rPr>
                                    <m:sty m:val="p"/>
                                  </m:rPr>
                                  <a:rPr lang="en-IN" sz="2400">
                                    <a:solidFill>
                                      <a:srgbClr val="111827"/>
                                    </a:solidFill>
                                    <a:latin typeface="Cambria Math" panose="02040503050406030204" pitchFamily="18" charset="0"/>
                                  </a:rPr>
                                  <m:t>)</m:t>
                                </m:r>
                              </m:e>
                              <m:sup>
                                <m:r>
                                  <a:rPr lang="en-IN" sz="2400" i="1">
                                    <a:solidFill>
                                      <a:srgbClr val="111827"/>
                                    </a:solidFill>
                                    <a:latin typeface="Cambria Math" panose="02040503050406030204" pitchFamily="18" charset="0"/>
                                  </a:rPr>
                                  <m:t>3</m:t>
                                </m:r>
                              </m:sup>
                            </m:sSup>
                          </m:den>
                        </m:f>
                      </m:e>
                    </m:d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𝑦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(</m:t>
                        </m:r>
                        <m:sSup>
                          <m:e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𝑦</m:t>
                            </m:r>
                          </m:e>
                          <m:sup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2</m:t>
                            </m:r>
                          </m:sup>
                        </m:sSup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−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)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den>
                    </m:f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⋅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3</m:t>
                        </m:r>
                        <m:sSup>
                          <m:e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𝑦</m:t>
                            </m:r>
                          </m:e>
                          <m:sup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2</m:t>
                            </m:r>
                          </m:sup>
                        </m:sSup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−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den>
                    </m:f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𝑦</m:t>
                    </m:r>
                    <m:d>
                      <m:dPr>
                        <m:begChr m:val="["/>
                        <m:sepChr m:val=""/>
                        <m:endChr m:val="]"/>
                        <m:grow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f>
                          <m:fPr>
                            <m:type m:val="bar"/>
                            <m:ctrlP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fPr>
                          <m:num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27</m:t>
                            </m:r>
                            <m:sSup>
                              <m:e>
                                <m:r>
                                  <a:rPr lang="en-IN" sz="2400" i="1">
                                    <a:solidFill>
                                      <a:srgbClr val="111827"/>
                                    </a:solidFill>
                                    <a:latin typeface="Cambria Math" panose="02040503050406030204" pitchFamily="18" charset="0"/>
                                  </a:rPr>
                                  <m:t>𝑦</m:t>
                                </m:r>
                              </m:e>
                              <m:sup>
                                <m:r>
                                  <a:rPr lang="en-IN" sz="2400" i="1">
                                    <a:solidFill>
                                      <a:srgbClr val="111827"/>
                                    </a:solidFill>
                                    <a:latin typeface="Cambria Math" panose="02040503050406030204" pitchFamily="18" charset="0"/>
                                  </a:rPr>
                                  <m:t>2</m:t>
                                </m:r>
                              </m:sup>
                            </m:sSup>
                            <m:r>
                              <m:rPr>
                                <m:sty m:val="p"/>
                              </m:rPr>
                              <a:rPr lang="en-IN" sz="2400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(</m:t>
                            </m:r>
                            <m:sSup>
                              <m:e>
                                <m:r>
                                  <a:rPr lang="en-IN" sz="2400" i="1">
                                    <a:solidFill>
                                      <a:srgbClr val="111827"/>
                                    </a:solidFill>
                                    <a:latin typeface="Cambria Math" panose="02040503050406030204" pitchFamily="18" charset="0"/>
                                  </a:rPr>
                                  <m:t>𝑦</m:t>
                                </m:r>
                              </m:e>
                              <m:sup>
                                <m:r>
                                  <a:rPr lang="en-IN" sz="2400" i="1">
                                    <a:solidFill>
                                      <a:srgbClr val="111827"/>
                                    </a:solidFill>
                                    <a:latin typeface="Cambria Math" panose="02040503050406030204" pitchFamily="18" charset="0"/>
                                  </a:rPr>
                                  <m:t>2</m:t>
                                </m:r>
                              </m:sup>
                            </m:sSup>
                            <m:r>
                              <m:rPr>
                                <m:sty m:val="p"/>
                              </m:rPr>
                              <a:rPr lang="en-IN" sz="2400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−</m:t>
                            </m:r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1</m:t>
                            </m:r>
                            <m:sSup>
                              <m:e>
                                <m:r>
                                  <m:rPr>
                                    <m:sty m:val="p"/>
                                  </m:rPr>
                                  <a:rPr lang="en-IN" sz="2400">
                                    <a:solidFill>
                                      <a:srgbClr val="111827"/>
                                    </a:solidFill>
                                    <a:latin typeface="Cambria Math" panose="02040503050406030204" pitchFamily="18" charset="0"/>
                                  </a:rPr>
                                  <m:t>)</m:t>
                                </m:r>
                              </m:e>
                              <m:sup>
                                <m:r>
                                  <a:rPr lang="en-IN" sz="2400" i="1">
                                    <a:solidFill>
                                      <a:srgbClr val="111827"/>
                                    </a:solidFill>
                                    <a:latin typeface="Cambria Math" panose="02040503050406030204" pitchFamily="18" charset="0"/>
                                  </a:rPr>
                                  <m:t>2</m:t>
                                </m:r>
                              </m:sup>
                            </m:sSup>
                            <m:r>
                              <m:rPr>
                                <m:sty m:val="p"/>
                              </m:rPr>
                              <a:rPr lang="en-IN" sz="2400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−</m:t>
                            </m:r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4</m:t>
                            </m:r>
                          </m:num>
                          <m:den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108</m:t>
                            </m:r>
                          </m:den>
                        </m:f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⋅</m:t>
                        </m:r>
                        <m:f>
                          <m:fPr>
                            <m:type m:val="bar"/>
                            <m:ctrlP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fPr>
                          <m:num>
                            <m:r>
                              <m:rPr>
                                <m:sty m:val="p"/>
                              </m:rPr>
                              <a:rPr lang="en-IN" sz="2400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−</m:t>
                            </m:r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24</m:t>
                            </m:r>
                          </m:num>
                          <m:den>
                            <m:sSup>
                              <m:e>
                                <m:r>
                                  <a:rPr lang="en-IN" sz="2400" i="1">
                                    <a:solidFill>
                                      <a:srgbClr val="111827"/>
                                    </a:solidFill>
                                    <a:latin typeface="Cambria Math" panose="02040503050406030204" pitchFamily="18" charset="0"/>
                                  </a:rPr>
                                  <m:t>α</m:t>
                                </m:r>
                              </m:e>
                              <m:sup>
                                <m:r>
                                  <a:rPr lang="en-IN" sz="2400" i="1">
                                    <a:solidFill>
                                      <a:srgbClr val="111827"/>
                                    </a:solidFill>
                                    <a:latin typeface="Cambria Math" panose="02040503050406030204" pitchFamily="18" charset="0"/>
                                  </a:rPr>
                                  <m:t>3</m:t>
                                </m:r>
                              </m:sup>
                            </m:sSup>
                          </m:den>
                        </m:f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+</m:t>
                        </m:r>
                        <m:f>
                          <m:fPr>
                            <m:type m:val="bar"/>
                            <m:ctrlP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fPr>
                          <m:num>
                            <m:sSup>
                              <m:e>
                                <m:r>
                                  <a:rPr lang="en-IN" sz="2400" i="1">
                                    <a:solidFill>
                                      <a:srgbClr val="111827"/>
                                    </a:solidFill>
                                    <a:latin typeface="Cambria Math" panose="02040503050406030204" pitchFamily="18" charset="0"/>
                                  </a:rPr>
                                  <m:t>𝑦</m:t>
                                </m:r>
                              </m:e>
                              <m:sup>
                                <m:r>
                                  <a:rPr lang="en-IN" sz="2400" i="1">
                                    <a:solidFill>
                                      <a:srgbClr val="111827"/>
                                    </a:solidFill>
                                    <a:latin typeface="Cambria Math" panose="02040503050406030204" pitchFamily="18" charset="0"/>
                                  </a:rPr>
                                  <m:t>2</m:t>
                                </m:r>
                              </m:sup>
                            </m:sSup>
                            <m:r>
                              <m:rPr>
                                <m:sty m:val="p"/>
                              </m:rPr>
                              <a:rPr lang="en-IN" sz="2400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−</m:t>
                            </m:r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1</m:t>
                            </m:r>
                          </m:num>
                          <m:den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α</m:t>
                            </m:r>
                          </m:den>
                        </m:f>
                      </m:e>
                    </m:d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Substitute </a:t>
                </a:r>
                <a14:m>
                  <m:oMath xmlns:m="http://schemas.openxmlformats.org/officeDocument/2006/math"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𝑦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and </a:t>
                </a:r>
                <a14:m>
                  <m:oMath xmlns:m="http://schemas.openxmlformats.org/officeDocument/2006/math"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𝑦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: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𝑦</m:t>
                    </m:r>
                    <m:d>
                      <m:dPr>
                        <m:begChr m:val="["/>
                        <m:sepChr m:val=""/>
                        <m:endChr m:val="]"/>
                        <m:grow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f>
                          <m:fPr>
                            <m:type m:val="bar"/>
                            <m:ctrlP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fPr>
                          <m:num>
                            <m:r>
                              <m:rPr>
                                <m:sty m:val="p"/>
                              </m:rPr>
                              <a:rPr lang="en-IN" sz="2400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(</m:t>
                            </m:r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α</m:t>
                            </m:r>
                            <m:r>
                              <m:rPr>
                                <m:sty m:val="p"/>
                              </m:rPr>
                              <a:rPr lang="en-IN" sz="2400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+</m:t>
                            </m:r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1</m:t>
                            </m:r>
                            <m:r>
                              <m:rPr>
                                <m:sty m:val="p"/>
                              </m:rPr>
                              <a:rPr lang="en-IN" sz="2400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)</m:t>
                            </m:r>
                            <m:r>
                              <m:rPr>
                                <m:sty m:val="p"/>
                              </m:rPr>
                              <a:rPr lang="en-IN" sz="2400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(</m:t>
                            </m:r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α</m:t>
                            </m:r>
                            <m:r>
                              <m:rPr>
                                <m:sty m:val="p"/>
                              </m:rPr>
                              <a:rPr lang="en-IN" sz="2400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−</m:t>
                            </m:r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2</m:t>
                            </m:r>
                            <m:sSup>
                              <m:e>
                                <m:r>
                                  <m:rPr>
                                    <m:sty m:val="p"/>
                                  </m:rPr>
                                  <a:rPr lang="en-IN" sz="2400">
                                    <a:solidFill>
                                      <a:srgbClr val="111827"/>
                                    </a:solidFill>
                                    <a:latin typeface="Cambria Math" panose="02040503050406030204" pitchFamily="18" charset="0"/>
                                  </a:rPr>
                                  <m:t>)</m:t>
                                </m:r>
                              </m:e>
                              <m:sup>
                                <m:r>
                                  <a:rPr lang="en-IN" sz="2400" i="1">
                                    <a:solidFill>
                                      <a:srgbClr val="111827"/>
                                    </a:solidFill>
                                    <a:latin typeface="Cambria Math" panose="02040503050406030204" pitchFamily="18" charset="0"/>
                                  </a:rPr>
                                  <m:t>2</m:t>
                                </m:r>
                              </m:sup>
                            </m:sSup>
                            <m:r>
                              <m:rPr>
                                <m:sty m:val="p"/>
                              </m:rPr>
                              <a:rPr lang="en-IN" sz="2400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−</m:t>
                            </m:r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4</m:t>
                            </m:r>
                          </m:num>
                          <m:den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108</m:t>
                            </m:r>
                          </m:den>
                        </m:f>
                        <m:d>
                          <m:dPr>
                            <m:begChr m:val="("/>
                            <m:sepChr m:val=""/>
                            <m:endChr m:val=")"/>
                            <m:grow/>
                            <m:ctrlP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r>
                              <m:rPr>
                                <m:sty m:val="p"/>
                              </m:rPr>
                              <a:rPr lang="en-IN" sz="2400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−</m:t>
                            </m:r>
                            <m:f>
                              <m:fPr>
                                <m:type m:val="bar"/>
                                <m:ctrlPr>
                                  <a:rPr lang="en-IN" sz="2400" i="1">
                                    <a:solidFill>
                                      <a:srgbClr val="111827"/>
                                    </a:solidFill>
                                    <a:latin typeface="Cambria Math" panose="02040503050406030204" pitchFamily="18" charset="0"/>
                                  </a:rPr>
                                </m:ctrlPr>
                              </m:fPr>
                              <m:num>
                                <m:r>
                                  <a:rPr lang="en-IN" sz="2400" i="1">
                                    <a:solidFill>
                                      <a:srgbClr val="111827"/>
                                    </a:solidFill>
                                    <a:latin typeface="Cambria Math" panose="02040503050406030204" pitchFamily="18" charset="0"/>
                                  </a:rPr>
                                  <m:t>24</m:t>
                                </m:r>
                              </m:num>
                              <m:den>
                                <m:sSup>
                                  <m:e>
                                    <m:r>
                                      <a:rPr lang="en-IN" sz="2400" i="1">
                                        <a:solidFill>
                                          <a:srgbClr val="111827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α</m:t>
                                    </m:r>
                                  </m:e>
                                  <m:sup>
                                    <m:r>
                                      <a:rPr lang="en-IN" sz="2400" i="1">
                                        <a:solidFill>
                                          <a:srgbClr val="111827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3</m:t>
                                    </m:r>
                                  </m:sup>
                                </m:sSup>
                              </m:den>
                            </m:f>
                          </m:e>
                        </m:d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+</m:t>
                        </m:r>
                        <m:f>
                          <m:fPr>
                            <m:type m:val="bar"/>
                            <m:ctrlP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fPr>
                          <m:num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α</m:t>
                            </m:r>
                            <m:r>
                              <m:rPr>
                                <m:sty m:val="p"/>
                              </m:rPr>
                              <a:rPr lang="en-IN" sz="2400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−</m:t>
                            </m:r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2</m:t>
                            </m:r>
                          </m:num>
                          <m:den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3</m:t>
                            </m:r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α</m:t>
                            </m:r>
                          </m:den>
                        </m:f>
                      </m:e>
                    </m:d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𝑦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9</m:t>
                        </m:r>
                      </m:den>
                    </m:f>
                    <m:d>
                      <m:dPr>
                        <m:begChr m:val="["/>
                        <m:sepChr m:val=""/>
                        <m:endChr m:val="]"/>
                        <m:grow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f>
                          <m:fPr>
                            <m:type m:val="bar"/>
                            <m:ctrlP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fPr>
                          <m:num>
                            <m:r>
                              <m:rPr>
                                <m:sty m:val="p"/>
                              </m:rPr>
                              <a:rPr lang="en-IN" sz="2400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−</m:t>
                            </m:r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2</m:t>
                            </m:r>
                            <m:d>
                              <m:dPr>
                                <m:begChr m:val="{"/>
                                <m:sepChr m:val=""/>
                                <m:endChr m:val="}"/>
                                <m:grow/>
                                <m:ctrlPr>
                                  <a:rPr lang="en-IN" sz="2400" i="1">
                                    <a:solidFill>
                                      <a:srgbClr val="111827"/>
                                    </a:solidFill>
                                    <a:latin typeface="Cambria Math" panose="02040503050406030204" pitchFamily="18" charset="0"/>
                                  </a:rPr>
                                </m:ctrlPr>
                              </m:dPr>
                              <m:e>
                                <m:r>
                                  <m:rPr>
                                    <m:sty m:val="p"/>
                                  </m:rPr>
                                  <a:rPr lang="en-IN" sz="2400">
                                    <a:solidFill>
                                      <a:srgbClr val="111827"/>
                                    </a:solidFill>
                                    <a:latin typeface="Cambria Math" panose="02040503050406030204" pitchFamily="18" charset="0"/>
                                  </a:rPr>
                                  <m:t>(</m:t>
                                </m:r>
                                <m:r>
                                  <a:rPr lang="en-IN" sz="2400" i="1">
                                    <a:solidFill>
                                      <a:srgbClr val="111827"/>
                                    </a:solidFill>
                                    <a:latin typeface="Cambria Math" panose="02040503050406030204" pitchFamily="18" charset="0"/>
                                  </a:rPr>
                                  <m:t>α</m:t>
                                </m:r>
                                <m:r>
                                  <m:rPr>
                                    <m:sty m:val="p"/>
                                  </m:rPr>
                                  <a:rPr lang="en-IN" sz="2400">
                                    <a:solidFill>
                                      <a:srgbClr val="111827"/>
                                    </a:solidFill>
                                    <a:latin typeface="Cambria Math" panose="02040503050406030204" pitchFamily="18" charset="0"/>
                                  </a:rPr>
                                  <m:t>+</m:t>
                                </m:r>
                                <m:r>
                                  <a:rPr lang="en-IN" sz="2400" i="1">
                                    <a:solidFill>
                                      <a:srgbClr val="111827"/>
                                    </a:solidFill>
                                    <a:latin typeface="Cambria Math" panose="02040503050406030204" pitchFamily="18" charset="0"/>
                                  </a:rPr>
                                  <m:t>1</m:t>
                                </m:r>
                                <m:r>
                                  <m:rPr>
                                    <m:sty m:val="p"/>
                                  </m:rPr>
                                  <a:rPr lang="en-IN" sz="2400">
                                    <a:solidFill>
                                      <a:srgbClr val="111827"/>
                                    </a:solidFill>
                                    <a:latin typeface="Cambria Math" panose="02040503050406030204" pitchFamily="18" charset="0"/>
                                  </a:rPr>
                                  <m:t>)</m:t>
                                </m:r>
                                <m:r>
                                  <m:rPr>
                                    <m:sty m:val="p"/>
                                  </m:rPr>
                                  <a:rPr lang="en-IN" sz="2400">
                                    <a:solidFill>
                                      <a:srgbClr val="111827"/>
                                    </a:solidFill>
                                    <a:latin typeface="Cambria Math" panose="02040503050406030204" pitchFamily="18" charset="0"/>
                                  </a:rPr>
                                  <m:t>(</m:t>
                                </m:r>
                                <m:r>
                                  <a:rPr lang="en-IN" sz="2400" i="1">
                                    <a:solidFill>
                                      <a:srgbClr val="111827"/>
                                    </a:solidFill>
                                    <a:latin typeface="Cambria Math" panose="02040503050406030204" pitchFamily="18" charset="0"/>
                                  </a:rPr>
                                  <m:t>α</m:t>
                                </m:r>
                                <m:r>
                                  <m:rPr>
                                    <m:sty m:val="p"/>
                                  </m:rPr>
                                  <a:rPr lang="en-IN" sz="2400">
                                    <a:solidFill>
                                      <a:srgbClr val="111827"/>
                                    </a:solidFill>
                                    <a:latin typeface="Cambria Math" panose="02040503050406030204" pitchFamily="18" charset="0"/>
                                  </a:rPr>
                                  <m:t>−</m:t>
                                </m:r>
                                <m:r>
                                  <a:rPr lang="en-IN" sz="2400" i="1">
                                    <a:solidFill>
                                      <a:srgbClr val="111827"/>
                                    </a:solidFill>
                                    <a:latin typeface="Cambria Math" panose="02040503050406030204" pitchFamily="18" charset="0"/>
                                  </a:rPr>
                                  <m:t>2</m:t>
                                </m:r>
                                <m:sSup>
                                  <m:e>
                                    <m:r>
                                      <m:rPr>
                                        <m:sty m:val="p"/>
                                      </m:rPr>
                                      <a:rPr lang="en-IN" sz="2400">
                                        <a:solidFill>
                                          <a:srgbClr val="111827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)</m:t>
                                    </m:r>
                                  </m:e>
                                  <m:sup>
                                    <m:r>
                                      <a:rPr lang="en-IN" sz="2400" i="1">
                                        <a:solidFill>
                                          <a:srgbClr val="111827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2</m:t>
                                    </m:r>
                                  </m:sup>
                                </m:sSup>
                                <m:r>
                                  <m:rPr>
                                    <m:sty m:val="p"/>
                                  </m:rPr>
                                  <a:rPr lang="en-IN" sz="2400">
                                    <a:solidFill>
                                      <a:srgbClr val="111827"/>
                                    </a:solidFill>
                                    <a:latin typeface="Cambria Math" panose="02040503050406030204" pitchFamily="18" charset="0"/>
                                  </a:rPr>
                                  <m:t>−</m:t>
                                </m:r>
                                <m:r>
                                  <a:rPr lang="en-IN" sz="2400" i="1">
                                    <a:solidFill>
                                      <a:srgbClr val="111827"/>
                                    </a:solidFill>
                                    <a:latin typeface="Cambria Math" panose="02040503050406030204" pitchFamily="18" charset="0"/>
                                  </a:rPr>
                                  <m:t>4</m:t>
                                </m:r>
                              </m:e>
                            </m:d>
                          </m:num>
                          <m:den>
                            <m:sSup>
                              <m:e>
                                <m:r>
                                  <a:rPr lang="en-IN" sz="2400" i="1">
                                    <a:solidFill>
                                      <a:srgbClr val="111827"/>
                                    </a:solidFill>
                                    <a:latin typeface="Cambria Math" panose="02040503050406030204" pitchFamily="18" charset="0"/>
                                  </a:rPr>
                                  <m:t>α</m:t>
                                </m:r>
                              </m:e>
                              <m:sup>
                                <m:r>
                                  <a:rPr lang="en-IN" sz="2400" i="1">
                                    <a:solidFill>
                                      <a:srgbClr val="111827"/>
                                    </a:solidFill>
                                    <a:latin typeface="Cambria Math" panose="02040503050406030204" pitchFamily="18" charset="0"/>
                                  </a:rPr>
                                  <m:t>3</m:t>
                                </m:r>
                              </m:sup>
                            </m:sSup>
                          </m:den>
                        </m:f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+</m:t>
                        </m:r>
                        <m:f>
                          <m:fPr>
                            <m:type m:val="bar"/>
                            <m:ctrlP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fPr>
                          <m:num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3</m:t>
                            </m:r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α</m:t>
                            </m:r>
                            <m:r>
                              <m:rPr>
                                <m:sty m:val="p"/>
                              </m:rPr>
                              <a:rPr lang="en-IN" sz="2400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−</m:t>
                            </m:r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6</m:t>
                            </m:r>
                          </m:num>
                          <m:den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α</m:t>
                            </m:r>
                          </m:den>
                        </m:f>
                      </m:e>
                    </m:d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Choice>
        <mc:Fallback>
          <p:sp>
            <p:nvSpPr>
              <p:cNvPr id="4" name="Rectangle 3"/>
              <p:cNvSpPr/>
              <p:nvPr/>
            </p:nvSpPr>
            <p:spPr>
              <a:xfrm>
                <a:off x="731520" y="1353312"/>
                <a:ext cx="10725912" cy="5321808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LHS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$=\left[\frac{y^2(y^2-1)^2}{4}-\frac1{27}\right]\left[\frac{-24y}{(3y^2-1)^3}\right]+\frac{y(y^2-1)}{2}\cdot\frac{2}{3y^2-1}$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$=y\left[\frac{27y^2(y^2-1)^2-4}{108}\cdot\frac{-24}{\alpha^3}+\frac{y^2-1}{\alpha}\right]$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Substitute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$y^2$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and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$y^2-1$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: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$=y\left[\frac{(\alpha+1)(\alpha-2)^2-4}{108}\left(-\frac{24}{\alpha^3}\right)+\frac{\alpha-2}{3\alpha}\right]$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$=\frac y9\left[\frac{-2\left\{(\alpha+1)(\alpha-2)^2-4\right\}}{\alpha^3}+\frac{3\alpha-6}{\alpha}\right]$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Fallback>
      </mc:AlternateContent>
    </p:spTree>
  </p:cSld>
  <p:clrMapOvr>
    <a:masterClrMapping/>
  </p:clrMapOvr>
</p:sld>
</file>

<file path=ppt/slides/slide12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FFFFFF"/>
          </a:fontRef>
        </p:style>
        <p:txBody>
          <a:bodyPr rtlCol="0" anchor="ctr" lIns="731520"/>
          <a:lstStyle>
            <a:lvl1pPr>
              <a:defRPr sz="3200">
                <a:solidFill>
                  <a:srgbClr val="FFFFFF"/>
                </a:solidFill>
              </a:defRPr>
            </a:lvl1pPr>
          </a:lstStyle>
          <a:p>
            <a:pPr algn="l">
              <a:defRPr sz="3200">
                <a:solidFill>
                  <a:srgbClr val="FFFFFF"/>
                </a:solidFill>
              </a:defRPr>
            </a:pPr>
            <a:r>
              <a:rPr sz="3200" b="1">
                <a:solidFill>
                  <a:srgbClr val="FFFFFF"/>
                </a:solidFill>
                <a:latin typeface="Arial"/>
              </a:rPr>
              <a:t>Question 20</a:t>
            </a:r>
            <a:endParaRPr sz="3200">
              <a:solidFill>
                <a:srgbClr val="FFFFFF"/>
              </a:solidFill>
            </a:endParaRPr>
          </a:p>
        </p:txBody>
      </p:sp>
      <p:sp>
        <p:nvSpPr>
          <p:cNvPr id="3" name="Rounded Rectangle 2"/>
          <p:cNvSpPr/>
          <p:nvPr/>
        </p:nvSpPr>
        <p:spPr>
          <a:xfrm>
            <a:off x="7894015" y="246887"/>
            <a:ext cx="3840480" cy="603504"/>
          </a:xfrm>
          <a:prstGeom prst="roundRect">
            <a:avLst>
              <a:gd name="adj" fmla="val 50000"/>
            </a:avLst>
          </a:prstGeom>
          <a:solidFill>
            <a:srgbClr val="F6B26B"/>
          </a:solidFill>
          <a:ln w="1905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111827"/>
          </a:fontRef>
        </p:style>
        <p:txBody>
          <a:bodyPr rtlCol="0" anchor="ctr" wrap="square" lIns="228600" rIns="228600" tIns="18288" bIns="18288"/>
          <a:lstStyle>
            <a:lvl1pPr>
              <a:defRPr sz="2400">
                <a:solidFill>
                  <a:srgbClr val="111827"/>
                </a:solidFill>
              </a:defRPr>
            </a:lvl1pPr>
          </a:lstStyle>
          <a:p>
            <a:pPr algn="ctr">
              <a:defRPr sz="2400">
                <a:solidFill>
                  <a:srgbClr val="111827"/>
                </a:solidFill>
              </a:defRPr>
            </a:pPr>
            <a:r>
              <a:rPr sz="2400" b="1">
                <a:solidFill>
                  <a:srgbClr val="111827"/>
                </a:solidFill>
                <a:latin typeface="Arial"/>
              </a:rPr>
              <a:t>Level 3  ·  4 Marks</a:t>
            </a:r>
            <a:endParaRPr sz="2400">
              <a:solidFill>
                <a:srgbClr val="111827"/>
              </a:solidFill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4" name="Rectangle 3"/>
              <p:cNvSpPr/>
              <p:nvPr/>
            </p:nvSpPr>
            <p:spPr>
              <a:xfrm>
                <a:off x="731520" y="1353312"/>
                <a:ext cx="10725912" cy="4434840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𝑦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9</m:t>
                        </m:r>
                      </m:den>
                    </m:f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⋅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8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−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(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α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+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)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(</m:t>
                        </m:r>
                        <m:sSup>
                          <m:e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α</m:t>
                            </m:r>
                          </m:e>
                          <m:sup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2</m:t>
                            </m:r>
                          </m:sup>
                        </m:sSup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−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4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α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+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4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)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+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3</m:t>
                        </m:r>
                        <m:sSup>
                          <m:e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α</m:t>
                            </m:r>
                          </m:e>
                          <m:sup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3</m:t>
                            </m:r>
                          </m:sup>
                        </m:sSup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−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6</m:t>
                        </m:r>
                        <m:sSup>
                          <m:e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α</m:t>
                            </m:r>
                          </m:e>
                          <m:sup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2</m:t>
                            </m:r>
                          </m:sup>
                        </m:sSup>
                      </m:num>
                      <m:den>
                        <m:sSup>
                          <m:e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α</m:t>
                            </m:r>
                          </m:e>
                          <m:sup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3</m:t>
                            </m:r>
                          </m:sup>
                        </m:sSup>
                      </m:den>
                    </m:f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Numerator: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8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α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3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6</m:t>
                    </m:r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α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8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3</m:t>
                    </m:r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α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3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6</m:t>
                    </m:r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α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α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3</m:t>
                        </m:r>
                      </m:sup>
                    </m:sSup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LHS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𝑦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9</m:t>
                        </m:r>
                      </m:den>
                    </m:f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⋅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sSup>
                          <m:e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α</m:t>
                            </m:r>
                          </m:e>
                          <m:sup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3</m:t>
                            </m:r>
                          </m:sup>
                        </m:sSup>
                      </m:num>
                      <m:den>
                        <m:sSup>
                          <m:e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α</m:t>
                            </m:r>
                          </m:e>
                          <m:sup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3</m:t>
                            </m:r>
                          </m:sup>
                        </m:sSup>
                      </m:den>
                    </m:f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𝑦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9</m:t>
                        </m:r>
                      </m:den>
                    </m:f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RHS. Hence proved.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Choice>
        <mc:Fallback>
          <p:sp>
            <p:nvSpPr>
              <p:cNvPr id="4" name="Rectangle 3"/>
              <p:cNvSpPr/>
              <p:nvPr/>
            </p:nvSpPr>
            <p:spPr>
              <a:xfrm>
                <a:off x="731520" y="1353312"/>
                <a:ext cx="10725912" cy="4434840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$=\frac y9\cdot\frac{8-2(\alpha+1)(\alpha^2-4\alpha+4)+3\alpha^3-6\alpha^2}{\alpha^3}$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Numerator: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$8-2\alpha^3+6\alpha^2-8+3\alpha^3-6\alpha^2=\alpha^3$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LHS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$=\frac y9\cdot\frac{\alpha^3}{\alpha^3}=\frac y9=$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RHS. Hence proved.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5" name="Rounded Rectangle 4"/>
              <p:cNvSpPr/>
              <p:nvPr/>
            </p:nvSpPr>
            <p:spPr>
              <a:xfrm>
                <a:off x="731520" y="5897880"/>
                <a:ext cx="10725912" cy="777240"/>
              </a:xfrm>
              <a:prstGeom prst="roundRect">
                <a:avLst>
                  <a:gd name="adj" fmla="val 8000"/>
                </a:avLst>
              </a:prstGeom>
              <a:solidFill>
                <a:srgbClr val="DCFCE7"/>
              </a:solidFill>
              <a:ln w="25400">
                <a:solidFill>
                  <a:srgbClr val="15803D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5803D"/>
              </a:fontRef>
            </p:style>
            <p:txBody>
              <a:bodyPr rtlCol="0" anchor="ctr" wrap="square" lIns="228600" rIns="228600" tIns="18288" bIns="73152"/>
              <a:lstStyle>
                <a:lvl1pPr>
                  <a:defRPr sz="2800">
                    <a:solidFill>
                      <a:srgbClr val="15803D"/>
                    </a:solidFill>
                  </a:defRPr>
                </a:lvl1pPr>
              </a:lstStyle>
              <a:p>
                <a:pPr algn="ctr">
                  <a:defRPr sz="2800">
                    <a:solidFill>
                      <a:srgbClr val="15803D"/>
                    </a:solidFill>
                  </a:defRPr>
                </a:pPr>
                <a:r>
                  <a:rPr sz="2800" b="1">
                    <a:solidFill>
                      <a:srgbClr val="15803D"/>
                    </a:solidFill>
                    <a:latin typeface="Arial"/>
                  </a:rPr>
                  <a:t>Correct Answer: Proved: </a:t>
                </a:r>
                <a14:m>
                  <m:oMath xmlns:m="http://schemas.openxmlformats.org/officeDocument/2006/math">
                    <m:sSup>
                      <m:e>
                        <m:r>
                          <a:rPr lang="en-IN" sz="2800" i="1">
                            <a:solidFill>
                              <a:srgbClr val="15803D"/>
                            </a:solidFill>
                            <a:latin typeface="Cambria Math" panose="02040503050406030204" pitchFamily="18" charset="0"/>
                          </a:rPr>
                          <m:t>𝑦</m:t>
                        </m:r>
                      </m:e>
                      <m:sup>
                        <m:r>
                          <m:rPr>
                            <m:sty m:val="p"/>
                          </m:rPr>
                          <a:rPr lang="en-IN" sz="2800">
                            <a:solidFill>
                              <a:srgbClr val="15803D"/>
                            </a:solidFill>
                            <a:latin typeface="Cambria Math" panose="02040503050406030204" pitchFamily="18" charset="0"/>
                          </a:rPr>
                          <m:t>″</m:t>
                        </m:r>
                      </m:sup>
                    </m:sSup>
                    <m:r>
                      <m:rPr>
                        <m:sty m:val="p"/>
                      </m:rPr>
                      <a:rPr lang="en-IN" sz="2800">
                        <a:solidFill>
                          <a:srgbClr val="15803D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m:rPr>
                        <m:sty m:val="p"/>
                      </m:rPr>
                      <a:rPr lang="en-IN" sz="2800">
                        <a:solidFill>
                          <a:srgbClr val="15803D"/>
                        </a:solidFill>
                        <a:latin typeface="Cambria Math" panose="02040503050406030204" pitchFamily="18" charset="0"/>
                      </a:rPr>
                      <m:t>−</m:t>
                    </m:r>
                    <m:f>
                      <m:fPr>
                        <m:type m:val="bar"/>
                        <m:ctrlPr>
                          <a:rPr lang="en-IN" sz="2800" i="1">
                            <a:solidFill>
                              <a:srgbClr val="15803D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800" i="1">
                            <a:solidFill>
                              <a:srgbClr val="15803D"/>
                            </a:solidFill>
                            <a:latin typeface="Cambria Math" panose="02040503050406030204" pitchFamily="18" charset="0"/>
                          </a:rPr>
                          <m:t>24</m:t>
                        </m:r>
                        <m:r>
                          <a:rPr lang="en-IN" sz="2800" i="1">
                            <a:solidFill>
                              <a:srgbClr val="15803D"/>
                            </a:solidFill>
                            <a:latin typeface="Cambria Math" panose="02040503050406030204" pitchFamily="18" charset="0"/>
                          </a:rPr>
                          <m:t>𝑦</m:t>
                        </m:r>
                      </m:num>
                      <m:den>
                        <m:r>
                          <m:rPr>
                            <m:sty m:val="p"/>
                          </m:rPr>
                          <a:rPr lang="en-IN" sz="2800">
                            <a:solidFill>
                              <a:srgbClr val="15803D"/>
                            </a:solidFill>
                            <a:latin typeface="Cambria Math" panose="02040503050406030204" pitchFamily="18" charset="0"/>
                          </a:rPr>
                          <m:t>(</m:t>
                        </m:r>
                        <m:r>
                          <a:rPr lang="en-IN" sz="2800" i="1">
                            <a:solidFill>
                              <a:srgbClr val="15803D"/>
                            </a:solidFill>
                            <a:latin typeface="Cambria Math" panose="02040503050406030204" pitchFamily="18" charset="0"/>
                          </a:rPr>
                          <m:t>3</m:t>
                        </m:r>
                        <m:sSup>
                          <m:e>
                            <m:r>
                              <a:rPr lang="en-IN" sz="2800" i="1">
                                <a:solidFill>
                                  <a:srgbClr val="15803D"/>
                                </a:solidFill>
                                <a:latin typeface="Cambria Math" panose="02040503050406030204" pitchFamily="18" charset="0"/>
                              </a:rPr>
                              <m:t>𝑦</m:t>
                            </m:r>
                          </m:e>
                          <m:sup>
                            <m:r>
                              <a:rPr lang="en-IN" sz="2800" i="1">
                                <a:solidFill>
                                  <a:srgbClr val="15803D"/>
                                </a:solidFill>
                                <a:latin typeface="Cambria Math" panose="02040503050406030204" pitchFamily="18" charset="0"/>
                              </a:rPr>
                              <m:t>2</m:t>
                            </m:r>
                          </m:sup>
                        </m:sSup>
                        <m:r>
                          <m:rPr>
                            <m:sty m:val="p"/>
                          </m:rPr>
                          <a:rPr lang="en-IN" sz="2800">
                            <a:solidFill>
                              <a:srgbClr val="15803D"/>
                            </a:solidFill>
                            <a:latin typeface="Cambria Math" panose="02040503050406030204" pitchFamily="18" charset="0"/>
                          </a:rPr>
                          <m:t>−</m:t>
                        </m:r>
                        <m:r>
                          <a:rPr lang="en-IN" sz="2800" i="1">
                            <a:solidFill>
                              <a:srgbClr val="15803D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  <m:sSup>
                          <m:e>
                            <m:r>
                              <m:rPr>
                                <m:sty m:val="p"/>
                              </m:rPr>
                              <a:rPr lang="en-IN" sz="2800">
                                <a:solidFill>
                                  <a:srgbClr val="15803D"/>
                                </a:solidFill>
                                <a:latin typeface="Cambria Math" panose="02040503050406030204" pitchFamily="18" charset="0"/>
                              </a:rPr>
                              <m:t>)</m:t>
                            </m:r>
                          </m:e>
                          <m:sup>
                            <m:r>
                              <a:rPr lang="en-IN" sz="2800" i="1">
                                <a:solidFill>
                                  <a:srgbClr val="15803D"/>
                                </a:solidFill>
                                <a:latin typeface="Cambria Math" panose="02040503050406030204" pitchFamily="18" charset="0"/>
                              </a:rPr>
                              <m:t>3</m:t>
                            </m:r>
                          </m:sup>
                        </m:sSup>
                      </m:den>
                    </m:f>
                  </m:oMath>
                </a14:m>
                <a:r>
                  <a:rPr sz="2800" b="1">
                    <a:solidFill>
                      <a:srgbClr val="15803D"/>
                    </a:solidFill>
                    <a:latin typeface="Arial"/>
                  </a:rPr>
                  <a:t> and </a:t>
                </a:r>
                <a14:m>
                  <m:oMath xmlns:m="http://schemas.openxmlformats.org/officeDocument/2006/math">
                    <m:d>
                      <m:dPr>
                        <m:begChr m:val="("/>
                        <m:sepChr m:val=""/>
                        <m:endChr m:val=")"/>
                        <m:grow/>
                        <m:ctrlPr>
                          <a:rPr lang="en-IN" sz="2800" i="1">
                            <a:solidFill>
                              <a:srgbClr val="15803D"/>
                            </a:solidFill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sSup>
                          <m:e>
                            <m:r>
                              <a:rPr lang="en-IN" sz="2800" i="1">
                                <a:solidFill>
                                  <a:srgbClr val="15803D"/>
                                </a:solidFill>
                                <a:latin typeface="Cambria Math" panose="02040503050406030204" pitchFamily="18" charset="0"/>
                              </a:rPr>
                              <m:t>𝑥</m:t>
                            </m:r>
                          </m:e>
                          <m:sup>
                            <m:r>
                              <a:rPr lang="en-IN" sz="2800" i="1">
                                <a:solidFill>
                                  <a:srgbClr val="15803D"/>
                                </a:solidFill>
                                <a:latin typeface="Cambria Math" panose="02040503050406030204" pitchFamily="18" charset="0"/>
                              </a:rPr>
                              <m:t>2</m:t>
                            </m:r>
                          </m:sup>
                        </m:sSup>
                        <m:r>
                          <m:rPr>
                            <m:sty m:val="p"/>
                          </m:rPr>
                          <a:rPr lang="en-IN" sz="2800">
                            <a:solidFill>
                              <a:srgbClr val="15803D"/>
                            </a:solidFill>
                            <a:latin typeface="Cambria Math" panose="02040503050406030204" pitchFamily="18" charset="0"/>
                          </a:rPr>
                          <m:t>−</m:t>
                        </m:r>
                        <m:f>
                          <m:fPr>
                            <m:type m:val="bar"/>
                            <m:ctrlPr>
                              <a:rPr lang="en-IN" sz="2800" i="1">
                                <a:solidFill>
                                  <a:srgbClr val="15803D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fPr>
                          <m:num>
                            <m:r>
                              <a:rPr lang="en-IN" sz="2800" i="1">
                                <a:solidFill>
                                  <a:srgbClr val="15803D"/>
                                </a:solidFill>
                                <a:latin typeface="Cambria Math" panose="02040503050406030204" pitchFamily="18" charset="0"/>
                              </a:rPr>
                              <m:t>1</m:t>
                            </m:r>
                          </m:num>
                          <m:den>
                            <m:r>
                              <a:rPr lang="en-IN" sz="2800" i="1">
                                <a:solidFill>
                                  <a:srgbClr val="15803D"/>
                                </a:solidFill>
                                <a:latin typeface="Cambria Math" panose="02040503050406030204" pitchFamily="18" charset="0"/>
                              </a:rPr>
                              <m:t>27</m:t>
                            </m:r>
                          </m:den>
                        </m:f>
                      </m:e>
                    </m:d>
                    <m:sSup>
                      <m:e>
                        <m:r>
                          <a:rPr lang="en-IN" sz="2800" i="1">
                            <a:solidFill>
                              <a:srgbClr val="15803D"/>
                            </a:solidFill>
                            <a:latin typeface="Cambria Math" panose="02040503050406030204" pitchFamily="18" charset="0"/>
                          </a:rPr>
                          <m:t>𝑦</m:t>
                        </m:r>
                      </m:e>
                      <m:sup>
                        <m:r>
                          <m:rPr>
                            <m:sty m:val="p"/>
                          </m:rPr>
                          <a:rPr lang="en-IN" sz="2800">
                            <a:solidFill>
                              <a:srgbClr val="15803D"/>
                            </a:solidFill>
                            <a:latin typeface="Cambria Math" panose="02040503050406030204" pitchFamily="18" charset="0"/>
                          </a:rPr>
                          <m:t>″</m:t>
                        </m:r>
                      </m:sup>
                    </m:sSup>
                    <m:r>
                      <m:rPr>
                        <m:sty m:val="p"/>
                      </m:rPr>
                      <a:rPr lang="en-IN" sz="2800">
                        <a:solidFill>
                          <a:srgbClr val="15803D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800" i="1">
                        <a:solidFill>
                          <a:srgbClr val="15803D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sSup>
                      <m:e>
                        <m:r>
                          <a:rPr lang="en-IN" sz="2800" i="1">
                            <a:solidFill>
                              <a:srgbClr val="15803D"/>
                            </a:solidFill>
                            <a:latin typeface="Cambria Math" panose="02040503050406030204" pitchFamily="18" charset="0"/>
                          </a:rPr>
                          <m:t>𝑦</m:t>
                        </m:r>
                      </m:e>
                      <m:sup>
                        <m:r>
                          <m:rPr>
                            <m:sty m:val="p"/>
                          </m:rPr>
                          <a:rPr lang="en-IN" sz="2800">
                            <a:solidFill>
                              <a:srgbClr val="15803D"/>
                            </a:solidFill>
                            <a:latin typeface="Cambria Math" panose="02040503050406030204" pitchFamily="18" charset="0"/>
                          </a:rPr>
                          <m:t>′</m:t>
                        </m:r>
                      </m:sup>
                    </m:sSup>
                    <m:r>
                      <m:rPr>
                        <m:sty m:val="p"/>
                      </m:rPr>
                      <a:rPr lang="en-IN" sz="2800">
                        <a:solidFill>
                          <a:srgbClr val="15803D"/>
                        </a:solidFill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type m:val="bar"/>
                        <m:ctrlPr>
                          <a:rPr lang="en-IN" sz="2800" i="1">
                            <a:solidFill>
                              <a:srgbClr val="15803D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800" i="1">
                            <a:solidFill>
                              <a:srgbClr val="15803D"/>
                            </a:solidFill>
                            <a:latin typeface="Cambria Math" panose="02040503050406030204" pitchFamily="18" charset="0"/>
                          </a:rPr>
                          <m:t>𝑦</m:t>
                        </m:r>
                      </m:num>
                      <m:den>
                        <m:r>
                          <a:rPr lang="en-IN" sz="2800" i="1">
                            <a:solidFill>
                              <a:srgbClr val="15803D"/>
                            </a:solidFill>
                            <a:latin typeface="Cambria Math" panose="02040503050406030204" pitchFamily="18" charset="0"/>
                          </a:rPr>
                          <m:t>9</m:t>
                        </m:r>
                      </m:den>
                    </m:f>
                  </m:oMath>
                </a14:m>
                <a:endParaRPr sz="2800">
                  <a:solidFill>
                    <a:srgbClr val="15803D"/>
                  </a:solidFill>
                </a:endParaRPr>
              </a:p>
            </p:txBody>
          </p:sp>
        </mc:Choice>
        <mc:Fallback>
          <p:sp>
            <p:nvSpPr>
              <p:cNvPr id="5" name="Rounded Rectangle 4"/>
              <p:cNvSpPr/>
              <p:nvPr/>
            </p:nvSpPr>
            <p:spPr>
              <a:xfrm>
                <a:off x="731520" y="5897880"/>
                <a:ext cx="10725912" cy="777240"/>
              </a:xfrm>
              <a:prstGeom prst="roundRect">
                <a:avLst>
                  <a:gd name="adj" fmla="val 8000"/>
                </a:avLst>
              </a:prstGeom>
              <a:solidFill>
                <a:srgbClr val="DCFCE7"/>
              </a:solidFill>
              <a:ln w="25400">
                <a:solidFill>
                  <a:srgbClr val="15803D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5803D"/>
              </a:fontRef>
            </p:style>
            <p:txBody>
              <a:bodyPr rtlCol="0" anchor="ctr" wrap="square" lIns="228600" rIns="228600" tIns="18288" bIns="73152"/>
              <a:lstStyle>
                <a:lvl1pPr>
                  <a:defRPr sz="2800">
                    <a:solidFill>
                      <a:srgbClr val="15803D"/>
                    </a:solidFill>
                  </a:defRPr>
                </a:lvl1pPr>
              </a:lstStyle>
              <a:p>
                <a:pPr algn="ctr">
                  <a:defRPr sz="2800">
                    <a:solidFill>
                      <a:srgbClr val="15803D"/>
                    </a:solidFill>
                  </a:defRPr>
                </a:pPr>
                <a:r>
                  <a:rPr sz="2800" b="1">
                    <a:solidFill>
                      <a:srgbClr val="15803D"/>
                    </a:solidFill>
                    <a:latin typeface="Arial"/>
                  </a:rPr>
                  <a:t>Correct Answer: Proved: </a:t>
                </a:r>
                <a:r>
                  <a:rPr lang="en-IN" sz="2800">
                    <a:solidFill>
                      <a:srgbClr val="15803D"/>
                    </a:solidFill>
                    <a:latin typeface="Cambria Math" panose="02040503050406030204" pitchFamily="18" charset="0"/>
                  </a:rPr>
                  <a:t>$y''=-\frac{24y}{(3y^2-1)^3}$</a:t>
                </a:r>
                <a:r>
                  <a:rPr sz="2800" b="1">
                    <a:solidFill>
                      <a:srgbClr val="15803D"/>
                    </a:solidFill>
                    <a:latin typeface="Arial"/>
                  </a:rPr>
                  <a:t> and </a:t>
                </a:r>
                <a:r>
                  <a:rPr lang="en-IN" sz="2800">
                    <a:solidFill>
                      <a:srgbClr val="15803D"/>
                    </a:solidFill>
                    <a:latin typeface="Cambria Math" panose="02040503050406030204" pitchFamily="18" charset="0"/>
                  </a:rPr>
                  <a:t>$\left(x^2-\frac1{27}\right)y''+xy'=\frac y9$</a:t>
                </a:r>
                <a:endParaRPr sz="2800">
                  <a:solidFill>
                    <a:srgbClr val="15803D"/>
                  </a:solidFill>
                </a:endParaRPr>
              </a:p>
            </p:txBody>
          </p:sp>
        </mc:Fallback>
      </mc:AlternateContent>
    </p:spTree>
  </p:cSld>
  <p:clrMapOvr>
    <a:masterClrMapping/>
  </p:clrMapOvr>
</p:sld>
</file>

<file path=ppt/slides/slide12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FFFFFF"/>
          </a:fontRef>
        </p:style>
        <p:txBody>
          <a:bodyPr rtlCol="0" anchor="ctr" lIns="731520"/>
          <a:lstStyle>
            <a:lvl1pPr>
              <a:defRPr sz="3200">
                <a:solidFill>
                  <a:srgbClr val="FFFFFF"/>
                </a:solidFill>
              </a:defRPr>
            </a:lvl1pPr>
          </a:lstStyle>
          <a:p>
            <a:pPr algn="l">
              <a:defRPr sz="3200">
                <a:solidFill>
                  <a:srgbClr val="FFFFFF"/>
                </a:solidFill>
              </a:defRPr>
            </a:pPr>
            <a:r>
              <a:rPr sz="3200" b="1">
                <a:solidFill>
                  <a:srgbClr val="FFFFFF"/>
                </a:solidFill>
                <a:latin typeface="Arial"/>
              </a:rPr>
              <a:t>Question 20</a:t>
            </a:r>
            <a:endParaRPr sz="3200">
              <a:solidFill>
                <a:srgbClr val="FFFFFF"/>
              </a:solidFill>
            </a:endParaRPr>
          </a:p>
        </p:txBody>
      </p:sp>
      <p:sp>
        <p:nvSpPr>
          <p:cNvPr id="3" name="Rounded Rectangle 2"/>
          <p:cNvSpPr/>
          <p:nvPr/>
        </p:nvSpPr>
        <p:spPr>
          <a:xfrm>
            <a:off x="7894015" y="246887"/>
            <a:ext cx="3840480" cy="603504"/>
          </a:xfrm>
          <a:prstGeom prst="roundRect">
            <a:avLst>
              <a:gd name="adj" fmla="val 50000"/>
            </a:avLst>
          </a:prstGeom>
          <a:solidFill>
            <a:srgbClr val="F6B26B"/>
          </a:solidFill>
          <a:ln w="1905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111827"/>
          </a:fontRef>
        </p:style>
        <p:txBody>
          <a:bodyPr rtlCol="0" anchor="ctr" wrap="square" lIns="228600" rIns="228600" tIns="18288" bIns="18288"/>
          <a:lstStyle>
            <a:lvl1pPr>
              <a:defRPr sz="2400">
                <a:solidFill>
                  <a:srgbClr val="111827"/>
                </a:solidFill>
              </a:defRPr>
            </a:lvl1pPr>
          </a:lstStyle>
          <a:p>
            <a:pPr algn="ctr">
              <a:defRPr sz="2400">
                <a:solidFill>
                  <a:srgbClr val="111827"/>
                </a:solidFill>
              </a:defRPr>
            </a:pPr>
            <a:r>
              <a:rPr sz="2400" b="1">
                <a:solidFill>
                  <a:srgbClr val="111827"/>
                </a:solidFill>
                <a:latin typeface="Arial"/>
              </a:rPr>
              <a:t>Level 3  ·  4 Marks</a:t>
            </a:r>
            <a:endParaRPr sz="2400">
              <a:solidFill>
                <a:srgbClr val="111827"/>
              </a:solidFill>
            </a:endParaRPr>
          </a:p>
        </p:txBody>
      </p:sp>
      <p:sp>
        <p:nvSpPr>
          <p:cNvPr id="4" name="Rounded Rectangle 3"/>
          <p:cNvSpPr/>
          <p:nvPr/>
        </p:nvSpPr>
        <p:spPr>
          <a:xfrm>
            <a:off x="3520440" y="265176"/>
            <a:ext cx="4206240" cy="566928"/>
          </a:xfrm>
          <a:prstGeom prst="roundRect">
            <a:avLst>
              <a:gd name="adj" fmla="val 50000"/>
            </a:avLst>
          </a:prstGeom>
          <a:solidFill>
            <a:srgbClr val="FDE68A"/>
          </a:solidFill>
          <a:ln w="25400">
            <a:solidFill>
              <a:srgbClr val="D9770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78350F"/>
          </a:fontRef>
        </p:style>
        <p:txBody>
          <a:bodyPr rtlCol="0" anchor="ctr" wrap="square" lIns="228600" rIns="228600" tIns="18288" bIns="18288"/>
          <a:lstStyle>
            <a:lvl1pPr>
              <a:defRPr sz="2200">
                <a:solidFill>
                  <a:srgbClr val="78350F"/>
                </a:solidFill>
              </a:defRPr>
            </a:lvl1pPr>
          </a:lstStyle>
          <a:p>
            <a:pPr algn="ctr">
              <a:defRPr sz="2200">
                <a:solidFill>
                  <a:srgbClr val="78350F"/>
                </a:solidFill>
              </a:defRPr>
            </a:pPr>
            <a:r>
              <a:rPr sz="2200" b="1">
                <a:solidFill>
                  <a:srgbClr val="78350F"/>
                </a:solidFill>
                <a:latin typeface="Arial"/>
              </a:rPr>
              <a:t>Alternate Solution</a:t>
            </a:r>
            <a:endParaRPr sz="2200">
              <a:solidFill>
                <a:srgbClr val="78350F"/>
              </a:solidFill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5" name="Rounded Rectangle 4"/>
              <p:cNvSpPr/>
              <p:nvPr/>
            </p:nvSpPr>
            <p:spPr>
              <a:xfrm>
                <a:off x="731520" y="1280160"/>
                <a:ext cx="10725912" cy="1810512"/>
              </a:xfrm>
              <a:prstGeom prst="roundRect">
                <a:avLst>
                  <a:gd name="adj" fmla="val 8000"/>
                </a:avLst>
              </a:prstGeom>
              <a:solidFill>
                <a:srgbClr val="FDE68A"/>
              </a:solidFill>
              <a:ln w="31750">
                <a:solidFill>
                  <a:srgbClr val="D97706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78350F"/>
              </a:fontRef>
            </p:style>
            <p:txBody>
              <a:bodyPr rtlCol="0" anchor="ctr" wrap="square" lIns="228600" rIns="228600" tIns="54864" bIns="73152"/>
              <a:lstStyle>
                <a:lvl1pPr>
                  <a:defRPr sz="2400">
                    <a:solidFill>
                      <a:srgbClr val="78350F"/>
                    </a:solidFill>
                  </a:defRPr>
                </a:lvl1pPr>
              </a:lstStyle>
              <a:p>
                <a:pPr algn="l">
                  <a:defRPr sz="2400">
                    <a:solidFill>
                      <a:srgbClr val="78350F"/>
                    </a:solidFill>
                  </a:defRPr>
                </a:pPr>
                <a:r>
                  <a:rPr sz="2400" b="1">
                    <a:solidFill>
                      <a:srgbClr val="78350F"/>
                    </a:solidFill>
                    <a:latin typeface="Arial"/>
                  </a:rPr>
                  <a:t>Idea:  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Treat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𝑥</m:t>
                    </m:r>
                  </m:oMath>
                </a14:m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 as the function of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𝑦</m:t>
                    </m:r>
                  </m:oMath>
                </a14:m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: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sSup>
                          <m:e>
                            <m:r>
                              <a:rPr lang="en-IN" sz="2400" i="1">
                                <a:solidFill>
                                  <a:srgbClr val="78350F"/>
                                </a:solidFill>
                                <a:latin typeface="Cambria Math" panose="02040503050406030204" pitchFamily="18" charset="0"/>
                              </a:rPr>
                              <m:t>𝑦</m:t>
                            </m:r>
                          </m:e>
                          <m:sup>
                            <m:r>
                              <a:rPr lang="en-IN" sz="2400" i="1">
                                <a:solidFill>
                                  <a:srgbClr val="78350F"/>
                                </a:solidFill>
                                <a:latin typeface="Cambria Math" panose="02040503050406030204" pitchFamily="18" charset="0"/>
                              </a:rPr>
                              <m:t>3</m:t>
                            </m:r>
                          </m:sup>
                        </m:sSup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−</m:t>
                        </m:r>
                        <m: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𝑦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den>
                    </m:f>
                  </m:oMath>
                </a14:m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 gives </a:t>
                </a:r>
                <a14:m>
                  <m:oMath xmlns:m="http://schemas.openxmlformats.org/officeDocument/2006/math">
                    <m:sSup>
                      <m:e>
                        <m: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𝑦</m:t>
                        </m:r>
                      </m:e>
                      <m:sup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′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num>
                      <m:den>
                        <m:sSub>
                          <m:e>
                            <m:r>
                              <a:rPr lang="en-IN" sz="2400" i="1">
                                <a:solidFill>
                                  <a:srgbClr val="78350F"/>
                                </a:solidFill>
                                <a:latin typeface="Cambria Math" panose="02040503050406030204" pitchFamily="18" charset="0"/>
                              </a:rPr>
                              <m:t>𝑥</m:t>
                            </m:r>
                          </m:e>
                          <m:sub>
                            <m:r>
                              <a:rPr lang="en-IN" sz="2400" i="1">
                                <a:solidFill>
                                  <a:srgbClr val="78350F"/>
                                </a:solidFill>
                                <a:latin typeface="Cambria Math" panose="02040503050406030204" pitchFamily="18" charset="0"/>
                              </a:rPr>
                              <m:t>𝑦</m:t>
                            </m:r>
                          </m:sub>
                        </m:sSub>
                      </m:den>
                    </m:f>
                  </m:oMath>
                </a14:m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, </a:t>
                </a:r>
                <a14:m>
                  <m:oMath xmlns:m="http://schemas.openxmlformats.org/officeDocument/2006/math">
                    <m:sSup>
                      <m:e>
                        <m: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𝑦</m:t>
                        </m:r>
                      </m:e>
                      <m:sup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″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−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sSub>
                          <m:e>
                            <m:r>
                              <a:rPr lang="en-IN" sz="2400" i="1">
                                <a:solidFill>
                                  <a:srgbClr val="78350F"/>
                                </a:solidFill>
                                <a:latin typeface="Cambria Math" panose="02040503050406030204" pitchFamily="18" charset="0"/>
                              </a:rPr>
                              <m:t>𝑥</m:t>
                            </m:r>
                          </m:e>
                          <m:sub>
                            <m:r>
                              <a:rPr lang="en-IN" sz="2400" i="1">
                                <a:solidFill>
                                  <a:srgbClr val="78350F"/>
                                </a:solidFill>
                                <a:latin typeface="Cambria Math" panose="02040503050406030204" pitchFamily="18" charset="0"/>
                              </a:rPr>
                              <m:t>𝑦</m:t>
                            </m:r>
                            <m:r>
                              <a:rPr lang="en-IN" sz="2400" i="1">
                                <a:solidFill>
                                  <a:srgbClr val="78350F"/>
                                </a:solidFill>
                                <a:latin typeface="Cambria Math" panose="02040503050406030204" pitchFamily="18" charset="0"/>
                              </a:rPr>
                              <m:t>𝑦</m:t>
                            </m:r>
                          </m:sub>
                        </m:sSub>
                      </m:num>
                      <m:den>
                        <m:sSubSup>
                          <m:e>
                            <m:r>
                              <a:rPr lang="en-IN" sz="2400" i="1">
                                <a:solidFill>
                                  <a:srgbClr val="78350F"/>
                                </a:solidFill>
                                <a:latin typeface="Cambria Math" panose="02040503050406030204" pitchFamily="18" charset="0"/>
                              </a:rPr>
                              <m:t>𝑥</m:t>
                            </m:r>
                          </m:e>
                          <m:sub>
                            <m:r>
                              <a:rPr lang="en-IN" sz="2400" i="1">
                                <a:solidFill>
                                  <a:srgbClr val="78350F"/>
                                </a:solidFill>
                                <a:latin typeface="Cambria Math" panose="02040503050406030204" pitchFamily="18" charset="0"/>
                              </a:rPr>
                              <m:t>𝑦</m:t>
                            </m:r>
                          </m:sub>
                          <m:sup>
                            <m:r>
                              <a:rPr lang="en-IN" sz="2400" i="1">
                                <a:solidFill>
                                  <a:srgbClr val="78350F"/>
                                </a:solidFill>
                                <a:latin typeface="Cambria Math" panose="02040503050406030204" pitchFamily="18" charset="0"/>
                              </a:rPr>
                              <m:t>3</m:t>
                            </m:r>
                          </m:sup>
                        </m:sSubSup>
                      </m:den>
                    </m:f>
                  </m:oMath>
                </a14:m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 and the identity becomes a polynomial identity in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𝑦</m:t>
                    </m:r>
                  </m:oMath>
                </a14:m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.</a:t>
                </a:r>
                <a:endParaRPr sz="2400">
                  <a:solidFill>
                    <a:srgbClr val="78350F"/>
                  </a:solidFill>
                </a:endParaRPr>
              </a:p>
            </p:txBody>
          </p:sp>
        </mc:Choice>
        <mc:Fallback>
          <p:sp>
            <p:nvSpPr>
              <p:cNvPr id="5" name="Rounded Rectangle 4"/>
              <p:cNvSpPr/>
              <p:nvPr/>
            </p:nvSpPr>
            <p:spPr>
              <a:xfrm>
                <a:off x="731520" y="1280160"/>
                <a:ext cx="10725912" cy="1810512"/>
              </a:xfrm>
              <a:prstGeom prst="roundRect">
                <a:avLst>
                  <a:gd name="adj" fmla="val 8000"/>
                </a:avLst>
              </a:prstGeom>
              <a:solidFill>
                <a:srgbClr val="FDE68A"/>
              </a:solidFill>
              <a:ln w="31750">
                <a:solidFill>
                  <a:srgbClr val="D97706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78350F"/>
              </a:fontRef>
            </p:style>
            <p:txBody>
              <a:bodyPr rtlCol="0" anchor="ctr" wrap="square" lIns="228600" rIns="228600" tIns="54864" bIns="73152"/>
              <a:lstStyle>
                <a:lvl1pPr>
                  <a:defRPr sz="2400">
                    <a:solidFill>
                      <a:srgbClr val="78350F"/>
                    </a:solidFill>
                  </a:defRPr>
                </a:lvl1pPr>
              </a:lstStyle>
              <a:p>
                <a:pPr algn="l">
                  <a:defRPr sz="2400">
                    <a:solidFill>
                      <a:srgbClr val="78350F"/>
                    </a:solidFill>
                  </a:defRPr>
                </a:pPr>
                <a:r>
                  <a:rPr sz="2400" b="1">
                    <a:solidFill>
                      <a:srgbClr val="78350F"/>
                    </a:solidFill>
                    <a:latin typeface="Arial"/>
                  </a:rPr>
                  <a:t>Idea:  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Treat </a:t>
                </a:r>
                <a:r>
                  <a:rPr lang="en-IN" sz="2400">
                    <a:solidFill>
                      <a:srgbClr val="78350F"/>
                    </a:solidFill>
                    <a:latin typeface="Cambria Math" panose="02040503050406030204" pitchFamily="18" charset="0"/>
                  </a:rPr>
                  <a:t>$x$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 as the function of </a:t>
                </a:r>
                <a:r>
                  <a:rPr lang="en-IN" sz="2400">
                    <a:solidFill>
                      <a:srgbClr val="78350F"/>
                    </a:solidFill>
                    <a:latin typeface="Cambria Math" panose="02040503050406030204" pitchFamily="18" charset="0"/>
                  </a:rPr>
                  <a:t>$y$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: </a:t>
                </a:r>
                <a:r>
                  <a:rPr lang="en-IN" sz="2400">
                    <a:solidFill>
                      <a:srgbClr val="78350F"/>
                    </a:solidFill>
                    <a:latin typeface="Cambria Math" panose="02040503050406030204" pitchFamily="18" charset="0"/>
                  </a:rPr>
                  <a:t>$x=\frac{y^3-y}{2}$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 gives </a:t>
                </a:r>
                <a:r>
                  <a:rPr lang="en-IN" sz="2400">
                    <a:solidFill>
                      <a:srgbClr val="78350F"/>
                    </a:solidFill>
                    <a:latin typeface="Cambria Math" panose="02040503050406030204" pitchFamily="18" charset="0"/>
                  </a:rPr>
                  <a:t>$y'=\frac1{x_y}$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, </a:t>
                </a:r>
                <a:r>
                  <a:rPr lang="en-IN" sz="2400">
                    <a:solidFill>
                      <a:srgbClr val="78350F"/>
                    </a:solidFill>
                    <a:latin typeface="Cambria Math" panose="02040503050406030204" pitchFamily="18" charset="0"/>
                  </a:rPr>
                  <a:t>$y''=-\frac{x_{yy}}{x_y^3}$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 and the identity becomes a polynomial identity in </a:t>
                </a:r>
                <a:r>
                  <a:rPr lang="en-IN" sz="2400">
                    <a:solidFill>
                      <a:srgbClr val="78350F"/>
                    </a:solidFill>
                    <a:latin typeface="Cambria Math" panose="02040503050406030204" pitchFamily="18" charset="0"/>
                  </a:rPr>
                  <a:t>$y$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.</a:t>
                </a:r>
                <a:endParaRPr sz="2400">
                  <a:solidFill>
                    <a:srgbClr val="78350F"/>
                  </a:solidFill>
                </a:endParaRP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6" name="Rectangle 5"/>
              <p:cNvSpPr/>
              <p:nvPr/>
            </p:nvSpPr>
            <p:spPr>
              <a:xfrm>
                <a:off x="731520" y="3227832"/>
                <a:ext cx="10725912" cy="3447288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sSup>
                          <m:e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𝑦</m:t>
                            </m:r>
                          </m:e>
                          <m:sup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3</m:t>
                            </m:r>
                          </m:sup>
                        </m:sSup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−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𝑦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den>
                    </m:f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</a:t>
                </a:r>
                <a14:m>
                  <m:oMath xmlns:m="http://schemas.openxmlformats.org/officeDocument/2006/math">
                    <m:sSub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  <m:sub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𝑦</m:t>
                        </m:r>
                      </m:sub>
                    </m:sSub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3</m:t>
                        </m:r>
                        <m:sSup>
                          <m:e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𝑦</m:t>
                            </m:r>
                          </m:e>
                          <m:sup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2</m:t>
                            </m:r>
                          </m:sup>
                        </m:sSup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−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den>
                    </m:f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</a:t>
                </a:r>
                <a14:m>
                  <m:oMath xmlns:m="http://schemas.openxmlformats.org/officeDocument/2006/math">
                    <m:sSub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  <m:sub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𝑦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𝑦</m:t>
                        </m:r>
                      </m:sub>
                    </m:sSub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3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𝑦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14:m>
                  <m:oMath xmlns:m="http://schemas.openxmlformats.org/officeDocument/2006/math"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𝑦</m:t>
                        </m:r>
                      </m:e>
                      <m:sup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′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num>
                      <m:den>
                        <m:sSub>
                          <m:e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𝑥</m:t>
                            </m:r>
                          </m:e>
                          <m:sub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𝑦</m:t>
                            </m:r>
                          </m:sub>
                        </m:sSub>
                      </m:den>
                    </m:f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3</m:t>
                        </m:r>
                        <m:sSup>
                          <m:e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𝑦</m:t>
                            </m:r>
                          </m:e>
                          <m:sup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2</m:t>
                            </m:r>
                          </m:sup>
                        </m:sSup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−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den>
                    </m:f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and </a:t>
                </a:r>
                <a14:m>
                  <m:oMath xmlns:m="http://schemas.openxmlformats.org/officeDocument/2006/math"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𝑦</m:t>
                        </m:r>
                      </m:e>
                      <m:sup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″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sSub>
                          <m:e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𝑥</m:t>
                            </m:r>
                          </m:e>
                          <m:sub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𝑦</m:t>
                            </m:r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𝑦</m:t>
                            </m:r>
                          </m:sub>
                        </m:sSub>
                      </m:num>
                      <m:den>
                        <m:sSubSup>
                          <m:e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𝑥</m:t>
                            </m:r>
                          </m:e>
                          <m:sub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𝑦</m:t>
                            </m:r>
                          </m:sub>
                          <m:sup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3</m:t>
                            </m:r>
                          </m:sup>
                        </m:sSubSup>
                      </m:den>
                    </m:f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3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𝑦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⋅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8</m:t>
                        </m:r>
                      </m:num>
                      <m:den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(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3</m:t>
                        </m:r>
                        <m:sSup>
                          <m:e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𝑦</m:t>
                            </m:r>
                          </m:e>
                          <m:sup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2</m:t>
                            </m:r>
                          </m:sup>
                        </m:sSup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−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  <m:sSup>
                          <m:e>
                            <m:r>
                              <m:rPr>
                                <m:sty m:val="p"/>
                              </m:rPr>
                              <a:rPr lang="en-IN" sz="2400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)</m:t>
                            </m:r>
                          </m:e>
                          <m:sup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3</m:t>
                            </m:r>
                          </m:sup>
                        </m:sSup>
                      </m:den>
                    </m:f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24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𝑦</m:t>
                        </m:r>
                      </m:num>
                      <m:den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(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3</m:t>
                        </m:r>
                        <m:sSup>
                          <m:e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𝑦</m:t>
                            </m:r>
                          </m:e>
                          <m:sup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2</m:t>
                            </m:r>
                          </m:sup>
                        </m:sSup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−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  <m:sSup>
                          <m:e>
                            <m:r>
                              <m:rPr>
                                <m:sty m:val="p"/>
                              </m:rPr>
                              <a:rPr lang="en-IN" sz="2400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)</m:t>
                            </m:r>
                          </m:e>
                          <m:sup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3</m:t>
                            </m:r>
                          </m:sup>
                        </m:sSup>
                      </m:den>
                    </m:f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Multiply the target identity by </a:t>
                </a:r>
                <a14:m>
                  <m:oMath xmlns:m="http://schemas.openxmlformats.org/officeDocument/2006/math">
                    <m:sSub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  <m:sub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𝑦</m:t>
                        </m:r>
                      </m:sub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3</m:t>
                        </m:r>
                      </m:sup>
                    </m:sSubSup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: it is equivalent to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d>
                      <m:dPr>
                        <m:begChr m:val="("/>
                        <m:sepChr m:val=""/>
                        <m:endChr m:val=")"/>
                        <m:grow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sSup>
                          <m:e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𝑥</m:t>
                            </m:r>
                          </m:e>
                          <m:sup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2</m:t>
                            </m:r>
                          </m:sup>
                        </m:sSup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−</m:t>
                        </m:r>
                        <m:f>
                          <m:fPr>
                            <m:type m:val="bar"/>
                            <m:ctrlP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fPr>
                          <m:num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1</m:t>
                            </m:r>
                          </m:num>
                          <m:den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27</m:t>
                            </m:r>
                          </m:den>
                        </m:f>
                      </m:e>
                    </m:d>
                    <m:sSub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  <m:sub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𝑦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𝑦</m:t>
                        </m:r>
                      </m:sub>
                    </m:sSub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 </m:t>
                    </m:r>
                    <m:sSub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  <m:sub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𝑦</m:t>
                        </m:r>
                      </m:sub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b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𝑦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9</m:t>
                        </m:r>
                      </m:den>
                    </m:f>
                    <m:sSub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  <m:sub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𝑦</m:t>
                        </m:r>
                      </m:sub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3</m:t>
                        </m:r>
                      </m:sup>
                    </m:sSub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0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Choice>
        <mc:Fallback>
          <p:sp>
            <p:nvSpPr>
              <p:cNvPr id="6" name="Rectangle 5"/>
              <p:cNvSpPr/>
              <p:nvPr/>
            </p:nvSpPr>
            <p:spPr>
              <a:xfrm>
                <a:off x="731520" y="3227832"/>
                <a:ext cx="10725912" cy="3447288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$x=\frac{y^3-y}2$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$x_y=\frac{3y^2-1}{2}$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$x_{yy}=3y$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$y'=\frac{1}{x_y}=\frac{2}{3y^2-1}$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and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$y''=-\frac{x_{yy}}{x_y^3}=-\frac{3y\cdot8}{(3y^2-1)^3}=-\frac{24y}{(3y^2-1)^3}$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Multiply the target identity by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$x_y^3$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: it is equivalent to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$-\left(x^2-\frac1{27}\right)x_{yy}+x\,x_y^2-\frac y9x_y^3=0$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Fallback>
      </mc:AlternateContent>
    </p:spTree>
  </p:cSld>
  <p:clrMapOvr>
    <a:masterClrMapping/>
  </p:clrMapOvr>
</p:sld>
</file>

<file path=ppt/slides/slide12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FFFFFF"/>
          </a:fontRef>
        </p:style>
        <p:txBody>
          <a:bodyPr rtlCol="0" anchor="ctr" lIns="731520"/>
          <a:lstStyle>
            <a:lvl1pPr>
              <a:defRPr sz="3200">
                <a:solidFill>
                  <a:srgbClr val="FFFFFF"/>
                </a:solidFill>
              </a:defRPr>
            </a:lvl1pPr>
          </a:lstStyle>
          <a:p>
            <a:pPr algn="l">
              <a:defRPr sz="3200">
                <a:solidFill>
                  <a:srgbClr val="FFFFFF"/>
                </a:solidFill>
              </a:defRPr>
            </a:pPr>
            <a:r>
              <a:rPr sz="3200" b="1">
                <a:solidFill>
                  <a:srgbClr val="FFFFFF"/>
                </a:solidFill>
                <a:latin typeface="Arial"/>
              </a:rPr>
              <a:t>Question 20</a:t>
            </a:r>
            <a:endParaRPr sz="3200">
              <a:solidFill>
                <a:srgbClr val="FFFFFF"/>
              </a:solidFill>
            </a:endParaRPr>
          </a:p>
        </p:txBody>
      </p:sp>
      <p:sp>
        <p:nvSpPr>
          <p:cNvPr id="3" name="Rounded Rectangle 2"/>
          <p:cNvSpPr/>
          <p:nvPr/>
        </p:nvSpPr>
        <p:spPr>
          <a:xfrm>
            <a:off x="7894015" y="246887"/>
            <a:ext cx="3840480" cy="603504"/>
          </a:xfrm>
          <a:prstGeom prst="roundRect">
            <a:avLst>
              <a:gd name="adj" fmla="val 50000"/>
            </a:avLst>
          </a:prstGeom>
          <a:solidFill>
            <a:srgbClr val="F6B26B"/>
          </a:solidFill>
          <a:ln w="1905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111827"/>
          </a:fontRef>
        </p:style>
        <p:txBody>
          <a:bodyPr rtlCol="0" anchor="ctr" wrap="square" lIns="228600" rIns="228600" tIns="18288" bIns="18288"/>
          <a:lstStyle>
            <a:lvl1pPr>
              <a:defRPr sz="2400">
                <a:solidFill>
                  <a:srgbClr val="111827"/>
                </a:solidFill>
              </a:defRPr>
            </a:lvl1pPr>
          </a:lstStyle>
          <a:p>
            <a:pPr algn="ctr">
              <a:defRPr sz="2400">
                <a:solidFill>
                  <a:srgbClr val="111827"/>
                </a:solidFill>
              </a:defRPr>
            </a:pPr>
            <a:r>
              <a:rPr sz="2400" b="1">
                <a:solidFill>
                  <a:srgbClr val="111827"/>
                </a:solidFill>
                <a:latin typeface="Arial"/>
              </a:rPr>
              <a:t>Level 3  ·  4 Marks</a:t>
            </a:r>
            <a:endParaRPr sz="2400">
              <a:solidFill>
                <a:srgbClr val="111827"/>
              </a:solidFill>
            </a:endParaRPr>
          </a:p>
        </p:txBody>
      </p:sp>
      <p:sp>
        <p:nvSpPr>
          <p:cNvPr id="4" name="Rounded Rectangle 3"/>
          <p:cNvSpPr/>
          <p:nvPr/>
        </p:nvSpPr>
        <p:spPr>
          <a:xfrm>
            <a:off x="3520440" y="265176"/>
            <a:ext cx="4206240" cy="566928"/>
          </a:xfrm>
          <a:prstGeom prst="roundRect">
            <a:avLst>
              <a:gd name="adj" fmla="val 50000"/>
            </a:avLst>
          </a:prstGeom>
          <a:solidFill>
            <a:srgbClr val="FDE68A"/>
          </a:solidFill>
          <a:ln w="25400">
            <a:solidFill>
              <a:srgbClr val="D9770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78350F"/>
          </a:fontRef>
        </p:style>
        <p:txBody>
          <a:bodyPr rtlCol="0" anchor="ctr" wrap="square" lIns="228600" rIns="228600" tIns="18288" bIns="18288"/>
          <a:lstStyle>
            <a:lvl1pPr>
              <a:defRPr sz="2200">
                <a:solidFill>
                  <a:srgbClr val="78350F"/>
                </a:solidFill>
              </a:defRPr>
            </a:lvl1pPr>
          </a:lstStyle>
          <a:p>
            <a:pPr algn="ctr">
              <a:defRPr sz="2200">
                <a:solidFill>
                  <a:srgbClr val="78350F"/>
                </a:solidFill>
              </a:defRPr>
            </a:pPr>
            <a:r>
              <a:rPr sz="2200" b="1">
                <a:solidFill>
                  <a:srgbClr val="78350F"/>
                </a:solidFill>
                <a:latin typeface="Arial"/>
              </a:rPr>
              <a:t>Alternate Solution</a:t>
            </a:r>
            <a:endParaRPr sz="2200">
              <a:solidFill>
                <a:srgbClr val="78350F"/>
              </a:solidFill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5" name="Rectangle 4"/>
              <p:cNvSpPr/>
              <p:nvPr/>
            </p:nvSpPr>
            <p:spPr>
              <a:xfrm>
                <a:off x="731520" y="1353312"/>
                <a:ext cx="10725912" cy="4434840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Let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𝑤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3</m:t>
                    </m:r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𝑦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 Then </a:t>
                </a:r>
                <a14:m>
                  <m:oMath xmlns:m="http://schemas.openxmlformats.org/officeDocument/2006/math">
                    <m:sSub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  <m:sub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𝑦</m:t>
                        </m:r>
                      </m:sub>
                    </m:sSub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𝑤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den>
                    </m:f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𝑦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(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𝑤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−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)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6</m:t>
                        </m:r>
                      </m:den>
                    </m:f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</a:t>
                </a:r>
                <a14:m>
                  <m:oMath xmlns:m="http://schemas.openxmlformats.org/officeDocument/2006/math"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(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𝑤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+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)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(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𝑤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−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  <m:sSup>
                          <m:e>
                            <m:r>
                              <m:rPr>
                                <m:sty m:val="p"/>
                              </m:rPr>
                              <a:rPr lang="en-IN" sz="2400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)</m:t>
                            </m:r>
                          </m:e>
                          <m:sup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2</m:t>
                            </m:r>
                          </m:sup>
                        </m:sSup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108</m:t>
                        </m:r>
                      </m:den>
                    </m:f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3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𝑦</m:t>
                    </m:r>
                    <m:d>
                      <m:dPr>
                        <m:begChr m:val="["/>
                        <m:sepChr m:val=""/>
                        <m:endChr m:val="]"/>
                        <m:grow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sSup>
                          <m:e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𝑥</m:t>
                            </m:r>
                          </m:e>
                          <m:sup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2</m:t>
                            </m:r>
                          </m:sup>
                        </m:sSup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−</m:t>
                        </m:r>
                        <m:f>
                          <m:fPr>
                            <m:type m:val="bar"/>
                            <m:ctrlP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fPr>
                          <m:num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1</m:t>
                            </m:r>
                          </m:num>
                          <m:den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27</m:t>
                            </m:r>
                          </m:den>
                        </m:f>
                      </m:e>
                    </m:d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𝑦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36</m:t>
                        </m:r>
                      </m:den>
                    </m:f>
                    <m:d>
                      <m:dPr>
                        <m:begChr m:val="["/>
                        <m:sepChr m:val=""/>
                        <m:endChr m:val="]"/>
                        <m:grow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(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𝑤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+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)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(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𝑤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−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  <m:sSup>
                          <m:e>
                            <m:r>
                              <m:rPr>
                                <m:sty m:val="p"/>
                              </m:rPr>
                              <a:rPr lang="en-IN" sz="2400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)</m:t>
                            </m:r>
                          </m:e>
                          <m:sup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2</m:t>
                            </m:r>
                          </m:sup>
                        </m:sSup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−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4</m:t>
                        </m:r>
                      </m:e>
                    </m:d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𝑦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36</m:t>
                        </m:r>
                      </m:den>
                    </m:f>
                    <m:d>
                      <m:dPr>
                        <m:begChr m:val="("/>
                        <m:sepChr m:val=""/>
                        <m:endChr m:val=")"/>
                        <m:grow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sSup>
                          <m:e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𝑤</m:t>
                            </m:r>
                          </m:e>
                          <m:sup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3</m:t>
                            </m:r>
                          </m:sup>
                        </m:sSup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−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3</m:t>
                        </m:r>
                        <m:sSup>
                          <m:e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𝑤</m:t>
                            </m:r>
                          </m:e>
                          <m:sup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2</m:t>
                            </m:r>
                          </m:sup>
                        </m:sSup>
                      </m:e>
                    </m:d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;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 </m:t>
                    </m:r>
                    <m:sSub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  <m:sub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𝑦</m:t>
                        </m:r>
                      </m:sub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b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𝑦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(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𝑤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−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)</m:t>
                        </m:r>
                        <m:sSup>
                          <m:e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𝑤</m:t>
                            </m:r>
                          </m:e>
                          <m:sup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2</m:t>
                            </m:r>
                          </m:sup>
                        </m:sSup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24</m:t>
                        </m:r>
                      </m:den>
                    </m:f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; </a:t>
                </a:r>
                <a14:m>
                  <m:oMath xmlns:m="http://schemas.openxmlformats.org/officeDocument/2006/math"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𝑦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9</m:t>
                        </m:r>
                      </m:den>
                    </m:f>
                    <m:sSub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  <m:sub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𝑦</m:t>
                        </m:r>
                      </m:sub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3</m:t>
                        </m:r>
                      </m:sup>
                    </m:sSub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𝑦</m:t>
                        </m:r>
                        <m:sSup>
                          <m:e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𝑤</m:t>
                            </m:r>
                          </m:e>
                          <m:sup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3</m:t>
                            </m:r>
                          </m:sup>
                        </m:sSup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72</m:t>
                        </m:r>
                      </m:den>
                    </m:f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Sum: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𝑦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 </m:t>
                    </m:r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𝑤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d>
                      <m:dPr>
                        <m:begChr m:val="["/>
                        <m:sepChr m:val=""/>
                        <m:endChr m:val="]"/>
                        <m:grow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−</m:t>
                        </m:r>
                        <m:f>
                          <m:fPr>
                            <m:type m:val="bar"/>
                            <m:ctrlP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fPr>
                          <m:num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𝑤</m:t>
                            </m:r>
                            <m:r>
                              <m:rPr>
                                <m:sty m:val="p"/>
                              </m:rPr>
                              <a:rPr lang="en-IN" sz="2400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−</m:t>
                            </m:r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3</m:t>
                            </m:r>
                          </m:num>
                          <m:den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36</m:t>
                            </m:r>
                          </m:den>
                        </m:f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+</m:t>
                        </m:r>
                        <m:f>
                          <m:fPr>
                            <m:type m:val="bar"/>
                            <m:ctrlP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fPr>
                          <m:num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𝑤</m:t>
                            </m:r>
                            <m:r>
                              <m:rPr>
                                <m:sty m:val="p"/>
                              </m:rPr>
                              <a:rPr lang="en-IN" sz="2400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−</m:t>
                            </m:r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2</m:t>
                            </m:r>
                          </m:num>
                          <m:den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24</m:t>
                            </m:r>
                          </m:den>
                        </m:f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−</m:t>
                        </m:r>
                        <m:f>
                          <m:fPr>
                            <m:type m:val="bar"/>
                            <m:ctrlP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fPr>
                          <m:num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𝑤</m:t>
                            </m:r>
                          </m:num>
                          <m:den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72</m:t>
                            </m:r>
                          </m:den>
                        </m:f>
                      </m:e>
                    </m:d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𝑦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 </m:t>
                        </m:r>
                        <m:sSup>
                          <m:e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𝑤</m:t>
                            </m:r>
                          </m:e>
                          <m:sup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2</m:t>
                            </m:r>
                          </m:sup>
                        </m:sSup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72</m:t>
                        </m:r>
                      </m:den>
                    </m:f>
                    <m:d>
                      <m:dPr>
                        <m:begChr m:val="["/>
                        <m:sepChr m:val=""/>
                        <m:endChr m:val="]"/>
                        <m:grow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−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𝑤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+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6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+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3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𝑤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−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6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−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𝑤</m:t>
                        </m:r>
                      </m:e>
                    </m:d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0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 The identity holds.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Choice>
        <mc:Fallback>
          <p:sp>
            <p:nvSpPr>
              <p:cNvPr id="5" name="Rectangle 4"/>
              <p:cNvSpPr/>
              <p:nvPr/>
            </p:nvSpPr>
            <p:spPr>
              <a:xfrm>
                <a:off x="731520" y="1353312"/>
                <a:ext cx="10725912" cy="4434840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Let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$w=3y^2-1$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 Then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$x_y=\frac w2$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$x=\frac{y(w-2)}{6}$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$x^2=\frac{(w+1)(w-2)^2}{108}$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$-3y\left[x^2-\frac1{27}\right]=-\frac{y}{36}\left[(w+1)(w-2)^2-4\right]=-\frac y{36}\left(w^3-3w^2\right)$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;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$x\,x_y^2=\frac{y(w-2)w^2}{24}$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;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$\frac y9x_y^3=\frac{yw^3}{72}$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Sum: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$y\,w^2\left[-\frac{w-3}{36}+\frac{w-2}{24}-\frac{w}{72}\right]=\frac{y\,w^2}{72}\left[-2w+6+3w-6-w\right]=0$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 The identity holds.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6" name="Rounded Rectangle 5"/>
              <p:cNvSpPr/>
              <p:nvPr/>
            </p:nvSpPr>
            <p:spPr>
              <a:xfrm>
                <a:off x="731520" y="5897880"/>
                <a:ext cx="10725912" cy="777240"/>
              </a:xfrm>
              <a:prstGeom prst="roundRect">
                <a:avLst>
                  <a:gd name="adj" fmla="val 8000"/>
                </a:avLst>
              </a:prstGeom>
              <a:solidFill>
                <a:srgbClr val="DCFCE7"/>
              </a:solidFill>
              <a:ln w="25400">
                <a:solidFill>
                  <a:srgbClr val="15803D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5803D"/>
              </a:fontRef>
            </p:style>
            <p:txBody>
              <a:bodyPr rtlCol="0" anchor="ctr" wrap="square" lIns="228600" rIns="228600" tIns="18288" bIns="73152"/>
              <a:lstStyle>
                <a:lvl1pPr>
                  <a:defRPr sz="2800">
                    <a:solidFill>
                      <a:srgbClr val="15803D"/>
                    </a:solidFill>
                  </a:defRPr>
                </a:lvl1pPr>
              </a:lstStyle>
              <a:p>
                <a:pPr algn="ctr">
                  <a:defRPr sz="2800">
                    <a:solidFill>
                      <a:srgbClr val="15803D"/>
                    </a:solidFill>
                  </a:defRPr>
                </a:pPr>
                <a:r>
                  <a:rPr sz="2800" b="1">
                    <a:solidFill>
                      <a:srgbClr val="15803D"/>
                    </a:solidFill>
                    <a:latin typeface="Arial"/>
                  </a:rPr>
                  <a:t>Same answer: Proved: </a:t>
                </a:r>
                <a14:m>
                  <m:oMath xmlns:m="http://schemas.openxmlformats.org/officeDocument/2006/math">
                    <m:sSup>
                      <m:e>
                        <m:r>
                          <a:rPr lang="en-IN" sz="2800" i="1">
                            <a:solidFill>
                              <a:srgbClr val="15803D"/>
                            </a:solidFill>
                            <a:latin typeface="Cambria Math" panose="02040503050406030204" pitchFamily="18" charset="0"/>
                          </a:rPr>
                          <m:t>𝑦</m:t>
                        </m:r>
                      </m:e>
                      <m:sup>
                        <m:r>
                          <m:rPr>
                            <m:sty m:val="p"/>
                          </m:rPr>
                          <a:rPr lang="en-IN" sz="2800">
                            <a:solidFill>
                              <a:srgbClr val="15803D"/>
                            </a:solidFill>
                            <a:latin typeface="Cambria Math" panose="02040503050406030204" pitchFamily="18" charset="0"/>
                          </a:rPr>
                          <m:t>″</m:t>
                        </m:r>
                      </m:sup>
                    </m:sSup>
                    <m:r>
                      <m:rPr>
                        <m:sty m:val="p"/>
                      </m:rPr>
                      <a:rPr lang="en-IN" sz="2800">
                        <a:solidFill>
                          <a:srgbClr val="15803D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m:rPr>
                        <m:sty m:val="p"/>
                      </m:rPr>
                      <a:rPr lang="en-IN" sz="2800">
                        <a:solidFill>
                          <a:srgbClr val="15803D"/>
                        </a:solidFill>
                        <a:latin typeface="Cambria Math" panose="02040503050406030204" pitchFamily="18" charset="0"/>
                      </a:rPr>
                      <m:t>−</m:t>
                    </m:r>
                    <m:f>
                      <m:fPr>
                        <m:type m:val="bar"/>
                        <m:ctrlPr>
                          <a:rPr lang="en-IN" sz="2800" i="1">
                            <a:solidFill>
                              <a:srgbClr val="15803D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800" i="1">
                            <a:solidFill>
                              <a:srgbClr val="15803D"/>
                            </a:solidFill>
                            <a:latin typeface="Cambria Math" panose="02040503050406030204" pitchFamily="18" charset="0"/>
                          </a:rPr>
                          <m:t>24</m:t>
                        </m:r>
                        <m:r>
                          <a:rPr lang="en-IN" sz="2800" i="1">
                            <a:solidFill>
                              <a:srgbClr val="15803D"/>
                            </a:solidFill>
                            <a:latin typeface="Cambria Math" panose="02040503050406030204" pitchFamily="18" charset="0"/>
                          </a:rPr>
                          <m:t>𝑦</m:t>
                        </m:r>
                      </m:num>
                      <m:den>
                        <m:r>
                          <m:rPr>
                            <m:sty m:val="p"/>
                          </m:rPr>
                          <a:rPr lang="en-IN" sz="2800">
                            <a:solidFill>
                              <a:srgbClr val="15803D"/>
                            </a:solidFill>
                            <a:latin typeface="Cambria Math" panose="02040503050406030204" pitchFamily="18" charset="0"/>
                          </a:rPr>
                          <m:t>(</m:t>
                        </m:r>
                        <m:r>
                          <a:rPr lang="en-IN" sz="2800" i="1">
                            <a:solidFill>
                              <a:srgbClr val="15803D"/>
                            </a:solidFill>
                            <a:latin typeface="Cambria Math" panose="02040503050406030204" pitchFamily="18" charset="0"/>
                          </a:rPr>
                          <m:t>3</m:t>
                        </m:r>
                        <m:sSup>
                          <m:e>
                            <m:r>
                              <a:rPr lang="en-IN" sz="2800" i="1">
                                <a:solidFill>
                                  <a:srgbClr val="15803D"/>
                                </a:solidFill>
                                <a:latin typeface="Cambria Math" panose="02040503050406030204" pitchFamily="18" charset="0"/>
                              </a:rPr>
                              <m:t>𝑦</m:t>
                            </m:r>
                          </m:e>
                          <m:sup>
                            <m:r>
                              <a:rPr lang="en-IN" sz="2800" i="1">
                                <a:solidFill>
                                  <a:srgbClr val="15803D"/>
                                </a:solidFill>
                                <a:latin typeface="Cambria Math" panose="02040503050406030204" pitchFamily="18" charset="0"/>
                              </a:rPr>
                              <m:t>2</m:t>
                            </m:r>
                          </m:sup>
                        </m:sSup>
                        <m:r>
                          <m:rPr>
                            <m:sty m:val="p"/>
                          </m:rPr>
                          <a:rPr lang="en-IN" sz="2800">
                            <a:solidFill>
                              <a:srgbClr val="15803D"/>
                            </a:solidFill>
                            <a:latin typeface="Cambria Math" panose="02040503050406030204" pitchFamily="18" charset="0"/>
                          </a:rPr>
                          <m:t>−</m:t>
                        </m:r>
                        <m:r>
                          <a:rPr lang="en-IN" sz="2800" i="1">
                            <a:solidFill>
                              <a:srgbClr val="15803D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  <m:sSup>
                          <m:e>
                            <m:r>
                              <m:rPr>
                                <m:sty m:val="p"/>
                              </m:rPr>
                              <a:rPr lang="en-IN" sz="2800">
                                <a:solidFill>
                                  <a:srgbClr val="15803D"/>
                                </a:solidFill>
                                <a:latin typeface="Cambria Math" panose="02040503050406030204" pitchFamily="18" charset="0"/>
                              </a:rPr>
                              <m:t>)</m:t>
                            </m:r>
                          </m:e>
                          <m:sup>
                            <m:r>
                              <a:rPr lang="en-IN" sz="2800" i="1">
                                <a:solidFill>
                                  <a:srgbClr val="15803D"/>
                                </a:solidFill>
                                <a:latin typeface="Cambria Math" panose="02040503050406030204" pitchFamily="18" charset="0"/>
                              </a:rPr>
                              <m:t>3</m:t>
                            </m:r>
                          </m:sup>
                        </m:sSup>
                      </m:den>
                    </m:f>
                  </m:oMath>
                </a14:m>
                <a:r>
                  <a:rPr sz="2800" b="1">
                    <a:solidFill>
                      <a:srgbClr val="15803D"/>
                    </a:solidFill>
                    <a:latin typeface="Arial"/>
                  </a:rPr>
                  <a:t> and </a:t>
                </a:r>
                <a14:m>
                  <m:oMath xmlns:m="http://schemas.openxmlformats.org/officeDocument/2006/math">
                    <m:d>
                      <m:dPr>
                        <m:begChr m:val="("/>
                        <m:sepChr m:val=""/>
                        <m:endChr m:val=")"/>
                        <m:grow/>
                        <m:ctrlPr>
                          <a:rPr lang="en-IN" sz="2800" i="1">
                            <a:solidFill>
                              <a:srgbClr val="15803D"/>
                            </a:solidFill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sSup>
                          <m:e>
                            <m:r>
                              <a:rPr lang="en-IN" sz="2800" i="1">
                                <a:solidFill>
                                  <a:srgbClr val="15803D"/>
                                </a:solidFill>
                                <a:latin typeface="Cambria Math" panose="02040503050406030204" pitchFamily="18" charset="0"/>
                              </a:rPr>
                              <m:t>𝑥</m:t>
                            </m:r>
                          </m:e>
                          <m:sup>
                            <m:r>
                              <a:rPr lang="en-IN" sz="2800" i="1">
                                <a:solidFill>
                                  <a:srgbClr val="15803D"/>
                                </a:solidFill>
                                <a:latin typeface="Cambria Math" panose="02040503050406030204" pitchFamily="18" charset="0"/>
                              </a:rPr>
                              <m:t>2</m:t>
                            </m:r>
                          </m:sup>
                        </m:sSup>
                        <m:r>
                          <m:rPr>
                            <m:sty m:val="p"/>
                          </m:rPr>
                          <a:rPr lang="en-IN" sz="2800">
                            <a:solidFill>
                              <a:srgbClr val="15803D"/>
                            </a:solidFill>
                            <a:latin typeface="Cambria Math" panose="02040503050406030204" pitchFamily="18" charset="0"/>
                          </a:rPr>
                          <m:t>−</m:t>
                        </m:r>
                        <m:f>
                          <m:fPr>
                            <m:type m:val="bar"/>
                            <m:ctrlPr>
                              <a:rPr lang="en-IN" sz="2800" i="1">
                                <a:solidFill>
                                  <a:srgbClr val="15803D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fPr>
                          <m:num>
                            <m:r>
                              <a:rPr lang="en-IN" sz="2800" i="1">
                                <a:solidFill>
                                  <a:srgbClr val="15803D"/>
                                </a:solidFill>
                                <a:latin typeface="Cambria Math" panose="02040503050406030204" pitchFamily="18" charset="0"/>
                              </a:rPr>
                              <m:t>1</m:t>
                            </m:r>
                          </m:num>
                          <m:den>
                            <m:r>
                              <a:rPr lang="en-IN" sz="2800" i="1">
                                <a:solidFill>
                                  <a:srgbClr val="15803D"/>
                                </a:solidFill>
                                <a:latin typeface="Cambria Math" panose="02040503050406030204" pitchFamily="18" charset="0"/>
                              </a:rPr>
                              <m:t>27</m:t>
                            </m:r>
                          </m:den>
                        </m:f>
                      </m:e>
                    </m:d>
                    <m:sSup>
                      <m:e>
                        <m:r>
                          <a:rPr lang="en-IN" sz="2800" i="1">
                            <a:solidFill>
                              <a:srgbClr val="15803D"/>
                            </a:solidFill>
                            <a:latin typeface="Cambria Math" panose="02040503050406030204" pitchFamily="18" charset="0"/>
                          </a:rPr>
                          <m:t>𝑦</m:t>
                        </m:r>
                      </m:e>
                      <m:sup>
                        <m:r>
                          <m:rPr>
                            <m:sty m:val="p"/>
                          </m:rPr>
                          <a:rPr lang="en-IN" sz="2800">
                            <a:solidFill>
                              <a:srgbClr val="15803D"/>
                            </a:solidFill>
                            <a:latin typeface="Cambria Math" panose="02040503050406030204" pitchFamily="18" charset="0"/>
                          </a:rPr>
                          <m:t>″</m:t>
                        </m:r>
                      </m:sup>
                    </m:sSup>
                    <m:r>
                      <m:rPr>
                        <m:sty m:val="p"/>
                      </m:rPr>
                      <a:rPr lang="en-IN" sz="2800">
                        <a:solidFill>
                          <a:srgbClr val="15803D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800" i="1">
                        <a:solidFill>
                          <a:srgbClr val="15803D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sSup>
                      <m:e>
                        <m:r>
                          <a:rPr lang="en-IN" sz="2800" i="1">
                            <a:solidFill>
                              <a:srgbClr val="15803D"/>
                            </a:solidFill>
                            <a:latin typeface="Cambria Math" panose="02040503050406030204" pitchFamily="18" charset="0"/>
                          </a:rPr>
                          <m:t>𝑦</m:t>
                        </m:r>
                      </m:e>
                      <m:sup>
                        <m:r>
                          <m:rPr>
                            <m:sty m:val="p"/>
                          </m:rPr>
                          <a:rPr lang="en-IN" sz="2800">
                            <a:solidFill>
                              <a:srgbClr val="15803D"/>
                            </a:solidFill>
                            <a:latin typeface="Cambria Math" panose="02040503050406030204" pitchFamily="18" charset="0"/>
                          </a:rPr>
                          <m:t>′</m:t>
                        </m:r>
                      </m:sup>
                    </m:sSup>
                    <m:r>
                      <m:rPr>
                        <m:sty m:val="p"/>
                      </m:rPr>
                      <a:rPr lang="en-IN" sz="2800">
                        <a:solidFill>
                          <a:srgbClr val="15803D"/>
                        </a:solidFill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type m:val="bar"/>
                        <m:ctrlPr>
                          <a:rPr lang="en-IN" sz="2800" i="1">
                            <a:solidFill>
                              <a:srgbClr val="15803D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800" i="1">
                            <a:solidFill>
                              <a:srgbClr val="15803D"/>
                            </a:solidFill>
                            <a:latin typeface="Cambria Math" panose="02040503050406030204" pitchFamily="18" charset="0"/>
                          </a:rPr>
                          <m:t>𝑦</m:t>
                        </m:r>
                      </m:num>
                      <m:den>
                        <m:r>
                          <a:rPr lang="en-IN" sz="2800" i="1">
                            <a:solidFill>
                              <a:srgbClr val="15803D"/>
                            </a:solidFill>
                            <a:latin typeface="Cambria Math" panose="02040503050406030204" pitchFamily="18" charset="0"/>
                          </a:rPr>
                          <m:t>9</m:t>
                        </m:r>
                      </m:den>
                    </m:f>
                  </m:oMath>
                </a14:m>
                <a:endParaRPr sz="2800">
                  <a:solidFill>
                    <a:srgbClr val="15803D"/>
                  </a:solidFill>
                </a:endParaRPr>
              </a:p>
            </p:txBody>
          </p:sp>
        </mc:Choice>
        <mc:Fallback>
          <p:sp>
            <p:nvSpPr>
              <p:cNvPr id="6" name="Rounded Rectangle 5"/>
              <p:cNvSpPr/>
              <p:nvPr/>
            </p:nvSpPr>
            <p:spPr>
              <a:xfrm>
                <a:off x="731520" y="5897880"/>
                <a:ext cx="10725912" cy="777240"/>
              </a:xfrm>
              <a:prstGeom prst="roundRect">
                <a:avLst>
                  <a:gd name="adj" fmla="val 8000"/>
                </a:avLst>
              </a:prstGeom>
              <a:solidFill>
                <a:srgbClr val="DCFCE7"/>
              </a:solidFill>
              <a:ln w="25400">
                <a:solidFill>
                  <a:srgbClr val="15803D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5803D"/>
              </a:fontRef>
            </p:style>
            <p:txBody>
              <a:bodyPr rtlCol="0" anchor="ctr" wrap="square" lIns="228600" rIns="228600" tIns="18288" bIns="73152"/>
              <a:lstStyle>
                <a:lvl1pPr>
                  <a:defRPr sz="2800">
                    <a:solidFill>
                      <a:srgbClr val="15803D"/>
                    </a:solidFill>
                  </a:defRPr>
                </a:lvl1pPr>
              </a:lstStyle>
              <a:p>
                <a:pPr algn="ctr">
                  <a:defRPr sz="2800">
                    <a:solidFill>
                      <a:srgbClr val="15803D"/>
                    </a:solidFill>
                  </a:defRPr>
                </a:pPr>
                <a:r>
                  <a:rPr sz="2800" b="1">
                    <a:solidFill>
                      <a:srgbClr val="15803D"/>
                    </a:solidFill>
                    <a:latin typeface="Arial"/>
                  </a:rPr>
                  <a:t>Same answer: Proved: </a:t>
                </a:r>
                <a:r>
                  <a:rPr lang="en-IN" sz="2800">
                    <a:solidFill>
                      <a:srgbClr val="15803D"/>
                    </a:solidFill>
                    <a:latin typeface="Cambria Math" panose="02040503050406030204" pitchFamily="18" charset="0"/>
                  </a:rPr>
                  <a:t>$y''=-\frac{24y}{(3y^2-1)^3}$</a:t>
                </a:r>
                <a:r>
                  <a:rPr sz="2800" b="1">
                    <a:solidFill>
                      <a:srgbClr val="15803D"/>
                    </a:solidFill>
                    <a:latin typeface="Arial"/>
                  </a:rPr>
                  <a:t> and </a:t>
                </a:r>
                <a:r>
                  <a:rPr lang="en-IN" sz="2800">
                    <a:solidFill>
                      <a:srgbClr val="15803D"/>
                    </a:solidFill>
                    <a:latin typeface="Cambria Math" panose="02040503050406030204" pitchFamily="18" charset="0"/>
                  </a:rPr>
                  <a:t>$\left(x^2-\frac1{27}\right)y''+xy'=\frac y9$</a:t>
                </a:r>
                <a:endParaRPr sz="2800">
                  <a:solidFill>
                    <a:srgbClr val="15803D"/>
                  </a:solidFill>
                </a:endParaRPr>
              </a:p>
            </p:txBody>
          </p:sp>
        </mc:Fallback>
      </mc:AlternateContent>
    </p:spTree>
  </p:cSld>
  <p:clrMapOvr>
    <a:masterClrMapping/>
  </p:clrMapOvr>
</p:sld>
</file>

<file path=ppt/slides/slide13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FFFFFF"/>
          </a:fontRef>
        </p:style>
        <p:txBody>
          <a:bodyPr rtlCol="0" anchor="ctr" lIns="731520"/>
          <a:lstStyle>
            <a:lvl1pPr>
              <a:defRPr sz="3200">
                <a:solidFill>
                  <a:srgbClr val="FFFFFF"/>
                </a:solidFill>
              </a:defRPr>
            </a:lvl1pPr>
          </a:lstStyle>
          <a:p>
            <a:pPr algn="l">
              <a:defRPr sz="3200">
                <a:solidFill>
                  <a:srgbClr val="FFFFFF"/>
                </a:solidFill>
              </a:defRPr>
            </a:pPr>
            <a:r>
              <a:rPr sz="3200" b="1">
                <a:solidFill>
                  <a:srgbClr val="FFFFFF"/>
                </a:solidFill>
                <a:latin typeface="Arial"/>
              </a:rPr>
              <a:t>Question 20</a:t>
            </a:r>
            <a:endParaRPr sz="3200">
              <a:solidFill>
                <a:srgbClr val="FFFFFF"/>
              </a:solidFill>
            </a:endParaRPr>
          </a:p>
        </p:txBody>
      </p:sp>
      <p:sp>
        <p:nvSpPr>
          <p:cNvPr id="3" name="Rounded Rectangle 2"/>
          <p:cNvSpPr/>
          <p:nvPr/>
        </p:nvSpPr>
        <p:spPr>
          <a:xfrm>
            <a:off x="7894015" y="246887"/>
            <a:ext cx="3840480" cy="603504"/>
          </a:xfrm>
          <a:prstGeom prst="roundRect">
            <a:avLst>
              <a:gd name="adj" fmla="val 50000"/>
            </a:avLst>
          </a:prstGeom>
          <a:solidFill>
            <a:srgbClr val="F6B26B"/>
          </a:solidFill>
          <a:ln w="1905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111827"/>
          </a:fontRef>
        </p:style>
        <p:txBody>
          <a:bodyPr rtlCol="0" anchor="ctr" wrap="square" lIns="228600" rIns="228600" tIns="18288" bIns="18288"/>
          <a:lstStyle>
            <a:lvl1pPr>
              <a:defRPr sz="2400">
                <a:solidFill>
                  <a:srgbClr val="111827"/>
                </a:solidFill>
              </a:defRPr>
            </a:lvl1pPr>
          </a:lstStyle>
          <a:p>
            <a:pPr algn="ctr">
              <a:defRPr sz="2400">
                <a:solidFill>
                  <a:srgbClr val="111827"/>
                </a:solidFill>
              </a:defRPr>
            </a:pPr>
            <a:r>
              <a:rPr sz="2400" b="1">
                <a:solidFill>
                  <a:srgbClr val="111827"/>
                </a:solidFill>
                <a:latin typeface="Arial"/>
              </a:rPr>
              <a:t>Level 3  ·  4 Marks</a:t>
            </a:r>
            <a:endParaRPr sz="2400">
              <a:solidFill>
                <a:srgbClr val="111827"/>
              </a:solidFill>
            </a:endParaRPr>
          </a:p>
        </p:txBody>
      </p:sp>
      <p:sp>
        <p:nvSpPr>
          <p:cNvPr id="4" name="Rounded Rectangle 3"/>
          <p:cNvSpPr/>
          <p:nvPr/>
        </p:nvSpPr>
        <p:spPr>
          <a:xfrm>
            <a:off x="3520440" y="265176"/>
            <a:ext cx="4206240" cy="566928"/>
          </a:xfrm>
          <a:prstGeom prst="roundRect">
            <a:avLst>
              <a:gd name="adj" fmla="val 50000"/>
            </a:avLst>
          </a:prstGeom>
          <a:solidFill>
            <a:srgbClr val="E0ECFF"/>
          </a:solidFill>
          <a:ln w="25400">
            <a:solidFill>
              <a:srgbClr val="1D4ED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0B1F3A"/>
          </a:fontRef>
        </p:style>
        <p:txBody>
          <a:bodyPr rtlCol="0" anchor="ctr" wrap="square" lIns="228600" rIns="228600" tIns="18288" bIns="18288"/>
          <a:lstStyle>
            <a:lvl1pPr>
              <a:defRPr sz="2200">
                <a:solidFill>
                  <a:srgbClr val="0B1F3A"/>
                </a:solidFill>
              </a:defRPr>
            </a:lvl1pPr>
          </a:lstStyle>
          <a:p>
            <a:pPr algn="ctr">
              <a:defRPr sz="2200">
                <a:solidFill>
                  <a:srgbClr val="0B1F3A"/>
                </a:solidFill>
              </a:defRPr>
            </a:pPr>
            <a:r>
              <a:rPr sz="2200" b="1">
                <a:solidFill>
                  <a:srgbClr val="0B1F3A"/>
                </a:solidFill>
                <a:latin typeface="Arial"/>
              </a:rPr>
              <a:t>Useful Result / Pattern</a:t>
            </a:r>
            <a:endParaRPr sz="2200">
              <a:solidFill>
                <a:srgbClr val="0B1F3A"/>
              </a:solidFill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5" name="Rectangle 4"/>
              <p:cNvSpPr/>
              <p:nvPr/>
            </p:nvSpPr>
            <p:spPr>
              <a:xfrm>
                <a:off x="731520" y="1353312"/>
                <a:ext cx="10725912" cy="5321808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If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ϕ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𝑦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is a simple polynomial while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𝑦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is implicit, use </a:t>
                </a:r>
                <a14:m>
                  <m:oMath xmlns:m="http://schemas.openxmlformats.org/officeDocument/2006/math"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𝑦</m:t>
                        </m:r>
                      </m:e>
                      <m:sup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′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num>
                      <m:den>
                        <m:sSup>
                          <m:e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ϕ</m:t>
                            </m:r>
                          </m:e>
                          <m:sup>
                            <m:r>
                              <m:rPr>
                                <m:sty m:val="p"/>
                              </m:rPr>
                              <a:rPr lang="en-IN" sz="2400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′</m:t>
                            </m:r>
                          </m:sup>
                        </m:sSup>
                      </m:den>
                    </m:f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and </a:t>
                </a:r>
                <a14:m>
                  <m:oMath xmlns:m="http://schemas.openxmlformats.org/officeDocument/2006/math"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𝑦</m:t>
                        </m:r>
                      </m:e>
                      <m:sup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″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sSup>
                          <m:e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ϕ</m:t>
                            </m:r>
                          </m:e>
                          <m:sup>
                            <m:r>
                              <m:rPr>
                                <m:sty m:val="p"/>
                              </m:rPr>
                              <a:rPr lang="en-IN" sz="2400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″</m:t>
                            </m:r>
                          </m:sup>
                        </m:sSup>
                      </m:num>
                      <m:den>
                        <m:sSup>
                          <m:e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ϕ</m:t>
                            </m:r>
                          </m:e>
                          <m:sup>
                            <m:r>
                              <m:rPr>
                                <m:sty m:val="p"/>
                              </m:rPr>
                              <a:rPr lang="en-IN" sz="2400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′</m:t>
                            </m:r>
                          </m:sup>
                        </m:sSup>
                        <m:sSup>
                          <m:e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​</m:t>
                            </m:r>
                          </m:e>
                          <m:sup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3</m:t>
                            </m:r>
                          </m:sup>
                        </m:sSup>
                      </m:den>
                    </m:f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— no need to solve the cubic.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The cubic </a:t>
                </a:r>
                <a14:m>
                  <m:oMath xmlns:m="http://schemas.openxmlformats.org/officeDocument/2006/math"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𝑦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3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𝑦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has </a:t>
                </a:r>
                <a14:m>
                  <m:oMath xmlns:m="http://schemas.openxmlformats.org/officeDocument/2006/math"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𝑑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𝑑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𝑦</m:t>
                        </m:r>
                      </m:den>
                    </m:f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0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at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𝑦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±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num>
                      <m:den>
                        <m:rad>
                          <m:radPr>
                            <m:degHide m:val="on"/>
                            <m:ctrlP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radPr>
                          <m:deg/>
                          <m:e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3</m:t>
                            </m:r>
                          </m:e>
                        </m:rad>
                      </m:den>
                    </m:f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where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∓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3</m:t>
                        </m:r>
                        <m:rad>
                          <m:radPr>
                            <m:degHide m:val="on"/>
                            <m:ctrlP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radPr>
                          <m:deg/>
                          <m:e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3</m:t>
                            </m:r>
                          </m:e>
                        </m:rad>
                      </m:den>
                    </m:f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i.e. </a:t>
                </a:r>
                <a14:m>
                  <m:oMath xmlns:m="http://schemas.openxmlformats.org/officeDocument/2006/math"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27</m:t>
                        </m:r>
                      </m:den>
                    </m:f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: that is why the coefficient </a:t>
                </a:r>
                <a14:m>
                  <m:oMath xmlns:m="http://schemas.openxmlformats.org/officeDocument/2006/math"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27</m:t>
                        </m:r>
                      </m:den>
                    </m:f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appears. It is the discriminant condition of the cubic.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Multiplying the identity by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27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: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𝑦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satisfies the linear equation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27</m:t>
                    </m:r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𝑦</m:t>
                        </m:r>
                      </m:e>
                      <m:sup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″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27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𝑦</m:t>
                        </m:r>
                      </m:e>
                      <m:sup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′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3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𝑦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0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of Chebyshev type, so every root branch of </a:t>
                </a:r>
                <a14:m>
                  <m:oMath xmlns:m="http://schemas.openxmlformats.org/officeDocument/2006/math"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𝑦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3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𝑦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satisfies it.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Check at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𝑦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: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3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; </a:t>
                </a:r>
                <a14:m>
                  <m:oMath xmlns:m="http://schemas.openxmlformats.org/officeDocument/2006/math"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𝑦</m:t>
                        </m:r>
                      </m:e>
                      <m:sup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′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11</m:t>
                        </m:r>
                      </m:den>
                    </m:f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</a:t>
                </a:r>
                <a14:m>
                  <m:oMath xmlns:m="http://schemas.openxmlformats.org/officeDocument/2006/math"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𝑦</m:t>
                        </m:r>
                      </m:e>
                      <m:sup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″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48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1331</m:t>
                        </m:r>
                      </m:den>
                    </m:f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; LHS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d>
                      <m:dPr>
                        <m:begChr m:val="("/>
                        <m:sepChr m:val=""/>
                        <m:endChr m:val=")"/>
                        <m:grow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9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−</m:t>
                        </m:r>
                        <m:f>
                          <m:fPr>
                            <m:type m:val="bar"/>
                            <m:ctrlP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fPr>
                          <m:num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1</m:t>
                            </m:r>
                          </m:num>
                          <m:den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27</m:t>
                            </m:r>
                          </m:den>
                        </m:f>
                      </m:e>
                    </m:d>
                    <m:d>
                      <m:dPr>
                        <m:begChr m:val="("/>
                        <m:sepChr m:val=""/>
                        <m:endChr m:val=")"/>
                        <m:grow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−</m:t>
                        </m:r>
                        <m:f>
                          <m:fPr>
                            <m:type m:val="bar"/>
                            <m:ctrlP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fPr>
                          <m:num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48</m:t>
                            </m:r>
                          </m:num>
                          <m:den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1331</m:t>
                            </m:r>
                          </m:den>
                        </m:f>
                      </m:e>
                    </m:d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6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11</m:t>
                        </m:r>
                      </m:den>
                    </m:f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9</m:t>
                        </m:r>
                      </m:den>
                    </m:f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and RHS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9</m:t>
                        </m:r>
                      </m:den>
                    </m:f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Choice>
        <mc:Fallback>
          <p:sp>
            <p:nvSpPr>
              <p:cNvPr id="5" name="Rectangle 4"/>
              <p:cNvSpPr/>
              <p:nvPr/>
            </p:nvSpPr>
            <p:spPr>
              <a:xfrm>
                <a:off x="731520" y="1353312"/>
                <a:ext cx="10725912" cy="5321808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If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$x=\phi(y)$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is a simple polynomial while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$y(x)$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is implicit, use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$y'=\frac1{\phi'}$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and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$y''=-\frac{\phi''}{\phi'^3}$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— no need to solve the cubic.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The cubic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$y^3-y=2x$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has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$\frac{dx}{dy}=0$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at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$y=\pm\frac1{\sqrt3}$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where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$x=\mp\frac{1}{3\sqrt3}$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i.e.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$x^2=\frac1{27}$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: that is why the coefficient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$x^2-\frac1{27}$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appears. It is the discriminant condition of the cubic.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Multiplying the identity by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$27$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: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$y$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satisfies the linear equation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$(27x^2-1)y''+27xy'-3y=0$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of Chebyshev type, so every root branch of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$y^3-y=2x$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satisfies it.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Check at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$y=2$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: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$x=3$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;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$y'=\frac2{11}$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$y''=-\frac{48}{1331}$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; LHS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$=\left(9-\frac1{27}\right)\left(-\frac{48}{1331}\right)+\frac6{11}=\frac{2}{9}$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and RHS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$=\frac29$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Fallback>
      </mc:AlternateContent>
    </p:spTree>
  </p:cSld>
  <p:clrMapOvr>
    <a:masterClrMapping/>
  </p:clrMapOvr>
</p:sld>
</file>

<file path=ppt/slides/slide13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914400" y="1463040"/>
            <a:ext cx="10362895" cy="4114800"/>
          </a:xfrm>
          <a:prstGeom prst="rect">
            <a:avLst/>
          </a:prstGeom>
          <a:noFill/>
        </p:spPr>
        <p:txBody>
          <a:bodyPr wrap="square">
            <a:spAutoFit/>
          </a:bodyPr>
          <a:lstStyle>
            <a:lvl1pPr>
              <a:defRPr sz="2800">
                <a:solidFill>
                  <a:srgbClr val="FFFFFF"/>
                </a:solidFill>
              </a:defRPr>
            </a:lvl1pPr>
          </a:lstStyle>
          <a:p>
            <a:pPr algn="ctr">
              <a:spcAft>
                <a:spcPts val="1000"/>
              </a:spcAft>
              <a:defRPr sz="2800">
                <a:solidFill>
                  <a:srgbClr val="FFFFFF"/>
                </a:solidFill>
              </a:defRPr>
            </a:pPr>
            <a:r>
              <a:rPr sz="2800" b="0">
                <a:solidFill>
                  <a:srgbClr val="93C5FD"/>
                </a:solidFill>
                <a:latin typeface="Arial"/>
              </a:rPr>
              <a:t>Section 10</a:t>
            </a:r>
            <a:endParaRPr sz="2800">
              <a:solidFill>
                <a:srgbClr val="FFFFFF"/>
              </a:solidFill>
            </a:endParaRPr>
          </a:p>
          <a:p>
            <a:pPr algn="ctr">
              <a:spcAft>
                <a:spcPts val="1000"/>
              </a:spcAft>
              <a:defRPr sz="2800">
                <a:solidFill>
                  <a:srgbClr val="FFFFFF"/>
                </a:solidFill>
              </a:defRPr>
            </a:pPr>
            <a:r>
              <a:rPr sz="4400" b="1">
                <a:solidFill>
                  <a:srgbClr val="FFFFFF"/>
                </a:solidFill>
                <a:latin typeface="Arial"/>
              </a:rPr>
              <a:t>Paragraph Based Single Correct Type</a:t>
            </a:r>
            <a:endParaRPr sz="2800">
              <a:solidFill>
                <a:srgbClr val="FFFFFF"/>
              </a:solidFill>
            </a:endParaRPr>
          </a:p>
          <a:p>
            <a:pPr algn="ctr">
              <a:spcAft>
                <a:spcPts val="1000"/>
              </a:spcAft>
              <a:defRPr sz="2800">
                <a:solidFill>
                  <a:srgbClr val="FFFFFF"/>
                </a:solidFill>
              </a:defRPr>
            </a:pPr>
            <a:r>
              <a:rPr sz="3200" b="1">
                <a:solidFill>
                  <a:srgbClr val="FFFFFF"/>
                </a:solidFill>
                <a:latin typeface="Arial"/>
              </a:rPr>
              <a:t>Q21 – Q25</a:t>
            </a:r>
            <a:endParaRPr sz="2800">
              <a:solidFill>
                <a:srgbClr val="FFFFFF"/>
              </a:solidFill>
            </a:endParaRPr>
          </a:p>
          <a:p>
            <a:pPr algn="ctr">
              <a:spcAft>
                <a:spcPts val="1000"/>
              </a:spcAft>
              <a:defRPr sz="2800">
                <a:solidFill>
                  <a:srgbClr val="FFFFFF"/>
                </a:solidFill>
              </a:defRPr>
            </a:pPr>
            <a:r>
              <a:rPr sz="2800" b="0">
                <a:solidFill>
                  <a:srgbClr val="FFFFFF"/>
                </a:solidFill>
                <a:latin typeface="Arial"/>
              </a:rPr>
              <a:t>3 marks each (no marks printed in the paper: JEE Advanced default assumed)</a:t>
            </a:r>
            <a:endParaRPr sz="2800">
              <a:solidFill>
                <a:srgbClr val="FFFFFF"/>
              </a:solidFill>
            </a:endParaRPr>
          </a:p>
          <a:p>
            <a:pPr algn="ctr">
              <a:spcAft>
                <a:spcPts val="1000"/>
              </a:spcAft>
              <a:defRPr sz="2800">
                <a:solidFill>
                  <a:srgbClr val="FFFFFF"/>
                </a:solidFill>
              </a:defRPr>
            </a:pPr>
            <a:r>
              <a:rPr sz="2800" b="0">
                <a:solidFill>
                  <a:srgbClr val="FFFFFF"/>
                </a:solidFill>
                <a:latin typeface="Arial"/>
              </a:rPr>
              <a:t>Two paragraphs: Paper Q20-22 (here Q21-23) and Paper Q23-24 (here Q24-25); single correct option</a:t>
            </a:r>
            <a:endParaRPr sz="2800">
              <a:solidFill>
                <a:srgbClr val="FFFFFF"/>
              </a:solidFill>
            </a:endParaRPr>
          </a:p>
        </p:txBody>
      </p:sp>
    </p:spTree>
  </p:cSld>
  <p:clrMapOvr>
    <a:masterClrMapping/>
  </p:clrMapOvr>
</p:sld>
</file>

<file path=ppt/slides/slide13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FFFFFF"/>
          </a:fontRef>
        </p:style>
        <p:txBody>
          <a:bodyPr rtlCol="0" anchor="ctr" lIns="731520"/>
          <a:lstStyle>
            <a:lvl1pPr>
              <a:defRPr sz="3200">
                <a:solidFill>
                  <a:srgbClr val="FFFFFF"/>
                </a:solidFill>
              </a:defRPr>
            </a:lvl1pPr>
          </a:lstStyle>
          <a:p>
            <a:pPr algn="l">
              <a:defRPr sz="3200">
                <a:solidFill>
                  <a:srgbClr val="FFFFFF"/>
                </a:solidFill>
              </a:defRPr>
            </a:pPr>
            <a:r>
              <a:rPr sz="3200" b="1">
                <a:solidFill>
                  <a:srgbClr val="FFFFFF"/>
                </a:solidFill>
                <a:latin typeface="Arial"/>
              </a:rPr>
              <a:t>Question 21</a:t>
            </a:r>
            <a:endParaRPr sz="3200">
              <a:solidFill>
                <a:srgbClr val="FFFFFF"/>
              </a:solidFill>
            </a:endParaRPr>
          </a:p>
        </p:txBody>
      </p:sp>
      <p:sp>
        <p:nvSpPr>
          <p:cNvPr id="3" name="Rounded Rectangle 2"/>
          <p:cNvSpPr/>
          <p:nvPr/>
        </p:nvSpPr>
        <p:spPr>
          <a:xfrm>
            <a:off x="7894015" y="246887"/>
            <a:ext cx="3840480" cy="603504"/>
          </a:xfrm>
          <a:prstGeom prst="roundRect">
            <a:avLst>
              <a:gd name="adj" fmla="val 50000"/>
            </a:avLst>
          </a:prstGeom>
          <a:solidFill>
            <a:srgbClr val="FFD966"/>
          </a:solidFill>
          <a:ln w="1905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111827"/>
          </a:fontRef>
        </p:style>
        <p:txBody>
          <a:bodyPr rtlCol="0" anchor="ctr" wrap="square" lIns="228600" rIns="228600" tIns="18288" bIns="18288"/>
          <a:lstStyle>
            <a:lvl1pPr>
              <a:defRPr sz="2400">
                <a:solidFill>
                  <a:srgbClr val="111827"/>
                </a:solidFill>
              </a:defRPr>
            </a:lvl1pPr>
          </a:lstStyle>
          <a:p>
            <a:pPr algn="ctr">
              <a:defRPr sz="2400">
                <a:solidFill>
                  <a:srgbClr val="111827"/>
                </a:solidFill>
              </a:defRPr>
            </a:pPr>
            <a:r>
              <a:rPr sz="2400" b="1">
                <a:solidFill>
                  <a:srgbClr val="111827"/>
                </a:solidFill>
                <a:latin typeface="Arial"/>
              </a:rPr>
              <a:t>Level 2  ·  3 Marks</a:t>
            </a:r>
            <a:endParaRPr sz="2400">
              <a:solidFill>
                <a:srgbClr val="111827"/>
              </a:solidFill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4" name="Rounded Rectangle 3"/>
              <p:cNvSpPr/>
              <p:nvPr/>
            </p:nvSpPr>
            <p:spPr>
              <a:xfrm>
                <a:off x="731520" y="1280160"/>
                <a:ext cx="10725912" cy="3799332"/>
              </a:xfrm>
              <a:prstGeom prst="roundRect">
                <a:avLst>
                  <a:gd name="adj" fmla="val 8000"/>
                </a:avLst>
              </a:prstGeom>
              <a:solidFill>
                <a:srgbClr val="E0ECFF"/>
              </a:solidFill>
              <a:ln w="25400">
                <a:solidFill>
                  <a:srgbClr val="1D4ED8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>
                  <a:spcAft>
                    <a:spcPts val="500"/>
                  </a:spcAft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In a certain problem the differentiation of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{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𝑓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⋅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𝑔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}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appears. One student commits a mistake and differentiates it as </a:t>
                </a:r>
                <a14:m>
                  <m:oMath xmlns:m="http://schemas.openxmlformats.org/officeDocument/2006/math"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𝑑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𝑓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𝑑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</m:den>
                    </m:f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⋅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𝑑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𝑔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𝑑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</m:den>
                    </m:f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but he gets the correct result if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𝑓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3</m:t>
                        </m:r>
                      </m:sup>
                    </m:sSup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and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𝑔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is a decreasing function for which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𝑔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0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3</m:t>
                        </m:r>
                      </m:den>
                    </m:f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>
                  <a:spcAft>
                    <a:spcPts val="500"/>
                  </a:spcAft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(Paper Q20) The function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𝑔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is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&gt;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3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: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>
                  <a:spcAft>
                    <a:spcPts val="500"/>
                  </a:spcAft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(A) </a:t>
                </a:r>
                <a14:m>
                  <m:oMath xmlns:m="http://schemas.openxmlformats.org/officeDocument/2006/math"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3</m:t>
                        </m:r>
                      </m:num>
                      <m:den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(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−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3</m:t>
                        </m:r>
                        <m:sSup>
                          <m:e>
                            <m:r>
                              <m:rPr>
                                <m:sty m:val="p"/>
                              </m:rPr>
                              <a:rPr lang="en-IN" sz="2400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)</m:t>
                            </m:r>
                          </m:e>
                          <m:sup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3</m:t>
                            </m:r>
                          </m:sup>
                        </m:sSup>
                      </m:den>
                    </m:f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  (B) </a:t>
                </a:r>
                <a14:m>
                  <m:oMath xmlns:m="http://schemas.openxmlformats.org/officeDocument/2006/math"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4</m:t>
                        </m:r>
                      </m:num>
                      <m:den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(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−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3</m:t>
                        </m:r>
                        <m:sSup>
                          <m:e>
                            <m:r>
                              <m:rPr>
                                <m:sty m:val="p"/>
                              </m:rPr>
                              <a:rPr lang="en-IN" sz="2400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)</m:t>
                            </m:r>
                          </m:e>
                          <m:sup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3</m:t>
                            </m:r>
                          </m:sup>
                        </m:sSup>
                      </m:den>
                    </m:f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  (C) </a:t>
                </a:r>
                <a14:m>
                  <m:oMath xmlns:m="http://schemas.openxmlformats.org/officeDocument/2006/math"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9</m:t>
                        </m:r>
                      </m:num>
                      <m:den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(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−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3</m:t>
                        </m:r>
                        <m:sSup>
                          <m:e>
                            <m:r>
                              <m:rPr>
                                <m:sty m:val="p"/>
                              </m:rPr>
                              <a:rPr lang="en-IN" sz="2400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)</m:t>
                            </m:r>
                          </m:e>
                          <m:sup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3</m:t>
                            </m:r>
                          </m:sup>
                        </m:sSup>
                      </m:den>
                    </m:f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  (D) </a:t>
                </a:r>
                <a14:m>
                  <m:oMath xmlns:m="http://schemas.openxmlformats.org/officeDocument/2006/math"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27</m:t>
                        </m:r>
                      </m:num>
                      <m:den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(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−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3</m:t>
                        </m:r>
                        <m:sSup>
                          <m:e>
                            <m:r>
                              <m:rPr>
                                <m:sty m:val="p"/>
                              </m:rPr>
                              <a:rPr lang="en-IN" sz="2400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)</m:t>
                            </m:r>
                          </m:e>
                          <m:sup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3</m:t>
                            </m:r>
                          </m:sup>
                        </m:sSup>
                      </m:den>
                    </m:f>
                  </m:oMath>
                </a14:m>
                <a:endParaRPr sz="2400">
                  <a:solidFill>
                    <a:srgbClr val="111827"/>
                  </a:solidFill>
                </a:endParaRPr>
              </a:p>
            </p:txBody>
          </p:sp>
        </mc:Choice>
        <mc:Fallback>
          <p:sp>
            <p:nvSpPr>
              <p:cNvPr id="4" name="Rounded Rectangle 3"/>
              <p:cNvSpPr/>
              <p:nvPr/>
            </p:nvSpPr>
            <p:spPr>
              <a:xfrm>
                <a:off x="731520" y="1280160"/>
                <a:ext cx="10725912" cy="3799332"/>
              </a:xfrm>
              <a:prstGeom prst="roundRect">
                <a:avLst>
                  <a:gd name="adj" fmla="val 8000"/>
                </a:avLst>
              </a:prstGeom>
              <a:solidFill>
                <a:srgbClr val="E0ECFF"/>
              </a:solidFill>
              <a:ln w="25400">
                <a:solidFill>
                  <a:srgbClr val="1D4ED8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>
                  <a:spcAft>
                    <a:spcPts val="500"/>
                  </a:spcAft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In a certain problem the differentiation of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$\{f(x)\cdot g(x)\}$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appears. One student commits a mistake and differentiates it as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$\frac{df}{dx}\cdot\frac{dg}{dx}$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but he gets the correct result if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$f(x)=x^3$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and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$g(x)$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is a decreasing function for which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$g(0)=\frac13$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>
                  <a:spcAft>
                    <a:spcPts val="500"/>
                  </a:spcAft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(Paper Q20) The function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$g(x)$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is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$(x&gt;3)$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: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>
                  <a:spcAft>
                    <a:spcPts val="500"/>
                  </a:spcAft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(A)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$\frac{3}{(x-3)^3}$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  (B)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$\frac{4}{(x-3)^3}$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  (C)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$\frac{9}{(x-3)^3}$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  (D)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$\frac{27}{(x-3)^3}$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Fallback>
      </mc:AlternateContent>
    </p:spTree>
  </p:cSld>
  <p:clrMapOvr>
    <a:masterClrMapping/>
  </p:clrMapOvr>
</p:sld>
</file>

<file path=ppt/slides/slide13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FFFFFF"/>
          </a:fontRef>
        </p:style>
        <p:txBody>
          <a:bodyPr rtlCol="0" anchor="ctr" lIns="731520"/>
          <a:lstStyle>
            <a:lvl1pPr>
              <a:defRPr sz="3200">
                <a:solidFill>
                  <a:srgbClr val="FFFFFF"/>
                </a:solidFill>
              </a:defRPr>
            </a:lvl1pPr>
          </a:lstStyle>
          <a:p>
            <a:pPr algn="l">
              <a:defRPr sz="3200">
                <a:solidFill>
                  <a:srgbClr val="FFFFFF"/>
                </a:solidFill>
              </a:defRPr>
            </a:pPr>
            <a:r>
              <a:rPr sz="3200" b="1">
                <a:solidFill>
                  <a:srgbClr val="FFFFFF"/>
                </a:solidFill>
                <a:latin typeface="Arial"/>
              </a:rPr>
              <a:t>Question 21</a:t>
            </a:r>
            <a:endParaRPr sz="3200">
              <a:solidFill>
                <a:srgbClr val="FFFFFF"/>
              </a:solidFill>
            </a:endParaRPr>
          </a:p>
        </p:txBody>
      </p:sp>
      <p:sp>
        <p:nvSpPr>
          <p:cNvPr id="3" name="Rounded Rectangle 2"/>
          <p:cNvSpPr/>
          <p:nvPr/>
        </p:nvSpPr>
        <p:spPr>
          <a:xfrm>
            <a:off x="7894015" y="246887"/>
            <a:ext cx="3840480" cy="603504"/>
          </a:xfrm>
          <a:prstGeom prst="roundRect">
            <a:avLst>
              <a:gd name="adj" fmla="val 50000"/>
            </a:avLst>
          </a:prstGeom>
          <a:solidFill>
            <a:srgbClr val="FFD966"/>
          </a:solidFill>
          <a:ln w="1905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111827"/>
          </a:fontRef>
        </p:style>
        <p:txBody>
          <a:bodyPr rtlCol="0" anchor="ctr" wrap="square" lIns="228600" rIns="228600" tIns="18288" bIns="18288"/>
          <a:lstStyle>
            <a:lvl1pPr>
              <a:defRPr sz="2400">
                <a:solidFill>
                  <a:srgbClr val="111827"/>
                </a:solidFill>
              </a:defRPr>
            </a:lvl1pPr>
          </a:lstStyle>
          <a:p>
            <a:pPr algn="ctr">
              <a:defRPr sz="2400">
                <a:solidFill>
                  <a:srgbClr val="111827"/>
                </a:solidFill>
              </a:defRPr>
            </a:pPr>
            <a:r>
              <a:rPr sz="2400" b="1">
                <a:solidFill>
                  <a:srgbClr val="111827"/>
                </a:solidFill>
                <a:latin typeface="Arial"/>
              </a:rPr>
              <a:t>Level 2  ·  3 Marks</a:t>
            </a:r>
            <a:endParaRPr sz="2400">
              <a:solidFill>
                <a:srgbClr val="111827"/>
              </a:solidFill>
            </a:endParaRPr>
          </a:p>
        </p:txBody>
      </p:sp>
      <p:sp>
        <p:nvSpPr>
          <p:cNvPr id="4" name="Rectangle 3"/>
          <p:cNvSpPr/>
          <p:nvPr/>
        </p:nvSpPr>
        <p:spPr>
          <a:xfrm>
            <a:off x="731520" y="1280160"/>
            <a:ext cx="10725912" cy="1975103"/>
          </a:xfrm>
          <a:prstGeom prst="rect">
            <a:avLst/>
          </a:prstGeom>
          <a:solidFill>
            <a:srgbClr val="FFFFFF"/>
          </a:solidFill>
          <a:ln w="19050">
            <a:solidFill>
              <a:srgbClr val="6B728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111827"/>
          </a:fontRef>
        </p:style>
        <p:txBody>
          <a:bodyPr rtlCol="0" anchor="t" wrap="square" lIns="228600" rIns="228600" tIns="137160" bIns="73152"/>
          <a:lstStyle>
            <a:lvl1pPr>
              <a:defRPr sz="2400">
                <a:solidFill>
                  <a:srgbClr val="111827"/>
                </a:solidFill>
              </a:defRPr>
            </a:lvl1pPr>
          </a:lstStyle>
          <a:p>
            <a:pPr algn="l">
              <a:spcAft>
                <a:spcPts val="200"/>
              </a:spcAft>
              <a:defRPr sz="2400">
                <a:solidFill>
                  <a:srgbClr val="111827"/>
                </a:solidFill>
              </a:defRPr>
            </a:pPr>
            <a:r>
              <a:rPr sz="2400" b="0">
                <a:solidFill>
                  <a:srgbClr val="111827"/>
                </a:solidFill>
                <a:latin typeface="Arial"/>
              </a:rPr>
              <a:t>Paragraph Based Single Correct Type(3 Marks)</a:t>
            </a:r>
            <a:endParaRPr sz="2400">
              <a:solidFill>
                <a:srgbClr val="111827"/>
              </a:solidFill>
            </a:endParaRPr>
          </a:p>
          <a:p>
            <a:pPr algn="l">
              <a:spcAft>
                <a:spcPts val="200"/>
              </a:spcAft>
              <a:defRPr sz="2400">
                <a:solidFill>
                  <a:srgbClr val="111827"/>
                </a:solidFill>
              </a:defRPr>
            </a:pPr>
            <a:r>
              <a:rPr sz="2400" b="0">
                <a:solidFill>
                  <a:srgbClr val="111827"/>
                </a:solidFill>
                <a:latin typeface="Arial"/>
              </a:rPr>
              <a:t>Concept(s) : Product rule and separable differential equations</a:t>
            </a:r>
            <a:endParaRPr sz="2400">
              <a:solidFill>
                <a:srgbClr val="111827"/>
              </a:solidFill>
            </a:endParaRPr>
          </a:p>
          <a:p>
            <a:pPr algn="l">
              <a:spcAft>
                <a:spcPts val="200"/>
              </a:spcAft>
              <a:defRPr sz="2400">
                <a:solidFill>
                  <a:srgbClr val="111827"/>
                </a:solidFill>
              </a:defRPr>
            </a:pPr>
            <a:r>
              <a:rPr sz="2400" b="0">
                <a:solidFill>
                  <a:srgbClr val="111827"/>
                </a:solidFill>
                <a:latin typeface="Arial"/>
              </a:rPr>
              <a:t>Difficulty Level: Level 2(A level below Average JEE Advanced Level)</a:t>
            </a:r>
            <a:endParaRPr sz="2400">
              <a:solidFill>
                <a:srgbClr val="111827"/>
              </a:solidFill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5" name="Rounded Rectangle 4"/>
              <p:cNvSpPr/>
              <p:nvPr/>
            </p:nvSpPr>
            <p:spPr>
              <a:xfrm>
                <a:off x="731520" y="3438144"/>
                <a:ext cx="10725912" cy="1328928"/>
              </a:xfrm>
              <a:prstGeom prst="roundRect">
                <a:avLst>
                  <a:gd name="adj" fmla="val 8000"/>
                </a:avLst>
              </a:prstGeom>
              <a:solidFill>
                <a:srgbClr val="FDE68A"/>
              </a:solidFill>
              <a:ln w="31750">
                <a:solidFill>
                  <a:srgbClr val="D97706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78350F"/>
              </a:fontRef>
            </p:style>
            <p:txBody>
              <a:bodyPr rtlCol="0" anchor="ctr" wrap="square" lIns="228600" rIns="228600" tIns="54864" bIns="73152"/>
              <a:lstStyle>
                <a:lvl1pPr>
                  <a:defRPr sz="2400">
                    <a:solidFill>
                      <a:srgbClr val="78350F"/>
                    </a:solidFill>
                  </a:defRPr>
                </a:lvl1pPr>
              </a:lstStyle>
              <a:p>
                <a:pPr algn="l">
                  <a:defRPr sz="2400">
                    <a:solidFill>
                      <a:srgbClr val="78350F"/>
                    </a:solidFill>
                  </a:defRPr>
                </a:pPr>
                <a:r>
                  <a:rPr sz="2400" b="1">
                    <a:solidFill>
                      <a:srgbClr val="78350F"/>
                    </a:solidFill>
                    <a:latin typeface="Arial"/>
                  </a:rPr>
                  <a:t>Key idea:  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Setting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𝑓</m:t>
                    </m:r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𝑔</m:t>
                    </m:r>
                    <m:sSup>
                      <m:e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)</m:t>
                        </m:r>
                      </m:e>
                      <m:sup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′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=</m:t>
                    </m:r>
                    <m:sSup>
                      <m:e>
                        <m: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𝑓</m:t>
                        </m:r>
                      </m:e>
                      <m:sup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′</m:t>
                        </m:r>
                      </m:sup>
                    </m:sSup>
                    <m:sSup>
                      <m:e>
                        <m: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𝑔</m:t>
                        </m:r>
                      </m:e>
                      <m:sup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′</m:t>
                        </m:r>
                      </m:sup>
                    </m:sSup>
                  </m:oMath>
                </a14:m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 with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𝑓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=</m:t>
                    </m:r>
                    <m:sSup>
                      <m:e>
                        <m: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  <m:sup>
                        <m: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3</m:t>
                        </m:r>
                      </m:sup>
                    </m:sSup>
                  </m:oMath>
                </a14:m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 gives </a:t>
                </a:r>
                <a14:m>
                  <m:oMath xmlns:m="http://schemas.openxmlformats.org/officeDocument/2006/math"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sSup>
                          <m:e>
                            <m:r>
                              <a:rPr lang="en-IN" sz="2400" i="1">
                                <a:solidFill>
                                  <a:srgbClr val="78350F"/>
                                </a:solidFill>
                                <a:latin typeface="Cambria Math" panose="02040503050406030204" pitchFamily="18" charset="0"/>
                              </a:rPr>
                              <m:t>𝑔</m:t>
                            </m:r>
                          </m:e>
                          <m:sup>
                            <m:r>
                              <m:rPr>
                                <m:sty m:val="p"/>
                              </m:rPr>
                              <a:rPr lang="en-IN" sz="2400">
                                <a:solidFill>
                                  <a:srgbClr val="78350F"/>
                                </a:solidFill>
                                <a:latin typeface="Cambria Math" panose="02040503050406030204" pitchFamily="18" charset="0"/>
                              </a:rPr>
                              <m:t>′</m:t>
                            </m:r>
                          </m:sup>
                        </m:sSup>
                      </m:num>
                      <m:den>
                        <m: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𝑔</m:t>
                        </m:r>
                      </m:den>
                    </m:f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3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3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−</m:t>
                        </m:r>
                        <m: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</m:den>
                    </m:f>
                  </m:oMath>
                </a14:m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, which integrates to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𝑔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𝑐</m:t>
                        </m:r>
                      </m:num>
                      <m:den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|</m:t>
                        </m:r>
                        <m: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3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−</m:t>
                        </m:r>
                        <m: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  <m:sSup>
                          <m:e>
                            <m:r>
                              <m:rPr>
                                <m:sty m:val="p"/>
                              </m:rPr>
                              <a:rPr lang="en-IN" sz="2400">
                                <a:solidFill>
                                  <a:srgbClr val="78350F"/>
                                </a:solidFill>
                                <a:latin typeface="Cambria Math" panose="02040503050406030204" pitchFamily="18" charset="0"/>
                              </a:rPr>
                              <m:t>|</m:t>
                            </m:r>
                          </m:e>
                          <m:sup>
                            <m:r>
                              <a:rPr lang="en-IN" sz="2400" i="1">
                                <a:solidFill>
                                  <a:srgbClr val="78350F"/>
                                </a:solidFill>
                                <a:latin typeface="Cambria Math" panose="02040503050406030204" pitchFamily="18" charset="0"/>
                              </a:rPr>
                              <m:t>3</m:t>
                            </m:r>
                          </m:sup>
                        </m:sSup>
                      </m:den>
                    </m:f>
                  </m:oMath>
                </a14:m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.</a:t>
                </a:r>
                <a:endParaRPr sz="2400">
                  <a:solidFill>
                    <a:srgbClr val="78350F"/>
                  </a:solidFill>
                </a:endParaRPr>
              </a:p>
            </p:txBody>
          </p:sp>
        </mc:Choice>
        <mc:Fallback>
          <p:sp>
            <p:nvSpPr>
              <p:cNvPr id="5" name="Rounded Rectangle 4"/>
              <p:cNvSpPr/>
              <p:nvPr/>
            </p:nvSpPr>
            <p:spPr>
              <a:xfrm>
                <a:off x="731520" y="3438144"/>
                <a:ext cx="10725912" cy="1328928"/>
              </a:xfrm>
              <a:prstGeom prst="roundRect">
                <a:avLst>
                  <a:gd name="adj" fmla="val 8000"/>
                </a:avLst>
              </a:prstGeom>
              <a:solidFill>
                <a:srgbClr val="FDE68A"/>
              </a:solidFill>
              <a:ln w="31750">
                <a:solidFill>
                  <a:srgbClr val="D97706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78350F"/>
              </a:fontRef>
            </p:style>
            <p:txBody>
              <a:bodyPr rtlCol="0" anchor="ctr" wrap="square" lIns="228600" rIns="228600" tIns="54864" bIns="73152"/>
              <a:lstStyle>
                <a:lvl1pPr>
                  <a:defRPr sz="2400">
                    <a:solidFill>
                      <a:srgbClr val="78350F"/>
                    </a:solidFill>
                  </a:defRPr>
                </a:lvl1pPr>
              </a:lstStyle>
              <a:p>
                <a:pPr algn="l">
                  <a:defRPr sz="2400">
                    <a:solidFill>
                      <a:srgbClr val="78350F"/>
                    </a:solidFill>
                  </a:defRPr>
                </a:pPr>
                <a:r>
                  <a:rPr sz="2400" b="1">
                    <a:solidFill>
                      <a:srgbClr val="78350F"/>
                    </a:solidFill>
                    <a:latin typeface="Arial"/>
                  </a:rPr>
                  <a:t>Key idea:  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Setting </a:t>
                </a:r>
                <a:r>
                  <a:rPr lang="en-IN" sz="2400">
                    <a:solidFill>
                      <a:srgbClr val="78350F"/>
                    </a:solidFill>
                    <a:latin typeface="Cambria Math" panose="02040503050406030204" pitchFamily="18" charset="0"/>
                  </a:rPr>
                  <a:t>$(fg)'=f'g'$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 with </a:t>
                </a:r>
                <a:r>
                  <a:rPr lang="en-IN" sz="2400">
                    <a:solidFill>
                      <a:srgbClr val="78350F"/>
                    </a:solidFill>
                    <a:latin typeface="Cambria Math" panose="02040503050406030204" pitchFamily="18" charset="0"/>
                  </a:rPr>
                  <a:t>$f=x^3$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 gives </a:t>
                </a:r>
                <a:r>
                  <a:rPr lang="en-IN" sz="2400">
                    <a:solidFill>
                      <a:srgbClr val="78350F"/>
                    </a:solidFill>
                    <a:latin typeface="Cambria Math" panose="02040503050406030204" pitchFamily="18" charset="0"/>
                  </a:rPr>
                  <a:t>$\frac{g'}{g}=\frac{3}{3-x}$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, which integrates to </a:t>
                </a:r>
                <a:r>
                  <a:rPr lang="en-IN" sz="2400">
                    <a:solidFill>
                      <a:srgbClr val="78350F"/>
                    </a:solidFill>
                    <a:latin typeface="Cambria Math" panose="02040503050406030204" pitchFamily="18" charset="0"/>
                  </a:rPr>
                  <a:t>$g=\frac{c}{|3-x|^3}$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.</a:t>
                </a:r>
                <a:endParaRPr sz="2400">
                  <a:solidFill>
                    <a:srgbClr val="78350F"/>
                  </a:solidFill>
                </a:endParaRP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6" name="Rectangle 5"/>
              <p:cNvSpPr/>
              <p:nvPr/>
            </p:nvSpPr>
            <p:spPr>
              <a:xfrm>
                <a:off x="731520" y="4904232"/>
                <a:ext cx="10725912" cy="1770887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𝑓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3</m:t>
                        </m:r>
                      </m:sup>
                    </m:sSup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 The student's (wrong) rule gives the right result: </a:t>
                </a:r>
                <a14:m>
                  <m:oMath xmlns:m="http://schemas.openxmlformats.org/officeDocument/2006/math"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𝑑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𝑑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</m:den>
                    </m:f>
                    <m:d>
                      <m:dPr>
                        <m:begChr m:val="["/>
                        <m:sepChr m:val=""/>
                        <m:endChr m:val="]"/>
                        <m:grow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𝑓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(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)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𝑔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(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)</m:t>
                        </m:r>
                      </m:e>
                    </m:d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𝑑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𝑓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𝑑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</m:den>
                    </m:f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⋅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𝑑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𝑔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𝑑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</m:den>
                    </m:f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Choice>
        <mc:Fallback>
          <p:sp>
            <p:nvSpPr>
              <p:cNvPr id="6" name="Rectangle 5"/>
              <p:cNvSpPr/>
              <p:nvPr/>
            </p:nvSpPr>
            <p:spPr>
              <a:xfrm>
                <a:off x="731520" y="4904232"/>
                <a:ext cx="10725912" cy="1770887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$f(x)=x^3$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 The student's (wrong) rule gives the right result: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$\frac{d}{dx}\left[f(x)g(x)\right]=\frac{df}{dx}\cdot\frac{dg}{dx}$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Fallback>
      </mc:AlternateContent>
    </p:spTree>
  </p:cSld>
  <p:clrMapOvr>
    <a:masterClrMapping/>
  </p:clrMapOvr>
</p:sld>
</file>

<file path=ppt/slides/slide13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FFFFFF"/>
          </a:fontRef>
        </p:style>
        <p:txBody>
          <a:bodyPr rtlCol="0" anchor="ctr" lIns="731520"/>
          <a:lstStyle>
            <a:lvl1pPr>
              <a:defRPr sz="3200">
                <a:solidFill>
                  <a:srgbClr val="FFFFFF"/>
                </a:solidFill>
              </a:defRPr>
            </a:lvl1pPr>
          </a:lstStyle>
          <a:p>
            <a:pPr algn="l">
              <a:defRPr sz="3200">
                <a:solidFill>
                  <a:srgbClr val="FFFFFF"/>
                </a:solidFill>
              </a:defRPr>
            </a:pPr>
            <a:r>
              <a:rPr sz="3200" b="1">
                <a:solidFill>
                  <a:srgbClr val="FFFFFF"/>
                </a:solidFill>
                <a:latin typeface="Arial"/>
              </a:rPr>
              <a:t>Question 21</a:t>
            </a:r>
            <a:endParaRPr sz="3200">
              <a:solidFill>
                <a:srgbClr val="FFFFFF"/>
              </a:solidFill>
            </a:endParaRPr>
          </a:p>
        </p:txBody>
      </p:sp>
      <p:sp>
        <p:nvSpPr>
          <p:cNvPr id="3" name="Rounded Rectangle 2"/>
          <p:cNvSpPr/>
          <p:nvPr/>
        </p:nvSpPr>
        <p:spPr>
          <a:xfrm>
            <a:off x="7894015" y="246887"/>
            <a:ext cx="3840480" cy="603504"/>
          </a:xfrm>
          <a:prstGeom prst="roundRect">
            <a:avLst>
              <a:gd name="adj" fmla="val 50000"/>
            </a:avLst>
          </a:prstGeom>
          <a:solidFill>
            <a:srgbClr val="FFD966"/>
          </a:solidFill>
          <a:ln w="1905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111827"/>
          </a:fontRef>
        </p:style>
        <p:txBody>
          <a:bodyPr rtlCol="0" anchor="ctr" wrap="square" lIns="228600" rIns="228600" tIns="18288" bIns="18288"/>
          <a:lstStyle>
            <a:lvl1pPr>
              <a:defRPr sz="2400">
                <a:solidFill>
                  <a:srgbClr val="111827"/>
                </a:solidFill>
              </a:defRPr>
            </a:lvl1pPr>
          </a:lstStyle>
          <a:p>
            <a:pPr algn="ctr">
              <a:defRPr sz="2400">
                <a:solidFill>
                  <a:srgbClr val="111827"/>
                </a:solidFill>
              </a:defRPr>
            </a:pPr>
            <a:r>
              <a:rPr sz="2400" b="1">
                <a:solidFill>
                  <a:srgbClr val="111827"/>
                </a:solidFill>
                <a:latin typeface="Arial"/>
              </a:rPr>
              <a:t>Level 2  ·  3 Marks</a:t>
            </a:r>
            <a:endParaRPr sz="2400">
              <a:solidFill>
                <a:srgbClr val="111827"/>
              </a:solidFill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4" name="Rectangle 3"/>
              <p:cNvSpPr/>
              <p:nvPr/>
            </p:nvSpPr>
            <p:spPr>
              <a:xfrm>
                <a:off x="731520" y="1353312"/>
                <a:ext cx="10725912" cy="4434840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So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3</m:t>
                    </m:r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𝑔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3</m:t>
                        </m:r>
                      </m:sup>
                    </m:sSup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𝑔</m:t>
                        </m:r>
                      </m:e>
                      <m:sup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′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3</m:t>
                    </m:r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𝑔</m:t>
                        </m:r>
                      </m:e>
                      <m:sup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′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3</m:t>
                    </m:r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𝑔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d>
                      <m:dPr>
                        <m:begChr m:val="("/>
                        <m:sepChr m:val=""/>
                        <m:endChr m:val=")"/>
                        <m:grow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3</m:t>
                        </m:r>
                        <m:sSup>
                          <m:e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𝑥</m:t>
                            </m:r>
                          </m:e>
                          <m:sup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2</m:t>
                            </m:r>
                          </m:sup>
                        </m:sSup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−</m:t>
                        </m:r>
                        <m:sSup>
                          <m:e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𝑥</m:t>
                            </m:r>
                          </m:e>
                          <m:sup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3</m:t>
                            </m:r>
                          </m:sup>
                        </m:sSup>
                      </m:e>
                    </m:d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𝑔</m:t>
                        </m:r>
                      </m:e>
                      <m:sup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′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Separate the variables: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∫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3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3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−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</m:den>
                    </m:f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𝑑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∫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𝑑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𝑔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𝑔</m:t>
                        </m:r>
                      </m:den>
                    </m:f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3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ln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|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3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|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ln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𝑔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ln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𝑐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so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𝑐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 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𝑔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num>
                      <m:den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(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3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−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  <m:sSup>
                          <m:e>
                            <m:r>
                              <m:rPr>
                                <m:sty m:val="p"/>
                              </m:rPr>
                              <a:rPr lang="en-IN" sz="2400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)</m:t>
                            </m:r>
                          </m:e>
                          <m:sup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3</m:t>
                            </m:r>
                          </m:sup>
                        </m:sSup>
                      </m:den>
                    </m:f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for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&lt;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3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(and </a:t>
                </a:r>
                <a14:m>
                  <m:oMath xmlns:m="http://schemas.openxmlformats.org/officeDocument/2006/math"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num>
                      <m:den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|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3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−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  <m:sSup>
                          <m:e>
                            <m:r>
                              <m:rPr>
                                <m:sty m:val="p"/>
                              </m:rPr>
                              <a:rPr lang="en-IN" sz="2400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|</m:t>
                            </m:r>
                          </m:e>
                          <m:sup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3</m:t>
                            </m:r>
                          </m:sup>
                        </m:sSup>
                      </m:den>
                    </m:f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generally).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Use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𝑔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0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3</m:t>
                        </m:r>
                      </m:den>
                    </m:f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: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𝑐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⋅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3</m:t>
                        </m:r>
                      </m:den>
                    </m:f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27</m:t>
                        </m:r>
                      </m:den>
                    </m:f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so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𝑐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9</m:t>
                        </m:r>
                      </m:den>
                    </m:f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Hence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𝑔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9</m:t>
                        </m:r>
                      </m:num>
                      <m:den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|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3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−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  <m:sSup>
                          <m:e>
                            <m:r>
                              <m:rPr>
                                <m:sty m:val="p"/>
                              </m:rPr>
                              <a:rPr lang="en-IN" sz="2400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|</m:t>
                            </m:r>
                          </m:e>
                          <m:sup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3</m:t>
                            </m:r>
                          </m:sup>
                        </m:sSup>
                      </m:den>
                    </m:f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and for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&gt;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3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: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𝑔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9</m:t>
                        </m:r>
                      </m:num>
                      <m:den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(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−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3</m:t>
                        </m:r>
                        <m:sSup>
                          <m:e>
                            <m:r>
                              <m:rPr>
                                <m:sty m:val="p"/>
                              </m:rPr>
                              <a:rPr lang="en-IN" sz="2400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)</m:t>
                            </m:r>
                          </m:e>
                          <m:sup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3</m:t>
                            </m:r>
                          </m:sup>
                        </m:sSup>
                      </m:den>
                    </m:f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 Option (C).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Choice>
        <mc:Fallback>
          <p:sp>
            <p:nvSpPr>
              <p:cNvPr id="4" name="Rectangle 3"/>
              <p:cNvSpPr/>
              <p:nvPr/>
            </p:nvSpPr>
            <p:spPr>
              <a:xfrm>
                <a:off x="731520" y="1353312"/>
                <a:ext cx="10725912" cy="4434840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So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$3x^2g(x)+x^3g'(x)=3x^2g'(x)$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$3x^2g(x)=\left(3x^2-x^3\right)g'(x)$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Separate the variables: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$\int\frac{3}{3-x}dx=\int\frac{dg}{g}$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$-3\ln|3-x|=\ln g+\ln c$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so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$c\,g(x)=\frac{1}{(3-x)^3}$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for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$x&lt;3$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(and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$\frac1{|3-x|^3}$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generally).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Use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$g(0)=\frac13$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: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$c\cdot\frac13=\frac1{27}$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so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$c=\frac19$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Hence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$g(x)=\frac{9}{|3-x|^3}$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and for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$x&gt;3$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: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$g(x)=\frac{9}{(x-3)^3}$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 Option (C).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5" name="Rounded Rectangle 4"/>
              <p:cNvSpPr/>
              <p:nvPr/>
            </p:nvSpPr>
            <p:spPr>
              <a:xfrm>
                <a:off x="731520" y="5897880"/>
                <a:ext cx="10725912" cy="777240"/>
              </a:xfrm>
              <a:prstGeom prst="roundRect">
                <a:avLst>
                  <a:gd name="adj" fmla="val 8000"/>
                </a:avLst>
              </a:prstGeom>
              <a:solidFill>
                <a:srgbClr val="DCFCE7"/>
              </a:solidFill>
              <a:ln w="25400">
                <a:solidFill>
                  <a:srgbClr val="15803D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5803D"/>
              </a:fontRef>
            </p:style>
            <p:txBody>
              <a:bodyPr rtlCol="0" anchor="ctr" wrap="square" lIns="228600" rIns="228600" tIns="18288" bIns="73152"/>
              <a:lstStyle>
                <a:lvl1pPr>
                  <a:defRPr sz="2800">
                    <a:solidFill>
                      <a:srgbClr val="15803D"/>
                    </a:solidFill>
                  </a:defRPr>
                </a:lvl1pPr>
              </a:lstStyle>
              <a:p>
                <a:pPr algn="ctr">
                  <a:defRPr sz="2800">
                    <a:solidFill>
                      <a:srgbClr val="15803D"/>
                    </a:solidFill>
                  </a:defRPr>
                </a:pPr>
                <a:r>
                  <a:rPr sz="2800" b="1">
                    <a:solidFill>
                      <a:srgbClr val="15803D"/>
                    </a:solidFill>
                    <a:latin typeface="Arial"/>
                  </a:rPr>
                  <a:t>Correct Answer: (C) </a:t>
                </a:r>
                <a14:m>
                  <m:oMath xmlns:m="http://schemas.openxmlformats.org/officeDocument/2006/math">
                    <m:f>
                      <m:fPr>
                        <m:type m:val="bar"/>
                        <m:ctrlPr>
                          <a:rPr lang="en-IN" sz="2800" i="1">
                            <a:solidFill>
                              <a:srgbClr val="15803D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800" i="1">
                            <a:solidFill>
                              <a:srgbClr val="15803D"/>
                            </a:solidFill>
                            <a:latin typeface="Cambria Math" panose="02040503050406030204" pitchFamily="18" charset="0"/>
                          </a:rPr>
                          <m:t>9</m:t>
                        </m:r>
                      </m:num>
                      <m:den>
                        <m:r>
                          <m:rPr>
                            <m:sty m:val="p"/>
                          </m:rPr>
                          <a:rPr lang="en-IN" sz="2800">
                            <a:solidFill>
                              <a:srgbClr val="15803D"/>
                            </a:solidFill>
                            <a:latin typeface="Cambria Math" panose="02040503050406030204" pitchFamily="18" charset="0"/>
                          </a:rPr>
                          <m:t>(</m:t>
                        </m:r>
                        <m:r>
                          <a:rPr lang="en-IN" sz="2800" i="1">
                            <a:solidFill>
                              <a:srgbClr val="15803D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  <m:r>
                          <m:rPr>
                            <m:sty m:val="p"/>
                          </m:rPr>
                          <a:rPr lang="en-IN" sz="2800">
                            <a:solidFill>
                              <a:srgbClr val="15803D"/>
                            </a:solidFill>
                            <a:latin typeface="Cambria Math" panose="02040503050406030204" pitchFamily="18" charset="0"/>
                          </a:rPr>
                          <m:t>−</m:t>
                        </m:r>
                        <m:r>
                          <a:rPr lang="en-IN" sz="2800" i="1">
                            <a:solidFill>
                              <a:srgbClr val="15803D"/>
                            </a:solidFill>
                            <a:latin typeface="Cambria Math" panose="02040503050406030204" pitchFamily="18" charset="0"/>
                          </a:rPr>
                          <m:t>3</m:t>
                        </m:r>
                        <m:sSup>
                          <m:e>
                            <m:r>
                              <m:rPr>
                                <m:sty m:val="p"/>
                              </m:rPr>
                              <a:rPr lang="en-IN" sz="2800">
                                <a:solidFill>
                                  <a:srgbClr val="15803D"/>
                                </a:solidFill>
                                <a:latin typeface="Cambria Math" panose="02040503050406030204" pitchFamily="18" charset="0"/>
                              </a:rPr>
                              <m:t>)</m:t>
                            </m:r>
                          </m:e>
                          <m:sup>
                            <m:r>
                              <a:rPr lang="en-IN" sz="2800" i="1">
                                <a:solidFill>
                                  <a:srgbClr val="15803D"/>
                                </a:solidFill>
                                <a:latin typeface="Cambria Math" panose="02040503050406030204" pitchFamily="18" charset="0"/>
                              </a:rPr>
                              <m:t>3</m:t>
                            </m:r>
                          </m:sup>
                        </m:sSup>
                      </m:den>
                    </m:f>
                  </m:oMath>
                </a14:m>
                <a:endParaRPr sz="2800">
                  <a:solidFill>
                    <a:srgbClr val="15803D"/>
                  </a:solidFill>
                </a:endParaRPr>
              </a:p>
            </p:txBody>
          </p:sp>
        </mc:Choice>
        <mc:Fallback>
          <p:sp>
            <p:nvSpPr>
              <p:cNvPr id="5" name="Rounded Rectangle 4"/>
              <p:cNvSpPr/>
              <p:nvPr/>
            </p:nvSpPr>
            <p:spPr>
              <a:xfrm>
                <a:off x="731520" y="5897880"/>
                <a:ext cx="10725912" cy="777240"/>
              </a:xfrm>
              <a:prstGeom prst="roundRect">
                <a:avLst>
                  <a:gd name="adj" fmla="val 8000"/>
                </a:avLst>
              </a:prstGeom>
              <a:solidFill>
                <a:srgbClr val="DCFCE7"/>
              </a:solidFill>
              <a:ln w="25400">
                <a:solidFill>
                  <a:srgbClr val="15803D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5803D"/>
              </a:fontRef>
            </p:style>
            <p:txBody>
              <a:bodyPr rtlCol="0" anchor="ctr" wrap="square" lIns="228600" rIns="228600" tIns="18288" bIns="73152"/>
              <a:lstStyle>
                <a:lvl1pPr>
                  <a:defRPr sz="2800">
                    <a:solidFill>
                      <a:srgbClr val="15803D"/>
                    </a:solidFill>
                  </a:defRPr>
                </a:lvl1pPr>
              </a:lstStyle>
              <a:p>
                <a:pPr algn="ctr">
                  <a:defRPr sz="2800">
                    <a:solidFill>
                      <a:srgbClr val="15803D"/>
                    </a:solidFill>
                  </a:defRPr>
                </a:pPr>
                <a:r>
                  <a:rPr sz="2800" b="1">
                    <a:solidFill>
                      <a:srgbClr val="15803D"/>
                    </a:solidFill>
                    <a:latin typeface="Arial"/>
                  </a:rPr>
                  <a:t>Correct Answer: (C) </a:t>
                </a:r>
                <a:r>
                  <a:rPr lang="en-IN" sz="2800">
                    <a:solidFill>
                      <a:srgbClr val="15803D"/>
                    </a:solidFill>
                    <a:latin typeface="Cambria Math" panose="02040503050406030204" pitchFamily="18" charset="0"/>
                  </a:rPr>
                  <a:t>$\frac{9}{(x-3)^3}$</a:t>
                </a:r>
                <a:endParaRPr sz="2800">
                  <a:solidFill>
                    <a:srgbClr val="15803D"/>
                  </a:solidFill>
                </a:endParaRPr>
              </a:p>
            </p:txBody>
          </p:sp>
        </mc:Fallback>
      </mc:AlternateContent>
    </p:spTree>
  </p:cSld>
  <p:clrMapOvr>
    <a:masterClrMapping/>
  </p:clrMapOvr>
</p:sld>
</file>

<file path=ppt/slides/slide13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FFFFFF"/>
          </a:fontRef>
        </p:style>
        <p:txBody>
          <a:bodyPr rtlCol="0" anchor="ctr" lIns="731520"/>
          <a:lstStyle>
            <a:lvl1pPr>
              <a:defRPr sz="3200">
                <a:solidFill>
                  <a:srgbClr val="FFFFFF"/>
                </a:solidFill>
              </a:defRPr>
            </a:lvl1pPr>
          </a:lstStyle>
          <a:p>
            <a:pPr algn="l">
              <a:defRPr sz="3200">
                <a:solidFill>
                  <a:srgbClr val="FFFFFF"/>
                </a:solidFill>
              </a:defRPr>
            </a:pPr>
            <a:r>
              <a:rPr sz="3200" b="1">
                <a:solidFill>
                  <a:srgbClr val="FFFFFF"/>
                </a:solidFill>
                <a:latin typeface="Arial"/>
              </a:rPr>
              <a:t>Question 21</a:t>
            </a:r>
            <a:endParaRPr sz="3200">
              <a:solidFill>
                <a:srgbClr val="FFFFFF"/>
              </a:solidFill>
            </a:endParaRPr>
          </a:p>
        </p:txBody>
      </p:sp>
      <p:sp>
        <p:nvSpPr>
          <p:cNvPr id="3" name="Rounded Rectangle 2"/>
          <p:cNvSpPr/>
          <p:nvPr/>
        </p:nvSpPr>
        <p:spPr>
          <a:xfrm>
            <a:off x="7894015" y="246887"/>
            <a:ext cx="3840480" cy="603504"/>
          </a:xfrm>
          <a:prstGeom prst="roundRect">
            <a:avLst>
              <a:gd name="adj" fmla="val 50000"/>
            </a:avLst>
          </a:prstGeom>
          <a:solidFill>
            <a:srgbClr val="FFD966"/>
          </a:solidFill>
          <a:ln w="1905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111827"/>
          </a:fontRef>
        </p:style>
        <p:txBody>
          <a:bodyPr rtlCol="0" anchor="ctr" wrap="square" lIns="228600" rIns="228600" tIns="18288" bIns="18288"/>
          <a:lstStyle>
            <a:lvl1pPr>
              <a:defRPr sz="2400">
                <a:solidFill>
                  <a:srgbClr val="111827"/>
                </a:solidFill>
              </a:defRPr>
            </a:lvl1pPr>
          </a:lstStyle>
          <a:p>
            <a:pPr algn="ctr">
              <a:defRPr sz="2400">
                <a:solidFill>
                  <a:srgbClr val="111827"/>
                </a:solidFill>
              </a:defRPr>
            </a:pPr>
            <a:r>
              <a:rPr sz="2400" b="1">
                <a:solidFill>
                  <a:srgbClr val="111827"/>
                </a:solidFill>
                <a:latin typeface="Arial"/>
              </a:rPr>
              <a:t>Level 2  ·  3 Marks</a:t>
            </a:r>
            <a:endParaRPr sz="2400">
              <a:solidFill>
                <a:srgbClr val="111827"/>
              </a:solidFill>
            </a:endParaRPr>
          </a:p>
        </p:txBody>
      </p:sp>
      <p:sp>
        <p:nvSpPr>
          <p:cNvPr id="4" name="Rounded Rectangle 3"/>
          <p:cNvSpPr/>
          <p:nvPr/>
        </p:nvSpPr>
        <p:spPr>
          <a:xfrm>
            <a:off x="3520440" y="265176"/>
            <a:ext cx="4206240" cy="566928"/>
          </a:xfrm>
          <a:prstGeom prst="roundRect">
            <a:avLst>
              <a:gd name="adj" fmla="val 50000"/>
            </a:avLst>
          </a:prstGeom>
          <a:solidFill>
            <a:srgbClr val="FDE68A"/>
          </a:solidFill>
          <a:ln w="25400">
            <a:solidFill>
              <a:srgbClr val="D9770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78350F"/>
          </a:fontRef>
        </p:style>
        <p:txBody>
          <a:bodyPr rtlCol="0" anchor="ctr" wrap="square" lIns="228600" rIns="228600" tIns="18288" bIns="18288"/>
          <a:lstStyle>
            <a:lvl1pPr>
              <a:defRPr sz="2200">
                <a:solidFill>
                  <a:srgbClr val="78350F"/>
                </a:solidFill>
              </a:defRPr>
            </a:lvl1pPr>
          </a:lstStyle>
          <a:p>
            <a:pPr algn="ctr">
              <a:defRPr sz="2200">
                <a:solidFill>
                  <a:srgbClr val="78350F"/>
                </a:solidFill>
              </a:defRPr>
            </a:pPr>
            <a:r>
              <a:rPr sz="2200" b="1">
                <a:solidFill>
                  <a:srgbClr val="78350F"/>
                </a:solidFill>
                <a:latin typeface="Arial"/>
              </a:rPr>
              <a:t>Alternate Solution</a:t>
            </a:r>
            <a:endParaRPr sz="2200">
              <a:solidFill>
                <a:srgbClr val="78350F"/>
              </a:solidFill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5" name="Rounded Rectangle 4"/>
              <p:cNvSpPr/>
              <p:nvPr/>
            </p:nvSpPr>
            <p:spPr>
              <a:xfrm>
                <a:off x="731520" y="1280160"/>
                <a:ext cx="10725912" cy="1700784"/>
              </a:xfrm>
              <a:prstGeom prst="roundRect">
                <a:avLst>
                  <a:gd name="adj" fmla="val 8000"/>
                </a:avLst>
              </a:prstGeom>
              <a:solidFill>
                <a:srgbClr val="FDE68A"/>
              </a:solidFill>
              <a:ln w="31750">
                <a:solidFill>
                  <a:srgbClr val="D97706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78350F"/>
              </a:fontRef>
            </p:style>
            <p:txBody>
              <a:bodyPr rtlCol="0" anchor="ctr" wrap="square" lIns="228600" rIns="228600" tIns="54864" bIns="73152"/>
              <a:lstStyle>
                <a:lvl1pPr>
                  <a:defRPr sz="2400">
                    <a:solidFill>
                      <a:srgbClr val="78350F"/>
                    </a:solidFill>
                  </a:defRPr>
                </a:lvl1pPr>
              </a:lstStyle>
              <a:p>
                <a:pPr algn="l">
                  <a:defRPr sz="2400">
                    <a:solidFill>
                      <a:srgbClr val="78350F"/>
                    </a:solidFill>
                  </a:defRPr>
                </a:pPr>
                <a:r>
                  <a:rPr sz="2400" b="1">
                    <a:solidFill>
                      <a:srgbClr val="78350F"/>
                    </a:solidFill>
                    <a:latin typeface="Arial"/>
                  </a:rPr>
                  <a:t>Idea:  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The options are all of the form </a:t>
                </a:r>
                <a14:m>
                  <m:oMath xmlns:m="http://schemas.openxmlformats.org/officeDocument/2006/math"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𝑘</m:t>
                        </m:r>
                      </m:num>
                      <m:den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(</m:t>
                        </m:r>
                        <m: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−</m:t>
                        </m:r>
                        <m: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3</m:t>
                        </m:r>
                        <m:sSup>
                          <m:e>
                            <m:r>
                              <m:rPr>
                                <m:sty m:val="p"/>
                              </m:rPr>
                              <a:rPr lang="en-IN" sz="2400">
                                <a:solidFill>
                                  <a:srgbClr val="78350F"/>
                                </a:solidFill>
                                <a:latin typeface="Cambria Math" panose="02040503050406030204" pitchFamily="18" charset="0"/>
                              </a:rPr>
                              <m:t>)</m:t>
                            </m:r>
                          </m:e>
                          <m:sup>
                            <m:r>
                              <a:rPr lang="en-IN" sz="2400" i="1">
                                <a:solidFill>
                                  <a:srgbClr val="78350F"/>
                                </a:solidFill>
                                <a:latin typeface="Cambria Math" panose="02040503050406030204" pitchFamily="18" charset="0"/>
                              </a:rPr>
                              <m:t>3</m:t>
                            </m:r>
                          </m:sup>
                        </m:sSup>
                      </m:den>
                    </m:f>
                  </m:oMath>
                </a14:m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: test that form in the equation, see that every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𝑘</m:t>
                    </m:r>
                  </m:oMath>
                </a14:m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 satisfies it, and let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𝑔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0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3</m:t>
                        </m:r>
                      </m:den>
                    </m:f>
                  </m:oMath>
                </a14:m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 fix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𝑘</m:t>
                    </m:r>
                  </m:oMath>
                </a14:m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.</a:t>
                </a:r>
                <a:endParaRPr sz="2400">
                  <a:solidFill>
                    <a:srgbClr val="78350F"/>
                  </a:solidFill>
                </a:endParaRPr>
              </a:p>
            </p:txBody>
          </p:sp>
        </mc:Choice>
        <mc:Fallback>
          <p:sp>
            <p:nvSpPr>
              <p:cNvPr id="5" name="Rounded Rectangle 4"/>
              <p:cNvSpPr/>
              <p:nvPr/>
            </p:nvSpPr>
            <p:spPr>
              <a:xfrm>
                <a:off x="731520" y="1280160"/>
                <a:ext cx="10725912" cy="1700784"/>
              </a:xfrm>
              <a:prstGeom prst="roundRect">
                <a:avLst>
                  <a:gd name="adj" fmla="val 8000"/>
                </a:avLst>
              </a:prstGeom>
              <a:solidFill>
                <a:srgbClr val="FDE68A"/>
              </a:solidFill>
              <a:ln w="31750">
                <a:solidFill>
                  <a:srgbClr val="D97706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78350F"/>
              </a:fontRef>
            </p:style>
            <p:txBody>
              <a:bodyPr rtlCol="0" anchor="ctr" wrap="square" lIns="228600" rIns="228600" tIns="54864" bIns="73152"/>
              <a:lstStyle>
                <a:lvl1pPr>
                  <a:defRPr sz="2400">
                    <a:solidFill>
                      <a:srgbClr val="78350F"/>
                    </a:solidFill>
                  </a:defRPr>
                </a:lvl1pPr>
              </a:lstStyle>
              <a:p>
                <a:pPr algn="l">
                  <a:defRPr sz="2400">
                    <a:solidFill>
                      <a:srgbClr val="78350F"/>
                    </a:solidFill>
                  </a:defRPr>
                </a:pPr>
                <a:r>
                  <a:rPr sz="2400" b="1">
                    <a:solidFill>
                      <a:srgbClr val="78350F"/>
                    </a:solidFill>
                    <a:latin typeface="Arial"/>
                  </a:rPr>
                  <a:t>Idea:  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The options are all of the form </a:t>
                </a:r>
                <a:r>
                  <a:rPr lang="en-IN" sz="2400">
                    <a:solidFill>
                      <a:srgbClr val="78350F"/>
                    </a:solidFill>
                    <a:latin typeface="Cambria Math" panose="02040503050406030204" pitchFamily="18" charset="0"/>
                  </a:rPr>
                  <a:t>$\frac{k}{(x-3)^3}$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: test that form in the equation, see that every </a:t>
                </a:r>
                <a:r>
                  <a:rPr lang="en-IN" sz="2400">
                    <a:solidFill>
                      <a:srgbClr val="78350F"/>
                    </a:solidFill>
                    <a:latin typeface="Cambria Math" panose="02040503050406030204" pitchFamily="18" charset="0"/>
                  </a:rPr>
                  <a:t>$k$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 satisfies it, and let </a:t>
                </a:r>
                <a:r>
                  <a:rPr lang="en-IN" sz="2400">
                    <a:solidFill>
                      <a:srgbClr val="78350F"/>
                    </a:solidFill>
                    <a:latin typeface="Cambria Math" panose="02040503050406030204" pitchFamily="18" charset="0"/>
                  </a:rPr>
                  <a:t>$g(0)=\frac13$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 fix </a:t>
                </a:r>
                <a:r>
                  <a:rPr lang="en-IN" sz="2400">
                    <a:solidFill>
                      <a:srgbClr val="78350F"/>
                    </a:solidFill>
                    <a:latin typeface="Cambria Math" panose="02040503050406030204" pitchFamily="18" charset="0"/>
                  </a:rPr>
                  <a:t>$k$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.</a:t>
                </a:r>
                <a:endParaRPr sz="2400">
                  <a:solidFill>
                    <a:srgbClr val="78350F"/>
                  </a:solidFill>
                </a:endParaRP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6" name="Rectangle 5"/>
              <p:cNvSpPr/>
              <p:nvPr/>
            </p:nvSpPr>
            <p:spPr>
              <a:xfrm>
                <a:off x="731520" y="3118103"/>
                <a:ext cx="10725912" cy="3557016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Try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𝑔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𝑘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3</m:t>
                    </m:r>
                    <m:sSup>
                      <m:e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)</m:t>
                        </m:r>
                      </m:e>
                      <m:sup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−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3</m:t>
                        </m:r>
                      </m:sup>
                    </m:sSup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: </a:t>
                </a:r>
                <a14:m>
                  <m:oMath xmlns:m="http://schemas.openxmlformats.org/officeDocument/2006/math"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𝑔</m:t>
                        </m:r>
                      </m:e>
                      <m:sup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′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3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𝑘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3</m:t>
                    </m:r>
                    <m:sSup>
                      <m:e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)</m:t>
                        </m:r>
                      </m:e>
                      <m:sup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−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4</m:t>
                        </m:r>
                      </m:sup>
                    </m:sSup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Then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3</m:t>
                    </m:r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𝑔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3</m:t>
                        </m:r>
                      </m:sup>
                    </m:sSup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𝑔</m:t>
                        </m:r>
                      </m:e>
                      <m:sup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′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3</m:t>
                    </m:r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𝑔</m:t>
                        </m:r>
                      </m:e>
                      <m:sup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′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3</m:t>
                    </m:r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𝑘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3</m:t>
                    </m:r>
                    <m:sSup>
                      <m:e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)</m:t>
                        </m:r>
                      </m:e>
                      <m:sup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−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3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3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𝑘</m:t>
                    </m:r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3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3</m:t>
                    </m:r>
                    <m:sSup>
                      <m:e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)</m:t>
                        </m:r>
                      </m:e>
                      <m:sup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−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4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9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𝑘</m:t>
                    </m:r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3</m:t>
                    </m:r>
                    <m:sSup>
                      <m:e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)</m:t>
                        </m:r>
                      </m:e>
                      <m:sup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−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4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3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𝑘</m:t>
                        </m:r>
                        <m:sSup>
                          <m:e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𝑥</m:t>
                            </m:r>
                          </m:e>
                          <m:sup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2</m:t>
                            </m:r>
                          </m:sup>
                        </m:sSup>
                        <m:d>
                          <m:dPr>
                            <m:begChr m:val="["/>
                            <m:sepChr m:val=""/>
                            <m:endChr m:val="]"/>
                            <m:grow/>
                            <m:ctrlP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r>
                              <m:rPr>
                                <m:sty m:val="p"/>
                              </m:rPr>
                              <a:rPr lang="en-IN" sz="2400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(</m:t>
                            </m:r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𝑥</m:t>
                            </m:r>
                            <m:r>
                              <m:rPr>
                                <m:sty m:val="p"/>
                              </m:rPr>
                              <a:rPr lang="en-IN" sz="2400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−</m:t>
                            </m:r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3</m:t>
                            </m:r>
                            <m:r>
                              <m:rPr>
                                <m:sty m:val="p"/>
                              </m:rPr>
                              <a:rPr lang="en-IN" sz="2400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)</m:t>
                            </m:r>
                            <m:r>
                              <m:rPr>
                                <m:sty m:val="p"/>
                              </m:rPr>
                              <a:rPr lang="en-IN" sz="2400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−</m:t>
                            </m:r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𝑥</m:t>
                            </m:r>
                            <m:r>
                              <m:rPr>
                                <m:sty m:val="p"/>
                              </m:rPr>
                              <a:rPr lang="en-IN" sz="2400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+</m:t>
                            </m:r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3</m:t>
                            </m:r>
                          </m:e>
                        </m:d>
                      </m:num>
                      <m:den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(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−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3</m:t>
                        </m:r>
                        <m:sSup>
                          <m:e>
                            <m:r>
                              <m:rPr>
                                <m:sty m:val="p"/>
                              </m:rPr>
                              <a:rPr lang="en-IN" sz="2400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)</m:t>
                            </m:r>
                          </m:e>
                          <m:sup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4</m:t>
                            </m:r>
                          </m:sup>
                        </m:sSup>
                      </m:den>
                    </m:f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0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Choice>
        <mc:Fallback>
          <p:sp>
            <p:nvSpPr>
              <p:cNvPr id="6" name="Rectangle 5"/>
              <p:cNvSpPr/>
              <p:nvPr/>
            </p:nvSpPr>
            <p:spPr>
              <a:xfrm>
                <a:off x="731520" y="3118103"/>
                <a:ext cx="10725912" cy="3557016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Try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$g=k(x-3)^{-3}$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: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$g'=-3k(x-3)^{-4}$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Then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$3x^2g+x^3g'-3x^2g'=3x^2k(x-3)^{-3}-3kx^3(x-3)^{-4}+9kx^2(x-3)^{-4}=\frac{3kx^2\left[(x-3)-x+3\right]}{(x-3)^4}=0$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Fallback>
      </mc:AlternateContent>
    </p:spTree>
  </p:cSld>
  <p:clrMapOvr>
    <a:masterClrMapping/>
  </p:clrMapOvr>
</p:sld>
</file>

<file path=ppt/slides/slide13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FFFFFF"/>
          </a:fontRef>
        </p:style>
        <p:txBody>
          <a:bodyPr rtlCol="0" anchor="ctr" lIns="731520"/>
          <a:lstStyle>
            <a:lvl1pPr>
              <a:defRPr sz="3200">
                <a:solidFill>
                  <a:srgbClr val="FFFFFF"/>
                </a:solidFill>
              </a:defRPr>
            </a:lvl1pPr>
          </a:lstStyle>
          <a:p>
            <a:pPr algn="l">
              <a:defRPr sz="3200">
                <a:solidFill>
                  <a:srgbClr val="FFFFFF"/>
                </a:solidFill>
              </a:defRPr>
            </a:pPr>
            <a:r>
              <a:rPr sz="3200" b="1">
                <a:solidFill>
                  <a:srgbClr val="FFFFFF"/>
                </a:solidFill>
                <a:latin typeface="Arial"/>
              </a:rPr>
              <a:t>Question 21</a:t>
            </a:r>
            <a:endParaRPr sz="3200">
              <a:solidFill>
                <a:srgbClr val="FFFFFF"/>
              </a:solidFill>
            </a:endParaRPr>
          </a:p>
        </p:txBody>
      </p:sp>
      <p:sp>
        <p:nvSpPr>
          <p:cNvPr id="3" name="Rounded Rectangle 2"/>
          <p:cNvSpPr/>
          <p:nvPr/>
        </p:nvSpPr>
        <p:spPr>
          <a:xfrm>
            <a:off x="7894015" y="246887"/>
            <a:ext cx="3840480" cy="603504"/>
          </a:xfrm>
          <a:prstGeom prst="roundRect">
            <a:avLst>
              <a:gd name="adj" fmla="val 50000"/>
            </a:avLst>
          </a:prstGeom>
          <a:solidFill>
            <a:srgbClr val="FFD966"/>
          </a:solidFill>
          <a:ln w="1905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111827"/>
          </a:fontRef>
        </p:style>
        <p:txBody>
          <a:bodyPr rtlCol="0" anchor="ctr" wrap="square" lIns="228600" rIns="228600" tIns="18288" bIns="18288"/>
          <a:lstStyle>
            <a:lvl1pPr>
              <a:defRPr sz="2400">
                <a:solidFill>
                  <a:srgbClr val="111827"/>
                </a:solidFill>
              </a:defRPr>
            </a:lvl1pPr>
          </a:lstStyle>
          <a:p>
            <a:pPr algn="ctr">
              <a:defRPr sz="2400">
                <a:solidFill>
                  <a:srgbClr val="111827"/>
                </a:solidFill>
              </a:defRPr>
            </a:pPr>
            <a:r>
              <a:rPr sz="2400" b="1">
                <a:solidFill>
                  <a:srgbClr val="111827"/>
                </a:solidFill>
                <a:latin typeface="Arial"/>
              </a:rPr>
              <a:t>Level 2  ·  3 Marks</a:t>
            </a:r>
            <a:endParaRPr sz="2400">
              <a:solidFill>
                <a:srgbClr val="111827"/>
              </a:solidFill>
            </a:endParaRPr>
          </a:p>
        </p:txBody>
      </p:sp>
      <p:sp>
        <p:nvSpPr>
          <p:cNvPr id="4" name="Rounded Rectangle 3"/>
          <p:cNvSpPr/>
          <p:nvPr/>
        </p:nvSpPr>
        <p:spPr>
          <a:xfrm>
            <a:off x="3520440" y="265176"/>
            <a:ext cx="4206240" cy="566928"/>
          </a:xfrm>
          <a:prstGeom prst="roundRect">
            <a:avLst>
              <a:gd name="adj" fmla="val 50000"/>
            </a:avLst>
          </a:prstGeom>
          <a:solidFill>
            <a:srgbClr val="FDE68A"/>
          </a:solidFill>
          <a:ln w="25400">
            <a:solidFill>
              <a:srgbClr val="D9770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78350F"/>
          </a:fontRef>
        </p:style>
        <p:txBody>
          <a:bodyPr rtlCol="0" anchor="ctr" wrap="square" lIns="228600" rIns="228600" tIns="18288" bIns="18288"/>
          <a:lstStyle>
            <a:lvl1pPr>
              <a:defRPr sz="2200">
                <a:solidFill>
                  <a:srgbClr val="78350F"/>
                </a:solidFill>
              </a:defRPr>
            </a:lvl1pPr>
          </a:lstStyle>
          <a:p>
            <a:pPr algn="ctr">
              <a:defRPr sz="2200">
                <a:solidFill>
                  <a:srgbClr val="78350F"/>
                </a:solidFill>
              </a:defRPr>
            </a:pPr>
            <a:r>
              <a:rPr sz="2200" b="1">
                <a:solidFill>
                  <a:srgbClr val="78350F"/>
                </a:solidFill>
                <a:latin typeface="Arial"/>
              </a:rPr>
              <a:t>Alternate Solution</a:t>
            </a:r>
            <a:endParaRPr sz="2200">
              <a:solidFill>
                <a:srgbClr val="78350F"/>
              </a:solidFill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5" name="Rectangle 4"/>
              <p:cNvSpPr/>
              <p:nvPr/>
            </p:nvSpPr>
            <p:spPr>
              <a:xfrm>
                <a:off x="731520" y="1353312"/>
                <a:ext cx="10725912" cy="4434840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So every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𝑘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satisfies the equation; the equation alone cannot choose among the options.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The data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𝑔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0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3</m:t>
                        </m:r>
                      </m:den>
                    </m:f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decides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𝑘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: near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0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the same law reads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𝑔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𝑘</m:t>
                        </m:r>
                      </m:num>
                      <m:den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|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3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−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  <m:sSup>
                          <m:e>
                            <m:r>
                              <m:rPr>
                                <m:sty m:val="p"/>
                              </m:rPr>
                              <a:rPr lang="en-IN" sz="2400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|</m:t>
                            </m:r>
                          </m:e>
                          <m:sup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3</m:t>
                            </m:r>
                          </m:sup>
                        </m:sSup>
                      </m:den>
                    </m:f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so </a:t>
                </a:r>
                <a14:m>
                  <m:oMath xmlns:m="http://schemas.openxmlformats.org/officeDocument/2006/math"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𝑘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27</m:t>
                        </m:r>
                      </m:den>
                    </m:f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3</m:t>
                        </m:r>
                      </m:den>
                    </m:f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and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𝑘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9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 Option (C).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Choice>
        <mc:Fallback>
          <p:sp>
            <p:nvSpPr>
              <p:cNvPr id="5" name="Rectangle 4"/>
              <p:cNvSpPr/>
              <p:nvPr/>
            </p:nvSpPr>
            <p:spPr>
              <a:xfrm>
                <a:off x="731520" y="1353312"/>
                <a:ext cx="10725912" cy="4434840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So every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$k$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satisfies the equation; the equation alone cannot choose among the options.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The data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$g(0)=\frac13$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decides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$k$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: near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$0$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the same law reads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$g=\frac{k}{|3-x|^3}$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so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$\frac{k}{27}=\frac13$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and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$k=9$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 Option (C).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6" name="Rounded Rectangle 5"/>
              <p:cNvSpPr/>
              <p:nvPr/>
            </p:nvSpPr>
            <p:spPr>
              <a:xfrm>
                <a:off x="731520" y="5897880"/>
                <a:ext cx="10725912" cy="777240"/>
              </a:xfrm>
              <a:prstGeom prst="roundRect">
                <a:avLst>
                  <a:gd name="adj" fmla="val 8000"/>
                </a:avLst>
              </a:prstGeom>
              <a:solidFill>
                <a:srgbClr val="DCFCE7"/>
              </a:solidFill>
              <a:ln w="25400">
                <a:solidFill>
                  <a:srgbClr val="15803D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5803D"/>
              </a:fontRef>
            </p:style>
            <p:txBody>
              <a:bodyPr rtlCol="0" anchor="ctr" wrap="square" lIns="228600" rIns="228600" tIns="18288" bIns="73152"/>
              <a:lstStyle>
                <a:lvl1pPr>
                  <a:defRPr sz="2800">
                    <a:solidFill>
                      <a:srgbClr val="15803D"/>
                    </a:solidFill>
                  </a:defRPr>
                </a:lvl1pPr>
              </a:lstStyle>
              <a:p>
                <a:pPr algn="ctr">
                  <a:defRPr sz="2800">
                    <a:solidFill>
                      <a:srgbClr val="15803D"/>
                    </a:solidFill>
                  </a:defRPr>
                </a:pPr>
                <a:r>
                  <a:rPr sz="2800" b="1">
                    <a:solidFill>
                      <a:srgbClr val="15803D"/>
                    </a:solidFill>
                    <a:latin typeface="Arial"/>
                  </a:rPr>
                  <a:t>Same answer: (C) </a:t>
                </a:r>
                <a14:m>
                  <m:oMath xmlns:m="http://schemas.openxmlformats.org/officeDocument/2006/math">
                    <m:f>
                      <m:fPr>
                        <m:type m:val="bar"/>
                        <m:ctrlPr>
                          <a:rPr lang="en-IN" sz="2800" i="1">
                            <a:solidFill>
                              <a:srgbClr val="15803D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800" i="1">
                            <a:solidFill>
                              <a:srgbClr val="15803D"/>
                            </a:solidFill>
                            <a:latin typeface="Cambria Math" panose="02040503050406030204" pitchFamily="18" charset="0"/>
                          </a:rPr>
                          <m:t>9</m:t>
                        </m:r>
                      </m:num>
                      <m:den>
                        <m:r>
                          <m:rPr>
                            <m:sty m:val="p"/>
                          </m:rPr>
                          <a:rPr lang="en-IN" sz="2800">
                            <a:solidFill>
                              <a:srgbClr val="15803D"/>
                            </a:solidFill>
                            <a:latin typeface="Cambria Math" panose="02040503050406030204" pitchFamily="18" charset="0"/>
                          </a:rPr>
                          <m:t>(</m:t>
                        </m:r>
                        <m:r>
                          <a:rPr lang="en-IN" sz="2800" i="1">
                            <a:solidFill>
                              <a:srgbClr val="15803D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  <m:r>
                          <m:rPr>
                            <m:sty m:val="p"/>
                          </m:rPr>
                          <a:rPr lang="en-IN" sz="2800">
                            <a:solidFill>
                              <a:srgbClr val="15803D"/>
                            </a:solidFill>
                            <a:latin typeface="Cambria Math" panose="02040503050406030204" pitchFamily="18" charset="0"/>
                          </a:rPr>
                          <m:t>−</m:t>
                        </m:r>
                        <m:r>
                          <a:rPr lang="en-IN" sz="2800" i="1">
                            <a:solidFill>
                              <a:srgbClr val="15803D"/>
                            </a:solidFill>
                            <a:latin typeface="Cambria Math" panose="02040503050406030204" pitchFamily="18" charset="0"/>
                          </a:rPr>
                          <m:t>3</m:t>
                        </m:r>
                        <m:sSup>
                          <m:e>
                            <m:r>
                              <m:rPr>
                                <m:sty m:val="p"/>
                              </m:rPr>
                              <a:rPr lang="en-IN" sz="2800">
                                <a:solidFill>
                                  <a:srgbClr val="15803D"/>
                                </a:solidFill>
                                <a:latin typeface="Cambria Math" panose="02040503050406030204" pitchFamily="18" charset="0"/>
                              </a:rPr>
                              <m:t>)</m:t>
                            </m:r>
                          </m:e>
                          <m:sup>
                            <m:r>
                              <a:rPr lang="en-IN" sz="2800" i="1">
                                <a:solidFill>
                                  <a:srgbClr val="15803D"/>
                                </a:solidFill>
                                <a:latin typeface="Cambria Math" panose="02040503050406030204" pitchFamily="18" charset="0"/>
                              </a:rPr>
                              <m:t>3</m:t>
                            </m:r>
                          </m:sup>
                        </m:sSup>
                      </m:den>
                    </m:f>
                  </m:oMath>
                </a14:m>
                <a:endParaRPr sz="2800">
                  <a:solidFill>
                    <a:srgbClr val="15803D"/>
                  </a:solidFill>
                </a:endParaRPr>
              </a:p>
            </p:txBody>
          </p:sp>
        </mc:Choice>
        <mc:Fallback>
          <p:sp>
            <p:nvSpPr>
              <p:cNvPr id="6" name="Rounded Rectangle 5"/>
              <p:cNvSpPr/>
              <p:nvPr/>
            </p:nvSpPr>
            <p:spPr>
              <a:xfrm>
                <a:off x="731520" y="5897880"/>
                <a:ext cx="10725912" cy="777240"/>
              </a:xfrm>
              <a:prstGeom prst="roundRect">
                <a:avLst>
                  <a:gd name="adj" fmla="val 8000"/>
                </a:avLst>
              </a:prstGeom>
              <a:solidFill>
                <a:srgbClr val="DCFCE7"/>
              </a:solidFill>
              <a:ln w="25400">
                <a:solidFill>
                  <a:srgbClr val="15803D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5803D"/>
              </a:fontRef>
            </p:style>
            <p:txBody>
              <a:bodyPr rtlCol="0" anchor="ctr" wrap="square" lIns="228600" rIns="228600" tIns="18288" bIns="73152"/>
              <a:lstStyle>
                <a:lvl1pPr>
                  <a:defRPr sz="2800">
                    <a:solidFill>
                      <a:srgbClr val="15803D"/>
                    </a:solidFill>
                  </a:defRPr>
                </a:lvl1pPr>
              </a:lstStyle>
              <a:p>
                <a:pPr algn="ctr">
                  <a:defRPr sz="2800">
                    <a:solidFill>
                      <a:srgbClr val="15803D"/>
                    </a:solidFill>
                  </a:defRPr>
                </a:pPr>
                <a:r>
                  <a:rPr sz="2800" b="1">
                    <a:solidFill>
                      <a:srgbClr val="15803D"/>
                    </a:solidFill>
                    <a:latin typeface="Arial"/>
                  </a:rPr>
                  <a:t>Same answer: (C) </a:t>
                </a:r>
                <a:r>
                  <a:rPr lang="en-IN" sz="2800">
                    <a:solidFill>
                      <a:srgbClr val="15803D"/>
                    </a:solidFill>
                    <a:latin typeface="Cambria Math" panose="02040503050406030204" pitchFamily="18" charset="0"/>
                  </a:rPr>
                  <a:t>$\frac{9}{(x-3)^3}$</a:t>
                </a:r>
                <a:endParaRPr sz="2800">
                  <a:solidFill>
                    <a:srgbClr val="15803D"/>
                  </a:solidFill>
                </a:endParaRPr>
              </a:p>
            </p:txBody>
          </p:sp>
        </mc:Fallback>
      </mc:AlternateContent>
    </p:spTree>
  </p:cSld>
  <p:clrMapOvr>
    <a:masterClrMapping/>
  </p:clrMapOvr>
</p:sld>
</file>

<file path=ppt/slides/slide13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FFFFFF"/>
          </a:fontRef>
        </p:style>
        <p:txBody>
          <a:bodyPr rtlCol="0" anchor="ctr" lIns="731520"/>
          <a:lstStyle>
            <a:lvl1pPr>
              <a:defRPr sz="3200">
                <a:solidFill>
                  <a:srgbClr val="FFFFFF"/>
                </a:solidFill>
              </a:defRPr>
            </a:lvl1pPr>
          </a:lstStyle>
          <a:p>
            <a:pPr algn="l">
              <a:defRPr sz="3200">
                <a:solidFill>
                  <a:srgbClr val="FFFFFF"/>
                </a:solidFill>
              </a:defRPr>
            </a:pPr>
            <a:r>
              <a:rPr sz="3200" b="1">
                <a:solidFill>
                  <a:srgbClr val="FFFFFF"/>
                </a:solidFill>
                <a:latin typeface="Arial"/>
              </a:rPr>
              <a:t>Question 21</a:t>
            </a:r>
            <a:endParaRPr sz="3200">
              <a:solidFill>
                <a:srgbClr val="FFFFFF"/>
              </a:solidFill>
            </a:endParaRPr>
          </a:p>
        </p:txBody>
      </p:sp>
      <p:sp>
        <p:nvSpPr>
          <p:cNvPr id="3" name="Rounded Rectangle 2"/>
          <p:cNvSpPr/>
          <p:nvPr/>
        </p:nvSpPr>
        <p:spPr>
          <a:xfrm>
            <a:off x="7894015" y="246887"/>
            <a:ext cx="3840480" cy="603504"/>
          </a:xfrm>
          <a:prstGeom prst="roundRect">
            <a:avLst>
              <a:gd name="adj" fmla="val 50000"/>
            </a:avLst>
          </a:prstGeom>
          <a:solidFill>
            <a:srgbClr val="FFD966"/>
          </a:solidFill>
          <a:ln w="1905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111827"/>
          </a:fontRef>
        </p:style>
        <p:txBody>
          <a:bodyPr rtlCol="0" anchor="ctr" wrap="square" lIns="228600" rIns="228600" tIns="18288" bIns="18288"/>
          <a:lstStyle>
            <a:lvl1pPr>
              <a:defRPr sz="2400">
                <a:solidFill>
                  <a:srgbClr val="111827"/>
                </a:solidFill>
              </a:defRPr>
            </a:lvl1pPr>
          </a:lstStyle>
          <a:p>
            <a:pPr algn="ctr">
              <a:defRPr sz="2400">
                <a:solidFill>
                  <a:srgbClr val="111827"/>
                </a:solidFill>
              </a:defRPr>
            </a:pPr>
            <a:r>
              <a:rPr sz="2400" b="1">
                <a:solidFill>
                  <a:srgbClr val="111827"/>
                </a:solidFill>
                <a:latin typeface="Arial"/>
              </a:rPr>
              <a:t>Level 2  ·  3 Marks</a:t>
            </a:r>
            <a:endParaRPr sz="2400">
              <a:solidFill>
                <a:srgbClr val="111827"/>
              </a:solidFill>
            </a:endParaRPr>
          </a:p>
        </p:txBody>
      </p:sp>
      <p:sp>
        <p:nvSpPr>
          <p:cNvPr id="4" name="Rounded Rectangle 3"/>
          <p:cNvSpPr/>
          <p:nvPr/>
        </p:nvSpPr>
        <p:spPr>
          <a:xfrm>
            <a:off x="3520440" y="265176"/>
            <a:ext cx="4206240" cy="566928"/>
          </a:xfrm>
          <a:prstGeom prst="roundRect">
            <a:avLst>
              <a:gd name="adj" fmla="val 50000"/>
            </a:avLst>
          </a:prstGeom>
          <a:solidFill>
            <a:srgbClr val="E0ECFF"/>
          </a:solidFill>
          <a:ln w="25400">
            <a:solidFill>
              <a:srgbClr val="1D4ED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0B1F3A"/>
          </a:fontRef>
        </p:style>
        <p:txBody>
          <a:bodyPr rtlCol="0" anchor="ctr" wrap="square" lIns="228600" rIns="228600" tIns="18288" bIns="18288"/>
          <a:lstStyle>
            <a:lvl1pPr>
              <a:defRPr sz="2200">
                <a:solidFill>
                  <a:srgbClr val="0B1F3A"/>
                </a:solidFill>
              </a:defRPr>
            </a:lvl1pPr>
          </a:lstStyle>
          <a:p>
            <a:pPr algn="ctr">
              <a:defRPr sz="2200">
                <a:solidFill>
                  <a:srgbClr val="0B1F3A"/>
                </a:solidFill>
              </a:defRPr>
            </a:pPr>
            <a:r>
              <a:rPr sz="2200" b="1">
                <a:solidFill>
                  <a:srgbClr val="0B1F3A"/>
                </a:solidFill>
                <a:latin typeface="Arial"/>
              </a:rPr>
              <a:t>Useful Result / Pattern</a:t>
            </a:r>
            <a:endParaRPr sz="2200">
              <a:solidFill>
                <a:srgbClr val="0B1F3A"/>
              </a:solidFill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5" name="Rectangle 4"/>
              <p:cNvSpPr/>
              <p:nvPr/>
            </p:nvSpPr>
            <p:spPr>
              <a:xfrm>
                <a:off x="731520" y="1353312"/>
                <a:ext cx="10725912" cy="5321808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𝑓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𝑔</m:t>
                    </m:r>
                    <m:sSup>
                      <m:e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)</m:t>
                        </m:r>
                      </m:e>
                      <m:sup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′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𝑓</m:t>
                        </m:r>
                      </m:e>
                      <m:sup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′</m:t>
                        </m:r>
                      </m:sup>
                    </m:sSup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𝑔</m:t>
                        </m:r>
                      </m:e>
                      <m:sup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′</m:t>
                        </m:r>
                      </m:sup>
                    </m:sSup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rearranges to </a:t>
                </a:r>
                <a14:m>
                  <m:oMath xmlns:m="http://schemas.openxmlformats.org/officeDocument/2006/math"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sSup>
                          <m:e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𝑔</m:t>
                            </m:r>
                          </m:e>
                          <m:sup>
                            <m:r>
                              <m:rPr>
                                <m:sty m:val="p"/>
                              </m:rPr>
                              <a:rPr lang="en-IN" sz="2400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′</m:t>
                            </m:r>
                          </m:sup>
                        </m:sSup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𝑔</m:t>
                        </m:r>
                      </m:den>
                    </m:f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𝑓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𝑓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−</m:t>
                        </m:r>
                        <m:sSup>
                          <m:e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𝑓</m:t>
                            </m:r>
                          </m:e>
                          <m:sup>
                            <m:r>
                              <m:rPr>
                                <m:sty m:val="p"/>
                              </m:rPr>
                              <a:rPr lang="en-IN" sz="2400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′</m:t>
                            </m:r>
                          </m:sup>
                        </m:sSup>
                      </m:den>
                    </m:f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— a separable equation; for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𝑓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𝑛</m:t>
                        </m:r>
                      </m:sup>
                    </m:sSup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it is </a:t>
                </a:r>
                <a14:m>
                  <m:oMath xmlns:m="http://schemas.openxmlformats.org/officeDocument/2006/math"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sSup>
                          <m:e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𝑔</m:t>
                            </m:r>
                          </m:e>
                          <m:sup>
                            <m:r>
                              <m:rPr>
                                <m:sty m:val="p"/>
                              </m:rPr>
                              <a:rPr lang="en-IN" sz="2400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′</m:t>
                            </m:r>
                          </m:sup>
                        </m:sSup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𝑔</m:t>
                        </m:r>
                      </m:den>
                    </m:f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−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𝑛</m:t>
                        </m:r>
                      </m:den>
                    </m:f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The equation </a:t>
                </a:r>
                <a14:m>
                  <m:oMath xmlns:m="http://schemas.openxmlformats.org/officeDocument/2006/math"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𝑔</m:t>
                        </m:r>
                      </m:e>
                      <m:sup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′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/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𝑔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3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/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3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is singular at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3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; its solutions are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𝑐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/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|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3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sSup>
                      <m:e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|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3</m:t>
                        </m:r>
                      </m:sup>
                    </m:sSup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on each side, with an independent constant on each side. The paragraph uses the one constant fixed by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𝑔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0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3</m:t>
                        </m:r>
                      </m:den>
                    </m:f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Constants of such separable equations are fixed by the single given value (here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𝑔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0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3</m:t>
                        </m:r>
                      </m:den>
                    </m:f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): </a:t>
                </a:r>
                <a14:m>
                  <m:oMath xmlns:m="http://schemas.openxmlformats.org/officeDocument/2006/math"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𝑐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27</m:t>
                        </m:r>
                      </m:den>
                    </m:f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3</m:t>
                        </m:r>
                      </m:den>
                    </m:f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𝑐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9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Choice>
        <mc:Fallback>
          <p:sp>
            <p:nvSpPr>
              <p:cNvPr id="5" name="Rectangle 4"/>
              <p:cNvSpPr/>
              <p:nvPr/>
            </p:nvSpPr>
            <p:spPr>
              <a:xfrm>
                <a:off x="731520" y="1353312"/>
                <a:ext cx="10725912" cy="5321808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$(fg)'=f'g'$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rearranges to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$\frac{g'}{g}=\frac{f}{f-f'}$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— a separable equation; for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$f=x^n$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it is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$\frac{g'}{g}=\frac{x}{x-n}$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The equation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$g'/g=3/(3-x)$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is singular at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$x=3$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; its solutions are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$c/|3-x|^3$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on each side, with an independent constant on each side. The paragraph uses the one constant fixed by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$g(0)=\frac13$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Constants of such separable equations are fixed by the single given value (here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$g(0)=\frac13$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):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$\frac{c}{27}=\frac13\Rightarrow c=9$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Fallback>
      </mc:AlternateContent>
    </p:spTree>
  </p:cSld>
  <p:clrMapOvr>
    <a:masterClrMapping/>
  </p:clrMapOvr>
</p:sld>
</file>

<file path=ppt/slides/slide13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FFFFFF"/>
          </a:fontRef>
        </p:style>
        <p:txBody>
          <a:bodyPr rtlCol="0" anchor="ctr" lIns="731520"/>
          <a:lstStyle>
            <a:lvl1pPr>
              <a:defRPr sz="3200">
                <a:solidFill>
                  <a:srgbClr val="FFFFFF"/>
                </a:solidFill>
              </a:defRPr>
            </a:lvl1pPr>
          </a:lstStyle>
          <a:p>
            <a:pPr algn="l">
              <a:defRPr sz="3200">
                <a:solidFill>
                  <a:srgbClr val="FFFFFF"/>
                </a:solidFill>
              </a:defRPr>
            </a:pPr>
            <a:r>
              <a:rPr sz="3200" b="1">
                <a:solidFill>
                  <a:srgbClr val="FFFFFF"/>
                </a:solidFill>
                <a:latin typeface="Arial"/>
              </a:rPr>
              <a:t>Question 22</a:t>
            </a:r>
            <a:endParaRPr sz="3200">
              <a:solidFill>
                <a:srgbClr val="FFFFFF"/>
              </a:solidFill>
            </a:endParaRPr>
          </a:p>
        </p:txBody>
      </p:sp>
      <p:sp>
        <p:nvSpPr>
          <p:cNvPr id="3" name="Rounded Rectangle 2"/>
          <p:cNvSpPr/>
          <p:nvPr/>
        </p:nvSpPr>
        <p:spPr>
          <a:xfrm>
            <a:off x="7894015" y="246887"/>
            <a:ext cx="3840480" cy="603504"/>
          </a:xfrm>
          <a:prstGeom prst="roundRect">
            <a:avLst>
              <a:gd name="adj" fmla="val 50000"/>
            </a:avLst>
          </a:prstGeom>
          <a:solidFill>
            <a:srgbClr val="B6D7A8"/>
          </a:solidFill>
          <a:ln w="1905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111827"/>
          </a:fontRef>
        </p:style>
        <p:txBody>
          <a:bodyPr rtlCol="0" anchor="ctr" wrap="square" lIns="228600" rIns="228600" tIns="18288" bIns="18288"/>
          <a:lstStyle>
            <a:lvl1pPr>
              <a:defRPr sz="2400">
                <a:solidFill>
                  <a:srgbClr val="111827"/>
                </a:solidFill>
              </a:defRPr>
            </a:lvl1pPr>
          </a:lstStyle>
          <a:p>
            <a:pPr algn="ctr">
              <a:defRPr sz="2400">
                <a:solidFill>
                  <a:srgbClr val="111827"/>
                </a:solidFill>
              </a:defRPr>
            </a:pPr>
            <a:r>
              <a:rPr sz="2400" b="1">
                <a:solidFill>
                  <a:srgbClr val="111827"/>
                </a:solidFill>
                <a:latin typeface="Arial"/>
              </a:rPr>
              <a:t>Level 1  ·  3 Marks</a:t>
            </a:r>
            <a:endParaRPr sz="2400">
              <a:solidFill>
                <a:srgbClr val="111827"/>
              </a:solidFill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4" name="Rounded Rectangle 3"/>
              <p:cNvSpPr/>
              <p:nvPr/>
            </p:nvSpPr>
            <p:spPr>
              <a:xfrm>
                <a:off x="731520" y="1280160"/>
                <a:ext cx="10725912" cy="3579875"/>
              </a:xfrm>
              <a:prstGeom prst="roundRect">
                <a:avLst>
                  <a:gd name="adj" fmla="val 8000"/>
                </a:avLst>
              </a:prstGeom>
              <a:solidFill>
                <a:srgbClr val="E0ECFF"/>
              </a:solidFill>
              <a:ln w="25400">
                <a:solidFill>
                  <a:srgbClr val="1D4ED8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>
                  <a:spcAft>
                    <a:spcPts val="500"/>
                  </a:spcAft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In a certain problem the differentiation of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{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𝑓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⋅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𝑔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}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appears. One student commits a mistake and differentiates it as </a:t>
                </a:r>
                <a14:m>
                  <m:oMath xmlns:m="http://schemas.openxmlformats.org/officeDocument/2006/math"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𝑑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𝑓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𝑑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</m:den>
                    </m:f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⋅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𝑑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𝑔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𝑑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</m:den>
                    </m:f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but he gets the correct result if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𝑓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3</m:t>
                        </m:r>
                      </m:sup>
                    </m:sSup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and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𝑔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is a decreasing function for which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𝑔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0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3</m:t>
                        </m:r>
                      </m:den>
                    </m:f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>
                  <a:spcAft>
                    <a:spcPts val="500"/>
                  </a:spcAft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(Paper Q21) The derivative of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{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𝑓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3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⋅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𝑔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}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with respect to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at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100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is: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>
                  <a:spcAft>
                    <a:spcPts val="500"/>
                  </a:spcAft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(A)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0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  (B)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  (C)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  (D)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</m:oMath>
                </a14:m>
                <a:endParaRPr sz="2400">
                  <a:solidFill>
                    <a:srgbClr val="111827"/>
                  </a:solidFill>
                </a:endParaRPr>
              </a:p>
            </p:txBody>
          </p:sp>
        </mc:Choice>
        <mc:Fallback>
          <p:sp>
            <p:nvSpPr>
              <p:cNvPr id="4" name="Rounded Rectangle 3"/>
              <p:cNvSpPr/>
              <p:nvPr/>
            </p:nvSpPr>
            <p:spPr>
              <a:xfrm>
                <a:off x="731520" y="1280160"/>
                <a:ext cx="10725912" cy="3579875"/>
              </a:xfrm>
              <a:prstGeom prst="roundRect">
                <a:avLst>
                  <a:gd name="adj" fmla="val 8000"/>
                </a:avLst>
              </a:prstGeom>
              <a:solidFill>
                <a:srgbClr val="E0ECFF"/>
              </a:solidFill>
              <a:ln w="25400">
                <a:solidFill>
                  <a:srgbClr val="1D4ED8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>
                  <a:spcAft>
                    <a:spcPts val="500"/>
                  </a:spcAft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In a certain problem the differentiation of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$\{f(x)\cdot g(x)\}$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appears. One student commits a mistake and differentiates it as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$\frac{df}{dx}\cdot\frac{dg}{dx}$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but he gets the correct result if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$f(x)=x^3$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and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$g(x)$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is a decreasing function for which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$g(0)=\frac13$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>
                  <a:spcAft>
                    <a:spcPts val="500"/>
                  </a:spcAft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(Paper Q21) The derivative of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$\{f(x-3)\cdot g(x)\}$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with respect to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$x$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at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$x=100$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is: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>
                  <a:spcAft>
                    <a:spcPts val="500"/>
                  </a:spcAft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(A)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$0$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  (B)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$1$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  (C)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$-1$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  (D)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$2$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Fallback>
      </mc:AlternateContent>
    </p:spTree>
  </p:cSld>
  <p:clrMapOvr>
    <a:masterClrMapping/>
  </p:clrMapOvr>
</p:sld>
</file>

<file path=ppt/slides/slide13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FFFFFF"/>
          </a:fontRef>
        </p:style>
        <p:txBody>
          <a:bodyPr rtlCol="0" anchor="ctr" lIns="731520"/>
          <a:lstStyle>
            <a:lvl1pPr>
              <a:defRPr sz="3200">
                <a:solidFill>
                  <a:srgbClr val="FFFFFF"/>
                </a:solidFill>
              </a:defRPr>
            </a:lvl1pPr>
          </a:lstStyle>
          <a:p>
            <a:pPr algn="l">
              <a:defRPr sz="3200">
                <a:solidFill>
                  <a:srgbClr val="FFFFFF"/>
                </a:solidFill>
              </a:defRPr>
            </a:pPr>
            <a:r>
              <a:rPr sz="3200" b="1">
                <a:solidFill>
                  <a:srgbClr val="FFFFFF"/>
                </a:solidFill>
                <a:latin typeface="Arial"/>
              </a:rPr>
              <a:t>Question 22</a:t>
            </a:r>
            <a:endParaRPr sz="3200">
              <a:solidFill>
                <a:srgbClr val="FFFFFF"/>
              </a:solidFill>
            </a:endParaRPr>
          </a:p>
        </p:txBody>
      </p:sp>
      <p:sp>
        <p:nvSpPr>
          <p:cNvPr id="3" name="Rounded Rectangle 2"/>
          <p:cNvSpPr/>
          <p:nvPr/>
        </p:nvSpPr>
        <p:spPr>
          <a:xfrm>
            <a:off x="7894015" y="246887"/>
            <a:ext cx="3840480" cy="603504"/>
          </a:xfrm>
          <a:prstGeom prst="roundRect">
            <a:avLst>
              <a:gd name="adj" fmla="val 50000"/>
            </a:avLst>
          </a:prstGeom>
          <a:solidFill>
            <a:srgbClr val="B6D7A8"/>
          </a:solidFill>
          <a:ln w="1905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111827"/>
          </a:fontRef>
        </p:style>
        <p:txBody>
          <a:bodyPr rtlCol="0" anchor="ctr" wrap="square" lIns="228600" rIns="228600" tIns="18288" bIns="18288"/>
          <a:lstStyle>
            <a:lvl1pPr>
              <a:defRPr sz="2400">
                <a:solidFill>
                  <a:srgbClr val="111827"/>
                </a:solidFill>
              </a:defRPr>
            </a:lvl1pPr>
          </a:lstStyle>
          <a:p>
            <a:pPr algn="ctr">
              <a:defRPr sz="2400">
                <a:solidFill>
                  <a:srgbClr val="111827"/>
                </a:solidFill>
              </a:defRPr>
            </a:pPr>
            <a:r>
              <a:rPr sz="2400" b="1">
                <a:solidFill>
                  <a:srgbClr val="111827"/>
                </a:solidFill>
                <a:latin typeface="Arial"/>
              </a:rPr>
              <a:t>Level 1  ·  3 Marks</a:t>
            </a:r>
            <a:endParaRPr sz="2400">
              <a:solidFill>
                <a:srgbClr val="111827"/>
              </a:solidFill>
            </a:endParaRPr>
          </a:p>
        </p:txBody>
      </p:sp>
      <p:sp>
        <p:nvSpPr>
          <p:cNvPr id="4" name="Rectangle 3"/>
          <p:cNvSpPr/>
          <p:nvPr/>
        </p:nvSpPr>
        <p:spPr>
          <a:xfrm>
            <a:off x="731520" y="1280160"/>
            <a:ext cx="10725912" cy="1603248"/>
          </a:xfrm>
          <a:prstGeom prst="rect">
            <a:avLst/>
          </a:prstGeom>
          <a:solidFill>
            <a:srgbClr val="FFFFFF"/>
          </a:solidFill>
          <a:ln w="19050">
            <a:solidFill>
              <a:srgbClr val="6B728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111827"/>
          </a:fontRef>
        </p:style>
        <p:txBody>
          <a:bodyPr rtlCol="0" anchor="t" wrap="square" lIns="228600" rIns="228600" tIns="137160" bIns="73152"/>
          <a:lstStyle>
            <a:lvl1pPr>
              <a:defRPr sz="2400">
                <a:solidFill>
                  <a:srgbClr val="111827"/>
                </a:solidFill>
              </a:defRPr>
            </a:lvl1pPr>
          </a:lstStyle>
          <a:p>
            <a:pPr algn="l">
              <a:spcAft>
                <a:spcPts val="200"/>
              </a:spcAft>
              <a:defRPr sz="2400">
                <a:solidFill>
                  <a:srgbClr val="111827"/>
                </a:solidFill>
              </a:defRPr>
            </a:pPr>
            <a:r>
              <a:rPr sz="2400" b="0">
                <a:solidFill>
                  <a:srgbClr val="111827"/>
                </a:solidFill>
                <a:latin typeface="Arial"/>
              </a:rPr>
              <a:t>Paragraph Based Single Correct Type(3 Marks)</a:t>
            </a:r>
            <a:endParaRPr sz="2400">
              <a:solidFill>
                <a:srgbClr val="111827"/>
              </a:solidFill>
            </a:endParaRPr>
          </a:p>
          <a:p>
            <a:pPr algn="l">
              <a:spcAft>
                <a:spcPts val="200"/>
              </a:spcAft>
              <a:defRPr sz="2400">
                <a:solidFill>
                  <a:srgbClr val="111827"/>
                </a:solidFill>
              </a:defRPr>
            </a:pPr>
            <a:r>
              <a:rPr sz="2400" b="0">
                <a:solidFill>
                  <a:srgbClr val="111827"/>
                </a:solidFill>
                <a:latin typeface="Arial"/>
              </a:rPr>
              <a:t>Concept(s) : Derivative of a product of composite functions</a:t>
            </a:r>
            <a:endParaRPr sz="2400">
              <a:solidFill>
                <a:srgbClr val="111827"/>
              </a:solidFill>
            </a:endParaRPr>
          </a:p>
          <a:p>
            <a:pPr algn="l">
              <a:spcAft>
                <a:spcPts val="200"/>
              </a:spcAft>
              <a:defRPr sz="2400">
                <a:solidFill>
                  <a:srgbClr val="111827"/>
                </a:solidFill>
              </a:defRPr>
            </a:pPr>
            <a:r>
              <a:rPr sz="2400" b="0">
                <a:solidFill>
                  <a:srgbClr val="111827"/>
                </a:solidFill>
                <a:latin typeface="Arial"/>
              </a:rPr>
              <a:t>Difficulty Level: Level 1(JEE Main Level)</a:t>
            </a:r>
            <a:endParaRPr sz="2400">
              <a:solidFill>
                <a:srgbClr val="111827"/>
              </a:solidFill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5" name="Rounded Rectangle 4"/>
              <p:cNvSpPr/>
              <p:nvPr/>
            </p:nvSpPr>
            <p:spPr>
              <a:xfrm>
                <a:off x="731520" y="3066288"/>
                <a:ext cx="10725912" cy="1219200"/>
              </a:xfrm>
              <a:prstGeom prst="roundRect">
                <a:avLst>
                  <a:gd name="adj" fmla="val 8000"/>
                </a:avLst>
              </a:prstGeom>
              <a:solidFill>
                <a:srgbClr val="FDE68A"/>
              </a:solidFill>
              <a:ln w="31750">
                <a:solidFill>
                  <a:srgbClr val="D97706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78350F"/>
              </a:fontRef>
            </p:style>
            <p:txBody>
              <a:bodyPr rtlCol="0" anchor="ctr" wrap="square" lIns="228600" rIns="228600" tIns="54864" bIns="73152"/>
              <a:lstStyle>
                <a:lvl1pPr>
                  <a:defRPr sz="2400">
                    <a:solidFill>
                      <a:srgbClr val="78350F"/>
                    </a:solidFill>
                  </a:defRPr>
                </a:lvl1pPr>
              </a:lstStyle>
              <a:p>
                <a:pPr algn="l">
                  <a:defRPr sz="2400">
                    <a:solidFill>
                      <a:srgbClr val="78350F"/>
                    </a:solidFill>
                  </a:defRPr>
                </a:pPr>
                <a:r>
                  <a:rPr sz="2400" b="1">
                    <a:solidFill>
                      <a:srgbClr val="78350F"/>
                    </a:solidFill>
                    <a:latin typeface="Arial"/>
                  </a:rPr>
                  <a:t>Key idea:  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For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&gt;</m:t>
                    </m:r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3</m:t>
                    </m:r>
                  </m:oMath>
                </a14:m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,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𝑓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3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𝑔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3</m:t>
                    </m:r>
                    <m:sSup>
                      <m:e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)</m:t>
                        </m:r>
                      </m:e>
                      <m:sup>
                        <m: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3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⋅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9</m:t>
                        </m:r>
                      </m:num>
                      <m:den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(</m:t>
                        </m:r>
                        <m: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−</m:t>
                        </m:r>
                        <m: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3</m:t>
                        </m:r>
                        <m:sSup>
                          <m:e>
                            <m:r>
                              <m:rPr>
                                <m:sty m:val="p"/>
                              </m:rPr>
                              <a:rPr lang="en-IN" sz="2400">
                                <a:solidFill>
                                  <a:srgbClr val="78350F"/>
                                </a:solidFill>
                                <a:latin typeface="Cambria Math" panose="02040503050406030204" pitchFamily="18" charset="0"/>
                              </a:rPr>
                              <m:t>)</m:t>
                            </m:r>
                          </m:e>
                          <m:sup>
                            <m:r>
                              <a:rPr lang="en-IN" sz="2400" i="1">
                                <a:solidFill>
                                  <a:srgbClr val="78350F"/>
                                </a:solidFill>
                                <a:latin typeface="Cambria Math" panose="02040503050406030204" pitchFamily="18" charset="0"/>
                              </a:rPr>
                              <m:t>3</m:t>
                            </m:r>
                          </m:sup>
                        </m:sSup>
                      </m:den>
                    </m:f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9</m:t>
                    </m:r>
                  </m:oMath>
                </a14:m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 is a constant.</a:t>
                </a:r>
                <a:endParaRPr sz="2400">
                  <a:solidFill>
                    <a:srgbClr val="78350F"/>
                  </a:solidFill>
                </a:endParaRPr>
              </a:p>
            </p:txBody>
          </p:sp>
        </mc:Choice>
        <mc:Fallback>
          <p:sp>
            <p:nvSpPr>
              <p:cNvPr id="5" name="Rounded Rectangle 4"/>
              <p:cNvSpPr/>
              <p:nvPr/>
            </p:nvSpPr>
            <p:spPr>
              <a:xfrm>
                <a:off x="731520" y="3066288"/>
                <a:ext cx="10725912" cy="1219200"/>
              </a:xfrm>
              <a:prstGeom prst="roundRect">
                <a:avLst>
                  <a:gd name="adj" fmla="val 8000"/>
                </a:avLst>
              </a:prstGeom>
              <a:solidFill>
                <a:srgbClr val="FDE68A"/>
              </a:solidFill>
              <a:ln w="31750">
                <a:solidFill>
                  <a:srgbClr val="D97706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78350F"/>
              </a:fontRef>
            </p:style>
            <p:txBody>
              <a:bodyPr rtlCol="0" anchor="ctr" wrap="square" lIns="228600" rIns="228600" tIns="54864" bIns="73152"/>
              <a:lstStyle>
                <a:lvl1pPr>
                  <a:defRPr sz="2400">
                    <a:solidFill>
                      <a:srgbClr val="78350F"/>
                    </a:solidFill>
                  </a:defRPr>
                </a:lvl1pPr>
              </a:lstStyle>
              <a:p>
                <a:pPr algn="l">
                  <a:defRPr sz="2400">
                    <a:solidFill>
                      <a:srgbClr val="78350F"/>
                    </a:solidFill>
                  </a:defRPr>
                </a:pPr>
                <a:r>
                  <a:rPr sz="2400" b="1">
                    <a:solidFill>
                      <a:srgbClr val="78350F"/>
                    </a:solidFill>
                    <a:latin typeface="Arial"/>
                  </a:rPr>
                  <a:t>Key idea:  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For </a:t>
                </a:r>
                <a:r>
                  <a:rPr lang="en-IN" sz="2400">
                    <a:solidFill>
                      <a:srgbClr val="78350F"/>
                    </a:solidFill>
                    <a:latin typeface="Cambria Math" panose="02040503050406030204" pitchFamily="18" charset="0"/>
                  </a:rPr>
                  <a:t>$x&gt;3$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, </a:t>
                </a:r>
                <a:r>
                  <a:rPr lang="en-IN" sz="2400">
                    <a:solidFill>
                      <a:srgbClr val="78350F"/>
                    </a:solidFill>
                    <a:latin typeface="Cambria Math" panose="02040503050406030204" pitchFamily="18" charset="0"/>
                  </a:rPr>
                  <a:t>$f(x-3)g(x)=(x-3)^3\cdot\frac{9}{(x-3)^3}=9$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 is a constant.</a:t>
                </a:r>
                <a:endParaRPr sz="2400">
                  <a:solidFill>
                    <a:srgbClr val="78350F"/>
                  </a:solidFill>
                </a:endParaRP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6" name="Rectangle 5"/>
              <p:cNvSpPr/>
              <p:nvPr/>
            </p:nvSpPr>
            <p:spPr>
              <a:xfrm>
                <a:off x="731520" y="4422648"/>
                <a:ext cx="10725912" cy="2252471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Product rule: </a:t>
                </a:r>
                <a14:m>
                  <m:oMath xmlns:m="http://schemas.openxmlformats.org/officeDocument/2006/math"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𝑑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𝑑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</m:den>
                    </m:f>
                    <m:d>
                      <m:dPr>
                        <m:begChr m:val="{"/>
                        <m:sepChr m:val=""/>
                        <m:endChr m:val="}"/>
                        <m:grow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𝑓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(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−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3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)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𝑔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(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)</m:t>
                        </m:r>
                      </m:e>
                    </m:d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𝑔</m:t>
                        </m:r>
                      </m:e>
                      <m:sup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′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𝑓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3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𝑓</m:t>
                        </m:r>
                      </m:e>
                      <m:sup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′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3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𝑔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With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𝑓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3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3</m:t>
                    </m:r>
                    <m:sSup>
                      <m:e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)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3</m:t>
                        </m:r>
                      </m:sup>
                    </m:sSup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</a:t>
                </a:r>
                <a14:m>
                  <m:oMath xmlns:m="http://schemas.openxmlformats.org/officeDocument/2006/math"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𝑓</m:t>
                        </m:r>
                      </m:e>
                      <m:sup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′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3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3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3</m:t>
                    </m:r>
                    <m:sSup>
                      <m:e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)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𝑔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9</m:t>
                        </m:r>
                      </m:num>
                      <m:den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(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−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3</m:t>
                        </m:r>
                        <m:sSup>
                          <m:e>
                            <m:r>
                              <m:rPr>
                                <m:sty m:val="p"/>
                              </m:rPr>
                              <a:rPr lang="en-IN" sz="2400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)</m:t>
                            </m:r>
                          </m:e>
                          <m:sup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3</m:t>
                            </m:r>
                          </m:sup>
                        </m:sSup>
                      </m:den>
                    </m:f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</a:t>
                </a:r>
                <a14:m>
                  <m:oMath xmlns:m="http://schemas.openxmlformats.org/officeDocument/2006/math"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𝑔</m:t>
                        </m:r>
                      </m:e>
                      <m:sup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′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27</m:t>
                        </m:r>
                      </m:num>
                      <m:den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(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−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3</m:t>
                        </m:r>
                        <m:sSup>
                          <m:e>
                            <m:r>
                              <m:rPr>
                                <m:sty m:val="p"/>
                              </m:rPr>
                              <a:rPr lang="en-IN" sz="2400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)</m:t>
                            </m:r>
                          </m:e>
                          <m:sup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4</m:t>
                            </m:r>
                          </m:sup>
                        </m:sSup>
                      </m:den>
                    </m:f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(for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&gt;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3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).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Choice>
        <mc:Fallback>
          <p:sp>
            <p:nvSpPr>
              <p:cNvPr id="6" name="Rectangle 5"/>
              <p:cNvSpPr/>
              <p:nvPr/>
            </p:nvSpPr>
            <p:spPr>
              <a:xfrm>
                <a:off x="731520" y="4422648"/>
                <a:ext cx="10725912" cy="2252471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Product rule: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$\frac{d}{dx}\left\{f(x-3)g(x)\right\}=g'(x)f(x-3)+f'(x-3)g(x)$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With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$f(x-3)=(x-3)^3$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$f'(x-3)=3(x-3)^2$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$g=\frac{9}{(x-3)^3}$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$g'=-\frac{27}{(x-3)^4}$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(for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$x&gt;3$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).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Fallback>
      </mc:AlternateContent>
    </p:spTree>
  </p:cSld>
  <p:clrMapOvr>
    <a:masterClrMapping/>
  </p:clrMapOvr>
</p:sld>
</file>

<file path=ppt/slides/slide14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FFFFFF"/>
          </a:fontRef>
        </p:style>
        <p:txBody>
          <a:bodyPr rtlCol="0" anchor="ctr" lIns="731520"/>
          <a:lstStyle>
            <a:lvl1pPr>
              <a:defRPr sz="3200">
                <a:solidFill>
                  <a:srgbClr val="FFFFFF"/>
                </a:solidFill>
              </a:defRPr>
            </a:lvl1pPr>
          </a:lstStyle>
          <a:p>
            <a:pPr algn="l">
              <a:defRPr sz="3200">
                <a:solidFill>
                  <a:srgbClr val="FFFFFF"/>
                </a:solidFill>
              </a:defRPr>
            </a:pPr>
            <a:r>
              <a:rPr sz="3200" b="1">
                <a:solidFill>
                  <a:srgbClr val="FFFFFF"/>
                </a:solidFill>
                <a:latin typeface="Arial"/>
              </a:rPr>
              <a:t>Question 22</a:t>
            </a:r>
            <a:endParaRPr sz="3200">
              <a:solidFill>
                <a:srgbClr val="FFFFFF"/>
              </a:solidFill>
            </a:endParaRPr>
          </a:p>
        </p:txBody>
      </p:sp>
      <p:sp>
        <p:nvSpPr>
          <p:cNvPr id="3" name="Rounded Rectangle 2"/>
          <p:cNvSpPr/>
          <p:nvPr/>
        </p:nvSpPr>
        <p:spPr>
          <a:xfrm>
            <a:off x="7894015" y="246887"/>
            <a:ext cx="3840480" cy="603504"/>
          </a:xfrm>
          <a:prstGeom prst="roundRect">
            <a:avLst>
              <a:gd name="adj" fmla="val 50000"/>
            </a:avLst>
          </a:prstGeom>
          <a:solidFill>
            <a:srgbClr val="B6D7A8"/>
          </a:solidFill>
          <a:ln w="1905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111827"/>
          </a:fontRef>
        </p:style>
        <p:txBody>
          <a:bodyPr rtlCol="0" anchor="ctr" wrap="square" lIns="228600" rIns="228600" tIns="18288" bIns="18288"/>
          <a:lstStyle>
            <a:lvl1pPr>
              <a:defRPr sz="2400">
                <a:solidFill>
                  <a:srgbClr val="111827"/>
                </a:solidFill>
              </a:defRPr>
            </a:lvl1pPr>
          </a:lstStyle>
          <a:p>
            <a:pPr algn="ctr">
              <a:defRPr sz="2400">
                <a:solidFill>
                  <a:srgbClr val="111827"/>
                </a:solidFill>
              </a:defRPr>
            </a:pPr>
            <a:r>
              <a:rPr sz="2400" b="1">
                <a:solidFill>
                  <a:srgbClr val="111827"/>
                </a:solidFill>
                <a:latin typeface="Arial"/>
              </a:rPr>
              <a:t>Level 1  ·  3 Marks</a:t>
            </a:r>
            <a:endParaRPr sz="2400">
              <a:solidFill>
                <a:srgbClr val="111827"/>
              </a:solidFill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4" name="Rectangle 3"/>
              <p:cNvSpPr/>
              <p:nvPr/>
            </p:nvSpPr>
            <p:spPr>
              <a:xfrm>
                <a:off x="731520" y="1353312"/>
                <a:ext cx="10725912" cy="4434840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14:m>
                  <m:oMath xmlns:m="http://schemas.openxmlformats.org/officeDocument/2006/math"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𝑑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𝑑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</m:den>
                    </m:f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{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⋅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}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27</m:t>
                        </m:r>
                      </m:num>
                      <m:den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(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−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3</m:t>
                        </m:r>
                        <m:sSup>
                          <m:e>
                            <m:r>
                              <m:rPr>
                                <m:sty m:val="p"/>
                              </m:rPr>
                              <a:rPr lang="en-IN" sz="2400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)</m:t>
                            </m:r>
                          </m:e>
                          <m:sup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4</m:t>
                            </m:r>
                          </m:sup>
                        </m:sSup>
                      </m:den>
                    </m:f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3</m:t>
                    </m:r>
                    <m:sSup>
                      <m:e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)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3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3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3</m:t>
                    </m:r>
                    <m:sSup>
                      <m:e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)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⋅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9</m:t>
                        </m:r>
                      </m:num>
                      <m:den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(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−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3</m:t>
                        </m:r>
                        <m:sSup>
                          <m:e>
                            <m:r>
                              <m:rPr>
                                <m:sty m:val="p"/>
                              </m:rPr>
                              <a:rPr lang="en-IN" sz="2400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)</m:t>
                            </m:r>
                          </m:e>
                          <m:sup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3</m:t>
                            </m:r>
                          </m:sup>
                        </m:sSup>
                      </m:den>
                    </m:f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27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−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3</m:t>
                        </m:r>
                      </m:den>
                    </m:f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27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−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3</m:t>
                        </m:r>
                      </m:den>
                    </m:f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0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Hence the derivative at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100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is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0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 Option (A).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Choice>
        <mc:Fallback>
          <p:sp>
            <p:nvSpPr>
              <p:cNvPr id="4" name="Rectangle 3"/>
              <p:cNvSpPr/>
              <p:nvPr/>
            </p:nvSpPr>
            <p:spPr>
              <a:xfrm>
                <a:off x="731520" y="1353312"/>
                <a:ext cx="10725912" cy="4434840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$\frac{d}{dx}\{\cdot\}=-\frac{27}{(x-3)^4}(x-3)^3+3(x-3)^2\cdot\frac{9}{(x-3)^3}$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$=-\frac{27}{x-3}+\frac{27}{x-3}=0$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Hence the derivative at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$x=100$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is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$0$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 Option (A).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5" name="Rounded Rectangle 4"/>
              <p:cNvSpPr/>
              <p:nvPr/>
            </p:nvSpPr>
            <p:spPr>
              <a:xfrm>
                <a:off x="731520" y="5897880"/>
                <a:ext cx="10725912" cy="777240"/>
              </a:xfrm>
              <a:prstGeom prst="roundRect">
                <a:avLst>
                  <a:gd name="adj" fmla="val 8000"/>
                </a:avLst>
              </a:prstGeom>
              <a:solidFill>
                <a:srgbClr val="DCFCE7"/>
              </a:solidFill>
              <a:ln w="25400">
                <a:solidFill>
                  <a:srgbClr val="15803D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5803D"/>
              </a:fontRef>
            </p:style>
            <p:txBody>
              <a:bodyPr rtlCol="0" anchor="ctr" wrap="square" lIns="228600" rIns="228600" tIns="18288" bIns="73152"/>
              <a:lstStyle>
                <a:lvl1pPr>
                  <a:defRPr sz="2800">
                    <a:solidFill>
                      <a:srgbClr val="15803D"/>
                    </a:solidFill>
                  </a:defRPr>
                </a:lvl1pPr>
              </a:lstStyle>
              <a:p>
                <a:pPr algn="ctr">
                  <a:defRPr sz="2800">
                    <a:solidFill>
                      <a:srgbClr val="15803D"/>
                    </a:solidFill>
                  </a:defRPr>
                </a:pPr>
                <a:r>
                  <a:rPr sz="2800" b="1">
                    <a:solidFill>
                      <a:srgbClr val="15803D"/>
                    </a:solidFill>
                    <a:latin typeface="Arial"/>
                  </a:rPr>
                  <a:t>Correct Answer: (A) </a:t>
                </a:r>
                <a14:m>
                  <m:oMath xmlns:m="http://schemas.openxmlformats.org/officeDocument/2006/math">
                    <m:r>
                      <a:rPr lang="en-IN" sz="2800" i="1">
                        <a:solidFill>
                          <a:srgbClr val="15803D"/>
                        </a:solidFill>
                        <a:latin typeface="Cambria Math" panose="02040503050406030204" pitchFamily="18" charset="0"/>
                      </a:rPr>
                      <m:t>0</m:t>
                    </m:r>
                  </m:oMath>
                </a14:m>
                <a:endParaRPr sz="2800">
                  <a:solidFill>
                    <a:srgbClr val="15803D"/>
                  </a:solidFill>
                </a:endParaRPr>
              </a:p>
            </p:txBody>
          </p:sp>
        </mc:Choice>
        <mc:Fallback>
          <p:sp>
            <p:nvSpPr>
              <p:cNvPr id="5" name="Rounded Rectangle 4"/>
              <p:cNvSpPr/>
              <p:nvPr/>
            </p:nvSpPr>
            <p:spPr>
              <a:xfrm>
                <a:off x="731520" y="5897880"/>
                <a:ext cx="10725912" cy="777240"/>
              </a:xfrm>
              <a:prstGeom prst="roundRect">
                <a:avLst>
                  <a:gd name="adj" fmla="val 8000"/>
                </a:avLst>
              </a:prstGeom>
              <a:solidFill>
                <a:srgbClr val="DCFCE7"/>
              </a:solidFill>
              <a:ln w="25400">
                <a:solidFill>
                  <a:srgbClr val="15803D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5803D"/>
              </a:fontRef>
            </p:style>
            <p:txBody>
              <a:bodyPr rtlCol="0" anchor="ctr" wrap="square" lIns="228600" rIns="228600" tIns="18288" bIns="73152"/>
              <a:lstStyle>
                <a:lvl1pPr>
                  <a:defRPr sz="2800">
                    <a:solidFill>
                      <a:srgbClr val="15803D"/>
                    </a:solidFill>
                  </a:defRPr>
                </a:lvl1pPr>
              </a:lstStyle>
              <a:p>
                <a:pPr algn="ctr">
                  <a:defRPr sz="2800">
                    <a:solidFill>
                      <a:srgbClr val="15803D"/>
                    </a:solidFill>
                  </a:defRPr>
                </a:pPr>
                <a:r>
                  <a:rPr sz="2800" b="1">
                    <a:solidFill>
                      <a:srgbClr val="15803D"/>
                    </a:solidFill>
                    <a:latin typeface="Arial"/>
                  </a:rPr>
                  <a:t>Correct Answer: (A) </a:t>
                </a:r>
                <a:r>
                  <a:rPr lang="en-IN" sz="2800">
                    <a:solidFill>
                      <a:srgbClr val="15803D"/>
                    </a:solidFill>
                    <a:latin typeface="Cambria Math" panose="02040503050406030204" pitchFamily="18" charset="0"/>
                  </a:rPr>
                  <a:t>$0$</a:t>
                </a:r>
                <a:endParaRPr sz="2800">
                  <a:solidFill>
                    <a:srgbClr val="15803D"/>
                  </a:solidFill>
                </a:endParaRPr>
              </a:p>
            </p:txBody>
          </p:sp>
        </mc:Fallback>
      </mc:AlternateContent>
    </p:spTree>
  </p:cSld>
  <p:clrMapOvr>
    <a:masterClrMapping/>
  </p:clrMapOvr>
</p:sld>
</file>

<file path=ppt/slides/slide14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FFFFFF"/>
          </a:fontRef>
        </p:style>
        <p:txBody>
          <a:bodyPr rtlCol="0" anchor="ctr" lIns="731520"/>
          <a:lstStyle>
            <a:lvl1pPr>
              <a:defRPr sz="3200">
                <a:solidFill>
                  <a:srgbClr val="FFFFFF"/>
                </a:solidFill>
              </a:defRPr>
            </a:lvl1pPr>
          </a:lstStyle>
          <a:p>
            <a:pPr algn="l">
              <a:defRPr sz="3200">
                <a:solidFill>
                  <a:srgbClr val="FFFFFF"/>
                </a:solidFill>
              </a:defRPr>
            </a:pPr>
            <a:r>
              <a:rPr sz="3200" b="1">
                <a:solidFill>
                  <a:srgbClr val="FFFFFF"/>
                </a:solidFill>
                <a:latin typeface="Arial"/>
              </a:rPr>
              <a:t>Question 22</a:t>
            </a:r>
            <a:endParaRPr sz="3200">
              <a:solidFill>
                <a:srgbClr val="FFFFFF"/>
              </a:solidFill>
            </a:endParaRPr>
          </a:p>
        </p:txBody>
      </p:sp>
      <p:sp>
        <p:nvSpPr>
          <p:cNvPr id="3" name="Rounded Rectangle 2"/>
          <p:cNvSpPr/>
          <p:nvPr/>
        </p:nvSpPr>
        <p:spPr>
          <a:xfrm>
            <a:off x="7894015" y="246887"/>
            <a:ext cx="3840480" cy="603504"/>
          </a:xfrm>
          <a:prstGeom prst="roundRect">
            <a:avLst>
              <a:gd name="adj" fmla="val 50000"/>
            </a:avLst>
          </a:prstGeom>
          <a:solidFill>
            <a:srgbClr val="B6D7A8"/>
          </a:solidFill>
          <a:ln w="1905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111827"/>
          </a:fontRef>
        </p:style>
        <p:txBody>
          <a:bodyPr rtlCol="0" anchor="ctr" wrap="square" lIns="228600" rIns="228600" tIns="18288" bIns="18288"/>
          <a:lstStyle>
            <a:lvl1pPr>
              <a:defRPr sz="2400">
                <a:solidFill>
                  <a:srgbClr val="111827"/>
                </a:solidFill>
              </a:defRPr>
            </a:lvl1pPr>
          </a:lstStyle>
          <a:p>
            <a:pPr algn="ctr">
              <a:defRPr sz="2400">
                <a:solidFill>
                  <a:srgbClr val="111827"/>
                </a:solidFill>
              </a:defRPr>
            </a:pPr>
            <a:r>
              <a:rPr sz="2400" b="1">
                <a:solidFill>
                  <a:srgbClr val="111827"/>
                </a:solidFill>
                <a:latin typeface="Arial"/>
              </a:rPr>
              <a:t>Level 1  ·  3 Marks</a:t>
            </a:r>
            <a:endParaRPr sz="2400">
              <a:solidFill>
                <a:srgbClr val="111827"/>
              </a:solidFill>
            </a:endParaRPr>
          </a:p>
        </p:txBody>
      </p:sp>
      <p:sp>
        <p:nvSpPr>
          <p:cNvPr id="4" name="Rounded Rectangle 3"/>
          <p:cNvSpPr/>
          <p:nvPr/>
        </p:nvSpPr>
        <p:spPr>
          <a:xfrm>
            <a:off x="3520440" y="265176"/>
            <a:ext cx="4206240" cy="566928"/>
          </a:xfrm>
          <a:prstGeom prst="roundRect">
            <a:avLst>
              <a:gd name="adj" fmla="val 50000"/>
            </a:avLst>
          </a:prstGeom>
          <a:solidFill>
            <a:srgbClr val="FDE68A"/>
          </a:solidFill>
          <a:ln w="25400">
            <a:solidFill>
              <a:srgbClr val="D9770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78350F"/>
          </a:fontRef>
        </p:style>
        <p:txBody>
          <a:bodyPr rtlCol="0" anchor="ctr" wrap="square" lIns="228600" rIns="228600" tIns="18288" bIns="18288"/>
          <a:lstStyle>
            <a:lvl1pPr>
              <a:defRPr sz="2200">
                <a:solidFill>
                  <a:srgbClr val="78350F"/>
                </a:solidFill>
              </a:defRPr>
            </a:lvl1pPr>
          </a:lstStyle>
          <a:p>
            <a:pPr algn="ctr">
              <a:defRPr sz="2200">
                <a:solidFill>
                  <a:srgbClr val="78350F"/>
                </a:solidFill>
              </a:defRPr>
            </a:pPr>
            <a:r>
              <a:rPr sz="2200" b="1">
                <a:solidFill>
                  <a:srgbClr val="78350F"/>
                </a:solidFill>
                <a:latin typeface="Arial"/>
              </a:rPr>
              <a:t>Alternate Solution</a:t>
            </a:r>
            <a:endParaRPr sz="2200">
              <a:solidFill>
                <a:srgbClr val="78350F"/>
              </a:solidFill>
            </a:endParaRPr>
          </a:p>
        </p:txBody>
      </p:sp>
      <p:sp>
        <p:nvSpPr>
          <p:cNvPr id="5" name="Rounded Rectangle 4"/>
          <p:cNvSpPr/>
          <p:nvPr/>
        </p:nvSpPr>
        <p:spPr>
          <a:xfrm>
            <a:off x="731520" y="1280160"/>
            <a:ext cx="10725912" cy="1109472"/>
          </a:xfrm>
          <a:prstGeom prst="roundRect">
            <a:avLst>
              <a:gd name="adj" fmla="val 8000"/>
            </a:avLst>
          </a:prstGeom>
          <a:solidFill>
            <a:srgbClr val="FDE68A"/>
          </a:solidFill>
          <a:ln w="31750">
            <a:solidFill>
              <a:srgbClr val="D9770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78350F"/>
          </a:fontRef>
        </p:style>
        <p:txBody>
          <a:bodyPr rtlCol="0" anchor="ctr" wrap="square" lIns="228600" rIns="228600" tIns="54864" bIns="73152"/>
          <a:lstStyle>
            <a:lvl1pPr>
              <a:defRPr sz="2400">
                <a:solidFill>
                  <a:srgbClr val="78350F"/>
                </a:solidFill>
              </a:defRPr>
            </a:lvl1pPr>
          </a:lstStyle>
          <a:p>
            <a:pPr algn="l">
              <a:defRPr sz="2400">
                <a:solidFill>
                  <a:srgbClr val="78350F"/>
                </a:solidFill>
              </a:defRPr>
            </a:pPr>
            <a:r>
              <a:rPr sz="2400" b="1">
                <a:solidFill>
                  <a:srgbClr val="78350F"/>
                </a:solidFill>
                <a:latin typeface="Arial"/>
              </a:rPr>
              <a:t>Idea:  </a:t>
            </a:r>
            <a:r>
              <a:rPr sz="2400" b="0">
                <a:solidFill>
                  <a:srgbClr val="78350F"/>
                </a:solidFill>
                <a:latin typeface="Arial"/>
              </a:rPr>
              <a:t>Simplify before differentiating: the product is a constant.</a:t>
            </a:r>
            <a:endParaRPr sz="2400">
              <a:solidFill>
                <a:srgbClr val="78350F"/>
              </a:solidFill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6" name="Rectangle 5"/>
              <p:cNvSpPr/>
              <p:nvPr/>
            </p:nvSpPr>
            <p:spPr>
              <a:xfrm>
                <a:off x="731520" y="2526792"/>
                <a:ext cx="10725912" cy="3261360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For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&gt;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3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: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𝑓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3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 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𝑔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3</m:t>
                    </m:r>
                    <m:sSup>
                      <m:e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)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3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⋅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9</m:t>
                        </m:r>
                      </m:num>
                      <m:den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(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−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3</m:t>
                        </m:r>
                        <m:sSup>
                          <m:e>
                            <m:r>
                              <m:rPr>
                                <m:sty m:val="p"/>
                              </m:rPr>
                              <a:rPr lang="en-IN" sz="2400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)</m:t>
                            </m:r>
                          </m:e>
                          <m:sup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3</m:t>
                            </m:r>
                          </m:sup>
                        </m:sSup>
                      </m:den>
                    </m:f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9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The derivative of a constant is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0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in particular at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100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 Option (A).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Choice>
        <mc:Fallback>
          <p:sp>
            <p:nvSpPr>
              <p:cNvPr id="6" name="Rectangle 5"/>
              <p:cNvSpPr/>
              <p:nvPr/>
            </p:nvSpPr>
            <p:spPr>
              <a:xfrm>
                <a:off x="731520" y="2526792"/>
                <a:ext cx="10725912" cy="3261360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For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$x&gt;3$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: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$f(x-3)\,g(x)=(x-3)^3\cdot\frac{9}{(x-3)^3}=9$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The derivative of a constant is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$0$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in particular at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$x=100$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 Option (A).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7" name="Rounded Rectangle 6"/>
              <p:cNvSpPr/>
              <p:nvPr/>
            </p:nvSpPr>
            <p:spPr>
              <a:xfrm>
                <a:off x="731520" y="5897880"/>
                <a:ext cx="10725912" cy="777240"/>
              </a:xfrm>
              <a:prstGeom prst="roundRect">
                <a:avLst>
                  <a:gd name="adj" fmla="val 8000"/>
                </a:avLst>
              </a:prstGeom>
              <a:solidFill>
                <a:srgbClr val="DCFCE7"/>
              </a:solidFill>
              <a:ln w="25400">
                <a:solidFill>
                  <a:srgbClr val="15803D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5803D"/>
              </a:fontRef>
            </p:style>
            <p:txBody>
              <a:bodyPr rtlCol="0" anchor="ctr" wrap="square" lIns="228600" rIns="228600" tIns="18288" bIns="73152"/>
              <a:lstStyle>
                <a:lvl1pPr>
                  <a:defRPr sz="2800">
                    <a:solidFill>
                      <a:srgbClr val="15803D"/>
                    </a:solidFill>
                  </a:defRPr>
                </a:lvl1pPr>
              </a:lstStyle>
              <a:p>
                <a:pPr algn="ctr">
                  <a:defRPr sz="2800">
                    <a:solidFill>
                      <a:srgbClr val="15803D"/>
                    </a:solidFill>
                  </a:defRPr>
                </a:pPr>
                <a:r>
                  <a:rPr sz="2800" b="1">
                    <a:solidFill>
                      <a:srgbClr val="15803D"/>
                    </a:solidFill>
                    <a:latin typeface="Arial"/>
                  </a:rPr>
                  <a:t>Same answer: (A) </a:t>
                </a:r>
                <a14:m>
                  <m:oMath xmlns:m="http://schemas.openxmlformats.org/officeDocument/2006/math">
                    <m:r>
                      <a:rPr lang="en-IN" sz="2800" i="1">
                        <a:solidFill>
                          <a:srgbClr val="15803D"/>
                        </a:solidFill>
                        <a:latin typeface="Cambria Math" panose="02040503050406030204" pitchFamily="18" charset="0"/>
                      </a:rPr>
                      <m:t>0</m:t>
                    </m:r>
                  </m:oMath>
                </a14:m>
                <a:endParaRPr sz="2800">
                  <a:solidFill>
                    <a:srgbClr val="15803D"/>
                  </a:solidFill>
                </a:endParaRPr>
              </a:p>
            </p:txBody>
          </p:sp>
        </mc:Choice>
        <mc:Fallback>
          <p:sp>
            <p:nvSpPr>
              <p:cNvPr id="7" name="Rounded Rectangle 6"/>
              <p:cNvSpPr/>
              <p:nvPr/>
            </p:nvSpPr>
            <p:spPr>
              <a:xfrm>
                <a:off x="731520" y="5897880"/>
                <a:ext cx="10725912" cy="777240"/>
              </a:xfrm>
              <a:prstGeom prst="roundRect">
                <a:avLst>
                  <a:gd name="adj" fmla="val 8000"/>
                </a:avLst>
              </a:prstGeom>
              <a:solidFill>
                <a:srgbClr val="DCFCE7"/>
              </a:solidFill>
              <a:ln w="25400">
                <a:solidFill>
                  <a:srgbClr val="15803D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5803D"/>
              </a:fontRef>
            </p:style>
            <p:txBody>
              <a:bodyPr rtlCol="0" anchor="ctr" wrap="square" lIns="228600" rIns="228600" tIns="18288" bIns="73152"/>
              <a:lstStyle>
                <a:lvl1pPr>
                  <a:defRPr sz="2800">
                    <a:solidFill>
                      <a:srgbClr val="15803D"/>
                    </a:solidFill>
                  </a:defRPr>
                </a:lvl1pPr>
              </a:lstStyle>
              <a:p>
                <a:pPr algn="ctr">
                  <a:defRPr sz="2800">
                    <a:solidFill>
                      <a:srgbClr val="15803D"/>
                    </a:solidFill>
                  </a:defRPr>
                </a:pPr>
                <a:r>
                  <a:rPr sz="2800" b="1">
                    <a:solidFill>
                      <a:srgbClr val="15803D"/>
                    </a:solidFill>
                    <a:latin typeface="Arial"/>
                  </a:rPr>
                  <a:t>Same answer: (A) </a:t>
                </a:r>
                <a:r>
                  <a:rPr lang="en-IN" sz="2800">
                    <a:solidFill>
                      <a:srgbClr val="15803D"/>
                    </a:solidFill>
                    <a:latin typeface="Cambria Math" panose="02040503050406030204" pitchFamily="18" charset="0"/>
                  </a:rPr>
                  <a:t>$0$</a:t>
                </a:r>
                <a:endParaRPr sz="2800">
                  <a:solidFill>
                    <a:srgbClr val="15803D"/>
                  </a:solidFill>
                </a:endParaRPr>
              </a:p>
            </p:txBody>
          </p:sp>
        </mc:Fallback>
      </mc:AlternateContent>
    </p:spTree>
  </p:cSld>
  <p:clrMapOvr>
    <a:masterClrMapping/>
  </p:clrMapOvr>
</p:sld>
</file>

<file path=ppt/slides/slide14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FFFFFF"/>
          </a:fontRef>
        </p:style>
        <p:txBody>
          <a:bodyPr rtlCol="0" anchor="ctr" lIns="731520"/>
          <a:lstStyle>
            <a:lvl1pPr>
              <a:defRPr sz="3200">
                <a:solidFill>
                  <a:srgbClr val="FFFFFF"/>
                </a:solidFill>
              </a:defRPr>
            </a:lvl1pPr>
          </a:lstStyle>
          <a:p>
            <a:pPr algn="l">
              <a:defRPr sz="3200">
                <a:solidFill>
                  <a:srgbClr val="FFFFFF"/>
                </a:solidFill>
              </a:defRPr>
            </a:pPr>
            <a:r>
              <a:rPr sz="3200" b="1">
                <a:solidFill>
                  <a:srgbClr val="FFFFFF"/>
                </a:solidFill>
                <a:latin typeface="Arial"/>
              </a:rPr>
              <a:t>Question 22</a:t>
            </a:r>
            <a:endParaRPr sz="3200">
              <a:solidFill>
                <a:srgbClr val="FFFFFF"/>
              </a:solidFill>
            </a:endParaRPr>
          </a:p>
        </p:txBody>
      </p:sp>
      <p:sp>
        <p:nvSpPr>
          <p:cNvPr id="3" name="Rounded Rectangle 2"/>
          <p:cNvSpPr/>
          <p:nvPr/>
        </p:nvSpPr>
        <p:spPr>
          <a:xfrm>
            <a:off x="7894015" y="246887"/>
            <a:ext cx="3840480" cy="603504"/>
          </a:xfrm>
          <a:prstGeom prst="roundRect">
            <a:avLst>
              <a:gd name="adj" fmla="val 50000"/>
            </a:avLst>
          </a:prstGeom>
          <a:solidFill>
            <a:srgbClr val="B6D7A8"/>
          </a:solidFill>
          <a:ln w="1905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111827"/>
          </a:fontRef>
        </p:style>
        <p:txBody>
          <a:bodyPr rtlCol="0" anchor="ctr" wrap="square" lIns="228600" rIns="228600" tIns="18288" bIns="18288"/>
          <a:lstStyle>
            <a:lvl1pPr>
              <a:defRPr sz="2400">
                <a:solidFill>
                  <a:srgbClr val="111827"/>
                </a:solidFill>
              </a:defRPr>
            </a:lvl1pPr>
          </a:lstStyle>
          <a:p>
            <a:pPr algn="ctr">
              <a:defRPr sz="2400">
                <a:solidFill>
                  <a:srgbClr val="111827"/>
                </a:solidFill>
              </a:defRPr>
            </a:pPr>
            <a:r>
              <a:rPr sz="2400" b="1">
                <a:solidFill>
                  <a:srgbClr val="111827"/>
                </a:solidFill>
                <a:latin typeface="Arial"/>
              </a:rPr>
              <a:t>Level 1  ·  3 Marks</a:t>
            </a:r>
            <a:endParaRPr sz="2400">
              <a:solidFill>
                <a:srgbClr val="111827"/>
              </a:solidFill>
            </a:endParaRPr>
          </a:p>
        </p:txBody>
      </p:sp>
      <p:sp>
        <p:nvSpPr>
          <p:cNvPr id="4" name="Rounded Rectangle 3"/>
          <p:cNvSpPr/>
          <p:nvPr/>
        </p:nvSpPr>
        <p:spPr>
          <a:xfrm>
            <a:off x="3520440" y="265176"/>
            <a:ext cx="4206240" cy="566928"/>
          </a:xfrm>
          <a:prstGeom prst="roundRect">
            <a:avLst>
              <a:gd name="adj" fmla="val 50000"/>
            </a:avLst>
          </a:prstGeom>
          <a:solidFill>
            <a:srgbClr val="E0ECFF"/>
          </a:solidFill>
          <a:ln w="25400">
            <a:solidFill>
              <a:srgbClr val="1D4ED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0B1F3A"/>
          </a:fontRef>
        </p:style>
        <p:txBody>
          <a:bodyPr rtlCol="0" anchor="ctr" wrap="square" lIns="228600" rIns="228600" tIns="18288" bIns="18288"/>
          <a:lstStyle>
            <a:lvl1pPr>
              <a:defRPr sz="2200">
                <a:solidFill>
                  <a:srgbClr val="0B1F3A"/>
                </a:solidFill>
              </a:defRPr>
            </a:lvl1pPr>
          </a:lstStyle>
          <a:p>
            <a:pPr algn="ctr">
              <a:defRPr sz="2200">
                <a:solidFill>
                  <a:srgbClr val="0B1F3A"/>
                </a:solidFill>
              </a:defRPr>
            </a:pPr>
            <a:r>
              <a:rPr sz="2200" b="1">
                <a:solidFill>
                  <a:srgbClr val="0B1F3A"/>
                </a:solidFill>
                <a:latin typeface="Arial"/>
              </a:rPr>
              <a:t>Useful Result / Pattern</a:t>
            </a:r>
            <a:endParaRPr sz="2200">
              <a:solidFill>
                <a:srgbClr val="0B1F3A"/>
              </a:solidFill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5" name="Rectangle 4"/>
              <p:cNvSpPr/>
              <p:nvPr/>
            </p:nvSpPr>
            <p:spPr>
              <a:xfrm>
                <a:off x="731520" y="1353312"/>
                <a:ext cx="10725912" cy="5321808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Look for a constant product before applying the product rule: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𝑓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3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3</m:t>
                    </m:r>
                    <m:sSup>
                      <m:e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)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3</m:t>
                        </m:r>
                      </m:sup>
                    </m:sSup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and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𝑔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9</m:t>
                        </m:r>
                      </m:num>
                      <m:den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(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−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3</m:t>
                        </m:r>
                        <m:sSup>
                          <m:e>
                            <m:r>
                              <m:rPr>
                                <m:sty m:val="p"/>
                              </m:rPr>
                              <a:rPr lang="en-IN" sz="2400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)</m:t>
                            </m:r>
                          </m:e>
                          <m:sup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3</m:t>
                            </m:r>
                          </m:sup>
                        </m:sSup>
                      </m:den>
                    </m:f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cancel exactly.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Answer is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0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for any constant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𝑘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in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𝑔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𝑘</m:t>
                        </m:r>
                      </m:num>
                      <m:den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(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−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3</m:t>
                        </m:r>
                        <m:sSup>
                          <m:e>
                            <m:r>
                              <m:rPr>
                                <m:sty m:val="p"/>
                              </m:rPr>
                              <a:rPr lang="en-IN" sz="2400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)</m:t>
                            </m:r>
                          </m:e>
                          <m:sup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3</m:t>
                            </m:r>
                          </m:sup>
                        </m:sSup>
                      </m:den>
                    </m:f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so this part does not depend on the value of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𝑔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0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14:m>
                  <m:oMath xmlns:m="http://schemas.openxmlformats.org/officeDocument/2006/math"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𝑑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𝑑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</m:den>
                    </m:f>
                    <m:d>
                      <m:dPr>
                        <m:begChr m:val="["/>
                        <m:sepChr m:val=""/>
                        <m:endChr m:val="]"/>
                        <m:grow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sSup>
                          <m:e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𝑥</m:t>
                            </m:r>
                          </m:e>
                          <m:sup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𝑛</m:t>
                            </m:r>
                          </m:sup>
                        </m:sSup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⋅</m:t>
                        </m:r>
                        <m:sSup>
                          <m:e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𝑥</m:t>
                            </m:r>
                          </m:e>
                          <m:sup>
                            <m:r>
                              <m:rPr>
                                <m:sty m:val="p"/>
                              </m:rPr>
                              <a:rPr lang="en-IN" sz="2400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−</m:t>
                            </m:r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𝑛</m:t>
                            </m:r>
                          </m:sup>
                        </m:sSup>
                      </m:e>
                    </m:d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0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: a product of reciprocal power functions has zero derivative.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Choice>
        <mc:Fallback>
          <p:sp>
            <p:nvSpPr>
              <p:cNvPr id="5" name="Rectangle 4"/>
              <p:cNvSpPr/>
              <p:nvPr/>
            </p:nvSpPr>
            <p:spPr>
              <a:xfrm>
                <a:off x="731520" y="1353312"/>
                <a:ext cx="10725912" cy="5321808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Look for a constant product before applying the product rule: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$f(x-3)=(x-3)^3$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and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$g=\frac{9}{(x-3)^3}$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cancel exactly.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Answer is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$0$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for any constant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$k$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in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$g=\frac{k}{(x-3)^3}$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so this part does not depend on the value of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$g(0)$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$\frac{d}{dx}\left[x^n\cdot x^{-n}\right]=0$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: a product of reciprocal power functions has zero derivative.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Fallback>
      </mc:AlternateContent>
    </p:spTree>
  </p:cSld>
  <p:clrMapOvr>
    <a:masterClrMapping/>
  </p:clrMapOvr>
</p:sld>
</file>

<file path=ppt/slides/slide14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FFFFFF"/>
          </a:fontRef>
        </p:style>
        <p:txBody>
          <a:bodyPr rtlCol="0" anchor="ctr" lIns="731520"/>
          <a:lstStyle>
            <a:lvl1pPr>
              <a:defRPr sz="3200">
                <a:solidFill>
                  <a:srgbClr val="FFFFFF"/>
                </a:solidFill>
              </a:defRPr>
            </a:lvl1pPr>
          </a:lstStyle>
          <a:p>
            <a:pPr algn="l">
              <a:defRPr sz="3200">
                <a:solidFill>
                  <a:srgbClr val="FFFFFF"/>
                </a:solidFill>
              </a:defRPr>
            </a:pPr>
            <a:r>
              <a:rPr sz="3200" b="1">
                <a:solidFill>
                  <a:srgbClr val="FFFFFF"/>
                </a:solidFill>
                <a:latin typeface="Arial"/>
              </a:rPr>
              <a:t>Question 23</a:t>
            </a:r>
            <a:endParaRPr sz="3200">
              <a:solidFill>
                <a:srgbClr val="FFFFFF"/>
              </a:solidFill>
            </a:endParaRPr>
          </a:p>
        </p:txBody>
      </p:sp>
      <p:sp>
        <p:nvSpPr>
          <p:cNvPr id="3" name="Rounded Rectangle 2"/>
          <p:cNvSpPr/>
          <p:nvPr/>
        </p:nvSpPr>
        <p:spPr>
          <a:xfrm>
            <a:off x="7894015" y="246887"/>
            <a:ext cx="3840480" cy="603504"/>
          </a:xfrm>
          <a:prstGeom prst="roundRect">
            <a:avLst>
              <a:gd name="adj" fmla="val 50000"/>
            </a:avLst>
          </a:prstGeom>
          <a:solidFill>
            <a:srgbClr val="B6D7A8"/>
          </a:solidFill>
          <a:ln w="1905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111827"/>
          </a:fontRef>
        </p:style>
        <p:txBody>
          <a:bodyPr rtlCol="0" anchor="ctr" wrap="square" lIns="228600" rIns="228600" tIns="18288" bIns="18288"/>
          <a:lstStyle>
            <a:lvl1pPr>
              <a:defRPr sz="2400">
                <a:solidFill>
                  <a:srgbClr val="111827"/>
                </a:solidFill>
              </a:defRPr>
            </a:lvl1pPr>
          </a:lstStyle>
          <a:p>
            <a:pPr algn="ctr">
              <a:defRPr sz="2400">
                <a:solidFill>
                  <a:srgbClr val="111827"/>
                </a:solidFill>
              </a:defRPr>
            </a:pPr>
            <a:r>
              <a:rPr sz="2400" b="1">
                <a:solidFill>
                  <a:srgbClr val="111827"/>
                </a:solidFill>
                <a:latin typeface="Arial"/>
              </a:rPr>
              <a:t>Level 1  ·  3 Marks</a:t>
            </a:r>
            <a:endParaRPr sz="2400">
              <a:solidFill>
                <a:srgbClr val="111827"/>
              </a:solidFill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4" name="Rounded Rectangle 3"/>
              <p:cNvSpPr/>
              <p:nvPr/>
            </p:nvSpPr>
            <p:spPr>
              <a:xfrm>
                <a:off x="731520" y="1280160"/>
                <a:ext cx="10725912" cy="3317748"/>
              </a:xfrm>
              <a:prstGeom prst="roundRect">
                <a:avLst>
                  <a:gd name="adj" fmla="val 8000"/>
                </a:avLst>
              </a:prstGeom>
              <a:solidFill>
                <a:srgbClr val="E0ECFF"/>
              </a:solidFill>
              <a:ln w="25400">
                <a:solidFill>
                  <a:srgbClr val="1D4ED8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>
                  <a:spcAft>
                    <a:spcPts val="500"/>
                  </a:spcAft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In a certain problem the differentiation of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{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𝑓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⋅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𝑔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}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appears. One student commits a mistake and differentiates it as </a:t>
                </a:r>
                <a14:m>
                  <m:oMath xmlns:m="http://schemas.openxmlformats.org/officeDocument/2006/math"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𝑑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𝑓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𝑑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</m:den>
                    </m:f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⋅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𝑑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𝑔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𝑑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</m:den>
                    </m:f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but he gets the correct result if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𝑓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3</m:t>
                        </m:r>
                      </m:sup>
                    </m:sSup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and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𝑔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is a decreasing function for which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𝑔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0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3</m:t>
                        </m:r>
                      </m:den>
                    </m:f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>
                  <a:spcAft>
                    <a:spcPts val="500"/>
                  </a:spcAft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(Paper Q22) </a:t>
                </a:r>
                <a14:m>
                  <m:oMath xmlns:m="http://schemas.openxmlformats.org/officeDocument/2006/math">
                    <m:sSub>
                      <m:e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lim</m:t>
                        </m:r>
                      </m:e>
                      <m:sub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→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0</m:t>
                        </m:r>
                      </m:sub>
                    </m:sSub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𝑓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(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)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⋅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𝑔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(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)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  <m:d>
                          <m:dPr>
                            <m:begChr m:val="("/>
                            <m:sepChr m:val=""/>
                            <m:endChr m:val=")"/>
                            <m:grow/>
                            <m:ctrlP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1</m:t>
                            </m:r>
                            <m:r>
                              <m:rPr>
                                <m:sty m:val="p"/>
                              </m:rPr>
                              <a:rPr lang="en-IN" sz="2400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+</m:t>
                            </m:r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𝑔</m:t>
                            </m:r>
                            <m:r>
                              <m:rPr>
                                <m:sty m:val="p"/>
                              </m:rPr>
                              <a:rPr lang="en-IN" sz="2400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(</m:t>
                            </m:r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𝑥</m:t>
                            </m:r>
                            <m:r>
                              <m:rPr>
                                <m:sty m:val="p"/>
                              </m:rPr>
                              <a:rPr lang="en-IN" sz="2400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)</m:t>
                            </m:r>
                          </m:e>
                        </m:d>
                      </m:den>
                    </m:f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will be: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>
                  <a:spcAft>
                    <a:spcPts val="500"/>
                  </a:spcAft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(A)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0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  (B)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  (C)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  (D)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</m:oMath>
                </a14:m>
                <a:endParaRPr sz="2400">
                  <a:solidFill>
                    <a:srgbClr val="111827"/>
                  </a:solidFill>
                </a:endParaRPr>
              </a:p>
            </p:txBody>
          </p:sp>
        </mc:Choice>
        <mc:Fallback>
          <p:sp>
            <p:nvSpPr>
              <p:cNvPr id="4" name="Rounded Rectangle 3"/>
              <p:cNvSpPr/>
              <p:nvPr/>
            </p:nvSpPr>
            <p:spPr>
              <a:xfrm>
                <a:off x="731520" y="1280160"/>
                <a:ext cx="10725912" cy="3317748"/>
              </a:xfrm>
              <a:prstGeom prst="roundRect">
                <a:avLst>
                  <a:gd name="adj" fmla="val 8000"/>
                </a:avLst>
              </a:prstGeom>
              <a:solidFill>
                <a:srgbClr val="E0ECFF"/>
              </a:solidFill>
              <a:ln w="25400">
                <a:solidFill>
                  <a:srgbClr val="1D4ED8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>
                  <a:spcAft>
                    <a:spcPts val="500"/>
                  </a:spcAft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In a certain problem the differentiation of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$\{f(x)\cdot g(x)\}$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appears. One student commits a mistake and differentiates it as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$\frac{df}{dx}\cdot\frac{dg}{dx}$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but he gets the correct result if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$f(x)=x^3$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and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$g(x)$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is a decreasing function for which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$g(0)=\frac13$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>
                  <a:spcAft>
                    <a:spcPts val="500"/>
                  </a:spcAft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(Paper Q22)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$\lim_{x\to0}\frac{f(x)\cdot g(x)}{x\left(1+g(x)\right)}$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will be: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>
                  <a:spcAft>
                    <a:spcPts val="500"/>
                  </a:spcAft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(A)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$0$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  (B)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$-1$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  (C)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$1$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  (D)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$2$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Fallback>
      </mc:AlternateContent>
      <p:sp>
        <p:nvSpPr>
          <p:cNvPr id="5" name="Rectangle 4"/>
          <p:cNvSpPr/>
          <p:nvPr/>
        </p:nvSpPr>
        <p:spPr>
          <a:xfrm>
            <a:off x="731520" y="4826508"/>
            <a:ext cx="10725912" cy="1603248"/>
          </a:xfrm>
          <a:prstGeom prst="rect">
            <a:avLst/>
          </a:prstGeom>
          <a:solidFill>
            <a:srgbClr val="FFFFFF"/>
          </a:solidFill>
          <a:ln w="19050">
            <a:solidFill>
              <a:srgbClr val="6B728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111827"/>
          </a:fontRef>
        </p:style>
        <p:txBody>
          <a:bodyPr rtlCol="0" anchor="t" wrap="square" lIns="228600" rIns="228600" tIns="137160" bIns="73152"/>
          <a:lstStyle>
            <a:lvl1pPr>
              <a:defRPr sz="2400">
                <a:solidFill>
                  <a:srgbClr val="111827"/>
                </a:solidFill>
              </a:defRPr>
            </a:lvl1pPr>
          </a:lstStyle>
          <a:p>
            <a:pPr algn="l">
              <a:spcAft>
                <a:spcPts val="200"/>
              </a:spcAft>
              <a:defRPr sz="2400">
                <a:solidFill>
                  <a:srgbClr val="111827"/>
                </a:solidFill>
              </a:defRPr>
            </a:pPr>
            <a:r>
              <a:rPr sz="2400" b="0">
                <a:solidFill>
                  <a:srgbClr val="111827"/>
                </a:solidFill>
                <a:latin typeface="Arial"/>
              </a:rPr>
              <a:t>Paragraph Based Single Correct Type(3 Marks)</a:t>
            </a:r>
            <a:endParaRPr sz="2400">
              <a:solidFill>
                <a:srgbClr val="111827"/>
              </a:solidFill>
            </a:endParaRPr>
          </a:p>
          <a:p>
            <a:pPr algn="l">
              <a:spcAft>
                <a:spcPts val="200"/>
              </a:spcAft>
              <a:defRPr sz="2400">
                <a:solidFill>
                  <a:srgbClr val="111827"/>
                </a:solidFill>
              </a:defRPr>
            </a:pPr>
            <a:r>
              <a:rPr sz="2400" b="0">
                <a:solidFill>
                  <a:srgbClr val="111827"/>
                </a:solidFill>
                <a:latin typeface="Arial"/>
              </a:rPr>
              <a:t>Concept(s) : Limits, Continuity of a function at a point</a:t>
            </a:r>
            <a:endParaRPr sz="2400">
              <a:solidFill>
                <a:srgbClr val="111827"/>
              </a:solidFill>
            </a:endParaRPr>
          </a:p>
          <a:p>
            <a:pPr algn="l">
              <a:spcAft>
                <a:spcPts val="200"/>
              </a:spcAft>
              <a:defRPr sz="2400">
                <a:solidFill>
                  <a:srgbClr val="111827"/>
                </a:solidFill>
              </a:defRPr>
            </a:pPr>
            <a:r>
              <a:rPr sz="2400" b="0">
                <a:solidFill>
                  <a:srgbClr val="111827"/>
                </a:solidFill>
                <a:latin typeface="Arial"/>
              </a:rPr>
              <a:t>Difficulty Level: Level 1(JEE Main Level)</a:t>
            </a:r>
            <a:endParaRPr sz="2400">
              <a:solidFill>
                <a:srgbClr val="111827"/>
              </a:solidFill>
            </a:endParaRPr>
          </a:p>
        </p:txBody>
      </p:sp>
    </p:spTree>
  </p:cSld>
  <p:clrMapOvr>
    <a:masterClrMapping/>
  </p:clrMapOvr>
</p:sld>
</file>

<file path=ppt/slides/slide14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FFFFFF"/>
          </a:fontRef>
        </p:style>
        <p:txBody>
          <a:bodyPr rtlCol="0" anchor="ctr" lIns="731520"/>
          <a:lstStyle>
            <a:lvl1pPr>
              <a:defRPr sz="3200">
                <a:solidFill>
                  <a:srgbClr val="FFFFFF"/>
                </a:solidFill>
              </a:defRPr>
            </a:lvl1pPr>
          </a:lstStyle>
          <a:p>
            <a:pPr algn="l">
              <a:defRPr sz="3200">
                <a:solidFill>
                  <a:srgbClr val="FFFFFF"/>
                </a:solidFill>
              </a:defRPr>
            </a:pPr>
            <a:r>
              <a:rPr sz="3200" b="1">
                <a:solidFill>
                  <a:srgbClr val="FFFFFF"/>
                </a:solidFill>
                <a:latin typeface="Arial"/>
              </a:rPr>
              <a:t>Question 23</a:t>
            </a:r>
            <a:endParaRPr sz="3200">
              <a:solidFill>
                <a:srgbClr val="FFFFFF"/>
              </a:solidFill>
            </a:endParaRPr>
          </a:p>
        </p:txBody>
      </p:sp>
      <p:sp>
        <p:nvSpPr>
          <p:cNvPr id="3" name="Rounded Rectangle 2"/>
          <p:cNvSpPr/>
          <p:nvPr/>
        </p:nvSpPr>
        <p:spPr>
          <a:xfrm>
            <a:off x="7894015" y="246887"/>
            <a:ext cx="3840480" cy="603504"/>
          </a:xfrm>
          <a:prstGeom prst="roundRect">
            <a:avLst>
              <a:gd name="adj" fmla="val 50000"/>
            </a:avLst>
          </a:prstGeom>
          <a:solidFill>
            <a:srgbClr val="B6D7A8"/>
          </a:solidFill>
          <a:ln w="1905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111827"/>
          </a:fontRef>
        </p:style>
        <p:txBody>
          <a:bodyPr rtlCol="0" anchor="ctr" wrap="square" lIns="228600" rIns="228600" tIns="18288" bIns="18288"/>
          <a:lstStyle>
            <a:lvl1pPr>
              <a:defRPr sz="2400">
                <a:solidFill>
                  <a:srgbClr val="111827"/>
                </a:solidFill>
              </a:defRPr>
            </a:lvl1pPr>
          </a:lstStyle>
          <a:p>
            <a:pPr algn="ctr">
              <a:defRPr sz="2400">
                <a:solidFill>
                  <a:srgbClr val="111827"/>
                </a:solidFill>
              </a:defRPr>
            </a:pPr>
            <a:r>
              <a:rPr sz="2400" b="1">
                <a:solidFill>
                  <a:srgbClr val="111827"/>
                </a:solidFill>
                <a:latin typeface="Arial"/>
              </a:rPr>
              <a:t>Level 1  ·  3 Marks</a:t>
            </a:r>
            <a:endParaRPr sz="2400">
              <a:solidFill>
                <a:srgbClr val="111827"/>
              </a:solidFill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4" name="Rounded Rectangle 3"/>
              <p:cNvSpPr/>
              <p:nvPr/>
            </p:nvSpPr>
            <p:spPr>
              <a:xfrm>
                <a:off x="731520" y="1280160"/>
                <a:ext cx="10725912" cy="1328928"/>
              </a:xfrm>
              <a:prstGeom prst="roundRect">
                <a:avLst>
                  <a:gd name="adj" fmla="val 8000"/>
                </a:avLst>
              </a:prstGeom>
              <a:solidFill>
                <a:srgbClr val="FDE68A"/>
              </a:solidFill>
              <a:ln w="31750">
                <a:solidFill>
                  <a:srgbClr val="D97706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78350F"/>
              </a:fontRef>
            </p:style>
            <p:txBody>
              <a:bodyPr rtlCol="0" anchor="ctr" wrap="square" lIns="228600" rIns="228600" tIns="54864" bIns="73152"/>
              <a:lstStyle>
                <a:lvl1pPr>
                  <a:defRPr sz="2400">
                    <a:solidFill>
                      <a:srgbClr val="78350F"/>
                    </a:solidFill>
                  </a:defRPr>
                </a:lvl1pPr>
              </a:lstStyle>
              <a:p>
                <a:pPr algn="l">
                  <a:defRPr sz="2400">
                    <a:solidFill>
                      <a:srgbClr val="78350F"/>
                    </a:solidFill>
                  </a:defRPr>
                </a:pPr>
                <a:r>
                  <a:rPr sz="2400" b="1">
                    <a:solidFill>
                      <a:srgbClr val="78350F"/>
                    </a:solidFill>
                    <a:latin typeface="Arial"/>
                  </a:rPr>
                  <a:t>Key idea:  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Near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0</m:t>
                    </m:r>
                  </m:oMath>
                </a14:m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 (which lies below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3</m:t>
                    </m:r>
                  </m:oMath>
                </a14:m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)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𝑔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9</m:t>
                        </m:r>
                      </m:num>
                      <m:den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(</m:t>
                        </m:r>
                        <m: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3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−</m:t>
                        </m:r>
                        <m: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  <m:sSup>
                          <m:e>
                            <m:r>
                              <m:rPr>
                                <m:sty m:val="p"/>
                              </m:rPr>
                              <a:rPr lang="en-IN" sz="2400">
                                <a:solidFill>
                                  <a:srgbClr val="78350F"/>
                                </a:solidFill>
                                <a:latin typeface="Cambria Math" panose="02040503050406030204" pitchFamily="18" charset="0"/>
                              </a:rPr>
                              <m:t>)</m:t>
                            </m:r>
                          </m:e>
                          <m:sup>
                            <m:r>
                              <a:rPr lang="en-IN" sz="2400" i="1">
                                <a:solidFill>
                                  <a:srgbClr val="78350F"/>
                                </a:solidFill>
                                <a:latin typeface="Cambria Math" panose="02040503050406030204" pitchFamily="18" charset="0"/>
                              </a:rPr>
                              <m:t>3</m:t>
                            </m:r>
                          </m:sup>
                        </m:sSup>
                      </m:den>
                    </m:f>
                  </m:oMath>
                </a14:m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, so the limit is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lim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9</m:t>
                        </m:r>
                        <m:sSup>
                          <m:e>
                            <m:r>
                              <a:rPr lang="en-IN" sz="2400" i="1">
                                <a:solidFill>
                                  <a:srgbClr val="78350F"/>
                                </a:solidFill>
                                <a:latin typeface="Cambria Math" panose="02040503050406030204" pitchFamily="18" charset="0"/>
                              </a:rPr>
                              <m:t>𝑥</m:t>
                            </m:r>
                          </m:e>
                          <m:sup>
                            <m:r>
                              <a:rPr lang="en-IN" sz="2400" i="1">
                                <a:solidFill>
                                  <a:srgbClr val="78350F"/>
                                </a:solidFill>
                                <a:latin typeface="Cambria Math" panose="02040503050406030204" pitchFamily="18" charset="0"/>
                              </a:rPr>
                              <m:t>2</m:t>
                            </m:r>
                          </m:sup>
                        </m:sSup>
                      </m:num>
                      <m:den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(</m:t>
                        </m:r>
                        <m: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3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−</m:t>
                        </m:r>
                        <m: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  <m:sSup>
                          <m:e>
                            <m:r>
                              <m:rPr>
                                <m:sty m:val="p"/>
                              </m:rPr>
                              <a:rPr lang="en-IN" sz="2400">
                                <a:solidFill>
                                  <a:srgbClr val="78350F"/>
                                </a:solidFill>
                                <a:latin typeface="Cambria Math" panose="02040503050406030204" pitchFamily="18" charset="0"/>
                              </a:rPr>
                              <m:t>)</m:t>
                            </m:r>
                          </m:e>
                          <m:sup>
                            <m:r>
                              <a:rPr lang="en-IN" sz="2400" i="1">
                                <a:solidFill>
                                  <a:srgbClr val="78350F"/>
                                </a:solidFill>
                                <a:latin typeface="Cambria Math" panose="02040503050406030204" pitchFamily="18" charset="0"/>
                              </a:rPr>
                              <m:t>3</m:t>
                            </m:r>
                          </m:sup>
                        </m:sSup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+</m:t>
                        </m:r>
                        <m: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9</m:t>
                        </m:r>
                      </m:den>
                    </m:f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0</m:t>
                    </m:r>
                  </m:oMath>
                </a14:m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.</a:t>
                </a:r>
                <a:endParaRPr sz="2400">
                  <a:solidFill>
                    <a:srgbClr val="78350F"/>
                  </a:solidFill>
                </a:endParaRPr>
              </a:p>
            </p:txBody>
          </p:sp>
        </mc:Choice>
        <mc:Fallback>
          <p:sp>
            <p:nvSpPr>
              <p:cNvPr id="4" name="Rounded Rectangle 3"/>
              <p:cNvSpPr/>
              <p:nvPr/>
            </p:nvSpPr>
            <p:spPr>
              <a:xfrm>
                <a:off x="731520" y="1280160"/>
                <a:ext cx="10725912" cy="1328928"/>
              </a:xfrm>
              <a:prstGeom prst="roundRect">
                <a:avLst>
                  <a:gd name="adj" fmla="val 8000"/>
                </a:avLst>
              </a:prstGeom>
              <a:solidFill>
                <a:srgbClr val="FDE68A"/>
              </a:solidFill>
              <a:ln w="31750">
                <a:solidFill>
                  <a:srgbClr val="D97706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78350F"/>
              </a:fontRef>
            </p:style>
            <p:txBody>
              <a:bodyPr rtlCol="0" anchor="ctr" wrap="square" lIns="228600" rIns="228600" tIns="54864" bIns="73152"/>
              <a:lstStyle>
                <a:lvl1pPr>
                  <a:defRPr sz="2400">
                    <a:solidFill>
                      <a:srgbClr val="78350F"/>
                    </a:solidFill>
                  </a:defRPr>
                </a:lvl1pPr>
              </a:lstStyle>
              <a:p>
                <a:pPr algn="l">
                  <a:defRPr sz="2400">
                    <a:solidFill>
                      <a:srgbClr val="78350F"/>
                    </a:solidFill>
                  </a:defRPr>
                </a:pPr>
                <a:r>
                  <a:rPr sz="2400" b="1">
                    <a:solidFill>
                      <a:srgbClr val="78350F"/>
                    </a:solidFill>
                    <a:latin typeface="Arial"/>
                  </a:rPr>
                  <a:t>Key idea:  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Near </a:t>
                </a:r>
                <a:r>
                  <a:rPr lang="en-IN" sz="2400">
                    <a:solidFill>
                      <a:srgbClr val="78350F"/>
                    </a:solidFill>
                    <a:latin typeface="Cambria Math" panose="02040503050406030204" pitchFamily="18" charset="0"/>
                  </a:rPr>
                  <a:t>$x=0$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 (which lies below </a:t>
                </a:r>
                <a:r>
                  <a:rPr lang="en-IN" sz="2400">
                    <a:solidFill>
                      <a:srgbClr val="78350F"/>
                    </a:solidFill>
                    <a:latin typeface="Cambria Math" panose="02040503050406030204" pitchFamily="18" charset="0"/>
                  </a:rPr>
                  <a:t>$3$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) </a:t>
                </a:r>
                <a:r>
                  <a:rPr lang="en-IN" sz="2400">
                    <a:solidFill>
                      <a:srgbClr val="78350F"/>
                    </a:solidFill>
                    <a:latin typeface="Cambria Math" panose="02040503050406030204" pitchFamily="18" charset="0"/>
                  </a:rPr>
                  <a:t>$g(x)=\frac{9}{(3-x)^3}$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, so the limit is </a:t>
                </a:r>
                <a:r>
                  <a:rPr lang="en-IN" sz="2400">
                    <a:solidFill>
                      <a:srgbClr val="78350F"/>
                    </a:solidFill>
                    <a:latin typeface="Cambria Math" panose="02040503050406030204" pitchFamily="18" charset="0"/>
                  </a:rPr>
                  <a:t>$\lim\frac{9x^2}{(3-x)^3+9}=0$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.</a:t>
                </a:r>
                <a:endParaRPr sz="2400">
                  <a:solidFill>
                    <a:srgbClr val="78350F"/>
                  </a:solidFill>
                </a:endParaRP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5" name="Rectangle 4"/>
              <p:cNvSpPr/>
              <p:nvPr/>
            </p:nvSpPr>
            <p:spPr>
              <a:xfrm>
                <a:off x="731520" y="2746248"/>
                <a:ext cx="10725912" cy="3928872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𝑓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𝑔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3</m:t>
                        </m:r>
                      </m:sup>
                    </m:sSup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𝑔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so </a:t>
                </a:r>
                <a14:m>
                  <m:oMath xmlns:m="http://schemas.openxmlformats.org/officeDocument/2006/math"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𝑓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(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)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𝑔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(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)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  <m:d>
                          <m:dPr>
                            <m:begChr m:val="["/>
                            <m:sepChr m:val=""/>
                            <m:endChr m:val="]"/>
                            <m:grow/>
                            <m:ctrlP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1</m:t>
                            </m:r>
                            <m:r>
                              <m:rPr>
                                <m:sty m:val="p"/>
                              </m:rPr>
                              <a:rPr lang="en-IN" sz="2400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+</m:t>
                            </m:r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𝑔</m:t>
                            </m:r>
                            <m:r>
                              <m:rPr>
                                <m:sty m:val="p"/>
                              </m:rPr>
                              <a:rPr lang="en-IN" sz="2400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(</m:t>
                            </m:r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𝑥</m:t>
                            </m:r>
                            <m:r>
                              <m:rPr>
                                <m:sty m:val="p"/>
                              </m:rPr>
                              <a:rPr lang="en-IN" sz="2400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)</m:t>
                            </m:r>
                          </m:e>
                        </m:d>
                      </m:den>
                    </m:f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sSup>
                          <m:e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𝑥</m:t>
                            </m:r>
                          </m:e>
                          <m:sup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2</m:t>
                            </m:r>
                          </m:sup>
                        </m:s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𝑔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(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)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+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𝑔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(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)</m:t>
                        </m:r>
                      </m:den>
                    </m:f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Near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0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(here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&lt;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3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):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𝑔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9</m:t>
                        </m:r>
                      </m:num>
                      <m:den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(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3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−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  <m:sSup>
                          <m:e>
                            <m:r>
                              <m:rPr>
                                <m:sty m:val="p"/>
                              </m:rPr>
                              <a:rPr lang="en-IN" sz="2400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)</m:t>
                            </m:r>
                          </m:e>
                          <m:sup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3</m:t>
                            </m:r>
                          </m:sup>
                        </m:sSup>
                      </m:den>
                    </m:f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Choice>
        <mc:Fallback>
          <p:sp>
            <p:nvSpPr>
              <p:cNvPr id="5" name="Rectangle 4"/>
              <p:cNvSpPr/>
              <p:nvPr/>
            </p:nvSpPr>
            <p:spPr>
              <a:xfrm>
                <a:off x="731520" y="2746248"/>
                <a:ext cx="10725912" cy="3928872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$f(x)g(x)=x^3g(x)$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so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$\frac{f(x)g(x)}{x\left[1+g(x)\right]}=\frac{x^2g(x)}{1+g(x)}$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Near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$x=0$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(here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$x&lt;3$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):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$g(x)=\frac{9}{(3-x)^3}$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Fallback>
      </mc:AlternateContent>
    </p:spTree>
  </p:cSld>
  <p:clrMapOvr>
    <a:masterClrMapping/>
  </p:clrMapOvr>
</p:sld>
</file>

<file path=ppt/slides/slide14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FFFFFF"/>
          </a:fontRef>
        </p:style>
        <p:txBody>
          <a:bodyPr rtlCol="0" anchor="ctr" lIns="731520"/>
          <a:lstStyle>
            <a:lvl1pPr>
              <a:defRPr sz="3200">
                <a:solidFill>
                  <a:srgbClr val="FFFFFF"/>
                </a:solidFill>
              </a:defRPr>
            </a:lvl1pPr>
          </a:lstStyle>
          <a:p>
            <a:pPr algn="l">
              <a:defRPr sz="3200">
                <a:solidFill>
                  <a:srgbClr val="FFFFFF"/>
                </a:solidFill>
              </a:defRPr>
            </a:pPr>
            <a:r>
              <a:rPr sz="3200" b="1">
                <a:solidFill>
                  <a:srgbClr val="FFFFFF"/>
                </a:solidFill>
                <a:latin typeface="Arial"/>
              </a:rPr>
              <a:t>Question 23</a:t>
            </a:r>
            <a:endParaRPr sz="3200">
              <a:solidFill>
                <a:srgbClr val="FFFFFF"/>
              </a:solidFill>
            </a:endParaRPr>
          </a:p>
        </p:txBody>
      </p:sp>
      <p:sp>
        <p:nvSpPr>
          <p:cNvPr id="3" name="Rounded Rectangle 2"/>
          <p:cNvSpPr/>
          <p:nvPr/>
        </p:nvSpPr>
        <p:spPr>
          <a:xfrm>
            <a:off x="7894015" y="246887"/>
            <a:ext cx="3840480" cy="603504"/>
          </a:xfrm>
          <a:prstGeom prst="roundRect">
            <a:avLst>
              <a:gd name="adj" fmla="val 50000"/>
            </a:avLst>
          </a:prstGeom>
          <a:solidFill>
            <a:srgbClr val="B6D7A8"/>
          </a:solidFill>
          <a:ln w="1905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111827"/>
          </a:fontRef>
        </p:style>
        <p:txBody>
          <a:bodyPr rtlCol="0" anchor="ctr" wrap="square" lIns="228600" rIns="228600" tIns="18288" bIns="18288"/>
          <a:lstStyle>
            <a:lvl1pPr>
              <a:defRPr sz="2400">
                <a:solidFill>
                  <a:srgbClr val="111827"/>
                </a:solidFill>
              </a:defRPr>
            </a:lvl1pPr>
          </a:lstStyle>
          <a:p>
            <a:pPr algn="ctr">
              <a:defRPr sz="2400">
                <a:solidFill>
                  <a:srgbClr val="111827"/>
                </a:solidFill>
              </a:defRPr>
            </a:pPr>
            <a:r>
              <a:rPr sz="2400" b="1">
                <a:solidFill>
                  <a:srgbClr val="111827"/>
                </a:solidFill>
                <a:latin typeface="Arial"/>
              </a:rPr>
              <a:t>Level 1  ·  3 Marks</a:t>
            </a:r>
            <a:endParaRPr sz="2400">
              <a:solidFill>
                <a:srgbClr val="111827"/>
              </a:solidFill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4" name="Rectangle 3"/>
              <p:cNvSpPr/>
              <p:nvPr/>
            </p:nvSpPr>
            <p:spPr>
              <a:xfrm>
                <a:off x="731520" y="1353312"/>
                <a:ext cx="10725912" cy="4434840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14:m>
                  <m:oMath xmlns:m="http://schemas.openxmlformats.org/officeDocument/2006/math">
                    <m:sSub>
                      <m:e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lim</m:t>
                        </m:r>
                      </m:e>
                      <m:sub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→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0</m:t>
                        </m:r>
                      </m:sub>
                    </m:sSub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sSup>
                          <m:e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𝑥</m:t>
                            </m:r>
                          </m:e>
                          <m:sup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3</m:t>
                            </m:r>
                          </m:sup>
                        </m:sSup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⋅</m:t>
                        </m:r>
                        <m:f>
                          <m:fPr>
                            <m:type m:val="bar"/>
                            <m:ctrlP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fPr>
                          <m:num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9</m:t>
                            </m:r>
                          </m:num>
                          <m:den>
                            <m:r>
                              <m:rPr>
                                <m:sty m:val="p"/>
                              </m:rPr>
                              <a:rPr lang="en-IN" sz="2400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(</m:t>
                            </m:r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3</m:t>
                            </m:r>
                            <m:r>
                              <m:rPr>
                                <m:sty m:val="p"/>
                              </m:rPr>
                              <a:rPr lang="en-IN" sz="2400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−</m:t>
                            </m:r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𝑥</m:t>
                            </m:r>
                            <m:sSup>
                              <m:e>
                                <m:r>
                                  <m:rPr>
                                    <m:sty m:val="p"/>
                                  </m:rPr>
                                  <a:rPr lang="en-IN" sz="2400">
                                    <a:solidFill>
                                      <a:srgbClr val="111827"/>
                                    </a:solidFill>
                                    <a:latin typeface="Cambria Math" panose="02040503050406030204" pitchFamily="18" charset="0"/>
                                  </a:rPr>
                                  <m:t>)</m:t>
                                </m:r>
                              </m:e>
                              <m:sup>
                                <m:r>
                                  <a:rPr lang="en-IN" sz="2400" i="1">
                                    <a:solidFill>
                                      <a:srgbClr val="111827"/>
                                    </a:solidFill>
                                    <a:latin typeface="Cambria Math" panose="02040503050406030204" pitchFamily="18" charset="0"/>
                                  </a:rPr>
                                  <m:t>3</m:t>
                                </m:r>
                              </m:sup>
                            </m:sSup>
                          </m:den>
                        </m:f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  <m:d>
                          <m:dPr>
                            <m:begChr m:val="["/>
                            <m:sepChr m:val=""/>
                            <m:endChr m:val="]"/>
                            <m:grow/>
                            <m:ctrlP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1</m:t>
                            </m:r>
                            <m:r>
                              <m:rPr>
                                <m:sty m:val="p"/>
                              </m:rPr>
                              <a:rPr lang="en-IN" sz="2400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+</m:t>
                            </m:r>
                            <m:f>
                              <m:fPr>
                                <m:type m:val="bar"/>
                                <m:ctrlPr>
                                  <a:rPr lang="en-IN" sz="2400" i="1">
                                    <a:solidFill>
                                      <a:srgbClr val="111827"/>
                                    </a:solidFill>
                                    <a:latin typeface="Cambria Math" panose="02040503050406030204" pitchFamily="18" charset="0"/>
                                  </a:rPr>
                                </m:ctrlPr>
                              </m:fPr>
                              <m:num>
                                <m:r>
                                  <a:rPr lang="en-IN" sz="2400" i="1">
                                    <a:solidFill>
                                      <a:srgbClr val="111827"/>
                                    </a:solidFill>
                                    <a:latin typeface="Cambria Math" panose="02040503050406030204" pitchFamily="18" charset="0"/>
                                  </a:rPr>
                                  <m:t>9</m:t>
                                </m:r>
                              </m:num>
                              <m:den>
                                <m:r>
                                  <m:rPr>
                                    <m:sty m:val="p"/>
                                  </m:rPr>
                                  <a:rPr lang="en-IN" sz="2400">
                                    <a:solidFill>
                                      <a:srgbClr val="111827"/>
                                    </a:solidFill>
                                    <a:latin typeface="Cambria Math" panose="02040503050406030204" pitchFamily="18" charset="0"/>
                                  </a:rPr>
                                  <m:t>(</m:t>
                                </m:r>
                                <m:r>
                                  <a:rPr lang="en-IN" sz="2400" i="1">
                                    <a:solidFill>
                                      <a:srgbClr val="111827"/>
                                    </a:solidFill>
                                    <a:latin typeface="Cambria Math" panose="02040503050406030204" pitchFamily="18" charset="0"/>
                                  </a:rPr>
                                  <m:t>3</m:t>
                                </m:r>
                                <m:r>
                                  <m:rPr>
                                    <m:sty m:val="p"/>
                                  </m:rPr>
                                  <a:rPr lang="en-IN" sz="2400">
                                    <a:solidFill>
                                      <a:srgbClr val="111827"/>
                                    </a:solidFill>
                                    <a:latin typeface="Cambria Math" panose="02040503050406030204" pitchFamily="18" charset="0"/>
                                  </a:rPr>
                                  <m:t>−</m:t>
                                </m:r>
                                <m:r>
                                  <a:rPr lang="en-IN" sz="2400" i="1">
                                    <a:solidFill>
                                      <a:srgbClr val="111827"/>
                                    </a:solidFill>
                                    <a:latin typeface="Cambria Math" panose="02040503050406030204" pitchFamily="18" charset="0"/>
                                  </a:rPr>
                                  <m:t>𝑥</m:t>
                                </m:r>
                                <m:sSup>
                                  <m:e>
                                    <m:r>
                                      <m:rPr>
                                        <m:sty m:val="p"/>
                                      </m:rPr>
                                      <a:rPr lang="en-IN" sz="2400">
                                        <a:solidFill>
                                          <a:srgbClr val="111827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)</m:t>
                                    </m:r>
                                  </m:e>
                                  <m:sup>
                                    <m:r>
                                      <a:rPr lang="en-IN" sz="2400" i="1">
                                        <a:solidFill>
                                          <a:srgbClr val="111827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3</m:t>
                                    </m:r>
                                  </m:sup>
                                </m:sSup>
                              </m:den>
                            </m:f>
                          </m:e>
                        </m:d>
                      </m:den>
                    </m:f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sSub>
                      <m:e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lim</m:t>
                        </m:r>
                      </m:e>
                      <m:sub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→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0</m:t>
                        </m:r>
                      </m:sub>
                    </m:sSub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9</m:t>
                        </m:r>
                        <m:sSup>
                          <m:e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𝑥</m:t>
                            </m:r>
                          </m:e>
                          <m:sup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2</m:t>
                            </m:r>
                          </m:sup>
                        </m:sSup>
                      </m:num>
                      <m:den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(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3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−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  <m:sSup>
                          <m:e>
                            <m:r>
                              <m:rPr>
                                <m:sty m:val="p"/>
                              </m:rPr>
                              <a:rPr lang="en-IN" sz="2400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)</m:t>
                            </m:r>
                          </m:e>
                          <m:sup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3</m:t>
                            </m:r>
                          </m:sup>
                        </m:sSup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+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9</m:t>
                        </m:r>
                      </m:den>
                    </m:f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At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0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the denominator is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27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9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36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≠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0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so the limit is </a:t>
                </a:r>
                <a14:m>
                  <m:oMath xmlns:m="http://schemas.openxmlformats.org/officeDocument/2006/math"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0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36</m:t>
                        </m:r>
                      </m:den>
                    </m:f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0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 Option (A).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Choice>
        <mc:Fallback>
          <p:sp>
            <p:nvSpPr>
              <p:cNvPr id="4" name="Rectangle 3"/>
              <p:cNvSpPr/>
              <p:nvPr/>
            </p:nvSpPr>
            <p:spPr>
              <a:xfrm>
                <a:off x="731520" y="1353312"/>
                <a:ext cx="10725912" cy="4434840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$\lim_{x\to0}\frac{x^3\cdot\frac{9}{(3-x)^3}}{x\left[1+\frac{9}{(3-x)^3}\right]}=\lim_{x\to0}\frac{9x^2}{(3-x)^3+9}$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At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$x=0$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the denominator is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$27+9=36\neq0$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so the limit is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$\frac{0}{36}=0$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 Option (A).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5" name="Rounded Rectangle 4"/>
              <p:cNvSpPr/>
              <p:nvPr/>
            </p:nvSpPr>
            <p:spPr>
              <a:xfrm>
                <a:off x="731520" y="5897880"/>
                <a:ext cx="10725912" cy="777240"/>
              </a:xfrm>
              <a:prstGeom prst="roundRect">
                <a:avLst>
                  <a:gd name="adj" fmla="val 8000"/>
                </a:avLst>
              </a:prstGeom>
              <a:solidFill>
                <a:srgbClr val="DCFCE7"/>
              </a:solidFill>
              <a:ln w="25400">
                <a:solidFill>
                  <a:srgbClr val="15803D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5803D"/>
              </a:fontRef>
            </p:style>
            <p:txBody>
              <a:bodyPr rtlCol="0" anchor="ctr" wrap="square" lIns="228600" rIns="228600" tIns="18288" bIns="73152"/>
              <a:lstStyle>
                <a:lvl1pPr>
                  <a:defRPr sz="2800">
                    <a:solidFill>
                      <a:srgbClr val="15803D"/>
                    </a:solidFill>
                  </a:defRPr>
                </a:lvl1pPr>
              </a:lstStyle>
              <a:p>
                <a:pPr algn="ctr">
                  <a:defRPr sz="2800">
                    <a:solidFill>
                      <a:srgbClr val="15803D"/>
                    </a:solidFill>
                  </a:defRPr>
                </a:pPr>
                <a:r>
                  <a:rPr sz="2800" b="1">
                    <a:solidFill>
                      <a:srgbClr val="15803D"/>
                    </a:solidFill>
                    <a:latin typeface="Arial"/>
                  </a:rPr>
                  <a:t>Correct Answer: (A) </a:t>
                </a:r>
                <a14:m>
                  <m:oMath xmlns:m="http://schemas.openxmlformats.org/officeDocument/2006/math">
                    <m:r>
                      <a:rPr lang="en-IN" sz="2800" i="1">
                        <a:solidFill>
                          <a:srgbClr val="15803D"/>
                        </a:solidFill>
                        <a:latin typeface="Cambria Math" panose="02040503050406030204" pitchFamily="18" charset="0"/>
                      </a:rPr>
                      <m:t>0</m:t>
                    </m:r>
                  </m:oMath>
                </a14:m>
                <a:endParaRPr sz="2800">
                  <a:solidFill>
                    <a:srgbClr val="15803D"/>
                  </a:solidFill>
                </a:endParaRPr>
              </a:p>
            </p:txBody>
          </p:sp>
        </mc:Choice>
        <mc:Fallback>
          <p:sp>
            <p:nvSpPr>
              <p:cNvPr id="5" name="Rounded Rectangle 4"/>
              <p:cNvSpPr/>
              <p:nvPr/>
            </p:nvSpPr>
            <p:spPr>
              <a:xfrm>
                <a:off x="731520" y="5897880"/>
                <a:ext cx="10725912" cy="777240"/>
              </a:xfrm>
              <a:prstGeom prst="roundRect">
                <a:avLst>
                  <a:gd name="adj" fmla="val 8000"/>
                </a:avLst>
              </a:prstGeom>
              <a:solidFill>
                <a:srgbClr val="DCFCE7"/>
              </a:solidFill>
              <a:ln w="25400">
                <a:solidFill>
                  <a:srgbClr val="15803D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5803D"/>
              </a:fontRef>
            </p:style>
            <p:txBody>
              <a:bodyPr rtlCol="0" anchor="ctr" wrap="square" lIns="228600" rIns="228600" tIns="18288" bIns="73152"/>
              <a:lstStyle>
                <a:lvl1pPr>
                  <a:defRPr sz="2800">
                    <a:solidFill>
                      <a:srgbClr val="15803D"/>
                    </a:solidFill>
                  </a:defRPr>
                </a:lvl1pPr>
              </a:lstStyle>
              <a:p>
                <a:pPr algn="ctr">
                  <a:defRPr sz="2800">
                    <a:solidFill>
                      <a:srgbClr val="15803D"/>
                    </a:solidFill>
                  </a:defRPr>
                </a:pPr>
                <a:r>
                  <a:rPr sz="2800" b="1">
                    <a:solidFill>
                      <a:srgbClr val="15803D"/>
                    </a:solidFill>
                    <a:latin typeface="Arial"/>
                  </a:rPr>
                  <a:t>Correct Answer: (A) </a:t>
                </a:r>
                <a:r>
                  <a:rPr lang="en-IN" sz="2800">
                    <a:solidFill>
                      <a:srgbClr val="15803D"/>
                    </a:solidFill>
                    <a:latin typeface="Cambria Math" panose="02040503050406030204" pitchFamily="18" charset="0"/>
                  </a:rPr>
                  <a:t>$0$</a:t>
                </a:r>
                <a:endParaRPr sz="2800">
                  <a:solidFill>
                    <a:srgbClr val="15803D"/>
                  </a:solidFill>
                </a:endParaRPr>
              </a:p>
            </p:txBody>
          </p:sp>
        </mc:Fallback>
      </mc:AlternateContent>
    </p:spTree>
  </p:cSld>
  <p:clrMapOvr>
    <a:masterClrMapping/>
  </p:clrMapOvr>
</p:sld>
</file>

<file path=ppt/slides/slide14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FFFFFF"/>
          </a:fontRef>
        </p:style>
        <p:txBody>
          <a:bodyPr rtlCol="0" anchor="ctr" lIns="731520"/>
          <a:lstStyle>
            <a:lvl1pPr>
              <a:defRPr sz="3200">
                <a:solidFill>
                  <a:srgbClr val="FFFFFF"/>
                </a:solidFill>
              </a:defRPr>
            </a:lvl1pPr>
          </a:lstStyle>
          <a:p>
            <a:pPr algn="l">
              <a:defRPr sz="3200">
                <a:solidFill>
                  <a:srgbClr val="FFFFFF"/>
                </a:solidFill>
              </a:defRPr>
            </a:pPr>
            <a:r>
              <a:rPr sz="3200" b="1">
                <a:solidFill>
                  <a:srgbClr val="FFFFFF"/>
                </a:solidFill>
                <a:latin typeface="Arial"/>
              </a:rPr>
              <a:t>Question 23</a:t>
            </a:r>
            <a:endParaRPr sz="3200">
              <a:solidFill>
                <a:srgbClr val="FFFFFF"/>
              </a:solidFill>
            </a:endParaRPr>
          </a:p>
        </p:txBody>
      </p:sp>
      <p:sp>
        <p:nvSpPr>
          <p:cNvPr id="3" name="Rounded Rectangle 2"/>
          <p:cNvSpPr/>
          <p:nvPr/>
        </p:nvSpPr>
        <p:spPr>
          <a:xfrm>
            <a:off x="7894015" y="246887"/>
            <a:ext cx="3840480" cy="603504"/>
          </a:xfrm>
          <a:prstGeom prst="roundRect">
            <a:avLst>
              <a:gd name="adj" fmla="val 50000"/>
            </a:avLst>
          </a:prstGeom>
          <a:solidFill>
            <a:srgbClr val="B6D7A8"/>
          </a:solidFill>
          <a:ln w="1905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111827"/>
          </a:fontRef>
        </p:style>
        <p:txBody>
          <a:bodyPr rtlCol="0" anchor="ctr" wrap="square" lIns="228600" rIns="228600" tIns="18288" bIns="18288"/>
          <a:lstStyle>
            <a:lvl1pPr>
              <a:defRPr sz="2400">
                <a:solidFill>
                  <a:srgbClr val="111827"/>
                </a:solidFill>
              </a:defRPr>
            </a:lvl1pPr>
          </a:lstStyle>
          <a:p>
            <a:pPr algn="ctr">
              <a:defRPr sz="2400">
                <a:solidFill>
                  <a:srgbClr val="111827"/>
                </a:solidFill>
              </a:defRPr>
            </a:pPr>
            <a:r>
              <a:rPr sz="2400" b="1">
                <a:solidFill>
                  <a:srgbClr val="111827"/>
                </a:solidFill>
                <a:latin typeface="Arial"/>
              </a:rPr>
              <a:t>Level 1  ·  3 Marks</a:t>
            </a:r>
            <a:endParaRPr sz="2400">
              <a:solidFill>
                <a:srgbClr val="111827"/>
              </a:solidFill>
            </a:endParaRPr>
          </a:p>
        </p:txBody>
      </p:sp>
      <p:sp>
        <p:nvSpPr>
          <p:cNvPr id="4" name="Rounded Rectangle 3"/>
          <p:cNvSpPr/>
          <p:nvPr/>
        </p:nvSpPr>
        <p:spPr>
          <a:xfrm>
            <a:off x="3520440" y="265176"/>
            <a:ext cx="4206240" cy="566928"/>
          </a:xfrm>
          <a:prstGeom prst="roundRect">
            <a:avLst>
              <a:gd name="adj" fmla="val 50000"/>
            </a:avLst>
          </a:prstGeom>
          <a:solidFill>
            <a:srgbClr val="E0ECFF"/>
          </a:solidFill>
          <a:ln w="25400">
            <a:solidFill>
              <a:srgbClr val="1D4ED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0B1F3A"/>
          </a:fontRef>
        </p:style>
        <p:txBody>
          <a:bodyPr rtlCol="0" anchor="ctr" wrap="square" lIns="228600" rIns="228600" tIns="18288" bIns="18288"/>
          <a:lstStyle>
            <a:lvl1pPr>
              <a:defRPr sz="2200">
                <a:solidFill>
                  <a:srgbClr val="0B1F3A"/>
                </a:solidFill>
              </a:defRPr>
            </a:lvl1pPr>
          </a:lstStyle>
          <a:p>
            <a:pPr algn="ctr">
              <a:defRPr sz="2200">
                <a:solidFill>
                  <a:srgbClr val="0B1F3A"/>
                </a:solidFill>
              </a:defRPr>
            </a:pPr>
            <a:r>
              <a:rPr sz="2200" b="1">
                <a:solidFill>
                  <a:srgbClr val="0B1F3A"/>
                </a:solidFill>
                <a:latin typeface="Arial"/>
              </a:rPr>
              <a:t>Useful Result / Pattern</a:t>
            </a:r>
            <a:endParaRPr sz="2200">
              <a:solidFill>
                <a:srgbClr val="0B1F3A"/>
              </a:solidFill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5" name="Rectangle 4"/>
              <p:cNvSpPr/>
              <p:nvPr/>
            </p:nvSpPr>
            <p:spPr>
              <a:xfrm>
                <a:off x="731520" y="1353312"/>
                <a:ext cx="10725912" cy="5321808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Use the branch of a piecewise-defined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𝑔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that contains the limit point: here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𝑔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9</m:t>
                        </m:r>
                      </m:num>
                      <m:den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|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3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−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  <m:sSup>
                          <m:e>
                            <m:r>
                              <m:rPr>
                                <m:sty m:val="p"/>
                              </m:rPr>
                              <a:rPr lang="en-IN" sz="2400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|</m:t>
                            </m:r>
                          </m:e>
                          <m:sup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3</m:t>
                            </m:r>
                          </m:sup>
                        </m:sSup>
                      </m:den>
                    </m:f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and near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0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it is </a:t>
                </a:r>
                <a14:m>
                  <m:oMath xmlns:m="http://schemas.openxmlformats.org/officeDocument/2006/math"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9</m:t>
                        </m:r>
                      </m:num>
                      <m:den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(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3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−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  <m:sSup>
                          <m:e>
                            <m:r>
                              <m:rPr>
                                <m:sty m:val="p"/>
                              </m:rPr>
                              <a:rPr lang="en-IN" sz="2400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)</m:t>
                            </m:r>
                          </m:e>
                          <m:sup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3</m:t>
                            </m:r>
                          </m:sup>
                        </m:sSup>
                      </m:den>
                    </m:f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with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𝑔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0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3</m:t>
                        </m:r>
                      </m:den>
                    </m:f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If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𝑔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is continuous at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0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with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𝑔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0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3</m:t>
                        </m:r>
                      </m:den>
                    </m:f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then </a:t>
                </a:r>
                <a14:m>
                  <m:oMath xmlns:m="http://schemas.openxmlformats.org/officeDocument/2006/math"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sSup>
                          <m:e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𝑥</m:t>
                            </m:r>
                          </m:e>
                          <m:sup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2</m:t>
                            </m:r>
                          </m:sup>
                        </m:s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𝑔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(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)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+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𝑔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(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)</m:t>
                        </m:r>
                      </m:den>
                    </m:f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0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⋅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/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3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4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/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3</m:t>
                        </m:r>
                      </m:den>
                    </m:f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0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; no explicit formula is needed.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Factor out the powers of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first: </a:t>
                </a:r>
                <a14:m>
                  <m:oMath xmlns:m="http://schemas.openxmlformats.org/officeDocument/2006/math"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sSup>
                          <m:e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𝑥</m:t>
                            </m:r>
                          </m:e>
                          <m:sup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3</m:t>
                            </m:r>
                          </m:sup>
                        </m:s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𝑔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(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+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𝑔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)</m:t>
                        </m:r>
                      </m:den>
                    </m:f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sSup>
                          <m:e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𝑥</m:t>
                            </m:r>
                          </m:e>
                          <m:sup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2</m:t>
                            </m:r>
                          </m:sup>
                        </m:s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𝑔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+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𝑔</m:t>
                        </m:r>
                      </m:den>
                    </m:f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so the limit is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0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whenever </a:t>
                </a:r>
                <a14:m>
                  <m:oMath xmlns:m="http://schemas.openxmlformats.org/officeDocument/2006/math"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𝑔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+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𝑔</m:t>
                        </m:r>
                      </m:den>
                    </m:f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stays bounded near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0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Choice>
        <mc:Fallback>
          <p:sp>
            <p:nvSpPr>
              <p:cNvPr id="5" name="Rectangle 4"/>
              <p:cNvSpPr/>
              <p:nvPr/>
            </p:nvSpPr>
            <p:spPr>
              <a:xfrm>
                <a:off x="731520" y="1353312"/>
                <a:ext cx="10725912" cy="5321808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Use the branch of a piecewise-defined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$g$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that contains the limit point: here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$g=\frac{9}{|3-x|^3}$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and near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$0$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it is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$\frac{9}{(3-x)^3}$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with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$g(0)=\frac13$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If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$g$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is continuous at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$0$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with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$g(0)=\frac13$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then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$\frac{x^2g(x)}{1+g(x)}\to0\cdot\frac{1/3}{4/3}=0$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; no explicit formula is needed.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Factor out the powers of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$x$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first: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$\frac{x^3g}{x(1+g)}=\frac{x^2g}{1+g}$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so the limit is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$0$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whenever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$\frac{g}{1+g}$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stays bounded near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$0$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Fallback>
      </mc:AlternateContent>
    </p:spTree>
  </p:cSld>
  <p:clrMapOvr>
    <a:masterClrMapping/>
  </p:clrMapOvr>
</p:sld>
</file>

<file path=ppt/slides/slide14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FFFFFF"/>
          </a:fontRef>
        </p:style>
        <p:txBody>
          <a:bodyPr rtlCol="0" anchor="ctr" lIns="731520"/>
          <a:lstStyle>
            <a:lvl1pPr>
              <a:defRPr sz="3200">
                <a:solidFill>
                  <a:srgbClr val="FFFFFF"/>
                </a:solidFill>
              </a:defRPr>
            </a:lvl1pPr>
          </a:lstStyle>
          <a:p>
            <a:pPr algn="l">
              <a:defRPr sz="3200">
                <a:solidFill>
                  <a:srgbClr val="FFFFFF"/>
                </a:solidFill>
              </a:defRPr>
            </a:pPr>
            <a:r>
              <a:rPr sz="3200" b="1">
                <a:solidFill>
                  <a:srgbClr val="FFFFFF"/>
                </a:solidFill>
                <a:latin typeface="Arial"/>
              </a:rPr>
              <a:t>Question 24</a:t>
            </a:r>
            <a:endParaRPr sz="3200">
              <a:solidFill>
                <a:srgbClr val="FFFFFF"/>
              </a:solidFill>
            </a:endParaRPr>
          </a:p>
        </p:txBody>
      </p:sp>
      <p:sp>
        <p:nvSpPr>
          <p:cNvPr id="3" name="Rounded Rectangle 2"/>
          <p:cNvSpPr/>
          <p:nvPr/>
        </p:nvSpPr>
        <p:spPr>
          <a:xfrm>
            <a:off x="7894015" y="246887"/>
            <a:ext cx="3840480" cy="603504"/>
          </a:xfrm>
          <a:prstGeom prst="roundRect">
            <a:avLst>
              <a:gd name="adj" fmla="val 50000"/>
            </a:avLst>
          </a:prstGeom>
          <a:solidFill>
            <a:srgbClr val="FFD966"/>
          </a:solidFill>
          <a:ln w="1905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111827"/>
          </a:fontRef>
        </p:style>
        <p:txBody>
          <a:bodyPr rtlCol="0" anchor="ctr" wrap="square" lIns="228600" rIns="228600" tIns="18288" bIns="18288"/>
          <a:lstStyle>
            <a:lvl1pPr>
              <a:defRPr sz="2400">
                <a:solidFill>
                  <a:srgbClr val="111827"/>
                </a:solidFill>
              </a:defRPr>
            </a:lvl1pPr>
          </a:lstStyle>
          <a:p>
            <a:pPr algn="ctr">
              <a:defRPr sz="2400">
                <a:solidFill>
                  <a:srgbClr val="111827"/>
                </a:solidFill>
              </a:defRPr>
            </a:pPr>
            <a:r>
              <a:rPr sz="2400" b="1">
                <a:solidFill>
                  <a:srgbClr val="111827"/>
                </a:solidFill>
                <a:latin typeface="Arial"/>
              </a:rPr>
              <a:t>Level 2  ·  3 Marks</a:t>
            </a:r>
            <a:endParaRPr sz="2400">
              <a:solidFill>
                <a:srgbClr val="111827"/>
              </a:solidFill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4" name="Rounded Rectangle 3"/>
              <p:cNvSpPr/>
              <p:nvPr/>
            </p:nvSpPr>
            <p:spPr>
              <a:xfrm>
                <a:off x="731520" y="1280160"/>
                <a:ext cx="10725912" cy="4099560"/>
              </a:xfrm>
              <a:prstGeom prst="roundRect">
                <a:avLst>
                  <a:gd name="adj" fmla="val 8000"/>
                </a:avLst>
              </a:prstGeom>
              <a:solidFill>
                <a:srgbClr val="E0ECFF"/>
              </a:solidFill>
              <a:ln w="25400">
                <a:solidFill>
                  <a:srgbClr val="1D4ED8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>
                  <a:spcAft>
                    <a:spcPts val="500"/>
                  </a:spcAft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Let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𝑓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sSup>
                          <m:e>
                            <m:r>
                              <m:rPr>
                                <m:sty m:val="p"/>
                              </m:rPr>
                              <a:rPr lang="en-IN" sz="2400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cos</m:t>
                            </m:r>
                          </m:e>
                          <m:sup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2</m:t>
                            </m:r>
                          </m:sup>
                        </m:s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+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cos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+</m:t>
                        </m:r>
                        <m:sSup>
                          <m:e>
                            <m:r>
                              <m:rPr>
                                <m:sty m:val="p"/>
                              </m:rPr>
                              <a:rPr lang="en-IN" sz="2400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cos</m:t>
                            </m:r>
                          </m:e>
                          <m:sup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2</m:t>
                            </m:r>
                          </m:sup>
                        </m:s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</m:den>
                    </m:f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and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𝑔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λ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tan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λ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sin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where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λ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∈</m:t>
                    </m:r>
                    <m:r>
                      <m:rPr>
                        <m:scr m:val="double-struck"/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R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and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∈</m:t>
                    </m:r>
                    <m:d>
                      <m:dPr>
                        <m:begChr m:val="["/>
                        <m:sepChr m:val=""/>
                        <m:endChr m:val=")"/>
                        <m:grow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0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,</m:t>
                        </m:r>
                        <m:f>
                          <m:fPr>
                            <m:type m:val="bar"/>
                            <m:ctrlP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fPr>
                          <m:num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π</m:t>
                            </m:r>
                          </m:num>
                          <m:den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2</m:t>
                            </m:r>
                          </m:den>
                        </m:f>
                      </m:e>
                    </m:d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>
                  <a:spcAft>
                    <a:spcPts val="500"/>
                  </a:spcAft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(Paper Q23) </a:t>
                </a:r>
                <a14:m>
                  <m:oMath xmlns:m="http://schemas.openxmlformats.org/officeDocument/2006/math"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𝑔</m:t>
                        </m:r>
                      </m:e>
                      <m:sup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′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equals: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>
                  <a:spcAft>
                    <a:spcPts val="500"/>
                  </a:spcAft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(A) </a:t>
                </a:r>
                <a14:m>
                  <m:oMath xmlns:m="http://schemas.openxmlformats.org/officeDocument/2006/math"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(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−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cos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)</m:t>
                        </m:r>
                        <m:d>
                          <m:dPr>
                            <m:begChr m:val="("/>
                            <m:sepChr m:val=""/>
                            <m:endChr m:val=")"/>
                            <m:grow/>
                            <m:ctrlP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𝑓</m:t>
                            </m:r>
                            <m:r>
                              <m:rPr>
                                <m:sty m:val="p"/>
                              </m:rPr>
                              <a:rPr lang="en-IN" sz="2400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(</m:t>
                            </m:r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𝑥</m:t>
                            </m:r>
                            <m:r>
                              <m:rPr>
                                <m:sty m:val="p"/>
                              </m:rPr>
                              <a:rPr lang="en-IN" sz="2400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)</m:t>
                            </m:r>
                            <m:r>
                              <m:rPr>
                                <m:sty m:val="p"/>
                              </m:rPr>
                              <a:rPr lang="en-IN" sz="2400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−</m:t>
                            </m:r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λ</m:t>
                            </m:r>
                          </m:e>
                        </m:d>
                      </m:num>
                      <m:den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cos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</m:den>
                    </m:f>
                  </m:oMath>
                </a14:m>
                <a:endParaRPr sz="2400">
                  <a:solidFill>
                    <a:srgbClr val="111827"/>
                  </a:solidFill>
                </a:endParaRPr>
              </a:p>
              <a:p>
                <a:pPr algn="l">
                  <a:spcAft>
                    <a:spcPts val="500"/>
                  </a:spcAft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(B) </a:t>
                </a:r>
                <a14:m>
                  <m:oMath xmlns:m="http://schemas.openxmlformats.org/officeDocument/2006/math"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(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−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cos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)</m:t>
                        </m:r>
                        <m:d>
                          <m:dPr>
                            <m:begChr m:val="("/>
                            <m:sepChr m:val=""/>
                            <m:endChr m:val=")"/>
                            <m:grow/>
                            <m:ctrlP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λ</m:t>
                            </m:r>
                            <m:r>
                              <m:rPr>
                                <m:sty m:val="p"/>
                              </m:rPr>
                              <a:rPr lang="en-IN" sz="2400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−</m:t>
                            </m:r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𝑓</m:t>
                            </m:r>
                            <m:r>
                              <m:rPr>
                                <m:sty m:val="p"/>
                              </m:rPr>
                              <a:rPr lang="en-IN" sz="2400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(</m:t>
                            </m:r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𝑥</m:t>
                            </m:r>
                            <m:r>
                              <m:rPr>
                                <m:sty m:val="p"/>
                              </m:rPr>
                              <a:rPr lang="en-IN" sz="2400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)</m:t>
                            </m:r>
                          </m:e>
                        </m:d>
                      </m:num>
                      <m:den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cos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</m:den>
                    </m:f>
                  </m:oMath>
                </a14:m>
                <a:endParaRPr sz="2400">
                  <a:solidFill>
                    <a:srgbClr val="111827"/>
                  </a:solidFill>
                </a:endParaRPr>
              </a:p>
              <a:p>
                <a:pPr algn="l">
                  <a:spcAft>
                    <a:spcPts val="500"/>
                  </a:spcAft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(C) </a:t>
                </a:r>
                <a14:m>
                  <m:oMath xmlns:m="http://schemas.openxmlformats.org/officeDocument/2006/math"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(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−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cos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)</m:t>
                        </m:r>
                        <m:d>
                          <m:dPr>
                            <m:begChr m:val="("/>
                            <m:sepChr m:val=""/>
                            <m:endChr m:val=")"/>
                            <m:grow/>
                            <m:ctrlP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λ</m:t>
                            </m:r>
                            <m:r>
                              <m:rPr>
                                <m:sty m:val="p"/>
                              </m:rPr>
                              <a:rPr lang="en-IN" sz="2400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−</m:t>
                            </m:r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𝑓</m:t>
                            </m:r>
                            <m:r>
                              <m:rPr>
                                <m:sty m:val="p"/>
                              </m:rPr>
                              <a:rPr lang="en-IN" sz="2400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(</m:t>
                            </m:r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𝑥</m:t>
                            </m:r>
                            <m:r>
                              <m:rPr>
                                <m:sty m:val="p"/>
                              </m:rPr>
                              <a:rPr lang="en-IN" sz="2400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)</m:t>
                            </m:r>
                          </m:e>
                        </m:d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𝑓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(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)</m:t>
                        </m:r>
                      </m:den>
                    </m:f>
                  </m:oMath>
                </a14:m>
                <a:endParaRPr sz="2400">
                  <a:solidFill>
                    <a:srgbClr val="111827"/>
                  </a:solidFill>
                </a:endParaRPr>
              </a:p>
              <a:p>
                <a:pPr algn="l">
                  <a:spcAft>
                    <a:spcPts val="500"/>
                  </a:spcAft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(D) </a:t>
                </a:r>
                <a14:m>
                  <m:oMath xmlns:m="http://schemas.openxmlformats.org/officeDocument/2006/math"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(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−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cos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)</m:t>
                        </m:r>
                        <m:d>
                          <m:dPr>
                            <m:begChr m:val="("/>
                            <m:sepChr m:val=""/>
                            <m:endChr m:val=")"/>
                            <m:grow/>
                            <m:ctrlP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λ</m:t>
                            </m:r>
                            <m:r>
                              <m:rPr>
                                <m:sty m:val="p"/>
                              </m:rPr>
                              <a:rPr lang="en-IN" sz="2400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−</m:t>
                            </m:r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𝑓</m:t>
                            </m:r>
                            <m:r>
                              <m:rPr>
                                <m:sty m:val="p"/>
                              </m:rPr>
                              <a:rPr lang="en-IN" sz="2400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(</m:t>
                            </m:r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𝑥</m:t>
                            </m:r>
                            <m:r>
                              <m:rPr>
                                <m:sty m:val="p"/>
                              </m:rPr>
                              <a:rPr lang="en-IN" sz="2400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)</m:t>
                            </m:r>
                          </m:e>
                        </m:d>
                      </m:num>
                      <m:den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(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𝑓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(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)</m:t>
                        </m:r>
                        <m:sSup>
                          <m:e>
                            <m:r>
                              <m:rPr>
                                <m:sty m:val="p"/>
                              </m:rPr>
                              <a:rPr lang="en-IN" sz="2400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)</m:t>
                            </m:r>
                          </m:e>
                          <m:sup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2</m:t>
                            </m:r>
                          </m:sup>
                        </m:sSup>
                      </m:den>
                    </m:f>
                  </m:oMath>
                </a14:m>
                <a:endParaRPr sz="2400">
                  <a:solidFill>
                    <a:srgbClr val="111827"/>
                  </a:solidFill>
                </a:endParaRPr>
              </a:p>
            </p:txBody>
          </p:sp>
        </mc:Choice>
        <mc:Fallback>
          <p:sp>
            <p:nvSpPr>
              <p:cNvPr id="4" name="Rounded Rectangle 3"/>
              <p:cNvSpPr/>
              <p:nvPr/>
            </p:nvSpPr>
            <p:spPr>
              <a:xfrm>
                <a:off x="731520" y="1280160"/>
                <a:ext cx="10725912" cy="4099560"/>
              </a:xfrm>
              <a:prstGeom prst="roundRect">
                <a:avLst>
                  <a:gd name="adj" fmla="val 8000"/>
                </a:avLst>
              </a:prstGeom>
              <a:solidFill>
                <a:srgbClr val="E0ECFF"/>
              </a:solidFill>
              <a:ln w="25400">
                <a:solidFill>
                  <a:srgbClr val="1D4ED8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>
                  <a:spcAft>
                    <a:spcPts val="500"/>
                  </a:spcAft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Let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$f(x)=\frac{\cos^2x}{1+\cos x+\cos^2x}$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and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$g(x)=\lambda\tan x+(1-\lambda)\sin x-x$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where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$\lambda\in\mathbb R$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and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$x\in\left[0,\frac\pi2\right)$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>
                  <a:spcAft>
                    <a:spcPts val="500"/>
                  </a:spcAft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(Paper Q23)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$g'(x)$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equals: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>
                  <a:spcAft>
                    <a:spcPts val="500"/>
                  </a:spcAft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(A)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$\frac{(1-\cos x)\left(f(x)-\lambda\right)}{\cos x}$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>
                  <a:spcAft>
                    <a:spcPts val="500"/>
                  </a:spcAft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(B)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$\frac{(1-\cos x)\left(\lambda-f(x)\right)}{\cos x}$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>
                  <a:spcAft>
                    <a:spcPts val="500"/>
                  </a:spcAft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(C)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$\frac{(1-\cos x)\left(\lambda-f(x)\right)}{f(x)}$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>
                  <a:spcAft>
                    <a:spcPts val="500"/>
                  </a:spcAft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(D)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$\frac{(1-\cos x)\left(\lambda-f(x)\right)}{(f(x))^2}$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Fallback>
      </mc:AlternateContent>
    </p:spTree>
  </p:cSld>
  <p:clrMapOvr>
    <a:masterClrMapping/>
  </p:clrMapOvr>
</p:sld>
</file>

<file path=ppt/slides/slide14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FFFFFF"/>
          </a:fontRef>
        </p:style>
        <p:txBody>
          <a:bodyPr rtlCol="0" anchor="ctr" lIns="731520"/>
          <a:lstStyle>
            <a:lvl1pPr>
              <a:defRPr sz="3200">
                <a:solidFill>
                  <a:srgbClr val="FFFFFF"/>
                </a:solidFill>
              </a:defRPr>
            </a:lvl1pPr>
          </a:lstStyle>
          <a:p>
            <a:pPr algn="l">
              <a:defRPr sz="3200">
                <a:solidFill>
                  <a:srgbClr val="FFFFFF"/>
                </a:solidFill>
              </a:defRPr>
            </a:pPr>
            <a:r>
              <a:rPr sz="3200" b="1">
                <a:solidFill>
                  <a:srgbClr val="FFFFFF"/>
                </a:solidFill>
                <a:latin typeface="Arial"/>
              </a:rPr>
              <a:t>Question 24</a:t>
            </a:r>
            <a:endParaRPr sz="3200">
              <a:solidFill>
                <a:srgbClr val="FFFFFF"/>
              </a:solidFill>
            </a:endParaRPr>
          </a:p>
        </p:txBody>
      </p:sp>
      <p:sp>
        <p:nvSpPr>
          <p:cNvPr id="3" name="Rounded Rectangle 2"/>
          <p:cNvSpPr/>
          <p:nvPr/>
        </p:nvSpPr>
        <p:spPr>
          <a:xfrm>
            <a:off x="7894015" y="246887"/>
            <a:ext cx="3840480" cy="603504"/>
          </a:xfrm>
          <a:prstGeom prst="roundRect">
            <a:avLst>
              <a:gd name="adj" fmla="val 50000"/>
            </a:avLst>
          </a:prstGeom>
          <a:solidFill>
            <a:srgbClr val="FFD966"/>
          </a:solidFill>
          <a:ln w="1905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111827"/>
          </a:fontRef>
        </p:style>
        <p:txBody>
          <a:bodyPr rtlCol="0" anchor="ctr" wrap="square" lIns="228600" rIns="228600" tIns="18288" bIns="18288"/>
          <a:lstStyle>
            <a:lvl1pPr>
              <a:defRPr sz="2400">
                <a:solidFill>
                  <a:srgbClr val="111827"/>
                </a:solidFill>
              </a:defRPr>
            </a:lvl1pPr>
          </a:lstStyle>
          <a:p>
            <a:pPr algn="ctr">
              <a:defRPr sz="2400">
                <a:solidFill>
                  <a:srgbClr val="111827"/>
                </a:solidFill>
              </a:defRPr>
            </a:pPr>
            <a:r>
              <a:rPr sz="2400" b="1">
                <a:solidFill>
                  <a:srgbClr val="111827"/>
                </a:solidFill>
                <a:latin typeface="Arial"/>
              </a:rPr>
              <a:t>Level 2  ·  3 Marks</a:t>
            </a:r>
            <a:endParaRPr sz="2400">
              <a:solidFill>
                <a:srgbClr val="111827"/>
              </a:solidFill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4" name="Rectangle 3"/>
              <p:cNvSpPr/>
              <p:nvPr/>
            </p:nvSpPr>
            <p:spPr>
              <a:xfrm>
                <a:off x="731520" y="1280160"/>
                <a:ext cx="10725912" cy="2194560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>
                  <a:spcAft>
                    <a:spcPts val="200"/>
                  </a:spcAft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Paragraph Based Single Correct Type(3 Marks)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>
                  <a:spcAft>
                    <a:spcPts val="200"/>
                  </a:spcAft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Concept(s) : Differentiation of trigonometric functions, Algebraic simplification using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sSup>
                      <m:e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cos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3</m:t>
                        </m:r>
                      </m:sup>
                    </m:sSup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</m:oMath>
                </a14:m>
                <a:endParaRPr sz="2400">
                  <a:solidFill>
                    <a:srgbClr val="111827"/>
                  </a:solidFill>
                </a:endParaRPr>
              </a:p>
              <a:p>
                <a:pPr algn="l">
                  <a:spcAft>
                    <a:spcPts val="200"/>
                  </a:spcAft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Difficulty Level: Level 2(A level below Average JEE Advanced Level)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Choice>
        <mc:Fallback>
          <p:sp>
            <p:nvSpPr>
              <p:cNvPr id="4" name="Rectangle 3"/>
              <p:cNvSpPr/>
              <p:nvPr/>
            </p:nvSpPr>
            <p:spPr>
              <a:xfrm>
                <a:off x="731520" y="1280160"/>
                <a:ext cx="10725912" cy="2194560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>
                  <a:spcAft>
                    <a:spcPts val="200"/>
                  </a:spcAft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Paragraph Based Single Correct Type(3 Marks)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>
                  <a:spcAft>
                    <a:spcPts val="200"/>
                  </a:spcAft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Concept(s) : Differentiation of trigonometric functions, Algebraic simplification using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$1-\cos^3 x$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>
                  <a:spcAft>
                    <a:spcPts val="200"/>
                  </a:spcAft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Difficulty Level: Level 2(A level below Average JEE Advanced Level)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5" name="Rounded Rectangle 4"/>
              <p:cNvSpPr/>
              <p:nvPr/>
            </p:nvSpPr>
            <p:spPr>
              <a:xfrm>
                <a:off x="731520" y="3657600"/>
                <a:ext cx="10725912" cy="1328928"/>
              </a:xfrm>
              <a:prstGeom prst="roundRect">
                <a:avLst>
                  <a:gd name="adj" fmla="val 8000"/>
                </a:avLst>
              </a:prstGeom>
              <a:solidFill>
                <a:srgbClr val="FDE68A"/>
              </a:solidFill>
              <a:ln w="31750">
                <a:solidFill>
                  <a:srgbClr val="D97706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78350F"/>
              </a:fontRef>
            </p:style>
            <p:txBody>
              <a:bodyPr rtlCol="0" anchor="ctr" wrap="square" lIns="228600" rIns="228600" tIns="54864" bIns="73152"/>
              <a:lstStyle>
                <a:lvl1pPr>
                  <a:defRPr sz="2400">
                    <a:solidFill>
                      <a:srgbClr val="78350F"/>
                    </a:solidFill>
                  </a:defRPr>
                </a:lvl1pPr>
              </a:lstStyle>
              <a:p>
                <a:pPr algn="l">
                  <a:defRPr sz="2400">
                    <a:solidFill>
                      <a:srgbClr val="78350F"/>
                    </a:solidFill>
                  </a:defRPr>
                </a:pPr>
                <a:r>
                  <a:rPr sz="2400" b="1">
                    <a:solidFill>
                      <a:srgbClr val="78350F"/>
                    </a:solidFill>
                    <a:latin typeface="Arial"/>
                  </a:rPr>
                  <a:t>Key idea: 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λ</m:t>
                    </m:r>
                    <m:sSup>
                      <m:e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sec</m:t>
                        </m:r>
                      </m:e>
                      <m:sup>
                        <m: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λ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cos</m:t>
                    </m:r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λ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(</m:t>
                        </m:r>
                        <m: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−</m:t>
                        </m:r>
                        <m:sSup>
                          <m:e>
                            <m:r>
                              <m:rPr>
                                <m:sty m:val="p"/>
                              </m:rPr>
                              <a:rPr lang="en-IN" sz="2400">
                                <a:solidFill>
                                  <a:srgbClr val="78350F"/>
                                </a:solidFill>
                                <a:latin typeface="Cambria Math" panose="02040503050406030204" pitchFamily="18" charset="0"/>
                              </a:rPr>
                              <m:t>cos</m:t>
                            </m:r>
                          </m:e>
                          <m:sup>
                            <m:r>
                              <a:rPr lang="en-IN" sz="2400" i="1">
                                <a:solidFill>
                                  <a:srgbClr val="78350F"/>
                                </a:solidFill>
                                <a:latin typeface="Cambria Math" panose="02040503050406030204" pitchFamily="18" charset="0"/>
                              </a:rPr>
                              <m:t>3</m:t>
                            </m:r>
                          </m:sup>
                        </m:sSup>
                        <m: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)</m:t>
                        </m:r>
                      </m:num>
                      <m:den>
                        <m:sSup>
                          <m:e>
                            <m:r>
                              <m:rPr>
                                <m:sty m:val="p"/>
                              </m:rPr>
                              <a:rPr lang="en-IN" sz="2400">
                                <a:solidFill>
                                  <a:srgbClr val="78350F"/>
                                </a:solidFill>
                                <a:latin typeface="Cambria Math" panose="02040503050406030204" pitchFamily="18" charset="0"/>
                              </a:rPr>
                              <m:t>cos</m:t>
                            </m:r>
                          </m:e>
                          <m:sup>
                            <m:r>
                              <a:rPr lang="en-IN" sz="2400" i="1">
                                <a:solidFill>
                                  <a:srgbClr val="78350F"/>
                                </a:solidFill>
                                <a:latin typeface="Cambria Math" panose="02040503050406030204" pitchFamily="18" charset="0"/>
                              </a:rPr>
                              <m:t>2</m:t>
                            </m:r>
                          </m:sup>
                        </m:sSup>
                        <m: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</m:den>
                    </m:f>
                  </m:oMath>
                </a14:m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, and </a:t>
                </a:r>
                <a14:m>
                  <m:oMath xmlns:m="http://schemas.openxmlformats.org/officeDocument/2006/math"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+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cos</m:t>
                        </m:r>
                        <m: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+</m:t>
                        </m:r>
                        <m:sSup>
                          <m:e>
                            <m:r>
                              <m:rPr>
                                <m:sty m:val="p"/>
                              </m:rPr>
                              <a:rPr lang="en-IN" sz="2400">
                                <a:solidFill>
                                  <a:srgbClr val="78350F"/>
                                </a:solidFill>
                                <a:latin typeface="Cambria Math" panose="02040503050406030204" pitchFamily="18" charset="0"/>
                              </a:rPr>
                              <m:t>cos</m:t>
                            </m:r>
                          </m:e>
                          <m:sup>
                            <m:r>
                              <a:rPr lang="en-IN" sz="2400" i="1">
                                <a:solidFill>
                                  <a:srgbClr val="78350F"/>
                                </a:solidFill>
                                <a:latin typeface="Cambria Math" panose="02040503050406030204" pitchFamily="18" charset="0"/>
                              </a:rPr>
                              <m:t>2</m:t>
                            </m:r>
                          </m:sup>
                        </m:sSup>
                        <m: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</m:num>
                      <m:den>
                        <m:sSup>
                          <m:e>
                            <m:r>
                              <m:rPr>
                                <m:sty m:val="p"/>
                              </m:rPr>
                              <a:rPr lang="en-IN" sz="2400">
                                <a:solidFill>
                                  <a:srgbClr val="78350F"/>
                                </a:solidFill>
                                <a:latin typeface="Cambria Math" panose="02040503050406030204" pitchFamily="18" charset="0"/>
                              </a:rPr>
                              <m:t>cos</m:t>
                            </m:r>
                          </m:e>
                          <m:sup>
                            <m:r>
                              <a:rPr lang="en-IN" sz="2400" i="1">
                                <a:solidFill>
                                  <a:srgbClr val="78350F"/>
                                </a:solidFill>
                                <a:latin typeface="Cambria Math" panose="02040503050406030204" pitchFamily="18" charset="0"/>
                              </a:rPr>
                              <m:t>2</m:t>
                            </m:r>
                          </m:sup>
                        </m:sSup>
                        <m: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</m:den>
                    </m:f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𝑓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(</m:t>
                        </m:r>
                        <m: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)</m:t>
                        </m:r>
                      </m:den>
                    </m:f>
                  </m:oMath>
                </a14:m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.</a:t>
                </a:r>
                <a:endParaRPr sz="2400">
                  <a:solidFill>
                    <a:srgbClr val="78350F"/>
                  </a:solidFill>
                </a:endParaRPr>
              </a:p>
            </p:txBody>
          </p:sp>
        </mc:Choice>
        <mc:Fallback>
          <p:sp>
            <p:nvSpPr>
              <p:cNvPr id="5" name="Rounded Rectangle 4"/>
              <p:cNvSpPr/>
              <p:nvPr/>
            </p:nvSpPr>
            <p:spPr>
              <a:xfrm>
                <a:off x="731520" y="3657600"/>
                <a:ext cx="10725912" cy="1328928"/>
              </a:xfrm>
              <a:prstGeom prst="roundRect">
                <a:avLst>
                  <a:gd name="adj" fmla="val 8000"/>
                </a:avLst>
              </a:prstGeom>
              <a:solidFill>
                <a:srgbClr val="FDE68A"/>
              </a:solidFill>
              <a:ln w="31750">
                <a:solidFill>
                  <a:srgbClr val="D97706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78350F"/>
              </a:fontRef>
            </p:style>
            <p:txBody>
              <a:bodyPr rtlCol="0" anchor="ctr" wrap="square" lIns="228600" rIns="228600" tIns="54864" bIns="73152"/>
              <a:lstStyle>
                <a:lvl1pPr>
                  <a:defRPr sz="2400">
                    <a:solidFill>
                      <a:srgbClr val="78350F"/>
                    </a:solidFill>
                  </a:defRPr>
                </a:lvl1pPr>
              </a:lstStyle>
              <a:p>
                <a:pPr algn="l">
                  <a:defRPr sz="2400">
                    <a:solidFill>
                      <a:srgbClr val="78350F"/>
                    </a:solidFill>
                  </a:defRPr>
                </a:pPr>
                <a:r>
                  <a:rPr sz="2400" b="1">
                    <a:solidFill>
                      <a:srgbClr val="78350F"/>
                    </a:solidFill>
                    <a:latin typeface="Arial"/>
                  </a:rPr>
                  <a:t>Key idea:  </a:t>
                </a:r>
                <a:r>
                  <a:rPr lang="en-IN" sz="2400">
                    <a:solidFill>
                      <a:srgbClr val="78350F"/>
                    </a:solidFill>
                    <a:latin typeface="Cambria Math" panose="02040503050406030204" pitchFamily="18" charset="0"/>
                  </a:rPr>
                  <a:t>$\lambda\sec^2x-\lambda\cos x=\frac{\lambda(1-\cos^3x)}{\cos^2x}$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, and </a:t>
                </a:r>
                <a:r>
                  <a:rPr lang="en-IN" sz="2400">
                    <a:solidFill>
                      <a:srgbClr val="78350F"/>
                    </a:solidFill>
                    <a:latin typeface="Cambria Math" panose="02040503050406030204" pitchFamily="18" charset="0"/>
                  </a:rPr>
                  <a:t>$\frac{1+\cos x+\cos^2x}{\cos^2x}=\frac1{f(x)}$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.</a:t>
                </a:r>
                <a:endParaRPr sz="2400">
                  <a:solidFill>
                    <a:srgbClr val="78350F"/>
                  </a:solidFill>
                </a:endParaRP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6" name="Rectangle 5"/>
              <p:cNvSpPr/>
              <p:nvPr/>
            </p:nvSpPr>
            <p:spPr>
              <a:xfrm>
                <a:off x="731520" y="5123688"/>
                <a:ext cx="10725912" cy="1551431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For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∈</m:t>
                    </m:r>
                    <m:d>
                      <m:dPr>
                        <m:begChr m:val="["/>
                        <m:sepChr m:val=""/>
                        <m:endChr m:val=")"/>
                        <m:grow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0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,</m:t>
                        </m:r>
                        <m:f>
                          <m:fPr>
                            <m:type m:val="bar"/>
                            <m:ctrlP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fPr>
                          <m:num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π</m:t>
                            </m:r>
                          </m:num>
                          <m:den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2</m:t>
                            </m:r>
                          </m:den>
                        </m:f>
                      </m:e>
                    </m:d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𝑓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&gt;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0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and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𝑓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num>
                      <m:den>
                        <m:sSup>
                          <m:e>
                            <m:r>
                              <m:rPr>
                                <m:sty m:val="p"/>
                              </m:rPr>
                              <a:rPr lang="en-IN" sz="2400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sec</m:t>
                            </m:r>
                          </m:e>
                          <m:sup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2</m:t>
                            </m:r>
                          </m:sup>
                        </m:s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+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sec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+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den>
                    </m:f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𝑔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λ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tan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λ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sin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Choice>
        <mc:Fallback>
          <p:sp>
            <p:nvSpPr>
              <p:cNvPr id="6" name="Rectangle 5"/>
              <p:cNvSpPr/>
              <p:nvPr/>
            </p:nvSpPr>
            <p:spPr>
              <a:xfrm>
                <a:off x="731520" y="5123688"/>
                <a:ext cx="10725912" cy="1551431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For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$x\in\left[0,\frac\pi2\right)$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$f(x)&gt;0$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and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$f(x)=\frac{1}{\sec^2x+\sec x+1}$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$g(x)=\lambda\tan x+(1-\lambda)\sin x-x$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Fallback>
      </mc:AlternateContent>
    </p:spTree>
  </p:cSld>
  <p:clrMapOvr>
    <a:masterClrMapping/>
  </p:clrMapOvr>
</p:sld>
</file>

<file path=ppt/slides/slide14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FFFFFF"/>
          </a:fontRef>
        </p:style>
        <p:txBody>
          <a:bodyPr rtlCol="0" anchor="ctr" lIns="731520"/>
          <a:lstStyle>
            <a:lvl1pPr>
              <a:defRPr sz="3200">
                <a:solidFill>
                  <a:srgbClr val="FFFFFF"/>
                </a:solidFill>
              </a:defRPr>
            </a:lvl1pPr>
          </a:lstStyle>
          <a:p>
            <a:pPr algn="l">
              <a:defRPr sz="3200">
                <a:solidFill>
                  <a:srgbClr val="FFFFFF"/>
                </a:solidFill>
              </a:defRPr>
            </a:pPr>
            <a:r>
              <a:rPr sz="3200" b="1">
                <a:solidFill>
                  <a:srgbClr val="FFFFFF"/>
                </a:solidFill>
                <a:latin typeface="Arial"/>
              </a:rPr>
              <a:t>Question 24</a:t>
            </a:r>
            <a:endParaRPr sz="3200">
              <a:solidFill>
                <a:srgbClr val="FFFFFF"/>
              </a:solidFill>
            </a:endParaRPr>
          </a:p>
        </p:txBody>
      </p:sp>
      <p:sp>
        <p:nvSpPr>
          <p:cNvPr id="3" name="Rounded Rectangle 2"/>
          <p:cNvSpPr/>
          <p:nvPr/>
        </p:nvSpPr>
        <p:spPr>
          <a:xfrm>
            <a:off x="7894015" y="246887"/>
            <a:ext cx="3840480" cy="603504"/>
          </a:xfrm>
          <a:prstGeom prst="roundRect">
            <a:avLst>
              <a:gd name="adj" fmla="val 50000"/>
            </a:avLst>
          </a:prstGeom>
          <a:solidFill>
            <a:srgbClr val="FFD966"/>
          </a:solidFill>
          <a:ln w="1905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111827"/>
          </a:fontRef>
        </p:style>
        <p:txBody>
          <a:bodyPr rtlCol="0" anchor="ctr" wrap="square" lIns="228600" rIns="228600" tIns="18288" bIns="18288"/>
          <a:lstStyle>
            <a:lvl1pPr>
              <a:defRPr sz="2400">
                <a:solidFill>
                  <a:srgbClr val="111827"/>
                </a:solidFill>
              </a:defRPr>
            </a:lvl1pPr>
          </a:lstStyle>
          <a:p>
            <a:pPr algn="ctr">
              <a:defRPr sz="2400">
                <a:solidFill>
                  <a:srgbClr val="111827"/>
                </a:solidFill>
              </a:defRPr>
            </a:pPr>
            <a:r>
              <a:rPr sz="2400" b="1">
                <a:solidFill>
                  <a:srgbClr val="111827"/>
                </a:solidFill>
                <a:latin typeface="Arial"/>
              </a:rPr>
              <a:t>Level 2  ·  3 Marks</a:t>
            </a:r>
            <a:endParaRPr sz="2400">
              <a:solidFill>
                <a:srgbClr val="111827"/>
              </a:solidFill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4" name="Rectangle 3"/>
              <p:cNvSpPr/>
              <p:nvPr/>
            </p:nvSpPr>
            <p:spPr>
              <a:xfrm>
                <a:off x="731520" y="1353312"/>
                <a:ext cx="10725912" cy="4434840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14:m>
                  <m:oMath xmlns:m="http://schemas.openxmlformats.org/officeDocument/2006/math"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𝑔</m:t>
                        </m:r>
                      </m:e>
                      <m:sup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′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λ</m:t>
                    </m:r>
                    <m:sSup>
                      <m:e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sec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λ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cos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cos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λ</m:t>
                        </m:r>
                        <m:d>
                          <m:dPr>
                            <m:begChr m:val="("/>
                            <m:sepChr m:val=""/>
                            <m:endChr m:val=")"/>
                            <m:grow/>
                            <m:ctrlP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1</m:t>
                            </m:r>
                            <m:r>
                              <m:rPr>
                                <m:sty m:val="p"/>
                              </m:rPr>
                              <a:rPr lang="en-IN" sz="2400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−</m:t>
                            </m:r>
                            <m:sSup>
                              <m:e>
                                <m:r>
                                  <m:rPr>
                                    <m:sty m:val="p"/>
                                  </m:rPr>
                                  <a:rPr lang="en-IN" sz="2400">
                                    <a:solidFill>
                                      <a:srgbClr val="111827"/>
                                    </a:solidFill>
                                    <a:latin typeface="Cambria Math" panose="02040503050406030204" pitchFamily="18" charset="0"/>
                                  </a:rPr>
                                  <m:t>cos</m:t>
                                </m:r>
                              </m:e>
                              <m:sup>
                                <m:r>
                                  <a:rPr lang="en-IN" sz="2400" i="1">
                                    <a:solidFill>
                                      <a:srgbClr val="111827"/>
                                    </a:solidFill>
                                    <a:latin typeface="Cambria Math" panose="02040503050406030204" pitchFamily="18" charset="0"/>
                                  </a:rPr>
                                  <m:t>3</m:t>
                                </m:r>
                              </m:sup>
                            </m:sSup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𝑥</m:t>
                            </m:r>
                          </m:e>
                        </m:d>
                      </m:num>
                      <m:den>
                        <m:sSup>
                          <m:e>
                            <m:r>
                              <m:rPr>
                                <m:sty m:val="p"/>
                              </m:rPr>
                              <a:rPr lang="en-IN" sz="2400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cos</m:t>
                            </m:r>
                          </m:e>
                          <m:sup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2</m:t>
                            </m:r>
                          </m:sup>
                        </m:s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</m:den>
                    </m:f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cos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cos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d>
                      <m:dPr>
                        <m:begChr m:val="["/>
                        <m:sepChr m:val=""/>
                        <m:endChr m:val="]"/>
                        <m:grow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f>
                          <m:fPr>
                            <m:type m:val="bar"/>
                            <m:ctrlP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fPr>
                          <m:num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λ</m:t>
                            </m:r>
                            <m:d>
                              <m:dPr>
                                <m:begChr m:val="("/>
                                <m:sepChr m:val=""/>
                                <m:endChr m:val=")"/>
                                <m:grow/>
                                <m:ctrlPr>
                                  <a:rPr lang="en-IN" sz="2400" i="1">
                                    <a:solidFill>
                                      <a:srgbClr val="111827"/>
                                    </a:solidFill>
                                    <a:latin typeface="Cambria Math" panose="02040503050406030204" pitchFamily="18" charset="0"/>
                                  </a:rPr>
                                </m:ctrlPr>
                              </m:dPr>
                              <m:e>
                                <m:r>
                                  <a:rPr lang="en-IN" sz="2400" i="1">
                                    <a:solidFill>
                                      <a:srgbClr val="111827"/>
                                    </a:solidFill>
                                    <a:latin typeface="Cambria Math" panose="02040503050406030204" pitchFamily="18" charset="0"/>
                                  </a:rPr>
                                  <m:t>1</m:t>
                                </m:r>
                                <m:r>
                                  <m:rPr>
                                    <m:sty m:val="p"/>
                                  </m:rPr>
                                  <a:rPr lang="en-IN" sz="2400">
                                    <a:solidFill>
                                      <a:srgbClr val="111827"/>
                                    </a:solidFill>
                                    <a:latin typeface="Cambria Math" panose="02040503050406030204" pitchFamily="18" charset="0"/>
                                  </a:rPr>
                                  <m:t>+</m:t>
                                </m:r>
                                <m:r>
                                  <m:rPr>
                                    <m:sty m:val="p"/>
                                  </m:rPr>
                                  <a:rPr lang="en-IN" sz="2400">
                                    <a:solidFill>
                                      <a:srgbClr val="111827"/>
                                    </a:solidFill>
                                    <a:latin typeface="Cambria Math" panose="02040503050406030204" pitchFamily="18" charset="0"/>
                                  </a:rPr>
                                  <m:t>cos</m:t>
                                </m:r>
                                <m:r>
                                  <a:rPr lang="en-IN" sz="2400" i="1">
                                    <a:solidFill>
                                      <a:srgbClr val="111827"/>
                                    </a:solidFill>
                                    <a:latin typeface="Cambria Math" panose="02040503050406030204" pitchFamily="18" charset="0"/>
                                  </a:rPr>
                                  <m:t>𝑥</m:t>
                                </m:r>
                                <m:r>
                                  <m:rPr>
                                    <m:sty m:val="p"/>
                                  </m:rPr>
                                  <a:rPr lang="en-IN" sz="2400">
                                    <a:solidFill>
                                      <a:srgbClr val="111827"/>
                                    </a:solidFill>
                                    <a:latin typeface="Cambria Math" panose="02040503050406030204" pitchFamily="18" charset="0"/>
                                  </a:rPr>
                                  <m:t>+</m:t>
                                </m:r>
                                <m:sSup>
                                  <m:e>
                                    <m:r>
                                      <m:rPr>
                                        <m:sty m:val="p"/>
                                      </m:rPr>
                                      <a:rPr lang="en-IN" sz="2400">
                                        <a:solidFill>
                                          <a:srgbClr val="111827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cos</m:t>
                                    </m:r>
                                  </m:e>
                                  <m:sup>
                                    <m:r>
                                      <a:rPr lang="en-IN" sz="2400" i="1">
                                        <a:solidFill>
                                          <a:srgbClr val="111827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2</m:t>
                                    </m:r>
                                  </m:sup>
                                </m:sSup>
                                <m:r>
                                  <a:rPr lang="en-IN" sz="2400" i="1">
                                    <a:solidFill>
                                      <a:srgbClr val="111827"/>
                                    </a:solidFill>
                                    <a:latin typeface="Cambria Math" panose="02040503050406030204" pitchFamily="18" charset="0"/>
                                  </a:rPr>
                                  <m:t>𝑥</m:t>
                                </m:r>
                              </m:e>
                            </m:d>
                          </m:num>
                          <m:den>
                            <m:sSup>
                              <m:e>
                                <m:r>
                                  <m:rPr>
                                    <m:sty m:val="p"/>
                                  </m:rPr>
                                  <a:rPr lang="en-IN" sz="2400">
                                    <a:solidFill>
                                      <a:srgbClr val="111827"/>
                                    </a:solidFill>
                                    <a:latin typeface="Cambria Math" panose="02040503050406030204" pitchFamily="18" charset="0"/>
                                  </a:rPr>
                                  <m:t>cos</m:t>
                                </m:r>
                              </m:e>
                              <m:sup>
                                <m:r>
                                  <a:rPr lang="en-IN" sz="2400" i="1">
                                    <a:solidFill>
                                      <a:srgbClr val="111827"/>
                                    </a:solidFill>
                                    <a:latin typeface="Cambria Math" panose="02040503050406030204" pitchFamily="18" charset="0"/>
                                  </a:rPr>
                                  <m:t>2</m:t>
                                </m:r>
                              </m:sup>
                            </m:sSup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𝑥</m:t>
                            </m:r>
                          </m:den>
                        </m:f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−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e>
                    </m:d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Since </a:t>
                </a:r>
                <a14:m>
                  <m:oMath xmlns:m="http://schemas.openxmlformats.org/officeDocument/2006/math"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+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cos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+</m:t>
                        </m:r>
                        <m:sSup>
                          <m:e>
                            <m:r>
                              <m:rPr>
                                <m:sty m:val="p"/>
                              </m:rPr>
                              <a:rPr lang="en-IN" sz="2400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cos</m:t>
                            </m:r>
                          </m:e>
                          <m:sup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2</m:t>
                            </m:r>
                          </m:sup>
                        </m:s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</m:num>
                      <m:den>
                        <m:sSup>
                          <m:e>
                            <m:r>
                              <m:rPr>
                                <m:sty m:val="p"/>
                              </m:rPr>
                              <a:rPr lang="en-IN" sz="2400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cos</m:t>
                            </m:r>
                          </m:e>
                          <m:sup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2</m:t>
                            </m:r>
                          </m:sup>
                        </m:s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</m:den>
                    </m:f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𝑓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(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)</m:t>
                        </m:r>
                      </m:den>
                    </m:f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: </a:t>
                </a:r>
                <a14:m>
                  <m:oMath xmlns:m="http://schemas.openxmlformats.org/officeDocument/2006/math"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𝑔</m:t>
                        </m:r>
                      </m:e>
                      <m:sup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′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cos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d>
                      <m:dPr>
                        <m:begChr m:val="["/>
                        <m:sepChr m:val=""/>
                        <m:endChr m:val="]"/>
                        <m:grow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f>
                          <m:fPr>
                            <m:type m:val="bar"/>
                            <m:ctrlP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fPr>
                          <m:num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λ</m:t>
                            </m:r>
                          </m:num>
                          <m:den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𝑓</m:t>
                            </m:r>
                            <m:r>
                              <m:rPr>
                                <m:sty m:val="p"/>
                              </m:rPr>
                              <a:rPr lang="en-IN" sz="2400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(</m:t>
                            </m:r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𝑥</m:t>
                            </m:r>
                            <m:r>
                              <m:rPr>
                                <m:sty m:val="p"/>
                              </m:rPr>
                              <a:rPr lang="en-IN" sz="2400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)</m:t>
                            </m:r>
                          </m:den>
                        </m:f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−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e>
                    </m:d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(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−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cos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)</m:t>
                        </m:r>
                        <m:d>
                          <m:dPr>
                            <m:begChr m:val="("/>
                            <m:sepChr m:val=""/>
                            <m:endChr m:val=")"/>
                            <m:grow/>
                            <m:ctrlP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λ</m:t>
                            </m:r>
                            <m:r>
                              <m:rPr>
                                <m:sty m:val="p"/>
                              </m:rPr>
                              <a:rPr lang="en-IN" sz="2400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−</m:t>
                            </m:r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𝑓</m:t>
                            </m:r>
                            <m:r>
                              <m:rPr>
                                <m:sty m:val="p"/>
                              </m:rPr>
                              <a:rPr lang="en-IN" sz="2400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(</m:t>
                            </m:r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𝑥</m:t>
                            </m:r>
                            <m:r>
                              <m:rPr>
                                <m:sty m:val="p"/>
                              </m:rPr>
                              <a:rPr lang="en-IN" sz="2400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)</m:t>
                            </m:r>
                          </m:e>
                        </m:d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𝑓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(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)</m:t>
                        </m:r>
                      </m:den>
                    </m:f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Option (C).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Choice>
        <mc:Fallback>
          <p:sp>
            <p:nvSpPr>
              <p:cNvPr id="4" name="Rectangle 3"/>
              <p:cNvSpPr/>
              <p:nvPr/>
            </p:nvSpPr>
            <p:spPr>
              <a:xfrm>
                <a:off x="731520" y="1353312"/>
                <a:ext cx="10725912" cy="4434840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$g'(x)=\lambda\sec^2x-\lambda\cos x+\cos x-1$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$=\frac{\lambda\left(1-\cos^3x\right)}{\cos^2x}-(1-\cos x)$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$=(1-\cos x)\left[\frac{\lambda\left(1+\cos x+\cos^2x\right)}{\cos^2x}-1\right]$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Since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$\frac{1+\cos x+\cos^2x}{\cos^2x}=\frac{1}{f(x)}$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: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$g'(x)=(1-\cos x)\left[\frac{\lambda}{f(x)}-1\right]=\frac{(1-\cos x)\left(\lambda-f(x)\right)}{f(x)}$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Option (C).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5" name="Rounded Rectangle 4"/>
              <p:cNvSpPr/>
              <p:nvPr/>
            </p:nvSpPr>
            <p:spPr>
              <a:xfrm>
                <a:off x="731520" y="5897880"/>
                <a:ext cx="10725912" cy="777240"/>
              </a:xfrm>
              <a:prstGeom prst="roundRect">
                <a:avLst>
                  <a:gd name="adj" fmla="val 8000"/>
                </a:avLst>
              </a:prstGeom>
              <a:solidFill>
                <a:srgbClr val="DCFCE7"/>
              </a:solidFill>
              <a:ln w="25400">
                <a:solidFill>
                  <a:srgbClr val="15803D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5803D"/>
              </a:fontRef>
            </p:style>
            <p:txBody>
              <a:bodyPr rtlCol="0" anchor="ctr" wrap="square" lIns="228600" rIns="228600" tIns="18288" bIns="73152"/>
              <a:lstStyle>
                <a:lvl1pPr>
                  <a:defRPr sz="2800">
                    <a:solidFill>
                      <a:srgbClr val="15803D"/>
                    </a:solidFill>
                  </a:defRPr>
                </a:lvl1pPr>
              </a:lstStyle>
              <a:p>
                <a:pPr algn="ctr">
                  <a:defRPr sz="2800">
                    <a:solidFill>
                      <a:srgbClr val="15803D"/>
                    </a:solidFill>
                  </a:defRPr>
                </a:pPr>
                <a:r>
                  <a:rPr sz="2800" b="1">
                    <a:solidFill>
                      <a:srgbClr val="15803D"/>
                    </a:solidFill>
                    <a:latin typeface="Arial"/>
                  </a:rPr>
                  <a:t>Correct Answer: (C) </a:t>
                </a:r>
                <a14:m>
                  <m:oMath xmlns:m="http://schemas.openxmlformats.org/officeDocument/2006/math">
                    <m:f>
                      <m:fPr>
                        <m:type m:val="bar"/>
                        <m:ctrlPr>
                          <a:rPr lang="en-IN" sz="2800" i="1">
                            <a:solidFill>
                              <a:srgbClr val="15803D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m:rPr>
                            <m:sty m:val="p"/>
                          </m:rPr>
                          <a:rPr lang="en-IN" sz="2800">
                            <a:solidFill>
                              <a:srgbClr val="15803D"/>
                            </a:solidFill>
                            <a:latin typeface="Cambria Math" panose="02040503050406030204" pitchFamily="18" charset="0"/>
                          </a:rPr>
                          <m:t>(</m:t>
                        </m:r>
                        <m:r>
                          <a:rPr lang="en-IN" sz="2800" i="1">
                            <a:solidFill>
                              <a:srgbClr val="15803D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  <m:r>
                          <m:rPr>
                            <m:sty m:val="p"/>
                          </m:rPr>
                          <a:rPr lang="en-IN" sz="2800">
                            <a:solidFill>
                              <a:srgbClr val="15803D"/>
                            </a:solidFill>
                            <a:latin typeface="Cambria Math" panose="02040503050406030204" pitchFamily="18" charset="0"/>
                          </a:rPr>
                          <m:t>−</m:t>
                        </m:r>
                        <m:r>
                          <m:rPr>
                            <m:sty m:val="p"/>
                          </m:rPr>
                          <a:rPr lang="en-IN" sz="2800">
                            <a:solidFill>
                              <a:srgbClr val="15803D"/>
                            </a:solidFill>
                            <a:latin typeface="Cambria Math" panose="02040503050406030204" pitchFamily="18" charset="0"/>
                          </a:rPr>
                          <m:t>cos</m:t>
                        </m:r>
                        <m:r>
                          <a:rPr lang="en-IN" sz="2800" i="1">
                            <a:solidFill>
                              <a:srgbClr val="15803D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  <m:r>
                          <m:rPr>
                            <m:sty m:val="p"/>
                          </m:rPr>
                          <a:rPr lang="en-IN" sz="2800">
                            <a:solidFill>
                              <a:srgbClr val="15803D"/>
                            </a:solidFill>
                            <a:latin typeface="Cambria Math" panose="02040503050406030204" pitchFamily="18" charset="0"/>
                          </a:rPr>
                          <m:t>)</m:t>
                        </m:r>
                        <m:d>
                          <m:dPr>
                            <m:begChr m:val="("/>
                            <m:sepChr m:val=""/>
                            <m:endChr m:val=")"/>
                            <m:grow/>
                            <m:ctrlPr>
                              <a:rPr lang="en-IN" sz="2800" i="1">
                                <a:solidFill>
                                  <a:srgbClr val="15803D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r>
                              <a:rPr lang="en-IN" sz="2800" i="1">
                                <a:solidFill>
                                  <a:srgbClr val="15803D"/>
                                </a:solidFill>
                                <a:latin typeface="Cambria Math" panose="02040503050406030204" pitchFamily="18" charset="0"/>
                              </a:rPr>
                              <m:t>λ</m:t>
                            </m:r>
                            <m:r>
                              <m:rPr>
                                <m:sty m:val="p"/>
                              </m:rPr>
                              <a:rPr lang="en-IN" sz="2800">
                                <a:solidFill>
                                  <a:srgbClr val="15803D"/>
                                </a:solidFill>
                                <a:latin typeface="Cambria Math" panose="02040503050406030204" pitchFamily="18" charset="0"/>
                              </a:rPr>
                              <m:t>−</m:t>
                            </m:r>
                            <m:r>
                              <a:rPr lang="en-IN" sz="2800" i="1">
                                <a:solidFill>
                                  <a:srgbClr val="15803D"/>
                                </a:solidFill>
                                <a:latin typeface="Cambria Math" panose="02040503050406030204" pitchFamily="18" charset="0"/>
                              </a:rPr>
                              <m:t>𝑓</m:t>
                            </m:r>
                            <m:r>
                              <m:rPr>
                                <m:sty m:val="p"/>
                              </m:rPr>
                              <a:rPr lang="en-IN" sz="2800">
                                <a:solidFill>
                                  <a:srgbClr val="15803D"/>
                                </a:solidFill>
                                <a:latin typeface="Cambria Math" panose="02040503050406030204" pitchFamily="18" charset="0"/>
                              </a:rPr>
                              <m:t>(</m:t>
                            </m:r>
                            <m:r>
                              <a:rPr lang="en-IN" sz="2800" i="1">
                                <a:solidFill>
                                  <a:srgbClr val="15803D"/>
                                </a:solidFill>
                                <a:latin typeface="Cambria Math" panose="02040503050406030204" pitchFamily="18" charset="0"/>
                              </a:rPr>
                              <m:t>𝑥</m:t>
                            </m:r>
                            <m:r>
                              <m:rPr>
                                <m:sty m:val="p"/>
                              </m:rPr>
                              <a:rPr lang="en-IN" sz="2800">
                                <a:solidFill>
                                  <a:srgbClr val="15803D"/>
                                </a:solidFill>
                                <a:latin typeface="Cambria Math" panose="02040503050406030204" pitchFamily="18" charset="0"/>
                              </a:rPr>
                              <m:t>)</m:t>
                            </m:r>
                          </m:e>
                        </m:d>
                      </m:num>
                      <m:den>
                        <m:r>
                          <a:rPr lang="en-IN" sz="2800" i="1">
                            <a:solidFill>
                              <a:srgbClr val="15803D"/>
                            </a:solidFill>
                            <a:latin typeface="Cambria Math" panose="02040503050406030204" pitchFamily="18" charset="0"/>
                          </a:rPr>
                          <m:t>𝑓</m:t>
                        </m:r>
                        <m:r>
                          <m:rPr>
                            <m:sty m:val="p"/>
                          </m:rPr>
                          <a:rPr lang="en-IN" sz="2800">
                            <a:solidFill>
                              <a:srgbClr val="15803D"/>
                            </a:solidFill>
                            <a:latin typeface="Cambria Math" panose="02040503050406030204" pitchFamily="18" charset="0"/>
                          </a:rPr>
                          <m:t>(</m:t>
                        </m:r>
                        <m:r>
                          <a:rPr lang="en-IN" sz="2800" i="1">
                            <a:solidFill>
                              <a:srgbClr val="15803D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  <m:r>
                          <m:rPr>
                            <m:sty m:val="p"/>
                          </m:rPr>
                          <a:rPr lang="en-IN" sz="2800">
                            <a:solidFill>
                              <a:srgbClr val="15803D"/>
                            </a:solidFill>
                            <a:latin typeface="Cambria Math" panose="02040503050406030204" pitchFamily="18" charset="0"/>
                          </a:rPr>
                          <m:t>)</m:t>
                        </m:r>
                      </m:den>
                    </m:f>
                  </m:oMath>
                </a14:m>
                <a:endParaRPr sz="2800">
                  <a:solidFill>
                    <a:srgbClr val="15803D"/>
                  </a:solidFill>
                </a:endParaRPr>
              </a:p>
            </p:txBody>
          </p:sp>
        </mc:Choice>
        <mc:Fallback>
          <p:sp>
            <p:nvSpPr>
              <p:cNvPr id="5" name="Rounded Rectangle 4"/>
              <p:cNvSpPr/>
              <p:nvPr/>
            </p:nvSpPr>
            <p:spPr>
              <a:xfrm>
                <a:off x="731520" y="5897880"/>
                <a:ext cx="10725912" cy="777240"/>
              </a:xfrm>
              <a:prstGeom prst="roundRect">
                <a:avLst>
                  <a:gd name="adj" fmla="val 8000"/>
                </a:avLst>
              </a:prstGeom>
              <a:solidFill>
                <a:srgbClr val="DCFCE7"/>
              </a:solidFill>
              <a:ln w="25400">
                <a:solidFill>
                  <a:srgbClr val="15803D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5803D"/>
              </a:fontRef>
            </p:style>
            <p:txBody>
              <a:bodyPr rtlCol="0" anchor="ctr" wrap="square" lIns="228600" rIns="228600" tIns="18288" bIns="73152"/>
              <a:lstStyle>
                <a:lvl1pPr>
                  <a:defRPr sz="2800">
                    <a:solidFill>
                      <a:srgbClr val="15803D"/>
                    </a:solidFill>
                  </a:defRPr>
                </a:lvl1pPr>
              </a:lstStyle>
              <a:p>
                <a:pPr algn="ctr">
                  <a:defRPr sz="2800">
                    <a:solidFill>
                      <a:srgbClr val="15803D"/>
                    </a:solidFill>
                  </a:defRPr>
                </a:pPr>
                <a:r>
                  <a:rPr sz="2800" b="1">
                    <a:solidFill>
                      <a:srgbClr val="15803D"/>
                    </a:solidFill>
                    <a:latin typeface="Arial"/>
                  </a:rPr>
                  <a:t>Correct Answer: (C) </a:t>
                </a:r>
                <a:r>
                  <a:rPr lang="en-IN" sz="2800">
                    <a:solidFill>
                      <a:srgbClr val="15803D"/>
                    </a:solidFill>
                    <a:latin typeface="Cambria Math" panose="02040503050406030204" pitchFamily="18" charset="0"/>
                  </a:rPr>
                  <a:t>$\frac{(1-\cos x)\left(\lambda-f(x)\right)}{f(x)}$</a:t>
                </a:r>
                <a:endParaRPr sz="2800">
                  <a:solidFill>
                    <a:srgbClr val="15803D"/>
                  </a:solidFill>
                </a:endParaRPr>
              </a:p>
            </p:txBody>
          </p:sp>
        </mc:Fallback>
      </mc:AlternateContent>
    </p:spTree>
  </p:cSld>
  <p:clrMapOvr>
    <a:masterClrMapping/>
  </p:clrMapOvr>
</p:sld>
</file>

<file path=ppt/slides/slide15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FFFFFF"/>
          </a:fontRef>
        </p:style>
        <p:txBody>
          <a:bodyPr rtlCol="0" anchor="ctr" lIns="731520"/>
          <a:lstStyle>
            <a:lvl1pPr>
              <a:defRPr sz="3200">
                <a:solidFill>
                  <a:srgbClr val="FFFFFF"/>
                </a:solidFill>
              </a:defRPr>
            </a:lvl1pPr>
          </a:lstStyle>
          <a:p>
            <a:pPr algn="l">
              <a:defRPr sz="3200">
                <a:solidFill>
                  <a:srgbClr val="FFFFFF"/>
                </a:solidFill>
              </a:defRPr>
            </a:pPr>
            <a:r>
              <a:rPr sz="3200" b="1">
                <a:solidFill>
                  <a:srgbClr val="FFFFFF"/>
                </a:solidFill>
                <a:latin typeface="Arial"/>
              </a:rPr>
              <a:t>Question 24</a:t>
            </a:r>
            <a:endParaRPr sz="3200">
              <a:solidFill>
                <a:srgbClr val="FFFFFF"/>
              </a:solidFill>
            </a:endParaRPr>
          </a:p>
        </p:txBody>
      </p:sp>
      <p:sp>
        <p:nvSpPr>
          <p:cNvPr id="3" name="Rounded Rectangle 2"/>
          <p:cNvSpPr/>
          <p:nvPr/>
        </p:nvSpPr>
        <p:spPr>
          <a:xfrm>
            <a:off x="7894015" y="246887"/>
            <a:ext cx="3840480" cy="603504"/>
          </a:xfrm>
          <a:prstGeom prst="roundRect">
            <a:avLst>
              <a:gd name="adj" fmla="val 50000"/>
            </a:avLst>
          </a:prstGeom>
          <a:solidFill>
            <a:srgbClr val="FFD966"/>
          </a:solidFill>
          <a:ln w="1905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111827"/>
          </a:fontRef>
        </p:style>
        <p:txBody>
          <a:bodyPr rtlCol="0" anchor="ctr" wrap="square" lIns="228600" rIns="228600" tIns="18288" bIns="18288"/>
          <a:lstStyle>
            <a:lvl1pPr>
              <a:defRPr sz="2400">
                <a:solidFill>
                  <a:srgbClr val="111827"/>
                </a:solidFill>
              </a:defRPr>
            </a:lvl1pPr>
          </a:lstStyle>
          <a:p>
            <a:pPr algn="ctr">
              <a:defRPr sz="2400">
                <a:solidFill>
                  <a:srgbClr val="111827"/>
                </a:solidFill>
              </a:defRPr>
            </a:pPr>
            <a:r>
              <a:rPr sz="2400" b="1">
                <a:solidFill>
                  <a:srgbClr val="111827"/>
                </a:solidFill>
                <a:latin typeface="Arial"/>
              </a:rPr>
              <a:t>Level 2  ·  3 Marks</a:t>
            </a:r>
            <a:endParaRPr sz="2400">
              <a:solidFill>
                <a:srgbClr val="111827"/>
              </a:solidFill>
            </a:endParaRPr>
          </a:p>
        </p:txBody>
      </p:sp>
      <p:sp>
        <p:nvSpPr>
          <p:cNvPr id="4" name="Rounded Rectangle 3"/>
          <p:cNvSpPr/>
          <p:nvPr/>
        </p:nvSpPr>
        <p:spPr>
          <a:xfrm>
            <a:off x="3520440" y="265176"/>
            <a:ext cx="4206240" cy="566928"/>
          </a:xfrm>
          <a:prstGeom prst="roundRect">
            <a:avLst>
              <a:gd name="adj" fmla="val 50000"/>
            </a:avLst>
          </a:prstGeom>
          <a:solidFill>
            <a:srgbClr val="FDE68A"/>
          </a:solidFill>
          <a:ln w="25400">
            <a:solidFill>
              <a:srgbClr val="D9770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78350F"/>
          </a:fontRef>
        </p:style>
        <p:txBody>
          <a:bodyPr rtlCol="0" anchor="ctr" wrap="square" lIns="228600" rIns="228600" tIns="18288" bIns="18288"/>
          <a:lstStyle>
            <a:lvl1pPr>
              <a:defRPr sz="2200">
                <a:solidFill>
                  <a:srgbClr val="78350F"/>
                </a:solidFill>
              </a:defRPr>
            </a:lvl1pPr>
          </a:lstStyle>
          <a:p>
            <a:pPr algn="ctr">
              <a:defRPr sz="2200">
                <a:solidFill>
                  <a:srgbClr val="78350F"/>
                </a:solidFill>
              </a:defRPr>
            </a:pPr>
            <a:r>
              <a:rPr sz="2200" b="1">
                <a:solidFill>
                  <a:srgbClr val="78350F"/>
                </a:solidFill>
                <a:latin typeface="Arial"/>
              </a:rPr>
              <a:t>Alternate Solution</a:t>
            </a:r>
            <a:endParaRPr sz="2200">
              <a:solidFill>
                <a:srgbClr val="78350F"/>
              </a:solidFill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5" name="Rounded Rectangle 4"/>
              <p:cNvSpPr/>
              <p:nvPr/>
            </p:nvSpPr>
            <p:spPr>
              <a:xfrm>
                <a:off x="731520" y="1280160"/>
                <a:ext cx="10725912" cy="1109472"/>
              </a:xfrm>
              <a:prstGeom prst="roundRect">
                <a:avLst>
                  <a:gd name="adj" fmla="val 8000"/>
                </a:avLst>
              </a:prstGeom>
              <a:solidFill>
                <a:srgbClr val="FDE68A"/>
              </a:solidFill>
              <a:ln w="31750">
                <a:solidFill>
                  <a:srgbClr val="D97706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78350F"/>
              </a:fontRef>
            </p:style>
            <p:txBody>
              <a:bodyPr rtlCol="0" anchor="ctr" wrap="square" lIns="228600" rIns="228600" tIns="54864" bIns="73152"/>
              <a:lstStyle>
                <a:lvl1pPr>
                  <a:defRPr sz="2400">
                    <a:solidFill>
                      <a:srgbClr val="78350F"/>
                    </a:solidFill>
                  </a:defRPr>
                </a:lvl1pPr>
              </a:lstStyle>
              <a:p>
                <a:pPr algn="l">
                  <a:defRPr sz="2400">
                    <a:solidFill>
                      <a:srgbClr val="78350F"/>
                    </a:solidFill>
                  </a:defRPr>
                </a:pPr>
                <a:r>
                  <a:rPr sz="2400" b="1">
                    <a:solidFill>
                      <a:srgbClr val="78350F"/>
                    </a:solidFill>
                    <a:latin typeface="Arial"/>
                  </a:rPr>
                  <a:t>Idea:  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Eliminate options with test values of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λ</m:t>
                    </m:r>
                  </m:oMath>
                </a14:m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 and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𝑥</m:t>
                    </m:r>
                  </m:oMath>
                </a14:m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 instead of simplifying.</a:t>
                </a:r>
                <a:endParaRPr sz="2400">
                  <a:solidFill>
                    <a:srgbClr val="78350F"/>
                  </a:solidFill>
                </a:endParaRPr>
              </a:p>
            </p:txBody>
          </p:sp>
        </mc:Choice>
        <mc:Fallback>
          <p:sp>
            <p:nvSpPr>
              <p:cNvPr id="5" name="Rounded Rectangle 4"/>
              <p:cNvSpPr/>
              <p:nvPr/>
            </p:nvSpPr>
            <p:spPr>
              <a:xfrm>
                <a:off x="731520" y="1280160"/>
                <a:ext cx="10725912" cy="1109472"/>
              </a:xfrm>
              <a:prstGeom prst="roundRect">
                <a:avLst>
                  <a:gd name="adj" fmla="val 8000"/>
                </a:avLst>
              </a:prstGeom>
              <a:solidFill>
                <a:srgbClr val="FDE68A"/>
              </a:solidFill>
              <a:ln w="31750">
                <a:solidFill>
                  <a:srgbClr val="D97706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78350F"/>
              </a:fontRef>
            </p:style>
            <p:txBody>
              <a:bodyPr rtlCol="0" anchor="ctr" wrap="square" lIns="228600" rIns="228600" tIns="54864" bIns="73152"/>
              <a:lstStyle>
                <a:lvl1pPr>
                  <a:defRPr sz="2400">
                    <a:solidFill>
                      <a:srgbClr val="78350F"/>
                    </a:solidFill>
                  </a:defRPr>
                </a:lvl1pPr>
              </a:lstStyle>
              <a:p>
                <a:pPr algn="l">
                  <a:defRPr sz="2400">
                    <a:solidFill>
                      <a:srgbClr val="78350F"/>
                    </a:solidFill>
                  </a:defRPr>
                </a:pPr>
                <a:r>
                  <a:rPr sz="2400" b="1">
                    <a:solidFill>
                      <a:srgbClr val="78350F"/>
                    </a:solidFill>
                    <a:latin typeface="Arial"/>
                  </a:rPr>
                  <a:t>Idea:  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Eliminate options with test values of </a:t>
                </a:r>
                <a:r>
                  <a:rPr lang="en-IN" sz="2400">
                    <a:solidFill>
                      <a:srgbClr val="78350F"/>
                    </a:solidFill>
                    <a:latin typeface="Cambria Math" panose="02040503050406030204" pitchFamily="18" charset="0"/>
                  </a:rPr>
                  <a:t>$\lambda$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 and </a:t>
                </a:r>
                <a:r>
                  <a:rPr lang="en-IN" sz="2400">
                    <a:solidFill>
                      <a:srgbClr val="78350F"/>
                    </a:solidFill>
                    <a:latin typeface="Cambria Math" panose="02040503050406030204" pitchFamily="18" charset="0"/>
                  </a:rPr>
                  <a:t>$x$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 instead of simplifying.</a:t>
                </a:r>
                <a:endParaRPr sz="2400">
                  <a:solidFill>
                    <a:srgbClr val="78350F"/>
                  </a:solidFill>
                </a:endParaRP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6" name="Rectangle 5"/>
              <p:cNvSpPr/>
              <p:nvPr/>
            </p:nvSpPr>
            <p:spPr>
              <a:xfrm>
                <a:off x="731520" y="2526792"/>
                <a:ext cx="10725912" cy="4148328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Directly, </a:t>
                </a:r>
                <a14:m>
                  <m:oMath xmlns:m="http://schemas.openxmlformats.org/officeDocument/2006/math"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𝑔</m:t>
                        </m:r>
                      </m:e>
                      <m:sup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′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λ</m:t>
                    </m:r>
                    <m:sSup>
                      <m:e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sec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λ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cos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Take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λ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0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: </a:t>
                </a:r>
                <a14:m>
                  <m:oMath xmlns:m="http://schemas.openxmlformats.org/officeDocument/2006/math"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𝑔</m:t>
                        </m:r>
                      </m:e>
                      <m:sup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′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cos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cos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 Option (C) gives </a:t>
                </a:r>
                <a14:m>
                  <m:oMath xmlns:m="http://schemas.openxmlformats.org/officeDocument/2006/math"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(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−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cos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)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(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−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𝑓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)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𝑓</m:t>
                        </m:r>
                      </m:den>
                    </m:f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cos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✓.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Choice>
        <mc:Fallback>
          <p:sp>
            <p:nvSpPr>
              <p:cNvPr id="6" name="Rectangle 5"/>
              <p:cNvSpPr/>
              <p:nvPr/>
            </p:nvSpPr>
            <p:spPr>
              <a:xfrm>
                <a:off x="731520" y="2526792"/>
                <a:ext cx="10725912" cy="4148328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Directly,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$g'(x)=\lambda\sec^2x+(1-\lambda)\cos x-1$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Take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$\lambda=0$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: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$g'(x)=\cos x-1=-(1-\cos x)$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 Option (C) gives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$\frac{(1-\cos x)(-f)}{f}=-(1-\cos x)$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✓.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Fallback>
      </mc:AlternateContent>
    </p:spTree>
  </p:cSld>
  <p:clrMapOvr>
    <a:masterClrMapping/>
  </p:clrMapOvr>
</p:sld>
</file>

<file path=ppt/slides/slide15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FFFFFF"/>
          </a:fontRef>
        </p:style>
        <p:txBody>
          <a:bodyPr rtlCol="0" anchor="ctr" lIns="731520"/>
          <a:lstStyle>
            <a:lvl1pPr>
              <a:defRPr sz="3200">
                <a:solidFill>
                  <a:srgbClr val="FFFFFF"/>
                </a:solidFill>
              </a:defRPr>
            </a:lvl1pPr>
          </a:lstStyle>
          <a:p>
            <a:pPr algn="l">
              <a:defRPr sz="3200">
                <a:solidFill>
                  <a:srgbClr val="FFFFFF"/>
                </a:solidFill>
              </a:defRPr>
            </a:pPr>
            <a:r>
              <a:rPr sz="3200" b="1">
                <a:solidFill>
                  <a:srgbClr val="FFFFFF"/>
                </a:solidFill>
                <a:latin typeface="Arial"/>
              </a:rPr>
              <a:t>Question 24</a:t>
            </a:r>
            <a:endParaRPr sz="3200">
              <a:solidFill>
                <a:srgbClr val="FFFFFF"/>
              </a:solidFill>
            </a:endParaRPr>
          </a:p>
        </p:txBody>
      </p:sp>
      <p:sp>
        <p:nvSpPr>
          <p:cNvPr id="3" name="Rounded Rectangle 2"/>
          <p:cNvSpPr/>
          <p:nvPr/>
        </p:nvSpPr>
        <p:spPr>
          <a:xfrm>
            <a:off x="7894015" y="246887"/>
            <a:ext cx="3840480" cy="603504"/>
          </a:xfrm>
          <a:prstGeom prst="roundRect">
            <a:avLst>
              <a:gd name="adj" fmla="val 50000"/>
            </a:avLst>
          </a:prstGeom>
          <a:solidFill>
            <a:srgbClr val="FFD966"/>
          </a:solidFill>
          <a:ln w="1905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111827"/>
          </a:fontRef>
        </p:style>
        <p:txBody>
          <a:bodyPr rtlCol="0" anchor="ctr" wrap="square" lIns="228600" rIns="228600" tIns="18288" bIns="18288"/>
          <a:lstStyle>
            <a:lvl1pPr>
              <a:defRPr sz="2400">
                <a:solidFill>
                  <a:srgbClr val="111827"/>
                </a:solidFill>
              </a:defRPr>
            </a:lvl1pPr>
          </a:lstStyle>
          <a:p>
            <a:pPr algn="ctr">
              <a:defRPr sz="2400">
                <a:solidFill>
                  <a:srgbClr val="111827"/>
                </a:solidFill>
              </a:defRPr>
            </a:pPr>
            <a:r>
              <a:rPr sz="2400" b="1">
                <a:solidFill>
                  <a:srgbClr val="111827"/>
                </a:solidFill>
                <a:latin typeface="Arial"/>
              </a:rPr>
              <a:t>Level 2  ·  3 Marks</a:t>
            </a:r>
            <a:endParaRPr sz="2400">
              <a:solidFill>
                <a:srgbClr val="111827"/>
              </a:solidFill>
            </a:endParaRPr>
          </a:p>
        </p:txBody>
      </p:sp>
      <p:sp>
        <p:nvSpPr>
          <p:cNvPr id="4" name="Rounded Rectangle 3"/>
          <p:cNvSpPr/>
          <p:nvPr/>
        </p:nvSpPr>
        <p:spPr>
          <a:xfrm>
            <a:off x="3520440" y="265176"/>
            <a:ext cx="4206240" cy="566928"/>
          </a:xfrm>
          <a:prstGeom prst="roundRect">
            <a:avLst>
              <a:gd name="adj" fmla="val 50000"/>
            </a:avLst>
          </a:prstGeom>
          <a:solidFill>
            <a:srgbClr val="FDE68A"/>
          </a:solidFill>
          <a:ln w="25400">
            <a:solidFill>
              <a:srgbClr val="D9770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78350F"/>
          </a:fontRef>
        </p:style>
        <p:txBody>
          <a:bodyPr rtlCol="0" anchor="ctr" wrap="square" lIns="228600" rIns="228600" tIns="18288" bIns="18288"/>
          <a:lstStyle>
            <a:lvl1pPr>
              <a:defRPr sz="2200">
                <a:solidFill>
                  <a:srgbClr val="78350F"/>
                </a:solidFill>
              </a:defRPr>
            </a:lvl1pPr>
          </a:lstStyle>
          <a:p>
            <a:pPr algn="ctr">
              <a:defRPr sz="2200">
                <a:solidFill>
                  <a:srgbClr val="78350F"/>
                </a:solidFill>
              </a:defRPr>
            </a:pPr>
            <a:r>
              <a:rPr sz="2200" b="1">
                <a:solidFill>
                  <a:srgbClr val="78350F"/>
                </a:solidFill>
                <a:latin typeface="Arial"/>
              </a:rPr>
              <a:t>Alternate Solution</a:t>
            </a:r>
            <a:endParaRPr sz="2200">
              <a:solidFill>
                <a:srgbClr val="78350F"/>
              </a:solidFill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5" name="Rectangle 4"/>
              <p:cNvSpPr/>
              <p:nvPr/>
            </p:nvSpPr>
            <p:spPr>
              <a:xfrm>
                <a:off x="731520" y="1353312"/>
                <a:ext cx="10725912" cy="4434840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Options (A), (B), (D) at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λ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0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give </a:t>
                </a:r>
                <a14:m>
                  <m:oMath xmlns:m="http://schemas.openxmlformats.org/officeDocument/2006/math"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(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−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cos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)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𝑓</m:t>
                        </m:r>
                      </m:num>
                      <m:den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cos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</m:den>
                    </m:f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(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−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cos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)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𝑓</m:t>
                        </m:r>
                      </m:num>
                      <m:den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cos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</m:den>
                    </m:f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and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−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cos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𝑓</m:t>
                        </m:r>
                      </m:den>
                    </m:f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none equal to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cos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: (A) has the wrong sign, (B) would need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𝑓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cos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i.e.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𝑐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𝑐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𝑐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with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𝑐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cos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which has no real root and (D) would need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𝑓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(but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𝑓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≤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3</m:t>
                        </m:r>
                      </m:den>
                    </m:f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).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Check (C) at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λ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π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3</m:t>
                        </m:r>
                      </m:den>
                    </m:f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: </a:t>
                </a:r>
                <a14:m>
                  <m:oMath xmlns:m="http://schemas.openxmlformats.org/officeDocument/2006/math"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𝑔</m:t>
                        </m:r>
                      </m:e>
                      <m:sup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′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sSup>
                      <m:e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sec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3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;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cos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den>
                    </m:f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𝑓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/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4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+</m:t>
                        </m:r>
                        <m:f>
                          <m:fPr>
                            <m:type m:val="bar"/>
                            <m:ctrlP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fPr>
                          <m:num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1</m:t>
                            </m:r>
                          </m:num>
                          <m:den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2</m:t>
                            </m:r>
                          </m:den>
                        </m:f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+</m:t>
                        </m:r>
                        <m:f>
                          <m:fPr>
                            <m:type m:val="bar"/>
                            <m:ctrlP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fPr>
                          <m:num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1</m:t>
                            </m:r>
                          </m:num>
                          <m:den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4</m:t>
                            </m:r>
                          </m:den>
                        </m:f>
                      </m:den>
                    </m:f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7</m:t>
                        </m:r>
                      </m:den>
                    </m:f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; </a:t>
                </a:r>
                <a14:m>
                  <m:oMath xmlns:m="http://schemas.openxmlformats.org/officeDocument/2006/math"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f>
                          <m:fPr>
                            <m:type m:val="bar"/>
                            <m:ctrlP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fPr>
                          <m:num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1</m:t>
                            </m:r>
                          </m:num>
                          <m:den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2</m:t>
                            </m:r>
                          </m:den>
                        </m:f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⋅</m:t>
                        </m:r>
                        <m:f>
                          <m:fPr>
                            <m:type m:val="bar"/>
                            <m:ctrlP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fPr>
                          <m:num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6</m:t>
                            </m:r>
                          </m:num>
                          <m:den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7</m:t>
                            </m:r>
                          </m:den>
                        </m:f>
                      </m:num>
                      <m:den>
                        <m:f>
                          <m:fPr>
                            <m:type m:val="bar"/>
                            <m:ctrlP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fPr>
                          <m:num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1</m:t>
                            </m:r>
                          </m:num>
                          <m:den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7</m:t>
                            </m:r>
                          </m:den>
                        </m:f>
                      </m:den>
                    </m:f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3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✓.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Choice>
        <mc:Fallback>
          <p:sp>
            <p:nvSpPr>
              <p:cNvPr id="5" name="Rectangle 4"/>
              <p:cNvSpPr/>
              <p:nvPr/>
            </p:nvSpPr>
            <p:spPr>
              <a:xfrm>
                <a:off x="731520" y="1353312"/>
                <a:ext cx="10725912" cy="4434840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Options (A), (B), (D) at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$\lambda=0$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give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$\frac{(1-\cos x)f}{\cos x}$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$-\frac{(1-\cos x)f}{\cos x}$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and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$-\frac{1-\cos x}{f}$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none equal to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$-(1-\cos x)$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: (A) has the wrong sign, (B) would need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$f=\cos x$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i.e.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$c=1+c+c^2$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with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$c=\cos x$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which has no real root and (D) would need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$f=1$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(but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$f\le\frac13$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).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Check (C) at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$\lambda=1$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$x=\frac\pi3$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: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$g'=\sec^2x-1=3$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;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$\cos x=\frac12$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$f=\frac{1/4}{1+\frac12+\frac14}=\frac17$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;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$\frac{\frac12\cdot\frac67}{\frac17}=3$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✓.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6" name="Rounded Rectangle 5"/>
              <p:cNvSpPr/>
              <p:nvPr/>
            </p:nvSpPr>
            <p:spPr>
              <a:xfrm>
                <a:off x="731520" y="5897880"/>
                <a:ext cx="10725912" cy="777240"/>
              </a:xfrm>
              <a:prstGeom prst="roundRect">
                <a:avLst>
                  <a:gd name="adj" fmla="val 8000"/>
                </a:avLst>
              </a:prstGeom>
              <a:solidFill>
                <a:srgbClr val="DCFCE7"/>
              </a:solidFill>
              <a:ln w="25400">
                <a:solidFill>
                  <a:srgbClr val="15803D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5803D"/>
              </a:fontRef>
            </p:style>
            <p:txBody>
              <a:bodyPr rtlCol="0" anchor="ctr" wrap="square" lIns="228600" rIns="228600" tIns="18288" bIns="73152"/>
              <a:lstStyle>
                <a:lvl1pPr>
                  <a:defRPr sz="2800">
                    <a:solidFill>
                      <a:srgbClr val="15803D"/>
                    </a:solidFill>
                  </a:defRPr>
                </a:lvl1pPr>
              </a:lstStyle>
              <a:p>
                <a:pPr algn="ctr">
                  <a:defRPr sz="2800">
                    <a:solidFill>
                      <a:srgbClr val="15803D"/>
                    </a:solidFill>
                  </a:defRPr>
                </a:pPr>
                <a:r>
                  <a:rPr sz="2800" b="1">
                    <a:solidFill>
                      <a:srgbClr val="15803D"/>
                    </a:solidFill>
                    <a:latin typeface="Arial"/>
                  </a:rPr>
                  <a:t>Same answer: (C) </a:t>
                </a:r>
                <a14:m>
                  <m:oMath xmlns:m="http://schemas.openxmlformats.org/officeDocument/2006/math">
                    <m:f>
                      <m:fPr>
                        <m:type m:val="bar"/>
                        <m:ctrlPr>
                          <a:rPr lang="en-IN" sz="2800" i="1">
                            <a:solidFill>
                              <a:srgbClr val="15803D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m:rPr>
                            <m:sty m:val="p"/>
                          </m:rPr>
                          <a:rPr lang="en-IN" sz="2800">
                            <a:solidFill>
                              <a:srgbClr val="15803D"/>
                            </a:solidFill>
                            <a:latin typeface="Cambria Math" panose="02040503050406030204" pitchFamily="18" charset="0"/>
                          </a:rPr>
                          <m:t>(</m:t>
                        </m:r>
                        <m:r>
                          <a:rPr lang="en-IN" sz="2800" i="1">
                            <a:solidFill>
                              <a:srgbClr val="15803D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  <m:r>
                          <m:rPr>
                            <m:sty m:val="p"/>
                          </m:rPr>
                          <a:rPr lang="en-IN" sz="2800">
                            <a:solidFill>
                              <a:srgbClr val="15803D"/>
                            </a:solidFill>
                            <a:latin typeface="Cambria Math" panose="02040503050406030204" pitchFamily="18" charset="0"/>
                          </a:rPr>
                          <m:t>−</m:t>
                        </m:r>
                        <m:r>
                          <m:rPr>
                            <m:sty m:val="p"/>
                          </m:rPr>
                          <a:rPr lang="en-IN" sz="2800">
                            <a:solidFill>
                              <a:srgbClr val="15803D"/>
                            </a:solidFill>
                            <a:latin typeface="Cambria Math" panose="02040503050406030204" pitchFamily="18" charset="0"/>
                          </a:rPr>
                          <m:t>cos</m:t>
                        </m:r>
                        <m:r>
                          <a:rPr lang="en-IN" sz="2800" i="1">
                            <a:solidFill>
                              <a:srgbClr val="15803D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  <m:r>
                          <m:rPr>
                            <m:sty m:val="p"/>
                          </m:rPr>
                          <a:rPr lang="en-IN" sz="2800">
                            <a:solidFill>
                              <a:srgbClr val="15803D"/>
                            </a:solidFill>
                            <a:latin typeface="Cambria Math" panose="02040503050406030204" pitchFamily="18" charset="0"/>
                          </a:rPr>
                          <m:t>)</m:t>
                        </m:r>
                        <m:d>
                          <m:dPr>
                            <m:begChr m:val="("/>
                            <m:sepChr m:val=""/>
                            <m:endChr m:val=")"/>
                            <m:grow/>
                            <m:ctrlPr>
                              <a:rPr lang="en-IN" sz="2800" i="1">
                                <a:solidFill>
                                  <a:srgbClr val="15803D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r>
                              <a:rPr lang="en-IN" sz="2800" i="1">
                                <a:solidFill>
                                  <a:srgbClr val="15803D"/>
                                </a:solidFill>
                                <a:latin typeface="Cambria Math" panose="02040503050406030204" pitchFamily="18" charset="0"/>
                              </a:rPr>
                              <m:t>λ</m:t>
                            </m:r>
                            <m:r>
                              <m:rPr>
                                <m:sty m:val="p"/>
                              </m:rPr>
                              <a:rPr lang="en-IN" sz="2800">
                                <a:solidFill>
                                  <a:srgbClr val="15803D"/>
                                </a:solidFill>
                                <a:latin typeface="Cambria Math" panose="02040503050406030204" pitchFamily="18" charset="0"/>
                              </a:rPr>
                              <m:t>−</m:t>
                            </m:r>
                            <m:r>
                              <a:rPr lang="en-IN" sz="2800" i="1">
                                <a:solidFill>
                                  <a:srgbClr val="15803D"/>
                                </a:solidFill>
                                <a:latin typeface="Cambria Math" panose="02040503050406030204" pitchFamily="18" charset="0"/>
                              </a:rPr>
                              <m:t>𝑓</m:t>
                            </m:r>
                            <m:r>
                              <m:rPr>
                                <m:sty m:val="p"/>
                              </m:rPr>
                              <a:rPr lang="en-IN" sz="2800">
                                <a:solidFill>
                                  <a:srgbClr val="15803D"/>
                                </a:solidFill>
                                <a:latin typeface="Cambria Math" panose="02040503050406030204" pitchFamily="18" charset="0"/>
                              </a:rPr>
                              <m:t>(</m:t>
                            </m:r>
                            <m:r>
                              <a:rPr lang="en-IN" sz="2800" i="1">
                                <a:solidFill>
                                  <a:srgbClr val="15803D"/>
                                </a:solidFill>
                                <a:latin typeface="Cambria Math" panose="02040503050406030204" pitchFamily="18" charset="0"/>
                              </a:rPr>
                              <m:t>𝑥</m:t>
                            </m:r>
                            <m:r>
                              <m:rPr>
                                <m:sty m:val="p"/>
                              </m:rPr>
                              <a:rPr lang="en-IN" sz="2800">
                                <a:solidFill>
                                  <a:srgbClr val="15803D"/>
                                </a:solidFill>
                                <a:latin typeface="Cambria Math" panose="02040503050406030204" pitchFamily="18" charset="0"/>
                              </a:rPr>
                              <m:t>)</m:t>
                            </m:r>
                          </m:e>
                        </m:d>
                      </m:num>
                      <m:den>
                        <m:r>
                          <a:rPr lang="en-IN" sz="2800" i="1">
                            <a:solidFill>
                              <a:srgbClr val="15803D"/>
                            </a:solidFill>
                            <a:latin typeface="Cambria Math" panose="02040503050406030204" pitchFamily="18" charset="0"/>
                          </a:rPr>
                          <m:t>𝑓</m:t>
                        </m:r>
                        <m:r>
                          <m:rPr>
                            <m:sty m:val="p"/>
                          </m:rPr>
                          <a:rPr lang="en-IN" sz="2800">
                            <a:solidFill>
                              <a:srgbClr val="15803D"/>
                            </a:solidFill>
                            <a:latin typeface="Cambria Math" panose="02040503050406030204" pitchFamily="18" charset="0"/>
                          </a:rPr>
                          <m:t>(</m:t>
                        </m:r>
                        <m:r>
                          <a:rPr lang="en-IN" sz="2800" i="1">
                            <a:solidFill>
                              <a:srgbClr val="15803D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  <m:r>
                          <m:rPr>
                            <m:sty m:val="p"/>
                          </m:rPr>
                          <a:rPr lang="en-IN" sz="2800">
                            <a:solidFill>
                              <a:srgbClr val="15803D"/>
                            </a:solidFill>
                            <a:latin typeface="Cambria Math" panose="02040503050406030204" pitchFamily="18" charset="0"/>
                          </a:rPr>
                          <m:t>)</m:t>
                        </m:r>
                      </m:den>
                    </m:f>
                  </m:oMath>
                </a14:m>
                <a:endParaRPr sz="2800">
                  <a:solidFill>
                    <a:srgbClr val="15803D"/>
                  </a:solidFill>
                </a:endParaRPr>
              </a:p>
            </p:txBody>
          </p:sp>
        </mc:Choice>
        <mc:Fallback>
          <p:sp>
            <p:nvSpPr>
              <p:cNvPr id="6" name="Rounded Rectangle 5"/>
              <p:cNvSpPr/>
              <p:nvPr/>
            </p:nvSpPr>
            <p:spPr>
              <a:xfrm>
                <a:off x="731520" y="5897880"/>
                <a:ext cx="10725912" cy="777240"/>
              </a:xfrm>
              <a:prstGeom prst="roundRect">
                <a:avLst>
                  <a:gd name="adj" fmla="val 8000"/>
                </a:avLst>
              </a:prstGeom>
              <a:solidFill>
                <a:srgbClr val="DCFCE7"/>
              </a:solidFill>
              <a:ln w="25400">
                <a:solidFill>
                  <a:srgbClr val="15803D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5803D"/>
              </a:fontRef>
            </p:style>
            <p:txBody>
              <a:bodyPr rtlCol="0" anchor="ctr" wrap="square" lIns="228600" rIns="228600" tIns="18288" bIns="73152"/>
              <a:lstStyle>
                <a:lvl1pPr>
                  <a:defRPr sz="2800">
                    <a:solidFill>
                      <a:srgbClr val="15803D"/>
                    </a:solidFill>
                  </a:defRPr>
                </a:lvl1pPr>
              </a:lstStyle>
              <a:p>
                <a:pPr algn="ctr">
                  <a:defRPr sz="2800">
                    <a:solidFill>
                      <a:srgbClr val="15803D"/>
                    </a:solidFill>
                  </a:defRPr>
                </a:pPr>
                <a:r>
                  <a:rPr sz="2800" b="1">
                    <a:solidFill>
                      <a:srgbClr val="15803D"/>
                    </a:solidFill>
                    <a:latin typeface="Arial"/>
                  </a:rPr>
                  <a:t>Same answer: (C) </a:t>
                </a:r>
                <a:r>
                  <a:rPr lang="en-IN" sz="2800">
                    <a:solidFill>
                      <a:srgbClr val="15803D"/>
                    </a:solidFill>
                    <a:latin typeface="Cambria Math" panose="02040503050406030204" pitchFamily="18" charset="0"/>
                  </a:rPr>
                  <a:t>$\frac{(1-\cos x)\left(\lambda-f(x)\right)}{f(x)}$</a:t>
                </a:r>
                <a:endParaRPr sz="2800">
                  <a:solidFill>
                    <a:srgbClr val="15803D"/>
                  </a:solidFill>
                </a:endParaRPr>
              </a:p>
            </p:txBody>
          </p:sp>
        </mc:Fallback>
      </mc:AlternateContent>
    </p:spTree>
  </p:cSld>
  <p:clrMapOvr>
    <a:masterClrMapping/>
  </p:clrMapOvr>
</p:sld>
</file>

<file path=ppt/slides/slide15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FFFFFF"/>
          </a:fontRef>
        </p:style>
        <p:txBody>
          <a:bodyPr rtlCol="0" anchor="ctr" lIns="731520"/>
          <a:lstStyle>
            <a:lvl1pPr>
              <a:defRPr sz="3200">
                <a:solidFill>
                  <a:srgbClr val="FFFFFF"/>
                </a:solidFill>
              </a:defRPr>
            </a:lvl1pPr>
          </a:lstStyle>
          <a:p>
            <a:pPr algn="l">
              <a:defRPr sz="3200">
                <a:solidFill>
                  <a:srgbClr val="FFFFFF"/>
                </a:solidFill>
              </a:defRPr>
            </a:pPr>
            <a:r>
              <a:rPr sz="3200" b="1">
                <a:solidFill>
                  <a:srgbClr val="FFFFFF"/>
                </a:solidFill>
                <a:latin typeface="Arial"/>
              </a:rPr>
              <a:t>Question 24</a:t>
            </a:r>
            <a:endParaRPr sz="3200">
              <a:solidFill>
                <a:srgbClr val="FFFFFF"/>
              </a:solidFill>
            </a:endParaRPr>
          </a:p>
        </p:txBody>
      </p:sp>
      <p:sp>
        <p:nvSpPr>
          <p:cNvPr id="3" name="Rounded Rectangle 2"/>
          <p:cNvSpPr/>
          <p:nvPr/>
        </p:nvSpPr>
        <p:spPr>
          <a:xfrm>
            <a:off x="7894015" y="246887"/>
            <a:ext cx="3840480" cy="603504"/>
          </a:xfrm>
          <a:prstGeom prst="roundRect">
            <a:avLst>
              <a:gd name="adj" fmla="val 50000"/>
            </a:avLst>
          </a:prstGeom>
          <a:solidFill>
            <a:srgbClr val="FFD966"/>
          </a:solidFill>
          <a:ln w="1905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111827"/>
          </a:fontRef>
        </p:style>
        <p:txBody>
          <a:bodyPr rtlCol="0" anchor="ctr" wrap="square" lIns="228600" rIns="228600" tIns="18288" bIns="18288"/>
          <a:lstStyle>
            <a:lvl1pPr>
              <a:defRPr sz="2400">
                <a:solidFill>
                  <a:srgbClr val="111827"/>
                </a:solidFill>
              </a:defRPr>
            </a:lvl1pPr>
          </a:lstStyle>
          <a:p>
            <a:pPr algn="ctr">
              <a:defRPr sz="2400">
                <a:solidFill>
                  <a:srgbClr val="111827"/>
                </a:solidFill>
              </a:defRPr>
            </a:pPr>
            <a:r>
              <a:rPr sz="2400" b="1">
                <a:solidFill>
                  <a:srgbClr val="111827"/>
                </a:solidFill>
                <a:latin typeface="Arial"/>
              </a:rPr>
              <a:t>Level 2  ·  3 Marks</a:t>
            </a:r>
            <a:endParaRPr sz="2400">
              <a:solidFill>
                <a:srgbClr val="111827"/>
              </a:solidFill>
            </a:endParaRPr>
          </a:p>
        </p:txBody>
      </p:sp>
      <p:sp>
        <p:nvSpPr>
          <p:cNvPr id="4" name="Rounded Rectangle 3"/>
          <p:cNvSpPr/>
          <p:nvPr/>
        </p:nvSpPr>
        <p:spPr>
          <a:xfrm>
            <a:off x="3520440" y="265176"/>
            <a:ext cx="4206240" cy="566928"/>
          </a:xfrm>
          <a:prstGeom prst="roundRect">
            <a:avLst>
              <a:gd name="adj" fmla="val 50000"/>
            </a:avLst>
          </a:prstGeom>
          <a:solidFill>
            <a:srgbClr val="E0ECFF"/>
          </a:solidFill>
          <a:ln w="25400">
            <a:solidFill>
              <a:srgbClr val="1D4ED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0B1F3A"/>
          </a:fontRef>
        </p:style>
        <p:txBody>
          <a:bodyPr rtlCol="0" anchor="ctr" wrap="square" lIns="228600" rIns="228600" tIns="18288" bIns="18288"/>
          <a:lstStyle>
            <a:lvl1pPr>
              <a:defRPr sz="2200">
                <a:solidFill>
                  <a:srgbClr val="0B1F3A"/>
                </a:solidFill>
              </a:defRPr>
            </a:lvl1pPr>
          </a:lstStyle>
          <a:p>
            <a:pPr algn="ctr">
              <a:defRPr sz="2200">
                <a:solidFill>
                  <a:srgbClr val="0B1F3A"/>
                </a:solidFill>
              </a:defRPr>
            </a:pPr>
            <a:r>
              <a:rPr sz="2200" b="1">
                <a:solidFill>
                  <a:srgbClr val="0B1F3A"/>
                </a:solidFill>
                <a:latin typeface="Arial"/>
              </a:rPr>
              <a:t>Useful Result / Pattern</a:t>
            </a:r>
            <a:endParaRPr sz="2200">
              <a:solidFill>
                <a:srgbClr val="0B1F3A"/>
              </a:solidFill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5" name="Rectangle 4"/>
              <p:cNvSpPr/>
              <p:nvPr/>
            </p:nvSpPr>
            <p:spPr>
              <a:xfrm>
                <a:off x="731520" y="1353312"/>
                <a:ext cx="10725912" cy="5321808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𝑡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3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𝑡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𝑡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𝑡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: </a:t>
                </a:r>
                <a14:m>
                  <m:oMath xmlns:m="http://schemas.openxmlformats.org/officeDocument/2006/math">
                    <m:sSup>
                      <m:e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sec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cos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−</m:t>
                        </m:r>
                        <m:sSup>
                          <m:e>
                            <m:r>
                              <m:rPr>
                                <m:sty m:val="p"/>
                              </m:rPr>
                              <a:rPr lang="en-IN" sz="2400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cos</m:t>
                            </m:r>
                          </m:e>
                          <m:sup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3</m:t>
                            </m:r>
                          </m:sup>
                        </m:s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</m:num>
                      <m:den>
                        <m:sSup>
                          <m:e>
                            <m:r>
                              <m:rPr>
                                <m:sty m:val="p"/>
                              </m:rPr>
                              <a:rPr lang="en-IN" sz="2400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cos</m:t>
                            </m:r>
                          </m:e>
                          <m:sup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2</m:t>
                            </m:r>
                          </m:sup>
                        </m:s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</m:den>
                    </m:f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(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−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cos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)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(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+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cos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+</m:t>
                        </m:r>
                        <m:sSup>
                          <m:e>
                            <m:r>
                              <m:rPr>
                                <m:sty m:val="p"/>
                              </m:rPr>
                              <a:rPr lang="en-IN" sz="2400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cos</m:t>
                            </m:r>
                          </m:e>
                          <m:sup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2</m:t>
                            </m:r>
                          </m:sup>
                        </m:s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)</m:t>
                        </m:r>
                      </m:num>
                      <m:den>
                        <m:sSup>
                          <m:e>
                            <m:r>
                              <m:rPr>
                                <m:sty m:val="p"/>
                              </m:rPr>
                              <a:rPr lang="en-IN" sz="2400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cos</m:t>
                            </m:r>
                          </m:e>
                          <m:sup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2</m:t>
                            </m:r>
                          </m:sup>
                        </m:s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</m:den>
                    </m:f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𝑔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λ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tan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λ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sin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is linear in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λ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: </a:t>
                </a:r>
                <a14:m>
                  <m:oMath xmlns:m="http://schemas.openxmlformats.org/officeDocument/2006/math"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𝑔</m:t>
                        </m:r>
                      </m:e>
                      <m:sup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′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λ</m:t>
                    </m:r>
                    <m:d>
                      <m:dPr>
                        <m:begChr m:val="("/>
                        <m:sepChr m:val=""/>
                        <m:endChr m:val=")"/>
                        <m:grow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sSup>
                          <m:e>
                            <m:r>
                              <m:rPr>
                                <m:sty m:val="p"/>
                              </m:rPr>
                              <a:rPr lang="en-IN" sz="2400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sec</m:t>
                            </m:r>
                          </m:e>
                          <m:sup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2</m:t>
                            </m:r>
                          </m:sup>
                        </m:s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−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cos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</m:d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cos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; the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λ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-coefficient </a:t>
                </a:r>
                <a14:m>
                  <m:oMath xmlns:m="http://schemas.openxmlformats.org/officeDocument/2006/math">
                    <m:sSup>
                      <m:e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sec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cos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≥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0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and the constant part is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cos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≤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0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Testing a single value of the parameter (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λ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0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) is a fast way to eliminate options.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Choice>
        <mc:Fallback>
          <p:sp>
            <p:nvSpPr>
              <p:cNvPr id="5" name="Rectangle 4"/>
              <p:cNvSpPr/>
              <p:nvPr/>
            </p:nvSpPr>
            <p:spPr>
              <a:xfrm>
                <a:off x="731520" y="1353312"/>
                <a:ext cx="10725912" cy="5321808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$1-t^3=(1-t)(1+t+t^2)$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: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$\sec^2x-\cos x=\frac{1-\cos^3x}{\cos^2x}=\frac{(1-\cos x)(1+\cos x+\cos^2x)}{\cos^2x}$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$g=\lambda\tan x+(1-\lambda)\sin x-x$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is linear in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$\lambda$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: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$g'=\lambda\left(\sec^2x-\cos x\right)+\cos x-1$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; the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$\lambda$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-coefficient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$\sec^2x-\cos x\ge0$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and the constant part is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$-(1-\cos x)\le0$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Testing a single value of the parameter (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$\lambda=0$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) is a fast way to eliminate options.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Fallback>
      </mc:AlternateContent>
    </p:spTree>
  </p:cSld>
  <p:clrMapOvr>
    <a:masterClrMapping/>
  </p:clrMapOvr>
</p:sld>
</file>

<file path=ppt/slides/slide15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FFFFFF"/>
          </a:fontRef>
        </p:style>
        <p:txBody>
          <a:bodyPr rtlCol="0" anchor="ctr" lIns="731520"/>
          <a:lstStyle>
            <a:lvl1pPr>
              <a:defRPr sz="3200">
                <a:solidFill>
                  <a:srgbClr val="FFFFFF"/>
                </a:solidFill>
              </a:defRPr>
            </a:lvl1pPr>
          </a:lstStyle>
          <a:p>
            <a:pPr algn="l">
              <a:defRPr sz="3200">
                <a:solidFill>
                  <a:srgbClr val="FFFFFF"/>
                </a:solidFill>
              </a:defRPr>
            </a:pPr>
            <a:r>
              <a:rPr sz="3200" b="1">
                <a:solidFill>
                  <a:srgbClr val="FFFFFF"/>
                </a:solidFill>
                <a:latin typeface="Arial"/>
              </a:rPr>
              <a:t>Question 25</a:t>
            </a:r>
            <a:endParaRPr sz="3200">
              <a:solidFill>
                <a:srgbClr val="FFFFFF"/>
              </a:solidFill>
            </a:endParaRPr>
          </a:p>
        </p:txBody>
      </p:sp>
      <p:sp>
        <p:nvSpPr>
          <p:cNvPr id="3" name="Rounded Rectangle 2"/>
          <p:cNvSpPr/>
          <p:nvPr/>
        </p:nvSpPr>
        <p:spPr>
          <a:xfrm>
            <a:off x="7894015" y="246887"/>
            <a:ext cx="3840480" cy="603504"/>
          </a:xfrm>
          <a:prstGeom prst="roundRect">
            <a:avLst>
              <a:gd name="adj" fmla="val 50000"/>
            </a:avLst>
          </a:prstGeom>
          <a:solidFill>
            <a:srgbClr val="FFD966"/>
          </a:solidFill>
          <a:ln w="1905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111827"/>
          </a:fontRef>
        </p:style>
        <p:txBody>
          <a:bodyPr rtlCol="0" anchor="ctr" wrap="square" lIns="228600" rIns="228600" tIns="18288" bIns="18288"/>
          <a:lstStyle>
            <a:lvl1pPr>
              <a:defRPr sz="2400">
                <a:solidFill>
                  <a:srgbClr val="111827"/>
                </a:solidFill>
              </a:defRPr>
            </a:lvl1pPr>
          </a:lstStyle>
          <a:p>
            <a:pPr algn="ctr">
              <a:defRPr sz="2400">
                <a:solidFill>
                  <a:srgbClr val="111827"/>
                </a:solidFill>
              </a:defRPr>
            </a:pPr>
            <a:r>
              <a:rPr sz="2400" b="1">
                <a:solidFill>
                  <a:srgbClr val="111827"/>
                </a:solidFill>
                <a:latin typeface="Arial"/>
              </a:rPr>
              <a:t>Level 2  ·  3 Marks</a:t>
            </a:r>
            <a:endParaRPr sz="2400">
              <a:solidFill>
                <a:srgbClr val="111827"/>
              </a:solidFill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4" name="Rounded Rectangle 3"/>
              <p:cNvSpPr/>
              <p:nvPr/>
            </p:nvSpPr>
            <p:spPr>
              <a:xfrm>
                <a:off x="731520" y="1280160"/>
                <a:ext cx="10725912" cy="2945891"/>
              </a:xfrm>
              <a:prstGeom prst="roundRect">
                <a:avLst>
                  <a:gd name="adj" fmla="val 8000"/>
                </a:avLst>
              </a:prstGeom>
              <a:solidFill>
                <a:srgbClr val="E0ECFF"/>
              </a:solidFill>
              <a:ln w="25400">
                <a:solidFill>
                  <a:srgbClr val="1D4ED8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>
                  <a:spcAft>
                    <a:spcPts val="500"/>
                  </a:spcAft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Let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𝑓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sSup>
                          <m:e>
                            <m:r>
                              <m:rPr>
                                <m:sty m:val="p"/>
                              </m:rPr>
                              <a:rPr lang="en-IN" sz="2400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cos</m:t>
                            </m:r>
                          </m:e>
                          <m:sup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2</m:t>
                            </m:r>
                          </m:sup>
                        </m:s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+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cos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+</m:t>
                        </m:r>
                        <m:sSup>
                          <m:e>
                            <m:r>
                              <m:rPr>
                                <m:sty m:val="p"/>
                              </m:rPr>
                              <a:rPr lang="en-IN" sz="2400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cos</m:t>
                            </m:r>
                          </m:e>
                          <m:sup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2</m:t>
                            </m:r>
                          </m:sup>
                        </m:s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</m:den>
                    </m:f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and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𝑔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λ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tan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λ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sin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where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λ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∈</m:t>
                    </m:r>
                    <m:r>
                      <m:rPr>
                        <m:scr m:val="double-struck"/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R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and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∈</m:t>
                    </m:r>
                    <m:d>
                      <m:dPr>
                        <m:begChr m:val="["/>
                        <m:sepChr m:val=""/>
                        <m:endChr m:val=")"/>
                        <m:grow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0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,</m:t>
                        </m:r>
                        <m:f>
                          <m:fPr>
                            <m:type m:val="bar"/>
                            <m:ctrlP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fPr>
                          <m:num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π</m:t>
                            </m:r>
                          </m:num>
                          <m:den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2</m:t>
                            </m:r>
                          </m:den>
                        </m:f>
                      </m:e>
                    </m:d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>
                  <a:spcAft>
                    <a:spcPts val="500"/>
                  </a:spcAft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(Paper Q24) The exhaustive set of values of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λ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such that </a:t>
                </a:r>
                <a14:m>
                  <m:oMath xmlns:m="http://schemas.openxmlformats.org/officeDocument/2006/math"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𝑔</m:t>
                        </m:r>
                      </m:e>
                      <m:sup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′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≥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0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for any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∈</m:t>
                    </m:r>
                    <m:d>
                      <m:dPr>
                        <m:begChr m:val="["/>
                        <m:sepChr m:val=""/>
                        <m:endChr m:val=")"/>
                        <m:grow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0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,</m:t>
                        </m:r>
                        <m:f>
                          <m:fPr>
                            <m:type m:val="bar"/>
                            <m:ctrlP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fPr>
                          <m:num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π</m:t>
                            </m:r>
                          </m:num>
                          <m:den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2</m:t>
                            </m:r>
                          </m:den>
                        </m:f>
                      </m:e>
                    </m:d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: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>
                  <a:spcAft>
                    <a:spcPts val="500"/>
                  </a:spcAft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(A)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[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,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∞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  (B)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[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0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,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∞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  (C) </a:t>
                </a:r>
                <a14:m>
                  <m:oMath xmlns:m="http://schemas.openxmlformats.org/officeDocument/2006/math">
                    <m:d>
                      <m:dPr>
                        <m:begChr m:val="["/>
                        <m:sepChr m:val=""/>
                        <m:endChr m:val=")"/>
                        <m:grow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f>
                          <m:fPr>
                            <m:type m:val="bar"/>
                            <m:ctrlP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fPr>
                          <m:num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1</m:t>
                            </m:r>
                          </m:num>
                          <m:den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2</m:t>
                            </m:r>
                          </m:den>
                        </m:f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,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∞</m:t>
                        </m:r>
                      </m:e>
                    </m:d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  (D) </a:t>
                </a:r>
                <a14:m>
                  <m:oMath xmlns:m="http://schemas.openxmlformats.org/officeDocument/2006/math">
                    <m:d>
                      <m:dPr>
                        <m:begChr m:val="["/>
                        <m:sepChr m:val=""/>
                        <m:endChr m:val=")"/>
                        <m:grow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f>
                          <m:fPr>
                            <m:type m:val="bar"/>
                            <m:ctrlP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fPr>
                          <m:num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1</m:t>
                            </m:r>
                          </m:num>
                          <m:den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3</m:t>
                            </m:r>
                          </m:den>
                        </m:f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,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∞</m:t>
                        </m:r>
                      </m:e>
                    </m:d>
                  </m:oMath>
                </a14:m>
                <a:endParaRPr sz="2400">
                  <a:solidFill>
                    <a:srgbClr val="111827"/>
                  </a:solidFill>
                </a:endParaRPr>
              </a:p>
            </p:txBody>
          </p:sp>
        </mc:Choice>
        <mc:Fallback>
          <p:sp>
            <p:nvSpPr>
              <p:cNvPr id="4" name="Rounded Rectangle 3"/>
              <p:cNvSpPr/>
              <p:nvPr/>
            </p:nvSpPr>
            <p:spPr>
              <a:xfrm>
                <a:off x="731520" y="1280160"/>
                <a:ext cx="10725912" cy="2945891"/>
              </a:xfrm>
              <a:prstGeom prst="roundRect">
                <a:avLst>
                  <a:gd name="adj" fmla="val 8000"/>
                </a:avLst>
              </a:prstGeom>
              <a:solidFill>
                <a:srgbClr val="E0ECFF"/>
              </a:solidFill>
              <a:ln w="25400">
                <a:solidFill>
                  <a:srgbClr val="1D4ED8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>
                  <a:spcAft>
                    <a:spcPts val="500"/>
                  </a:spcAft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Let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$f(x)=\frac{\cos^2x}{1+\cos x+\cos^2x}$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and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$g(x)=\lambda\tan x+(1-\lambda)\sin x-x$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where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$\lambda\in\mathbb R$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and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$x\in\left[0,\frac\pi2\right)$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>
                  <a:spcAft>
                    <a:spcPts val="500"/>
                  </a:spcAft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(Paper Q24) The exhaustive set of values of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$\lambda$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such that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$g'(x)\ge0$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for any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$x\in\left[0,\frac\pi2\right)$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: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>
                  <a:spcAft>
                    <a:spcPts val="500"/>
                  </a:spcAft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(A)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$[1,\infty)$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  (B)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$[0,\infty)$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  (C)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$\left[\frac12,\infty\right)$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  (D)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$\left[\frac13,\infty\right)$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Fallback>
      </mc:AlternateContent>
      <p:sp>
        <p:nvSpPr>
          <p:cNvPr id="5" name="Rectangle 4"/>
          <p:cNvSpPr/>
          <p:nvPr/>
        </p:nvSpPr>
        <p:spPr>
          <a:xfrm>
            <a:off x="731520" y="4454651"/>
            <a:ext cx="10725912" cy="2194560"/>
          </a:xfrm>
          <a:prstGeom prst="rect">
            <a:avLst/>
          </a:prstGeom>
          <a:solidFill>
            <a:srgbClr val="FFFFFF"/>
          </a:solidFill>
          <a:ln w="19050">
            <a:solidFill>
              <a:srgbClr val="6B728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111827"/>
          </a:fontRef>
        </p:style>
        <p:txBody>
          <a:bodyPr rtlCol="0" anchor="t" wrap="square" lIns="228600" rIns="228600" tIns="137160" bIns="73152"/>
          <a:lstStyle>
            <a:lvl1pPr>
              <a:defRPr sz="2400">
                <a:solidFill>
                  <a:srgbClr val="111827"/>
                </a:solidFill>
              </a:defRPr>
            </a:lvl1pPr>
          </a:lstStyle>
          <a:p>
            <a:pPr algn="l">
              <a:spcAft>
                <a:spcPts val="200"/>
              </a:spcAft>
              <a:defRPr sz="2400">
                <a:solidFill>
                  <a:srgbClr val="111827"/>
                </a:solidFill>
              </a:defRPr>
            </a:pPr>
            <a:r>
              <a:rPr sz="2400" b="0">
                <a:solidFill>
                  <a:srgbClr val="111827"/>
                </a:solidFill>
                <a:latin typeface="Arial"/>
              </a:rPr>
              <a:t>Paragraph Based Single Correct Type(3 Marks)</a:t>
            </a:r>
            <a:endParaRPr sz="2400">
              <a:solidFill>
                <a:srgbClr val="111827"/>
              </a:solidFill>
            </a:endParaRPr>
          </a:p>
          <a:p>
            <a:pPr algn="l">
              <a:spcAft>
                <a:spcPts val="200"/>
              </a:spcAft>
              <a:defRPr sz="2400">
                <a:solidFill>
                  <a:srgbClr val="111827"/>
                </a:solidFill>
              </a:defRPr>
            </a:pPr>
            <a:r>
              <a:rPr sz="2400" b="0">
                <a:solidFill>
                  <a:srgbClr val="111827"/>
                </a:solidFill>
                <a:latin typeface="Arial"/>
              </a:rPr>
              <a:t>Concept(s) : Monotonicity of functions, Range of rational trigonometric functions</a:t>
            </a:r>
            <a:endParaRPr sz="2400">
              <a:solidFill>
                <a:srgbClr val="111827"/>
              </a:solidFill>
            </a:endParaRPr>
          </a:p>
          <a:p>
            <a:pPr algn="l">
              <a:spcAft>
                <a:spcPts val="200"/>
              </a:spcAft>
              <a:defRPr sz="2400">
                <a:solidFill>
                  <a:srgbClr val="111827"/>
                </a:solidFill>
              </a:defRPr>
            </a:pPr>
            <a:r>
              <a:rPr sz="2400" b="0">
                <a:solidFill>
                  <a:srgbClr val="111827"/>
                </a:solidFill>
                <a:latin typeface="Arial"/>
              </a:rPr>
              <a:t>Difficulty Level: Level 2(A level below Average JEE Advanced Level)</a:t>
            </a:r>
            <a:endParaRPr sz="2400">
              <a:solidFill>
                <a:srgbClr val="111827"/>
              </a:solidFill>
            </a:endParaRPr>
          </a:p>
        </p:txBody>
      </p:sp>
    </p:spTree>
  </p:cSld>
  <p:clrMapOvr>
    <a:masterClrMapping/>
  </p:clrMapOvr>
</p:sld>
</file>

<file path=ppt/slides/slide15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FFFFFF"/>
          </a:fontRef>
        </p:style>
        <p:txBody>
          <a:bodyPr rtlCol="0" anchor="ctr" lIns="731520"/>
          <a:lstStyle>
            <a:lvl1pPr>
              <a:defRPr sz="3200">
                <a:solidFill>
                  <a:srgbClr val="FFFFFF"/>
                </a:solidFill>
              </a:defRPr>
            </a:lvl1pPr>
          </a:lstStyle>
          <a:p>
            <a:pPr algn="l">
              <a:defRPr sz="3200">
                <a:solidFill>
                  <a:srgbClr val="FFFFFF"/>
                </a:solidFill>
              </a:defRPr>
            </a:pPr>
            <a:r>
              <a:rPr sz="3200" b="1">
                <a:solidFill>
                  <a:srgbClr val="FFFFFF"/>
                </a:solidFill>
                <a:latin typeface="Arial"/>
              </a:rPr>
              <a:t>Question 25</a:t>
            </a:r>
            <a:endParaRPr sz="3200">
              <a:solidFill>
                <a:srgbClr val="FFFFFF"/>
              </a:solidFill>
            </a:endParaRPr>
          </a:p>
        </p:txBody>
      </p:sp>
      <p:sp>
        <p:nvSpPr>
          <p:cNvPr id="3" name="Rounded Rectangle 2"/>
          <p:cNvSpPr/>
          <p:nvPr/>
        </p:nvSpPr>
        <p:spPr>
          <a:xfrm>
            <a:off x="7894015" y="246887"/>
            <a:ext cx="3840480" cy="603504"/>
          </a:xfrm>
          <a:prstGeom prst="roundRect">
            <a:avLst>
              <a:gd name="adj" fmla="val 50000"/>
            </a:avLst>
          </a:prstGeom>
          <a:solidFill>
            <a:srgbClr val="FFD966"/>
          </a:solidFill>
          <a:ln w="1905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111827"/>
          </a:fontRef>
        </p:style>
        <p:txBody>
          <a:bodyPr rtlCol="0" anchor="ctr" wrap="square" lIns="228600" rIns="228600" tIns="18288" bIns="18288"/>
          <a:lstStyle>
            <a:lvl1pPr>
              <a:defRPr sz="2400">
                <a:solidFill>
                  <a:srgbClr val="111827"/>
                </a:solidFill>
              </a:defRPr>
            </a:lvl1pPr>
          </a:lstStyle>
          <a:p>
            <a:pPr algn="ctr">
              <a:defRPr sz="2400">
                <a:solidFill>
                  <a:srgbClr val="111827"/>
                </a:solidFill>
              </a:defRPr>
            </a:pPr>
            <a:r>
              <a:rPr sz="2400" b="1">
                <a:solidFill>
                  <a:srgbClr val="111827"/>
                </a:solidFill>
                <a:latin typeface="Arial"/>
              </a:rPr>
              <a:t>Level 2  ·  3 Marks</a:t>
            </a:r>
            <a:endParaRPr sz="2400">
              <a:solidFill>
                <a:srgbClr val="111827"/>
              </a:solidFill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4" name="Rounded Rectangle 3"/>
              <p:cNvSpPr/>
              <p:nvPr/>
            </p:nvSpPr>
            <p:spPr>
              <a:xfrm>
                <a:off x="731520" y="1280160"/>
                <a:ext cx="10725912" cy="1219200"/>
              </a:xfrm>
              <a:prstGeom prst="roundRect">
                <a:avLst>
                  <a:gd name="adj" fmla="val 8000"/>
                </a:avLst>
              </a:prstGeom>
              <a:solidFill>
                <a:srgbClr val="FDE68A"/>
              </a:solidFill>
              <a:ln w="31750">
                <a:solidFill>
                  <a:srgbClr val="D97706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78350F"/>
              </a:fontRef>
            </p:style>
            <p:txBody>
              <a:bodyPr rtlCol="0" anchor="ctr" wrap="square" lIns="228600" rIns="228600" tIns="54864" bIns="73152"/>
              <a:lstStyle>
                <a:lvl1pPr>
                  <a:defRPr sz="2400">
                    <a:solidFill>
                      <a:srgbClr val="78350F"/>
                    </a:solidFill>
                  </a:defRPr>
                </a:lvl1pPr>
              </a:lstStyle>
              <a:p>
                <a:pPr algn="l">
                  <a:defRPr sz="2400">
                    <a:solidFill>
                      <a:srgbClr val="78350F"/>
                    </a:solidFill>
                  </a:defRPr>
                </a:pPr>
                <a:r>
                  <a:rPr sz="2400" b="1">
                    <a:solidFill>
                      <a:srgbClr val="78350F"/>
                    </a:solidFill>
                    <a:latin typeface="Arial"/>
                  </a:rPr>
                  <a:t>Key idea:  </a:t>
                </a:r>
                <a14:m>
                  <m:oMath xmlns:m="http://schemas.openxmlformats.org/officeDocument/2006/math">
                    <m:sSup>
                      <m:e>
                        <m: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𝑔</m:t>
                        </m:r>
                      </m:e>
                      <m:sup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′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≥</m:t>
                    </m:r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0</m:t>
                    </m:r>
                  </m:oMath>
                </a14:m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 for all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𝑥</m:t>
                    </m:r>
                  </m:oMath>
                </a14:m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 iff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λ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≥</m:t>
                    </m:r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𝑓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 for all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𝑥</m:t>
                    </m:r>
                  </m:oMath>
                </a14:m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, i.e.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λ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max</m:t>
                    </m:r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𝑓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3</m:t>
                        </m:r>
                      </m:den>
                    </m:f>
                  </m:oMath>
                </a14:m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.</a:t>
                </a:r>
                <a:endParaRPr sz="2400">
                  <a:solidFill>
                    <a:srgbClr val="78350F"/>
                  </a:solidFill>
                </a:endParaRPr>
              </a:p>
            </p:txBody>
          </p:sp>
        </mc:Choice>
        <mc:Fallback>
          <p:sp>
            <p:nvSpPr>
              <p:cNvPr id="4" name="Rounded Rectangle 3"/>
              <p:cNvSpPr/>
              <p:nvPr/>
            </p:nvSpPr>
            <p:spPr>
              <a:xfrm>
                <a:off x="731520" y="1280160"/>
                <a:ext cx="10725912" cy="1219200"/>
              </a:xfrm>
              <a:prstGeom prst="roundRect">
                <a:avLst>
                  <a:gd name="adj" fmla="val 8000"/>
                </a:avLst>
              </a:prstGeom>
              <a:solidFill>
                <a:srgbClr val="FDE68A"/>
              </a:solidFill>
              <a:ln w="31750">
                <a:solidFill>
                  <a:srgbClr val="D97706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78350F"/>
              </a:fontRef>
            </p:style>
            <p:txBody>
              <a:bodyPr rtlCol="0" anchor="ctr" wrap="square" lIns="228600" rIns="228600" tIns="54864" bIns="73152"/>
              <a:lstStyle>
                <a:lvl1pPr>
                  <a:defRPr sz="2400">
                    <a:solidFill>
                      <a:srgbClr val="78350F"/>
                    </a:solidFill>
                  </a:defRPr>
                </a:lvl1pPr>
              </a:lstStyle>
              <a:p>
                <a:pPr algn="l">
                  <a:defRPr sz="2400">
                    <a:solidFill>
                      <a:srgbClr val="78350F"/>
                    </a:solidFill>
                  </a:defRPr>
                </a:pPr>
                <a:r>
                  <a:rPr sz="2400" b="1">
                    <a:solidFill>
                      <a:srgbClr val="78350F"/>
                    </a:solidFill>
                    <a:latin typeface="Arial"/>
                  </a:rPr>
                  <a:t>Key idea:  </a:t>
                </a:r>
                <a:r>
                  <a:rPr lang="en-IN" sz="2400">
                    <a:solidFill>
                      <a:srgbClr val="78350F"/>
                    </a:solidFill>
                    <a:latin typeface="Cambria Math" panose="02040503050406030204" pitchFamily="18" charset="0"/>
                  </a:rPr>
                  <a:t>$g'\ge0$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 for all </a:t>
                </a:r>
                <a:r>
                  <a:rPr lang="en-IN" sz="2400">
                    <a:solidFill>
                      <a:srgbClr val="78350F"/>
                    </a:solidFill>
                    <a:latin typeface="Cambria Math" panose="02040503050406030204" pitchFamily="18" charset="0"/>
                  </a:rPr>
                  <a:t>$x$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 iff </a:t>
                </a:r>
                <a:r>
                  <a:rPr lang="en-IN" sz="2400">
                    <a:solidFill>
                      <a:srgbClr val="78350F"/>
                    </a:solidFill>
                    <a:latin typeface="Cambria Math" panose="02040503050406030204" pitchFamily="18" charset="0"/>
                  </a:rPr>
                  <a:t>$\lambda\ge f(x)$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 for all </a:t>
                </a:r>
                <a:r>
                  <a:rPr lang="en-IN" sz="2400">
                    <a:solidFill>
                      <a:srgbClr val="78350F"/>
                    </a:solidFill>
                    <a:latin typeface="Cambria Math" panose="02040503050406030204" pitchFamily="18" charset="0"/>
                  </a:rPr>
                  <a:t>$x$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, i.e. </a:t>
                </a:r>
                <a:r>
                  <a:rPr lang="en-IN" sz="2400">
                    <a:solidFill>
                      <a:srgbClr val="78350F"/>
                    </a:solidFill>
                    <a:latin typeface="Cambria Math" panose="02040503050406030204" pitchFamily="18" charset="0"/>
                  </a:rPr>
                  <a:t>$\lambda\ge\max f=\frac13$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.</a:t>
                </a:r>
                <a:endParaRPr sz="2400">
                  <a:solidFill>
                    <a:srgbClr val="78350F"/>
                  </a:solidFill>
                </a:endParaRP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5" name="Rectangle 4"/>
              <p:cNvSpPr/>
              <p:nvPr/>
            </p:nvSpPr>
            <p:spPr>
              <a:xfrm>
                <a:off x="731520" y="2636520"/>
                <a:ext cx="10725912" cy="4038599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14:m>
                  <m:oMath xmlns:m="http://schemas.openxmlformats.org/officeDocument/2006/math"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𝑔</m:t>
                        </m:r>
                      </m:e>
                      <m:sup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′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(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−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cos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)</m:t>
                        </m:r>
                        <m:d>
                          <m:dPr>
                            <m:begChr m:val="("/>
                            <m:sepChr m:val=""/>
                            <m:endChr m:val=")"/>
                            <m:grow/>
                            <m:ctrlP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λ</m:t>
                            </m:r>
                            <m:r>
                              <m:rPr>
                                <m:sty m:val="p"/>
                              </m:rPr>
                              <a:rPr lang="en-IN" sz="2400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−</m:t>
                            </m:r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𝑓</m:t>
                            </m:r>
                            <m:r>
                              <m:rPr>
                                <m:sty m:val="p"/>
                              </m:rPr>
                              <a:rPr lang="en-IN" sz="2400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(</m:t>
                            </m:r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𝑥</m:t>
                            </m:r>
                            <m:r>
                              <m:rPr>
                                <m:sty m:val="p"/>
                              </m:rPr>
                              <a:rPr lang="en-IN" sz="2400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)</m:t>
                            </m:r>
                          </m:e>
                        </m:d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𝑓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(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)</m:t>
                        </m:r>
                      </m:den>
                    </m:f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≥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0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cos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&gt;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0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(for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≠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0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) and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𝑓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&gt;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0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so we need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λ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𝑓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≥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0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i.e.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λ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≥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𝑓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 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𝑓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sSup>
                          <m:e>
                            <m:r>
                              <m:rPr>
                                <m:sty m:val="p"/>
                              </m:rPr>
                              <a:rPr lang="en-IN" sz="2400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cos</m:t>
                            </m:r>
                          </m:e>
                          <m:sup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2</m:t>
                            </m:r>
                          </m:sup>
                        </m:s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+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cos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+</m:t>
                        </m:r>
                        <m:sSup>
                          <m:e>
                            <m:r>
                              <m:rPr>
                                <m:sty m:val="p"/>
                              </m:rPr>
                              <a:rPr lang="en-IN" sz="2400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cos</m:t>
                            </m:r>
                          </m:e>
                          <m:sup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2</m:t>
                            </m:r>
                          </m:sup>
                        </m:s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</m:den>
                    </m:f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num>
                      <m:den>
                        <m:sSup>
                          <m:e>
                            <m:r>
                              <m:rPr>
                                <m:sty m:val="p"/>
                              </m:rPr>
                              <a:rPr lang="en-IN" sz="2400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sec</m:t>
                            </m:r>
                          </m:e>
                          <m:sup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2</m:t>
                            </m:r>
                          </m:sup>
                        </m:s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+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sec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+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den>
                    </m:f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on </a:t>
                </a:r>
                <a14:m>
                  <m:oMath xmlns:m="http://schemas.openxmlformats.org/officeDocument/2006/math">
                    <m:d>
                      <m:dPr>
                        <m:begChr m:val="["/>
                        <m:sepChr m:val=""/>
                        <m:endChr m:val=")"/>
                        <m:grow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0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,</m:t>
                        </m:r>
                        <m:f>
                          <m:fPr>
                            <m:type m:val="bar"/>
                            <m:ctrlP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fPr>
                          <m:num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π</m:t>
                            </m:r>
                          </m:num>
                          <m:den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2</m:t>
                            </m:r>
                          </m:den>
                        </m:f>
                      </m:e>
                    </m:d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Choice>
        <mc:Fallback>
          <p:sp>
            <p:nvSpPr>
              <p:cNvPr id="5" name="Rectangle 4"/>
              <p:cNvSpPr/>
              <p:nvPr/>
            </p:nvSpPr>
            <p:spPr>
              <a:xfrm>
                <a:off x="731520" y="2636520"/>
                <a:ext cx="10725912" cy="4038599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$g'(x)=\frac{(1-\cos x)\left(\lambda-f(x)\right)}{f(x)}\ge0$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$1-\cos x&gt;0$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(for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$x\neq0$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) and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$f(x)&gt;0$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so we need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$\lambda-f(x)\ge0$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i.e.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$\lambda\ge f(x)$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$\quad(1)$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$f(x)=\frac{\cos^2x}{1+\cos x+\cos^2x}=\frac{1}{\sec^2x+\sec x+1}$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on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$\left[0,\frac\pi2\right)$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Fallback>
      </mc:AlternateContent>
    </p:spTree>
  </p:cSld>
  <p:clrMapOvr>
    <a:masterClrMapping/>
  </p:clrMapOvr>
</p:sld>
</file>

<file path=ppt/slides/slide15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FFFFFF"/>
          </a:fontRef>
        </p:style>
        <p:txBody>
          <a:bodyPr rtlCol="0" anchor="ctr" lIns="731520"/>
          <a:lstStyle>
            <a:lvl1pPr>
              <a:defRPr sz="3200">
                <a:solidFill>
                  <a:srgbClr val="FFFFFF"/>
                </a:solidFill>
              </a:defRPr>
            </a:lvl1pPr>
          </a:lstStyle>
          <a:p>
            <a:pPr algn="l">
              <a:defRPr sz="3200">
                <a:solidFill>
                  <a:srgbClr val="FFFFFF"/>
                </a:solidFill>
              </a:defRPr>
            </a:pPr>
            <a:r>
              <a:rPr sz="3200" b="1">
                <a:solidFill>
                  <a:srgbClr val="FFFFFF"/>
                </a:solidFill>
                <a:latin typeface="Arial"/>
              </a:rPr>
              <a:t>Question 25</a:t>
            </a:r>
            <a:endParaRPr sz="3200">
              <a:solidFill>
                <a:srgbClr val="FFFFFF"/>
              </a:solidFill>
            </a:endParaRPr>
          </a:p>
        </p:txBody>
      </p:sp>
      <p:sp>
        <p:nvSpPr>
          <p:cNvPr id="3" name="Rounded Rectangle 2"/>
          <p:cNvSpPr/>
          <p:nvPr/>
        </p:nvSpPr>
        <p:spPr>
          <a:xfrm>
            <a:off x="7894015" y="246887"/>
            <a:ext cx="3840480" cy="603504"/>
          </a:xfrm>
          <a:prstGeom prst="roundRect">
            <a:avLst>
              <a:gd name="adj" fmla="val 50000"/>
            </a:avLst>
          </a:prstGeom>
          <a:solidFill>
            <a:srgbClr val="FFD966"/>
          </a:solidFill>
          <a:ln w="1905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111827"/>
          </a:fontRef>
        </p:style>
        <p:txBody>
          <a:bodyPr rtlCol="0" anchor="ctr" wrap="square" lIns="228600" rIns="228600" tIns="18288" bIns="18288"/>
          <a:lstStyle>
            <a:lvl1pPr>
              <a:defRPr sz="2400">
                <a:solidFill>
                  <a:srgbClr val="111827"/>
                </a:solidFill>
              </a:defRPr>
            </a:lvl1pPr>
          </a:lstStyle>
          <a:p>
            <a:pPr algn="ctr">
              <a:defRPr sz="2400">
                <a:solidFill>
                  <a:srgbClr val="111827"/>
                </a:solidFill>
              </a:defRPr>
            </a:pPr>
            <a:r>
              <a:rPr sz="2400" b="1">
                <a:solidFill>
                  <a:srgbClr val="111827"/>
                </a:solidFill>
                <a:latin typeface="Arial"/>
              </a:rPr>
              <a:t>Level 2  ·  3 Marks</a:t>
            </a:r>
            <a:endParaRPr sz="2400">
              <a:solidFill>
                <a:srgbClr val="111827"/>
              </a:solidFill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4" name="Rectangle 3"/>
              <p:cNvSpPr/>
              <p:nvPr/>
            </p:nvSpPr>
            <p:spPr>
              <a:xfrm>
                <a:off x="731520" y="1353312"/>
                <a:ext cx="10725912" cy="4434840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Let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𝑡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sec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∈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[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,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∞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 Then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𝑓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num>
                      <m:den>
                        <m:sSup>
                          <m:e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𝑡</m:t>
                            </m:r>
                          </m:e>
                          <m:sup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2</m:t>
                            </m:r>
                          </m:sup>
                        </m:sSup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+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𝑡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+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den>
                    </m:f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and </a:t>
                </a:r>
                <a14:m>
                  <m:oMath xmlns:m="http://schemas.openxmlformats.org/officeDocument/2006/math"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𝑡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𝑡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≥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3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for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𝑡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≥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So the range of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𝑓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is </a:t>
                </a:r>
                <a14:m>
                  <m:oMath xmlns:m="http://schemas.openxmlformats.org/officeDocument/2006/math">
                    <m:d>
                      <m:dPr>
                        <m:begChr m:val="("/>
                        <m:sepChr m:val=""/>
                        <m:endChr m:val="]"/>
                        <m:grow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0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,</m:t>
                        </m:r>
                        <m:f>
                          <m:fPr>
                            <m:type m:val="bar"/>
                            <m:ctrlP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fPr>
                          <m:num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1</m:t>
                            </m:r>
                          </m:num>
                          <m:den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3</m:t>
                            </m:r>
                          </m:den>
                        </m:f>
                      </m:e>
                    </m:d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i.e.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0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&lt;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𝑓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≤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3</m:t>
                        </m:r>
                      </m:den>
                    </m:f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 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From (1) and (2):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λ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≥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3</m:t>
                        </m:r>
                      </m:den>
                    </m:f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so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λ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∈</m:t>
                    </m:r>
                    <m:d>
                      <m:dPr>
                        <m:begChr m:val="["/>
                        <m:sepChr m:val=""/>
                        <m:endChr m:val=")"/>
                        <m:grow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f>
                          <m:fPr>
                            <m:type m:val="bar"/>
                            <m:ctrlP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fPr>
                          <m:num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1</m:t>
                            </m:r>
                          </m:num>
                          <m:den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3</m:t>
                            </m:r>
                          </m:den>
                        </m:f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,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∞</m:t>
                        </m:r>
                      </m:e>
                    </m:d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 Option (D).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Choice>
        <mc:Fallback>
          <p:sp>
            <p:nvSpPr>
              <p:cNvPr id="4" name="Rectangle 3"/>
              <p:cNvSpPr/>
              <p:nvPr/>
            </p:nvSpPr>
            <p:spPr>
              <a:xfrm>
                <a:off x="731520" y="1353312"/>
                <a:ext cx="10725912" cy="4434840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Let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$t=\sec x\in[1,\infty)$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 Then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$f=\frac{1}{t^2+t+1}$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and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$t^2+t+1\ge3$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for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$t\ge1$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So the range of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$f$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is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$\left(0,\frac13\right]$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i.e.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$0&lt;f(x)\le\frac13$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$\quad(2)$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From (1) and (2):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$\lambda\ge\frac13$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so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$\lambda\in\left[\frac13,\infty\right)$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 Option (D).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5" name="Rounded Rectangle 4"/>
              <p:cNvSpPr/>
              <p:nvPr/>
            </p:nvSpPr>
            <p:spPr>
              <a:xfrm>
                <a:off x="731520" y="5897880"/>
                <a:ext cx="10725912" cy="777240"/>
              </a:xfrm>
              <a:prstGeom prst="roundRect">
                <a:avLst>
                  <a:gd name="adj" fmla="val 8000"/>
                </a:avLst>
              </a:prstGeom>
              <a:solidFill>
                <a:srgbClr val="DCFCE7"/>
              </a:solidFill>
              <a:ln w="25400">
                <a:solidFill>
                  <a:srgbClr val="15803D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5803D"/>
              </a:fontRef>
            </p:style>
            <p:txBody>
              <a:bodyPr rtlCol="0" anchor="ctr" wrap="square" lIns="228600" rIns="228600" tIns="18288" bIns="73152"/>
              <a:lstStyle>
                <a:lvl1pPr>
                  <a:defRPr sz="2800">
                    <a:solidFill>
                      <a:srgbClr val="15803D"/>
                    </a:solidFill>
                  </a:defRPr>
                </a:lvl1pPr>
              </a:lstStyle>
              <a:p>
                <a:pPr algn="ctr">
                  <a:defRPr sz="2800">
                    <a:solidFill>
                      <a:srgbClr val="15803D"/>
                    </a:solidFill>
                  </a:defRPr>
                </a:pPr>
                <a:r>
                  <a:rPr sz="2800" b="1">
                    <a:solidFill>
                      <a:srgbClr val="15803D"/>
                    </a:solidFill>
                    <a:latin typeface="Arial"/>
                  </a:rPr>
                  <a:t>Correct Answer: (D) </a:t>
                </a:r>
                <a14:m>
                  <m:oMath xmlns:m="http://schemas.openxmlformats.org/officeDocument/2006/math">
                    <m:d>
                      <m:dPr>
                        <m:begChr m:val="["/>
                        <m:sepChr m:val=""/>
                        <m:endChr m:val=")"/>
                        <m:grow/>
                        <m:ctrlPr>
                          <a:rPr lang="en-IN" sz="2800" i="1">
                            <a:solidFill>
                              <a:srgbClr val="15803D"/>
                            </a:solidFill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f>
                          <m:fPr>
                            <m:type m:val="bar"/>
                            <m:ctrlPr>
                              <a:rPr lang="en-IN" sz="2800" i="1">
                                <a:solidFill>
                                  <a:srgbClr val="15803D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fPr>
                          <m:num>
                            <m:r>
                              <a:rPr lang="en-IN" sz="2800" i="1">
                                <a:solidFill>
                                  <a:srgbClr val="15803D"/>
                                </a:solidFill>
                                <a:latin typeface="Cambria Math" panose="02040503050406030204" pitchFamily="18" charset="0"/>
                              </a:rPr>
                              <m:t>1</m:t>
                            </m:r>
                          </m:num>
                          <m:den>
                            <m:r>
                              <a:rPr lang="en-IN" sz="2800" i="1">
                                <a:solidFill>
                                  <a:srgbClr val="15803D"/>
                                </a:solidFill>
                                <a:latin typeface="Cambria Math" panose="02040503050406030204" pitchFamily="18" charset="0"/>
                              </a:rPr>
                              <m:t>3</m:t>
                            </m:r>
                          </m:den>
                        </m:f>
                        <m:r>
                          <m:rPr>
                            <m:sty m:val="p"/>
                          </m:rPr>
                          <a:rPr lang="en-IN" sz="2800">
                            <a:solidFill>
                              <a:srgbClr val="15803D"/>
                            </a:solidFill>
                            <a:latin typeface="Cambria Math" panose="02040503050406030204" pitchFamily="18" charset="0"/>
                          </a:rPr>
                          <m:t>,</m:t>
                        </m:r>
                        <m:r>
                          <m:rPr>
                            <m:sty m:val="p"/>
                          </m:rPr>
                          <a:rPr lang="en-IN" sz="2800">
                            <a:solidFill>
                              <a:srgbClr val="15803D"/>
                            </a:solidFill>
                            <a:latin typeface="Cambria Math" panose="02040503050406030204" pitchFamily="18" charset="0"/>
                          </a:rPr>
                          <m:t>∞</m:t>
                        </m:r>
                      </m:e>
                    </m:d>
                  </m:oMath>
                </a14:m>
                <a:endParaRPr sz="2800">
                  <a:solidFill>
                    <a:srgbClr val="15803D"/>
                  </a:solidFill>
                </a:endParaRPr>
              </a:p>
            </p:txBody>
          </p:sp>
        </mc:Choice>
        <mc:Fallback>
          <p:sp>
            <p:nvSpPr>
              <p:cNvPr id="5" name="Rounded Rectangle 4"/>
              <p:cNvSpPr/>
              <p:nvPr/>
            </p:nvSpPr>
            <p:spPr>
              <a:xfrm>
                <a:off x="731520" y="5897880"/>
                <a:ext cx="10725912" cy="777240"/>
              </a:xfrm>
              <a:prstGeom prst="roundRect">
                <a:avLst>
                  <a:gd name="adj" fmla="val 8000"/>
                </a:avLst>
              </a:prstGeom>
              <a:solidFill>
                <a:srgbClr val="DCFCE7"/>
              </a:solidFill>
              <a:ln w="25400">
                <a:solidFill>
                  <a:srgbClr val="15803D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5803D"/>
              </a:fontRef>
            </p:style>
            <p:txBody>
              <a:bodyPr rtlCol="0" anchor="ctr" wrap="square" lIns="228600" rIns="228600" tIns="18288" bIns="73152"/>
              <a:lstStyle>
                <a:lvl1pPr>
                  <a:defRPr sz="2800">
                    <a:solidFill>
                      <a:srgbClr val="15803D"/>
                    </a:solidFill>
                  </a:defRPr>
                </a:lvl1pPr>
              </a:lstStyle>
              <a:p>
                <a:pPr algn="ctr">
                  <a:defRPr sz="2800">
                    <a:solidFill>
                      <a:srgbClr val="15803D"/>
                    </a:solidFill>
                  </a:defRPr>
                </a:pPr>
                <a:r>
                  <a:rPr sz="2800" b="1">
                    <a:solidFill>
                      <a:srgbClr val="15803D"/>
                    </a:solidFill>
                    <a:latin typeface="Arial"/>
                  </a:rPr>
                  <a:t>Correct Answer: (D) </a:t>
                </a:r>
                <a:r>
                  <a:rPr lang="en-IN" sz="2800">
                    <a:solidFill>
                      <a:srgbClr val="15803D"/>
                    </a:solidFill>
                    <a:latin typeface="Cambria Math" panose="02040503050406030204" pitchFamily="18" charset="0"/>
                  </a:rPr>
                  <a:t>$\left[\frac13,\infty\right)$</a:t>
                </a:r>
                <a:endParaRPr sz="2800">
                  <a:solidFill>
                    <a:srgbClr val="15803D"/>
                  </a:solidFill>
                </a:endParaRPr>
              </a:p>
            </p:txBody>
          </p:sp>
        </mc:Fallback>
      </mc:AlternateContent>
    </p:spTree>
  </p:cSld>
  <p:clrMapOvr>
    <a:masterClrMapping/>
  </p:clrMapOvr>
</p:sld>
</file>

<file path=ppt/slides/slide15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FFFFFF"/>
          </a:fontRef>
        </p:style>
        <p:txBody>
          <a:bodyPr rtlCol="0" anchor="ctr" lIns="731520"/>
          <a:lstStyle>
            <a:lvl1pPr>
              <a:defRPr sz="3200">
                <a:solidFill>
                  <a:srgbClr val="FFFFFF"/>
                </a:solidFill>
              </a:defRPr>
            </a:lvl1pPr>
          </a:lstStyle>
          <a:p>
            <a:pPr algn="l">
              <a:defRPr sz="3200">
                <a:solidFill>
                  <a:srgbClr val="FFFFFF"/>
                </a:solidFill>
              </a:defRPr>
            </a:pPr>
            <a:r>
              <a:rPr sz="3200" b="1">
                <a:solidFill>
                  <a:srgbClr val="FFFFFF"/>
                </a:solidFill>
                <a:latin typeface="Arial"/>
              </a:rPr>
              <a:t>Question 25</a:t>
            </a:r>
            <a:endParaRPr sz="3200">
              <a:solidFill>
                <a:srgbClr val="FFFFFF"/>
              </a:solidFill>
            </a:endParaRPr>
          </a:p>
        </p:txBody>
      </p:sp>
      <p:sp>
        <p:nvSpPr>
          <p:cNvPr id="3" name="Rounded Rectangle 2"/>
          <p:cNvSpPr/>
          <p:nvPr/>
        </p:nvSpPr>
        <p:spPr>
          <a:xfrm>
            <a:off x="7894015" y="246887"/>
            <a:ext cx="3840480" cy="603504"/>
          </a:xfrm>
          <a:prstGeom prst="roundRect">
            <a:avLst>
              <a:gd name="adj" fmla="val 50000"/>
            </a:avLst>
          </a:prstGeom>
          <a:solidFill>
            <a:srgbClr val="FFD966"/>
          </a:solidFill>
          <a:ln w="1905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111827"/>
          </a:fontRef>
        </p:style>
        <p:txBody>
          <a:bodyPr rtlCol="0" anchor="ctr" wrap="square" lIns="228600" rIns="228600" tIns="18288" bIns="18288"/>
          <a:lstStyle>
            <a:lvl1pPr>
              <a:defRPr sz="2400">
                <a:solidFill>
                  <a:srgbClr val="111827"/>
                </a:solidFill>
              </a:defRPr>
            </a:lvl1pPr>
          </a:lstStyle>
          <a:p>
            <a:pPr algn="ctr">
              <a:defRPr sz="2400">
                <a:solidFill>
                  <a:srgbClr val="111827"/>
                </a:solidFill>
              </a:defRPr>
            </a:pPr>
            <a:r>
              <a:rPr sz="2400" b="1">
                <a:solidFill>
                  <a:srgbClr val="111827"/>
                </a:solidFill>
                <a:latin typeface="Arial"/>
              </a:rPr>
              <a:t>Level 2  ·  3 Marks</a:t>
            </a:r>
            <a:endParaRPr sz="2400">
              <a:solidFill>
                <a:srgbClr val="111827"/>
              </a:solidFill>
            </a:endParaRPr>
          </a:p>
        </p:txBody>
      </p:sp>
      <p:sp>
        <p:nvSpPr>
          <p:cNvPr id="4" name="Rounded Rectangle 3"/>
          <p:cNvSpPr/>
          <p:nvPr/>
        </p:nvSpPr>
        <p:spPr>
          <a:xfrm>
            <a:off x="3520440" y="265176"/>
            <a:ext cx="4206240" cy="566928"/>
          </a:xfrm>
          <a:prstGeom prst="roundRect">
            <a:avLst>
              <a:gd name="adj" fmla="val 50000"/>
            </a:avLst>
          </a:prstGeom>
          <a:solidFill>
            <a:srgbClr val="E0ECFF"/>
          </a:solidFill>
          <a:ln w="25400">
            <a:solidFill>
              <a:srgbClr val="1D4ED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0B1F3A"/>
          </a:fontRef>
        </p:style>
        <p:txBody>
          <a:bodyPr rtlCol="0" anchor="ctr" wrap="square" lIns="228600" rIns="228600" tIns="18288" bIns="18288"/>
          <a:lstStyle>
            <a:lvl1pPr>
              <a:defRPr sz="2200">
                <a:solidFill>
                  <a:srgbClr val="0B1F3A"/>
                </a:solidFill>
              </a:defRPr>
            </a:lvl1pPr>
          </a:lstStyle>
          <a:p>
            <a:pPr algn="ctr">
              <a:defRPr sz="2200">
                <a:solidFill>
                  <a:srgbClr val="0B1F3A"/>
                </a:solidFill>
              </a:defRPr>
            </a:pPr>
            <a:r>
              <a:rPr sz="2200" b="1">
                <a:solidFill>
                  <a:srgbClr val="0B1F3A"/>
                </a:solidFill>
                <a:latin typeface="Arial"/>
              </a:rPr>
              <a:t>Useful Result / Pattern</a:t>
            </a:r>
            <a:endParaRPr sz="2200">
              <a:solidFill>
                <a:srgbClr val="0B1F3A"/>
              </a:solidFill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5" name="Rectangle 4"/>
              <p:cNvSpPr/>
              <p:nvPr/>
            </p:nvSpPr>
            <p:spPr>
              <a:xfrm>
                <a:off x="731520" y="1353312"/>
                <a:ext cx="10725912" cy="5321808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14:m>
                  <m:oMath xmlns:m="http://schemas.openxmlformats.org/officeDocument/2006/math"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𝑔</m:t>
                        </m:r>
                      </m:e>
                      <m:sup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′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≥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0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on an interval for a parametric family is solved by isolating the parameter: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λ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sup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𝑓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(or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≤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inf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𝑓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). The sup need not be attained but the bound still includes it when the inequality is non-strict.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sec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≥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on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[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0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,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π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den>
                    </m:f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so </a:t>
                </a:r>
                <a14:m>
                  <m:oMath xmlns:m="http://schemas.openxmlformats.org/officeDocument/2006/math"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𝑡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𝑡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≥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3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with equality only at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0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; the maximum </a:t>
                </a:r>
                <a14:m>
                  <m:oMath xmlns:m="http://schemas.openxmlformats.org/officeDocument/2006/math"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3</m:t>
                        </m:r>
                      </m:den>
                    </m:f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of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𝑓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is attained at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0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At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λ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3</m:t>
                        </m:r>
                      </m:den>
                    </m:f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: </a:t>
                </a:r>
                <a14:m>
                  <m:oMath xmlns:m="http://schemas.openxmlformats.org/officeDocument/2006/math"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𝑔</m:t>
                        </m:r>
                      </m:e>
                      <m:sup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′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(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−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cos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)</m:t>
                        </m:r>
                        <m:d>
                          <m:dPr>
                            <m:begChr m:val="("/>
                            <m:sepChr m:val=""/>
                            <m:endChr m:val=")"/>
                            <m:grow/>
                            <m:ctrlP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f>
                              <m:fPr>
                                <m:type m:val="bar"/>
                                <m:ctrlPr>
                                  <a:rPr lang="en-IN" sz="2400" i="1">
                                    <a:solidFill>
                                      <a:srgbClr val="111827"/>
                                    </a:solidFill>
                                    <a:latin typeface="Cambria Math" panose="02040503050406030204" pitchFamily="18" charset="0"/>
                                  </a:rPr>
                                </m:ctrlPr>
                              </m:fPr>
                              <m:num>
                                <m:r>
                                  <a:rPr lang="en-IN" sz="2400" i="1">
                                    <a:solidFill>
                                      <a:srgbClr val="111827"/>
                                    </a:solidFill>
                                    <a:latin typeface="Cambria Math" panose="02040503050406030204" pitchFamily="18" charset="0"/>
                                  </a:rPr>
                                  <m:t>1</m:t>
                                </m:r>
                              </m:num>
                              <m:den>
                                <m:r>
                                  <a:rPr lang="en-IN" sz="2400" i="1">
                                    <a:solidFill>
                                      <a:srgbClr val="111827"/>
                                    </a:solidFill>
                                    <a:latin typeface="Cambria Math" panose="02040503050406030204" pitchFamily="18" charset="0"/>
                                  </a:rPr>
                                  <m:t>3</m:t>
                                </m:r>
                              </m:den>
                            </m:f>
                            <m:r>
                              <m:rPr>
                                <m:sty m:val="p"/>
                              </m:rPr>
                              <a:rPr lang="en-IN" sz="2400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−</m:t>
                            </m:r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𝑓</m:t>
                            </m:r>
                          </m:e>
                        </m:d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𝑓</m:t>
                        </m:r>
                      </m:den>
                    </m:f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≥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0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with equality only at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0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so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λ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3</m:t>
                        </m:r>
                      </m:den>
                    </m:f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is allowed.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Choice>
        <mc:Fallback>
          <p:sp>
            <p:nvSpPr>
              <p:cNvPr id="5" name="Rectangle 4"/>
              <p:cNvSpPr/>
              <p:nvPr/>
            </p:nvSpPr>
            <p:spPr>
              <a:xfrm>
                <a:off x="731520" y="1353312"/>
                <a:ext cx="10725912" cy="5321808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$g'(x)\ge0$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on an interval for a parametric family is solved by isolating the parameter: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$\lambda\ge\sup f$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(or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$\le\inf f$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). The sup need not be attained but the bound still includes it when the inequality is non-strict.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$\sec x\ge1$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on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$[0,\frac\pi2)$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so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$t^2+t+1\ge3$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with equality only at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$x=0$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; the maximum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$\frac13$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of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$f$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is attained at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$x=0$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At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$\lambda=\frac13$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: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$g'(x)=\frac{(1-\cos x)\left(\frac13-f\right)}{f}\ge0$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with equality only at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$x=0$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so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$\lambda=\frac13$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is allowed.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Fallback>
      </mc:AlternateContent>
    </p:spTree>
  </p:cSld>
  <p:clrMapOvr>
    <a:masterClrMapping/>
  </p:clrMapOvr>
</p:sld>
</file>

<file path=ppt/slides/slide15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914400" y="1463040"/>
            <a:ext cx="10362895" cy="4114800"/>
          </a:xfrm>
          <a:prstGeom prst="rect">
            <a:avLst/>
          </a:prstGeom>
          <a:noFill/>
        </p:spPr>
        <p:txBody>
          <a:bodyPr wrap="square">
            <a:spAutoFit/>
          </a:bodyPr>
          <a:lstStyle>
            <a:lvl1pPr>
              <a:defRPr sz="2800">
                <a:solidFill>
                  <a:srgbClr val="FFFFFF"/>
                </a:solidFill>
              </a:defRPr>
            </a:lvl1pPr>
          </a:lstStyle>
          <a:p>
            <a:pPr algn="ctr">
              <a:spcAft>
                <a:spcPts val="1000"/>
              </a:spcAft>
              <a:defRPr sz="2800">
                <a:solidFill>
                  <a:srgbClr val="FFFFFF"/>
                </a:solidFill>
              </a:defRPr>
            </a:pPr>
            <a:r>
              <a:rPr sz="2800" b="0">
                <a:solidFill>
                  <a:srgbClr val="93C5FD"/>
                </a:solidFill>
                <a:latin typeface="Arial"/>
              </a:rPr>
              <a:t>Section 11</a:t>
            </a:r>
            <a:endParaRPr sz="2800">
              <a:solidFill>
                <a:srgbClr val="FFFFFF"/>
              </a:solidFill>
            </a:endParaRPr>
          </a:p>
          <a:p>
            <a:pPr algn="ctr">
              <a:spcAft>
                <a:spcPts val="1000"/>
              </a:spcAft>
              <a:defRPr sz="2800">
                <a:solidFill>
                  <a:srgbClr val="FFFFFF"/>
                </a:solidFill>
              </a:defRPr>
            </a:pPr>
            <a:r>
              <a:rPr sz="4400" b="1">
                <a:solidFill>
                  <a:srgbClr val="FFFFFF"/>
                </a:solidFill>
                <a:latin typeface="Arial"/>
              </a:rPr>
              <a:t>Matching List Type</a:t>
            </a:r>
            <a:endParaRPr sz="2800">
              <a:solidFill>
                <a:srgbClr val="FFFFFF"/>
              </a:solidFill>
            </a:endParaRPr>
          </a:p>
          <a:p>
            <a:pPr algn="ctr">
              <a:spcAft>
                <a:spcPts val="1000"/>
              </a:spcAft>
              <a:defRPr sz="2800">
                <a:solidFill>
                  <a:srgbClr val="FFFFFF"/>
                </a:solidFill>
              </a:defRPr>
            </a:pPr>
            <a:r>
              <a:rPr sz="3200" b="1">
                <a:solidFill>
                  <a:srgbClr val="FFFFFF"/>
                </a:solidFill>
                <a:latin typeface="Arial"/>
              </a:rPr>
              <a:t>Q26</a:t>
            </a:r>
            <a:endParaRPr sz="2800">
              <a:solidFill>
                <a:srgbClr val="FFFFFF"/>
              </a:solidFill>
            </a:endParaRPr>
          </a:p>
          <a:p>
            <a:pPr algn="ctr">
              <a:spcAft>
                <a:spcPts val="1000"/>
              </a:spcAft>
              <a:defRPr sz="2800">
                <a:solidFill>
                  <a:srgbClr val="FFFFFF"/>
                </a:solidFill>
              </a:defRPr>
            </a:pPr>
            <a:r>
              <a:rPr sz="2800" b="0">
                <a:solidFill>
                  <a:srgbClr val="FFFFFF"/>
                </a:solidFill>
                <a:latin typeface="Arial"/>
              </a:rPr>
              <a:t>3 marks (no marks printed in the paper: JEE Advanced default assumed)</a:t>
            </a:r>
            <a:endParaRPr sz="2800">
              <a:solidFill>
                <a:srgbClr val="FFFFFF"/>
              </a:solidFill>
            </a:endParaRPr>
          </a:p>
          <a:p>
            <a:pPr algn="ctr">
              <a:spcAft>
                <a:spcPts val="1000"/>
              </a:spcAft>
              <a:defRPr sz="2800">
                <a:solidFill>
                  <a:srgbClr val="FFFFFF"/>
                </a:solidFill>
              </a:defRPr>
            </a:pPr>
            <a:r>
              <a:rPr sz="2800" b="0">
                <a:solidFill>
                  <a:srgbClr val="FFFFFF"/>
                </a:solidFill>
                <a:latin typeface="Arial"/>
              </a:rPr>
              <a:t>Match Column I with Column II</a:t>
            </a:r>
            <a:endParaRPr sz="2800">
              <a:solidFill>
                <a:srgbClr val="FFFFFF"/>
              </a:solidFill>
            </a:endParaRPr>
          </a:p>
        </p:txBody>
      </p:sp>
    </p:spTree>
  </p:cSld>
  <p:clrMapOvr>
    <a:masterClrMapping/>
  </p:clrMapOvr>
</p:sld>
</file>

<file path=ppt/slides/slide15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FFFFFF"/>
          </a:fontRef>
        </p:style>
        <p:txBody>
          <a:bodyPr rtlCol="0" anchor="ctr" lIns="731520"/>
          <a:lstStyle>
            <a:lvl1pPr>
              <a:defRPr sz="3200">
                <a:solidFill>
                  <a:srgbClr val="FFFFFF"/>
                </a:solidFill>
              </a:defRPr>
            </a:lvl1pPr>
          </a:lstStyle>
          <a:p>
            <a:pPr algn="l">
              <a:defRPr sz="3200">
                <a:solidFill>
                  <a:srgbClr val="FFFFFF"/>
                </a:solidFill>
              </a:defRPr>
            </a:pPr>
            <a:r>
              <a:rPr sz="3200" b="1">
                <a:solidFill>
                  <a:srgbClr val="FFFFFF"/>
                </a:solidFill>
                <a:latin typeface="Arial"/>
              </a:rPr>
              <a:t>Question 26</a:t>
            </a:r>
            <a:endParaRPr sz="3200">
              <a:solidFill>
                <a:srgbClr val="FFFFFF"/>
              </a:solidFill>
            </a:endParaRPr>
          </a:p>
        </p:txBody>
      </p:sp>
      <p:sp>
        <p:nvSpPr>
          <p:cNvPr id="3" name="Rounded Rectangle 2"/>
          <p:cNvSpPr/>
          <p:nvPr/>
        </p:nvSpPr>
        <p:spPr>
          <a:xfrm>
            <a:off x="7894015" y="246887"/>
            <a:ext cx="3840480" cy="603504"/>
          </a:xfrm>
          <a:prstGeom prst="roundRect">
            <a:avLst>
              <a:gd name="adj" fmla="val 50000"/>
            </a:avLst>
          </a:prstGeom>
          <a:solidFill>
            <a:srgbClr val="FFD966"/>
          </a:solidFill>
          <a:ln w="1905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111827"/>
          </a:fontRef>
        </p:style>
        <p:txBody>
          <a:bodyPr rtlCol="0" anchor="ctr" wrap="square" lIns="228600" rIns="228600" tIns="18288" bIns="18288"/>
          <a:lstStyle>
            <a:lvl1pPr>
              <a:defRPr sz="2400">
                <a:solidFill>
                  <a:srgbClr val="111827"/>
                </a:solidFill>
              </a:defRPr>
            </a:lvl1pPr>
          </a:lstStyle>
          <a:p>
            <a:pPr algn="ctr">
              <a:defRPr sz="2400">
                <a:solidFill>
                  <a:srgbClr val="111827"/>
                </a:solidFill>
              </a:defRPr>
            </a:pPr>
            <a:r>
              <a:rPr sz="2400" b="1">
                <a:solidFill>
                  <a:srgbClr val="111827"/>
                </a:solidFill>
                <a:latin typeface="Arial"/>
              </a:rPr>
              <a:t>Level 2  ·  3 Marks</a:t>
            </a:r>
            <a:endParaRPr sz="2400">
              <a:solidFill>
                <a:srgbClr val="111827"/>
              </a:solidFill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4" name="Rounded Rectangle 3"/>
              <p:cNvSpPr/>
              <p:nvPr/>
            </p:nvSpPr>
            <p:spPr>
              <a:xfrm>
                <a:off x="731520" y="1280160"/>
                <a:ext cx="10725912" cy="4949444"/>
              </a:xfrm>
              <a:prstGeom prst="roundRect">
                <a:avLst>
                  <a:gd name="adj" fmla="val 8000"/>
                </a:avLst>
              </a:prstGeom>
              <a:solidFill>
                <a:srgbClr val="E0ECFF"/>
              </a:solidFill>
              <a:ln w="25400">
                <a:solidFill>
                  <a:srgbClr val="1D4ED8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>
                  <a:spcAft>
                    <a:spcPts val="500"/>
                  </a:spcAft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Match the following columns.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>
                  <a:spcAft>
                    <a:spcPts val="500"/>
                  </a:spcAft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Column-I: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>
                  <a:spcAft>
                    <a:spcPts val="500"/>
                  </a:spcAft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(A) If </a:t>
                </a:r>
                <a14:m>
                  <m:oMath xmlns:m="http://schemas.openxmlformats.org/officeDocument/2006/math"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𝑓</m:t>
                        </m:r>
                      </m:e>
                      <m:sup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′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ad>
                      <m:radPr>
                        <m:degHide m:val="on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radPr>
                      <m:deg/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3</m:t>
                        </m:r>
                        <m:sSup>
                          <m:e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𝑥</m:t>
                            </m:r>
                          </m:e>
                          <m:sup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2</m:t>
                            </m:r>
                          </m:sup>
                        </m:sSup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+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6</m:t>
                        </m:r>
                      </m:e>
                    </m:rad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and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𝑦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𝑓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3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then at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</a:t>
                </a:r>
                <a14:m>
                  <m:oMath xmlns:m="http://schemas.openxmlformats.org/officeDocument/2006/math"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𝑑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𝑦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𝑑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</m:den>
                    </m:f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</m:oMath>
                </a14:m>
                <a:endParaRPr sz="2400">
                  <a:solidFill>
                    <a:srgbClr val="111827"/>
                  </a:solidFill>
                </a:endParaRPr>
              </a:p>
              <a:p>
                <a:pPr algn="l">
                  <a:spcAft>
                    <a:spcPts val="500"/>
                  </a:spcAft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(B) If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𝑓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is a differentiable function such that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𝑓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𝑦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𝑓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𝑓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𝑦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∀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,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𝑦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∈</m:t>
                    </m:r>
                    <m:r>
                      <m:rPr>
                        <m:scr m:val="double-struck"/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R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then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𝑓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𝑒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𝑓</m:t>
                    </m:r>
                    <m:d>
                      <m:dPr>
                        <m:begChr m:val="("/>
                        <m:sepChr m:val=""/>
                        <m:endChr m:val=")"/>
                        <m:grow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f>
                          <m:fPr>
                            <m:type m:val="bar"/>
                            <m:ctrlP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fPr>
                          <m:num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1</m:t>
                            </m:r>
                          </m:num>
                          <m:den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𝑒</m:t>
                            </m:r>
                          </m:den>
                        </m:f>
                      </m:e>
                    </m:d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</m:oMath>
                </a14:m>
                <a:endParaRPr sz="2400">
                  <a:solidFill>
                    <a:srgbClr val="111827"/>
                  </a:solidFill>
                </a:endParaRPr>
              </a:p>
              <a:p>
                <a:pPr algn="l">
                  <a:spcAft>
                    <a:spcPts val="500"/>
                  </a:spcAft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(C) If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𝑓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is a twice differentiable function such that </a:t>
                </a:r>
                <a14:m>
                  <m:oMath xmlns:m="http://schemas.openxmlformats.org/officeDocument/2006/math"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𝑓</m:t>
                        </m:r>
                      </m:e>
                      <m:sup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″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𝑓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and </a:t>
                </a:r>
                <a14:m>
                  <m:oMath xmlns:m="http://schemas.openxmlformats.org/officeDocument/2006/math"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𝑓</m:t>
                        </m:r>
                      </m:e>
                      <m:sup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′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𝑔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; if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ℎ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𝑓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sSup>
                      <m:e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)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𝑔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sSup>
                      <m:e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)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and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ℎ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5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9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then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ℎ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10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?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>
                  <a:spcAft>
                    <a:spcPts val="500"/>
                  </a:spcAft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(D)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𝑦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sSup>
                      <m:e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tan</m:t>
                        </m:r>
                      </m:e>
                      <m:sup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−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cot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sSup>
                      <m:e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cot</m:t>
                        </m:r>
                      </m:e>
                      <m:sup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−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tan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then </a:t>
                </a:r>
                <a14:m>
                  <m:oMath xmlns:m="http://schemas.openxmlformats.org/officeDocument/2006/math"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𝑑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𝑦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𝑑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</m:den>
                    </m:f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</m:oMath>
                </a14:m>
                <a:endParaRPr sz="2400">
                  <a:solidFill>
                    <a:srgbClr val="111827"/>
                  </a:solidFill>
                </a:endParaRPr>
              </a:p>
              <a:p>
                <a:pPr algn="l">
                  <a:spcAft>
                    <a:spcPts val="500"/>
                  </a:spcAft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Column-II: (P)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 (Q)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4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 (R)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0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 (S)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 (T)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9</m:t>
                    </m:r>
                  </m:oMath>
                </a14:m>
                <a:endParaRPr sz="2400">
                  <a:solidFill>
                    <a:srgbClr val="111827"/>
                  </a:solidFill>
                </a:endParaRPr>
              </a:p>
            </p:txBody>
          </p:sp>
        </mc:Choice>
        <mc:Fallback>
          <p:sp>
            <p:nvSpPr>
              <p:cNvPr id="4" name="Rounded Rectangle 3"/>
              <p:cNvSpPr/>
              <p:nvPr/>
            </p:nvSpPr>
            <p:spPr>
              <a:xfrm>
                <a:off x="731520" y="1280160"/>
                <a:ext cx="10725912" cy="4949444"/>
              </a:xfrm>
              <a:prstGeom prst="roundRect">
                <a:avLst>
                  <a:gd name="adj" fmla="val 8000"/>
                </a:avLst>
              </a:prstGeom>
              <a:solidFill>
                <a:srgbClr val="E0ECFF"/>
              </a:solidFill>
              <a:ln w="25400">
                <a:solidFill>
                  <a:srgbClr val="1D4ED8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>
                  <a:spcAft>
                    <a:spcPts val="500"/>
                  </a:spcAft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Match the following columns.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>
                  <a:spcAft>
                    <a:spcPts val="500"/>
                  </a:spcAft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Column-I: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>
                  <a:spcAft>
                    <a:spcPts val="500"/>
                  </a:spcAft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(A) If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$f'(x)=\sqrt{3x^2+6}$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and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$y=f(x^3)$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then at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$x=1$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$\frac{dy}{dx}=$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>
                  <a:spcAft>
                    <a:spcPts val="500"/>
                  </a:spcAft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(B) If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$f$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is a differentiable function such that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$f(xy)=f(x)+f(y)$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$\forall x,y\in\mathbb R$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then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$f(e)+f\left(\frac1e\right)=$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>
                  <a:spcAft>
                    <a:spcPts val="500"/>
                  </a:spcAft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(C) If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$f$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is a twice differentiable function such that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$f''(x)=-f(x)$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and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$f'(x)=g(x)$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; if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$h(x)=(f(x))^2+(g(x))^2$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and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$h(5)=9$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then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$h(10)=$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?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>
                  <a:spcAft>
                    <a:spcPts val="500"/>
                  </a:spcAft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(D)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$y=\tan^{-1}(\cot x)+\cot^{-1}(\tan x)$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then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$\frac{dy}{dx}=$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>
                  <a:spcAft>
                    <a:spcPts val="500"/>
                  </a:spcAft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Column-II: (P)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$-2$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 (Q)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$4$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 (R)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$0$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 (S)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$-1$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 (T)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$9$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Fallback>
      </mc:AlternateContent>
    </p:spTree>
  </p:cSld>
  <p:clrMapOvr>
    <a:masterClrMapping/>
  </p:clrMapOvr>
</p:sld>
</file>

<file path=ppt/slides/slide15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FFFFFF"/>
          </a:fontRef>
        </p:style>
        <p:txBody>
          <a:bodyPr rtlCol="0" anchor="ctr" lIns="731520"/>
          <a:lstStyle>
            <a:lvl1pPr>
              <a:defRPr sz="3200">
                <a:solidFill>
                  <a:srgbClr val="FFFFFF"/>
                </a:solidFill>
              </a:defRPr>
            </a:lvl1pPr>
          </a:lstStyle>
          <a:p>
            <a:pPr algn="l">
              <a:defRPr sz="3200">
                <a:solidFill>
                  <a:srgbClr val="FFFFFF"/>
                </a:solidFill>
              </a:defRPr>
            </a:pPr>
            <a:r>
              <a:rPr sz="3200" b="1">
                <a:solidFill>
                  <a:srgbClr val="FFFFFF"/>
                </a:solidFill>
                <a:latin typeface="Arial"/>
              </a:rPr>
              <a:t>Question 26</a:t>
            </a:r>
            <a:endParaRPr sz="3200">
              <a:solidFill>
                <a:srgbClr val="FFFFFF"/>
              </a:solidFill>
            </a:endParaRPr>
          </a:p>
        </p:txBody>
      </p:sp>
      <p:sp>
        <p:nvSpPr>
          <p:cNvPr id="3" name="Rounded Rectangle 2"/>
          <p:cNvSpPr/>
          <p:nvPr/>
        </p:nvSpPr>
        <p:spPr>
          <a:xfrm>
            <a:off x="7894015" y="246887"/>
            <a:ext cx="3840480" cy="603504"/>
          </a:xfrm>
          <a:prstGeom prst="roundRect">
            <a:avLst>
              <a:gd name="adj" fmla="val 50000"/>
            </a:avLst>
          </a:prstGeom>
          <a:solidFill>
            <a:srgbClr val="FFD966"/>
          </a:solidFill>
          <a:ln w="1905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111827"/>
          </a:fontRef>
        </p:style>
        <p:txBody>
          <a:bodyPr rtlCol="0" anchor="ctr" wrap="square" lIns="228600" rIns="228600" tIns="18288" bIns="18288"/>
          <a:lstStyle>
            <a:lvl1pPr>
              <a:defRPr sz="2400">
                <a:solidFill>
                  <a:srgbClr val="111827"/>
                </a:solidFill>
              </a:defRPr>
            </a:lvl1pPr>
          </a:lstStyle>
          <a:p>
            <a:pPr algn="ctr">
              <a:defRPr sz="2400">
                <a:solidFill>
                  <a:srgbClr val="111827"/>
                </a:solidFill>
              </a:defRPr>
            </a:pPr>
            <a:r>
              <a:rPr sz="2400" b="1">
                <a:solidFill>
                  <a:srgbClr val="111827"/>
                </a:solidFill>
                <a:latin typeface="Arial"/>
              </a:rPr>
              <a:t>Level 2  ·  3 Marks</a:t>
            </a:r>
            <a:endParaRPr sz="2400">
              <a:solidFill>
                <a:srgbClr val="111827"/>
              </a:solidFill>
            </a:endParaRPr>
          </a:p>
        </p:txBody>
      </p:sp>
      <p:sp>
        <p:nvSpPr>
          <p:cNvPr id="4" name="Rectangle 3"/>
          <p:cNvSpPr/>
          <p:nvPr/>
        </p:nvSpPr>
        <p:spPr>
          <a:xfrm>
            <a:off x="731520" y="1280160"/>
            <a:ext cx="10725912" cy="2194560"/>
          </a:xfrm>
          <a:prstGeom prst="rect">
            <a:avLst/>
          </a:prstGeom>
          <a:solidFill>
            <a:srgbClr val="FFFFFF"/>
          </a:solidFill>
          <a:ln w="19050">
            <a:solidFill>
              <a:srgbClr val="6B728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111827"/>
          </a:fontRef>
        </p:style>
        <p:txBody>
          <a:bodyPr rtlCol="0" anchor="t" wrap="square" lIns="228600" rIns="228600" tIns="137160" bIns="73152"/>
          <a:lstStyle>
            <a:lvl1pPr>
              <a:defRPr sz="2400">
                <a:solidFill>
                  <a:srgbClr val="111827"/>
                </a:solidFill>
              </a:defRPr>
            </a:lvl1pPr>
          </a:lstStyle>
          <a:p>
            <a:pPr algn="l">
              <a:spcAft>
                <a:spcPts val="200"/>
              </a:spcAft>
              <a:defRPr sz="2400">
                <a:solidFill>
                  <a:srgbClr val="111827"/>
                </a:solidFill>
              </a:defRPr>
            </a:pPr>
            <a:r>
              <a:rPr sz="2400" b="0">
                <a:solidFill>
                  <a:srgbClr val="111827"/>
                </a:solidFill>
                <a:latin typeface="Arial"/>
              </a:rPr>
              <a:t>Matching List Type(3 Marks)</a:t>
            </a:r>
            <a:endParaRPr sz="2400">
              <a:solidFill>
                <a:srgbClr val="111827"/>
              </a:solidFill>
            </a:endParaRPr>
          </a:p>
          <a:p>
            <a:pPr algn="l">
              <a:spcAft>
                <a:spcPts val="200"/>
              </a:spcAft>
              <a:defRPr sz="2400">
                <a:solidFill>
                  <a:srgbClr val="111827"/>
                </a:solidFill>
              </a:defRPr>
            </a:pPr>
            <a:r>
              <a:rPr sz="2400" b="0">
                <a:solidFill>
                  <a:srgbClr val="111827"/>
                </a:solidFill>
                <a:latin typeface="Arial"/>
              </a:rPr>
              <a:t>Concept(s) : Differentiation of composite and inverse trigonometric functions, Functional equations and differentiable functions</a:t>
            </a:r>
            <a:endParaRPr sz="2400">
              <a:solidFill>
                <a:srgbClr val="111827"/>
              </a:solidFill>
            </a:endParaRPr>
          </a:p>
          <a:p>
            <a:pPr algn="l">
              <a:spcAft>
                <a:spcPts val="200"/>
              </a:spcAft>
              <a:defRPr sz="2400">
                <a:solidFill>
                  <a:srgbClr val="111827"/>
                </a:solidFill>
              </a:defRPr>
            </a:pPr>
            <a:r>
              <a:rPr sz="2400" b="0">
                <a:solidFill>
                  <a:srgbClr val="111827"/>
                </a:solidFill>
                <a:latin typeface="Arial"/>
              </a:rPr>
              <a:t>Difficulty Level: Level 2(A level below Average JEE Advanced Level)</a:t>
            </a:r>
            <a:endParaRPr sz="2400">
              <a:solidFill>
                <a:srgbClr val="111827"/>
              </a:solidFill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5" name="Rounded Rectangle 4"/>
              <p:cNvSpPr/>
              <p:nvPr/>
            </p:nvSpPr>
            <p:spPr>
              <a:xfrm>
                <a:off x="731520" y="3657600"/>
                <a:ext cx="10725912" cy="1219200"/>
              </a:xfrm>
              <a:prstGeom prst="roundRect">
                <a:avLst>
                  <a:gd name="adj" fmla="val 8000"/>
                </a:avLst>
              </a:prstGeom>
              <a:solidFill>
                <a:srgbClr val="FDE68A"/>
              </a:solidFill>
              <a:ln w="31750">
                <a:solidFill>
                  <a:srgbClr val="D97706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78350F"/>
              </a:fontRef>
            </p:style>
            <p:txBody>
              <a:bodyPr rtlCol="0" anchor="ctr" wrap="square" lIns="228600" rIns="228600" tIns="54864" bIns="73152"/>
              <a:lstStyle>
                <a:lvl1pPr>
                  <a:defRPr sz="2400">
                    <a:solidFill>
                      <a:srgbClr val="78350F"/>
                    </a:solidFill>
                  </a:defRPr>
                </a:lvl1pPr>
              </a:lstStyle>
              <a:p>
                <a:pPr algn="l">
                  <a:defRPr sz="2400">
                    <a:solidFill>
                      <a:srgbClr val="78350F"/>
                    </a:solidFill>
                  </a:defRPr>
                </a:pPr>
                <a:r>
                  <a:rPr sz="2400" b="1">
                    <a:solidFill>
                      <a:srgbClr val="78350F"/>
                    </a:solidFill>
                    <a:latin typeface="Arial"/>
                  </a:rPr>
                  <a:t>Key idea:  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(B)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𝑓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1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0</m:t>
                    </m:r>
                  </m:oMath>
                </a14:m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 gives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𝑓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𝑓</m:t>
                    </m:r>
                    <m:d>
                      <m:dPr>
                        <m:begChr m:val="("/>
                        <m:sepChr m:val=""/>
                        <m:endChr m:val=")"/>
                        <m:grow/>
                        <m:ctrlP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f>
                          <m:fPr>
                            <m:type m:val="bar"/>
                            <m:ctrlPr>
                              <a:rPr lang="en-IN" sz="2400" i="1">
                                <a:solidFill>
                                  <a:srgbClr val="78350F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fPr>
                          <m:num>
                            <m:r>
                              <a:rPr lang="en-IN" sz="2400" i="1">
                                <a:solidFill>
                                  <a:srgbClr val="78350F"/>
                                </a:solidFill>
                                <a:latin typeface="Cambria Math" panose="02040503050406030204" pitchFamily="18" charset="0"/>
                              </a:rPr>
                              <m:t>1</m:t>
                            </m:r>
                          </m:num>
                          <m:den>
                            <m:r>
                              <a:rPr lang="en-IN" sz="2400" i="1">
                                <a:solidFill>
                                  <a:srgbClr val="78350F"/>
                                </a:solidFill>
                                <a:latin typeface="Cambria Math" panose="02040503050406030204" pitchFamily="18" charset="0"/>
                              </a:rPr>
                              <m:t>𝑥</m:t>
                            </m:r>
                          </m:den>
                        </m:f>
                      </m:e>
                    </m:d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0</m:t>
                    </m:r>
                  </m:oMath>
                </a14:m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; (C) </a:t>
                </a:r>
                <a14:m>
                  <m:oMath xmlns:m="http://schemas.openxmlformats.org/officeDocument/2006/math">
                    <m:sSup>
                      <m:e>
                        <m: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ℎ</m:t>
                        </m:r>
                      </m:e>
                      <m:sup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′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2</m:t>
                    </m:r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𝑓</m:t>
                    </m:r>
                    <m:sSup>
                      <m:e>
                        <m: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𝑓</m:t>
                        </m:r>
                      </m:e>
                      <m:sup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′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2</m:t>
                    </m:r>
                    <m:sSup>
                      <m:e>
                        <m: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𝑓</m:t>
                        </m:r>
                      </m:e>
                      <m:sup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′</m:t>
                        </m:r>
                      </m:sup>
                    </m:sSup>
                    <m:sSup>
                      <m:e>
                        <m: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𝑓</m:t>
                        </m:r>
                      </m:e>
                      <m:sup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″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0</m:t>
                    </m:r>
                  </m:oMath>
                </a14:m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, so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ℎ</m:t>
                    </m:r>
                  </m:oMath>
                </a14:m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 is constant.</a:t>
                </a:r>
                <a:endParaRPr sz="2400">
                  <a:solidFill>
                    <a:srgbClr val="78350F"/>
                  </a:solidFill>
                </a:endParaRPr>
              </a:p>
            </p:txBody>
          </p:sp>
        </mc:Choice>
        <mc:Fallback>
          <p:sp>
            <p:nvSpPr>
              <p:cNvPr id="5" name="Rounded Rectangle 4"/>
              <p:cNvSpPr/>
              <p:nvPr/>
            </p:nvSpPr>
            <p:spPr>
              <a:xfrm>
                <a:off x="731520" y="3657600"/>
                <a:ext cx="10725912" cy="1219200"/>
              </a:xfrm>
              <a:prstGeom prst="roundRect">
                <a:avLst>
                  <a:gd name="adj" fmla="val 8000"/>
                </a:avLst>
              </a:prstGeom>
              <a:solidFill>
                <a:srgbClr val="FDE68A"/>
              </a:solidFill>
              <a:ln w="31750">
                <a:solidFill>
                  <a:srgbClr val="D97706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78350F"/>
              </a:fontRef>
            </p:style>
            <p:txBody>
              <a:bodyPr rtlCol="0" anchor="ctr" wrap="square" lIns="228600" rIns="228600" tIns="54864" bIns="73152"/>
              <a:lstStyle>
                <a:lvl1pPr>
                  <a:defRPr sz="2400">
                    <a:solidFill>
                      <a:srgbClr val="78350F"/>
                    </a:solidFill>
                  </a:defRPr>
                </a:lvl1pPr>
              </a:lstStyle>
              <a:p>
                <a:pPr algn="l">
                  <a:defRPr sz="2400">
                    <a:solidFill>
                      <a:srgbClr val="78350F"/>
                    </a:solidFill>
                  </a:defRPr>
                </a:pPr>
                <a:r>
                  <a:rPr sz="2400" b="1">
                    <a:solidFill>
                      <a:srgbClr val="78350F"/>
                    </a:solidFill>
                    <a:latin typeface="Arial"/>
                  </a:rPr>
                  <a:t>Key idea:  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(B) </a:t>
                </a:r>
                <a:r>
                  <a:rPr lang="en-IN" sz="2400">
                    <a:solidFill>
                      <a:srgbClr val="78350F"/>
                    </a:solidFill>
                    <a:latin typeface="Cambria Math" panose="02040503050406030204" pitchFamily="18" charset="0"/>
                  </a:rPr>
                  <a:t>$f(1)=0$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 gives </a:t>
                </a:r>
                <a:r>
                  <a:rPr lang="en-IN" sz="2400">
                    <a:solidFill>
                      <a:srgbClr val="78350F"/>
                    </a:solidFill>
                    <a:latin typeface="Cambria Math" panose="02040503050406030204" pitchFamily="18" charset="0"/>
                  </a:rPr>
                  <a:t>$f(x)+f\left(\frac1x\right)=0$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; (C) </a:t>
                </a:r>
                <a:r>
                  <a:rPr lang="en-IN" sz="2400">
                    <a:solidFill>
                      <a:srgbClr val="78350F"/>
                    </a:solidFill>
                    <a:latin typeface="Cambria Math" panose="02040503050406030204" pitchFamily="18" charset="0"/>
                  </a:rPr>
                  <a:t>$h'=2ff'+2f'f''=0$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, so </a:t>
                </a:r>
                <a:r>
                  <a:rPr lang="en-IN" sz="2400">
                    <a:solidFill>
                      <a:srgbClr val="78350F"/>
                    </a:solidFill>
                    <a:latin typeface="Cambria Math" panose="02040503050406030204" pitchFamily="18" charset="0"/>
                  </a:rPr>
                  <a:t>$h$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 is constant.</a:t>
                </a:r>
                <a:endParaRPr sz="2400">
                  <a:solidFill>
                    <a:srgbClr val="78350F"/>
                  </a:solidFill>
                </a:endParaRP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6" name="Rectangle 5"/>
              <p:cNvSpPr/>
              <p:nvPr/>
            </p:nvSpPr>
            <p:spPr>
              <a:xfrm>
                <a:off x="731520" y="5013960"/>
                <a:ext cx="10725912" cy="1661159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(A) </a:t>
                </a:r>
                <a14:m>
                  <m:oMath xmlns:m="http://schemas.openxmlformats.org/officeDocument/2006/math"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𝑑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𝑦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𝑑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</m:den>
                    </m:f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𝑓</m:t>
                        </m:r>
                      </m:e>
                      <m:sup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′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3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⋅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3</m:t>
                    </m:r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 At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: </a:t>
                </a:r>
                <a14:m>
                  <m:oMath xmlns:m="http://schemas.openxmlformats.org/officeDocument/2006/math"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𝑓</m:t>
                        </m:r>
                      </m:e>
                      <m:sup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′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⋅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3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ad>
                      <m:radPr>
                        <m:degHide m:val="on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radPr>
                      <m:deg/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3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+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6</m:t>
                        </m:r>
                      </m:e>
                    </m:rad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⋅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3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9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 So A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→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T.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Choice>
        <mc:Fallback>
          <p:sp>
            <p:nvSpPr>
              <p:cNvPr id="6" name="Rectangle 5"/>
              <p:cNvSpPr/>
              <p:nvPr/>
            </p:nvSpPr>
            <p:spPr>
              <a:xfrm>
                <a:off x="731520" y="5013960"/>
                <a:ext cx="10725912" cy="1661159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(A)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$\frac{dy}{dx}=f'(x^3)\cdot3x^2$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 At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$x=1$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: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$f'(1)\cdot3=\sqrt{3+6}\cdot3=9$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 So A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$\to$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T.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Fallback>
      </mc:AlternateContent>
    </p:spTree>
  </p:cSld>
  <p:clrMapOvr>
    <a:masterClrMapping/>
  </p:clrMapOvr>
</p:sld>
</file>

<file path=ppt/slides/slide16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FFFFFF"/>
          </a:fontRef>
        </p:style>
        <p:txBody>
          <a:bodyPr rtlCol="0" anchor="ctr" lIns="731520"/>
          <a:lstStyle>
            <a:lvl1pPr>
              <a:defRPr sz="3200">
                <a:solidFill>
                  <a:srgbClr val="FFFFFF"/>
                </a:solidFill>
              </a:defRPr>
            </a:lvl1pPr>
          </a:lstStyle>
          <a:p>
            <a:pPr algn="l">
              <a:defRPr sz="3200">
                <a:solidFill>
                  <a:srgbClr val="FFFFFF"/>
                </a:solidFill>
              </a:defRPr>
            </a:pPr>
            <a:r>
              <a:rPr sz="3200" b="1">
                <a:solidFill>
                  <a:srgbClr val="FFFFFF"/>
                </a:solidFill>
                <a:latin typeface="Arial"/>
              </a:rPr>
              <a:t>Question 26</a:t>
            </a:r>
            <a:endParaRPr sz="3200">
              <a:solidFill>
                <a:srgbClr val="FFFFFF"/>
              </a:solidFill>
            </a:endParaRPr>
          </a:p>
        </p:txBody>
      </p:sp>
      <p:sp>
        <p:nvSpPr>
          <p:cNvPr id="3" name="Rounded Rectangle 2"/>
          <p:cNvSpPr/>
          <p:nvPr/>
        </p:nvSpPr>
        <p:spPr>
          <a:xfrm>
            <a:off x="7894015" y="246887"/>
            <a:ext cx="3840480" cy="603504"/>
          </a:xfrm>
          <a:prstGeom prst="roundRect">
            <a:avLst>
              <a:gd name="adj" fmla="val 50000"/>
            </a:avLst>
          </a:prstGeom>
          <a:solidFill>
            <a:srgbClr val="FFD966"/>
          </a:solidFill>
          <a:ln w="1905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111827"/>
          </a:fontRef>
        </p:style>
        <p:txBody>
          <a:bodyPr rtlCol="0" anchor="ctr" wrap="square" lIns="228600" rIns="228600" tIns="18288" bIns="18288"/>
          <a:lstStyle>
            <a:lvl1pPr>
              <a:defRPr sz="2400">
                <a:solidFill>
                  <a:srgbClr val="111827"/>
                </a:solidFill>
              </a:defRPr>
            </a:lvl1pPr>
          </a:lstStyle>
          <a:p>
            <a:pPr algn="ctr">
              <a:defRPr sz="2400">
                <a:solidFill>
                  <a:srgbClr val="111827"/>
                </a:solidFill>
              </a:defRPr>
            </a:pPr>
            <a:r>
              <a:rPr sz="2400" b="1">
                <a:solidFill>
                  <a:srgbClr val="111827"/>
                </a:solidFill>
                <a:latin typeface="Arial"/>
              </a:rPr>
              <a:t>Level 2  ·  3 Marks</a:t>
            </a:r>
            <a:endParaRPr sz="2400">
              <a:solidFill>
                <a:srgbClr val="111827"/>
              </a:solidFill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4" name="Rectangle 3"/>
              <p:cNvSpPr/>
              <p:nvPr/>
            </p:nvSpPr>
            <p:spPr>
              <a:xfrm>
                <a:off x="731520" y="1353312"/>
                <a:ext cx="10725912" cy="5321808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(B) Put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𝑦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in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𝑓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𝑦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𝑓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𝑓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𝑦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: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𝑓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𝑓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so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𝑓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0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 Put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𝑦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</m:den>
                    </m:f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(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≠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0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):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𝑓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𝑓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𝑓</m:t>
                    </m:r>
                    <m:d>
                      <m:dPr>
                        <m:begChr m:val="("/>
                        <m:sepChr m:val=""/>
                        <m:endChr m:val=")"/>
                        <m:grow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f>
                          <m:fPr>
                            <m:type m:val="bar"/>
                            <m:ctrlP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fPr>
                          <m:num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1</m:t>
                            </m:r>
                          </m:num>
                          <m:den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𝑥</m:t>
                            </m:r>
                          </m:den>
                        </m:f>
                      </m:e>
                    </m:d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i.e.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𝑓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𝑓</m:t>
                    </m:r>
                    <m:d>
                      <m:dPr>
                        <m:begChr m:val="("/>
                        <m:sepChr m:val=""/>
                        <m:endChr m:val=")"/>
                        <m:grow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f>
                          <m:fPr>
                            <m:type m:val="bar"/>
                            <m:ctrlP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fPr>
                          <m:num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1</m:t>
                            </m:r>
                          </m:num>
                          <m:den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𝑥</m:t>
                            </m:r>
                          </m:den>
                        </m:f>
                      </m:e>
                    </m:d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0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With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𝑒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: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𝑓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𝑒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𝑓</m:t>
                    </m:r>
                    <m:d>
                      <m:dPr>
                        <m:begChr m:val="("/>
                        <m:sepChr m:val=""/>
                        <m:endChr m:val=")"/>
                        <m:grow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f>
                          <m:fPr>
                            <m:type m:val="bar"/>
                            <m:ctrlP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fPr>
                          <m:num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1</m:t>
                            </m:r>
                          </m:num>
                          <m:den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𝑒</m:t>
                            </m:r>
                          </m:den>
                        </m:f>
                      </m:e>
                    </m:d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0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 So B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→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R. (The PDF's route 'f(x)=ln x' is not valid on all of </a:t>
                </a:r>
                <a14:m>
                  <m:oMath xmlns:m="http://schemas.openxmlformats.org/officeDocument/2006/math">
                    <m:r>
                      <m:rPr>
                        <m:scr m:val="double-struck"/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R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see the note.)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(C)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ℎ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𝑓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sSup>
                      <m:e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)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𝑔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sSup>
                      <m:e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)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so </a:t>
                </a:r>
                <a14:m>
                  <m:oMath xmlns:m="http://schemas.openxmlformats.org/officeDocument/2006/math"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ℎ</m:t>
                        </m:r>
                      </m:e>
                      <m:sup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′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𝑓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𝑓</m:t>
                        </m:r>
                      </m:e>
                      <m:sup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′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𝑔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𝑔</m:t>
                        </m:r>
                      </m:e>
                      <m:sup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′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𝑓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𝑓</m:t>
                        </m:r>
                      </m:e>
                      <m:sup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′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𝑓</m:t>
                        </m:r>
                      </m:e>
                      <m:sup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′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𝑓</m:t>
                        </m:r>
                      </m:e>
                      <m:sup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″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since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𝑔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𝑓</m:t>
                        </m:r>
                      </m:e>
                      <m:sup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′</m:t>
                        </m:r>
                      </m:sup>
                    </m:sSup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Using </a:t>
                </a:r>
                <a14:m>
                  <m:oMath xmlns:m="http://schemas.openxmlformats.org/officeDocument/2006/math"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𝑓</m:t>
                        </m:r>
                      </m:e>
                      <m:sup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″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𝑓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: </a:t>
                </a:r>
                <a14:m>
                  <m:oMath xmlns:m="http://schemas.openxmlformats.org/officeDocument/2006/math"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ℎ</m:t>
                        </m:r>
                      </m:e>
                      <m:sup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′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𝑓</m:t>
                    </m:r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𝑓</m:t>
                        </m:r>
                      </m:e>
                      <m:sup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′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𝑓</m:t>
                        </m:r>
                      </m:e>
                      <m:sup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′</m:t>
                        </m:r>
                      </m:sup>
                    </m:sSup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𝑓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0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so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ℎ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is constant.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ℎ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5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9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gives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ℎ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9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and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ℎ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10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9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 So C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→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T.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(D)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𝑦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sSup>
                      <m:e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tan</m:t>
                        </m:r>
                      </m:e>
                      <m:sup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−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cot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sSup>
                      <m:e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cot</m:t>
                        </m:r>
                      </m:e>
                      <m:sup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−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tan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d>
                      <m:dPr>
                        <m:begChr m:val="("/>
                        <m:sepChr m:val=""/>
                        <m:endChr m:val=")"/>
                        <m:grow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f>
                          <m:fPr>
                            <m:type m:val="bar"/>
                            <m:ctrlP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fPr>
                          <m:num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π</m:t>
                            </m:r>
                          </m:num>
                          <m:den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2</m:t>
                            </m:r>
                          </m:den>
                        </m:f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−</m:t>
                        </m:r>
                        <m:sSup>
                          <m:e>
                            <m:r>
                              <m:rPr>
                                <m:sty m:val="p"/>
                              </m:rPr>
                              <a:rPr lang="en-IN" sz="2400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cot</m:t>
                            </m:r>
                          </m:e>
                          <m:sup>
                            <m:r>
                              <m:rPr>
                                <m:sty m:val="p"/>
                              </m:rPr>
                              <a:rPr lang="en-IN" sz="2400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−</m:t>
                            </m:r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1</m:t>
                            </m:r>
                          </m:sup>
                        </m:sSup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(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cot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)</m:t>
                        </m:r>
                      </m:e>
                    </m:d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d>
                      <m:dPr>
                        <m:begChr m:val="("/>
                        <m:sepChr m:val=""/>
                        <m:endChr m:val=")"/>
                        <m:grow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f>
                          <m:fPr>
                            <m:type m:val="bar"/>
                            <m:ctrlP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fPr>
                          <m:num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π</m:t>
                            </m:r>
                          </m:num>
                          <m:den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2</m:t>
                            </m:r>
                          </m:den>
                        </m:f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−</m:t>
                        </m:r>
                        <m:sSup>
                          <m:e>
                            <m:r>
                              <m:rPr>
                                <m:sty m:val="p"/>
                              </m:rPr>
                              <a:rPr lang="en-IN" sz="2400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tan</m:t>
                            </m:r>
                          </m:e>
                          <m:sup>
                            <m:r>
                              <m:rPr>
                                <m:sty m:val="p"/>
                              </m:rPr>
                              <a:rPr lang="en-IN" sz="2400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−</m:t>
                            </m:r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1</m:t>
                            </m:r>
                          </m:sup>
                        </m:sSup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(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tan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)</m:t>
                        </m:r>
                      </m:e>
                    </m:d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Choice>
        <mc:Fallback>
          <p:sp>
            <p:nvSpPr>
              <p:cNvPr id="4" name="Rectangle 3"/>
              <p:cNvSpPr/>
              <p:nvPr/>
            </p:nvSpPr>
            <p:spPr>
              <a:xfrm>
                <a:off x="731520" y="1353312"/>
                <a:ext cx="10725912" cy="5321808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(B) Put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$x=y=1$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in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$f(xy)=f(x)+f(y)$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: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$f(1)=2f(1)$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so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$f(1)=0$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 Put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$y=\frac1x$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(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$x\neq0$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):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$f(1)=f(x)+f\left(\frac1x\right)$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i.e.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$f(x)+f\left(\frac1x\right)=0$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With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$x=e$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: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$f(e)+f\left(\frac1e\right)=0$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 So B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$\to$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R. (The PDF's route 'f(x)=ln x' is not valid on all of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$\mathbb R$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see the note.)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(C)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$h(x)=f(x)^2+g(x)^2$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so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$h'(x)=2f(x)f'(x)+2g(x)g'(x)=2f(x)f'(x)+2f'(x)f''(x)$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since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$g=f'$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Using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$f''=-f$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: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$h'(x)=2ff'-2f'f=0$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so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$h(x)$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is constant.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$h(5)=9$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gives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$h(x)=9$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and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$h(10)=9$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 So C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$\to$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T.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(D)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$y=\tan^{-1}(\cot x)+\cot^{-1}(\tan x)=\left(\frac\pi2-\cot^{-1}(\cot x)\right)+\left(\frac\pi2-\tan^{-1}(\tan x)\right)$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Fallback>
      </mc:AlternateContent>
    </p:spTree>
  </p:cSld>
  <p:clrMapOvr>
    <a:masterClrMapping/>
  </p:clrMapOvr>
</p:sld>
</file>

<file path=ppt/slides/slide16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FFFFFF"/>
          </a:fontRef>
        </p:style>
        <p:txBody>
          <a:bodyPr rtlCol="0" anchor="ctr" lIns="731520"/>
          <a:lstStyle>
            <a:lvl1pPr>
              <a:defRPr sz="3200">
                <a:solidFill>
                  <a:srgbClr val="FFFFFF"/>
                </a:solidFill>
              </a:defRPr>
            </a:lvl1pPr>
          </a:lstStyle>
          <a:p>
            <a:pPr algn="l">
              <a:defRPr sz="3200">
                <a:solidFill>
                  <a:srgbClr val="FFFFFF"/>
                </a:solidFill>
              </a:defRPr>
            </a:pPr>
            <a:r>
              <a:rPr sz="3200" b="1">
                <a:solidFill>
                  <a:srgbClr val="FFFFFF"/>
                </a:solidFill>
                <a:latin typeface="Arial"/>
              </a:rPr>
              <a:t>Question 26</a:t>
            </a:r>
            <a:endParaRPr sz="3200">
              <a:solidFill>
                <a:srgbClr val="FFFFFF"/>
              </a:solidFill>
            </a:endParaRPr>
          </a:p>
        </p:txBody>
      </p:sp>
      <p:sp>
        <p:nvSpPr>
          <p:cNvPr id="3" name="Rounded Rectangle 2"/>
          <p:cNvSpPr/>
          <p:nvPr/>
        </p:nvSpPr>
        <p:spPr>
          <a:xfrm>
            <a:off x="7894015" y="246887"/>
            <a:ext cx="3840480" cy="603504"/>
          </a:xfrm>
          <a:prstGeom prst="roundRect">
            <a:avLst>
              <a:gd name="adj" fmla="val 50000"/>
            </a:avLst>
          </a:prstGeom>
          <a:solidFill>
            <a:srgbClr val="FFD966"/>
          </a:solidFill>
          <a:ln w="1905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111827"/>
          </a:fontRef>
        </p:style>
        <p:txBody>
          <a:bodyPr rtlCol="0" anchor="ctr" wrap="square" lIns="228600" rIns="228600" tIns="18288" bIns="18288"/>
          <a:lstStyle>
            <a:lvl1pPr>
              <a:defRPr sz="2400">
                <a:solidFill>
                  <a:srgbClr val="111827"/>
                </a:solidFill>
              </a:defRPr>
            </a:lvl1pPr>
          </a:lstStyle>
          <a:p>
            <a:pPr algn="ctr">
              <a:defRPr sz="2400">
                <a:solidFill>
                  <a:srgbClr val="111827"/>
                </a:solidFill>
              </a:defRPr>
            </a:pPr>
            <a:r>
              <a:rPr sz="2400" b="1">
                <a:solidFill>
                  <a:srgbClr val="111827"/>
                </a:solidFill>
                <a:latin typeface="Arial"/>
              </a:rPr>
              <a:t>Level 2  ·  3 Marks</a:t>
            </a:r>
            <a:endParaRPr sz="2400">
              <a:solidFill>
                <a:srgbClr val="111827"/>
              </a:solidFill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4" name="Rectangle 3"/>
              <p:cNvSpPr/>
              <p:nvPr/>
            </p:nvSpPr>
            <p:spPr>
              <a:xfrm>
                <a:off x="731520" y="1353312"/>
                <a:ext cx="10725912" cy="4434840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For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∈</m:t>
                    </m:r>
                    <m:d>
                      <m:dPr>
                        <m:begChr m:val="("/>
                        <m:sepChr m:val=""/>
                        <m:endChr m:val=")"/>
                        <m:grow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0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,</m:t>
                        </m:r>
                        <m:f>
                          <m:fPr>
                            <m:type m:val="bar"/>
                            <m:ctrlP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fPr>
                          <m:num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π</m:t>
                            </m:r>
                          </m:num>
                          <m:den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2</m:t>
                            </m:r>
                          </m:den>
                        </m:f>
                      </m:e>
                    </m:d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: </a:t>
                </a:r>
                <a14:m>
                  <m:oMath xmlns:m="http://schemas.openxmlformats.org/officeDocument/2006/math">
                    <m:sSup>
                      <m:e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cot</m:t>
                        </m:r>
                      </m:e>
                      <m:sup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−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cot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and </a:t>
                </a:r>
                <a14:m>
                  <m:oMath xmlns:m="http://schemas.openxmlformats.org/officeDocument/2006/math">
                    <m:sSup>
                      <m:e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tan</m:t>
                        </m:r>
                      </m:e>
                      <m:sup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−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tan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so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𝑦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π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and </a:t>
                </a:r>
                <a14:m>
                  <m:oMath xmlns:m="http://schemas.openxmlformats.org/officeDocument/2006/math"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𝑑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𝑦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𝑑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</m:den>
                    </m:f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 So D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→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P.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Matching: A–T, B–R, C–T, D–P.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Choice>
        <mc:Fallback>
          <p:sp>
            <p:nvSpPr>
              <p:cNvPr id="4" name="Rectangle 3"/>
              <p:cNvSpPr/>
              <p:nvPr/>
            </p:nvSpPr>
            <p:spPr>
              <a:xfrm>
                <a:off x="731520" y="1353312"/>
                <a:ext cx="10725912" cy="4434840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For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$x\in\left(0,\frac\pi2\right)$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: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$\cot^{-1}(\cot x)=x$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and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$\tan^{-1}(\tan x)=x$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so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$y=\pi-2x$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and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$\frac{dy}{dx}=-2$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 So D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$\to$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P.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Matching: A–T, B–R, C–T, D–P.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Fallback>
      </mc:AlternateContent>
      <p:sp>
        <p:nvSpPr>
          <p:cNvPr id="5" name="Rounded Rectangle 4"/>
          <p:cNvSpPr/>
          <p:nvPr/>
        </p:nvSpPr>
        <p:spPr>
          <a:xfrm>
            <a:off x="731520" y="5897880"/>
            <a:ext cx="10725912" cy="777240"/>
          </a:xfrm>
          <a:prstGeom prst="roundRect">
            <a:avLst>
              <a:gd name="adj" fmla="val 8000"/>
            </a:avLst>
          </a:prstGeom>
          <a:solidFill>
            <a:srgbClr val="DCFCE7"/>
          </a:solidFill>
          <a:ln w="25400">
            <a:solidFill>
              <a:srgbClr val="15803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15803D"/>
          </a:fontRef>
        </p:style>
        <p:txBody>
          <a:bodyPr rtlCol="0" anchor="ctr" wrap="square" lIns="228600" rIns="228600" tIns="18288" bIns="73152"/>
          <a:lstStyle>
            <a:lvl1pPr>
              <a:defRPr sz="2800">
                <a:solidFill>
                  <a:srgbClr val="15803D"/>
                </a:solidFill>
              </a:defRPr>
            </a:lvl1pPr>
          </a:lstStyle>
          <a:p>
            <a:pPr algn="ctr">
              <a:defRPr sz="2800">
                <a:solidFill>
                  <a:srgbClr val="15803D"/>
                </a:solidFill>
              </a:defRPr>
            </a:pPr>
            <a:r>
              <a:rPr sz="2800" b="1">
                <a:solidFill>
                  <a:srgbClr val="15803D"/>
                </a:solidFill>
                <a:latin typeface="Arial"/>
              </a:rPr>
              <a:t>Correct Answer: A–T, B–R, C–T, D–P</a:t>
            </a:r>
            <a:endParaRPr sz="2800">
              <a:solidFill>
                <a:srgbClr val="15803D"/>
              </a:solidFill>
            </a:endParaRPr>
          </a:p>
        </p:txBody>
      </p:sp>
    </p:spTree>
  </p:cSld>
  <p:clrMapOvr>
    <a:masterClrMapping/>
  </p:clrMapOvr>
</p:sld>
</file>

<file path=ppt/slides/slide16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FFFFFF"/>
          </a:fontRef>
        </p:style>
        <p:txBody>
          <a:bodyPr rtlCol="0" anchor="ctr" lIns="731520"/>
          <a:lstStyle>
            <a:lvl1pPr>
              <a:defRPr sz="3200">
                <a:solidFill>
                  <a:srgbClr val="FFFFFF"/>
                </a:solidFill>
              </a:defRPr>
            </a:lvl1pPr>
          </a:lstStyle>
          <a:p>
            <a:pPr algn="l">
              <a:defRPr sz="3200">
                <a:solidFill>
                  <a:srgbClr val="FFFFFF"/>
                </a:solidFill>
              </a:defRPr>
            </a:pPr>
            <a:r>
              <a:rPr sz="3200" b="1">
                <a:solidFill>
                  <a:srgbClr val="FFFFFF"/>
                </a:solidFill>
                <a:latin typeface="Arial"/>
              </a:rPr>
              <a:t>Question 26</a:t>
            </a:r>
            <a:endParaRPr sz="3200">
              <a:solidFill>
                <a:srgbClr val="FFFFFF"/>
              </a:solidFill>
            </a:endParaRPr>
          </a:p>
        </p:txBody>
      </p:sp>
      <p:sp>
        <p:nvSpPr>
          <p:cNvPr id="3" name="Rounded Rectangle 2"/>
          <p:cNvSpPr/>
          <p:nvPr/>
        </p:nvSpPr>
        <p:spPr>
          <a:xfrm>
            <a:off x="7894015" y="246887"/>
            <a:ext cx="3840480" cy="603504"/>
          </a:xfrm>
          <a:prstGeom prst="roundRect">
            <a:avLst>
              <a:gd name="adj" fmla="val 50000"/>
            </a:avLst>
          </a:prstGeom>
          <a:solidFill>
            <a:srgbClr val="FFD966"/>
          </a:solidFill>
          <a:ln w="1905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111827"/>
          </a:fontRef>
        </p:style>
        <p:txBody>
          <a:bodyPr rtlCol="0" anchor="ctr" wrap="square" lIns="228600" rIns="228600" tIns="18288" bIns="18288"/>
          <a:lstStyle>
            <a:lvl1pPr>
              <a:defRPr sz="2400">
                <a:solidFill>
                  <a:srgbClr val="111827"/>
                </a:solidFill>
              </a:defRPr>
            </a:lvl1pPr>
          </a:lstStyle>
          <a:p>
            <a:pPr algn="ctr">
              <a:defRPr sz="2400">
                <a:solidFill>
                  <a:srgbClr val="111827"/>
                </a:solidFill>
              </a:defRPr>
            </a:pPr>
            <a:r>
              <a:rPr sz="2400" b="1">
                <a:solidFill>
                  <a:srgbClr val="111827"/>
                </a:solidFill>
                <a:latin typeface="Arial"/>
              </a:rPr>
              <a:t>Level 2  ·  3 Marks</a:t>
            </a:r>
            <a:endParaRPr sz="2400">
              <a:solidFill>
                <a:srgbClr val="111827"/>
              </a:solidFill>
            </a:endParaRPr>
          </a:p>
        </p:txBody>
      </p:sp>
      <p:sp>
        <p:nvSpPr>
          <p:cNvPr id="4" name="Rounded Rectangle 3"/>
          <p:cNvSpPr/>
          <p:nvPr/>
        </p:nvSpPr>
        <p:spPr>
          <a:xfrm>
            <a:off x="3520440" y="265176"/>
            <a:ext cx="4206240" cy="566928"/>
          </a:xfrm>
          <a:prstGeom prst="roundRect">
            <a:avLst>
              <a:gd name="adj" fmla="val 50000"/>
            </a:avLst>
          </a:prstGeom>
          <a:solidFill>
            <a:srgbClr val="FDE68A"/>
          </a:solidFill>
          <a:ln w="25400">
            <a:solidFill>
              <a:srgbClr val="D9770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78350F"/>
          </a:fontRef>
        </p:style>
        <p:txBody>
          <a:bodyPr rtlCol="0" anchor="ctr" wrap="square" lIns="228600" rIns="228600" tIns="18288" bIns="18288"/>
          <a:lstStyle>
            <a:lvl1pPr>
              <a:defRPr sz="2200">
                <a:solidFill>
                  <a:srgbClr val="78350F"/>
                </a:solidFill>
              </a:defRPr>
            </a:lvl1pPr>
          </a:lstStyle>
          <a:p>
            <a:pPr algn="ctr">
              <a:defRPr sz="2200">
                <a:solidFill>
                  <a:srgbClr val="78350F"/>
                </a:solidFill>
              </a:defRPr>
            </a:pPr>
            <a:r>
              <a:rPr sz="2200" b="1">
                <a:solidFill>
                  <a:srgbClr val="78350F"/>
                </a:solidFill>
                <a:latin typeface="Arial"/>
              </a:rPr>
              <a:t>Alternate Solution</a:t>
            </a:r>
            <a:endParaRPr sz="2200">
              <a:solidFill>
                <a:srgbClr val="78350F"/>
              </a:solidFill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5" name="Rounded Rectangle 4"/>
              <p:cNvSpPr/>
              <p:nvPr/>
            </p:nvSpPr>
            <p:spPr>
              <a:xfrm>
                <a:off x="731520" y="1280160"/>
                <a:ext cx="10725912" cy="1481328"/>
              </a:xfrm>
              <a:prstGeom prst="roundRect">
                <a:avLst>
                  <a:gd name="adj" fmla="val 8000"/>
                </a:avLst>
              </a:prstGeom>
              <a:solidFill>
                <a:srgbClr val="FDE68A"/>
              </a:solidFill>
              <a:ln w="31750">
                <a:solidFill>
                  <a:srgbClr val="D97706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78350F"/>
              </a:fontRef>
            </p:style>
            <p:txBody>
              <a:bodyPr rtlCol="0" anchor="ctr" wrap="square" lIns="228600" rIns="228600" tIns="54864" bIns="73152"/>
              <a:lstStyle>
                <a:lvl1pPr>
                  <a:defRPr sz="2400">
                    <a:solidFill>
                      <a:srgbClr val="78350F"/>
                    </a:solidFill>
                  </a:defRPr>
                </a:lvl1pPr>
              </a:lstStyle>
              <a:p>
                <a:pPr algn="l">
                  <a:defRPr sz="2400">
                    <a:solidFill>
                      <a:srgbClr val="78350F"/>
                    </a:solidFill>
                  </a:defRPr>
                </a:pPr>
                <a:r>
                  <a:rPr sz="2400" b="1">
                    <a:solidFill>
                      <a:srgbClr val="78350F"/>
                    </a:solidFill>
                    <a:latin typeface="Arial"/>
                  </a:rPr>
                  <a:t>Idea:  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(B) from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𝑦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0</m:t>
                    </m:r>
                  </m:oMath>
                </a14:m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: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𝑓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≡</m:t>
                    </m:r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0</m:t>
                    </m:r>
                  </m:oMath>
                </a14:m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. (C) the general solution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𝑓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𝐴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cos</m:t>
                    </m:r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𝐵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sin</m:t>
                    </m:r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𝑥</m:t>
                    </m:r>
                  </m:oMath>
                </a14:m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. (D) differentiate each inverse function directly (no branch bookkeeping).</a:t>
                </a:r>
                <a:endParaRPr sz="2400">
                  <a:solidFill>
                    <a:srgbClr val="78350F"/>
                  </a:solidFill>
                </a:endParaRPr>
              </a:p>
            </p:txBody>
          </p:sp>
        </mc:Choice>
        <mc:Fallback>
          <p:sp>
            <p:nvSpPr>
              <p:cNvPr id="5" name="Rounded Rectangle 4"/>
              <p:cNvSpPr/>
              <p:nvPr/>
            </p:nvSpPr>
            <p:spPr>
              <a:xfrm>
                <a:off x="731520" y="1280160"/>
                <a:ext cx="10725912" cy="1481328"/>
              </a:xfrm>
              <a:prstGeom prst="roundRect">
                <a:avLst>
                  <a:gd name="adj" fmla="val 8000"/>
                </a:avLst>
              </a:prstGeom>
              <a:solidFill>
                <a:srgbClr val="FDE68A"/>
              </a:solidFill>
              <a:ln w="31750">
                <a:solidFill>
                  <a:srgbClr val="D97706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78350F"/>
              </a:fontRef>
            </p:style>
            <p:txBody>
              <a:bodyPr rtlCol="0" anchor="ctr" wrap="square" lIns="228600" rIns="228600" tIns="54864" bIns="73152"/>
              <a:lstStyle>
                <a:lvl1pPr>
                  <a:defRPr sz="2400">
                    <a:solidFill>
                      <a:srgbClr val="78350F"/>
                    </a:solidFill>
                  </a:defRPr>
                </a:lvl1pPr>
              </a:lstStyle>
              <a:p>
                <a:pPr algn="l">
                  <a:defRPr sz="2400">
                    <a:solidFill>
                      <a:srgbClr val="78350F"/>
                    </a:solidFill>
                  </a:defRPr>
                </a:pPr>
                <a:r>
                  <a:rPr sz="2400" b="1">
                    <a:solidFill>
                      <a:srgbClr val="78350F"/>
                    </a:solidFill>
                    <a:latin typeface="Arial"/>
                  </a:rPr>
                  <a:t>Idea:  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(B) from </a:t>
                </a:r>
                <a:r>
                  <a:rPr lang="en-IN" sz="2400">
                    <a:solidFill>
                      <a:srgbClr val="78350F"/>
                    </a:solidFill>
                    <a:latin typeface="Cambria Math" panose="02040503050406030204" pitchFamily="18" charset="0"/>
                  </a:rPr>
                  <a:t>$x=y=0$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: </a:t>
                </a:r>
                <a:r>
                  <a:rPr lang="en-IN" sz="2400">
                    <a:solidFill>
                      <a:srgbClr val="78350F"/>
                    </a:solidFill>
                    <a:latin typeface="Cambria Math" panose="02040503050406030204" pitchFamily="18" charset="0"/>
                  </a:rPr>
                  <a:t>$f\equiv0$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. (C) the general solution </a:t>
                </a:r>
                <a:r>
                  <a:rPr lang="en-IN" sz="2400">
                    <a:solidFill>
                      <a:srgbClr val="78350F"/>
                    </a:solidFill>
                    <a:latin typeface="Cambria Math" panose="02040503050406030204" pitchFamily="18" charset="0"/>
                  </a:rPr>
                  <a:t>$f=A\cos x+B\sin x$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. (D) differentiate each inverse function directly (no branch bookkeeping).</a:t>
                </a:r>
                <a:endParaRPr sz="2400">
                  <a:solidFill>
                    <a:srgbClr val="78350F"/>
                  </a:solidFill>
                </a:endParaRP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6" name="Rectangle 5"/>
              <p:cNvSpPr/>
              <p:nvPr/>
            </p:nvSpPr>
            <p:spPr>
              <a:xfrm>
                <a:off x="731520" y="2898648"/>
                <a:ext cx="10725912" cy="3776472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(B) Put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𝑦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0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: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𝑓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0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𝑓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0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so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𝑓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0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0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 Then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𝑓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𝑦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𝑓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0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⋅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𝑦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𝑓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0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0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for every real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𝑦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; thus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𝑓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≡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0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and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𝑓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𝑒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𝑓</m:t>
                    </m:r>
                    <m:d>
                      <m:dPr>
                        <m:begChr m:val="("/>
                        <m:sepChr m:val=""/>
                        <m:endChr m:val=")"/>
                        <m:grow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f>
                          <m:fPr>
                            <m:type m:val="bar"/>
                            <m:ctrlP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fPr>
                          <m:num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1</m:t>
                            </m:r>
                          </m:num>
                          <m:den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𝑒</m:t>
                            </m:r>
                          </m:den>
                        </m:f>
                      </m:e>
                    </m:d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0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 So B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→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R.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(C) </a:t>
                </a:r>
                <a14:m>
                  <m:oMath xmlns:m="http://schemas.openxmlformats.org/officeDocument/2006/math"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𝑓</m:t>
                        </m:r>
                      </m:e>
                      <m:sup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″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𝑓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gives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𝑓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𝐴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cos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𝐵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sin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and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𝑔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𝑓</m:t>
                        </m:r>
                      </m:e>
                      <m:sup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′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𝐴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sin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𝐵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cos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ℎ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𝑓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𝑔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𝐴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d>
                      <m:dPr>
                        <m:begChr m:val="("/>
                        <m:sepChr m:val=""/>
                        <m:endChr m:val=")"/>
                        <m:grow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sSup>
                          <m:e>
                            <m:r>
                              <m:rPr>
                                <m:sty m:val="p"/>
                              </m:rPr>
                              <a:rPr lang="en-IN" sz="2400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cos</m:t>
                            </m:r>
                          </m:e>
                          <m:sup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2</m:t>
                            </m:r>
                          </m:sup>
                        </m:s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+</m:t>
                        </m:r>
                        <m:sSup>
                          <m:e>
                            <m:r>
                              <m:rPr>
                                <m:sty m:val="p"/>
                              </m:rPr>
                              <a:rPr lang="en-IN" sz="2400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sin</m:t>
                            </m:r>
                          </m:e>
                          <m:sup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2</m:t>
                            </m:r>
                          </m:sup>
                        </m:s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</m:d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𝐵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d>
                      <m:dPr>
                        <m:begChr m:val="("/>
                        <m:sepChr m:val=""/>
                        <m:endChr m:val=")"/>
                        <m:grow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sSup>
                          <m:e>
                            <m:r>
                              <m:rPr>
                                <m:sty m:val="p"/>
                              </m:rPr>
                              <a:rPr lang="en-IN" sz="2400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sin</m:t>
                            </m:r>
                          </m:e>
                          <m:sup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2</m:t>
                            </m:r>
                          </m:sup>
                        </m:s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+</m:t>
                        </m:r>
                        <m:sSup>
                          <m:e>
                            <m:r>
                              <m:rPr>
                                <m:sty m:val="p"/>
                              </m:rPr>
                              <a:rPr lang="en-IN" sz="2400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cos</m:t>
                            </m:r>
                          </m:e>
                          <m:sup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2</m:t>
                            </m:r>
                          </m:sup>
                        </m:s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</m:d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𝐴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𝐵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(a constant), so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ℎ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10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ℎ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5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9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 So C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→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T.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Choice>
        <mc:Fallback>
          <p:sp>
            <p:nvSpPr>
              <p:cNvPr id="6" name="Rectangle 5"/>
              <p:cNvSpPr/>
              <p:nvPr/>
            </p:nvSpPr>
            <p:spPr>
              <a:xfrm>
                <a:off x="731520" y="2898648"/>
                <a:ext cx="10725912" cy="3776472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(B) Put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$x=y=0$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: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$f(0)=2f(0)$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so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$f(0)=0$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 Then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$f(y)=f(0\cdot y)-f(0)=0$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for every real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$y$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; thus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$f\equiv0$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and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$f(e)+f\left(\frac1e\right)=0$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 So B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$\to$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R.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(C)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$f''=-f$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gives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$f=A\cos x+B\sin x$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and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$g=f'=-A\sin x+B\cos x$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$h=f^2+g^2=A^2\left(\cos^2x+\sin^2x\right)+B^2\left(\sin^2x+\cos^2x\right)=A^2+B^2$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(a constant), so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$h(10)=h(5)=9$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 So C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$\to$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T.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Fallback>
      </mc:AlternateContent>
    </p:spTree>
  </p:cSld>
  <p:clrMapOvr>
    <a:masterClrMapping/>
  </p:clrMapOvr>
</p:sld>
</file>

<file path=ppt/slides/slide16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FFFFFF"/>
          </a:fontRef>
        </p:style>
        <p:txBody>
          <a:bodyPr rtlCol="0" anchor="ctr" lIns="731520"/>
          <a:lstStyle>
            <a:lvl1pPr>
              <a:defRPr sz="3200">
                <a:solidFill>
                  <a:srgbClr val="FFFFFF"/>
                </a:solidFill>
              </a:defRPr>
            </a:lvl1pPr>
          </a:lstStyle>
          <a:p>
            <a:pPr algn="l">
              <a:defRPr sz="3200">
                <a:solidFill>
                  <a:srgbClr val="FFFFFF"/>
                </a:solidFill>
              </a:defRPr>
            </a:pPr>
            <a:r>
              <a:rPr sz="3200" b="1">
                <a:solidFill>
                  <a:srgbClr val="FFFFFF"/>
                </a:solidFill>
                <a:latin typeface="Arial"/>
              </a:rPr>
              <a:t>Question 26</a:t>
            </a:r>
            <a:endParaRPr sz="3200">
              <a:solidFill>
                <a:srgbClr val="FFFFFF"/>
              </a:solidFill>
            </a:endParaRPr>
          </a:p>
        </p:txBody>
      </p:sp>
      <p:sp>
        <p:nvSpPr>
          <p:cNvPr id="3" name="Rounded Rectangle 2"/>
          <p:cNvSpPr/>
          <p:nvPr/>
        </p:nvSpPr>
        <p:spPr>
          <a:xfrm>
            <a:off x="7894015" y="246887"/>
            <a:ext cx="3840480" cy="603504"/>
          </a:xfrm>
          <a:prstGeom prst="roundRect">
            <a:avLst>
              <a:gd name="adj" fmla="val 50000"/>
            </a:avLst>
          </a:prstGeom>
          <a:solidFill>
            <a:srgbClr val="FFD966"/>
          </a:solidFill>
          <a:ln w="1905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111827"/>
          </a:fontRef>
        </p:style>
        <p:txBody>
          <a:bodyPr rtlCol="0" anchor="ctr" wrap="square" lIns="228600" rIns="228600" tIns="18288" bIns="18288"/>
          <a:lstStyle>
            <a:lvl1pPr>
              <a:defRPr sz="2400">
                <a:solidFill>
                  <a:srgbClr val="111827"/>
                </a:solidFill>
              </a:defRPr>
            </a:lvl1pPr>
          </a:lstStyle>
          <a:p>
            <a:pPr algn="ctr">
              <a:defRPr sz="2400">
                <a:solidFill>
                  <a:srgbClr val="111827"/>
                </a:solidFill>
              </a:defRPr>
            </a:pPr>
            <a:r>
              <a:rPr sz="2400" b="1">
                <a:solidFill>
                  <a:srgbClr val="111827"/>
                </a:solidFill>
                <a:latin typeface="Arial"/>
              </a:rPr>
              <a:t>Level 2  ·  3 Marks</a:t>
            </a:r>
            <a:endParaRPr sz="2400">
              <a:solidFill>
                <a:srgbClr val="111827"/>
              </a:solidFill>
            </a:endParaRPr>
          </a:p>
        </p:txBody>
      </p:sp>
      <p:sp>
        <p:nvSpPr>
          <p:cNvPr id="4" name="Rounded Rectangle 3"/>
          <p:cNvSpPr/>
          <p:nvPr/>
        </p:nvSpPr>
        <p:spPr>
          <a:xfrm>
            <a:off x="3520440" y="265176"/>
            <a:ext cx="4206240" cy="566928"/>
          </a:xfrm>
          <a:prstGeom prst="roundRect">
            <a:avLst>
              <a:gd name="adj" fmla="val 50000"/>
            </a:avLst>
          </a:prstGeom>
          <a:solidFill>
            <a:srgbClr val="FDE68A"/>
          </a:solidFill>
          <a:ln w="25400">
            <a:solidFill>
              <a:srgbClr val="D9770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78350F"/>
          </a:fontRef>
        </p:style>
        <p:txBody>
          <a:bodyPr rtlCol="0" anchor="ctr" wrap="square" lIns="228600" rIns="228600" tIns="18288" bIns="18288"/>
          <a:lstStyle>
            <a:lvl1pPr>
              <a:defRPr sz="2200">
                <a:solidFill>
                  <a:srgbClr val="78350F"/>
                </a:solidFill>
              </a:defRPr>
            </a:lvl1pPr>
          </a:lstStyle>
          <a:p>
            <a:pPr algn="ctr">
              <a:defRPr sz="2200">
                <a:solidFill>
                  <a:srgbClr val="78350F"/>
                </a:solidFill>
              </a:defRPr>
            </a:pPr>
            <a:r>
              <a:rPr sz="2200" b="1">
                <a:solidFill>
                  <a:srgbClr val="78350F"/>
                </a:solidFill>
                <a:latin typeface="Arial"/>
              </a:rPr>
              <a:t>Alternate Solution</a:t>
            </a:r>
            <a:endParaRPr sz="2200">
              <a:solidFill>
                <a:srgbClr val="78350F"/>
              </a:solidFill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5" name="Rectangle 4"/>
              <p:cNvSpPr/>
              <p:nvPr/>
            </p:nvSpPr>
            <p:spPr>
              <a:xfrm>
                <a:off x="731520" y="1353312"/>
                <a:ext cx="10725912" cy="4434840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(D) </a:t>
                </a:r>
                <a14:m>
                  <m:oMath xmlns:m="http://schemas.openxmlformats.org/officeDocument/2006/math"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𝑑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𝑑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</m:den>
                    </m:f>
                    <m:sSup>
                      <m:e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tan</m:t>
                        </m:r>
                      </m:e>
                      <m:sup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−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cot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−</m:t>
                        </m:r>
                        <m:sSup>
                          <m:e>
                            <m:r>
                              <m:rPr>
                                <m:sty m:val="p"/>
                              </m:rPr>
                              <a:rPr lang="en-IN" sz="2400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csc</m:t>
                            </m:r>
                          </m:e>
                          <m:sup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2</m:t>
                            </m:r>
                          </m:sup>
                        </m:s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+</m:t>
                        </m:r>
                        <m:sSup>
                          <m:e>
                            <m:r>
                              <m:rPr>
                                <m:sty m:val="p"/>
                              </m:rPr>
                              <a:rPr lang="en-IN" sz="2400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cot</m:t>
                            </m:r>
                          </m:e>
                          <m:sup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2</m:t>
                            </m:r>
                          </m:sup>
                        </m:s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</m:den>
                    </m:f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and </a:t>
                </a:r>
                <a14:m>
                  <m:oMath xmlns:m="http://schemas.openxmlformats.org/officeDocument/2006/math"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𝑑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𝑑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</m:den>
                    </m:f>
                    <m:sSup>
                      <m:e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cot</m:t>
                        </m:r>
                      </m:e>
                      <m:sup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−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tan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−</m:t>
                        </m:r>
                        <m:sSup>
                          <m:e>
                            <m:r>
                              <m:rPr>
                                <m:sty m:val="p"/>
                              </m:rPr>
                              <a:rPr lang="en-IN" sz="2400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sec</m:t>
                            </m:r>
                          </m:e>
                          <m:sup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2</m:t>
                            </m:r>
                          </m:sup>
                        </m:s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+</m:t>
                        </m:r>
                        <m:sSup>
                          <m:e>
                            <m:r>
                              <m:rPr>
                                <m:sty m:val="p"/>
                              </m:rPr>
                              <a:rPr lang="en-IN" sz="2400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tan</m:t>
                            </m:r>
                          </m:e>
                          <m:sup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2</m:t>
                            </m:r>
                          </m:sup>
                        </m:s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</m:den>
                    </m:f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wherever defined.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So </a:t>
                </a:r>
                <a14:m>
                  <m:oMath xmlns:m="http://schemas.openxmlformats.org/officeDocument/2006/math"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𝑑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𝑦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𝑑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</m:den>
                    </m:f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on every interval of definition. So D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→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P.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(A) is direct: </a:t>
                </a:r>
                <a14:m>
                  <m:oMath xmlns:m="http://schemas.openxmlformats.org/officeDocument/2006/math"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𝑓</m:t>
                        </m:r>
                      </m:e>
                      <m:sup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′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3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and </a:t>
                </a:r>
                <a14:m>
                  <m:oMath xmlns:m="http://schemas.openxmlformats.org/officeDocument/2006/math"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𝑑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𝑦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𝑑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</m:den>
                    </m:f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3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⋅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3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9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 So A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→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T.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Choice>
        <mc:Fallback>
          <p:sp>
            <p:nvSpPr>
              <p:cNvPr id="5" name="Rectangle 4"/>
              <p:cNvSpPr/>
              <p:nvPr/>
            </p:nvSpPr>
            <p:spPr>
              <a:xfrm>
                <a:off x="731520" y="1353312"/>
                <a:ext cx="10725912" cy="4434840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(D)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$\frac{d}{dx}\tan^{-1}(\cot x)=\frac{-\csc^2x}{1+\cot^2x}=-1$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and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$\frac{d}{dx}\cot^{-1}(\tan x)=\frac{-\sec^2x}{1+\tan^2x}=-1$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wherever defined.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So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$\frac{dy}{dx}=-2$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on every interval of definition. So D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$\to$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P.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(A) is direct: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$f'(1)=3$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and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$\frac{dy}{dx}=3\cdot3=9$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 So A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$\to$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T.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Fallback>
      </mc:AlternateContent>
      <p:sp>
        <p:nvSpPr>
          <p:cNvPr id="6" name="Rounded Rectangle 5"/>
          <p:cNvSpPr/>
          <p:nvPr/>
        </p:nvSpPr>
        <p:spPr>
          <a:xfrm>
            <a:off x="731520" y="5897880"/>
            <a:ext cx="10725912" cy="777240"/>
          </a:xfrm>
          <a:prstGeom prst="roundRect">
            <a:avLst>
              <a:gd name="adj" fmla="val 8000"/>
            </a:avLst>
          </a:prstGeom>
          <a:solidFill>
            <a:srgbClr val="DCFCE7"/>
          </a:solidFill>
          <a:ln w="25400">
            <a:solidFill>
              <a:srgbClr val="15803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15803D"/>
          </a:fontRef>
        </p:style>
        <p:txBody>
          <a:bodyPr rtlCol="0" anchor="ctr" wrap="square" lIns="228600" rIns="228600" tIns="18288" bIns="73152"/>
          <a:lstStyle>
            <a:lvl1pPr>
              <a:defRPr sz="2800">
                <a:solidFill>
                  <a:srgbClr val="15803D"/>
                </a:solidFill>
              </a:defRPr>
            </a:lvl1pPr>
          </a:lstStyle>
          <a:p>
            <a:pPr algn="ctr">
              <a:defRPr sz="2800">
                <a:solidFill>
                  <a:srgbClr val="15803D"/>
                </a:solidFill>
              </a:defRPr>
            </a:pPr>
            <a:r>
              <a:rPr sz="2800" b="1">
                <a:solidFill>
                  <a:srgbClr val="15803D"/>
                </a:solidFill>
                <a:latin typeface="Arial"/>
              </a:rPr>
              <a:t>Same answer: A–T, B–R, C–T, D–P</a:t>
            </a:r>
            <a:endParaRPr sz="2800">
              <a:solidFill>
                <a:srgbClr val="15803D"/>
              </a:solidFill>
            </a:endParaRPr>
          </a:p>
        </p:txBody>
      </p:sp>
    </p:spTree>
  </p:cSld>
  <p:clrMapOvr>
    <a:masterClrMapping/>
  </p:clrMapOvr>
</p:sld>
</file>

<file path=ppt/slides/slide16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FFFFFF"/>
          </a:fontRef>
        </p:style>
        <p:txBody>
          <a:bodyPr rtlCol="0" anchor="ctr" lIns="731520"/>
          <a:lstStyle>
            <a:lvl1pPr>
              <a:defRPr sz="3200">
                <a:solidFill>
                  <a:srgbClr val="FFFFFF"/>
                </a:solidFill>
              </a:defRPr>
            </a:lvl1pPr>
          </a:lstStyle>
          <a:p>
            <a:pPr algn="l">
              <a:defRPr sz="3200">
                <a:solidFill>
                  <a:srgbClr val="FFFFFF"/>
                </a:solidFill>
              </a:defRPr>
            </a:pPr>
            <a:r>
              <a:rPr sz="3200" b="1">
                <a:solidFill>
                  <a:srgbClr val="FFFFFF"/>
                </a:solidFill>
                <a:latin typeface="Arial"/>
              </a:rPr>
              <a:t>Question 26</a:t>
            </a:r>
            <a:endParaRPr sz="3200">
              <a:solidFill>
                <a:srgbClr val="FFFFFF"/>
              </a:solidFill>
            </a:endParaRPr>
          </a:p>
        </p:txBody>
      </p:sp>
      <p:sp>
        <p:nvSpPr>
          <p:cNvPr id="3" name="Rounded Rectangle 2"/>
          <p:cNvSpPr/>
          <p:nvPr/>
        </p:nvSpPr>
        <p:spPr>
          <a:xfrm>
            <a:off x="7894015" y="246887"/>
            <a:ext cx="3840480" cy="603504"/>
          </a:xfrm>
          <a:prstGeom prst="roundRect">
            <a:avLst>
              <a:gd name="adj" fmla="val 50000"/>
            </a:avLst>
          </a:prstGeom>
          <a:solidFill>
            <a:srgbClr val="FFD966"/>
          </a:solidFill>
          <a:ln w="1905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111827"/>
          </a:fontRef>
        </p:style>
        <p:txBody>
          <a:bodyPr rtlCol="0" anchor="ctr" wrap="square" lIns="228600" rIns="228600" tIns="18288" bIns="18288"/>
          <a:lstStyle>
            <a:lvl1pPr>
              <a:defRPr sz="2400">
                <a:solidFill>
                  <a:srgbClr val="111827"/>
                </a:solidFill>
              </a:defRPr>
            </a:lvl1pPr>
          </a:lstStyle>
          <a:p>
            <a:pPr algn="ctr">
              <a:defRPr sz="2400">
                <a:solidFill>
                  <a:srgbClr val="111827"/>
                </a:solidFill>
              </a:defRPr>
            </a:pPr>
            <a:r>
              <a:rPr sz="2400" b="1">
                <a:solidFill>
                  <a:srgbClr val="111827"/>
                </a:solidFill>
                <a:latin typeface="Arial"/>
              </a:rPr>
              <a:t>Level 2  ·  3 Marks</a:t>
            </a:r>
            <a:endParaRPr sz="2400">
              <a:solidFill>
                <a:srgbClr val="111827"/>
              </a:solidFill>
            </a:endParaRPr>
          </a:p>
        </p:txBody>
      </p:sp>
      <p:sp>
        <p:nvSpPr>
          <p:cNvPr id="4" name="Rounded Rectangle 3"/>
          <p:cNvSpPr/>
          <p:nvPr/>
        </p:nvSpPr>
        <p:spPr>
          <a:xfrm>
            <a:off x="3520440" y="265176"/>
            <a:ext cx="4206240" cy="566928"/>
          </a:xfrm>
          <a:prstGeom prst="roundRect">
            <a:avLst>
              <a:gd name="adj" fmla="val 50000"/>
            </a:avLst>
          </a:prstGeom>
          <a:solidFill>
            <a:srgbClr val="E0ECFF"/>
          </a:solidFill>
          <a:ln w="25400">
            <a:solidFill>
              <a:srgbClr val="1D4ED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0B1F3A"/>
          </a:fontRef>
        </p:style>
        <p:txBody>
          <a:bodyPr rtlCol="0" anchor="ctr" wrap="square" lIns="228600" rIns="228600" tIns="18288" bIns="18288"/>
          <a:lstStyle>
            <a:lvl1pPr>
              <a:defRPr sz="2200">
                <a:solidFill>
                  <a:srgbClr val="0B1F3A"/>
                </a:solidFill>
              </a:defRPr>
            </a:lvl1pPr>
          </a:lstStyle>
          <a:p>
            <a:pPr algn="ctr">
              <a:defRPr sz="2200">
                <a:solidFill>
                  <a:srgbClr val="0B1F3A"/>
                </a:solidFill>
              </a:defRPr>
            </a:pPr>
            <a:r>
              <a:rPr sz="2200" b="1">
                <a:solidFill>
                  <a:srgbClr val="0B1F3A"/>
                </a:solidFill>
                <a:latin typeface="Arial"/>
              </a:rPr>
              <a:t>Useful Result / Pattern</a:t>
            </a:r>
            <a:endParaRPr sz="2200">
              <a:solidFill>
                <a:srgbClr val="0B1F3A"/>
              </a:solidFill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5" name="Rectangle 4"/>
              <p:cNvSpPr/>
              <p:nvPr/>
            </p:nvSpPr>
            <p:spPr>
              <a:xfrm>
                <a:off x="731520" y="1353312"/>
                <a:ext cx="10725912" cy="5321808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Cauchy's equation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𝑓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𝑦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𝑓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𝑓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𝑦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: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𝑓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0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and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𝑓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𝑓</m:t>
                    </m:r>
                    <m:d>
                      <m:dPr>
                        <m:begChr m:val="("/>
                        <m:sepChr m:val=""/>
                        <m:endChr m:val=")"/>
                        <m:grow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f>
                          <m:fPr>
                            <m:type m:val="bar"/>
                            <m:ctrlP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fPr>
                          <m:num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1</m:t>
                            </m:r>
                          </m:num>
                          <m:den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𝑥</m:t>
                            </m:r>
                          </m:den>
                        </m:f>
                      </m:e>
                    </m:d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0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for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≠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0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; on </a:t>
                </a:r>
                <a14:m>
                  <m:oMath xmlns:m="http://schemas.openxmlformats.org/officeDocument/2006/math">
                    <m:r>
                      <m:rPr>
                        <m:scr m:val="double-struck"/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R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(including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0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) the only solution is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𝑓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≡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0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on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0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,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∞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the differentiable solutions are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𝑐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ln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If </a:t>
                </a:r>
                <a14:m>
                  <m:oMath xmlns:m="http://schemas.openxmlformats.org/officeDocument/2006/math"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𝑓</m:t>
                        </m:r>
                      </m:e>
                      <m:sup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″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𝑓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then </a:t>
                </a:r>
                <a14:m>
                  <m:oMath xmlns:m="http://schemas.openxmlformats.org/officeDocument/2006/math"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𝑓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𝑓</m:t>
                        </m:r>
                      </m:e>
                      <m:sup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′</m:t>
                        </m:r>
                      </m:sup>
                    </m:sSup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​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is constant (energy / Pythagorean identity):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𝑓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𝐴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cos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𝐵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sin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gives </a:t>
                </a:r>
                <a14:m>
                  <m:oMath xmlns:m="http://schemas.openxmlformats.org/officeDocument/2006/math"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𝑓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𝑓</m:t>
                        </m:r>
                      </m:e>
                      <m:sup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′</m:t>
                        </m:r>
                      </m:sup>
                    </m:sSup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​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𝐴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𝐵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14:m>
                  <m:oMath xmlns:m="http://schemas.openxmlformats.org/officeDocument/2006/math">
                    <m:sSup>
                      <m:e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tan</m:t>
                        </m:r>
                      </m:e>
                      <m:sup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−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cot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π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den>
                    </m:f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and </a:t>
                </a:r>
                <a14:m>
                  <m:oMath xmlns:m="http://schemas.openxmlformats.org/officeDocument/2006/math">
                    <m:sSup>
                      <m:e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cot</m:t>
                        </m:r>
                      </m:e>
                      <m:sup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−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tan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π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den>
                    </m:f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for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∈</m:t>
                    </m:r>
                    <m:d>
                      <m:dPr>
                        <m:begChr m:val="("/>
                        <m:sepChr m:val=""/>
                        <m:endChr m:val=")"/>
                        <m:grow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0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,</m:t>
                        </m:r>
                        <m:f>
                          <m:fPr>
                            <m:type m:val="bar"/>
                            <m:ctrlP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fPr>
                          <m:num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π</m:t>
                            </m:r>
                          </m:num>
                          <m:den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2</m:t>
                            </m:r>
                          </m:den>
                        </m:f>
                      </m:e>
                    </m:d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; in general </a:t>
                </a:r>
                <a14:m>
                  <m:oMath xmlns:m="http://schemas.openxmlformats.org/officeDocument/2006/math"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𝑑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𝑑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</m:den>
                    </m:f>
                    <m:sSup>
                      <m:e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tan</m:t>
                        </m:r>
                      </m:e>
                      <m:sup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−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cot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wherever defined.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Chain rule for a cube argument: </a:t>
                </a:r>
                <a14:m>
                  <m:oMath xmlns:m="http://schemas.openxmlformats.org/officeDocument/2006/math"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𝑑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𝑑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</m:den>
                    </m:f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𝑓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3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3</m:t>
                    </m:r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𝑓</m:t>
                        </m:r>
                      </m:e>
                      <m:sup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′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3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with value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3</m:t>
                    </m:r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𝑓</m:t>
                        </m:r>
                      </m:e>
                      <m:sup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′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at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Choice>
        <mc:Fallback>
          <p:sp>
            <p:nvSpPr>
              <p:cNvPr id="5" name="Rectangle 4"/>
              <p:cNvSpPr/>
              <p:nvPr/>
            </p:nvSpPr>
            <p:spPr>
              <a:xfrm>
                <a:off x="731520" y="1353312"/>
                <a:ext cx="10725912" cy="5321808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Cauchy's equation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$f(xy)=f(x)+f(y)$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: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$f(1)=0$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and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$f(x)+f\left(\frac1x\right)=0$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for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$x\neq0$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; on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$\mathbb R$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(including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$0$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) the only solution is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$f\equiv0$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on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$(0,\infty)$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the differentiable solutions are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$c\ln x$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If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$f''=-f$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then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$f^2+f'^2$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is constant (energy / Pythagorean identity):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$f=A\cos x+B\sin x$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gives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$f^2+f'^2=A^2+B^2$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$\tan^{-1}(\cot x)=\frac\pi2-x$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and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$\cot^{-1}(\tan x)=\frac\pi2-x$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for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$x\in\left(0,\frac\pi2\right)$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; in general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$\frac{d}{dx}\tan^{-1}(\cot x)=-1$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wherever defined.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Chain rule for a cube argument: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$\frac{d}{dx}f(x^3)=3x^2f'(x^3)$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with value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$3f'(1)$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at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$x=1$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Fallback>
      </mc:AlternateContent>
    </p:spTree>
  </p:cSld>
  <p:clrMapOvr>
    <a:masterClrMapping/>
  </p:clrMapOvr>
</p:sld>
</file>

<file path=ppt/slides/slide16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FFFFFF"/>
          </a:fontRef>
        </p:style>
        <p:txBody>
          <a:bodyPr rtlCol="0" anchor="ctr" lIns="731520"/>
          <a:lstStyle>
            <a:lvl1pPr>
              <a:defRPr sz="3200">
                <a:solidFill>
                  <a:srgbClr val="FFFFFF"/>
                </a:solidFill>
              </a:defRPr>
            </a:lvl1pPr>
          </a:lstStyle>
          <a:p>
            <a:pPr algn="l">
              <a:defRPr sz="3200">
                <a:solidFill>
                  <a:srgbClr val="FFFFFF"/>
                </a:solidFill>
              </a:defRPr>
            </a:pPr>
            <a:r>
              <a:rPr sz="3200" b="1">
                <a:solidFill>
                  <a:srgbClr val="FFFFFF"/>
                </a:solidFill>
                <a:latin typeface="Arial"/>
              </a:rPr>
              <a:t>Overall Difficulty Analysis (1/6)</a:t>
            </a:r>
            <a:endParaRPr sz="3200">
              <a:solidFill>
                <a:srgbClr val="FFFFFF"/>
              </a:solidFill>
            </a:endParaRPr>
          </a:p>
        </p:txBody>
      </p:sp>
      <p:graphicFrame>
        <p:nvGraphicFramePr>
          <p:cNvPr id="3" name="Table 2"/>
          <p:cNvGraphicFramePr>
            <a:graphicFrameLocks noGrp="1"/>
          </p:cNvGraphicFramePr>
          <p:nvPr/>
        </p:nvGraphicFramePr>
        <p:xfrm>
          <a:off x="457200" y="1325880"/>
          <a:ext cx="11274552" cy="50292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005840"/>
                <a:gridCol w="2926080"/>
                <a:gridCol w="1280160"/>
                <a:gridCol w="1188720"/>
                <a:gridCol w="4873752"/>
              </a:tblGrid>
              <a:tr h="685800">
                <a:tc>
                  <a:txBody>
                    <a:bodyPr/>
                    <a:lstStyle/>
                    <a:p>
                      <a:pPr algn="ctr"/>
                      <a:r>
                        <a:rPr sz="2400" b="1">
                          <a:solidFill>
                            <a:srgbClr val="FFFFFF"/>
                          </a:solidFill>
                          <a:latin typeface="Arial"/>
                        </a:rPr>
                        <a:t>Q No</a:t>
                      </a:r>
                    </a:p>
                  </a:txBody>
                  <a:tcPr anchor="ctr" marL="91440" marR="91440">
                    <a:solidFill>
                      <a:srgbClr val="0B1F3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2400" b="1">
                          <a:solidFill>
                            <a:srgbClr val="FFFFFF"/>
                          </a:solidFill>
                          <a:latin typeface="Arial"/>
                        </a:rPr>
                        <a:t>Question Type</a:t>
                      </a:r>
                    </a:p>
                  </a:txBody>
                  <a:tcPr anchor="ctr" marL="91440" marR="91440">
                    <a:solidFill>
                      <a:srgbClr val="0B1F3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2400" b="1">
                          <a:solidFill>
                            <a:srgbClr val="FFFFFF"/>
                          </a:solidFill>
                          <a:latin typeface="Arial"/>
                        </a:rPr>
                        <a:t>Marks</a:t>
                      </a:r>
                    </a:p>
                  </a:txBody>
                  <a:tcPr anchor="ctr" marL="91440" marR="91440">
                    <a:solidFill>
                      <a:srgbClr val="0B1F3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2400" b="1">
                          <a:solidFill>
                            <a:srgbClr val="FFFFFF"/>
                          </a:solidFill>
                          <a:latin typeface="Arial"/>
                        </a:rPr>
                        <a:t>Level</a:t>
                      </a:r>
                    </a:p>
                  </a:txBody>
                  <a:tcPr anchor="ctr" marL="91440" marR="91440">
                    <a:solidFill>
                      <a:srgbClr val="0B1F3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2400" b="1">
                          <a:solidFill>
                            <a:srgbClr val="FFFFFF"/>
                          </a:solidFill>
                          <a:latin typeface="Arial"/>
                        </a:rPr>
                        <a:t>Level Description</a:t>
                      </a:r>
                    </a:p>
                  </a:txBody>
                  <a:tcPr anchor="ctr" marL="91440" marR="91440">
                    <a:solidFill>
                      <a:srgbClr val="0B1F3A"/>
                    </a:solidFill>
                  </a:tcPr>
                </a:tc>
              </a:tr>
              <a:tr h="868680">
                <a:tc>
                  <a:txBody>
                    <a:bodyPr/>
                    <a:lstStyle/>
                    <a:p>
                      <a:pPr algn="ctr"/>
                      <a:r>
                        <a:rPr sz="2400" b="1">
                          <a:solidFill>
                            <a:srgbClr val="111827"/>
                          </a:solidFill>
                          <a:latin typeface="Arial"/>
                        </a:rPr>
                        <a:t>01</a:t>
                      </a:r>
                    </a:p>
                  </a:txBody>
                  <a:tcPr anchor="ctr" marL="91440" marR="9144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2400" b="0">
                          <a:solidFill>
                            <a:srgbClr val="111827"/>
                          </a:solidFill>
                          <a:latin typeface="Arial"/>
                        </a:rPr>
                        <a:t>Subjective</a:t>
                      </a:r>
                    </a:p>
                  </a:txBody>
                  <a:tcPr anchor="ctr" marL="91440" marR="9144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2400" b="0">
                          <a:solidFill>
                            <a:srgbClr val="111827"/>
                          </a:solidFill>
                          <a:latin typeface="Arial"/>
                        </a:rPr>
                        <a:t>4</a:t>
                      </a:r>
                    </a:p>
                  </a:txBody>
                  <a:tcPr anchor="ctr" marL="91440" marR="9144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2400" b="1">
                          <a:solidFill>
                            <a:srgbClr val="111827"/>
                          </a:solidFill>
                          <a:latin typeface="Arial"/>
                        </a:rPr>
                        <a:t>2</a:t>
                      </a:r>
                    </a:p>
                  </a:txBody>
                  <a:tcPr anchor="ctr" marL="91440" marR="91440">
                    <a:solidFill>
                      <a:srgbClr val="FFD966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2400" b="0">
                          <a:solidFill>
                            <a:srgbClr val="111827"/>
                          </a:solidFill>
                          <a:latin typeface="Arial"/>
                        </a:rPr>
                        <a:t>A level below Average JEE Advanced Level</a:t>
                      </a:r>
                    </a:p>
                  </a:txBody>
                  <a:tcPr anchor="ctr" marL="91440" marR="91440">
                    <a:solidFill>
                      <a:srgbClr val="FFD966"/>
                    </a:solidFill>
                  </a:tcPr>
                </a:tc>
              </a:tr>
              <a:tr h="868680">
                <a:tc>
                  <a:txBody>
                    <a:bodyPr/>
                    <a:lstStyle/>
                    <a:p>
                      <a:pPr algn="ctr"/>
                      <a:r>
                        <a:rPr sz="2400" b="1">
                          <a:solidFill>
                            <a:srgbClr val="111827"/>
                          </a:solidFill>
                          <a:latin typeface="Arial"/>
                        </a:rPr>
                        <a:t>02</a:t>
                      </a:r>
                    </a:p>
                  </a:txBody>
                  <a:tcPr anchor="ctr" marL="91440" marR="9144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2400" b="0">
                          <a:solidFill>
                            <a:srgbClr val="111827"/>
                          </a:solidFill>
                          <a:latin typeface="Arial"/>
                        </a:rPr>
                        <a:t>Subjective</a:t>
                      </a:r>
                    </a:p>
                  </a:txBody>
                  <a:tcPr anchor="ctr" marL="91440" marR="9144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2400" b="0">
                          <a:solidFill>
                            <a:srgbClr val="111827"/>
                          </a:solidFill>
                          <a:latin typeface="Arial"/>
                        </a:rPr>
                        <a:t>4</a:t>
                      </a:r>
                    </a:p>
                  </a:txBody>
                  <a:tcPr anchor="ctr" marL="91440" marR="9144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2400" b="1">
                          <a:solidFill>
                            <a:srgbClr val="111827"/>
                          </a:solidFill>
                          <a:latin typeface="Arial"/>
                        </a:rPr>
                        <a:t>2</a:t>
                      </a:r>
                    </a:p>
                  </a:txBody>
                  <a:tcPr anchor="ctr" marL="91440" marR="91440">
                    <a:solidFill>
                      <a:srgbClr val="FFD966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2400" b="0">
                          <a:solidFill>
                            <a:srgbClr val="111827"/>
                          </a:solidFill>
                          <a:latin typeface="Arial"/>
                        </a:rPr>
                        <a:t>A level below Average JEE Advanced Level</a:t>
                      </a:r>
                    </a:p>
                  </a:txBody>
                  <a:tcPr anchor="ctr" marL="91440" marR="91440">
                    <a:solidFill>
                      <a:srgbClr val="FFD966"/>
                    </a:solidFill>
                  </a:tcPr>
                </a:tc>
              </a:tr>
              <a:tr h="868680">
                <a:tc>
                  <a:txBody>
                    <a:bodyPr/>
                    <a:lstStyle/>
                    <a:p>
                      <a:pPr algn="ctr"/>
                      <a:r>
                        <a:rPr sz="2400" b="1">
                          <a:solidFill>
                            <a:srgbClr val="111827"/>
                          </a:solidFill>
                          <a:latin typeface="Arial"/>
                        </a:rPr>
                        <a:t>03</a:t>
                      </a:r>
                    </a:p>
                  </a:txBody>
                  <a:tcPr anchor="ctr" marL="91440" marR="9144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2400" b="0">
                          <a:solidFill>
                            <a:srgbClr val="111827"/>
                          </a:solidFill>
                          <a:latin typeface="Arial"/>
                        </a:rPr>
                        <a:t>Numerical</a:t>
                      </a:r>
                    </a:p>
                  </a:txBody>
                  <a:tcPr anchor="ctr" marL="91440" marR="9144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2400" b="0">
                          <a:solidFill>
                            <a:srgbClr val="111827"/>
                          </a:solidFill>
                          <a:latin typeface="Arial"/>
                        </a:rPr>
                        <a:t>4</a:t>
                      </a:r>
                    </a:p>
                  </a:txBody>
                  <a:tcPr anchor="ctr" marL="91440" marR="9144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2400" b="1">
                          <a:solidFill>
                            <a:srgbClr val="111827"/>
                          </a:solidFill>
                          <a:latin typeface="Arial"/>
                        </a:rPr>
                        <a:t>2</a:t>
                      </a:r>
                    </a:p>
                  </a:txBody>
                  <a:tcPr anchor="ctr" marL="91440" marR="91440">
                    <a:solidFill>
                      <a:srgbClr val="FFD966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2400" b="0">
                          <a:solidFill>
                            <a:srgbClr val="111827"/>
                          </a:solidFill>
                          <a:latin typeface="Arial"/>
                        </a:rPr>
                        <a:t>A level below Average JEE Advanced Level</a:t>
                      </a:r>
                    </a:p>
                  </a:txBody>
                  <a:tcPr anchor="ctr" marL="91440" marR="91440">
                    <a:solidFill>
                      <a:srgbClr val="FFD966"/>
                    </a:solidFill>
                  </a:tcPr>
                </a:tc>
              </a:tr>
              <a:tr h="868680">
                <a:tc>
                  <a:txBody>
                    <a:bodyPr/>
                    <a:lstStyle/>
                    <a:p>
                      <a:pPr algn="ctr"/>
                      <a:r>
                        <a:rPr sz="2400" b="1">
                          <a:solidFill>
                            <a:srgbClr val="111827"/>
                          </a:solidFill>
                          <a:latin typeface="Arial"/>
                        </a:rPr>
                        <a:t>04</a:t>
                      </a:r>
                    </a:p>
                  </a:txBody>
                  <a:tcPr anchor="ctr" marL="91440" marR="9144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2400" b="0">
                          <a:solidFill>
                            <a:srgbClr val="111827"/>
                          </a:solidFill>
                          <a:latin typeface="Arial"/>
                        </a:rPr>
                        <a:t>Numerical</a:t>
                      </a:r>
                    </a:p>
                  </a:txBody>
                  <a:tcPr anchor="ctr" marL="91440" marR="9144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2400" b="0">
                          <a:solidFill>
                            <a:srgbClr val="111827"/>
                          </a:solidFill>
                          <a:latin typeface="Arial"/>
                        </a:rPr>
                        <a:t>4</a:t>
                      </a:r>
                    </a:p>
                  </a:txBody>
                  <a:tcPr anchor="ctr" marL="91440" marR="9144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2400" b="1">
                          <a:solidFill>
                            <a:srgbClr val="111827"/>
                          </a:solidFill>
                          <a:latin typeface="Arial"/>
                        </a:rPr>
                        <a:t>3</a:t>
                      </a:r>
                    </a:p>
                  </a:txBody>
                  <a:tcPr anchor="ctr" marL="91440" marR="91440">
                    <a:solidFill>
                      <a:srgbClr val="F6B26B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2400" b="0">
                          <a:solidFill>
                            <a:srgbClr val="111827"/>
                          </a:solidFill>
                          <a:latin typeface="Arial"/>
                        </a:rPr>
                        <a:t>Average JEE Advanced Level</a:t>
                      </a:r>
                    </a:p>
                  </a:txBody>
                  <a:tcPr anchor="ctr" marL="91440" marR="91440">
                    <a:solidFill>
                      <a:srgbClr val="F6B26B"/>
                    </a:solidFill>
                  </a:tcPr>
                </a:tc>
              </a:tr>
              <a:tr h="868680">
                <a:tc>
                  <a:txBody>
                    <a:bodyPr/>
                    <a:lstStyle/>
                    <a:p>
                      <a:pPr algn="ctr"/>
                      <a:r>
                        <a:rPr sz="2400" b="1">
                          <a:solidFill>
                            <a:srgbClr val="111827"/>
                          </a:solidFill>
                          <a:latin typeface="Arial"/>
                        </a:rPr>
                        <a:t>05</a:t>
                      </a:r>
                    </a:p>
                  </a:txBody>
                  <a:tcPr anchor="ctr" marL="91440" marR="9144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2400" b="0">
                          <a:solidFill>
                            <a:srgbClr val="111827"/>
                          </a:solidFill>
                          <a:latin typeface="Arial"/>
                        </a:rPr>
                        <a:t>Subjective</a:t>
                      </a:r>
                    </a:p>
                  </a:txBody>
                  <a:tcPr anchor="ctr" marL="91440" marR="9144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2400" b="0">
                          <a:solidFill>
                            <a:srgbClr val="111827"/>
                          </a:solidFill>
                          <a:latin typeface="Arial"/>
                        </a:rPr>
                        <a:t>4</a:t>
                      </a:r>
                    </a:p>
                  </a:txBody>
                  <a:tcPr anchor="ctr" marL="91440" marR="9144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2400" b="1">
                          <a:solidFill>
                            <a:srgbClr val="111827"/>
                          </a:solidFill>
                          <a:latin typeface="Arial"/>
                        </a:rPr>
                        <a:t>2</a:t>
                      </a:r>
                    </a:p>
                  </a:txBody>
                  <a:tcPr anchor="ctr" marL="91440" marR="91440">
                    <a:solidFill>
                      <a:srgbClr val="FFD966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2400" b="0">
                          <a:solidFill>
                            <a:srgbClr val="111827"/>
                          </a:solidFill>
                          <a:latin typeface="Arial"/>
                        </a:rPr>
                        <a:t>A level below Average JEE Advanced Level</a:t>
                      </a:r>
                    </a:p>
                  </a:txBody>
                  <a:tcPr anchor="ctr" marL="91440" marR="91440">
                    <a:solidFill>
                      <a:srgbClr val="FFD966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16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FFFFFF"/>
          </a:fontRef>
        </p:style>
        <p:txBody>
          <a:bodyPr rtlCol="0" anchor="ctr" lIns="731520"/>
          <a:lstStyle>
            <a:lvl1pPr>
              <a:defRPr sz="3200">
                <a:solidFill>
                  <a:srgbClr val="FFFFFF"/>
                </a:solidFill>
              </a:defRPr>
            </a:lvl1pPr>
          </a:lstStyle>
          <a:p>
            <a:pPr algn="l">
              <a:defRPr sz="3200">
                <a:solidFill>
                  <a:srgbClr val="FFFFFF"/>
                </a:solidFill>
              </a:defRPr>
            </a:pPr>
            <a:r>
              <a:rPr sz="3200" b="1">
                <a:solidFill>
                  <a:srgbClr val="FFFFFF"/>
                </a:solidFill>
                <a:latin typeface="Arial"/>
              </a:rPr>
              <a:t>Overall Difficulty Analysis (2/6)</a:t>
            </a:r>
            <a:endParaRPr sz="3200">
              <a:solidFill>
                <a:srgbClr val="FFFFFF"/>
              </a:solidFill>
            </a:endParaRPr>
          </a:p>
        </p:txBody>
      </p:sp>
      <p:graphicFrame>
        <p:nvGraphicFramePr>
          <p:cNvPr id="3" name="Table 2"/>
          <p:cNvGraphicFramePr>
            <a:graphicFrameLocks noGrp="1"/>
          </p:cNvGraphicFramePr>
          <p:nvPr/>
        </p:nvGraphicFramePr>
        <p:xfrm>
          <a:off x="457200" y="1325880"/>
          <a:ext cx="11274552" cy="50292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005840"/>
                <a:gridCol w="2926080"/>
                <a:gridCol w="1280160"/>
                <a:gridCol w="1188720"/>
                <a:gridCol w="4873752"/>
              </a:tblGrid>
              <a:tr h="685800">
                <a:tc>
                  <a:txBody>
                    <a:bodyPr/>
                    <a:lstStyle/>
                    <a:p>
                      <a:pPr algn="ctr"/>
                      <a:r>
                        <a:rPr sz="2400" b="1">
                          <a:solidFill>
                            <a:srgbClr val="FFFFFF"/>
                          </a:solidFill>
                          <a:latin typeface="Arial"/>
                        </a:rPr>
                        <a:t>Q No</a:t>
                      </a:r>
                    </a:p>
                  </a:txBody>
                  <a:tcPr anchor="ctr" marL="91440" marR="91440">
                    <a:solidFill>
                      <a:srgbClr val="0B1F3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2400" b="1">
                          <a:solidFill>
                            <a:srgbClr val="FFFFFF"/>
                          </a:solidFill>
                          <a:latin typeface="Arial"/>
                        </a:rPr>
                        <a:t>Question Type</a:t>
                      </a:r>
                    </a:p>
                  </a:txBody>
                  <a:tcPr anchor="ctr" marL="91440" marR="91440">
                    <a:solidFill>
                      <a:srgbClr val="0B1F3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2400" b="1">
                          <a:solidFill>
                            <a:srgbClr val="FFFFFF"/>
                          </a:solidFill>
                          <a:latin typeface="Arial"/>
                        </a:rPr>
                        <a:t>Marks</a:t>
                      </a:r>
                    </a:p>
                  </a:txBody>
                  <a:tcPr anchor="ctr" marL="91440" marR="91440">
                    <a:solidFill>
                      <a:srgbClr val="0B1F3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2400" b="1">
                          <a:solidFill>
                            <a:srgbClr val="FFFFFF"/>
                          </a:solidFill>
                          <a:latin typeface="Arial"/>
                        </a:rPr>
                        <a:t>Level</a:t>
                      </a:r>
                    </a:p>
                  </a:txBody>
                  <a:tcPr anchor="ctr" marL="91440" marR="91440">
                    <a:solidFill>
                      <a:srgbClr val="0B1F3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2400" b="1">
                          <a:solidFill>
                            <a:srgbClr val="FFFFFF"/>
                          </a:solidFill>
                          <a:latin typeface="Arial"/>
                        </a:rPr>
                        <a:t>Level Description</a:t>
                      </a:r>
                    </a:p>
                  </a:txBody>
                  <a:tcPr anchor="ctr" marL="91440" marR="91440">
                    <a:solidFill>
                      <a:srgbClr val="0B1F3A"/>
                    </a:solidFill>
                  </a:tcPr>
                </a:tc>
              </a:tr>
              <a:tr h="868680">
                <a:tc>
                  <a:txBody>
                    <a:bodyPr/>
                    <a:lstStyle/>
                    <a:p>
                      <a:pPr algn="ctr"/>
                      <a:r>
                        <a:rPr sz="2400" b="1">
                          <a:solidFill>
                            <a:srgbClr val="111827"/>
                          </a:solidFill>
                          <a:latin typeface="Arial"/>
                        </a:rPr>
                        <a:t>06</a:t>
                      </a:r>
                    </a:p>
                  </a:txBody>
                  <a:tcPr anchor="ctr" marL="91440" marR="9144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2400" b="0">
                          <a:solidFill>
                            <a:srgbClr val="111827"/>
                          </a:solidFill>
                          <a:latin typeface="Arial"/>
                        </a:rPr>
                        <a:t>Numerical</a:t>
                      </a:r>
                    </a:p>
                  </a:txBody>
                  <a:tcPr anchor="ctr" marL="91440" marR="9144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2400" b="0">
                          <a:solidFill>
                            <a:srgbClr val="111827"/>
                          </a:solidFill>
                          <a:latin typeface="Arial"/>
                        </a:rPr>
                        <a:t>4</a:t>
                      </a:r>
                    </a:p>
                  </a:txBody>
                  <a:tcPr anchor="ctr" marL="91440" marR="9144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2400" b="1">
                          <a:solidFill>
                            <a:srgbClr val="111827"/>
                          </a:solidFill>
                          <a:latin typeface="Arial"/>
                        </a:rPr>
                        <a:t>2</a:t>
                      </a:r>
                    </a:p>
                  </a:txBody>
                  <a:tcPr anchor="ctr" marL="91440" marR="91440">
                    <a:solidFill>
                      <a:srgbClr val="FFD966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2400" b="0">
                          <a:solidFill>
                            <a:srgbClr val="111827"/>
                          </a:solidFill>
                          <a:latin typeface="Arial"/>
                        </a:rPr>
                        <a:t>A level below Average JEE Advanced Level</a:t>
                      </a:r>
                    </a:p>
                  </a:txBody>
                  <a:tcPr anchor="ctr" marL="91440" marR="91440">
                    <a:solidFill>
                      <a:srgbClr val="FFD966"/>
                    </a:solidFill>
                  </a:tcPr>
                </a:tc>
              </a:tr>
              <a:tr h="868680">
                <a:tc>
                  <a:txBody>
                    <a:bodyPr/>
                    <a:lstStyle/>
                    <a:p>
                      <a:pPr algn="ctr"/>
                      <a:r>
                        <a:rPr sz="2400" b="1">
                          <a:solidFill>
                            <a:srgbClr val="111827"/>
                          </a:solidFill>
                          <a:latin typeface="Arial"/>
                        </a:rPr>
                        <a:t>07</a:t>
                      </a:r>
                    </a:p>
                  </a:txBody>
                  <a:tcPr anchor="ctr" marL="91440" marR="9144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2400" b="0">
                          <a:solidFill>
                            <a:srgbClr val="111827"/>
                          </a:solidFill>
                          <a:latin typeface="Arial"/>
                        </a:rPr>
                        <a:t>Subjective</a:t>
                      </a:r>
                    </a:p>
                  </a:txBody>
                  <a:tcPr anchor="ctr" marL="91440" marR="9144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2400" b="0">
                          <a:solidFill>
                            <a:srgbClr val="111827"/>
                          </a:solidFill>
                          <a:latin typeface="Arial"/>
                        </a:rPr>
                        <a:t>4</a:t>
                      </a:r>
                    </a:p>
                  </a:txBody>
                  <a:tcPr anchor="ctr" marL="91440" marR="9144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2400" b="1">
                          <a:solidFill>
                            <a:srgbClr val="111827"/>
                          </a:solidFill>
                          <a:latin typeface="Arial"/>
                        </a:rPr>
                        <a:t>3</a:t>
                      </a:r>
                    </a:p>
                  </a:txBody>
                  <a:tcPr anchor="ctr" marL="91440" marR="91440">
                    <a:solidFill>
                      <a:srgbClr val="F6B26B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2400" b="0">
                          <a:solidFill>
                            <a:srgbClr val="111827"/>
                          </a:solidFill>
                          <a:latin typeface="Arial"/>
                        </a:rPr>
                        <a:t>Average JEE Advanced Level</a:t>
                      </a:r>
                    </a:p>
                  </a:txBody>
                  <a:tcPr anchor="ctr" marL="91440" marR="91440">
                    <a:solidFill>
                      <a:srgbClr val="F6B26B"/>
                    </a:solidFill>
                  </a:tcPr>
                </a:tc>
              </a:tr>
              <a:tr h="868680">
                <a:tc>
                  <a:txBody>
                    <a:bodyPr/>
                    <a:lstStyle/>
                    <a:p>
                      <a:pPr algn="ctr"/>
                      <a:r>
                        <a:rPr sz="2400" b="1">
                          <a:solidFill>
                            <a:srgbClr val="111827"/>
                          </a:solidFill>
                          <a:latin typeface="Arial"/>
                        </a:rPr>
                        <a:t>08</a:t>
                      </a:r>
                    </a:p>
                  </a:txBody>
                  <a:tcPr anchor="ctr" marL="91440" marR="9144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2400" b="0">
                          <a:solidFill>
                            <a:srgbClr val="111827"/>
                          </a:solidFill>
                          <a:latin typeface="Arial"/>
                        </a:rPr>
                        <a:t>Subjective</a:t>
                      </a:r>
                    </a:p>
                  </a:txBody>
                  <a:tcPr anchor="ctr" marL="91440" marR="9144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2400" b="0">
                          <a:solidFill>
                            <a:srgbClr val="111827"/>
                          </a:solidFill>
                          <a:latin typeface="Arial"/>
                        </a:rPr>
                        <a:t>4</a:t>
                      </a:r>
                    </a:p>
                  </a:txBody>
                  <a:tcPr anchor="ctr" marL="91440" marR="9144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2400" b="1">
                          <a:solidFill>
                            <a:srgbClr val="111827"/>
                          </a:solidFill>
                          <a:latin typeface="Arial"/>
                        </a:rPr>
                        <a:t>3</a:t>
                      </a:r>
                    </a:p>
                  </a:txBody>
                  <a:tcPr anchor="ctr" marL="91440" marR="91440">
                    <a:solidFill>
                      <a:srgbClr val="F6B26B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2400" b="0">
                          <a:solidFill>
                            <a:srgbClr val="111827"/>
                          </a:solidFill>
                          <a:latin typeface="Arial"/>
                        </a:rPr>
                        <a:t>Average JEE Advanced Level</a:t>
                      </a:r>
                    </a:p>
                  </a:txBody>
                  <a:tcPr anchor="ctr" marL="91440" marR="91440">
                    <a:solidFill>
                      <a:srgbClr val="F6B26B"/>
                    </a:solidFill>
                  </a:tcPr>
                </a:tc>
              </a:tr>
              <a:tr h="868680">
                <a:tc>
                  <a:txBody>
                    <a:bodyPr/>
                    <a:lstStyle/>
                    <a:p>
                      <a:pPr algn="ctr"/>
                      <a:r>
                        <a:rPr sz="2400" b="1">
                          <a:solidFill>
                            <a:srgbClr val="111827"/>
                          </a:solidFill>
                          <a:latin typeface="Arial"/>
                        </a:rPr>
                        <a:t>09</a:t>
                      </a:r>
                    </a:p>
                  </a:txBody>
                  <a:tcPr anchor="ctr" marL="91440" marR="9144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2400" b="0">
                          <a:solidFill>
                            <a:srgbClr val="111827"/>
                          </a:solidFill>
                          <a:latin typeface="Arial"/>
                        </a:rPr>
                        <a:t>Numerical</a:t>
                      </a:r>
                    </a:p>
                  </a:txBody>
                  <a:tcPr anchor="ctr" marL="91440" marR="9144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2400" b="0">
                          <a:solidFill>
                            <a:srgbClr val="111827"/>
                          </a:solidFill>
                          <a:latin typeface="Arial"/>
                        </a:rPr>
                        <a:t>4</a:t>
                      </a:r>
                    </a:p>
                  </a:txBody>
                  <a:tcPr anchor="ctr" marL="91440" marR="9144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2400" b="1">
                          <a:solidFill>
                            <a:srgbClr val="111827"/>
                          </a:solidFill>
                          <a:latin typeface="Arial"/>
                        </a:rPr>
                        <a:t>2</a:t>
                      </a:r>
                    </a:p>
                  </a:txBody>
                  <a:tcPr anchor="ctr" marL="91440" marR="91440">
                    <a:solidFill>
                      <a:srgbClr val="FFD966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2400" b="0">
                          <a:solidFill>
                            <a:srgbClr val="111827"/>
                          </a:solidFill>
                          <a:latin typeface="Arial"/>
                        </a:rPr>
                        <a:t>A level below Average JEE Advanced Level</a:t>
                      </a:r>
                    </a:p>
                  </a:txBody>
                  <a:tcPr anchor="ctr" marL="91440" marR="91440">
                    <a:solidFill>
                      <a:srgbClr val="FFD966"/>
                    </a:solidFill>
                  </a:tcPr>
                </a:tc>
              </a:tr>
              <a:tr h="868680">
                <a:tc>
                  <a:txBody>
                    <a:bodyPr/>
                    <a:lstStyle/>
                    <a:p>
                      <a:pPr algn="ctr"/>
                      <a:r>
                        <a:rPr sz="2400" b="1">
                          <a:solidFill>
                            <a:srgbClr val="111827"/>
                          </a:solidFill>
                          <a:latin typeface="Arial"/>
                        </a:rPr>
                        <a:t>10</a:t>
                      </a:r>
                    </a:p>
                  </a:txBody>
                  <a:tcPr anchor="ctr" marL="91440" marR="9144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2400" b="0">
                          <a:solidFill>
                            <a:srgbClr val="111827"/>
                          </a:solidFill>
                          <a:latin typeface="Arial"/>
                        </a:rPr>
                        <a:t>Subjective</a:t>
                      </a:r>
                    </a:p>
                  </a:txBody>
                  <a:tcPr anchor="ctr" marL="91440" marR="9144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2400" b="0">
                          <a:solidFill>
                            <a:srgbClr val="111827"/>
                          </a:solidFill>
                          <a:latin typeface="Arial"/>
                        </a:rPr>
                        <a:t>4</a:t>
                      </a:r>
                    </a:p>
                  </a:txBody>
                  <a:tcPr anchor="ctr" marL="91440" marR="9144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2400" b="1">
                          <a:solidFill>
                            <a:srgbClr val="111827"/>
                          </a:solidFill>
                          <a:latin typeface="Arial"/>
                        </a:rPr>
                        <a:t>2</a:t>
                      </a:r>
                    </a:p>
                  </a:txBody>
                  <a:tcPr anchor="ctr" marL="91440" marR="91440">
                    <a:solidFill>
                      <a:srgbClr val="FFD966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2400" b="0">
                          <a:solidFill>
                            <a:srgbClr val="111827"/>
                          </a:solidFill>
                          <a:latin typeface="Arial"/>
                        </a:rPr>
                        <a:t>A level below Average JEE Advanced Level</a:t>
                      </a:r>
                    </a:p>
                  </a:txBody>
                  <a:tcPr anchor="ctr" marL="91440" marR="91440">
                    <a:solidFill>
                      <a:srgbClr val="FFD966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16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FFFFFF"/>
          </a:fontRef>
        </p:style>
        <p:txBody>
          <a:bodyPr rtlCol="0" anchor="ctr" lIns="731520"/>
          <a:lstStyle>
            <a:lvl1pPr>
              <a:defRPr sz="3200">
                <a:solidFill>
                  <a:srgbClr val="FFFFFF"/>
                </a:solidFill>
              </a:defRPr>
            </a:lvl1pPr>
          </a:lstStyle>
          <a:p>
            <a:pPr algn="l">
              <a:defRPr sz="3200">
                <a:solidFill>
                  <a:srgbClr val="FFFFFF"/>
                </a:solidFill>
              </a:defRPr>
            </a:pPr>
            <a:r>
              <a:rPr sz="3200" b="1">
                <a:solidFill>
                  <a:srgbClr val="FFFFFF"/>
                </a:solidFill>
                <a:latin typeface="Arial"/>
              </a:rPr>
              <a:t>Overall Difficulty Analysis (3/6)</a:t>
            </a:r>
            <a:endParaRPr sz="3200">
              <a:solidFill>
                <a:srgbClr val="FFFFFF"/>
              </a:solidFill>
            </a:endParaRPr>
          </a:p>
        </p:txBody>
      </p:sp>
      <p:graphicFrame>
        <p:nvGraphicFramePr>
          <p:cNvPr id="3" name="Table 2"/>
          <p:cNvGraphicFramePr>
            <a:graphicFrameLocks noGrp="1"/>
          </p:cNvGraphicFramePr>
          <p:nvPr/>
        </p:nvGraphicFramePr>
        <p:xfrm>
          <a:off x="457200" y="1325880"/>
          <a:ext cx="11274552" cy="416052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005840"/>
                <a:gridCol w="2926080"/>
                <a:gridCol w="1280160"/>
                <a:gridCol w="1188720"/>
                <a:gridCol w="4873752"/>
              </a:tblGrid>
              <a:tr h="685800">
                <a:tc>
                  <a:txBody>
                    <a:bodyPr/>
                    <a:lstStyle/>
                    <a:p>
                      <a:pPr algn="ctr"/>
                      <a:r>
                        <a:rPr sz="2400" b="1">
                          <a:solidFill>
                            <a:srgbClr val="FFFFFF"/>
                          </a:solidFill>
                          <a:latin typeface="Arial"/>
                        </a:rPr>
                        <a:t>Q No</a:t>
                      </a:r>
                    </a:p>
                  </a:txBody>
                  <a:tcPr anchor="ctr" marL="91440" marR="91440">
                    <a:solidFill>
                      <a:srgbClr val="0B1F3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2400" b="1">
                          <a:solidFill>
                            <a:srgbClr val="FFFFFF"/>
                          </a:solidFill>
                          <a:latin typeface="Arial"/>
                        </a:rPr>
                        <a:t>Question Type</a:t>
                      </a:r>
                    </a:p>
                  </a:txBody>
                  <a:tcPr anchor="ctr" marL="91440" marR="91440">
                    <a:solidFill>
                      <a:srgbClr val="0B1F3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2400" b="1">
                          <a:solidFill>
                            <a:srgbClr val="FFFFFF"/>
                          </a:solidFill>
                          <a:latin typeface="Arial"/>
                        </a:rPr>
                        <a:t>Marks</a:t>
                      </a:r>
                    </a:p>
                  </a:txBody>
                  <a:tcPr anchor="ctr" marL="91440" marR="91440">
                    <a:solidFill>
                      <a:srgbClr val="0B1F3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2400" b="1">
                          <a:solidFill>
                            <a:srgbClr val="FFFFFF"/>
                          </a:solidFill>
                          <a:latin typeface="Arial"/>
                        </a:rPr>
                        <a:t>Level</a:t>
                      </a:r>
                    </a:p>
                  </a:txBody>
                  <a:tcPr anchor="ctr" marL="91440" marR="91440">
                    <a:solidFill>
                      <a:srgbClr val="0B1F3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2400" b="1">
                          <a:solidFill>
                            <a:srgbClr val="FFFFFF"/>
                          </a:solidFill>
                          <a:latin typeface="Arial"/>
                        </a:rPr>
                        <a:t>Level Description</a:t>
                      </a:r>
                    </a:p>
                  </a:txBody>
                  <a:tcPr anchor="ctr" marL="91440" marR="91440">
                    <a:solidFill>
                      <a:srgbClr val="0B1F3A"/>
                    </a:solidFill>
                  </a:tcPr>
                </a:tc>
              </a:tr>
              <a:tr h="868680">
                <a:tc>
                  <a:txBody>
                    <a:bodyPr/>
                    <a:lstStyle/>
                    <a:p>
                      <a:pPr algn="ctr"/>
                      <a:r>
                        <a:rPr sz="2400" b="1">
                          <a:solidFill>
                            <a:srgbClr val="111827"/>
                          </a:solidFill>
                          <a:latin typeface="Arial"/>
                        </a:rPr>
                        <a:t>11</a:t>
                      </a:r>
                    </a:p>
                  </a:txBody>
                  <a:tcPr anchor="ctr" marL="91440" marR="9144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2400" b="0">
                          <a:solidFill>
                            <a:srgbClr val="111827"/>
                          </a:solidFill>
                          <a:latin typeface="Arial"/>
                        </a:rPr>
                        <a:t>Subjective</a:t>
                      </a:r>
                    </a:p>
                  </a:txBody>
                  <a:tcPr anchor="ctr" marL="91440" marR="9144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2400" b="0">
                          <a:solidFill>
                            <a:srgbClr val="111827"/>
                          </a:solidFill>
                          <a:latin typeface="Arial"/>
                        </a:rPr>
                        <a:t>4</a:t>
                      </a:r>
                    </a:p>
                  </a:txBody>
                  <a:tcPr anchor="ctr" marL="91440" marR="9144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2400" b="1">
                          <a:solidFill>
                            <a:srgbClr val="111827"/>
                          </a:solidFill>
                          <a:latin typeface="Arial"/>
                        </a:rPr>
                        <a:t>3</a:t>
                      </a:r>
                    </a:p>
                  </a:txBody>
                  <a:tcPr anchor="ctr" marL="91440" marR="91440">
                    <a:solidFill>
                      <a:srgbClr val="F6B26B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2400" b="0">
                          <a:solidFill>
                            <a:srgbClr val="111827"/>
                          </a:solidFill>
                          <a:latin typeface="Arial"/>
                        </a:rPr>
                        <a:t>Average JEE Advanced Level</a:t>
                      </a:r>
                    </a:p>
                  </a:txBody>
                  <a:tcPr anchor="ctr" marL="91440" marR="91440">
                    <a:solidFill>
                      <a:srgbClr val="F6B26B"/>
                    </a:solidFill>
                  </a:tcPr>
                </a:tc>
              </a:tr>
              <a:tr h="868680">
                <a:tc>
                  <a:txBody>
                    <a:bodyPr/>
                    <a:lstStyle/>
                    <a:p>
                      <a:pPr algn="ctr"/>
                      <a:r>
                        <a:rPr sz="2400" b="1">
                          <a:solidFill>
                            <a:srgbClr val="111827"/>
                          </a:solidFill>
                          <a:latin typeface="Arial"/>
                        </a:rPr>
                        <a:t>12</a:t>
                      </a:r>
                    </a:p>
                  </a:txBody>
                  <a:tcPr anchor="ctr" marL="91440" marR="9144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2400" b="0">
                          <a:solidFill>
                            <a:srgbClr val="111827"/>
                          </a:solidFill>
                          <a:latin typeface="Arial"/>
                        </a:rPr>
                        <a:t>Subjective</a:t>
                      </a:r>
                    </a:p>
                  </a:txBody>
                  <a:tcPr anchor="ctr" marL="91440" marR="9144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2400" b="0">
                          <a:solidFill>
                            <a:srgbClr val="111827"/>
                          </a:solidFill>
                          <a:latin typeface="Arial"/>
                        </a:rPr>
                        <a:t>4</a:t>
                      </a:r>
                    </a:p>
                  </a:txBody>
                  <a:tcPr anchor="ctr" marL="91440" marR="9144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2400" b="1">
                          <a:solidFill>
                            <a:srgbClr val="111827"/>
                          </a:solidFill>
                          <a:latin typeface="Arial"/>
                        </a:rPr>
                        <a:t>3</a:t>
                      </a:r>
                    </a:p>
                  </a:txBody>
                  <a:tcPr anchor="ctr" marL="91440" marR="91440">
                    <a:solidFill>
                      <a:srgbClr val="F6B26B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2400" b="0">
                          <a:solidFill>
                            <a:srgbClr val="111827"/>
                          </a:solidFill>
                          <a:latin typeface="Arial"/>
                        </a:rPr>
                        <a:t>Average JEE Advanced Level</a:t>
                      </a:r>
                    </a:p>
                  </a:txBody>
                  <a:tcPr anchor="ctr" marL="91440" marR="91440">
                    <a:solidFill>
                      <a:srgbClr val="F6B26B"/>
                    </a:solidFill>
                  </a:tcPr>
                </a:tc>
              </a:tr>
              <a:tr h="868680">
                <a:tc>
                  <a:txBody>
                    <a:bodyPr/>
                    <a:lstStyle/>
                    <a:p>
                      <a:pPr algn="ctr"/>
                      <a:r>
                        <a:rPr sz="2400" b="1">
                          <a:solidFill>
                            <a:srgbClr val="111827"/>
                          </a:solidFill>
                          <a:latin typeface="Arial"/>
                        </a:rPr>
                        <a:t>13</a:t>
                      </a:r>
                    </a:p>
                  </a:txBody>
                  <a:tcPr anchor="ctr" marL="91440" marR="9144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2400" b="0">
                          <a:solidFill>
                            <a:srgbClr val="111827"/>
                          </a:solidFill>
                          <a:latin typeface="Arial"/>
                        </a:rPr>
                        <a:t>Subjective</a:t>
                      </a:r>
                    </a:p>
                  </a:txBody>
                  <a:tcPr anchor="ctr" marL="91440" marR="9144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2400" b="0">
                          <a:solidFill>
                            <a:srgbClr val="111827"/>
                          </a:solidFill>
                          <a:latin typeface="Arial"/>
                        </a:rPr>
                        <a:t>4</a:t>
                      </a:r>
                    </a:p>
                  </a:txBody>
                  <a:tcPr anchor="ctr" marL="91440" marR="9144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2400" b="1">
                          <a:solidFill>
                            <a:srgbClr val="111827"/>
                          </a:solidFill>
                          <a:latin typeface="Arial"/>
                        </a:rPr>
                        <a:t>3</a:t>
                      </a:r>
                    </a:p>
                  </a:txBody>
                  <a:tcPr anchor="ctr" marL="91440" marR="91440">
                    <a:solidFill>
                      <a:srgbClr val="F6B26B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2400" b="0">
                          <a:solidFill>
                            <a:srgbClr val="111827"/>
                          </a:solidFill>
                          <a:latin typeface="Arial"/>
                        </a:rPr>
                        <a:t>Average JEE Advanced Level</a:t>
                      </a:r>
                    </a:p>
                  </a:txBody>
                  <a:tcPr anchor="ctr" marL="91440" marR="91440">
                    <a:solidFill>
                      <a:srgbClr val="F6B26B"/>
                    </a:solidFill>
                  </a:tcPr>
                </a:tc>
              </a:tr>
              <a:tr h="868680">
                <a:tc>
                  <a:txBody>
                    <a:bodyPr/>
                    <a:lstStyle/>
                    <a:p>
                      <a:pPr algn="ctr"/>
                      <a:r>
                        <a:rPr sz="2400" b="1">
                          <a:solidFill>
                            <a:srgbClr val="111827"/>
                          </a:solidFill>
                          <a:latin typeface="Arial"/>
                        </a:rPr>
                        <a:t>14</a:t>
                      </a:r>
                    </a:p>
                  </a:txBody>
                  <a:tcPr anchor="ctr" marL="91440" marR="9144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2400" b="0">
                          <a:solidFill>
                            <a:srgbClr val="111827"/>
                          </a:solidFill>
                          <a:latin typeface="Arial"/>
                        </a:rPr>
                        <a:t>Numerical</a:t>
                      </a:r>
                    </a:p>
                  </a:txBody>
                  <a:tcPr anchor="ctr" marL="91440" marR="9144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2400" b="0">
                          <a:solidFill>
                            <a:srgbClr val="111827"/>
                          </a:solidFill>
                          <a:latin typeface="Arial"/>
                        </a:rPr>
                        <a:t>4</a:t>
                      </a:r>
                    </a:p>
                  </a:txBody>
                  <a:tcPr anchor="ctr" marL="91440" marR="9144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2400" b="1">
                          <a:solidFill>
                            <a:srgbClr val="111827"/>
                          </a:solidFill>
                          <a:latin typeface="Arial"/>
                        </a:rPr>
                        <a:t>2</a:t>
                      </a:r>
                    </a:p>
                  </a:txBody>
                  <a:tcPr anchor="ctr" marL="91440" marR="91440">
                    <a:solidFill>
                      <a:srgbClr val="FFD966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2400" b="0">
                          <a:solidFill>
                            <a:srgbClr val="111827"/>
                          </a:solidFill>
                          <a:latin typeface="Arial"/>
                        </a:rPr>
                        <a:t>A level below Average JEE Advanced Level</a:t>
                      </a:r>
                    </a:p>
                  </a:txBody>
                  <a:tcPr anchor="ctr" marL="91440" marR="91440">
                    <a:solidFill>
                      <a:srgbClr val="FFD966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16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FFFFFF"/>
          </a:fontRef>
        </p:style>
        <p:txBody>
          <a:bodyPr rtlCol="0" anchor="ctr" lIns="731520"/>
          <a:lstStyle>
            <a:lvl1pPr>
              <a:defRPr sz="3200">
                <a:solidFill>
                  <a:srgbClr val="FFFFFF"/>
                </a:solidFill>
              </a:defRPr>
            </a:lvl1pPr>
          </a:lstStyle>
          <a:p>
            <a:pPr algn="l">
              <a:defRPr sz="3200">
                <a:solidFill>
                  <a:srgbClr val="FFFFFF"/>
                </a:solidFill>
              </a:defRPr>
            </a:pPr>
            <a:r>
              <a:rPr sz="3200" b="1">
                <a:solidFill>
                  <a:srgbClr val="FFFFFF"/>
                </a:solidFill>
                <a:latin typeface="Arial"/>
              </a:rPr>
              <a:t>Overall Difficulty Analysis (4/6)</a:t>
            </a:r>
            <a:endParaRPr sz="3200">
              <a:solidFill>
                <a:srgbClr val="FFFFFF"/>
              </a:solidFill>
            </a:endParaRPr>
          </a:p>
        </p:txBody>
      </p:sp>
      <p:graphicFrame>
        <p:nvGraphicFramePr>
          <p:cNvPr id="3" name="Table 2"/>
          <p:cNvGraphicFramePr>
            <a:graphicFrameLocks noGrp="1"/>
          </p:cNvGraphicFramePr>
          <p:nvPr/>
        </p:nvGraphicFramePr>
        <p:xfrm>
          <a:off x="457200" y="1325880"/>
          <a:ext cx="11274552" cy="416052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005840"/>
                <a:gridCol w="2926080"/>
                <a:gridCol w="1280160"/>
                <a:gridCol w="1188720"/>
                <a:gridCol w="4873752"/>
              </a:tblGrid>
              <a:tr h="685800">
                <a:tc>
                  <a:txBody>
                    <a:bodyPr/>
                    <a:lstStyle/>
                    <a:p>
                      <a:pPr algn="ctr"/>
                      <a:r>
                        <a:rPr sz="2400" b="1">
                          <a:solidFill>
                            <a:srgbClr val="FFFFFF"/>
                          </a:solidFill>
                          <a:latin typeface="Arial"/>
                        </a:rPr>
                        <a:t>Q No</a:t>
                      </a:r>
                    </a:p>
                  </a:txBody>
                  <a:tcPr anchor="ctr" marL="91440" marR="91440">
                    <a:solidFill>
                      <a:srgbClr val="0B1F3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2400" b="1">
                          <a:solidFill>
                            <a:srgbClr val="FFFFFF"/>
                          </a:solidFill>
                          <a:latin typeface="Arial"/>
                        </a:rPr>
                        <a:t>Question Type</a:t>
                      </a:r>
                    </a:p>
                  </a:txBody>
                  <a:tcPr anchor="ctr" marL="91440" marR="91440">
                    <a:solidFill>
                      <a:srgbClr val="0B1F3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2400" b="1">
                          <a:solidFill>
                            <a:srgbClr val="FFFFFF"/>
                          </a:solidFill>
                          <a:latin typeface="Arial"/>
                        </a:rPr>
                        <a:t>Marks</a:t>
                      </a:r>
                    </a:p>
                  </a:txBody>
                  <a:tcPr anchor="ctr" marL="91440" marR="91440">
                    <a:solidFill>
                      <a:srgbClr val="0B1F3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2400" b="1">
                          <a:solidFill>
                            <a:srgbClr val="FFFFFF"/>
                          </a:solidFill>
                          <a:latin typeface="Arial"/>
                        </a:rPr>
                        <a:t>Level</a:t>
                      </a:r>
                    </a:p>
                  </a:txBody>
                  <a:tcPr anchor="ctr" marL="91440" marR="91440">
                    <a:solidFill>
                      <a:srgbClr val="0B1F3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2400" b="1">
                          <a:solidFill>
                            <a:srgbClr val="FFFFFF"/>
                          </a:solidFill>
                          <a:latin typeface="Arial"/>
                        </a:rPr>
                        <a:t>Level Description</a:t>
                      </a:r>
                    </a:p>
                  </a:txBody>
                  <a:tcPr anchor="ctr" marL="91440" marR="91440">
                    <a:solidFill>
                      <a:srgbClr val="0B1F3A"/>
                    </a:solidFill>
                  </a:tcPr>
                </a:tc>
              </a:tr>
              <a:tr h="868680">
                <a:tc>
                  <a:txBody>
                    <a:bodyPr/>
                    <a:lstStyle/>
                    <a:p>
                      <a:pPr algn="ctr"/>
                      <a:r>
                        <a:rPr sz="2400" b="1">
                          <a:solidFill>
                            <a:srgbClr val="111827"/>
                          </a:solidFill>
                          <a:latin typeface="Arial"/>
                        </a:rPr>
                        <a:t>15</a:t>
                      </a:r>
                    </a:p>
                  </a:txBody>
                  <a:tcPr anchor="ctr" marL="91440" marR="9144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2400" b="0">
                          <a:solidFill>
                            <a:srgbClr val="111827"/>
                          </a:solidFill>
                          <a:latin typeface="Arial"/>
                        </a:rPr>
                        <a:t>Numerical</a:t>
                      </a:r>
                    </a:p>
                  </a:txBody>
                  <a:tcPr anchor="ctr" marL="91440" marR="9144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2400" b="0">
                          <a:solidFill>
                            <a:srgbClr val="111827"/>
                          </a:solidFill>
                          <a:latin typeface="Arial"/>
                        </a:rPr>
                        <a:t>4</a:t>
                      </a:r>
                    </a:p>
                  </a:txBody>
                  <a:tcPr anchor="ctr" marL="91440" marR="9144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2400" b="1">
                          <a:solidFill>
                            <a:srgbClr val="111827"/>
                          </a:solidFill>
                          <a:latin typeface="Arial"/>
                        </a:rPr>
                        <a:t>2</a:t>
                      </a:r>
                    </a:p>
                  </a:txBody>
                  <a:tcPr anchor="ctr" marL="91440" marR="91440">
                    <a:solidFill>
                      <a:srgbClr val="FFD966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2400" b="0">
                          <a:solidFill>
                            <a:srgbClr val="111827"/>
                          </a:solidFill>
                          <a:latin typeface="Arial"/>
                        </a:rPr>
                        <a:t>A level below Average JEE Advanced Level</a:t>
                      </a:r>
                    </a:p>
                  </a:txBody>
                  <a:tcPr anchor="ctr" marL="91440" marR="91440">
                    <a:solidFill>
                      <a:srgbClr val="FFD966"/>
                    </a:solidFill>
                  </a:tcPr>
                </a:tc>
              </a:tr>
              <a:tr h="868680">
                <a:tc>
                  <a:txBody>
                    <a:bodyPr/>
                    <a:lstStyle/>
                    <a:p>
                      <a:pPr algn="ctr"/>
                      <a:r>
                        <a:rPr sz="2400" b="1">
                          <a:solidFill>
                            <a:srgbClr val="111827"/>
                          </a:solidFill>
                          <a:latin typeface="Arial"/>
                        </a:rPr>
                        <a:t>16</a:t>
                      </a:r>
                    </a:p>
                  </a:txBody>
                  <a:tcPr anchor="ctr" marL="91440" marR="9144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2400" b="0">
                          <a:solidFill>
                            <a:srgbClr val="111827"/>
                          </a:solidFill>
                          <a:latin typeface="Arial"/>
                        </a:rPr>
                        <a:t>Numerical</a:t>
                      </a:r>
                    </a:p>
                  </a:txBody>
                  <a:tcPr anchor="ctr" marL="91440" marR="9144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2400" b="0">
                          <a:solidFill>
                            <a:srgbClr val="111827"/>
                          </a:solidFill>
                          <a:latin typeface="Arial"/>
                        </a:rPr>
                        <a:t>4</a:t>
                      </a:r>
                    </a:p>
                  </a:txBody>
                  <a:tcPr anchor="ctr" marL="91440" marR="9144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2400" b="1">
                          <a:solidFill>
                            <a:srgbClr val="111827"/>
                          </a:solidFill>
                          <a:latin typeface="Arial"/>
                        </a:rPr>
                        <a:t>3</a:t>
                      </a:r>
                    </a:p>
                  </a:txBody>
                  <a:tcPr anchor="ctr" marL="91440" marR="91440">
                    <a:solidFill>
                      <a:srgbClr val="F6B26B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2400" b="0">
                          <a:solidFill>
                            <a:srgbClr val="111827"/>
                          </a:solidFill>
                          <a:latin typeface="Arial"/>
                        </a:rPr>
                        <a:t>Average JEE Advanced Level</a:t>
                      </a:r>
                    </a:p>
                  </a:txBody>
                  <a:tcPr anchor="ctr" marL="91440" marR="91440">
                    <a:solidFill>
                      <a:srgbClr val="F6B26B"/>
                    </a:solidFill>
                  </a:tcPr>
                </a:tc>
              </a:tr>
              <a:tr h="868680">
                <a:tc>
                  <a:txBody>
                    <a:bodyPr/>
                    <a:lstStyle/>
                    <a:p>
                      <a:pPr algn="ctr"/>
                      <a:r>
                        <a:rPr sz="2400" b="1">
                          <a:solidFill>
                            <a:srgbClr val="111827"/>
                          </a:solidFill>
                          <a:latin typeface="Arial"/>
                        </a:rPr>
                        <a:t>17</a:t>
                      </a:r>
                    </a:p>
                  </a:txBody>
                  <a:tcPr anchor="ctr" marL="91440" marR="9144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2400" b="0">
                          <a:solidFill>
                            <a:srgbClr val="111827"/>
                          </a:solidFill>
                          <a:latin typeface="Arial"/>
                        </a:rPr>
                        <a:t>Numerical</a:t>
                      </a:r>
                    </a:p>
                  </a:txBody>
                  <a:tcPr anchor="ctr" marL="91440" marR="9144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2400" b="0">
                          <a:solidFill>
                            <a:srgbClr val="111827"/>
                          </a:solidFill>
                          <a:latin typeface="Arial"/>
                        </a:rPr>
                        <a:t>4</a:t>
                      </a:r>
                    </a:p>
                  </a:txBody>
                  <a:tcPr anchor="ctr" marL="91440" marR="9144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2400" b="1">
                          <a:solidFill>
                            <a:srgbClr val="111827"/>
                          </a:solidFill>
                          <a:latin typeface="Arial"/>
                        </a:rPr>
                        <a:t>2</a:t>
                      </a:r>
                    </a:p>
                  </a:txBody>
                  <a:tcPr anchor="ctr" marL="91440" marR="91440">
                    <a:solidFill>
                      <a:srgbClr val="FFD966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2400" b="0">
                          <a:solidFill>
                            <a:srgbClr val="111827"/>
                          </a:solidFill>
                          <a:latin typeface="Arial"/>
                        </a:rPr>
                        <a:t>A level below Average JEE Advanced Level</a:t>
                      </a:r>
                    </a:p>
                  </a:txBody>
                  <a:tcPr anchor="ctr" marL="91440" marR="91440">
                    <a:solidFill>
                      <a:srgbClr val="FFD966"/>
                    </a:solidFill>
                  </a:tcPr>
                </a:tc>
              </a:tr>
              <a:tr h="868680">
                <a:tc>
                  <a:txBody>
                    <a:bodyPr/>
                    <a:lstStyle/>
                    <a:p>
                      <a:pPr algn="ctr"/>
                      <a:r>
                        <a:rPr sz="2400" b="1">
                          <a:solidFill>
                            <a:srgbClr val="111827"/>
                          </a:solidFill>
                          <a:latin typeface="Arial"/>
                        </a:rPr>
                        <a:t>18</a:t>
                      </a:r>
                    </a:p>
                  </a:txBody>
                  <a:tcPr anchor="ctr" marL="91440" marR="9144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2400" b="0">
                          <a:solidFill>
                            <a:srgbClr val="111827"/>
                          </a:solidFill>
                          <a:latin typeface="Arial"/>
                        </a:rPr>
                        <a:t>Subjective</a:t>
                      </a:r>
                    </a:p>
                  </a:txBody>
                  <a:tcPr anchor="ctr" marL="91440" marR="9144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2400" b="0">
                          <a:solidFill>
                            <a:srgbClr val="111827"/>
                          </a:solidFill>
                          <a:latin typeface="Arial"/>
                        </a:rPr>
                        <a:t>4</a:t>
                      </a:r>
                    </a:p>
                  </a:txBody>
                  <a:tcPr anchor="ctr" marL="91440" marR="9144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2400" b="1">
                          <a:solidFill>
                            <a:srgbClr val="111827"/>
                          </a:solidFill>
                          <a:latin typeface="Arial"/>
                        </a:rPr>
                        <a:t>2</a:t>
                      </a:r>
                    </a:p>
                  </a:txBody>
                  <a:tcPr anchor="ctr" marL="91440" marR="91440">
                    <a:solidFill>
                      <a:srgbClr val="FFD966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2400" b="0">
                          <a:solidFill>
                            <a:srgbClr val="111827"/>
                          </a:solidFill>
                          <a:latin typeface="Arial"/>
                        </a:rPr>
                        <a:t>A level below Average JEE Advanced Level</a:t>
                      </a:r>
                    </a:p>
                  </a:txBody>
                  <a:tcPr anchor="ctr" marL="91440" marR="91440">
                    <a:solidFill>
                      <a:srgbClr val="FFD966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16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FFFFFF"/>
          </a:fontRef>
        </p:style>
        <p:txBody>
          <a:bodyPr rtlCol="0" anchor="ctr" lIns="731520"/>
          <a:lstStyle>
            <a:lvl1pPr>
              <a:defRPr sz="3200">
                <a:solidFill>
                  <a:srgbClr val="FFFFFF"/>
                </a:solidFill>
              </a:defRPr>
            </a:lvl1pPr>
          </a:lstStyle>
          <a:p>
            <a:pPr algn="l">
              <a:defRPr sz="3200">
                <a:solidFill>
                  <a:srgbClr val="FFFFFF"/>
                </a:solidFill>
              </a:defRPr>
            </a:pPr>
            <a:r>
              <a:rPr sz="3200" b="1">
                <a:solidFill>
                  <a:srgbClr val="FFFFFF"/>
                </a:solidFill>
                <a:latin typeface="Arial"/>
              </a:rPr>
              <a:t>Overall Difficulty Analysis (5/6)</a:t>
            </a:r>
            <a:endParaRPr sz="3200">
              <a:solidFill>
                <a:srgbClr val="FFFFFF"/>
              </a:solidFill>
            </a:endParaRPr>
          </a:p>
        </p:txBody>
      </p:sp>
      <p:graphicFrame>
        <p:nvGraphicFramePr>
          <p:cNvPr id="3" name="Table 2"/>
          <p:cNvGraphicFramePr>
            <a:graphicFrameLocks noGrp="1"/>
          </p:cNvGraphicFramePr>
          <p:nvPr/>
        </p:nvGraphicFramePr>
        <p:xfrm>
          <a:off x="457200" y="1325880"/>
          <a:ext cx="11274552" cy="416052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005840"/>
                <a:gridCol w="2926080"/>
                <a:gridCol w="1280160"/>
                <a:gridCol w="1188720"/>
                <a:gridCol w="4873752"/>
              </a:tblGrid>
              <a:tr h="685800">
                <a:tc>
                  <a:txBody>
                    <a:bodyPr/>
                    <a:lstStyle/>
                    <a:p>
                      <a:pPr algn="ctr"/>
                      <a:r>
                        <a:rPr sz="2400" b="1">
                          <a:solidFill>
                            <a:srgbClr val="FFFFFF"/>
                          </a:solidFill>
                          <a:latin typeface="Arial"/>
                        </a:rPr>
                        <a:t>Q No</a:t>
                      </a:r>
                    </a:p>
                  </a:txBody>
                  <a:tcPr anchor="ctr" marL="91440" marR="91440">
                    <a:solidFill>
                      <a:srgbClr val="0B1F3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2400" b="1">
                          <a:solidFill>
                            <a:srgbClr val="FFFFFF"/>
                          </a:solidFill>
                          <a:latin typeface="Arial"/>
                        </a:rPr>
                        <a:t>Question Type</a:t>
                      </a:r>
                    </a:p>
                  </a:txBody>
                  <a:tcPr anchor="ctr" marL="91440" marR="91440">
                    <a:solidFill>
                      <a:srgbClr val="0B1F3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2400" b="1">
                          <a:solidFill>
                            <a:srgbClr val="FFFFFF"/>
                          </a:solidFill>
                          <a:latin typeface="Arial"/>
                        </a:rPr>
                        <a:t>Marks</a:t>
                      </a:r>
                    </a:p>
                  </a:txBody>
                  <a:tcPr anchor="ctr" marL="91440" marR="91440">
                    <a:solidFill>
                      <a:srgbClr val="0B1F3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2400" b="1">
                          <a:solidFill>
                            <a:srgbClr val="FFFFFF"/>
                          </a:solidFill>
                          <a:latin typeface="Arial"/>
                        </a:rPr>
                        <a:t>Level</a:t>
                      </a:r>
                    </a:p>
                  </a:txBody>
                  <a:tcPr anchor="ctr" marL="91440" marR="91440">
                    <a:solidFill>
                      <a:srgbClr val="0B1F3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2400" b="1">
                          <a:solidFill>
                            <a:srgbClr val="FFFFFF"/>
                          </a:solidFill>
                          <a:latin typeface="Arial"/>
                        </a:rPr>
                        <a:t>Level Description</a:t>
                      </a:r>
                    </a:p>
                  </a:txBody>
                  <a:tcPr anchor="ctr" marL="91440" marR="91440">
                    <a:solidFill>
                      <a:srgbClr val="0B1F3A"/>
                    </a:solidFill>
                  </a:tcPr>
                </a:tc>
              </a:tr>
              <a:tr h="868680">
                <a:tc>
                  <a:txBody>
                    <a:bodyPr/>
                    <a:lstStyle/>
                    <a:p>
                      <a:pPr algn="ctr"/>
                      <a:r>
                        <a:rPr sz="2400" b="1">
                          <a:solidFill>
                            <a:srgbClr val="111827"/>
                          </a:solidFill>
                          <a:latin typeface="Arial"/>
                        </a:rPr>
                        <a:t>19</a:t>
                      </a:r>
                    </a:p>
                  </a:txBody>
                  <a:tcPr anchor="ctr" marL="91440" marR="9144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2400" b="0">
                          <a:solidFill>
                            <a:srgbClr val="111827"/>
                          </a:solidFill>
                          <a:latin typeface="Arial"/>
                        </a:rPr>
                        <a:t>Subjective</a:t>
                      </a:r>
                    </a:p>
                  </a:txBody>
                  <a:tcPr anchor="ctr" marL="91440" marR="9144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2400" b="0">
                          <a:solidFill>
                            <a:srgbClr val="111827"/>
                          </a:solidFill>
                          <a:latin typeface="Arial"/>
                        </a:rPr>
                        <a:t>4</a:t>
                      </a:r>
                    </a:p>
                  </a:txBody>
                  <a:tcPr anchor="ctr" marL="91440" marR="9144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2400" b="1">
                          <a:solidFill>
                            <a:srgbClr val="111827"/>
                          </a:solidFill>
                          <a:latin typeface="Arial"/>
                        </a:rPr>
                        <a:t>2</a:t>
                      </a:r>
                    </a:p>
                  </a:txBody>
                  <a:tcPr anchor="ctr" marL="91440" marR="91440">
                    <a:solidFill>
                      <a:srgbClr val="FFD966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2400" b="0">
                          <a:solidFill>
                            <a:srgbClr val="111827"/>
                          </a:solidFill>
                          <a:latin typeface="Arial"/>
                        </a:rPr>
                        <a:t>A level below Average JEE Advanced Level</a:t>
                      </a:r>
                    </a:p>
                  </a:txBody>
                  <a:tcPr anchor="ctr" marL="91440" marR="91440">
                    <a:solidFill>
                      <a:srgbClr val="FFD966"/>
                    </a:solidFill>
                  </a:tcPr>
                </a:tc>
              </a:tr>
              <a:tr h="868680">
                <a:tc>
                  <a:txBody>
                    <a:bodyPr/>
                    <a:lstStyle/>
                    <a:p>
                      <a:pPr algn="ctr"/>
                      <a:r>
                        <a:rPr sz="2400" b="1">
                          <a:solidFill>
                            <a:srgbClr val="111827"/>
                          </a:solidFill>
                          <a:latin typeface="Arial"/>
                        </a:rPr>
                        <a:t>20</a:t>
                      </a:r>
                    </a:p>
                  </a:txBody>
                  <a:tcPr anchor="ctr" marL="91440" marR="9144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2400" b="0">
                          <a:solidFill>
                            <a:srgbClr val="111827"/>
                          </a:solidFill>
                          <a:latin typeface="Arial"/>
                        </a:rPr>
                        <a:t>Subjective</a:t>
                      </a:r>
                    </a:p>
                  </a:txBody>
                  <a:tcPr anchor="ctr" marL="91440" marR="9144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2400" b="0">
                          <a:solidFill>
                            <a:srgbClr val="111827"/>
                          </a:solidFill>
                          <a:latin typeface="Arial"/>
                        </a:rPr>
                        <a:t>4</a:t>
                      </a:r>
                    </a:p>
                  </a:txBody>
                  <a:tcPr anchor="ctr" marL="91440" marR="9144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2400" b="1">
                          <a:solidFill>
                            <a:srgbClr val="111827"/>
                          </a:solidFill>
                          <a:latin typeface="Arial"/>
                        </a:rPr>
                        <a:t>3</a:t>
                      </a:r>
                    </a:p>
                  </a:txBody>
                  <a:tcPr anchor="ctr" marL="91440" marR="91440">
                    <a:solidFill>
                      <a:srgbClr val="F6B26B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2400" b="0">
                          <a:solidFill>
                            <a:srgbClr val="111827"/>
                          </a:solidFill>
                          <a:latin typeface="Arial"/>
                        </a:rPr>
                        <a:t>Average JEE Advanced Level</a:t>
                      </a:r>
                    </a:p>
                  </a:txBody>
                  <a:tcPr anchor="ctr" marL="91440" marR="91440">
                    <a:solidFill>
                      <a:srgbClr val="F6B26B"/>
                    </a:solidFill>
                  </a:tcPr>
                </a:tc>
              </a:tr>
              <a:tr h="868680">
                <a:tc>
                  <a:txBody>
                    <a:bodyPr/>
                    <a:lstStyle/>
                    <a:p>
                      <a:pPr algn="ctr"/>
                      <a:r>
                        <a:rPr sz="2400" b="1">
                          <a:solidFill>
                            <a:srgbClr val="111827"/>
                          </a:solidFill>
                          <a:latin typeface="Arial"/>
                        </a:rPr>
                        <a:t>21</a:t>
                      </a:r>
                    </a:p>
                  </a:txBody>
                  <a:tcPr anchor="ctr" marL="91440" marR="9144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2400" b="0">
                          <a:solidFill>
                            <a:srgbClr val="111827"/>
                          </a:solidFill>
                          <a:latin typeface="Arial"/>
                        </a:rPr>
                        <a:t>Paragraph Single Correct</a:t>
                      </a:r>
                    </a:p>
                  </a:txBody>
                  <a:tcPr anchor="ctr" marL="91440" marR="9144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2400" b="0">
                          <a:solidFill>
                            <a:srgbClr val="111827"/>
                          </a:solidFill>
                          <a:latin typeface="Arial"/>
                        </a:rPr>
                        <a:t>3</a:t>
                      </a:r>
                    </a:p>
                  </a:txBody>
                  <a:tcPr anchor="ctr" marL="91440" marR="9144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2400" b="1">
                          <a:solidFill>
                            <a:srgbClr val="111827"/>
                          </a:solidFill>
                          <a:latin typeface="Arial"/>
                        </a:rPr>
                        <a:t>2</a:t>
                      </a:r>
                    </a:p>
                  </a:txBody>
                  <a:tcPr anchor="ctr" marL="91440" marR="91440">
                    <a:solidFill>
                      <a:srgbClr val="FFD966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2400" b="0">
                          <a:solidFill>
                            <a:srgbClr val="111827"/>
                          </a:solidFill>
                          <a:latin typeface="Arial"/>
                        </a:rPr>
                        <a:t>A level below Average JEE Advanced Level</a:t>
                      </a:r>
                    </a:p>
                  </a:txBody>
                  <a:tcPr anchor="ctr" marL="91440" marR="91440">
                    <a:solidFill>
                      <a:srgbClr val="FFD966"/>
                    </a:solidFill>
                  </a:tcPr>
                </a:tc>
              </a:tr>
              <a:tr h="868680">
                <a:tc>
                  <a:txBody>
                    <a:bodyPr/>
                    <a:lstStyle/>
                    <a:p>
                      <a:pPr algn="ctr"/>
                      <a:r>
                        <a:rPr sz="2400" b="1">
                          <a:solidFill>
                            <a:srgbClr val="111827"/>
                          </a:solidFill>
                          <a:latin typeface="Arial"/>
                        </a:rPr>
                        <a:t>22</a:t>
                      </a:r>
                    </a:p>
                  </a:txBody>
                  <a:tcPr anchor="ctr" marL="91440" marR="9144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2400" b="0">
                          <a:solidFill>
                            <a:srgbClr val="111827"/>
                          </a:solidFill>
                          <a:latin typeface="Arial"/>
                        </a:rPr>
                        <a:t>Paragraph Single Correct</a:t>
                      </a:r>
                    </a:p>
                  </a:txBody>
                  <a:tcPr anchor="ctr" marL="91440" marR="9144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2400" b="0">
                          <a:solidFill>
                            <a:srgbClr val="111827"/>
                          </a:solidFill>
                          <a:latin typeface="Arial"/>
                        </a:rPr>
                        <a:t>3</a:t>
                      </a:r>
                    </a:p>
                  </a:txBody>
                  <a:tcPr anchor="ctr" marL="91440" marR="9144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2400" b="1">
                          <a:solidFill>
                            <a:srgbClr val="111827"/>
                          </a:solidFill>
                          <a:latin typeface="Arial"/>
                        </a:rPr>
                        <a:t>1</a:t>
                      </a:r>
                    </a:p>
                  </a:txBody>
                  <a:tcPr anchor="ctr" marL="91440" marR="91440">
                    <a:solidFill>
                      <a:srgbClr val="B6D7A8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2400" b="0">
                          <a:solidFill>
                            <a:srgbClr val="111827"/>
                          </a:solidFill>
                          <a:latin typeface="Arial"/>
                        </a:rPr>
                        <a:t>JEE Main Level</a:t>
                      </a:r>
                    </a:p>
                  </a:txBody>
                  <a:tcPr anchor="ctr" marL="91440" marR="91440">
                    <a:solidFill>
                      <a:srgbClr val="B6D7A8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17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FFFFFF"/>
          </a:fontRef>
        </p:style>
        <p:txBody>
          <a:bodyPr rtlCol="0" anchor="ctr" lIns="731520"/>
          <a:lstStyle>
            <a:lvl1pPr>
              <a:defRPr sz="3200">
                <a:solidFill>
                  <a:srgbClr val="FFFFFF"/>
                </a:solidFill>
              </a:defRPr>
            </a:lvl1pPr>
          </a:lstStyle>
          <a:p>
            <a:pPr algn="l">
              <a:defRPr sz="3200">
                <a:solidFill>
                  <a:srgbClr val="FFFFFF"/>
                </a:solidFill>
              </a:defRPr>
            </a:pPr>
            <a:r>
              <a:rPr sz="3200" b="1">
                <a:solidFill>
                  <a:srgbClr val="FFFFFF"/>
                </a:solidFill>
                <a:latin typeface="Arial"/>
              </a:rPr>
              <a:t>Overall Difficulty Analysis (6/6)</a:t>
            </a:r>
            <a:endParaRPr sz="3200">
              <a:solidFill>
                <a:srgbClr val="FFFFFF"/>
              </a:solidFill>
            </a:endParaRPr>
          </a:p>
        </p:txBody>
      </p:sp>
      <p:graphicFrame>
        <p:nvGraphicFramePr>
          <p:cNvPr id="3" name="Table 2"/>
          <p:cNvGraphicFramePr>
            <a:graphicFrameLocks noGrp="1"/>
          </p:cNvGraphicFramePr>
          <p:nvPr/>
        </p:nvGraphicFramePr>
        <p:xfrm>
          <a:off x="457200" y="1325880"/>
          <a:ext cx="11274552" cy="416052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005840"/>
                <a:gridCol w="2926080"/>
                <a:gridCol w="1280160"/>
                <a:gridCol w="1188720"/>
                <a:gridCol w="4873752"/>
              </a:tblGrid>
              <a:tr h="685800">
                <a:tc>
                  <a:txBody>
                    <a:bodyPr/>
                    <a:lstStyle/>
                    <a:p>
                      <a:pPr algn="ctr"/>
                      <a:r>
                        <a:rPr sz="2400" b="1">
                          <a:solidFill>
                            <a:srgbClr val="FFFFFF"/>
                          </a:solidFill>
                          <a:latin typeface="Arial"/>
                        </a:rPr>
                        <a:t>Q No</a:t>
                      </a:r>
                    </a:p>
                  </a:txBody>
                  <a:tcPr anchor="ctr" marL="91440" marR="91440">
                    <a:solidFill>
                      <a:srgbClr val="0B1F3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2400" b="1">
                          <a:solidFill>
                            <a:srgbClr val="FFFFFF"/>
                          </a:solidFill>
                          <a:latin typeface="Arial"/>
                        </a:rPr>
                        <a:t>Question Type</a:t>
                      </a:r>
                    </a:p>
                  </a:txBody>
                  <a:tcPr anchor="ctr" marL="91440" marR="91440">
                    <a:solidFill>
                      <a:srgbClr val="0B1F3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2400" b="1">
                          <a:solidFill>
                            <a:srgbClr val="FFFFFF"/>
                          </a:solidFill>
                          <a:latin typeface="Arial"/>
                        </a:rPr>
                        <a:t>Marks</a:t>
                      </a:r>
                    </a:p>
                  </a:txBody>
                  <a:tcPr anchor="ctr" marL="91440" marR="91440">
                    <a:solidFill>
                      <a:srgbClr val="0B1F3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2400" b="1">
                          <a:solidFill>
                            <a:srgbClr val="FFFFFF"/>
                          </a:solidFill>
                          <a:latin typeface="Arial"/>
                        </a:rPr>
                        <a:t>Level</a:t>
                      </a:r>
                    </a:p>
                  </a:txBody>
                  <a:tcPr anchor="ctr" marL="91440" marR="91440">
                    <a:solidFill>
                      <a:srgbClr val="0B1F3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2400" b="1">
                          <a:solidFill>
                            <a:srgbClr val="FFFFFF"/>
                          </a:solidFill>
                          <a:latin typeface="Arial"/>
                        </a:rPr>
                        <a:t>Level Description</a:t>
                      </a:r>
                    </a:p>
                  </a:txBody>
                  <a:tcPr anchor="ctr" marL="91440" marR="91440">
                    <a:solidFill>
                      <a:srgbClr val="0B1F3A"/>
                    </a:solidFill>
                  </a:tcPr>
                </a:tc>
              </a:tr>
              <a:tr h="868680">
                <a:tc>
                  <a:txBody>
                    <a:bodyPr/>
                    <a:lstStyle/>
                    <a:p>
                      <a:pPr algn="ctr"/>
                      <a:r>
                        <a:rPr sz="2400" b="1">
                          <a:solidFill>
                            <a:srgbClr val="111827"/>
                          </a:solidFill>
                          <a:latin typeface="Arial"/>
                        </a:rPr>
                        <a:t>23</a:t>
                      </a:r>
                    </a:p>
                  </a:txBody>
                  <a:tcPr anchor="ctr" marL="91440" marR="9144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2400" b="0">
                          <a:solidFill>
                            <a:srgbClr val="111827"/>
                          </a:solidFill>
                          <a:latin typeface="Arial"/>
                        </a:rPr>
                        <a:t>Paragraph Single Correct</a:t>
                      </a:r>
                    </a:p>
                  </a:txBody>
                  <a:tcPr anchor="ctr" marL="91440" marR="9144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2400" b="0">
                          <a:solidFill>
                            <a:srgbClr val="111827"/>
                          </a:solidFill>
                          <a:latin typeface="Arial"/>
                        </a:rPr>
                        <a:t>3</a:t>
                      </a:r>
                    </a:p>
                  </a:txBody>
                  <a:tcPr anchor="ctr" marL="91440" marR="9144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2400" b="1">
                          <a:solidFill>
                            <a:srgbClr val="111827"/>
                          </a:solidFill>
                          <a:latin typeface="Arial"/>
                        </a:rPr>
                        <a:t>1</a:t>
                      </a:r>
                    </a:p>
                  </a:txBody>
                  <a:tcPr anchor="ctr" marL="91440" marR="91440">
                    <a:solidFill>
                      <a:srgbClr val="B6D7A8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2400" b="0">
                          <a:solidFill>
                            <a:srgbClr val="111827"/>
                          </a:solidFill>
                          <a:latin typeface="Arial"/>
                        </a:rPr>
                        <a:t>JEE Main Level</a:t>
                      </a:r>
                    </a:p>
                  </a:txBody>
                  <a:tcPr anchor="ctr" marL="91440" marR="91440">
                    <a:solidFill>
                      <a:srgbClr val="B6D7A8"/>
                    </a:solidFill>
                  </a:tcPr>
                </a:tc>
              </a:tr>
              <a:tr h="868680">
                <a:tc>
                  <a:txBody>
                    <a:bodyPr/>
                    <a:lstStyle/>
                    <a:p>
                      <a:pPr algn="ctr"/>
                      <a:r>
                        <a:rPr sz="2400" b="1">
                          <a:solidFill>
                            <a:srgbClr val="111827"/>
                          </a:solidFill>
                          <a:latin typeface="Arial"/>
                        </a:rPr>
                        <a:t>24</a:t>
                      </a:r>
                    </a:p>
                  </a:txBody>
                  <a:tcPr anchor="ctr" marL="91440" marR="9144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2400" b="0">
                          <a:solidFill>
                            <a:srgbClr val="111827"/>
                          </a:solidFill>
                          <a:latin typeface="Arial"/>
                        </a:rPr>
                        <a:t>Paragraph Single Correct</a:t>
                      </a:r>
                    </a:p>
                  </a:txBody>
                  <a:tcPr anchor="ctr" marL="91440" marR="9144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2400" b="0">
                          <a:solidFill>
                            <a:srgbClr val="111827"/>
                          </a:solidFill>
                          <a:latin typeface="Arial"/>
                        </a:rPr>
                        <a:t>3</a:t>
                      </a:r>
                    </a:p>
                  </a:txBody>
                  <a:tcPr anchor="ctr" marL="91440" marR="9144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2400" b="1">
                          <a:solidFill>
                            <a:srgbClr val="111827"/>
                          </a:solidFill>
                          <a:latin typeface="Arial"/>
                        </a:rPr>
                        <a:t>2</a:t>
                      </a:r>
                    </a:p>
                  </a:txBody>
                  <a:tcPr anchor="ctr" marL="91440" marR="91440">
                    <a:solidFill>
                      <a:srgbClr val="FFD966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2400" b="0">
                          <a:solidFill>
                            <a:srgbClr val="111827"/>
                          </a:solidFill>
                          <a:latin typeface="Arial"/>
                        </a:rPr>
                        <a:t>A level below Average JEE Advanced Level</a:t>
                      </a:r>
                    </a:p>
                  </a:txBody>
                  <a:tcPr anchor="ctr" marL="91440" marR="91440">
                    <a:solidFill>
                      <a:srgbClr val="FFD966"/>
                    </a:solidFill>
                  </a:tcPr>
                </a:tc>
              </a:tr>
              <a:tr h="868680">
                <a:tc>
                  <a:txBody>
                    <a:bodyPr/>
                    <a:lstStyle/>
                    <a:p>
                      <a:pPr algn="ctr"/>
                      <a:r>
                        <a:rPr sz="2400" b="1">
                          <a:solidFill>
                            <a:srgbClr val="111827"/>
                          </a:solidFill>
                          <a:latin typeface="Arial"/>
                        </a:rPr>
                        <a:t>25</a:t>
                      </a:r>
                    </a:p>
                  </a:txBody>
                  <a:tcPr anchor="ctr" marL="91440" marR="9144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2400" b="0">
                          <a:solidFill>
                            <a:srgbClr val="111827"/>
                          </a:solidFill>
                          <a:latin typeface="Arial"/>
                        </a:rPr>
                        <a:t>Paragraph Single Correct</a:t>
                      </a:r>
                    </a:p>
                  </a:txBody>
                  <a:tcPr anchor="ctr" marL="91440" marR="9144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2400" b="0">
                          <a:solidFill>
                            <a:srgbClr val="111827"/>
                          </a:solidFill>
                          <a:latin typeface="Arial"/>
                        </a:rPr>
                        <a:t>3</a:t>
                      </a:r>
                    </a:p>
                  </a:txBody>
                  <a:tcPr anchor="ctr" marL="91440" marR="9144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2400" b="1">
                          <a:solidFill>
                            <a:srgbClr val="111827"/>
                          </a:solidFill>
                          <a:latin typeface="Arial"/>
                        </a:rPr>
                        <a:t>2</a:t>
                      </a:r>
                    </a:p>
                  </a:txBody>
                  <a:tcPr anchor="ctr" marL="91440" marR="91440">
                    <a:solidFill>
                      <a:srgbClr val="FFD966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2400" b="0">
                          <a:solidFill>
                            <a:srgbClr val="111827"/>
                          </a:solidFill>
                          <a:latin typeface="Arial"/>
                        </a:rPr>
                        <a:t>A level below Average JEE Advanced Level</a:t>
                      </a:r>
                    </a:p>
                  </a:txBody>
                  <a:tcPr anchor="ctr" marL="91440" marR="91440">
                    <a:solidFill>
                      <a:srgbClr val="FFD966"/>
                    </a:solidFill>
                  </a:tcPr>
                </a:tc>
              </a:tr>
              <a:tr h="868680">
                <a:tc>
                  <a:txBody>
                    <a:bodyPr/>
                    <a:lstStyle/>
                    <a:p>
                      <a:pPr algn="ctr"/>
                      <a:r>
                        <a:rPr sz="2400" b="1">
                          <a:solidFill>
                            <a:srgbClr val="111827"/>
                          </a:solidFill>
                          <a:latin typeface="Arial"/>
                        </a:rPr>
                        <a:t>26</a:t>
                      </a:r>
                    </a:p>
                  </a:txBody>
                  <a:tcPr anchor="ctr" marL="91440" marR="9144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2400" b="0">
                          <a:solidFill>
                            <a:srgbClr val="111827"/>
                          </a:solidFill>
                          <a:latin typeface="Arial"/>
                        </a:rPr>
                        <a:t>Matching</a:t>
                      </a:r>
                    </a:p>
                  </a:txBody>
                  <a:tcPr anchor="ctr" marL="91440" marR="9144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2400" b="0">
                          <a:solidFill>
                            <a:srgbClr val="111827"/>
                          </a:solidFill>
                          <a:latin typeface="Arial"/>
                        </a:rPr>
                        <a:t>3</a:t>
                      </a:r>
                    </a:p>
                  </a:txBody>
                  <a:tcPr anchor="ctr" marL="91440" marR="9144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2400" b="1">
                          <a:solidFill>
                            <a:srgbClr val="111827"/>
                          </a:solidFill>
                          <a:latin typeface="Arial"/>
                        </a:rPr>
                        <a:t>2</a:t>
                      </a:r>
                    </a:p>
                  </a:txBody>
                  <a:tcPr anchor="ctr" marL="91440" marR="91440">
                    <a:solidFill>
                      <a:srgbClr val="FFD966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2400" b="0">
                          <a:solidFill>
                            <a:srgbClr val="111827"/>
                          </a:solidFill>
                          <a:latin typeface="Arial"/>
                        </a:rPr>
                        <a:t>A level below Average JEE Advanced Level</a:t>
                      </a:r>
                    </a:p>
                  </a:txBody>
                  <a:tcPr anchor="ctr" marL="91440" marR="91440">
                    <a:solidFill>
                      <a:srgbClr val="FFD966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17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FFFFFF"/>
          </a:fontRef>
        </p:style>
        <p:txBody>
          <a:bodyPr rtlCol="0" anchor="ctr" lIns="731520"/>
          <a:lstStyle>
            <a:lvl1pPr>
              <a:defRPr sz="3200">
                <a:solidFill>
                  <a:srgbClr val="FFFFFF"/>
                </a:solidFill>
              </a:defRPr>
            </a:lvl1pPr>
          </a:lstStyle>
          <a:p>
            <a:pPr algn="l">
              <a:defRPr sz="3200">
                <a:solidFill>
                  <a:srgbClr val="FFFFFF"/>
                </a:solidFill>
              </a:defRPr>
            </a:pPr>
            <a:r>
              <a:rPr sz="3200" b="1">
                <a:solidFill>
                  <a:srgbClr val="FFFFFF"/>
                </a:solidFill>
                <a:latin typeface="Arial"/>
              </a:rPr>
              <a:t>Overall Difficulty Analysis</a:t>
            </a:r>
            <a:endParaRPr sz="3200">
              <a:solidFill>
                <a:srgbClr val="FFFFFF"/>
              </a:solidFill>
            </a:endParaRPr>
          </a:p>
        </p:txBody>
      </p:sp>
      <p:sp>
        <p:nvSpPr>
          <p:cNvPr id="3" name="Rounded Rectangle 2"/>
          <p:cNvSpPr/>
          <p:nvPr/>
        </p:nvSpPr>
        <p:spPr>
          <a:xfrm>
            <a:off x="731520" y="1417320"/>
            <a:ext cx="4754880" cy="3291840"/>
          </a:xfrm>
          <a:prstGeom prst="roundRect">
            <a:avLst>
              <a:gd name="adj" fmla="val 8000"/>
            </a:avLst>
          </a:prstGeom>
          <a:solidFill>
            <a:srgbClr val="E0ECFF"/>
          </a:solidFill>
          <a:ln w="25400">
            <a:solidFill>
              <a:srgbClr val="1D4ED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0B1F3A"/>
          </a:fontRef>
        </p:style>
        <p:txBody>
          <a:bodyPr rtlCol="0" anchor="ctr" wrap="square" lIns="228600" rIns="228600" tIns="137160" bIns="73152"/>
          <a:lstStyle>
            <a:lvl1pPr>
              <a:defRPr sz="3000">
                <a:solidFill>
                  <a:srgbClr val="0B1F3A"/>
                </a:solidFill>
              </a:defRPr>
            </a:lvl1pPr>
          </a:lstStyle>
          <a:p>
            <a:pPr algn="ctr">
              <a:defRPr sz="3000">
                <a:solidFill>
                  <a:srgbClr val="0B1F3A"/>
                </a:solidFill>
              </a:defRPr>
            </a:pPr>
            <a:r>
              <a:rPr sz="3000" b="1">
                <a:solidFill>
                  <a:srgbClr val="0B1F3A"/>
                </a:solidFill>
                <a:latin typeface="Arial"/>
              </a:rPr>
              <a:t>Difficulty Index</a:t>
            </a:r>
            <a:endParaRPr sz="3000">
              <a:solidFill>
                <a:srgbClr val="0B1F3A"/>
              </a:solidFill>
            </a:endParaRPr>
          </a:p>
          <a:p>
            <a:pPr algn="ctr">
              <a:defRPr sz="3000">
                <a:solidFill>
                  <a:srgbClr val="0B1F3A"/>
                </a:solidFill>
              </a:defRPr>
            </a:pPr>
            <a:r>
              <a:rPr sz="8800" b="1">
                <a:solidFill>
                  <a:srgbClr val="0B1F3A"/>
                </a:solidFill>
                <a:latin typeface="Arial"/>
              </a:rPr>
              <a:t>2.27</a:t>
            </a:r>
            <a:endParaRPr sz="3000">
              <a:solidFill>
                <a:srgbClr val="0B1F3A"/>
              </a:solidFill>
            </a:endParaRPr>
          </a:p>
          <a:p>
            <a:pPr algn="ctr">
              <a:defRPr sz="3000">
                <a:solidFill>
                  <a:srgbClr val="0B1F3A"/>
                </a:solidFill>
              </a:defRPr>
            </a:pPr>
            <a:r>
              <a:rPr sz="2400" b="0">
                <a:solidFill>
                  <a:srgbClr val="0B1F3A"/>
                </a:solidFill>
                <a:latin typeface="Arial"/>
              </a:rPr>
              <a:t>out of 5</a:t>
            </a:r>
            <a:endParaRPr sz="3000">
              <a:solidFill>
                <a:srgbClr val="0B1F3A"/>
              </a:solidFill>
            </a:endParaRPr>
          </a:p>
        </p:txBody>
      </p:sp>
      <p:sp>
        <p:nvSpPr>
          <p:cNvPr id="4" name="Rectangle 3"/>
          <p:cNvSpPr/>
          <p:nvPr/>
        </p:nvSpPr>
        <p:spPr>
          <a:xfrm>
            <a:off x="5852160" y="1417320"/>
            <a:ext cx="5605272" cy="603504"/>
          </a:xfrm>
          <a:prstGeom prst="rect">
            <a:avLst/>
          </a:prstGeom>
          <a:solidFill>
            <a:srgbClr val="93C47D"/>
          </a:solidFill>
          <a:ln w="19050">
            <a:solidFill>
              <a:srgbClr val="6B728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111827"/>
          </a:fontRef>
        </p:style>
        <p:txBody>
          <a:bodyPr rtlCol="0" anchor="ctr" wrap="square" lIns="228600" rIns="228600" tIns="18288" bIns="73152"/>
          <a:lstStyle>
            <a:lvl1pPr>
              <a:defRPr sz="2400">
                <a:solidFill>
                  <a:srgbClr val="111827"/>
                </a:solidFill>
              </a:defRPr>
            </a:lvl1pPr>
          </a:lstStyle>
          <a:p>
            <a:pPr algn="l">
              <a:defRPr sz="2400">
                <a:solidFill>
                  <a:srgbClr val="111827"/>
                </a:solidFill>
              </a:defRPr>
            </a:pPr>
            <a:r>
              <a:rPr sz="2400" b="1">
                <a:solidFill>
                  <a:srgbClr val="111827"/>
                </a:solidFill>
                <a:latin typeface="Arial"/>
              </a:rPr>
              <a:t>JEE Main or easier:  2 questions</a:t>
            </a:r>
            <a:endParaRPr sz="2400">
              <a:solidFill>
                <a:srgbClr val="111827"/>
              </a:solidFill>
            </a:endParaRPr>
          </a:p>
        </p:txBody>
      </p:sp>
      <p:sp>
        <p:nvSpPr>
          <p:cNvPr id="5" name="Rectangle 4"/>
          <p:cNvSpPr/>
          <p:nvPr/>
        </p:nvSpPr>
        <p:spPr>
          <a:xfrm>
            <a:off x="5852160" y="2093976"/>
            <a:ext cx="5605272" cy="603504"/>
          </a:xfrm>
          <a:prstGeom prst="rect">
            <a:avLst/>
          </a:prstGeom>
          <a:solidFill>
            <a:srgbClr val="FFD966"/>
          </a:solidFill>
          <a:ln w="19050">
            <a:solidFill>
              <a:srgbClr val="6B728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111827"/>
          </a:fontRef>
        </p:style>
        <p:txBody>
          <a:bodyPr rtlCol="0" anchor="ctr" wrap="square" lIns="228600" rIns="228600" tIns="18288" bIns="73152"/>
          <a:lstStyle>
            <a:lvl1pPr>
              <a:defRPr sz="2400">
                <a:solidFill>
                  <a:srgbClr val="111827"/>
                </a:solidFill>
              </a:defRPr>
            </a:lvl1pPr>
          </a:lstStyle>
          <a:p>
            <a:pPr algn="l">
              <a:defRPr sz="2400">
                <a:solidFill>
                  <a:srgbClr val="111827"/>
                </a:solidFill>
              </a:defRPr>
            </a:pPr>
            <a:r>
              <a:rPr sz="2400" b="1">
                <a:solidFill>
                  <a:srgbClr val="111827"/>
                </a:solidFill>
                <a:latin typeface="Arial"/>
              </a:rPr>
              <a:t>Below average:  16 questions</a:t>
            </a:r>
            <a:endParaRPr sz="2400">
              <a:solidFill>
                <a:srgbClr val="111827"/>
              </a:solidFill>
            </a:endParaRPr>
          </a:p>
        </p:txBody>
      </p:sp>
      <p:sp>
        <p:nvSpPr>
          <p:cNvPr id="6" name="Rectangle 5"/>
          <p:cNvSpPr/>
          <p:nvPr/>
        </p:nvSpPr>
        <p:spPr>
          <a:xfrm>
            <a:off x="5852160" y="2770632"/>
            <a:ext cx="5605272" cy="603504"/>
          </a:xfrm>
          <a:prstGeom prst="rect">
            <a:avLst/>
          </a:prstGeom>
          <a:solidFill>
            <a:srgbClr val="F6B26B"/>
          </a:solidFill>
          <a:ln w="19050">
            <a:solidFill>
              <a:srgbClr val="6B728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111827"/>
          </a:fontRef>
        </p:style>
        <p:txBody>
          <a:bodyPr rtlCol="0" anchor="ctr" wrap="square" lIns="228600" rIns="228600" tIns="18288" bIns="73152"/>
          <a:lstStyle>
            <a:lvl1pPr>
              <a:defRPr sz="2400">
                <a:solidFill>
                  <a:srgbClr val="111827"/>
                </a:solidFill>
              </a:defRPr>
            </a:lvl1pPr>
          </a:lstStyle>
          <a:p>
            <a:pPr algn="l">
              <a:defRPr sz="2400">
                <a:solidFill>
                  <a:srgbClr val="111827"/>
                </a:solidFill>
              </a:defRPr>
            </a:pPr>
            <a:r>
              <a:rPr sz="2400" b="1">
                <a:solidFill>
                  <a:srgbClr val="111827"/>
                </a:solidFill>
                <a:latin typeface="Arial"/>
              </a:rPr>
              <a:t>Average Advanced:  8 questions</a:t>
            </a:r>
            <a:endParaRPr sz="2400">
              <a:solidFill>
                <a:srgbClr val="111827"/>
              </a:solidFill>
            </a:endParaRPr>
          </a:p>
        </p:txBody>
      </p:sp>
      <p:sp>
        <p:nvSpPr>
          <p:cNvPr id="7" name="Rectangle 6"/>
          <p:cNvSpPr/>
          <p:nvPr/>
        </p:nvSpPr>
        <p:spPr>
          <a:xfrm>
            <a:off x="5852160" y="3447288"/>
            <a:ext cx="5605272" cy="603504"/>
          </a:xfrm>
          <a:prstGeom prst="rect">
            <a:avLst/>
          </a:prstGeom>
          <a:solidFill>
            <a:srgbClr val="E88080"/>
          </a:solidFill>
          <a:ln w="19050">
            <a:solidFill>
              <a:srgbClr val="6B728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111827"/>
          </a:fontRef>
        </p:style>
        <p:txBody>
          <a:bodyPr rtlCol="0" anchor="ctr" wrap="square" lIns="228600" rIns="228600" tIns="18288" bIns="73152"/>
          <a:lstStyle>
            <a:lvl1pPr>
              <a:defRPr sz="2400">
                <a:solidFill>
                  <a:srgbClr val="111827"/>
                </a:solidFill>
              </a:defRPr>
            </a:lvl1pPr>
          </a:lstStyle>
          <a:p>
            <a:pPr algn="l">
              <a:defRPr sz="2400">
                <a:solidFill>
                  <a:srgbClr val="111827"/>
                </a:solidFill>
              </a:defRPr>
            </a:pPr>
            <a:r>
              <a:rPr sz="2400" b="1">
                <a:solidFill>
                  <a:srgbClr val="111827"/>
                </a:solidFill>
                <a:latin typeface="Arial"/>
              </a:rPr>
              <a:t>Above average:  0 questions</a:t>
            </a:r>
            <a:endParaRPr sz="2400">
              <a:solidFill>
                <a:srgbClr val="111827"/>
              </a:solidFill>
            </a:endParaRPr>
          </a:p>
        </p:txBody>
      </p:sp>
      <p:sp>
        <p:nvSpPr>
          <p:cNvPr id="8" name="Rectangle 7"/>
          <p:cNvSpPr/>
          <p:nvPr/>
        </p:nvSpPr>
        <p:spPr>
          <a:xfrm>
            <a:off x="5852160" y="4123944"/>
            <a:ext cx="5605272" cy="603504"/>
          </a:xfrm>
          <a:prstGeom prst="rect">
            <a:avLst/>
          </a:prstGeom>
          <a:solidFill>
            <a:srgbClr val="CC4125"/>
          </a:solidFill>
          <a:ln w="19050">
            <a:solidFill>
              <a:srgbClr val="6B728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FFFFFF"/>
          </a:fontRef>
        </p:style>
        <p:txBody>
          <a:bodyPr rtlCol="0" anchor="ctr" wrap="square" lIns="228600" rIns="228600" tIns="18288" bIns="73152"/>
          <a:lstStyle>
            <a:lvl1pPr>
              <a:defRPr sz="2400">
                <a:solidFill>
                  <a:srgbClr val="FFFFFF"/>
                </a:solidFill>
              </a:defRPr>
            </a:lvl1pPr>
          </a:lstStyle>
          <a:p>
            <a:pPr algn="l">
              <a:defRPr sz="2400">
                <a:solidFill>
                  <a:srgbClr val="FFFFFF"/>
                </a:solidFill>
              </a:defRPr>
            </a:pPr>
            <a:r>
              <a:rPr sz="2400" b="1">
                <a:solidFill>
                  <a:srgbClr val="FFFFFF"/>
                </a:solidFill>
                <a:latin typeface="Arial"/>
              </a:rPr>
              <a:t>Very difficult:  0 questions</a:t>
            </a:r>
            <a:endParaRPr sz="2400">
              <a:solidFill>
                <a:srgbClr val="FFFFFF"/>
              </a:solidFill>
            </a:endParaRPr>
          </a:p>
        </p:txBody>
      </p:sp>
      <p:sp>
        <p:nvSpPr>
          <p:cNvPr id="9" name="Rectangle 8"/>
          <p:cNvSpPr/>
          <p:nvPr/>
        </p:nvSpPr>
        <p:spPr>
          <a:xfrm>
            <a:off x="731520" y="5029200"/>
            <a:ext cx="10725912" cy="1097280"/>
          </a:xfrm>
          <a:prstGeom prst="rect">
            <a:avLst/>
          </a:prstGeom>
          <a:solidFill>
            <a:srgbClr val="FFFFFF"/>
          </a:solidFill>
          <a:ln w="19050"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111827"/>
          </a:fontRef>
        </p:style>
        <p:txBody>
          <a:bodyPr rtlCol="0" anchor="t" wrap="square" lIns="228600" rIns="228600" tIns="137160" bIns="73152"/>
          <a:lstStyle>
            <a:lvl1pPr>
              <a:defRPr sz="2400">
                <a:solidFill>
                  <a:srgbClr val="111827"/>
                </a:solidFill>
              </a:defRPr>
            </a:lvl1pPr>
          </a:lstStyle>
          <a:p>
            <a:pPr algn="ctr">
              <a:defRPr sz="2400">
                <a:solidFill>
                  <a:srgbClr val="111827"/>
                </a:solidFill>
              </a:defRPr>
            </a:pPr>
            <a:r>
              <a:rPr sz="2400" b="0">
                <a:solidFill>
                  <a:srgbClr val="111827"/>
                </a:solidFill>
                <a:latin typeface="Arial"/>
              </a:rPr>
              <a:t>Total: 26 questions, 98 marks.  Index = Σ(marks × level) ÷ Σ marks, on the 0-5 scale.</a:t>
            </a:r>
            <a:endParaRPr sz="2400">
              <a:solidFill>
                <a:srgbClr val="111827"/>
              </a:solidFill>
            </a:endParaRPr>
          </a:p>
        </p:txBody>
      </p:sp>
    </p:spTree>
  </p:cSld>
  <p:clrMapOvr>
    <a:masterClrMapping/>
  </p:clrMapOvr>
</p:sld>
</file>

<file path=ppt/slides/slide17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FFFFFF"/>
          </a:fontRef>
        </p:style>
        <p:txBody>
          <a:bodyPr rtlCol="0" anchor="ctr" lIns="731520"/>
          <a:lstStyle>
            <a:lvl1pPr>
              <a:defRPr sz="3200">
                <a:solidFill>
                  <a:srgbClr val="FFFFFF"/>
                </a:solidFill>
              </a:defRPr>
            </a:lvl1pPr>
          </a:lstStyle>
          <a:p>
            <a:pPr algn="l">
              <a:defRPr sz="3200">
                <a:solidFill>
                  <a:srgbClr val="FFFFFF"/>
                </a:solidFill>
              </a:defRPr>
            </a:pPr>
            <a:r>
              <a:rPr sz="3200" b="1">
                <a:solidFill>
                  <a:srgbClr val="FFFFFF"/>
                </a:solidFill>
                <a:latin typeface="Arial"/>
              </a:rPr>
              <a:t>Difficulty Profile of the Paper</a:t>
            </a:r>
            <a:endParaRPr sz="3200">
              <a:solidFill>
                <a:srgbClr val="FFFFFF"/>
              </a:solidFill>
            </a:endParaRPr>
          </a:p>
        </p:txBody>
      </p:sp>
      <p:graphicFrame>
        <p:nvGraphicFramePr>
          <p:cNvPr id="3" name="Chart 2"/>
          <p:cNvGraphicFramePr>
            <a:graphicFrameLocks noGrp="1"/>
          </p:cNvGraphicFramePr>
          <p:nvPr/>
        </p:nvGraphicFramePr>
        <p:xfrm>
          <a:off x="457200" y="1280160"/>
          <a:ext cx="11274552" cy="5349240"/>
        </p:xfrm>
        <a:graphic>
          <a:graphicData uri="http://schemas.openxmlformats.org/drawingml/2006/chart">
            <c:chart xmlns:c="http://schemas.openxmlformats.org/drawingml/2006/chart" r:id="rId2"/>
          </a:graphicData>
        </a:graphic>
      </p:graphicFrame>
    </p:spTree>
  </p:cSld>
  <p:clrMapOvr>
    <a:masterClrMapping/>
  </p:clrMapOvr>
</p:sld>
</file>

<file path=ppt/slides/slide17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FFFFFF"/>
          </a:fontRef>
        </p:style>
        <p:txBody>
          <a:bodyPr rtlCol="0" anchor="ctr" lIns="731520"/>
          <a:lstStyle>
            <a:lvl1pPr>
              <a:defRPr sz="3200">
                <a:solidFill>
                  <a:srgbClr val="FFFFFF"/>
                </a:solidFill>
              </a:defRPr>
            </a:lvl1pPr>
          </a:lstStyle>
          <a:p>
            <a:pPr algn="l">
              <a:defRPr sz="3200">
                <a:solidFill>
                  <a:srgbClr val="FFFFFF"/>
                </a:solidFill>
              </a:defRPr>
            </a:pPr>
            <a:r>
              <a:rPr sz="3200" b="1">
                <a:solidFill>
                  <a:srgbClr val="FFFFFF"/>
                </a:solidFill>
                <a:latin typeface="Arial"/>
              </a:rPr>
              <a:t>Comparison with JEE Advanced Papers</a:t>
            </a:r>
            <a:endParaRPr sz="3200">
              <a:solidFill>
                <a:srgbClr val="FFFFFF"/>
              </a:solidFill>
            </a:endParaRPr>
          </a:p>
        </p:txBody>
      </p:sp>
      <p:graphicFrame>
        <p:nvGraphicFramePr>
          <p:cNvPr id="3" name="Table 2"/>
          <p:cNvGraphicFramePr>
            <a:graphicFrameLocks noGrp="1"/>
          </p:cNvGraphicFramePr>
          <p:nvPr/>
        </p:nvGraphicFramePr>
        <p:xfrm>
          <a:off x="1661007" y="1371600"/>
          <a:ext cx="8869680" cy="452628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5760720"/>
                <a:gridCol w="3108960"/>
              </a:tblGrid>
              <a:tr h="685800">
                <a:tc>
                  <a:txBody>
                    <a:bodyPr/>
                    <a:lstStyle/>
                    <a:p>
                      <a:pPr algn="ctr"/>
                      <a:r>
                        <a:rPr sz="2600" b="1">
                          <a:solidFill>
                            <a:srgbClr val="FFFFFF"/>
                          </a:solidFill>
                          <a:latin typeface="Arial"/>
                        </a:rPr>
                        <a:t>Paper</a:t>
                      </a:r>
                    </a:p>
                  </a:txBody>
                  <a:tcPr anchor="ctr" marL="137160" marR="137160">
                    <a:solidFill>
                      <a:srgbClr val="0B1F3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2600" b="1">
                          <a:solidFill>
                            <a:srgbClr val="FFFFFF"/>
                          </a:solidFill>
                          <a:latin typeface="Arial"/>
                        </a:rPr>
                        <a:t>Difficulty Index</a:t>
                      </a:r>
                    </a:p>
                  </a:txBody>
                  <a:tcPr anchor="ctr" marL="137160" marR="137160">
                    <a:solidFill>
                      <a:srgbClr val="0B1F3A"/>
                    </a:solidFill>
                  </a:tcPr>
                </a:tc>
              </a:tr>
              <a:tr h="640080">
                <a:tc>
                  <a:txBody>
                    <a:bodyPr/>
                    <a:lstStyle/>
                    <a:p>
                      <a:pPr algn="l"/>
                      <a:r>
                        <a:rPr sz="2600" b="0">
                          <a:solidFill>
                            <a:srgbClr val="111827"/>
                          </a:solidFill>
                          <a:latin typeface="Arial"/>
                        </a:rPr>
                        <a:t>JEE Advanced 2021</a:t>
                      </a:r>
                    </a:p>
                  </a:txBody>
                  <a:tcPr anchor="ctr" marL="137160" marR="13716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2600" b="1">
                          <a:solidFill>
                            <a:srgbClr val="111827"/>
                          </a:solidFill>
                          <a:latin typeface="Arial"/>
                        </a:rPr>
                        <a:t>2.76</a:t>
                      </a:r>
                    </a:p>
                  </a:txBody>
                  <a:tcPr anchor="ctr" marL="137160" marR="137160">
                    <a:solidFill>
                      <a:srgbClr val="FFFFFF"/>
                    </a:solidFill>
                  </a:tcPr>
                </a:tc>
              </a:tr>
              <a:tr h="640080">
                <a:tc>
                  <a:txBody>
                    <a:bodyPr/>
                    <a:lstStyle/>
                    <a:p>
                      <a:pPr algn="l"/>
                      <a:r>
                        <a:rPr sz="2600" b="0">
                          <a:solidFill>
                            <a:srgbClr val="111827"/>
                          </a:solidFill>
                          <a:latin typeface="Arial"/>
                        </a:rPr>
                        <a:t>JEE Advanced 2023</a:t>
                      </a:r>
                    </a:p>
                  </a:txBody>
                  <a:tcPr anchor="ctr" marL="137160" marR="13716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2600" b="1">
                          <a:solidFill>
                            <a:srgbClr val="111827"/>
                          </a:solidFill>
                          <a:latin typeface="Arial"/>
                        </a:rPr>
                        <a:t>3.19</a:t>
                      </a:r>
                    </a:p>
                  </a:txBody>
                  <a:tcPr anchor="ctr" marL="137160" marR="137160">
                    <a:solidFill>
                      <a:srgbClr val="FFFFFF"/>
                    </a:solidFill>
                  </a:tcPr>
                </a:tc>
              </a:tr>
              <a:tr h="640080">
                <a:tc>
                  <a:txBody>
                    <a:bodyPr/>
                    <a:lstStyle/>
                    <a:p>
                      <a:pPr algn="l"/>
                      <a:r>
                        <a:rPr sz="2600" b="0">
                          <a:solidFill>
                            <a:srgbClr val="111827"/>
                          </a:solidFill>
                          <a:latin typeface="Arial"/>
                        </a:rPr>
                        <a:t>JEE Advanced 2024</a:t>
                      </a:r>
                    </a:p>
                  </a:txBody>
                  <a:tcPr anchor="ctr" marL="137160" marR="13716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2600" b="1">
                          <a:solidFill>
                            <a:srgbClr val="111827"/>
                          </a:solidFill>
                          <a:latin typeface="Arial"/>
                        </a:rPr>
                        <a:t>2.59</a:t>
                      </a:r>
                    </a:p>
                  </a:txBody>
                  <a:tcPr anchor="ctr" marL="137160" marR="137160">
                    <a:solidFill>
                      <a:srgbClr val="FFFFFF"/>
                    </a:solidFill>
                  </a:tcPr>
                </a:tc>
              </a:tr>
              <a:tr h="640080">
                <a:tc>
                  <a:txBody>
                    <a:bodyPr/>
                    <a:lstStyle/>
                    <a:p>
                      <a:pPr algn="l"/>
                      <a:r>
                        <a:rPr sz="2600" b="0">
                          <a:solidFill>
                            <a:srgbClr val="111827"/>
                          </a:solidFill>
                          <a:latin typeface="Arial"/>
                        </a:rPr>
                        <a:t>JEE Advanced 2025</a:t>
                      </a:r>
                    </a:p>
                  </a:txBody>
                  <a:tcPr anchor="ctr" marL="137160" marR="13716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2600" b="1">
                          <a:solidFill>
                            <a:srgbClr val="111827"/>
                          </a:solidFill>
                          <a:latin typeface="Arial"/>
                        </a:rPr>
                        <a:t>3.21</a:t>
                      </a:r>
                    </a:p>
                  </a:txBody>
                  <a:tcPr anchor="ctr" marL="137160" marR="137160">
                    <a:solidFill>
                      <a:srgbClr val="FFFFFF"/>
                    </a:solidFill>
                  </a:tcPr>
                </a:tc>
              </a:tr>
              <a:tr h="640080">
                <a:tc>
                  <a:txBody>
                    <a:bodyPr/>
                    <a:lstStyle/>
                    <a:p>
                      <a:pPr algn="l"/>
                      <a:r>
                        <a:rPr sz="2600" b="0">
                          <a:solidFill>
                            <a:srgbClr val="111827"/>
                          </a:solidFill>
                          <a:latin typeface="Arial"/>
                        </a:rPr>
                        <a:t>JEE Advanced 2026</a:t>
                      </a:r>
                    </a:p>
                  </a:txBody>
                  <a:tcPr anchor="ctr" marL="137160" marR="13716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2600" b="1">
                          <a:solidFill>
                            <a:srgbClr val="111827"/>
                          </a:solidFill>
                          <a:latin typeface="Arial"/>
                        </a:rPr>
                        <a:t>3.02</a:t>
                      </a:r>
                    </a:p>
                  </a:txBody>
                  <a:tcPr anchor="ctr" marL="137160" marR="137160">
                    <a:solidFill>
                      <a:srgbClr val="FFFFFF"/>
                    </a:solidFill>
                  </a:tcPr>
                </a:tc>
              </a:tr>
              <a:tr h="640080">
                <a:tc>
                  <a:txBody>
                    <a:bodyPr/>
                    <a:lstStyle/>
                    <a:p>
                      <a:pPr algn="l"/>
                      <a:r>
                        <a:rPr sz="2600" b="1">
                          <a:solidFill>
                            <a:srgbClr val="0B1F3A"/>
                          </a:solidFill>
                          <a:latin typeface="Arial"/>
                        </a:rPr>
                        <a:t>Methods of Differentiation Sheet C2</a:t>
                      </a:r>
                    </a:p>
                  </a:txBody>
                  <a:tcPr anchor="ctr" marL="137160" marR="137160">
                    <a:solidFill>
                      <a:srgbClr val="E0EC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2600" b="1">
                          <a:solidFill>
                            <a:srgbClr val="0B1F3A"/>
                          </a:solidFill>
                          <a:latin typeface="Arial"/>
                        </a:rPr>
                        <a:t>2.27</a:t>
                      </a:r>
                    </a:p>
                  </a:txBody>
                  <a:tcPr anchor="ctr" marL="137160" marR="137160">
                    <a:solidFill>
                      <a:srgbClr val="E0ECFF"/>
                    </a:solidFill>
                  </a:tcPr>
                </a:tc>
              </a:tr>
            </a:tbl>
          </a:graphicData>
        </a:graphic>
      </p:graphicFrame>
      <p:sp>
        <p:nvSpPr>
          <p:cNvPr id="4" name="TextBox 3"/>
          <p:cNvSpPr txBox="1"/>
          <p:nvPr/>
        </p:nvSpPr>
        <p:spPr>
          <a:xfrm>
            <a:off x="731520" y="6080759"/>
            <a:ext cx="10725912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>
            <a:lvl1pPr>
              <a:defRPr sz="2000">
                <a:solidFill>
                  <a:srgbClr val="111827"/>
                </a:solidFill>
              </a:defRPr>
            </a:lvl1pPr>
          </a:lstStyle>
          <a:p>
            <a:pPr algn="ctr">
              <a:defRPr sz="2000">
                <a:solidFill>
                  <a:srgbClr val="111827"/>
                </a:solidFill>
              </a:defRPr>
            </a:pPr>
            <a:r>
              <a:rPr sz="2000" b="0">
                <a:solidFill>
                  <a:srgbClr val="111827"/>
                </a:solidFill>
                <a:latin typeface="Arial"/>
              </a:rPr>
              <a:t>Marks-weighted difficulty index on the 0-5 scale</a:t>
            </a:r>
            <a:endParaRPr sz="2000">
              <a:solidFill>
                <a:srgbClr val="111827"/>
              </a:solidFill>
            </a:endParaRP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