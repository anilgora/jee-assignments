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FD966"/>
              </a:solidFill>
              <a:ln w="9525">
                <a:solidFill>
                  <a:srgbClr val="111827"/>
                </a:solidFill>
              </a:ln>
            </c:spPr>
          </c:dPt>
          <c:dPt>
            <c:idx val="1"/>
            <c:spPr>
              <a:solidFill>
                <a:srgbClr val="F6B26B"/>
              </a:solidFill>
              <a:ln w="9525">
                <a:solidFill>
                  <a:srgbClr val="111827"/>
                </a:solidFill>
              </a:ln>
            </c:spPr>
          </c:dPt>
          <c:dPt>
            <c:idx val="2"/>
            <c:spPr>
              <a:solidFill>
                <a:srgbClr val="FFD966"/>
              </a:solidFill>
              <a:ln w="9525">
                <a:solidFill>
                  <a:srgbClr val="111827"/>
                </a:solidFill>
              </a:ln>
            </c:spPr>
          </c:dPt>
          <c:dPt>
            <c:idx val="3"/>
            <c:spPr>
              <a:solidFill>
                <a:srgbClr val="F6B26B"/>
              </a:solidFill>
              <a:ln w="9525">
                <a:solidFill>
                  <a:srgbClr val="111827"/>
                </a:solidFill>
              </a:ln>
            </c:spPr>
          </c:dPt>
          <c:dPt>
            <c:idx val="4"/>
            <c:spPr>
              <a:solidFill>
                <a:srgbClr val="F6B26B"/>
              </a:solidFill>
              <a:ln w="9525">
                <a:solidFill>
                  <a:srgbClr val="111827"/>
                </a:solidFill>
              </a:ln>
            </c:spPr>
          </c:dPt>
          <c:dPt>
            <c:idx val="5"/>
            <c:spPr>
              <a:solidFill>
                <a:srgbClr val="FFD966"/>
              </a:solidFill>
              <a:ln w="9525">
                <a:solidFill>
                  <a:srgbClr val="111827"/>
                </a:solidFill>
              </a:ln>
            </c:spPr>
          </c:dPt>
          <c:dPt>
            <c:idx val="6"/>
            <c:spPr>
              <a:solidFill>
                <a:srgbClr val="F6B26B"/>
              </a:solidFill>
              <a:ln w="9525">
                <a:solidFill>
                  <a:srgbClr val="111827"/>
                </a:solidFill>
              </a:ln>
            </c:spPr>
          </c:dPt>
          <c:dPt>
            <c:idx val="7"/>
            <c:spPr>
              <a:solidFill>
                <a:srgbClr val="B6D7A8"/>
              </a:solidFill>
              <a:ln w="9525">
                <a:solidFill>
                  <a:srgbClr val="111827"/>
                </a:solidFill>
              </a:ln>
            </c:spPr>
          </c:dPt>
          <c:dPt>
            <c:idx val="8"/>
            <c:spPr>
              <a:solidFill>
                <a:srgbClr val="FFD966"/>
              </a:solidFill>
              <a:ln w="9525">
                <a:solidFill>
                  <a:srgbClr val="111827"/>
                </a:solidFill>
              </a:ln>
            </c:spPr>
          </c:dPt>
          <c:dPt>
            <c:idx val="9"/>
            <c:spPr>
              <a:solidFill>
                <a:srgbClr val="FFD966"/>
              </a:solidFill>
              <a:ln w="9525">
                <a:solidFill>
                  <a:srgbClr val="111827"/>
                </a:solidFill>
              </a:ln>
            </c:spPr>
          </c:dPt>
          <c:dPt>
            <c:idx val="10"/>
            <c:spPr>
              <a:solidFill>
                <a:srgbClr val="FFD966"/>
              </a:solidFill>
              <a:ln w="9525">
                <a:solidFill>
                  <a:srgbClr val="111827"/>
                </a:solidFill>
              </a:ln>
            </c:spPr>
          </c:dPt>
          <c:dPt>
            <c:idx val="11"/>
            <c:spPr>
              <a:solidFill>
                <a:srgbClr val="FFD966"/>
              </a:solidFill>
              <a:ln w="9525">
                <a:solidFill>
                  <a:srgbClr val="111827"/>
                </a:solidFill>
              </a:ln>
            </c:spPr>
          </c:dPt>
          <c:dPt>
            <c:idx val="12"/>
            <c:spPr>
              <a:solidFill>
                <a:srgbClr val="FFD966"/>
              </a:solidFill>
              <a:ln w="9525">
                <a:solidFill>
                  <a:srgbClr val="111827"/>
                </a:solidFill>
              </a:ln>
            </c:spPr>
          </c:dPt>
          <c:dPt>
            <c:idx val="13"/>
            <c:spPr>
              <a:solidFill>
                <a:srgbClr val="F6B26B"/>
              </a:solidFill>
              <a:ln w="9525">
                <a:solidFill>
                  <a:srgbClr val="111827"/>
                </a:solidFill>
              </a:ln>
            </c:spPr>
          </c:dPt>
          <c:dPt>
            <c:idx val="14"/>
            <c:spPr>
              <a:solidFill>
                <a:srgbClr val="FFD966"/>
              </a:solidFill>
              <a:ln w="9525">
                <a:solidFill>
                  <a:srgbClr val="111827"/>
                </a:solidFill>
              </a:ln>
            </c:spPr>
          </c:dPt>
          <c:dPt>
            <c:idx val="15"/>
            <c:spPr>
              <a:solidFill>
                <a:srgbClr val="FFD966"/>
              </a:solidFill>
              <a:ln w="9525">
                <a:solidFill>
                  <a:srgbClr val="111827"/>
                </a:solidFill>
              </a:ln>
            </c:spPr>
          </c:dPt>
          <c:dPt>
            <c:idx val="16"/>
            <c:spPr>
              <a:solidFill>
                <a:srgbClr val="B6D7A8"/>
              </a:solidFill>
              <a:ln w="9525">
                <a:solidFill>
                  <a:srgbClr val="111827"/>
                </a:solidFill>
              </a:ln>
            </c:spPr>
          </c:dPt>
          <c:dPt>
            <c:idx val="17"/>
            <c:spPr>
              <a:solidFill>
                <a:srgbClr val="FFD966"/>
              </a:solidFill>
              <a:ln w="9525">
                <a:solidFill>
                  <a:srgbClr val="111827"/>
                </a:solidFill>
              </a:ln>
            </c:spPr>
          </c:dPt>
          <c:dPt>
            <c:idx val="18"/>
            <c:spPr>
              <a:solidFill>
                <a:srgbClr val="FFD966"/>
              </a:solidFill>
              <a:ln w="9525">
                <a:solidFill>
                  <a:srgbClr val="111827"/>
                </a:solidFill>
              </a:ln>
            </c:spPr>
          </c:dPt>
          <c:dPt>
            <c:idx val="19"/>
            <c:spPr>
              <a:solidFill>
                <a:srgbClr val="FFD966"/>
              </a:solidFill>
              <a:ln w="9525">
                <a:solidFill>
                  <a:srgbClr val="111827"/>
                </a:solidFill>
              </a:ln>
            </c:spPr>
          </c:dPt>
          <c:cat>
            <c:strRef>
              <c:f>Sheet1!$A$2:$A$21</c:f>
              <c:strCache>
                <c:ptCount val="20"/>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strCache>
            </c:strRef>
          </c:cat>
          <c:val>
            <c:numRef>
              <c:f>Sheet1!$B$2:$B$21</c:f>
              <c:numCache>
                <c:formatCode>General</c:formatCode>
                <c:ptCount val="20"/>
                <c:pt idx="0">
                  <c:v>2.0</c:v>
                </c:pt>
                <c:pt idx="1">
                  <c:v>3.0</c:v>
                </c:pt>
                <c:pt idx="2">
                  <c:v>2.0</c:v>
                </c:pt>
                <c:pt idx="3">
                  <c:v>3.0</c:v>
                </c:pt>
                <c:pt idx="4">
                  <c:v>3.0</c:v>
                </c:pt>
                <c:pt idx="5">
                  <c:v>2.0</c:v>
                </c:pt>
                <c:pt idx="6">
                  <c:v>3.0</c:v>
                </c:pt>
                <c:pt idx="7">
                  <c:v>1.0</c:v>
                </c:pt>
                <c:pt idx="8">
                  <c:v>2.0</c:v>
                </c:pt>
                <c:pt idx="9">
                  <c:v>2.0</c:v>
                </c:pt>
                <c:pt idx="10">
                  <c:v>2.0</c:v>
                </c:pt>
                <c:pt idx="11">
                  <c:v>2.0</c:v>
                </c:pt>
                <c:pt idx="12">
                  <c:v>2.0</c:v>
                </c:pt>
                <c:pt idx="13">
                  <c:v>3.0</c:v>
                </c:pt>
                <c:pt idx="14">
                  <c:v>2.0</c:v>
                </c:pt>
                <c:pt idx="15">
                  <c:v>2.0</c:v>
                </c:pt>
                <c:pt idx="16">
                  <c:v>1.0</c:v>
                </c:pt>
                <c:pt idx="17">
                  <c:v>2.0</c:v>
                </c:pt>
                <c:pt idx="18">
                  <c:v>2.0</c:v>
                </c:pt>
                <c:pt idx="19">
                  <c:v>2.0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labels the two results 'Option 3' and 'Option 1' (numbering of the original exam paper), but in this paper they are options (A) and (B). Working and answer (A, B) are correct; labels fixed, and a bullet added showing (C) and (D) are wrong.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working (S empty, empty sum = 0) is right, but its printed answer key says C ($-\frac{2\pi}{3}$), which contradicts its own working. The correct answer is (A) 0; checked numerically (the left side minus $\pi$ never vanishes on $[-\frac12,\frac12]$, its absolute value is at least $\frac\pi3$).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No wrong value. PDF jumps from the sine equation straight to $x^3-2x-1=0$ (squaring step omitted) and rejects $x=-1$ and the other root of $x^2-x-1$ with only 'false'. Added the domain $[-1,0]$, the squaring step and the reasons for rejecting $x=-1$ and $\frac{1+\sqrt5}2$.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solved $-\frac{3\alpha}4=3$ as $\alpha=4$ (sign slip) and then wrote $\beta+\gamma-\alpha=7$, which does not follow from $\alpha=4$ (that would give $-1$). Correct: $\alpha=-4$, value $7$, option (A) as the key says. Also the PDF's '$x\to10$' is a typo for $x\to0$.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computed $b=1+a=\frac34$ correctly but then wrote '$b=-\frac34$' and used $-\frac14+\frac34$ for $a+b$; the stray minus sign is a typo. Value and answer (C)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wrote the general numerator term as $\left((r-1)^2-(r-1)\right)(n-r)=(r-1)(r-2)(n-r)$, which does not match the given terms (the $r$-th given term is $(r^2-r)(n-r)$); also the printed denominator lost its minus sign (it shows a product of the two sums). The leading coefficient $\frac1{12}$ and the answer $\frac13$ are unchanged. Verified numerically.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Two typos in the PDF: its second line reads $(2+c)x+2c^2y=1$ but the given line has $5c^2y$ (the following line $(3c^2-c-2)x=c^2-1$ is the correct consequence of $5c^2y$); and $k$ is written as $\lim\frac{-1}{5(3c+12)}$ whereas it must be $\frac{-1}{5(3c+2)}$ to give $-\frac1{25}$. Centre, circle and answer (C)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JEE Main Question Bank 01 — Differential Calculus 05 — Paper Analysis</a:t>
            </a:r>
            <a:endParaRPr sz="4000">
              <a:solidFill>
                <a:srgbClr val="FFFFFF"/>
              </a:solidFill>
            </a:endParaRPr>
          </a:p>
          <a:p>
            <a:pPr algn="ctr"/>
            <a:r>
              <a:rPr sz="2200">
                <a:solidFill>
                  <a:srgbClr val="FFFFFF"/>
                </a:solidFill>
                <a:latin typeface="Arial"/>
              </a:rPr>
              <a:t>Inverse Trigonometric Functions and Limits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Q02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JEE Advanced default assumed: +4 per question</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105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rad>
                      </m:e>
                    </m:d>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endParaRPr sz="2400">
                  <a:solidFill>
                    <a:srgbClr val="111827"/>
                  </a:solidFill>
                </a:endParaRPr>
              </a:p>
            </p:txBody>
          </p:sp>
        </mc:Choice>
        <mc:Fallback>
          <p:sp>
            <p:nvSpPr>
              <p:cNvPr id="4" name="Rounded Rectangle 3"/>
              <p:cNvSpPr/>
              <p:nvPr/>
            </p:nvSpPr>
            <p:spPr>
              <a:xfrm>
                <a:off x="731520" y="1280160"/>
                <a:ext cx="10725912" cy="25105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$\tan^{-1}\left(\frac{1+\sqrt3}{3+\sqrt3}\right)+\sec^{-1}\left(\sqrt{\frac{8+4\sqrt3}{6+3\sqrt3}}\right)$</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$\frac{\pi}{6}$</a:t>
                </a:r>
                <a:r>
                  <a:rPr sz="2400" b="0">
                    <a:solidFill>
                      <a:srgbClr val="111827"/>
                    </a:solidFill>
                    <a:latin typeface="Arial"/>
                  </a:rPr>
                  <a:t>   (B) </a:t>
                </a:r>
                <a:r>
                  <a:rPr lang="en-IN" sz="2400">
                    <a:solidFill>
                      <a:srgbClr val="111827"/>
                    </a:solidFill>
                    <a:latin typeface="Cambria Math" panose="02040503050406030204" pitchFamily="18" charset="0"/>
                  </a:rPr>
                  <a:t>$\frac{\pi}{2}$</a:t>
                </a:r>
                <a:r>
                  <a:rPr sz="2400" b="0">
                    <a:solidFill>
                      <a:srgbClr val="111827"/>
                    </a:solidFill>
                    <a:latin typeface="Arial"/>
                  </a:rPr>
                  <a:t>   (C) </a:t>
                </a:r>
                <a:r>
                  <a:rPr lang="en-IN" sz="2400">
                    <a:solidFill>
                      <a:srgbClr val="111827"/>
                    </a:solidFill>
                    <a:latin typeface="Cambria Math" panose="02040503050406030204" pitchFamily="18" charset="0"/>
                  </a:rPr>
                  <a:t>$\frac{\pi}{4}$</a:t>
                </a:r>
                <a:r>
                  <a:rPr sz="2400" b="0">
                    <a:solidFill>
                      <a:srgbClr val="111827"/>
                    </a:solidFill>
                    <a:latin typeface="Arial"/>
                  </a:rPr>
                  <a:t>   (D) </a:t>
                </a:r>
                <a:r>
                  <a:rPr lang="en-IN" sz="2400">
                    <a:solidFill>
                      <a:srgbClr val="111827"/>
                    </a:solidFill>
                    <a:latin typeface="Cambria Math" panose="02040503050406030204" pitchFamily="18" charset="0"/>
                  </a:rPr>
                  <a:t>$\frac{\pi}{3}$</a:t>
                </a:r>
                <a:endParaRPr sz="2400">
                  <a:solidFill>
                    <a:srgbClr val="111827"/>
                  </a:solidFill>
                </a:endParaRPr>
              </a:p>
            </p:txBody>
          </p:sp>
        </mc:Fallback>
      </mc:AlternateContent>
      <p:sp>
        <p:nvSpPr>
          <p:cNvPr id="5" name="Rectangle 4"/>
          <p:cNvSpPr/>
          <p:nvPr/>
        </p:nvSpPr>
        <p:spPr>
          <a:xfrm>
            <a:off x="731520" y="401929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Simplification of inverse tangent and inverse secant expressions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Reduce each surd to a standard value: the </a:t>
                </a:r>
                <a14:m>
                  <m:oMath xmlns:m="http://schemas.openxmlformats.org/officeDocument/2006/math">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argument becomes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den>
                    </m:f>
                  </m:oMath>
                </a14:m>
                <a:r>
                  <a:rPr sz="2400" b="0">
                    <a:solidFill>
                      <a:srgbClr val="78350F"/>
                    </a:solidFill>
                    <a:latin typeface="Arial"/>
                  </a:rPr>
                  <a:t> and the </a:t>
                </a:r>
                <a14:m>
                  <m:oMath xmlns:m="http://schemas.openxmlformats.org/officeDocument/2006/math">
                    <m:sSup>
                      <m:e>
                        <m:r>
                          <m:rPr>
                            <m:sty m:val="p"/>
                          </m:rPr>
                          <a:rPr lang="en-IN" sz="2400">
                            <a:solidFill>
                              <a:srgbClr val="78350F"/>
                            </a:solidFill>
                            <a:latin typeface="Cambria Math" panose="02040503050406030204" pitchFamily="18" charset="0"/>
                          </a:rPr>
                          <m:t>sec</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argument becomes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Reduce each surd to a standard value: the </a:t>
                </a:r>
                <a:r>
                  <a:rPr lang="en-IN" sz="2400">
                    <a:solidFill>
                      <a:srgbClr val="78350F"/>
                    </a:solidFill>
                    <a:latin typeface="Cambria Math" panose="02040503050406030204" pitchFamily="18" charset="0"/>
                  </a:rPr>
                  <a:t>$\tan^{-1}$</a:t>
                </a:r>
                <a:r>
                  <a:rPr sz="2400" b="0">
                    <a:solidFill>
                      <a:srgbClr val="78350F"/>
                    </a:solidFill>
                    <a:latin typeface="Arial"/>
                  </a:rPr>
                  <a:t> argument becomes </a:t>
                </a:r>
                <a:r>
                  <a:rPr lang="en-IN" sz="2400">
                    <a:solidFill>
                      <a:srgbClr val="78350F"/>
                    </a:solidFill>
                    <a:latin typeface="Cambria Math" panose="02040503050406030204" pitchFamily="18" charset="0"/>
                  </a:rPr>
                  <a:t>$\frac1{\sqrt3}$</a:t>
                </a:r>
                <a:r>
                  <a:rPr sz="2400" b="0">
                    <a:solidFill>
                      <a:srgbClr val="78350F"/>
                    </a:solidFill>
                    <a:latin typeface="Arial"/>
                  </a:rPr>
                  <a:t> and the </a:t>
                </a:r>
                <a:r>
                  <a:rPr lang="en-IN" sz="2400">
                    <a:solidFill>
                      <a:srgbClr val="78350F"/>
                    </a:solidFill>
                    <a:latin typeface="Cambria Math" panose="02040503050406030204" pitchFamily="18" charset="0"/>
                  </a:rPr>
                  <a:t>$\sec^{-1}$</a:t>
                </a:r>
                <a:r>
                  <a:rPr sz="2400" b="0">
                    <a:solidFill>
                      <a:srgbClr val="78350F"/>
                    </a:solidFill>
                    <a:latin typeface="Arial"/>
                  </a:rPr>
                  <a:t> argument becomes </a:t>
                </a:r>
                <a:r>
                  <a:rPr lang="en-IN" sz="2400">
                    <a:solidFill>
                      <a:srgbClr val="78350F"/>
                    </a:solidFill>
                    <a:latin typeface="Cambria Math" panose="02040503050406030204" pitchFamily="18" charset="0"/>
                  </a:rPr>
                  <a:t>$\frac{2}{\sqrt3}$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so the first term is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Rewrite the root's radicand: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radicand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the square root: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$\frac{1+\sqrt3}{3+\sqrt3}=\frac{1+\sqrt3}{\sqrt3(\sqrt3+1)}=\frac1{\sqrt3}$</a:t>
                </a:r>
                <a:r>
                  <a:rPr sz="2400" b="0">
                    <a:solidFill>
                      <a:srgbClr val="111827"/>
                    </a:solidFill>
                    <a:latin typeface="Arial"/>
                  </a:rPr>
                  <a:t>, so the first term is </a:t>
                </a:r>
                <a:r>
                  <a:rPr lang="en-IN" sz="2400">
                    <a:solidFill>
                      <a:srgbClr val="111827"/>
                    </a:solidFill>
                    <a:latin typeface="Cambria Math" panose="02040503050406030204" pitchFamily="18" charset="0"/>
                  </a:rPr>
                  <a:t>$\tan^{-1}\frac1{\sqrt3}$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Rewrite the root's radicand: </a:t>
                </a:r>
                <a:r>
                  <a:rPr lang="en-IN" sz="2400">
                    <a:solidFill>
                      <a:srgbClr val="111827"/>
                    </a:solidFill>
                    <a:latin typeface="Cambria Math" panose="02040503050406030204" pitchFamily="18" charset="0"/>
                  </a:rPr>
                  <a:t>$\frac{8+4\sqrt3}{6+3\sqrt3}=\frac{16+8\sqrt3}{12+6\sqrt3}$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$16+8\sqrt3=4(\sqrt3+1)^2$</a:t>
                </a:r>
                <a:r>
                  <a:rPr sz="2400" b="0">
                    <a:solidFill>
                      <a:srgbClr val="111827"/>
                    </a:solidFill>
                    <a:latin typeface="Arial"/>
                  </a:rPr>
                  <a:t> and </a:t>
                </a:r>
                <a:r>
                  <a:rPr lang="en-IN" sz="2400">
                    <a:solidFill>
                      <a:srgbClr val="111827"/>
                    </a:solidFill>
                    <a:latin typeface="Cambria Math" panose="02040503050406030204" pitchFamily="18" charset="0"/>
                  </a:rPr>
                  <a:t>$12+6\sqrt3=(3+\sqrt3)^2$</a:t>
                </a:r>
                <a:r>
                  <a:rPr sz="2400" b="0">
                    <a:solidFill>
                      <a:srgbClr val="111827"/>
                    </a:solidFill>
                    <a:latin typeface="Arial"/>
                  </a:rPr>
                  <a:t>, the radicand is </a:t>
                </a:r>
                <a:r>
                  <a:rPr lang="en-IN" sz="2400">
                    <a:solidFill>
                      <a:srgbClr val="111827"/>
                    </a:solidFill>
                    <a:latin typeface="Cambria Math" panose="02040503050406030204" pitchFamily="18" charset="0"/>
                  </a:rPr>
                  <a:t>$\frac{4(\sqrt3+1)^2}{(3+\sqrt3)^2}$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the square root: </a:t>
                </a:r>
                <a:r>
                  <a:rPr lang="en-IN" sz="2400">
                    <a:solidFill>
                      <a:srgbClr val="111827"/>
                    </a:solidFill>
                    <a:latin typeface="Cambria Math" panose="02040503050406030204" pitchFamily="18" charset="0"/>
                  </a:rPr>
                  <a:t>$\frac{2(\sqrt3+1)}{3+\sqrt3}=\frac{2}{\sqrt3}$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$E=\tan^{-1}\frac1{\sqrt3}+\sec^{-1}\frac2{\sqrt3}$</a:t>
                </a:r>
                <a:r>
                  <a:rPr sz="2400" b="0">
                    <a:solidFill>
                      <a:srgbClr val="111827"/>
                    </a:solidFill>
                    <a:latin typeface="Arial"/>
                  </a:rPr>
                  <a:t>, and </a:t>
                </a:r>
                <a:r>
                  <a:rPr lang="en-IN" sz="2400">
                    <a:solidFill>
                      <a:srgbClr val="111827"/>
                    </a:solidFill>
                    <a:latin typeface="Cambria Math" panose="02040503050406030204" pitchFamily="18" charset="0"/>
                  </a:rPr>
                  <a:t>$\sec^{-1}\frac2{\sqrt3}=\cos^{-1}\frac{\sqrt3}2$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$E=\tan^{-1}\frac1{\sqrt3}+\cos^{-1}\frac{\sqrt3}2$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$\tan^{-1}\frac1{\sqrt3}=\frac\pi6$</a:t>
                </a:r>
                <a:r>
                  <a:rPr sz="2400" b="0">
                    <a:solidFill>
                      <a:srgbClr val="111827"/>
                    </a:solidFill>
                    <a:latin typeface="Arial"/>
                  </a:rPr>
                  <a:t> and </a:t>
                </a:r>
                <a:r>
                  <a:rPr lang="en-IN" sz="2400">
                    <a:solidFill>
                      <a:srgbClr val="111827"/>
                    </a:solidFill>
                    <a:latin typeface="Cambria Math" panose="02040503050406030204" pitchFamily="18" charset="0"/>
                  </a:rPr>
                  <a:t>$\cos^{-1}\frac{\sqrt3}2=\frac\pi6$</a:t>
                </a:r>
                <a:r>
                  <a:rPr sz="2400" b="0">
                    <a:solidFill>
                      <a:srgbClr val="111827"/>
                    </a:solidFill>
                    <a:latin typeface="Arial"/>
                  </a:rPr>
                  <a:t>, so </a:t>
                </a:r>
                <a:r>
                  <a:rPr lang="en-IN" sz="2400">
                    <a:solidFill>
                      <a:srgbClr val="111827"/>
                    </a:solidFill>
                    <a:latin typeface="Cambria Math" panose="02040503050406030204" pitchFamily="18" charset="0"/>
                  </a:rPr>
                  <a:t>$E=\frac\pi6+\frac\pi6=\frac\pi3$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$\frac{\pi}{3}$</a:t>
                </a:r>
                <a:endParaRPr sz="2800">
                  <a:solidFill>
                    <a:srgbClr val="15803D"/>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 the common surd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oMath>
                </a14:m>
                <a:r>
                  <a:rPr sz="2400" b="0">
                    <a:solidFill>
                      <a:srgbClr val="78350F"/>
                    </a:solidFill>
                    <a:latin typeface="Arial"/>
                  </a:rPr>
                  <a:t> out of the radicand instead of squaring numerator and denominator.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Factor the common surd </a:t>
                </a:r>
                <a:r>
                  <a:rPr lang="en-IN" sz="2400">
                    <a:solidFill>
                      <a:srgbClr val="78350F"/>
                    </a:solidFill>
                    <a:latin typeface="Cambria Math" panose="02040503050406030204" pitchFamily="18" charset="0"/>
                  </a:rPr>
                  <a:t>$2+\sqrt3$</a:t>
                </a:r>
                <a:r>
                  <a:rPr sz="2400" b="0">
                    <a:solidFill>
                      <a:srgbClr val="78350F"/>
                    </a:solidFill>
                    <a:latin typeface="Arial"/>
                  </a:rPr>
                  <a:t> out of the radicand instead of squaring numerator and denominator.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Factor: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radicand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the root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(the argument is positive, so the principal value lies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Factor: </a:t>
                </a:r>
                <a:r>
                  <a:rPr lang="en-IN" sz="2400">
                    <a:solidFill>
                      <a:srgbClr val="111827"/>
                    </a:solidFill>
                    <a:latin typeface="Cambria Math" panose="02040503050406030204" pitchFamily="18" charset="0"/>
                  </a:rPr>
                  <a:t>$8+4\sqrt3=4(2+\sqrt3)$</a:t>
                </a:r>
                <a:r>
                  <a:rPr sz="2400" b="0">
                    <a:solidFill>
                      <a:srgbClr val="111827"/>
                    </a:solidFill>
                    <a:latin typeface="Arial"/>
                  </a:rPr>
                  <a:t> and </a:t>
                </a:r>
                <a:r>
                  <a:rPr lang="en-IN" sz="2400">
                    <a:solidFill>
                      <a:srgbClr val="111827"/>
                    </a:solidFill>
                    <a:latin typeface="Cambria Math" panose="02040503050406030204" pitchFamily="18" charset="0"/>
                  </a:rPr>
                  <a:t>$6+3\sqrt3=3(2+\sqrt3)$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radicand is </a:t>
                </a:r>
                <a:r>
                  <a:rPr lang="en-IN" sz="2400">
                    <a:solidFill>
                      <a:srgbClr val="111827"/>
                    </a:solidFill>
                    <a:latin typeface="Cambria Math" panose="02040503050406030204" pitchFamily="18" charset="0"/>
                  </a:rPr>
                  <a:t>$\frac{4(2+\sqrt3)}{3(2+\sqrt3)}=\frac43$</a:t>
                </a:r>
                <a:r>
                  <a:rPr sz="2400" b="0">
                    <a:solidFill>
                      <a:srgbClr val="111827"/>
                    </a:solidFill>
                    <a:latin typeface="Arial"/>
                  </a:rPr>
                  <a:t> and the root is </a:t>
                </a:r>
                <a:r>
                  <a:rPr lang="en-IN" sz="2400">
                    <a:solidFill>
                      <a:srgbClr val="111827"/>
                    </a:solidFill>
                    <a:latin typeface="Cambria Math" panose="02040503050406030204" pitchFamily="18" charset="0"/>
                  </a:rPr>
                  <a:t>$\frac2{\sqrt3}$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$\sec^{-1}\frac2{\sqrt3}=\cos^{-1}\frac{\sqrt3}2=\frac\pi6$</a:t>
                </a:r>
                <a:r>
                  <a:rPr sz="2400" b="0">
                    <a:solidFill>
                      <a:srgbClr val="111827"/>
                    </a:solidFill>
                    <a:latin typeface="Arial"/>
                  </a:rPr>
                  <a:t> (the argument is positive, so the principal value lies in </a:t>
                </a:r>
                <a:r>
                  <a:rPr lang="en-IN" sz="2400">
                    <a:solidFill>
                      <a:srgbClr val="111827"/>
                    </a:solidFill>
                    <a:latin typeface="Cambria Math" panose="02040503050406030204" pitchFamily="18" charset="0"/>
                  </a:rPr>
                  <a:t>$[0,\frac\pi2)$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Cancel the common factor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in the first term: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giving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Cancel the common factor </a:t>
                </a:r>
                <a:r>
                  <a:rPr lang="en-IN" sz="2400">
                    <a:solidFill>
                      <a:srgbClr val="111827"/>
                    </a:solidFill>
                    <a:latin typeface="Cambria Math" panose="02040503050406030204" pitchFamily="18" charset="0"/>
                  </a:rPr>
                  <a:t>$1+\sqrt3$</a:t>
                </a:r>
                <a:r>
                  <a:rPr sz="2400" b="0">
                    <a:solidFill>
                      <a:srgbClr val="111827"/>
                    </a:solidFill>
                    <a:latin typeface="Arial"/>
                  </a:rPr>
                  <a:t> in the first term: </a:t>
                </a:r>
                <a:r>
                  <a:rPr lang="en-IN" sz="2400">
                    <a:solidFill>
                      <a:srgbClr val="111827"/>
                    </a:solidFill>
                    <a:latin typeface="Cambria Math" panose="02040503050406030204" pitchFamily="18" charset="0"/>
                  </a:rPr>
                  <a:t>$\frac{1+\sqrt3}{3+\sqrt3}=\frac{1+\sqrt3}{\sqrt3(1+\sqrt3)}=\frac1{\sqrt3}$</a:t>
                </a:r>
                <a:r>
                  <a:rPr sz="2400" b="0">
                    <a:solidFill>
                      <a:srgbClr val="111827"/>
                    </a:solidFill>
                    <a:latin typeface="Arial"/>
                  </a:rPr>
                  <a:t>, giving </a:t>
                </a:r>
                <a:r>
                  <a:rPr lang="en-IN" sz="2400">
                    <a:solidFill>
                      <a:srgbClr val="111827"/>
                    </a:solidFill>
                    <a:latin typeface="Cambria Math" panose="02040503050406030204" pitchFamily="18" charset="0"/>
                  </a:rPr>
                  <a:t>$\frac\pi6$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$=\frac\pi6+\frac\pi6=\frac\pi3$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$\frac{\pi}{3}$</a:t>
                </a:r>
                <a:endParaRPr sz="2800">
                  <a:solidFill>
                    <a:srgbClr val="15803D"/>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sec</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only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Nested surds of the form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often share a common factor such as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try factoring before squaring.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Recognition cue: after simplification, the arguments should be standard values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if they are not, a step went wrong.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so the sum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$\sec^{-1}x=\cos^{-1}\frac1x$</a:t>
                </a:r>
                <a:r>
                  <a:rPr sz="2400" b="0">
                    <a:solidFill>
                      <a:srgbClr val="111827"/>
                    </a:solidFill>
                    <a:latin typeface="Arial"/>
                  </a:rPr>
                  <a:t> for </a:t>
                </a:r>
                <a:r>
                  <a:rPr lang="en-IN" sz="2400">
                    <a:solidFill>
                      <a:srgbClr val="111827"/>
                    </a:solidFill>
                    <a:latin typeface="Cambria Math" panose="02040503050406030204" pitchFamily="18" charset="0"/>
                  </a:rPr>
                  <a:t>$|x|\ge1$</a:t>
                </a:r>
                <a:r>
                  <a:rPr sz="2400" b="0">
                    <a:solidFill>
                      <a:srgbClr val="111827"/>
                    </a:solidFill>
                    <a:latin typeface="Arial"/>
                  </a:rPr>
                  <a:t> (and </a:t>
                </a:r>
                <a:r>
                  <a:rPr lang="en-IN" sz="2400">
                    <a:solidFill>
                      <a:srgbClr val="111827"/>
                    </a:solidFill>
                    <a:latin typeface="Cambria Math" panose="02040503050406030204" pitchFamily="18" charset="0"/>
                  </a:rPr>
                  <a:t>$\cot^{-1}x=\tan^{-1}\frac1x$</a:t>
                </a:r>
                <a:r>
                  <a:rPr sz="2400" b="0">
                    <a:solidFill>
                      <a:srgbClr val="111827"/>
                    </a:solidFill>
                    <a:latin typeface="Arial"/>
                  </a:rPr>
                  <a:t> only for </a:t>
                </a:r>
                <a:r>
                  <a:rPr lang="en-IN" sz="2400">
                    <a:solidFill>
                      <a:srgbClr val="111827"/>
                    </a:solidFill>
                    <a:latin typeface="Cambria Math" panose="02040503050406030204" pitchFamily="18" charset="0"/>
                  </a:rPr>
                  <a:t>$x&gt;0$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Nested surds of the form </a:t>
                </a:r>
                <a:r>
                  <a:rPr lang="en-IN" sz="2400">
                    <a:solidFill>
                      <a:srgbClr val="111827"/>
                    </a:solidFill>
                    <a:latin typeface="Cambria Math" panose="02040503050406030204" pitchFamily="18" charset="0"/>
                  </a:rPr>
                  <a:t>$a+b\sqrt3$</a:t>
                </a:r>
                <a:r>
                  <a:rPr sz="2400" b="0">
                    <a:solidFill>
                      <a:srgbClr val="111827"/>
                    </a:solidFill>
                    <a:latin typeface="Arial"/>
                  </a:rPr>
                  <a:t> often share a common factor such as </a:t>
                </a:r>
                <a:r>
                  <a:rPr lang="en-IN" sz="2400">
                    <a:solidFill>
                      <a:srgbClr val="111827"/>
                    </a:solidFill>
                    <a:latin typeface="Cambria Math" panose="02040503050406030204" pitchFamily="18" charset="0"/>
                  </a:rPr>
                  <a:t>$2+\sqrt3$</a:t>
                </a:r>
                <a:r>
                  <a:rPr sz="2400" b="0">
                    <a:solidFill>
                      <a:srgbClr val="111827"/>
                    </a:solidFill>
                    <a:latin typeface="Arial"/>
                  </a:rPr>
                  <a:t> or </a:t>
                </a:r>
                <a:r>
                  <a:rPr lang="en-IN" sz="2400">
                    <a:solidFill>
                      <a:srgbClr val="111827"/>
                    </a:solidFill>
                    <a:latin typeface="Cambria Math" panose="02040503050406030204" pitchFamily="18" charset="0"/>
                  </a:rPr>
                  <a:t>$1+\sqrt3$</a:t>
                </a:r>
                <a:r>
                  <a:rPr sz="2400" b="0">
                    <a:solidFill>
                      <a:srgbClr val="111827"/>
                    </a:solidFill>
                    <a:latin typeface="Arial"/>
                  </a:rPr>
                  <a:t>; try factoring before squaring.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Recognition cue: after simplification, the arguments should be standard values (</a:t>
                </a:r>
                <a:r>
                  <a:rPr lang="en-IN" sz="2400">
                    <a:solidFill>
                      <a:srgbClr val="111827"/>
                    </a:solidFill>
                    <a:latin typeface="Cambria Math" panose="02040503050406030204" pitchFamily="18" charset="0"/>
                  </a:rPr>
                  <a:t>$\frac1{\sqrt3},\frac{\sqrt3}2,\dots$</a:t>
                </a:r>
                <a:r>
                  <a:rPr sz="2400" b="0">
                    <a:solidFill>
                      <a:srgbClr val="111827"/>
                    </a:solidFill>
                    <a:latin typeface="Arial"/>
                  </a:rPr>
                  <a:t>) - if they are not, a step went wrong.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$\tan^{-1}\frac1{\sqrt3}=\cos^{-1}\frac{\sqrt3}2=\frac\pi6$</a:t>
                </a:r>
                <a:r>
                  <a:rPr sz="2400" b="0">
                    <a:solidFill>
                      <a:srgbClr val="111827"/>
                    </a:solidFill>
                    <a:latin typeface="Arial"/>
                  </a:rPr>
                  <a:t>, so the sum is </a:t>
                </a:r>
                <a:r>
                  <a:rPr lang="en-IN" sz="2400">
                    <a:solidFill>
                      <a:srgbClr val="111827"/>
                    </a:solidFill>
                    <a:latin typeface="Cambria Math" panose="02040503050406030204" pitchFamily="18" charset="0"/>
                  </a:rPr>
                  <a:t>$\frac\pi3$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17</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77</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13</m:t>
                    </m:r>
                  </m:oMath>
                </a14:m>
                <a:r>
                  <a:rPr sz="2400" b="0">
                    <a:solidFill>
                      <a:srgbClr val="111827"/>
                    </a:solidFill>
                    <a:latin typeface="Arial"/>
                  </a:rPr>
                  <a:t>, then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π</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oMath>
                </a14:m>
                <a:endParaRPr sz="2400">
                  <a:solidFill>
                    <a:srgbClr val="111827"/>
                  </a:solidFill>
                </a:endParaRPr>
              </a:p>
            </p:txBody>
          </p:sp>
        </mc:Choice>
        <mc:Fallback>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$\sin^{-1}\frac{\alpha}{17}+\cos^{-1}\frac45-\tan^{-1}\frac{77}{36}=0$</a:t>
                </a:r>
                <a:r>
                  <a:rPr sz="2400" b="0">
                    <a:solidFill>
                      <a:srgbClr val="111827"/>
                    </a:solidFill>
                    <a:latin typeface="Arial"/>
                  </a:rPr>
                  <a:t>, </a:t>
                </a:r>
                <a:r>
                  <a:rPr lang="en-IN" sz="2400">
                    <a:solidFill>
                      <a:srgbClr val="111827"/>
                    </a:solidFill>
                    <a:latin typeface="Cambria Math" panose="02040503050406030204" pitchFamily="18" charset="0"/>
                  </a:rPr>
                  <a:t>$0&lt;\alpha&lt;13$</a:t>
                </a:r>
                <a:r>
                  <a:rPr sz="2400" b="0">
                    <a:solidFill>
                      <a:srgbClr val="111827"/>
                    </a:solidFill>
                    <a:latin typeface="Arial"/>
                  </a:rPr>
                  <a:t>, then </a:t>
                </a:r>
                <a:r>
                  <a:rPr lang="en-IN" sz="2400">
                    <a:solidFill>
                      <a:srgbClr val="111827"/>
                    </a:solidFill>
                    <a:latin typeface="Cambria Math" panose="02040503050406030204" pitchFamily="18" charset="0"/>
                  </a:rPr>
                  <a:t>$\sin^{-1}(\sin\alpha)+\cos^{-1}(\cos\alpha)$</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$16$</a:t>
                </a:r>
                <a:r>
                  <a:rPr sz="2400" b="0">
                    <a:solidFill>
                      <a:srgbClr val="111827"/>
                    </a:solidFill>
                    <a:latin typeface="Arial"/>
                  </a:rPr>
                  <a:t>   (B) </a:t>
                </a:r>
                <a:r>
                  <a:rPr lang="en-IN" sz="2400">
                    <a:solidFill>
                      <a:srgbClr val="111827"/>
                    </a:solidFill>
                    <a:latin typeface="Cambria Math" panose="02040503050406030204" pitchFamily="18" charset="0"/>
                  </a:rPr>
                  <a:t>$0$</a:t>
                </a:r>
                <a:r>
                  <a:rPr sz="2400" b="0">
                    <a:solidFill>
                      <a:srgbClr val="111827"/>
                    </a:solidFill>
                    <a:latin typeface="Arial"/>
                  </a:rPr>
                  <a:t>   (C) </a:t>
                </a:r>
                <a:r>
                  <a:rPr lang="en-IN" sz="2400">
                    <a:solidFill>
                      <a:srgbClr val="111827"/>
                    </a:solidFill>
                    <a:latin typeface="Cambria Math" panose="02040503050406030204" pitchFamily="18" charset="0"/>
                  </a:rPr>
                  <a:t>$\pi$</a:t>
                </a:r>
                <a:r>
                  <a:rPr sz="2400" b="0">
                    <a:solidFill>
                      <a:srgbClr val="111827"/>
                    </a:solidFill>
                    <a:latin typeface="Arial"/>
                  </a:rPr>
                  <a:t>   (D) </a:t>
                </a:r>
                <a:r>
                  <a:rPr lang="en-IN" sz="2400">
                    <a:solidFill>
                      <a:srgbClr val="111827"/>
                    </a:solidFill>
                    <a:latin typeface="Cambria Math" panose="02040503050406030204" pitchFamily="18" charset="0"/>
                  </a:rPr>
                  <a:t>$16-5\pi$</a:t>
                </a:r>
                <a:endParaRPr sz="2400">
                  <a:solidFill>
                    <a:srgbClr val="111827"/>
                  </a:solidFill>
                </a:endParaRPr>
              </a:p>
            </p:txBody>
          </p:sp>
        </mc:Fallback>
      </mc:AlternateContent>
      <p:sp>
        <p:nvSpPr>
          <p:cNvPr id="5" name="Rectangle 4"/>
          <p:cNvSpPr/>
          <p:nvPr/>
        </p:nvSpPr>
        <p:spPr>
          <a:xfrm>
            <a:off x="731520" y="39095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Addition of inverse tangents and principal values of inverse trigonometric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 then reduce </a:t>
                </a:r>
                <a14:m>
                  <m:oMath xmlns:m="http://schemas.openxmlformats.org/officeDocument/2006/math">
                    <m:sSup>
                      <m:e>
                        <m:r>
                          <m:rPr>
                            <m:sty m:val="p"/>
                          </m:rPr>
                          <a:rPr lang="en-IN" sz="2400">
                            <a:solidFill>
                              <a:srgbClr val="78350F"/>
                            </a:solidFill>
                            <a:latin typeface="Cambria Math" panose="02040503050406030204" pitchFamily="18" charset="0"/>
                          </a:rPr>
                          <m:t>sin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sSup>
                      <m:e>
                        <m:r>
                          <m:rPr>
                            <m:sty m:val="p"/>
                          </m:rPr>
                          <a:rPr lang="en-IN" sz="2400">
                            <a:solidFill>
                              <a:srgbClr val="78350F"/>
                            </a:solidFill>
                            <a:latin typeface="Cambria Math" panose="02040503050406030204" pitchFamily="18" charset="0"/>
                          </a:rPr>
                          <m:t>cos</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8</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using the principal ranges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Find </a:t>
                </a:r>
                <a:r>
                  <a:rPr lang="en-IN" sz="2400">
                    <a:solidFill>
                      <a:srgbClr val="78350F"/>
                    </a:solidFill>
                    <a:latin typeface="Cambria Math" panose="02040503050406030204" pitchFamily="18" charset="0"/>
                  </a:rPr>
                  <a:t>$\alpha=8$</a:t>
                </a:r>
                <a:r>
                  <a:rPr sz="2400" b="0">
                    <a:solidFill>
                      <a:srgbClr val="78350F"/>
                    </a:solidFill>
                    <a:latin typeface="Arial"/>
                  </a:rPr>
                  <a:t>, then reduce </a:t>
                </a:r>
                <a:r>
                  <a:rPr lang="en-IN" sz="2400">
                    <a:solidFill>
                      <a:srgbClr val="78350F"/>
                    </a:solidFill>
                    <a:latin typeface="Cambria Math" panose="02040503050406030204" pitchFamily="18" charset="0"/>
                  </a:rPr>
                  <a:t>$\sin^{-1}(\sin 8)$</a:t>
                </a:r>
                <a:r>
                  <a:rPr sz="2400" b="0">
                    <a:solidFill>
                      <a:srgbClr val="78350F"/>
                    </a:solidFill>
                    <a:latin typeface="Arial"/>
                  </a:rPr>
                  <a:t> and </a:t>
                </a:r>
                <a:r>
                  <a:rPr lang="en-IN" sz="2400">
                    <a:solidFill>
                      <a:srgbClr val="78350F"/>
                    </a:solidFill>
                    <a:latin typeface="Cambria Math" panose="02040503050406030204" pitchFamily="18" charset="0"/>
                  </a:rPr>
                  <a:t>$\cos^{-1}(\cos 8)$</a:t>
                </a:r>
                <a:r>
                  <a:rPr sz="2400" b="0">
                    <a:solidFill>
                      <a:srgbClr val="78350F"/>
                    </a:solidFill>
                    <a:latin typeface="Arial"/>
                  </a:rPr>
                  <a:t> using the principal ranges </a:t>
                </a:r>
                <a:r>
                  <a:rPr lang="en-IN" sz="2400">
                    <a:solidFill>
                      <a:srgbClr val="78350F"/>
                    </a:solidFill>
                    <a:latin typeface="Cambria Math" panose="02040503050406030204" pitchFamily="18" charset="0"/>
                  </a:rPr>
                  <a:t>$[-\frac\pi2,\frac\pi2]$</a:t>
                </a:r>
                <a:r>
                  <a:rPr sz="2400" b="0">
                    <a:solidFill>
                      <a:srgbClr val="78350F"/>
                    </a:solidFill>
                    <a:latin typeface="Arial"/>
                  </a:rPr>
                  <a:t> and </a:t>
                </a:r>
                <a:r>
                  <a:rPr lang="en-IN" sz="2400">
                    <a:solidFill>
                      <a:srgbClr val="78350F"/>
                    </a:solidFill>
                    <a:latin typeface="Cambria Math" panose="02040503050406030204" pitchFamily="18" charset="0"/>
                  </a:rPr>
                  <a:t>$[0,\pi]$</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Convert the cosine term: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17</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77</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77</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77</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den>
                    </m:f>
                  </m:oMath>
                </a14:m>
                <a:r>
                  <a:rPr sz="2400" b="0">
                    <a:solidFill>
                      <a:srgbClr val="111827"/>
                    </a:solidFill>
                    <a:latin typeface="Arial"/>
                  </a:rPr>
                  <a:t> (valid since the product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77</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fraction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375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so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17</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8</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17</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17</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Convert the cosine term: </a:t>
                </a:r>
                <a:r>
                  <a:rPr lang="en-IN" sz="2400">
                    <a:solidFill>
                      <a:srgbClr val="111827"/>
                    </a:solidFill>
                    <a:latin typeface="Cambria Math" panose="02040503050406030204" pitchFamily="18" charset="0"/>
                  </a:rPr>
                  <a:t>$\cos^{-1}\frac45=\tan^{-1}\frac34$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$\sin^{-1}\frac\alpha{17}=\tan^{-1}\frac{77}{36}-\tan^{-1}\frac34=\tan^{-1}\frac{\frac{77}{36}-\frac34}{1+\frac{77}{36}\cdot\frac34}$</a:t>
                </a:r>
                <a:r>
                  <a:rPr sz="2400" b="0">
                    <a:solidFill>
                      <a:srgbClr val="111827"/>
                    </a:solidFill>
                    <a:latin typeface="Arial"/>
                  </a:rPr>
                  <a:t> (valid since the product </a:t>
                </a:r>
                <a:r>
                  <a:rPr lang="en-IN" sz="2400">
                    <a:solidFill>
                      <a:srgbClr val="111827"/>
                    </a:solidFill>
                    <a:latin typeface="Cambria Math" panose="02040503050406030204" pitchFamily="18" charset="0"/>
                  </a:rPr>
                  <a:t>$\frac{77}{36}\cdot\frac34&gt;-1$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fraction is </a:t>
                </a:r>
                <a:r>
                  <a:rPr lang="en-IN" sz="2400">
                    <a:solidFill>
                      <a:srgbClr val="111827"/>
                    </a:solidFill>
                    <a:latin typeface="Cambria Math" panose="02040503050406030204" pitchFamily="18" charset="0"/>
                  </a:rPr>
                  <a:t>$\frac{50/36}{375/144}=\frac{8}{15}$</a:t>
                </a:r>
                <a:r>
                  <a:rPr sz="2400" b="0">
                    <a:solidFill>
                      <a:srgbClr val="111827"/>
                    </a:solidFill>
                    <a:latin typeface="Arial"/>
                  </a:rPr>
                  <a:t>, so </a:t>
                </a:r>
                <a:r>
                  <a:rPr lang="en-IN" sz="2400">
                    <a:solidFill>
                      <a:srgbClr val="111827"/>
                    </a:solidFill>
                    <a:latin typeface="Cambria Math" panose="02040503050406030204" pitchFamily="18" charset="0"/>
                  </a:rPr>
                  <a:t>$\sin^{-1}\frac\alpha{17}=\tan^{-1}\frac8{15}$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$8^2+15^2=17^2$</a:t>
                </a:r>
                <a:r>
                  <a:rPr sz="2400" b="0">
                    <a:solidFill>
                      <a:srgbClr val="111827"/>
                    </a:solidFill>
                    <a:latin typeface="Arial"/>
                  </a:rPr>
                  <a:t>, </a:t>
                </a:r>
                <a:r>
                  <a:rPr lang="en-IN" sz="2400">
                    <a:solidFill>
                      <a:srgbClr val="111827"/>
                    </a:solidFill>
                    <a:latin typeface="Cambria Math" panose="02040503050406030204" pitchFamily="18" charset="0"/>
                  </a:rPr>
                  <a:t>$\tan^{-1}\frac8{15}=\sin^{-1}\frac8{17}$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17</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which satisfies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$\frac\alpha{17}=\frac8{17}$</a:t>
                </a:r>
                <a:r>
                  <a:rPr sz="2400" b="0">
                    <a:solidFill>
                      <a:srgbClr val="111827"/>
                    </a:solidFill>
                    <a:latin typeface="Arial"/>
                  </a:rPr>
                  <a:t>, i.e. </a:t>
                </a:r>
                <a:r>
                  <a:rPr lang="en-IN" sz="2400">
                    <a:solidFill>
                      <a:srgbClr val="111827"/>
                    </a:solidFill>
                    <a:latin typeface="Cambria Math" panose="02040503050406030204" pitchFamily="18" charset="0"/>
                  </a:rPr>
                  <a:t>$\alpha=8$</a:t>
                </a:r>
                <a:r>
                  <a:rPr sz="2400" b="0">
                    <a:solidFill>
                      <a:srgbClr val="111827"/>
                    </a:solidFill>
                    <a:latin typeface="Arial"/>
                  </a:rPr>
                  <a:t>, which satisfies </a:t>
                </a:r>
                <a:r>
                  <a:rPr lang="en-IN" sz="2400">
                    <a:solidFill>
                      <a:srgbClr val="111827"/>
                    </a:solidFill>
                    <a:latin typeface="Cambria Math" panose="02040503050406030204" pitchFamily="18" charset="0"/>
                  </a:rPr>
                  <a:t>$0&lt;\alpha&lt;13$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$\sin^{-1}(\sin 8)$</a:t>
                </a:r>
                <a:r>
                  <a:rPr sz="2400" b="0">
                    <a:solidFill>
                      <a:srgbClr val="111827"/>
                    </a:solidFill>
                    <a:latin typeface="Arial"/>
                  </a:rPr>
                  <a:t>: as </a:t>
                </a:r>
                <a:r>
                  <a:rPr lang="en-IN" sz="2400">
                    <a:solidFill>
                      <a:srgbClr val="111827"/>
                    </a:solidFill>
                    <a:latin typeface="Cambria Math" panose="02040503050406030204" pitchFamily="18" charset="0"/>
                  </a:rPr>
                  <a:t>$\frac{5\pi}2&lt;8&lt;\frac{7\pi}2$</a:t>
                </a:r>
                <a:r>
                  <a:rPr sz="2400" b="0">
                    <a:solidFill>
                      <a:srgbClr val="111827"/>
                    </a:solidFill>
                    <a:latin typeface="Arial"/>
                  </a:rPr>
                  <a:t>, </a:t>
                </a:r>
                <a:r>
                  <a:rPr lang="en-IN" sz="2400">
                    <a:solidFill>
                      <a:srgbClr val="111827"/>
                    </a:solidFill>
                    <a:latin typeface="Cambria Math" panose="02040503050406030204" pitchFamily="18" charset="0"/>
                  </a:rPr>
                  <a:t>$\sin^{-1}(\sin8)=3\pi-8$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$\cos^{-1}(\cos8)$</a:t>
                </a:r>
                <a:r>
                  <a:rPr sz="2400" b="0">
                    <a:solidFill>
                      <a:srgbClr val="111827"/>
                    </a:solidFill>
                    <a:latin typeface="Arial"/>
                  </a:rPr>
                  <a:t>: as </a:t>
                </a:r>
                <a:r>
                  <a:rPr lang="en-IN" sz="2400">
                    <a:solidFill>
                      <a:srgbClr val="111827"/>
                    </a:solidFill>
                    <a:latin typeface="Cambria Math" panose="02040503050406030204" pitchFamily="18" charset="0"/>
                  </a:rPr>
                  <a:t>$2\pi&lt;8&lt;3\pi$</a:t>
                </a:r>
                <a:r>
                  <a:rPr sz="2400" b="0">
                    <a:solidFill>
                      <a:srgbClr val="111827"/>
                    </a:solidFill>
                    <a:latin typeface="Arial"/>
                  </a:rPr>
                  <a:t>, </a:t>
                </a:r>
                <a:r>
                  <a:rPr lang="en-IN" sz="2400">
                    <a:solidFill>
                      <a:srgbClr val="111827"/>
                    </a:solidFill>
                    <a:latin typeface="Cambria Math" panose="02040503050406030204" pitchFamily="18" charset="0"/>
                  </a:rPr>
                  <a:t>$\cos^{-1}(\cos8)=8-2\pi$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$\sin^{-1}(\sin8)+\cos^{-1}(\cos8)=(3\pi-8)+(8-2\pi)=\pi$</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π</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$\pi$</a:t>
                </a:r>
                <a:endParaRPr sz="2800">
                  <a:solidFill>
                    <a:srgbClr val="15803D"/>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right triangles (</a:t>
                </a:r>
                <a14:m>
                  <m:oMath xmlns:m="http://schemas.openxmlformats.org/officeDocument/2006/math">
                    <m:r>
                      <a:rPr lang="en-IN" sz="2400" i="1">
                        <a:solidFill>
                          <a:srgbClr val="78350F"/>
                        </a:solidFill>
                        <a:latin typeface="Cambria Math" panose="02040503050406030204" pitchFamily="18" charset="0"/>
                      </a:rPr>
                      <m:t>36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85</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and take the sine of the difference of two angles - no </a:t>
                </a:r>
                <a14:m>
                  <m:oMath xmlns:m="http://schemas.openxmlformats.org/officeDocument/2006/math">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subtraction formula.</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right triangles (</a:t>
                </a:r>
                <a:r>
                  <a:rPr lang="en-IN" sz="2400">
                    <a:solidFill>
                      <a:srgbClr val="78350F"/>
                    </a:solidFill>
                    <a:latin typeface="Cambria Math" panose="02040503050406030204" pitchFamily="18" charset="0"/>
                  </a:rPr>
                  <a:t>$36,77,85$</a:t>
                </a:r>
                <a:r>
                  <a:rPr sz="2400" b="0">
                    <a:solidFill>
                      <a:srgbClr val="78350F"/>
                    </a:solidFill>
                    <a:latin typeface="Arial"/>
                  </a:rPr>
                  <a:t>) and (</a:t>
                </a:r>
                <a:r>
                  <a:rPr lang="en-IN" sz="2400">
                    <a:solidFill>
                      <a:srgbClr val="78350F"/>
                    </a:solidFill>
                    <a:latin typeface="Cambria Math" panose="02040503050406030204" pitchFamily="18" charset="0"/>
                  </a:rPr>
                  <a:t>$3,4,5$</a:t>
                </a:r>
                <a:r>
                  <a:rPr sz="2400" b="0">
                    <a:solidFill>
                      <a:srgbClr val="78350F"/>
                    </a:solidFill>
                    <a:latin typeface="Arial"/>
                  </a:rPr>
                  <a:t>) and take the sine of the difference of two angles - no </a:t>
                </a:r>
                <a:r>
                  <a:rPr lang="en-IN" sz="2400">
                    <a:solidFill>
                      <a:srgbClr val="78350F"/>
                    </a:solidFill>
                    <a:latin typeface="Cambria Math" panose="02040503050406030204" pitchFamily="18" charset="0"/>
                  </a:rPr>
                  <a:t>$\tan^{-1}$</a:t>
                </a:r>
                <a:r>
                  <a:rPr sz="2400" b="0">
                    <a:solidFill>
                      <a:srgbClr val="78350F"/>
                    </a:solidFill>
                    <a:latin typeface="Arial"/>
                  </a:rPr>
                  <a:t> subtraction formula.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77</m:t>
                        </m:r>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the triangle with legs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m:t>
                    </m:r>
                  </m:oMath>
                </a14:m>
                <a:r>
                  <a:rPr sz="2400" b="0">
                    <a:solidFill>
                      <a:srgbClr val="111827"/>
                    </a:solidFill>
                    <a:latin typeface="Arial"/>
                  </a:rPr>
                  <a:t> has hypotenuse </a:t>
                </a:r>
                <a14:m>
                  <m:oMath xmlns:m="http://schemas.openxmlformats.org/officeDocument/2006/math">
                    <m:r>
                      <a:rPr lang="en-IN" sz="2400" i="1">
                        <a:solidFill>
                          <a:srgbClr val="111827"/>
                        </a:solidFill>
                        <a:latin typeface="Cambria Math" panose="02040503050406030204" pitchFamily="18" charset="0"/>
                      </a:rPr>
                      <m:t>85</m:t>
                    </m:r>
                  </m:oMath>
                </a14:m>
                <a:r>
                  <a:rPr sz="2400" b="0">
                    <a:solidFill>
                      <a:srgbClr val="111827"/>
                    </a:solidFill>
                    <a:latin typeface="Arial"/>
                  </a:rPr>
                  <a:t> (as </a:t>
                </a:r>
                <a14:m>
                  <m:oMath xmlns:m="http://schemas.openxmlformats.org/officeDocument/2006/math">
                    <m:sSup>
                      <m:e>
                        <m:r>
                          <a:rPr lang="en-IN" sz="2400" i="1">
                            <a:solidFill>
                              <a:srgbClr val="111827"/>
                            </a:solidFill>
                            <a:latin typeface="Cambria Math" panose="02040503050406030204" pitchFamily="18" charset="0"/>
                          </a:rPr>
                          <m:t>36</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77</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85</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77</m:t>
                        </m:r>
                      </m:num>
                      <m:den>
                        <m:r>
                          <a:rPr lang="en-IN" sz="2400" i="1">
                            <a:solidFill>
                              <a:srgbClr val="111827"/>
                            </a:solidFill>
                            <a:latin typeface="Cambria Math" panose="02040503050406030204" pitchFamily="18" charset="0"/>
                          </a:rPr>
                          <m:t>85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85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says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0.644</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$A=\tan^{-1}\frac{77}{36}$</a:t>
                </a:r>
                <a:r>
                  <a:rPr sz="2400" b="0">
                    <a:solidFill>
                      <a:srgbClr val="111827"/>
                    </a:solidFill>
                    <a:latin typeface="Arial"/>
                  </a:rPr>
                  <a:t>: the triangle with legs </a:t>
                </a:r>
                <a:r>
                  <a:rPr lang="en-IN" sz="2400">
                    <a:solidFill>
                      <a:srgbClr val="111827"/>
                    </a:solidFill>
                    <a:latin typeface="Cambria Math" panose="02040503050406030204" pitchFamily="18" charset="0"/>
                  </a:rPr>
                  <a:t>$36,77$</a:t>
                </a:r>
                <a:r>
                  <a:rPr sz="2400" b="0">
                    <a:solidFill>
                      <a:srgbClr val="111827"/>
                    </a:solidFill>
                    <a:latin typeface="Arial"/>
                  </a:rPr>
                  <a:t> has hypotenuse </a:t>
                </a:r>
                <a:r>
                  <a:rPr lang="en-IN" sz="2400">
                    <a:solidFill>
                      <a:srgbClr val="111827"/>
                    </a:solidFill>
                    <a:latin typeface="Cambria Math" panose="02040503050406030204" pitchFamily="18" charset="0"/>
                  </a:rPr>
                  <a:t>$85$</a:t>
                </a:r>
                <a:r>
                  <a:rPr sz="2400" b="0">
                    <a:solidFill>
                      <a:srgbClr val="111827"/>
                    </a:solidFill>
                    <a:latin typeface="Arial"/>
                  </a:rPr>
                  <a:t> (as </a:t>
                </a:r>
                <a:r>
                  <a:rPr lang="en-IN" sz="2400">
                    <a:solidFill>
                      <a:srgbClr val="111827"/>
                    </a:solidFill>
                    <a:latin typeface="Cambria Math" panose="02040503050406030204" pitchFamily="18" charset="0"/>
                  </a:rPr>
                  <a:t>$36^2+77^2=85^2$</a:t>
                </a:r>
                <a:r>
                  <a:rPr sz="2400" b="0">
                    <a:solidFill>
                      <a:srgbClr val="111827"/>
                    </a:solidFill>
                    <a:latin typeface="Arial"/>
                  </a:rPr>
                  <a:t>), so </a:t>
                </a:r>
                <a:r>
                  <a:rPr lang="en-IN" sz="2400">
                    <a:solidFill>
                      <a:srgbClr val="111827"/>
                    </a:solidFill>
                    <a:latin typeface="Cambria Math" panose="02040503050406030204" pitchFamily="18" charset="0"/>
                  </a:rPr>
                  <a:t>$\sin A=\frac{77}{85},\ \cos A=\frac{36}{85}$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$B=\cos^{-1}\frac45$</a:t>
                </a:r>
                <a:r>
                  <a:rPr sz="2400" b="0">
                    <a:solidFill>
                      <a:srgbClr val="111827"/>
                    </a:solidFill>
                    <a:latin typeface="Arial"/>
                  </a:rPr>
                  <a:t>: </a:t>
                </a:r>
                <a:r>
                  <a:rPr lang="en-IN" sz="2400">
                    <a:solidFill>
                      <a:srgbClr val="111827"/>
                    </a:solidFill>
                    <a:latin typeface="Cambria Math" panose="02040503050406030204" pitchFamily="18" charset="0"/>
                  </a:rPr>
                  <a:t>$\cos B=\frac45,\ \sin B=\frac35$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says </a:t>
                </a:r>
                <a:r>
                  <a:rPr lang="en-IN" sz="2400">
                    <a:solidFill>
                      <a:srgbClr val="111827"/>
                    </a:solidFill>
                    <a:latin typeface="Cambria Math" panose="02040503050406030204" pitchFamily="18" charset="0"/>
                  </a:rPr>
                  <a:t>$\sin^{-1}\frac\alpha{17}=A-B$</a:t>
                </a:r>
                <a:r>
                  <a:rPr sz="2400" b="0">
                    <a:solidFill>
                      <a:srgbClr val="111827"/>
                    </a:solidFill>
                    <a:latin typeface="Arial"/>
                  </a:rPr>
                  <a:t>, and </a:t>
                </a:r>
                <a:r>
                  <a:rPr lang="en-IN" sz="2400">
                    <a:solidFill>
                      <a:srgbClr val="111827"/>
                    </a:solidFill>
                    <a:latin typeface="Cambria Math" panose="02040503050406030204" pitchFamily="18" charset="0"/>
                  </a:rPr>
                  <a:t>$A-B\in(-\frac\pi2,\frac\pi2)$</a:t>
                </a:r>
                <a:r>
                  <a:rPr sz="2400" b="0">
                    <a:solidFill>
                      <a:srgbClr val="111827"/>
                    </a:solidFill>
                    <a:latin typeface="Arial"/>
                  </a:rPr>
                  <a:t> (here </a:t>
                </a:r>
                <a:r>
                  <a:rPr lang="en-IN" sz="2400">
                    <a:solidFill>
                      <a:srgbClr val="111827"/>
                    </a:solidFill>
                    <a:latin typeface="Cambria Math" panose="02040503050406030204" pitchFamily="18" charset="0"/>
                  </a:rPr>
                  <a:t>$A\approx1.133,\ B\approx0.644$</a:t>
                </a:r>
                <a:r>
                  <a:rPr sz="2400" b="0">
                    <a:solidFill>
                      <a:srgbClr val="111827"/>
                    </a:solidFill>
                    <a:latin typeface="Arial"/>
                  </a:rPr>
                  <a:t>), so </a:t>
                </a:r>
                <a:r>
                  <a:rPr lang="en-IN" sz="2400">
                    <a:solidFill>
                      <a:srgbClr val="111827"/>
                    </a:solidFill>
                    <a:latin typeface="Cambria Math" panose="02040503050406030204" pitchFamily="18" charset="0"/>
                  </a:rPr>
                  <a:t>$\frac\alpha{17}=\sin(A-B)$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77</m:t>
                        </m:r>
                      </m:num>
                      <m:den>
                        <m:r>
                          <a:rPr lang="en-IN" sz="2400" i="1">
                            <a:solidFill>
                              <a:srgbClr val="111827"/>
                            </a:solidFill>
                            <a:latin typeface="Cambria Math" panose="02040503050406030204" pitchFamily="18" charset="0"/>
                          </a:rPr>
                          <m:t>85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85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num>
                      <m:den>
                        <m:r>
                          <a:rPr lang="en-IN" sz="2400" i="1">
                            <a:solidFill>
                              <a:srgbClr val="111827"/>
                            </a:solidFill>
                            <a:latin typeface="Cambria Math" panose="02040503050406030204" pitchFamily="18" charset="0"/>
                          </a:rPr>
                          <m:t>425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200</m:t>
                        </m:r>
                      </m:num>
                      <m:den>
                        <m:r>
                          <a:rPr lang="en-IN" sz="2400" i="1">
                            <a:solidFill>
                              <a:srgbClr val="111827"/>
                            </a:solidFill>
                            <a:latin typeface="Cambria Math" panose="02040503050406030204" pitchFamily="18" charset="0"/>
                          </a:rPr>
                          <m:t>425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17</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rad: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1.717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hence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$\sin(A-B)=\frac{77}{85}\cdot\frac45-\frac{36}{85}\cdot\frac35=\frac{308-108}{425}=\frac{200}{425}=\frac8{17}$</a:t>
                </a:r>
                <a:r>
                  <a:rPr sz="2400" b="0">
                    <a:solidFill>
                      <a:srgbClr val="111827"/>
                    </a:solidFill>
                    <a:latin typeface="Arial"/>
                  </a:rPr>
                  <a:t>, so </a:t>
                </a:r>
                <a:r>
                  <a:rPr lang="en-IN" sz="2400">
                    <a:solidFill>
                      <a:srgbClr val="111827"/>
                    </a:solidFill>
                    <a:latin typeface="Cambria Math" panose="02040503050406030204" pitchFamily="18" charset="0"/>
                  </a:rPr>
                  <a:t>$\alpha=8$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$8$</a:t>
                </a:r>
                <a:r>
                  <a:rPr sz="2400" b="0">
                    <a:solidFill>
                      <a:srgbClr val="111827"/>
                    </a:solidFill>
                    <a:latin typeface="Arial"/>
                  </a:rPr>
                  <a:t> rad: </a:t>
                </a:r>
                <a:r>
                  <a:rPr lang="en-IN" sz="2400">
                    <a:solidFill>
                      <a:srgbClr val="111827"/>
                    </a:solidFill>
                    <a:latin typeface="Cambria Math" panose="02040503050406030204" pitchFamily="18" charset="0"/>
                  </a:rPr>
                  <a:t>$8-2\pi\approx1.717\in[0,\pi]$</a:t>
                </a:r>
                <a:r>
                  <a:rPr sz="2400" b="0">
                    <a:solidFill>
                      <a:srgbClr val="111827"/>
                    </a:solidFill>
                    <a:latin typeface="Arial"/>
                  </a:rPr>
                  <a:t>, so </a:t>
                </a:r>
                <a:r>
                  <a:rPr lang="en-IN" sz="2400">
                    <a:solidFill>
                      <a:srgbClr val="111827"/>
                    </a:solidFill>
                    <a:latin typeface="Cambria Math" panose="02040503050406030204" pitchFamily="18" charset="0"/>
                  </a:rPr>
                  <a:t>$\cos^{-1}(\cos8)=8-2\pi$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$8-2\pi&gt;\frac\pi2$</a:t>
                </a:r>
                <a:r>
                  <a:rPr sz="2400" b="0">
                    <a:solidFill>
                      <a:srgbClr val="111827"/>
                    </a:solidFill>
                    <a:latin typeface="Arial"/>
                  </a:rPr>
                  <a:t>, so </a:t>
                </a:r>
                <a:r>
                  <a:rPr lang="en-IN" sz="2400">
                    <a:solidFill>
                      <a:srgbClr val="111827"/>
                    </a:solidFill>
                    <a:latin typeface="Cambria Math" panose="02040503050406030204" pitchFamily="18" charset="0"/>
                  </a:rPr>
                  <a:t>$\sin(8)=\sin(\pi-(8-2\pi))=\sin(3\pi-8)$</a:t>
                </a:r>
                <a:r>
                  <a:rPr sz="2400" b="0">
                    <a:solidFill>
                      <a:srgbClr val="111827"/>
                    </a:solidFill>
                    <a:latin typeface="Arial"/>
                  </a:rPr>
                  <a:t> with </a:t>
                </a:r>
                <a:r>
                  <a:rPr lang="en-IN" sz="2400">
                    <a:solidFill>
                      <a:srgbClr val="111827"/>
                    </a:solidFill>
                    <a:latin typeface="Cambria Math" panose="02040503050406030204" pitchFamily="18" charset="0"/>
                  </a:rPr>
                  <a:t>$3\pi-8\approx1.425\in[-\frac\pi2,\frac\pi2]$</a:t>
                </a:r>
                <a:r>
                  <a:rPr sz="2400" b="0">
                    <a:solidFill>
                      <a:srgbClr val="111827"/>
                    </a:solidFill>
                    <a:latin typeface="Arial"/>
                  </a:rPr>
                  <a:t>, hence </a:t>
                </a:r>
                <a:r>
                  <a:rPr lang="en-IN" sz="2400">
                    <a:solidFill>
                      <a:srgbClr val="111827"/>
                    </a:solidFill>
                    <a:latin typeface="Cambria Math" panose="02040503050406030204" pitchFamily="18" charset="0"/>
                  </a:rPr>
                  <a:t>$\sin^{-1}(\sin8)=3\pi-8$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$=(3\pi-8)+(8-2\pi)=\pi$</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π</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$\pi$</a:t>
                </a:r>
                <a:endParaRPr sz="2800">
                  <a:solidFill>
                    <a:srgbClr val="15803D"/>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den>
                    </m:f>
                  </m:oMath>
                </a14:m>
                <a:r>
                  <a:rPr sz="2400" b="0">
                    <a:solidFill>
                      <a:srgbClr val="111827"/>
                    </a:solidFill>
                    <a:latin typeface="Arial"/>
                  </a:rPr>
                  <a:t> holds when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otherwise add or subtract </a:t>
                </a:r>
                <a14:m>
                  <m:oMath xmlns:m="http://schemas.openxmlformats.org/officeDocument/2006/math">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zig-zag: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π</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Pythagorean triples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85</m:t>
                    </m:r>
                  </m:oMath>
                </a14:m>
                <a:r>
                  <a:rPr sz="2400" b="0">
                    <a:solidFill>
                      <a:srgbClr val="111827"/>
                    </a:solidFill>
                    <a:latin typeface="Arial"/>
                  </a:rPr>
                  <a:t>) convert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to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or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instantly.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-type inputs, always locate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its period before applying the principal value; never write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blindly.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$\tan^{-1}a-\tan^{-1}b=\tan^{-1}\frac{a-b}{1+ab}$</a:t>
                </a:r>
                <a:r>
                  <a:rPr sz="2400" b="0">
                    <a:solidFill>
                      <a:srgbClr val="111827"/>
                    </a:solidFill>
                    <a:latin typeface="Arial"/>
                  </a:rPr>
                  <a:t> holds when </a:t>
                </a:r>
                <a:r>
                  <a:rPr lang="en-IN" sz="2400">
                    <a:solidFill>
                      <a:srgbClr val="111827"/>
                    </a:solidFill>
                    <a:latin typeface="Cambria Math" panose="02040503050406030204" pitchFamily="18" charset="0"/>
                  </a:rPr>
                  <a:t>$ab&gt;-1$</a:t>
                </a:r>
                <a:r>
                  <a:rPr sz="2400" b="0">
                    <a:solidFill>
                      <a:srgbClr val="111827"/>
                    </a:solidFill>
                    <a:latin typeface="Arial"/>
                  </a:rPr>
                  <a:t>; otherwise add or subtract </a:t>
                </a:r>
                <a:r>
                  <a:rPr lang="en-IN" sz="2400">
                    <a:solidFill>
                      <a:srgbClr val="111827"/>
                    </a:solidFill>
                    <a:latin typeface="Cambria Math" panose="02040503050406030204" pitchFamily="18" charset="0"/>
                  </a:rPr>
                  <a:t>$\pi$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$\sin^{-1}(\sin x)$</a:t>
                </a:r>
                <a:r>
                  <a:rPr sz="2400" b="0">
                    <a:solidFill>
                      <a:srgbClr val="111827"/>
                    </a:solidFill>
                    <a:latin typeface="Arial"/>
                  </a:rPr>
                  <a:t> is a zig-zag: </a:t>
                </a:r>
                <a:r>
                  <a:rPr lang="en-IN" sz="2400">
                    <a:solidFill>
                      <a:srgbClr val="111827"/>
                    </a:solidFill>
                    <a:latin typeface="Cambria Math" panose="02040503050406030204" pitchFamily="18" charset="0"/>
                  </a:rPr>
                  <a:t>$x-2k\pi$</a:t>
                </a:r>
                <a:r>
                  <a:rPr sz="2400" b="0">
                    <a:solidFill>
                      <a:srgbClr val="111827"/>
                    </a:solidFill>
                    <a:latin typeface="Arial"/>
                  </a:rPr>
                  <a:t> on </a:t>
                </a:r>
                <a:r>
                  <a:rPr lang="en-IN" sz="2400">
                    <a:solidFill>
                      <a:srgbClr val="111827"/>
                    </a:solidFill>
                    <a:latin typeface="Cambria Math" panose="02040503050406030204" pitchFamily="18" charset="0"/>
                  </a:rPr>
                  <a:t>$[2k\pi-\frac\pi2,2k\pi+\frac\pi2]$</a:t>
                </a:r>
                <a:r>
                  <a:rPr sz="2400" b="0">
                    <a:solidFill>
                      <a:srgbClr val="111827"/>
                    </a:solidFill>
                    <a:latin typeface="Arial"/>
                  </a:rPr>
                  <a:t> and </a:t>
                </a:r>
                <a:r>
                  <a:rPr lang="en-IN" sz="2400">
                    <a:solidFill>
                      <a:srgbClr val="111827"/>
                    </a:solidFill>
                    <a:latin typeface="Cambria Math" panose="02040503050406030204" pitchFamily="18" charset="0"/>
                  </a:rPr>
                  <a:t>$(2k+1)\pi-x$</a:t>
                </a:r>
                <a:r>
                  <a:rPr sz="2400" b="0">
                    <a:solidFill>
                      <a:srgbClr val="111827"/>
                    </a:solidFill>
                    <a:latin typeface="Arial"/>
                  </a:rPr>
                  <a:t> on </a:t>
                </a:r>
                <a:r>
                  <a:rPr lang="en-IN" sz="2400">
                    <a:solidFill>
                      <a:srgbClr val="111827"/>
                    </a:solidFill>
                    <a:latin typeface="Cambria Math" panose="02040503050406030204" pitchFamily="18" charset="0"/>
                  </a:rPr>
                  <a:t>$[2k\pi+\frac\pi2,2k\pi+\frac{3\pi}2]$</a:t>
                </a:r>
                <a:r>
                  <a:rPr sz="2400" b="0">
                    <a:solidFill>
                      <a:srgbClr val="111827"/>
                    </a:solidFill>
                    <a:latin typeface="Arial"/>
                  </a:rPr>
                  <a:t>; </a:t>
                </a:r>
                <a:r>
                  <a:rPr lang="en-IN" sz="2400">
                    <a:solidFill>
                      <a:srgbClr val="111827"/>
                    </a:solidFill>
                    <a:latin typeface="Cambria Math" panose="02040503050406030204" pitchFamily="18" charset="0"/>
                  </a:rPr>
                  <a:t>$\cos^{-1}(\cos x)=|x-2k\pi|$</a:t>
                </a:r>
                <a:r>
                  <a:rPr sz="2400" b="0">
                    <a:solidFill>
                      <a:srgbClr val="111827"/>
                    </a:solidFill>
                    <a:latin typeface="Arial"/>
                  </a:rPr>
                  <a:t> for </a:t>
                </a:r>
                <a:r>
                  <a:rPr lang="en-IN" sz="2400">
                    <a:solidFill>
                      <a:srgbClr val="111827"/>
                    </a:solidFill>
                    <a:latin typeface="Cambria Math" panose="02040503050406030204" pitchFamily="18" charset="0"/>
                  </a:rPr>
                  <a:t>$x\in[2k\pi-\pi,2k\pi+\pi]$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Pythagorean triples (</a:t>
                </a:r>
                <a:r>
                  <a:rPr lang="en-IN" sz="2400">
                    <a:solidFill>
                      <a:srgbClr val="111827"/>
                    </a:solidFill>
                    <a:latin typeface="Cambria Math" panose="02040503050406030204" pitchFamily="18" charset="0"/>
                  </a:rPr>
                  <a:t>$3,4,5$</a:t>
                </a:r>
                <a:r>
                  <a:rPr sz="2400" b="0">
                    <a:solidFill>
                      <a:srgbClr val="111827"/>
                    </a:solidFill>
                    <a:latin typeface="Arial"/>
                  </a:rPr>
                  <a:t>), (</a:t>
                </a:r>
                <a:r>
                  <a:rPr lang="en-IN" sz="2400">
                    <a:solidFill>
                      <a:srgbClr val="111827"/>
                    </a:solidFill>
                    <a:latin typeface="Cambria Math" panose="02040503050406030204" pitchFamily="18" charset="0"/>
                  </a:rPr>
                  <a:t>$8,15,17$</a:t>
                </a:r>
                <a:r>
                  <a:rPr sz="2400" b="0">
                    <a:solidFill>
                      <a:srgbClr val="111827"/>
                    </a:solidFill>
                    <a:latin typeface="Arial"/>
                  </a:rPr>
                  <a:t>), (</a:t>
                </a:r>
                <a:r>
                  <a:rPr lang="en-IN" sz="2400">
                    <a:solidFill>
                      <a:srgbClr val="111827"/>
                    </a:solidFill>
                    <a:latin typeface="Cambria Math" panose="02040503050406030204" pitchFamily="18" charset="0"/>
                  </a:rPr>
                  <a:t>$36,77,85$</a:t>
                </a:r>
                <a:r>
                  <a:rPr sz="2400" b="0">
                    <a:solidFill>
                      <a:srgbClr val="111827"/>
                    </a:solidFill>
                    <a:latin typeface="Arial"/>
                  </a:rPr>
                  <a:t>) convert </a:t>
                </a:r>
                <a:r>
                  <a:rPr lang="en-IN" sz="2400">
                    <a:solidFill>
                      <a:srgbClr val="111827"/>
                    </a:solidFill>
                    <a:latin typeface="Cambria Math" panose="02040503050406030204" pitchFamily="18" charset="0"/>
                  </a:rPr>
                  <a:t>$\tan^{-1}$</a:t>
                </a:r>
                <a:r>
                  <a:rPr sz="2400" b="0">
                    <a:solidFill>
                      <a:srgbClr val="111827"/>
                    </a:solidFill>
                    <a:latin typeface="Arial"/>
                  </a:rPr>
                  <a:t> to </a:t>
                </a:r>
                <a:r>
                  <a:rPr lang="en-IN" sz="2400">
                    <a:solidFill>
                      <a:srgbClr val="111827"/>
                    </a:solidFill>
                    <a:latin typeface="Cambria Math" panose="02040503050406030204" pitchFamily="18" charset="0"/>
                  </a:rPr>
                  <a:t>$\sin^{-1}$</a:t>
                </a:r>
                <a:r>
                  <a:rPr sz="2400" b="0">
                    <a:solidFill>
                      <a:srgbClr val="111827"/>
                    </a:solidFill>
                    <a:latin typeface="Arial"/>
                  </a:rPr>
                  <a:t> or </a:t>
                </a:r>
                <a:r>
                  <a:rPr lang="en-IN" sz="2400">
                    <a:solidFill>
                      <a:srgbClr val="111827"/>
                    </a:solidFill>
                    <a:latin typeface="Cambria Math" panose="02040503050406030204" pitchFamily="18" charset="0"/>
                  </a:rPr>
                  <a:t>$\cos^{-1}$</a:t>
                </a:r>
                <a:r>
                  <a:rPr sz="2400" b="0">
                    <a:solidFill>
                      <a:srgbClr val="111827"/>
                    </a:solidFill>
                    <a:latin typeface="Arial"/>
                  </a:rPr>
                  <a:t> instantly.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$x\in(2\pi,\frac{5\pi}2)$</a:t>
                </a:r>
                <a:r>
                  <a:rPr sz="2400" b="0">
                    <a:solidFill>
                      <a:srgbClr val="111827"/>
                    </a:solidFill>
                    <a:latin typeface="Arial"/>
                  </a:rPr>
                  <a:t>-type inputs, always locate </a:t>
                </a:r>
                <a:r>
                  <a:rPr lang="en-IN" sz="2400">
                    <a:solidFill>
                      <a:srgbClr val="111827"/>
                    </a:solidFill>
                    <a:latin typeface="Cambria Math" panose="02040503050406030204" pitchFamily="18" charset="0"/>
                  </a:rPr>
                  <a:t>$x$</a:t>
                </a:r>
                <a:r>
                  <a:rPr sz="2400" b="0">
                    <a:solidFill>
                      <a:srgbClr val="111827"/>
                    </a:solidFill>
                    <a:latin typeface="Arial"/>
                  </a:rPr>
                  <a:t> in its period before applying the principal value; never write </a:t>
                </a:r>
                <a:r>
                  <a:rPr lang="en-IN" sz="2400">
                    <a:solidFill>
                      <a:srgbClr val="111827"/>
                    </a:solidFill>
                    <a:latin typeface="Cambria Math" panose="02040503050406030204" pitchFamily="18" charset="0"/>
                  </a:rPr>
                  <a:t>$\sin^{-1}(\sin x)=x$</a:t>
                </a:r>
                <a:r>
                  <a:rPr sz="2400" b="0">
                    <a:solidFill>
                      <a:srgbClr val="111827"/>
                    </a:solidFill>
                    <a:latin typeface="Arial"/>
                  </a:rPr>
                  <a:t> blindly.</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One or more than one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JEE Advanced default assumed: +4 per question</a:t>
            </a:r>
            <a:endParaRPr sz="2800">
              <a:solidFill>
                <a:srgbClr val="FFFFFF"/>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14578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consecutive natural numbers. Then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den>
                        </m:f>
                      </m:e>
                    </m: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2021</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2022</m:t>
                                </m:r>
                              </m:sub>
                            </m:sSub>
                          </m:den>
                        </m:f>
                      </m:e>
                    </m:d>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endParaRPr sz="2400">
                  <a:solidFill>
                    <a:srgbClr val="111827"/>
                  </a:solidFill>
                </a:endParaRPr>
              </a:p>
            </p:txBody>
          </p:sp>
        </mc:Choice>
        <mc:Fallback>
          <p:sp>
            <p:nvSpPr>
              <p:cNvPr id="4" name="Rounded Rectangle 3"/>
              <p:cNvSpPr/>
              <p:nvPr/>
            </p:nvSpPr>
            <p:spPr>
              <a:xfrm>
                <a:off x="731520" y="1280160"/>
                <a:ext cx="10725912" cy="414578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$a_1=1,a_2,a_3,a_4,\dots$</a:t>
                </a:r>
                <a:r>
                  <a:rPr sz="2400" b="0">
                    <a:solidFill>
                      <a:srgbClr val="111827"/>
                    </a:solidFill>
                    <a:latin typeface="Arial"/>
                  </a:rPr>
                  <a:t> be consecutive natural numbers. Then </a:t>
                </a:r>
                <a:r>
                  <a:rPr lang="en-IN" sz="2400">
                    <a:solidFill>
                      <a:srgbClr val="111827"/>
                    </a:solidFill>
                    <a:latin typeface="Cambria Math" panose="02040503050406030204" pitchFamily="18" charset="0"/>
                  </a:rPr>
                  <a:t>$\tan^{-1}\left(\frac1{1+a_1a_2}\right)+\tan^{-1}\left(\frac1{1+a_2a_3}\right)+\dots+\tan^{-1}\left(\frac1{1+a_{2021}a_{2022}}\right)$</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$\tan^{-1}(2022)-\frac\pi4$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$\frac\pi4-\cot^{-1}(2022)$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$\frac\pi4-\tan^{-1}(2022)$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$\cot^{-1}(2022)-\frac\pi4$</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One or more than one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Telescoping sum of inverse tangents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14:m>
                  <m:oMath xmlns:m="http://schemas.openxmlformats.org/officeDocument/2006/math">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𝑘</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each term is </a:t>
                </a:r>
                <a14:m>
                  <m:oMath xmlns:m="http://schemas.openxmlformats.org/officeDocument/2006/math">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f>
                      <m:fPr>
                        <m:type m:val="bar"/>
                        <m:ctrlPr>
                          <a:rPr lang="en-IN" sz="2400" i="1">
                            <a:solidFill>
                              <a:srgbClr val="78350F"/>
                            </a:solidFill>
                            <a:latin typeface="Cambria Math" panose="02040503050406030204" pitchFamily="18" charset="0"/>
                          </a:rPr>
                        </m:ctrlPr>
                      </m:fPr>
                      <m:num>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𝑘</m:t>
                            </m:r>
                          </m:sub>
                        </m:sSub>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𝑘</m:t>
                            </m:r>
                          </m:sub>
                        </m:sSub>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den>
                    </m:f>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𝑘</m:t>
                        </m:r>
                      </m:sub>
                    </m:sSub>
                  </m:oMath>
                </a14:m>
                <a:r>
                  <a:rPr sz="2400" b="0">
                    <a:solidFill>
                      <a:srgbClr val="78350F"/>
                    </a:solidFill>
                    <a:latin typeface="Arial"/>
                  </a:rPr>
                  <a:t>, so the sum telescopes.</a:t>
                </a:r>
                <a:endParaRPr sz="2400">
                  <a:solidFill>
                    <a:srgbClr val="78350F"/>
                  </a:solidFill>
                </a:endParaRPr>
              </a:p>
            </p:txBody>
          </p:sp>
        </mc:Choice>
        <mc:Fallback>
          <p:sp>
            <p:nvSpPr>
              <p:cNvPr id="5" name="Rounded Rectangle 4"/>
              <p:cNvSpPr/>
              <p:nvPr/>
            </p:nvSpPr>
            <p:spPr>
              <a:xfrm>
                <a:off x="731520" y="3438144"/>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r>
                  <a:rPr lang="en-IN" sz="2400">
                    <a:solidFill>
                      <a:srgbClr val="78350F"/>
                    </a:solidFill>
                    <a:latin typeface="Cambria Math" panose="02040503050406030204" pitchFamily="18" charset="0"/>
                  </a:rPr>
                  <a:t>$a_{k+1}-a_k=1$</a:t>
                </a:r>
                <a:r>
                  <a:rPr sz="2400" b="0">
                    <a:solidFill>
                      <a:srgbClr val="78350F"/>
                    </a:solidFill>
                    <a:latin typeface="Arial"/>
                  </a:rPr>
                  <a:t>, each term is </a:t>
                </a:r>
                <a:r>
                  <a:rPr lang="en-IN" sz="2400">
                    <a:solidFill>
                      <a:srgbClr val="78350F"/>
                    </a:solidFill>
                    <a:latin typeface="Cambria Math" panose="02040503050406030204" pitchFamily="18" charset="0"/>
                  </a:rPr>
                  <a:t>$\tan^{-1}\frac{a_{k+1}-a_k}{1+a_ka_{k+1}}=\tan^{-1}a_{k+1}-\tan^{-1}a_k$</a:t>
                </a:r>
                <a:r>
                  <a:rPr sz="2400" b="0">
                    <a:solidFill>
                      <a:srgbClr val="78350F"/>
                    </a:solidFill>
                    <a:latin typeface="Arial"/>
                  </a:rPr>
                  <a:t>, so the sum telescopes.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794504"/>
                <a:ext cx="10725912" cy="1880615"/>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numbers are consecutive,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794504"/>
                <a:ext cx="10725912" cy="1880615"/>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numbers are consecutive, so </a:t>
                </a:r>
                <a:r>
                  <a:rPr lang="en-IN" sz="2400">
                    <a:solidFill>
                      <a:srgbClr val="111827"/>
                    </a:solidFill>
                    <a:latin typeface="Cambria Math" panose="02040503050406030204" pitchFamily="18" charset="0"/>
                  </a:rPr>
                  <a:t>$a_2-a_1=a_3-a_2=\dots=a_{2022}-a_{2021}=1$</a:t>
                </a:r>
                <a:r>
                  <a:rPr sz="2400" b="0">
                    <a:solidFill>
                      <a:srgbClr val="111827"/>
                    </a:solidFill>
                    <a:latin typeface="Arial"/>
                  </a:rPr>
                  <a:t> (and </a:t>
                </a:r>
                <a:r>
                  <a:rPr lang="en-IN" sz="2400">
                    <a:solidFill>
                      <a:srgbClr val="111827"/>
                    </a:solidFill>
                    <a:latin typeface="Cambria Math" panose="02040503050406030204" pitchFamily="18" charset="0"/>
                  </a:rPr>
                  <a:t>$a_k=k$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Replace each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in the numerators by the common difference: the sum is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2021</m:t>
                            </m:r>
                          </m:sub>
                        </m:sSub>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2021</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2022</m:t>
                            </m:r>
                          </m:sub>
                        </m:sSub>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term is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(valid as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the sum is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2022</m:t>
                        </m:r>
                      </m:sub>
                    </m:sSub>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2021</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Everything cancels except the ends: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2022</m:t>
                        </m:r>
                      </m:sub>
                    </m:sSub>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2022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sum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which is option (A).</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Replace each </a:t>
                </a:r>
                <a:r>
                  <a:rPr lang="en-IN" sz="2400">
                    <a:solidFill>
                      <a:srgbClr val="111827"/>
                    </a:solidFill>
                    <a:latin typeface="Cambria Math" panose="02040503050406030204" pitchFamily="18" charset="0"/>
                  </a:rPr>
                  <a:t>$1$</a:t>
                </a:r>
                <a:r>
                  <a:rPr sz="2400" b="0">
                    <a:solidFill>
                      <a:srgbClr val="111827"/>
                    </a:solidFill>
                    <a:latin typeface="Arial"/>
                  </a:rPr>
                  <a:t> in the numerators by the common difference: the sum is </a:t>
                </a:r>
                <a:r>
                  <a:rPr lang="en-IN" sz="2400">
                    <a:solidFill>
                      <a:srgbClr val="111827"/>
                    </a:solidFill>
                    <a:latin typeface="Cambria Math" panose="02040503050406030204" pitchFamily="18" charset="0"/>
                  </a:rPr>
                  <a:t>$\tan^{-1}\frac{a_2-a_1}{1+a_1a_2}+\tan^{-1}\frac{a_3-a_2}{1+a_2a_3}+\dots+\tan^{-1}\frac{a_{2022}-a_{2021}}{1+a_{2021}a_{2022}}$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term is </a:t>
                </a:r>
                <a:r>
                  <a:rPr lang="en-IN" sz="2400">
                    <a:solidFill>
                      <a:srgbClr val="111827"/>
                    </a:solidFill>
                    <a:latin typeface="Cambria Math" panose="02040503050406030204" pitchFamily="18" charset="0"/>
                  </a:rPr>
                  <a:t>$\tan^{-1}a_{k+1}-\tan^{-1}a_k$</a:t>
                </a:r>
                <a:r>
                  <a:rPr sz="2400" b="0">
                    <a:solidFill>
                      <a:srgbClr val="111827"/>
                    </a:solidFill>
                    <a:latin typeface="Arial"/>
                  </a:rPr>
                  <a:t> (valid as </a:t>
                </a:r>
                <a:r>
                  <a:rPr lang="en-IN" sz="2400">
                    <a:solidFill>
                      <a:srgbClr val="111827"/>
                    </a:solidFill>
                    <a:latin typeface="Cambria Math" panose="02040503050406030204" pitchFamily="18" charset="0"/>
                  </a:rPr>
                  <a:t>$a_ka_{k+1}&gt;0&gt;-1$</a:t>
                </a:r>
                <a:r>
                  <a:rPr sz="2400" b="0">
                    <a:solidFill>
                      <a:srgbClr val="111827"/>
                    </a:solidFill>
                    <a:latin typeface="Arial"/>
                  </a:rPr>
                  <a:t>), so the sum is </a:t>
                </a:r>
                <a:r>
                  <a:rPr lang="en-IN" sz="2400">
                    <a:solidFill>
                      <a:srgbClr val="111827"/>
                    </a:solidFill>
                    <a:latin typeface="Cambria Math" panose="02040503050406030204" pitchFamily="18" charset="0"/>
                  </a:rPr>
                  <a:t>$(\tan^{-1}a_2-\tan^{-1}a_1)+(\tan^{-1}a_3-\tan^{-1}a_2)+\dots+(\tan^{-1}a_{2022}-\tan^{-1}a_{2021})$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Everything cancels except the ends: </a:t>
                </a:r>
                <a:r>
                  <a:rPr lang="en-IN" sz="2400">
                    <a:solidFill>
                      <a:srgbClr val="111827"/>
                    </a:solidFill>
                    <a:latin typeface="Cambria Math" panose="02040503050406030204" pitchFamily="18" charset="0"/>
                  </a:rPr>
                  <a:t>$\tan^{-1}a_{2022}-\tan^{-1}a_1$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$a_{2022}=2022$</a:t>
                </a:r>
                <a:r>
                  <a:rPr sz="2400" b="0">
                    <a:solidFill>
                      <a:srgbClr val="111827"/>
                    </a:solidFill>
                    <a:latin typeface="Arial"/>
                  </a:rPr>
                  <a:t> and </a:t>
                </a:r>
                <a:r>
                  <a:rPr lang="en-IN" sz="2400">
                    <a:solidFill>
                      <a:srgbClr val="111827"/>
                    </a:solidFill>
                    <a:latin typeface="Cambria Math" panose="02040503050406030204" pitchFamily="18" charset="0"/>
                  </a:rPr>
                  <a:t>$a_1=1$</a:t>
                </a:r>
                <a:r>
                  <a:rPr sz="2400" b="0">
                    <a:solidFill>
                      <a:srgbClr val="111827"/>
                    </a:solidFill>
                    <a:latin typeface="Arial"/>
                  </a:rPr>
                  <a:t>: sum </a:t>
                </a:r>
                <a:r>
                  <a:rPr lang="en-IN" sz="2400">
                    <a:solidFill>
                      <a:srgbClr val="111827"/>
                    </a:solidFill>
                    <a:latin typeface="Cambria Math" panose="02040503050406030204" pitchFamily="18" charset="0"/>
                  </a:rPr>
                  <a:t>$=\tan^{-1}(2022)-\tan^{-1}1=\tan^{-1}(2022)-\frac\pi4$</a:t>
                </a:r>
                <a:r>
                  <a:rPr sz="2400" b="0">
                    <a:solidFill>
                      <a:srgbClr val="111827"/>
                    </a:solidFill>
                    <a:latin typeface="Arial"/>
                  </a:rPr>
                  <a:t>, which is option (A).</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 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option (B).</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2022</m:t>
                    </m:r>
                  </m:oMath>
                </a14:m>
                <a:r>
                  <a:rPr sz="2400" b="0">
                    <a:solidFill>
                      <a:srgbClr val="111827"/>
                    </a:solidFill>
                    <a:latin typeface="Arial"/>
                  </a:rPr>
                  <a:t> is negative, the opposite of the (positive) sum, and option (D) </a:t>
                </a:r>
                <a14:m>
                  <m:oMath xmlns:m="http://schemas.openxmlformats.org/officeDocument/2006/math">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is also negative, so neither is correct. Answer: (A) and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$\tan^{-1}x=\frac\pi2-\cot^{-1}x$</a:t>
                </a:r>
                <a:r>
                  <a:rPr sz="2400" b="0">
                    <a:solidFill>
                      <a:srgbClr val="111827"/>
                    </a:solidFill>
                    <a:latin typeface="Arial"/>
                  </a:rPr>
                  <a:t>: sum </a:t>
                </a:r>
                <a:r>
                  <a:rPr lang="en-IN" sz="2400">
                    <a:solidFill>
                      <a:srgbClr val="111827"/>
                    </a:solidFill>
                    <a:latin typeface="Cambria Math" panose="02040503050406030204" pitchFamily="18" charset="0"/>
                  </a:rPr>
                  <a:t>$=\frac\pi2-\cot^{-1}(2022)-\frac\pi4=\frac\pi4-\cot^{-1}(2022)$</a:t>
                </a:r>
                <a:r>
                  <a:rPr sz="2400" b="0">
                    <a:solidFill>
                      <a:srgbClr val="111827"/>
                    </a:solidFill>
                    <a:latin typeface="Arial"/>
                  </a:rPr>
                  <a:t>, which is option (B).</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Option (C) </a:t>
                </a:r>
                <a:r>
                  <a:rPr lang="en-IN" sz="2400">
                    <a:solidFill>
                      <a:srgbClr val="111827"/>
                    </a:solidFill>
                    <a:latin typeface="Cambria Math" panose="02040503050406030204" pitchFamily="18" charset="0"/>
                  </a:rPr>
                  <a:t>$\frac\pi4-\tan^{-1}2022$</a:t>
                </a:r>
                <a:r>
                  <a:rPr sz="2400" b="0">
                    <a:solidFill>
                      <a:srgbClr val="111827"/>
                    </a:solidFill>
                    <a:latin typeface="Arial"/>
                  </a:rPr>
                  <a:t> is negative, the opposite of the (positive) sum, and option (D) </a:t>
                </a:r>
                <a:r>
                  <a:rPr lang="en-IN" sz="2400">
                    <a:solidFill>
                      <a:srgbClr val="111827"/>
                    </a:solidFill>
                    <a:latin typeface="Cambria Math" panose="02040503050406030204" pitchFamily="18" charset="0"/>
                  </a:rPr>
                  <a:t>$\cot^{-1}2022-\frac\pi4$</a:t>
                </a:r>
                <a:r>
                  <a:rPr sz="2400" b="0">
                    <a:solidFill>
                      <a:srgbClr val="111827"/>
                    </a:solidFill>
                    <a:latin typeface="Arial"/>
                  </a:rPr>
                  <a:t> is also negative, so neither is correct. Answer: (A) and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B)</a:t>
            </a:r>
            <a:endParaRPr sz="2800">
              <a:solidFill>
                <a:srgbClr val="15803D"/>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Complex numbers: </a:t>
                </a:r>
                <a14:m>
                  <m:oMath xmlns:m="http://schemas.openxmlformats.org/officeDocument/2006/math">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is the argument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product of all these numbers is a single number whose argument is the sum.</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Complex numbers: </a:t>
                </a:r>
                <a:r>
                  <a:rPr lang="en-IN" sz="2400">
                    <a:solidFill>
                      <a:srgbClr val="78350F"/>
                    </a:solidFill>
                    <a:latin typeface="Cambria Math" panose="02040503050406030204" pitchFamily="18" charset="0"/>
                  </a:rPr>
                  <a:t>$\tan^{-1}\frac1{1+k(k+1)}$</a:t>
                </a:r>
                <a:r>
                  <a:rPr sz="2400" b="0">
                    <a:solidFill>
                      <a:srgbClr val="78350F"/>
                    </a:solidFill>
                    <a:latin typeface="Arial"/>
                  </a:rPr>
                  <a:t> is the argument of </a:t>
                </a:r>
                <a:r>
                  <a:rPr lang="en-IN" sz="2400">
                    <a:solidFill>
                      <a:srgbClr val="78350F"/>
                    </a:solidFill>
                    <a:latin typeface="Cambria Math" panose="02040503050406030204" pitchFamily="18" charset="0"/>
                  </a:rPr>
                  <a:t>$(1+i(k+1))(1-ik)$</a:t>
                </a:r>
                <a:r>
                  <a:rPr sz="2400" b="0">
                    <a:solidFill>
                      <a:srgbClr val="78350F"/>
                    </a:solidFill>
                    <a:latin typeface="Arial"/>
                  </a:rPr>
                  <a:t>, so the product of all these numbers is a single number whose argument is the sum.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𝑘</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arg</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𝑘</m:t>
                            </m:r>
                          </m:sub>
                        </m:sSub>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(real part </a:t>
                </a:r>
                <a14:m>
                  <m:oMath xmlns:m="http://schemas.openxmlformats.org/officeDocument/2006/math">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the argument lies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exactly the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-th term (with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$z_k=1+ik$</a:t>
                </a:r>
                <a:r>
                  <a:rPr sz="2400" b="0">
                    <a:solidFill>
                      <a:srgbClr val="111827"/>
                    </a:solidFill>
                    <a:latin typeface="Arial"/>
                  </a:rPr>
                  <a:t>: </a:t>
                </a:r>
                <a:r>
                  <a:rPr lang="en-IN" sz="2400">
                    <a:solidFill>
                      <a:srgbClr val="111827"/>
                    </a:solidFill>
                    <a:latin typeface="Cambria Math" panose="02040503050406030204" pitchFamily="18" charset="0"/>
                  </a:rPr>
                  <a:t>$\frac{z_{k+1}}{z_k}=\frac{(1+i(k+1))(1-ik)}{1+k^2}$</a:t>
                </a:r>
                <a:r>
                  <a:rPr sz="2400" b="0">
                    <a:solidFill>
                      <a:srgbClr val="111827"/>
                    </a:solidFill>
                    <a:latin typeface="Arial"/>
                  </a:rPr>
                  <a:t> and </a:t>
                </a:r>
                <a:r>
                  <a:rPr lang="en-IN" sz="2400">
                    <a:solidFill>
                      <a:srgbClr val="111827"/>
                    </a:solidFill>
                    <a:latin typeface="Cambria Math" panose="02040503050406030204" pitchFamily="18" charset="0"/>
                  </a:rPr>
                  <a:t>$(1+i(k+1))(1-ik)=1+k(k+1)+i$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$\arg\frac{z_{k+1}}{z_k}=\tan^{-1}\frac{1}{1+k(k+1)}$</a:t>
                </a:r>
                <a:r>
                  <a:rPr sz="2400" b="0">
                    <a:solidFill>
                      <a:srgbClr val="111827"/>
                    </a:solidFill>
                    <a:latin typeface="Arial"/>
                  </a:rPr>
                  <a:t> (real part </a:t>
                </a:r>
                <a:r>
                  <a:rPr lang="en-IN" sz="2400">
                    <a:solidFill>
                      <a:srgbClr val="111827"/>
                    </a:solidFill>
                    <a:latin typeface="Cambria Math" panose="02040503050406030204" pitchFamily="18" charset="0"/>
                  </a:rPr>
                  <a:t>$&gt;0$</a:t>
                </a:r>
                <a:r>
                  <a:rPr sz="2400" b="0">
                    <a:solidFill>
                      <a:srgbClr val="111827"/>
                    </a:solidFill>
                    <a:latin typeface="Arial"/>
                  </a:rPr>
                  <a:t>, so the argument lies in </a:t>
                </a:r>
                <a:r>
                  <a:rPr lang="en-IN" sz="2400">
                    <a:solidFill>
                      <a:srgbClr val="111827"/>
                    </a:solidFill>
                    <a:latin typeface="Cambria Math" panose="02040503050406030204" pitchFamily="18" charset="0"/>
                  </a:rPr>
                  <a:t>$(0,\frac\pi2)$</a:t>
                </a:r>
                <a:r>
                  <a:rPr sz="2400" b="0">
                    <a:solidFill>
                      <a:srgbClr val="111827"/>
                    </a:solidFill>
                    <a:latin typeface="Arial"/>
                  </a:rPr>
                  <a:t>), which is exactly the </a:t>
                </a:r>
                <a:r>
                  <a:rPr lang="en-IN" sz="2400">
                    <a:solidFill>
                      <a:srgbClr val="111827"/>
                    </a:solidFill>
                    <a:latin typeface="Cambria Math" panose="02040503050406030204" pitchFamily="18" charset="0"/>
                  </a:rPr>
                  <a:t>$k$</a:t>
                </a:r>
                <a:r>
                  <a:rPr sz="2400" b="0">
                    <a:solidFill>
                      <a:srgbClr val="111827"/>
                    </a:solidFill>
                    <a:latin typeface="Arial"/>
                  </a:rPr>
                  <a:t>-th term (with </a:t>
                </a:r>
                <a:r>
                  <a:rPr lang="en-IN" sz="2400">
                    <a:solidFill>
                      <a:srgbClr val="111827"/>
                    </a:solidFill>
                    <a:latin typeface="Cambria Math" panose="02040503050406030204" pitchFamily="18" charset="0"/>
                  </a:rPr>
                  <a:t>$a_k=k$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product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2021</m:t>
                        </m:r>
                      </m:sup>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𝑘</m:t>
                                </m:r>
                              </m:sub>
                            </m:sSub>
                          </m:den>
                        </m:f>
                      </m:e>
                    </m:nary>
                  </m:oMath>
                </a14:m>
                <a:r>
                  <a:rPr sz="2400" b="0">
                    <a:solidFill>
                      <a:srgbClr val="111827"/>
                    </a:solidFill>
                    <a:latin typeface="Arial"/>
                  </a:rPr>
                  <a:t> telescopes to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2022</m:t>
                            </m:r>
                          </m:sub>
                        </m:sSub>
                      </m:num>
                      <m:den>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the arguments is </a:t>
                </a:r>
                <a14:m>
                  <m:oMath xmlns:m="http://schemas.openxmlformats.org/officeDocument/2006/math">
                    <m:r>
                      <m:rPr>
                        <m:sty m:val="p"/>
                      </m:rPr>
                      <a:rPr lang="en-IN" sz="2400">
                        <a:solidFill>
                          <a:srgbClr val="111827"/>
                        </a:solidFill>
                        <a:latin typeface="Cambria Math" panose="02040503050406030204" pitchFamily="18" charset="0"/>
                      </a:rPr>
                      <m:t>arg</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a:rPr lang="en-IN" sz="2400" i="1">
                            <a:solidFill>
                              <a:srgbClr val="111827"/>
                            </a:solidFill>
                            <a:latin typeface="Cambria Math" panose="02040503050406030204" pitchFamily="18" charset="0"/>
                          </a:rPr>
                          <m:t>𝑖</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den>
                    </m:f>
                  </m:oMath>
                </a14:m>
                <a:r>
                  <a:rPr sz="2400" b="0">
                    <a:solidFill>
                      <a:srgbClr val="111827"/>
                    </a:solidFill>
                    <a:latin typeface="Arial"/>
                  </a:rPr>
                  <a:t> modulo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oMath>
                </a14:m>
                <a:r>
                  <a:rPr sz="2400" b="0">
                    <a:solidFill>
                      <a:srgbClr val="111827"/>
                    </a:solidFill>
                    <a:latin typeface="Arial"/>
                  </a:rPr>
                  <a:t>; since each term is positive and the sum of 2021 terms is at most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no multiple of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oMath>
                </a14:m>
                <a:r>
                  <a:rPr sz="2400" b="0">
                    <a:solidFill>
                      <a:srgbClr val="111827"/>
                    </a:solidFill>
                    <a:latin typeface="Arial"/>
                  </a:rPr>
                  <a:t> intrudes.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arg</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2022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the same as before, and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2022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product </a:t>
                </a:r>
                <a:r>
                  <a:rPr lang="en-IN" sz="2400">
                    <a:solidFill>
                      <a:srgbClr val="111827"/>
                    </a:solidFill>
                    <a:latin typeface="Cambria Math" panose="02040503050406030204" pitchFamily="18" charset="0"/>
                  </a:rPr>
                  <a:t>$\prod_{k=1}^{2021}\frac{z_{k+1}}{z_k}$</a:t>
                </a:r>
                <a:r>
                  <a:rPr sz="2400" b="0">
                    <a:solidFill>
                      <a:srgbClr val="111827"/>
                    </a:solidFill>
                    <a:latin typeface="Arial"/>
                  </a:rPr>
                  <a:t> telescopes to </a:t>
                </a:r>
                <a:r>
                  <a:rPr lang="en-IN" sz="2400">
                    <a:solidFill>
                      <a:srgbClr val="111827"/>
                    </a:solidFill>
                    <a:latin typeface="Cambria Math" panose="02040503050406030204" pitchFamily="18" charset="0"/>
                  </a:rPr>
                  <a:t>$\frac{z_{2022}}{z_1}=\frac{1+2022i}{1+i}$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of the arguments is </a:t>
                </a:r>
                <a:r>
                  <a:rPr lang="en-IN" sz="2400">
                    <a:solidFill>
                      <a:srgbClr val="111827"/>
                    </a:solidFill>
                    <a:latin typeface="Cambria Math" panose="02040503050406030204" pitchFamily="18" charset="0"/>
                  </a:rPr>
                  <a:t>$\arg\frac{1+2022i}{1+i}$</a:t>
                </a:r>
                <a:r>
                  <a:rPr sz="2400" b="0">
                    <a:solidFill>
                      <a:srgbClr val="111827"/>
                    </a:solidFill>
                    <a:latin typeface="Arial"/>
                  </a:rPr>
                  <a:t> modulo </a:t>
                </a:r>
                <a:r>
                  <a:rPr lang="en-IN" sz="2400">
                    <a:solidFill>
                      <a:srgbClr val="111827"/>
                    </a:solidFill>
                    <a:latin typeface="Cambria Math" panose="02040503050406030204" pitchFamily="18" charset="0"/>
                  </a:rPr>
                  <a:t>$2\pi$</a:t>
                </a:r>
                <a:r>
                  <a:rPr sz="2400" b="0">
                    <a:solidFill>
                      <a:srgbClr val="111827"/>
                    </a:solidFill>
                    <a:latin typeface="Arial"/>
                  </a:rPr>
                  <a:t>; since each term is positive and the sum of 2021 terms is at most </a:t>
                </a:r>
                <a:r>
                  <a:rPr lang="en-IN" sz="2400">
                    <a:solidFill>
                      <a:srgbClr val="111827"/>
                    </a:solidFill>
                    <a:latin typeface="Cambria Math" panose="02040503050406030204" pitchFamily="18" charset="0"/>
                  </a:rPr>
                  <a:t>$\tan^{-1}2022-\frac\pi4&lt;\frac\pi4$</a:t>
                </a:r>
                <a:r>
                  <a:rPr sz="2400" b="0">
                    <a:solidFill>
                      <a:srgbClr val="111827"/>
                    </a:solidFill>
                    <a:latin typeface="Arial"/>
                  </a:rPr>
                  <a:t>, no multiple of </a:t>
                </a:r>
                <a:r>
                  <a:rPr lang="en-IN" sz="2400">
                    <a:solidFill>
                      <a:srgbClr val="111827"/>
                    </a:solidFill>
                    <a:latin typeface="Cambria Math" panose="02040503050406030204" pitchFamily="18" charset="0"/>
                  </a:rPr>
                  <a:t>$2\pi$</a:t>
                </a:r>
                <a:r>
                  <a:rPr sz="2400" b="0">
                    <a:solidFill>
                      <a:srgbClr val="111827"/>
                    </a:solidFill>
                    <a:latin typeface="Arial"/>
                  </a:rPr>
                  <a:t> intrudes.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$\arg(1+2022i)-\arg(1+i)=\tan^{-1}2022-\frac\pi4$</a:t>
                </a:r>
                <a:r>
                  <a:rPr sz="2400" b="0">
                    <a:solidFill>
                      <a:srgbClr val="111827"/>
                    </a:solidFill>
                    <a:latin typeface="Arial"/>
                  </a:rPr>
                  <a:t>, the same as before, and </a:t>
                </a:r>
                <a:r>
                  <a:rPr lang="en-IN" sz="2400">
                    <a:solidFill>
                      <a:srgbClr val="111827"/>
                    </a:solidFill>
                    <a:latin typeface="Cambria Math" panose="02040503050406030204" pitchFamily="18" charset="0"/>
                  </a:rPr>
                  <a:t>$=\frac\pi4-\cot^{-1}2022$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B)</a:t>
            </a:r>
            <a:endParaRPr sz="2800">
              <a:solidFill>
                <a:srgbClr val="15803D"/>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AP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with common difference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nary>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(when all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Special case: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nary>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2021</m:t>
                    </m:r>
                  </m:oMath>
                </a14:m>
                <a:r>
                  <a:rPr sz="2400" b="0">
                    <a:solidFill>
                      <a:srgbClr val="111827"/>
                    </a:solidFill>
                    <a:latin typeface="Arial"/>
                  </a:rPr>
                  <a:t> gives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2021</m:t>
                        </m:r>
                      </m:num>
                      <m:den>
                        <m:r>
                          <a:rPr lang="en-IN" sz="2400" i="1">
                            <a:solidFill>
                              <a:srgbClr val="111827"/>
                            </a:solidFill>
                            <a:latin typeface="Cambria Math" panose="02040503050406030204" pitchFamily="18" charset="0"/>
                          </a:rPr>
                          <m:t>2023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all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 this is why (A) and (B) are the same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multi-correct questions that list equivalent forms, convert the result to every form shown before eliminating options.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AP </a:t>
                </a:r>
                <a:r>
                  <a:rPr lang="en-IN" sz="2400">
                    <a:solidFill>
                      <a:srgbClr val="111827"/>
                    </a:solidFill>
                    <a:latin typeface="Cambria Math" panose="02040503050406030204" pitchFamily="18" charset="0"/>
                  </a:rPr>
                  <a:t>$a_k$</a:t>
                </a:r>
                <a:r>
                  <a:rPr sz="2400" b="0">
                    <a:solidFill>
                      <a:srgbClr val="111827"/>
                    </a:solidFill>
                    <a:latin typeface="Arial"/>
                  </a:rPr>
                  <a:t> with common difference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$\sum_{k=1}^{n}\tan^{-1}\frac{d}{1+a_ka_{k+1}}=\tan^{-1}a_{n+1}-\tan^{-1}a_1$</a:t>
                </a:r>
                <a:r>
                  <a:rPr sz="2400" b="0">
                    <a:solidFill>
                      <a:srgbClr val="111827"/>
                    </a:solidFill>
                    <a:latin typeface="Arial"/>
                  </a:rPr>
                  <a:t> (when all </a:t>
                </a:r>
                <a:r>
                  <a:rPr lang="en-IN" sz="2400">
                    <a:solidFill>
                      <a:srgbClr val="111827"/>
                    </a:solidFill>
                    <a:latin typeface="Cambria Math" panose="02040503050406030204" pitchFamily="18" charset="0"/>
                  </a:rPr>
                  <a:t>$a_k&gt;0$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Special case: </a:t>
                </a:r>
                <a:r>
                  <a:rPr lang="en-IN" sz="2400">
                    <a:solidFill>
                      <a:srgbClr val="111827"/>
                    </a:solidFill>
                    <a:latin typeface="Cambria Math" panose="02040503050406030204" pitchFamily="18" charset="0"/>
                  </a:rPr>
                  <a:t>$\sum_{k=1}^{n}\tan^{-1}\frac1{k^2+k+1}=\tan^{-1}(n+1)-\frac\pi4=\tan^{-1}\frac{n}{n+2}$</a:t>
                </a:r>
                <a:r>
                  <a:rPr sz="2400" b="0">
                    <a:solidFill>
                      <a:srgbClr val="111827"/>
                    </a:solidFill>
                    <a:latin typeface="Arial"/>
                  </a:rPr>
                  <a:t>; here </a:t>
                </a:r>
                <a:r>
                  <a:rPr lang="en-IN" sz="2400">
                    <a:solidFill>
                      <a:srgbClr val="111827"/>
                    </a:solidFill>
                    <a:latin typeface="Cambria Math" panose="02040503050406030204" pitchFamily="18" charset="0"/>
                  </a:rPr>
                  <a:t>$n=2021$</a:t>
                </a:r>
                <a:r>
                  <a:rPr sz="2400" b="0">
                    <a:solidFill>
                      <a:srgbClr val="111827"/>
                    </a:solidFill>
                    <a:latin typeface="Arial"/>
                  </a:rPr>
                  <a:t> gives </a:t>
                </a:r>
                <a:r>
                  <a:rPr lang="en-IN" sz="2400">
                    <a:solidFill>
                      <a:srgbClr val="111827"/>
                    </a:solidFill>
                    <a:latin typeface="Cambria Math" panose="02040503050406030204" pitchFamily="18" charset="0"/>
                  </a:rPr>
                  <a:t>$\tan^{-1}\frac{2021}{2023}$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$\tan^{-1}x+\cot^{-1}x=\frac\pi2$</a:t>
                </a:r>
                <a:r>
                  <a:rPr sz="2400" b="0">
                    <a:solidFill>
                      <a:srgbClr val="111827"/>
                    </a:solidFill>
                    <a:latin typeface="Arial"/>
                  </a:rPr>
                  <a:t> for all real </a:t>
                </a:r>
                <a:r>
                  <a:rPr lang="en-IN" sz="2400">
                    <a:solidFill>
                      <a:srgbClr val="111827"/>
                    </a:solidFill>
                    <a:latin typeface="Cambria Math" panose="02040503050406030204" pitchFamily="18" charset="0"/>
                  </a:rPr>
                  <a:t>$x$</a:t>
                </a:r>
                <a:r>
                  <a:rPr sz="2400" b="0">
                    <a:solidFill>
                      <a:srgbClr val="111827"/>
                    </a:solidFill>
                    <a:latin typeface="Arial"/>
                  </a:rPr>
                  <a:t> - this is why (A) and (B) are the same number.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multi-correct questions that list equivalent forms, convert the result to every form shown before eliminating options.</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Q04 – Q05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JEE Advanced default assumed: +4 per question</a:t>
            </a:r>
            <a:endParaRPr sz="2800">
              <a:solidFill>
                <a:srgbClr val="FFFFFF"/>
              </a:solidFill>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largest interval for which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holds. If </a:t>
                </a:r>
                <a14:m>
                  <m:oMath xmlns:m="http://schemas.openxmlformats.org/officeDocument/2006/math">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48</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$(a,b)\subset(0,2\pi)$</a:t>
                </a:r>
                <a:r>
                  <a:rPr sz="2400" b="0">
                    <a:solidFill>
                      <a:srgbClr val="111827"/>
                    </a:solidFill>
                    <a:latin typeface="Arial"/>
                  </a:rPr>
                  <a:t> be the largest interval for which </a:t>
                </a:r>
                <a:r>
                  <a:rPr lang="en-IN" sz="2400">
                    <a:solidFill>
                      <a:srgbClr val="111827"/>
                    </a:solidFill>
                    <a:latin typeface="Cambria Math" panose="02040503050406030204" pitchFamily="18" charset="0"/>
                  </a:rPr>
                  <a:t>$\sin^{-1}(\sin\theta)-\cos^{-1}(\sin\theta)&gt;0$</a:t>
                </a:r>
                <a:r>
                  <a:rPr sz="2400" b="0">
                    <a:solidFill>
                      <a:srgbClr val="111827"/>
                    </a:solidFill>
                    <a:latin typeface="Arial"/>
                  </a:rPr>
                  <a:t>, </a:t>
                </a:r>
                <a:r>
                  <a:rPr lang="en-IN" sz="2400">
                    <a:solidFill>
                      <a:srgbClr val="111827"/>
                    </a:solidFill>
                    <a:latin typeface="Cambria Math" panose="02040503050406030204" pitchFamily="18" charset="0"/>
                  </a:rPr>
                  <a:t>$\theta\in(0,2\pi)$</a:t>
                </a:r>
                <a:r>
                  <a:rPr sz="2400" b="0">
                    <a:solidFill>
                      <a:srgbClr val="111827"/>
                    </a:solidFill>
                    <a:latin typeface="Arial"/>
                  </a:rPr>
                  <a:t>, holds. If </a:t>
                </a:r>
                <a:r>
                  <a:rPr lang="en-IN" sz="2400">
                    <a:solidFill>
                      <a:srgbClr val="111827"/>
                    </a:solidFill>
                    <a:latin typeface="Cambria Math" panose="02040503050406030204" pitchFamily="18" charset="0"/>
                  </a:rPr>
                  <a:t>$\alpha x^2+\beta x+\sin^{-1}(x^2-6x+10)+\cos^{-1}(x^2-6x+10)=0$</a:t>
                </a:r>
                <a:r>
                  <a:rPr sz="2400" b="0">
                    <a:solidFill>
                      <a:srgbClr val="111827"/>
                    </a:solidFill>
                    <a:latin typeface="Arial"/>
                  </a:rPr>
                  <a:t> and </a:t>
                </a:r>
                <a:r>
                  <a:rPr lang="en-IN" sz="2400">
                    <a:solidFill>
                      <a:srgbClr val="111827"/>
                    </a:solidFill>
                    <a:latin typeface="Cambria Math" panose="02040503050406030204" pitchFamily="18" charset="0"/>
                  </a:rPr>
                  <a:t>$\alpha-\beta=b-a$</a:t>
                </a:r>
                <a:r>
                  <a:rPr sz="2400" b="0">
                    <a:solidFill>
                      <a:srgbClr val="111827"/>
                    </a:solidFill>
                    <a:latin typeface="Arial"/>
                  </a:rPr>
                  <a:t>, then </a:t>
                </a:r>
                <a:r>
                  <a:rPr lang="en-IN" sz="2400">
                    <a:solidFill>
                      <a:srgbClr val="111827"/>
                    </a:solidFill>
                    <a:latin typeface="Cambria Math" panose="02040503050406030204" pitchFamily="18" charset="0"/>
                  </a:rPr>
                  <a:t>$\alpha$</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$\frac\pi{48}$</a:t>
                </a:r>
                <a:r>
                  <a:rPr sz="2400" b="0">
                    <a:solidFill>
                      <a:srgbClr val="111827"/>
                    </a:solidFill>
                    <a:latin typeface="Arial"/>
                  </a:rPr>
                  <a:t>   (B) </a:t>
                </a:r>
                <a:r>
                  <a:rPr lang="en-IN" sz="2400">
                    <a:solidFill>
                      <a:srgbClr val="111827"/>
                    </a:solidFill>
                    <a:latin typeface="Cambria Math" panose="02040503050406030204" pitchFamily="18" charset="0"/>
                  </a:rPr>
                  <a:t>$\frac\pi{16}$</a:t>
                </a:r>
                <a:r>
                  <a:rPr sz="2400" b="0">
                    <a:solidFill>
                      <a:srgbClr val="111827"/>
                    </a:solidFill>
                    <a:latin typeface="Arial"/>
                  </a:rPr>
                  <a:t>   (C) </a:t>
                </a:r>
                <a:r>
                  <a:rPr lang="en-IN" sz="2400">
                    <a:solidFill>
                      <a:srgbClr val="111827"/>
                    </a:solidFill>
                    <a:latin typeface="Cambria Math" panose="02040503050406030204" pitchFamily="18" charset="0"/>
                  </a:rPr>
                  <a:t>$\frac\pi8$</a:t>
                </a:r>
                <a:r>
                  <a:rPr sz="2400" b="0">
                    <a:solidFill>
                      <a:srgbClr val="111827"/>
                    </a:solidFill>
                    <a:latin typeface="Arial"/>
                  </a:rPr>
                  <a:t>   (D) </a:t>
                </a:r>
                <a:r>
                  <a:rPr lang="en-IN" sz="2400">
                    <a:solidFill>
                      <a:srgbClr val="111827"/>
                    </a:solidFill>
                    <a:latin typeface="Cambria Math" panose="02040503050406030204" pitchFamily="18" charset="0"/>
                  </a:rPr>
                  <a:t>$\frac\pi{12}$</a:t>
                </a:r>
                <a:endParaRPr sz="2400">
                  <a:solidFill>
                    <a:srgbClr val="111827"/>
                  </a:solidFill>
                </a:endParaRPr>
              </a:p>
            </p:txBody>
          </p:sp>
        </mc:Fallback>
      </mc:AlternateContent>
      <p:sp>
        <p:nvSpPr>
          <p:cNvPr id="5" name="Rectangle 4"/>
          <p:cNvSpPr/>
          <p:nvPr/>
        </p:nvSpPr>
        <p:spPr>
          <a:xfrm>
            <a:off x="731520" y="36901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Inequality with sin^-1(sin θ) and domain of inverse trigonometric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lies in the domain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only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so the quadratic equation holds only at one point.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$x^2-6x+10=(x-3)^2+1\ge1$</a:t>
                </a:r>
                <a:r>
                  <a:rPr sz="2400" b="0">
                    <a:solidFill>
                      <a:srgbClr val="78350F"/>
                    </a:solidFill>
                    <a:latin typeface="Arial"/>
                  </a:rPr>
                  <a:t> lies in the domain </a:t>
                </a:r>
                <a:r>
                  <a:rPr lang="en-IN" sz="2400">
                    <a:solidFill>
                      <a:srgbClr val="78350F"/>
                    </a:solidFill>
                    <a:latin typeface="Cambria Math" panose="02040503050406030204" pitchFamily="18" charset="0"/>
                  </a:rPr>
                  <a:t>$[-1,1]$</a:t>
                </a:r>
                <a:r>
                  <a:rPr sz="2400" b="0">
                    <a:solidFill>
                      <a:srgbClr val="78350F"/>
                    </a:solidFill>
                    <a:latin typeface="Arial"/>
                  </a:rPr>
                  <a:t> only at </a:t>
                </a:r>
                <a:r>
                  <a:rPr lang="en-IN" sz="2400">
                    <a:solidFill>
                      <a:srgbClr val="78350F"/>
                    </a:solidFill>
                    <a:latin typeface="Cambria Math" panose="02040503050406030204" pitchFamily="18" charset="0"/>
                  </a:rPr>
                  <a:t>$x=3$</a:t>
                </a:r>
                <a:r>
                  <a:rPr sz="2400" b="0">
                    <a:solidFill>
                      <a:srgbClr val="78350F"/>
                    </a:solidFill>
                    <a:latin typeface="Arial"/>
                  </a:rPr>
                  <a:t>, so the quadratic equation holds only at one point.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inequality becomes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hence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this gives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equation is </a:t>
                </a:r>
                <a14:m>
                  <m:oMath xmlns:m="http://schemas.openxmlformats.org/officeDocument/2006/math">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$\cos^{-1}(\sin\theta)=\frac\pi2-\sin^{-1}(\sin\theta)$</a:t>
                </a:r>
                <a:r>
                  <a:rPr sz="2400" b="0">
                    <a:solidFill>
                      <a:srgbClr val="111827"/>
                    </a:solidFill>
                    <a:latin typeface="Arial"/>
                  </a:rPr>
                  <a:t>: the inequality becomes </a:t>
                </a:r>
                <a:r>
                  <a:rPr lang="en-IN" sz="2400">
                    <a:solidFill>
                      <a:srgbClr val="111827"/>
                    </a:solidFill>
                    <a:latin typeface="Cambria Math" panose="02040503050406030204" pitchFamily="18" charset="0"/>
                  </a:rPr>
                  <a:t>$\sin^{-1}(\sin\theta)-\left(\frac\pi2-\sin^{-1}(\sin\theta)\right)&gt;0$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$\sin^{-1}(\sin\theta)&gt;\frac\pi4$</a:t>
                </a:r>
                <a:r>
                  <a:rPr sz="2400" b="0">
                    <a:solidFill>
                      <a:srgbClr val="111827"/>
                    </a:solidFill>
                    <a:latin typeface="Arial"/>
                  </a:rPr>
                  <a:t>, hence </a:t>
                </a:r>
                <a:r>
                  <a:rPr lang="en-IN" sz="2400">
                    <a:solidFill>
                      <a:srgbClr val="111827"/>
                    </a:solidFill>
                    <a:latin typeface="Cambria Math" panose="02040503050406030204" pitchFamily="18" charset="0"/>
                  </a:rPr>
                  <a:t>$\sin\theta&gt;\frac1{\sqrt2}$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$\theta\in(0,2\pi)$</a:t>
                </a:r>
                <a:r>
                  <a:rPr sz="2400" b="0">
                    <a:solidFill>
                      <a:srgbClr val="111827"/>
                    </a:solidFill>
                    <a:latin typeface="Arial"/>
                  </a:rPr>
                  <a:t> this gives </a:t>
                </a:r>
                <a:r>
                  <a:rPr lang="en-IN" sz="2400">
                    <a:solidFill>
                      <a:srgbClr val="111827"/>
                    </a:solidFill>
                    <a:latin typeface="Cambria Math" panose="02040503050406030204" pitchFamily="18" charset="0"/>
                  </a:rPr>
                  <a:t>$\theta\in\left(\frac\pi4,\frac{3\pi}4\right)=(a,b)$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$b-a=\frac\pi2=\alpha-\beta$</a:t>
                </a:r>
                <a:r>
                  <a:rPr sz="2400" b="0">
                    <a:solidFill>
                      <a:srgbClr val="111827"/>
                    </a:solidFill>
                    <a:latin typeface="Arial"/>
                  </a:rPr>
                  <a:t>, i.e. </a:t>
                </a:r>
                <a:r>
                  <a:rPr lang="en-IN" sz="2400">
                    <a:solidFill>
                      <a:srgbClr val="111827"/>
                    </a:solidFill>
                    <a:latin typeface="Cambria Math" panose="02040503050406030204" pitchFamily="18" charset="0"/>
                  </a:rPr>
                  <a:t>$\beta=\alpha-\frac\pi2$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$x^2-6x+10=(x-3)^2+1$</a:t>
                </a:r>
                <a:r>
                  <a:rPr sz="2400" b="0">
                    <a:solidFill>
                      <a:srgbClr val="111827"/>
                    </a:solidFill>
                    <a:latin typeface="Arial"/>
                  </a:rPr>
                  <a:t>; the equation is </a:t>
                </a:r>
                <a:r>
                  <a:rPr lang="en-IN" sz="2400">
                    <a:solidFill>
                      <a:srgbClr val="111827"/>
                    </a:solidFill>
                    <a:latin typeface="Cambria Math" panose="02040503050406030204" pitchFamily="18" charset="0"/>
                  </a:rPr>
                  <a:t>$\alpha x^2+\beta x+\sin^{-1}\left[(x-3)^2+1\right]+\cos^{-1}\left[(x-3)^2+1\right]=0$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inverse functions need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only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possible; there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inverse functions need </a:t>
                </a:r>
                <a:r>
                  <a:rPr lang="en-IN" sz="2400">
                    <a:solidFill>
                      <a:srgbClr val="111827"/>
                    </a:solidFill>
                    <a:latin typeface="Cambria Math" panose="02040503050406030204" pitchFamily="18" charset="0"/>
                  </a:rPr>
                  <a:t>$(x-3)^2+1\le1$</a:t>
                </a:r>
                <a:r>
                  <a:rPr sz="2400" b="0">
                    <a:solidFill>
                      <a:srgbClr val="111827"/>
                    </a:solidFill>
                    <a:latin typeface="Arial"/>
                  </a:rPr>
                  <a:t>, so only </a:t>
                </a:r>
                <a:r>
                  <a:rPr lang="en-IN" sz="2400">
                    <a:solidFill>
                      <a:srgbClr val="111827"/>
                    </a:solidFill>
                    <a:latin typeface="Cambria Math" panose="02040503050406030204" pitchFamily="18" charset="0"/>
                  </a:rPr>
                  <a:t>$x=3$</a:t>
                </a:r>
                <a:r>
                  <a:rPr sz="2400" b="0">
                    <a:solidFill>
                      <a:srgbClr val="111827"/>
                    </a:solidFill>
                    <a:latin typeface="Arial"/>
                  </a:rPr>
                  <a:t> is possible; there </a:t>
                </a:r>
                <a:r>
                  <a:rPr lang="en-IN" sz="2400">
                    <a:solidFill>
                      <a:srgbClr val="111827"/>
                    </a:solidFill>
                    <a:latin typeface="Cambria Math" panose="02040503050406030204" pitchFamily="18" charset="0"/>
                  </a:rPr>
                  <a:t>$\sin^{-1}1+\cos^{-1}1=\frac\pi2+0=\frac\pi2$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$x=3$</a:t>
                </a:r>
                <a:r>
                  <a:rPr sz="2400" b="0">
                    <a:solidFill>
                      <a:srgbClr val="111827"/>
                    </a:solidFill>
                    <a:latin typeface="Arial"/>
                  </a:rPr>
                  <a:t>: </a:t>
                </a:r>
                <a:r>
                  <a:rPr lang="en-IN" sz="2400">
                    <a:solidFill>
                      <a:srgbClr val="111827"/>
                    </a:solidFill>
                    <a:latin typeface="Cambria Math" panose="02040503050406030204" pitchFamily="18" charset="0"/>
                  </a:rPr>
                  <a:t>$9\alpha+3\beta+\frac\pi2=0$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r>
                  <a:rPr lang="en-IN" sz="2400">
                    <a:solidFill>
                      <a:srgbClr val="111827"/>
                    </a:solidFill>
                    <a:latin typeface="Cambria Math" panose="02040503050406030204" pitchFamily="18" charset="0"/>
                  </a:rPr>
                  <a:t>$\beta=\alpha-\frac\pi2$</a:t>
                </a:r>
                <a:r>
                  <a:rPr sz="2400" b="0">
                    <a:solidFill>
                      <a:srgbClr val="111827"/>
                    </a:solidFill>
                    <a:latin typeface="Arial"/>
                  </a:rPr>
                  <a:t>: </a:t>
                </a:r>
                <a:r>
                  <a:rPr lang="en-IN" sz="2400">
                    <a:solidFill>
                      <a:srgbClr val="111827"/>
                    </a:solidFill>
                    <a:latin typeface="Cambria Math" panose="02040503050406030204" pitchFamily="18" charset="0"/>
                  </a:rPr>
                  <a:t>$9\alpha+3\left(\alpha-\frac\pi2\right)+\frac\pi2=0\Rightarrow12\alpha-\pi=0$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$\alpha=\frac\pi{12}$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12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$\frac\pi{12}$</a:t>
                </a:r>
                <a:endParaRPr sz="2800">
                  <a:solidFill>
                    <a:srgbClr val="15803D"/>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the interval off the graph of the saw-tooth </a:t>
                </a:r>
                <a14:m>
                  <m:oMath xmlns:m="http://schemas.openxmlformats.org/officeDocument/2006/math">
                    <m:sSup>
                      <m:e>
                        <m:r>
                          <m:rPr>
                            <m:sty m:val="p"/>
                          </m:rPr>
                          <a:rPr lang="en-IN" sz="2400">
                            <a:solidFill>
                              <a:srgbClr val="78350F"/>
                            </a:solidFill>
                            <a:latin typeface="Cambria Math" panose="02040503050406030204" pitchFamily="18" charset="0"/>
                          </a:rPr>
                          <m:t>sin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treat the final conditions as a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linear system.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the interval off the graph of the saw-tooth </a:t>
                </a:r>
                <a:r>
                  <a:rPr lang="en-IN" sz="2400">
                    <a:solidFill>
                      <a:srgbClr val="78350F"/>
                    </a:solidFill>
                    <a:latin typeface="Cambria Math" panose="02040503050406030204" pitchFamily="18" charset="0"/>
                  </a:rPr>
                  <a:t>$\sin^{-1}(\sin\theta)$</a:t>
                </a:r>
                <a:r>
                  <a:rPr sz="2400" b="0">
                    <a:solidFill>
                      <a:srgbClr val="78350F"/>
                    </a:solidFill>
                    <a:latin typeface="Arial"/>
                  </a:rPr>
                  <a:t>, and treat the final conditions as a </a:t>
                </a:r>
                <a:r>
                  <a:rPr lang="en-IN" sz="2400">
                    <a:solidFill>
                      <a:srgbClr val="78350F"/>
                    </a:solidFill>
                    <a:latin typeface="Cambria Math" panose="02040503050406030204" pitchFamily="18" charset="0"/>
                  </a:rPr>
                  <a:t>$2\times2$</a:t>
                </a:r>
                <a:r>
                  <a:rPr sz="2400" b="0">
                    <a:solidFill>
                      <a:srgbClr val="78350F"/>
                    </a:solidFill>
                    <a:latin typeface="Arial"/>
                  </a:rPr>
                  <a:t> linear system.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equals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inequality is </a:t>
                </a: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the saw-tooth is above the level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the rising branch this needs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on the falling branch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the third branch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$\sin^{-1}(\sin\theta)$</a:t>
                </a:r>
                <a:r>
                  <a:rPr sz="2400" b="0">
                    <a:solidFill>
                      <a:srgbClr val="111827"/>
                    </a:solidFill>
                    <a:latin typeface="Arial"/>
                  </a:rPr>
                  <a:t> equals </a:t>
                </a:r>
                <a:r>
                  <a:rPr lang="en-IN" sz="2400">
                    <a:solidFill>
                      <a:srgbClr val="111827"/>
                    </a:solidFill>
                    <a:latin typeface="Cambria Math" panose="02040503050406030204" pitchFamily="18" charset="0"/>
                  </a:rPr>
                  <a:t>$\theta$</a:t>
                </a:r>
                <a:r>
                  <a:rPr sz="2400" b="0">
                    <a:solidFill>
                      <a:srgbClr val="111827"/>
                    </a:solidFill>
                    <a:latin typeface="Arial"/>
                  </a:rPr>
                  <a:t> on </a:t>
                </a:r>
                <a:r>
                  <a:rPr lang="en-IN" sz="2400">
                    <a:solidFill>
                      <a:srgbClr val="111827"/>
                    </a:solidFill>
                    <a:latin typeface="Cambria Math" panose="02040503050406030204" pitchFamily="18" charset="0"/>
                  </a:rPr>
                  <a:t>$[0,\frac\pi2]$</a:t>
                </a:r>
                <a:r>
                  <a:rPr sz="2400" b="0">
                    <a:solidFill>
                      <a:srgbClr val="111827"/>
                    </a:solidFill>
                    <a:latin typeface="Arial"/>
                  </a:rPr>
                  <a:t>, </a:t>
                </a:r>
                <a:r>
                  <a:rPr lang="en-IN" sz="2400">
                    <a:solidFill>
                      <a:srgbClr val="111827"/>
                    </a:solidFill>
                    <a:latin typeface="Cambria Math" panose="02040503050406030204" pitchFamily="18" charset="0"/>
                  </a:rPr>
                  <a:t>$\pi-\theta$</a:t>
                </a:r>
                <a:r>
                  <a:rPr sz="2400" b="0">
                    <a:solidFill>
                      <a:srgbClr val="111827"/>
                    </a:solidFill>
                    <a:latin typeface="Arial"/>
                  </a:rPr>
                  <a:t> on </a:t>
                </a:r>
                <a:r>
                  <a:rPr lang="en-IN" sz="2400">
                    <a:solidFill>
                      <a:srgbClr val="111827"/>
                    </a:solidFill>
                    <a:latin typeface="Cambria Math" panose="02040503050406030204" pitchFamily="18" charset="0"/>
                  </a:rPr>
                  <a:t>$[\frac\pi2,\frac{3\pi}2]$</a:t>
                </a:r>
                <a:r>
                  <a:rPr sz="2400" b="0">
                    <a:solidFill>
                      <a:srgbClr val="111827"/>
                    </a:solidFill>
                    <a:latin typeface="Arial"/>
                  </a:rPr>
                  <a:t> and </a:t>
                </a:r>
                <a:r>
                  <a:rPr lang="en-IN" sz="2400">
                    <a:solidFill>
                      <a:srgbClr val="111827"/>
                    </a:solidFill>
                    <a:latin typeface="Cambria Math" panose="02040503050406030204" pitchFamily="18" charset="0"/>
                  </a:rPr>
                  <a:t>$\theta-2\pi$</a:t>
                </a:r>
                <a:r>
                  <a:rPr sz="2400" b="0">
                    <a:solidFill>
                      <a:srgbClr val="111827"/>
                    </a:solidFill>
                    <a:latin typeface="Arial"/>
                  </a:rPr>
                  <a:t> on </a:t>
                </a:r>
                <a:r>
                  <a:rPr lang="en-IN" sz="2400">
                    <a:solidFill>
                      <a:srgbClr val="111827"/>
                    </a:solidFill>
                    <a:latin typeface="Cambria Math" panose="02040503050406030204" pitchFamily="18" charset="0"/>
                  </a:rPr>
                  <a:t>$[\frac{3\pi}2,2\pi]$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inequality is </a:t>
                </a:r>
                <a:r>
                  <a:rPr lang="en-IN" sz="2400">
                    <a:solidFill>
                      <a:srgbClr val="111827"/>
                    </a:solidFill>
                    <a:latin typeface="Cambria Math" panose="02040503050406030204" pitchFamily="18" charset="0"/>
                  </a:rPr>
                  <a:t>$2\sin^{-1}(\sin\theta)&gt;\frac\pi2$</a:t>
                </a:r>
                <a:r>
                  <a:rPr sz="2400" b="0">
                    <a:solidFill>
                      <a:srgbClr val="111827"/>
                    </a:solidFill>
                    <a:latin typeface="Arial"/>
                  </a:rPr>
                  <a:t>, i.e. the saw-tooth is above the level </a:t>
                </a:r>
                <a:r>
                  <a:rPr lang="en-IN" sz="2400">
                    <a:solidFill>
                      <a:srgbClr val="111827"/>
                    </a:solidFill>
                    <a:latin typeface="Cambria Math" panose="02040503050406030204" pitchFamily="18" charset="0"/>
                  </a:rPr>
                  <a:t>$\frac\pi4$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the rising branch this needs </a:t>
                </a:r>
                <a:r>
                  <a:rPr lang="en-IN" sz="2400">
                    <a:solidFill>
                      <a:srgbClr val="111827"/>
                    </a:solidFill>
                    <a:latin typeface="Cambria Math" panose="02040503050406030204" pitchFamily="18" charset="0"/>
                  </a:rPr>
                  <a:t>$\theta&gt;\frac\pi4$</a:t>
                </a:r>
                <a:r>
                  <a:rPr sz="2400" b="0">
                    <a:solidFill>
                      <a:srgbClr val="111827"/>
                    </a:solidFill>
                    <a:latin typeface="Arial"/>
                  </a:rPr>
                  <a:t>; on the falling branch </a:t>
                </a:r>
                <a:r>
                  <a:rPr lang="en-IN" sz="2400">
                    <a:solidFill>
                      <a:srgbClr val="111827"/>
                    </a:solidFill>
                    <a:latin typeface="Cambria Math" panose="02040503050406030204" pitchFamily="18" charset="0"/>
                  </a:rPr>
                  <a:t>$\pi-\theta&gt;\frac\pi4$</a:t>
                </a:r>
                <a:r>
                  <a:rPr sz="2400" b="0">
                    <a:solidFill>
                      <a:srgbClr val="111827"/>
                    </a:solidFill>
                    <a:latin typeface="Arial"/>
                  </a:rPr>
                  <a:t>, i.e. </a:t>
                </a:r>
                <a:r>
                  <a:rPr lang="en-IN" sz="2400">
                    <a:solidFill>
                      <a:srgbClr val="111827"/>
                    </a:solidFill>
                    <a:latin typeface="Cambria Math" panose="02040503050406030204" pitchFamily="18" charset="0"/>
                  </a:rPr>
                  <a:t>$\theta&lt;\frac{3\pi}4$</a:t>
                </a:r>
                <a:r>
                  <a:rPr sz="2400" b="0">
                    <a:solidFill>
                      <a:srgbClr val="111827"/>
                    </a:solidFill>
                    <a:latin typeface="Arial"/>
                  </a:rPr>
                  <a:t>; the third branch is </a:t>
                </a:r>
                <a:r>
                  <a:rPr lang="en-IN" sz="2400">
                    <a:solidFill>
                      <a:srgbClr val="111827"/>
                    </a:solidFill>
                    <a:latin typeface="Cambria Math" panose="02040503050406030204" pitchFamily="18" charset="0"/>
                  </a:rPr>
                  <a:t>$\le0$</a:t>
                </a:r>
                <a:r>
                  <a:rPr sz="2400" b="0">
                    <a:solidFill>
                      <a:srgbClr val="111827"/>
                    </a:solidFill>
                    <a:latin typeface="Arial"/>
                  </a:rPr>
                  <a:t>. So </a:t>
                </a:r>
                <a:r>
                  <a:rPr lang="en-IN" sz="2400">
                    <a:solidFill>
                      <a:srgbClr val="111827"/>
                    </a:solidFill>
                    <a:latin typeface="Cambria Math" panose="02040503050406030204" pitchFamily="18" charset="0"/>
                  </a:rPr>
                  <a:t>$(a,b)=(\frac\pi4,\frac{3\pi}4)$</a:t>
                </a:r>
                <a:r>
                  <a:rPr sz="2400" b="0">
                    <a:solidFill>
                      <a:srgbClr val="111827"/>
                    </a:solidFill>
                    <a:latin typeface="Arial"/>
                  </a:rPr>
                  <a:t> and </a:t>
                </a:r>
                <a:r>
                  <a:rPr lang="en-IN" sz="2400">
                    <a:solidFill>
                      <a:srgbClr val="111827"/>
                    </a:solidFill>
                    <a:latin typeface="Cambria Math" panose="02040503050406030204" pitchFamily="18" charset="0"/>
                  </a:rPr>
                  <a:t>$b-a=\frac\pi2$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survives in the domain, giving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Together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adding the two equations eliminates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Only </a:t>
                </a:r>
                <a:r>
                  <a:rPr lang="en-IN" sz="2400">
                    <a:solidFill>
                      <a:srgbClr val="111827"/>
                    </a:solidFill>
                    <a:latin typeface="Cambria Math" panose="02040503050406030204" pitchFamily="18" charset="0"/>
                  </a:rPr>
                  <a:t>$x=3$</a:t>
                </a:r>
                <a:r>
                  <a:rPr sz="2400" b="0">
                    <a:solidFill>
                      <a:srgbClr val="111827"/>
                    </a:solidFill>
                    <a:latin typeface="Arial"/>
                  </a:rPr>
                  <a:t> survives in the domain, giving </a:t>
                </a:r>
                <a:r>
                  <a:rPr lang="en-IN" sz="2400">
                    <a:solidFill>
                      <a:srgbClr val="111827"/>
                    </a:solidFill>
                    <a:latin typeface="Cambria Math" panose="02040503050406030204" pitchFamily="18" charset="0"/>
                  </a:rPr>
                  <a:t>$9\alpha+3\beta=-\frac\pi2$</a:t>
                </a:r>
                <a:r>
                  <a:rPr sz="2400" b="0">
                    <a:solidFill>
                      <a:srgbClr val="111827"/>
                    </a:solidFill>
                    <a:latin typeface="Arial"/>
                  </a:rPr>
                  <a:t>, i.e. </a:t>
                </a:r>
                <a:r>
                  <a:rPr lang="en-IN" sz="2400">
                    <a:solidFill>
                      <a:srgbClr val="111827"/>
                    </a:solidFill>
                    <a:latin typeface="Cambria Math" panose="02040503050406030204" pitchFamily="18" charset="0"/>
                  </a:rPr>
                  <a:t>$3\alpha+\beta=-\frac\pi6$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Together with </a:t>
                </a:r>
                <a:r>
                  <a:rPr lang="en-IN" sz="2400">
                    <a:solidFill>
                      <a:srgbClr val="111827"/>
                    </a:solidFill>
                    <a:latin typeface="Cambria Math" panose="02040503050406030204" pitchFamily="18" charset="0"/>
                  </a:rPr>
                  <a:t>$\alpha-\beta=\frac\pi2$</a:t>
                </a:r>
                <a:r>
                  <a:rPr sz="2400" b="0">
                    <a:solidFill>
                      <a:srgbClr val="111827"/>
                    </a:solidFill>
                    <a:latin typeface="Arial"/>
                  </a:rPr>
                  <a:t>, adding the two equations eliminates </a:t>
                </a:r>
                <a:r>
                  <a:rPr lang="en-IN" sz="2400">
                    <a:solidFill>
                      <a:srgbClr val="111827"/>
                    </a:solidFill>
                    <a:latin typeface="Cambria Math" panose="02040503050406030204" pitchFamily="18" charset="0"/>
                  </a:rPr>
                  <a:t>$\beta$</a:t>
                </a:r>
                <a:r>
                  <a:rPr sz="2400" b="0">
                    <a:solidFill>
                      <a:srgbClr val="111827"/>
                    </a:solidFill>
                    <a:latin typeface="Arial"/>
                  </a:rPr>
                  <a:t>: </a:t>
                </a:r>
                <a:r>
                  <a:rPr lang="en-IN" sz="2400">
                    <a:solidFill>
                      <a:srgbClr val="111827"/>
                    </a:solidFill>
                    <a:latin typeface="Cambria Math" panose="02040503050406030204" pitchFamily="18" charset="0"/>
                  </a:rPr>
                  <a:t>$4\alpha=-\frac\pi6+\frac\pi2=\frac\pi3$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$\alpha=\frac\pi{12}$</a:t>
                </a:r>
                <a:r>
                  <a:rPr sz="2400" b="0">
                    <a:solidFill>
                      <a:srgbClr val="111827"/>
                    </a:solidFill>
                    <a:latin typeface="Arial"/>
                  </a:rPr>
                  <a:t> (and </a:t>
                </a:r>
                <a:r>
                  <a:rPr lang="en-IN" sz="2400">
                    <a:solidFill>
                      <a:srgbClr val="111827"/>
                    </a:solidFill>
                    <a:latin typeface="Cambria Math" panose="02040503050406030204" pitchFamily="18" charset="0"/>
                  </a:rPr>
                  <a:t>$\beta=-\frac{5\pi}{12}$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12</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$\frac\pi{12}$</a:t>
                </a:r>
                <a:endParaRPr sz="2800">
                  <a:solidFill>
                    <a:srgbClr val="15803D"/>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an expression such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fed into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or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the equation can hold only where it equals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 domain collapses to one point).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𝑐</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one interval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$\sin^{-1}t+\cos^{-1}t=\frac\pi2$</a:t>
                </a:r>
                <a:r>
                  <a:rPr sz="2400" b="0">
                    <a:solidFill>
                      <a:srgbClr val="111827"/>
                    </a:solidFill>
                    <a:latin typeface="Arial"/>
                  </a:rPr>
                  <a:t> for </a:t>
                </a:r>
                <a:r>
                  <a:rPr lang="en-IN" sz="2400">
                    <a:solidFill>
                      <a:srgbClr val="111827"/>
                    </a:solidFill>
                    <a:latin typeface="Cambria Math" panose="02040503050406030204" pitchFamily="18" charset="0"/>
                  </a:rPr>
                  <a:t>$|t|\le1$</a:t>
                </a:r>
                <a:r>
                  <a:rPr sz="2400" b="0">
                    <a:solidFill>
                      <a:srgbClr val="111827"/>
                    </a:solidFill>
                    <a:latin typeface="Arial"/>
                  </a:rPr>
                  <a:t>; so </a:t>
                </a:r>
                <a:r>
                  <a:rPr lang="en-IN" sz="2400">
                    <a:solidFill>
                      <a:srgbClr val="111827"/>
                    </a:solidFill>
                    <a:latin typeface="Cambria Math" panose="02040503050406030204" pitchFamily="18" charset="0"/>
                  </a:rPr>
                  <a:t>$\cos^{-1}(\sin\theta)=\frac\pi2-\sin^{-1}(\sin\theta)$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an expression such as </a:t>
                </a:r>
                <a:r>
                  <a:rPr lang="en-IN" sz="2400">
                    <a:solidFill>
                      <a:srgbClr val="111827"/>
                    </a:solidFill>
                    <a:latin typeface="Cambria Math" panose="02040503050406030204" pitchFamily="18" charset="0"/>
                  </a:rPr>
                  <a:t>$(x-h)^2+k$</a:t>
                </a:r>
                <a:r>
                  <a:rPr sz="2400" b="0">
                    <a:solidFill>
                      <a:srgbClr val="111827"/>
                    </a:solidFill>
                    <a:latin typeface="Arial"/>
                  </a:rPr>
                  <a:t> with </a:t>
                </a:r>
                <a:r>
                  <a:rPr lang="en-IN" sz="2400">
                    <a:solidFill>
                      <a:srgbClr val="111827"/>
                    </a:solidFill>
                    <a:latin typeface="Cambria Math" panose="02040503050406030204" pitchFamily="18" charset="0"/>
                  </a:rPr>
                  <a:t>$k\ge1$</a:t>
                </a:r>
                <a:r>
                  <a:rPr sz="2400" b="0">
                    <a:solidFill>
                      <a:srgbClr val="111827"/>
                    </a:solidFill>
                    <a:latin typeface="Arial"/>
                  </a:rPr>
                  <a:t> is fed into </a:t>
                </a:r>
                <a:r>
                  <a:rPr lang="en-IN" sz="2400">
                    <a:solidFill>
                      <a:srgbClr val="111827"/>
                    </a:solidFill>
                    <a:latin typeface="Cambria Math" panose="02040503050406030204" pitchFamily="18" charset="0"/>
                  </a:rPr>
                  <a:t>$\sin^{-1}$</a:t>
                </a:r>
                <a:r>
                  <a:rPr sz="2400" b="0">
                    <a:solidFill>
                      <a:srgbClr val="111827"/>
                    </a:solidFill>
                    <a:latin typeface="Arial"/>
                  </a:rPr>
                  <a:t> or </a:t>
                </a:r>
                <a:r>
                  <a:rPr lang="en-IN" sz="2400">
                    <a:solidFill>
                      <a:srgbClr val="111827"/>
                    </a:solidFill>
                    <a:latin typeface="Cambria Math" panose="02040503050406030204" pitchFamily="18" charset="0"/>
                  </a:rPr>
                  <a:t>$\cos^{-1}$</a:t>
                </a:r>
                <a:r>
                  <a:rPr sz="2400" b="0">
                    <a:solidFill>
                      <a:srgbClr val="111827"/>
                    </a:solidFill>
                    <a:latin typeface="Arial"/>
                  </a:rPr>
                  <a:t>, the equation can hold only where it equals </a:t>
                </a:r>
                <a:r>
                  <a:rPr lang="en-IN" sz="2400">
                    <a:solidFill>
                      <a:srgbClr val="111827"/>
                    </a:solidFill>
                    <a:latin typeface="Cambria Math" panose="02040503050406030204" pitchFamily="18" charset="0"/>
                  </a:rPr>
                  <a:t>$1$</a:t>
                </a:r>
                <a:r>
                  <a:rPr sz="2400" b="0">
                    <a:solidFill>
                      <a:srgbClr val="111827"/>
                    </a:solidFill>
                    <a:latin typeface="Arial"/>
                  </a:rPr>
                  <a:t> (the domain collapses to one point).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$\sin\theta&gt;c$</a:t>
                </a:r>
                <a:r>
                  <a:rPr sz="2400" b="0">
                    <a:solidFill>
                      <a:srgbClr val="111827"/>
                    </a:solidFill>
                    <a:latin typeface="Arial"/>
                  </a:rPr>
                  <a:t> on </a:t>
                </a:r>
                <a:r>
                  <a:rPr lang="en-IN" sz="2400">
                    <a:solidFill>
                      <a:srgbClr val="111827"/>
                    </a:solidFill>
                    <a:latin typeface="Cambria Math" panose="02040503050406030204" pitchFamily="18" charset="0"/>
                  </a:rPr>
                  <a:t>$(0,2\pi)$</a:t>
                </a:r>
                <a:r>
                  <a:rPr sz="2400" b="0">
                    <a:solidFill>
                      <a:srgbClr val="111827"/>
                    </a:solidFill>
                    <a:latin typeface="Arial"/>
                  </a:rPr>
                  <a:t> gives one interval </a:t>
                </a:r>
                <a:r>
                  <a:rPr lang="en-IN" sz="2400">
                    <a:solidFill>
                      <a:srgbClr val="111827"/>
                    </a:solidFill>
                    <a:latin typeface="Cambria Math" panose="02040503050406030204" pitchFamily="18" charset="0"/>
                  </a:rPr>
                  <a:t>$(\sin^{-1}c,\pi-\sin^{-1}c)$</a:t>
                </a:r>
                <a:r>
                  <a:rPr sz="2400" b="0">
                    <a:solidFill>
                      <a:srgbClr val="111827"/>
                    </a:solidFill>
                    <a:latin typeface="Arial"/>
                  </a:rPr>
                  <a:t> for </a:t>
                </a:r>
                <a:r>
                  <a:rPr lang="en-IN" sz="2400">
                    <a:solidFill>
                      <a:srgbClr val="111827"/>
                    </a:solidFill>
                    <a:latin typeface="Cambria Math" panose="02040503050406030204" pitchFamily="18" charset="0"/>
                  </a:rPr>
                  <a:t>$0&lt;c&lt;1$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$\alpha=\frac\pi{12},\beta=-\frac{5\pi}{12}$</a:t>
                </a:r>
                <a:r>
                  <a:rPr sz="2400" b="0">
                    <a:solidFill>
                      <a:srgbClr val="111827"/>
                    </a:solidFill>
                    <a:latin typeface="Arial"/>
                  </a:rPr>
                  <a:t>: </a:t>
                </a:r>
                <a:r>
                  <a:rPr lang="en-IN" sz="2400">
                    <a:solidFill>
                      <a:srgbClr val="111827"/>
                    </a:solidFill>
                    <a:latin typeface="Cambria Math" panose="02040503050406030204" pitchFamily="18" charset="0"/>
                  </a:rPr>
                  <a:t>$9\alpha+3\beta+\frac\pi2=\frac{3\pi}4-\frac{5\pi}4+\frac\pi2=0$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823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be the set of all solutions of the equation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Then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2</m:t>
                        </m:r>
                      </m:e>
                    </m:nary>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e>
                    </m:d>
                  </m:oMath>
                </a14:m>
                <a:endParaRPr sz="2400">
                  <a:solidFill>
                    <a:srgbClr val="111827"/>
                  </a:solidFill>
                </a:endParaRPr>
              </a:p>
            </p:txBody>
          </p:sp>
        </mc:Choice>
        <mc:Fallback>
          <p:sp>
            <p:nvSpPr>
              <p:cNvPr id="4" name="Rounded Rectangle 3"/>
              <p:cNvSpPr/>
              <p:nvPr/>
            </p:nvSpPr>
            <p:spPr>
              <a:xfrm>
                <a:off x="731520" y="1280160"/>
                <a:ext cx="10725912" cy="28823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a:t>
                </a:r>
                <a:r>
                  <a:rPr sz="2400" b="0">
                    <a:solidFill>
                      <a:srgbClr val="111827"/>
                    </a:solidFill>
                    <a:latin typeface="Arial"/>
                  </a:rPr>
                  <a:t> be the set of all solutions of the equation </a:t>
                </a:r>
                <a:r>
                  <a:rPr lang="en-IN" sz="2400">
                    <a:solidFill>
                      <a:srgbClr val="111827"/>
                    </a:solidFill>
                    <a:latin typeface="Cambria Math" panose="02040503050406030204" pitchFamily="18" charset="0"/>
                  </a:rPr>
                  <a:t>$\cos^{-1}(2x)-2\cos^{-1}\left(\sqrt{1-x^2}\right)=\pi$</a:t>
                </a:r>
                <a:r>
                  <a:rPr sz="2400" b="0">
                    <a:solidFill>
                      <a:srgbClr val="111827"/>
                    </a:solidFill>
                    <a:latin typeface="Arial"/>
                  </a:rPr>
                  <a:t>, </a:t>
                </a:r>
                <a:r>
                  <a:rPr lang="en-IN" sz="2400">
                    <a:solidFill>
                      <a:srgbClr val="111827"/>
                    </a:solidFill>
                    <a:latin typeface="Cambria Math" panose="02040503050406030204" pitchFamily="18" charset="0"/>
                  </a:rPr>
                  <a:t>$x\in\left[-\frac12,\frac12\right]$</a:t>
                </a:r>
                <a:r>
                  <a:rPr sz="2400" b="0">
                    <a:solidFill>
                      <a:srgbClr val="111827"/>
                    </a:solidFill>
                    <a:latin typeface="Arial"/>
                  </a:rPr>
                  <a:t>. Then </a:t>
                </a:r>
                <a:r>
                  <a:rPr lang="en-IN" sz="2400">
                    <a:solidFill>
                      <a:srgbClr val="111827"/>
                    </a:solidFill>
                    <a:latin typeface="Cambria Math" panose="02040503050406030204" pitchFamily="18" charset="0"/>
                  </a:rPr>
                  <a:t>$\sum_{x\in S}2\sin^{-1}(x^2-1)$</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$0$</a:t>
                </a:r>
                <a:r>
                  <a:rPr sz="2400" b="0">
                    <a:solidFill>
                      <a:srgbClr val="111827"/>
                    </a:solidFill>
                    <a:latin typeface="Arial"/>
                  </a:rPr>
                  <a:t>   (B) </a:t>
                </a:r>
                <a:r>
                  <a:rPr lang="en-IN" sz="2400">
                    <a:solidFill>
                      <a:srgbClr val="111827"/>
                    </a:solidFill>
                    <a:latin typeface="Cambria Math" panose="02040503050406030204" pitchFamily="18" charset="0"/>
                  </a:rPr>
                  <a:t>$\pi-\sin^{-1}\left(\frac{\sqrt3}4\right)$</a:t>
                </a:r>
                <a:r>
                  <a:rPr sz="2400" b="0">
                    <a:solidFill>
                      <a:srgbClr val="111827"/>
                    </a:solidFill>
                    <a:latin typeface="Arial"/>
                  </a:rPr>
                  <a:t>   (C) </a:t>
                </a:r>
                <a:r>
                  <a:rPr lang="en-IN" sz="2400">
                    <a:solidFill>
                      <a:srgbClr val="111827"/>
                    </a:solidFill>
                    <a:latin typeface="Cambria Math" panose="02040503050406030204" pitchFamily="18" charset="0"/>
                  </a:rPr>
                  <a:t>$\frac{-2\pi}3$</a:t>
                </a:r>
                <a:r>
                  <a:rPr sz="2400" b="0">
                    <a:solidFill>
                      <a:srgbClr val="111827"/>
                    </a:solidFill>
                    <a:latin typeface="Arial"/>
                  </a:rPr>
                  <a:t>   (D) </a:t>
                </a:r>
                <a:r>
                  <a:rPr lang="en-IN" sz="2400">
                    <a:solidFill>
                      <a:srgbClr val="111827"/>
                    </a:solidFill>
                    <a:latin typeface="Cambria Math" panose="02040503050406030204" pitchFamily="18" charset="0"/>
                  </a:rPr>
                  <a:t>$\pi-2\sin^{-1}\left(\frac{\sqrt3}4\right)$</a:t>
                </a:r>
                <a:endParaRPr sz="2400">
                  <a:solidFill>
                    <a:srgbClr val="111827"/>
                  </a:solidFill>
                </a:endParaRPr>
              </a:p>
            </p:txBody>
          </p:sp>
        </mc:Fallback>
      </mc:AlternateContent>
      <p:sp>
        <p:nvSpPr>
          <p:cNvPr id="5" name="Rectangle 4"/>
          <p:cNvSpPr/>
          <p:nvPr/>
        </p:nvSpPr>
        <p:spPr>
          <a:xfrm>
            <a:off x="731520" y="439115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Solving equations with inverse trigonometric functions using range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left side </a:t>
                </a:r>
                <a14:m>
                  <m:oMath xmlns:m="http://schemas.openxmlformats.org/officeDocument/2006/math">
                    <m:sSup>
                      <m:e>
                        <m:r>
                          <m:rPr>
                            <m:sty m:val="p"/>
                          </m:rPr>
                          <a:rPr lang="en-IN" sz="2400">
                            <a:solidFill>
                              <a:srgbClr val="78350F"/>
                            </a:solidFill>
                            <a:latin typeface="Cambria Math" panose="02040503050406030204" pitchFamily="18" charset="0"/>
                          </a:rPr>
                          <m:t>cos</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can reach </a:t>
                </a:r>
                <a14:m>
                  <m:oMath xmlns:m="http://schemas.openxmlformats.org/officeDocument/2006/math">
                    <m:r>
                      <a:rPr lang="en-IN" sz="2400" i="1">
                        <a:solidFill>
                          <a:srgbClr val="78350F"/>
                        </a:solidFill>
                        <a:latin typeface="Cambria Math" panose="02040503050406030204" pitchFamily="18" charset="0"/>
                      </a:rPr>
                      <m:t>π</m:t>
                    </m:r>
                  </m:oMath>
                </a14:m>
                <a:r>
                  <a:rPr sz="2400" b="0">
                    <a:solidFill>
                      <a:srgbClr val="78350F"/>
                    </a:solidFill>
                    <a:latin typeface="Arial"/>
                  </a:rPr>
                  <a:t> only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where </a:t>
                </a:r>
                <a14:m>
                  <m:oMath xmlns:m="http://schemas.openxmlformats.org/officeDocument/2006/math">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cos</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e>
                    </m:ra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so the equation has no solution and </a:t>
                </a:r>
                <a14:m>
                  <m:oMath xmlns:m="http://schemas.openxmlformats.org/officeDocument/2006/math">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left side </a:t>
                </a:r>
                <a:r>
                  <a:rPr lang="en-IN" sz="2400">
                    <a:solidFill>
                      <a:srgbClr val="78350F"/>
                    </a:solidFill>
                    <a:latin typeface="Cambria Math" panose="02040503050406030204" pitchFamily="18" charset="0"/>
                  </a:rPr>
                  <a:t>$\cos^{-1}(2x)$</a:t>
                </a:r>
                <a:r>
                  <a:rPr sz="2400" b="0">
                    <a:solidFill>
                      <a:srgbClr val="78350F"/>
                    </a:solidFill>
                    <a:latin typeface="Arial"/>
                  </a:rPr>
                  <a:t> can reach </a:t>
                </a:r>
                <a:r>
                  <a:rPr lang="en-IN" sz="2400">
                    <a:solidFill>
                      <a:srgbClr val="78350F"/>
                    </a:solidFill>
                    <a:latin typeface="Cambria Math" panose="02040503050406030204" pitchFamily="18" charset="0"/>
                  </a:rPr>
                  <a:t>$\pi$</a:t>
                </a:r>
                <a:r>
                  <a:rPr sz="2400" b="0">
                    <a:solidFill>
                      <a:srgbClr val="78350F"/>
                    </a:solidFill>
                    <a:latin typeface="Arial"/>
                  </a:rPr>
                  <a:t> only at </a:t>
                </a:r>
                <a:r>
                  <a:rPr lang="en-IN" sz="2400">
                    <a:solidFill>
                      <a:srgbClr val="78350F"/>
                    </a:solidFill>
                    <a:latin typeface="Cambria Math" panose="02040503050406030204" pitchFamily="18" charset="0"/>
                  </a:rPr>
                  <a:t>$x=-\frac12$</a:t>
                </a:r>
                <a:r>
                  <a:rPr sz="2400" b="0">
                    <a:solidFill>
                      <a:srgbClr val="78350F"/>
                    </a:solidFill>
                    <a:latin typeface="Arial"/>
                  </a:rPr>
                  <a:t>, where </a:t>
                </a:r>
                <a:r>
                  <a:rPr lang="en-IN" sz="2400">
                    <a:solidFill>
                      <a:srgbClr val="78350F"/>
                    </a:solidFill>
                    <a:latin typeface="Cambria Math" panose="02040503050406030204" pitchFamily="18" charset="0"/>
                  </a:rPr>
                  <a:t>$2\cos^{-1}\sqrt{1-x^2}\ne0$</a:t>
                </a:r>
                <a:r>
                  <a:rPr sz="2400" b="0">
                    <a:solidFill>
                      <a:srgbClr val="78350F"/>
                    </a:solidFill>
                    <a:latin typeface="Arial"/>
                  </a:rPr>
                  <a:t>, so the equation has no solution and </a:t>
                </a:r>
                <a:r>
                  <a:rPr lang="en-IN" sz="2400">
                    <a:solidFill>
                      <a:srgbClr val="78350F"/>
                    </a:solidFill>
                    <a:latin typeface="Cambria Math" panose="02040503050406030204" pitchFamily="18" charset="0"/>
                  </a:rPr>
                  <a:t>$S=\emptyset$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Rewrite the equation as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left side lies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while the right side is at least </a:t>
                </a:r>
                <a14:m>
                  <m:oMath xmlns:m="http://schemas.openxmlformats.org/officeDocument/2006/math">
                    <m:r>
                      <a:rPr lang="en-IN" sz="2400" i="1">
                        <a:solidFill>
                          <a:srgbClr val="111827"/>
                        </a:solidFill>
                        <a:latin typeface="Cambria Math" panose="02040503050406030204" pitchFamily="18" charset="0"/>
                      </a:rPr>
                      <m:t>π</m:t>
                    </m:r>
                  </m:oMath>
                </a14:m>
                <a:r>
                  <a:rPr sz="2400" b="0">
                    <a:solidFill>
                      <a:srgbClr val="111827"/>
                    </a:solidFill>
                    <a:latin typeface="Arial"/>
                  </a:rPr>
                  <a:t> (because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equation is meaningful only if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together.</a:t>
                </a:r>
                <a:endParaRPr sz="2400">
                  <a:solidFill>
                    <a:srgbClr val="111827"/>
                  </a:solidFill>
                </a:endParaRPr>
              </a:p>
            </p:txBody>
          </p:sp>
        </mc:Choice>
        <mc:Fallback>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Rewrite the equation as </a:t>
                </a:r>
                <a:r>
                  <a:rPr lang="en-IN" sz="2400">
                    <a:solidFill>
                      <a:srgbClr val="111827"/>
                    </a:solidFill>
                    <a:latin typeface="Cambria Math" panose="02040503050406030204" pitchFamily="18" charset="0"/>
                  </a:rPr>
                  <a:t>$\cos^{-1}(2x)=\pi+2\cos^{-1}\left(\sqrt{1-x^2}\right)$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left side lies in </a:t>
                </a:r>
                <a:r>
                  <a:rPr lang="en-IN" sz="2400">
                    <a:solidFill>
                      <a:srgbClr val="111827"/>
                    </a:solidFill>
                    <a:latin typeface="Cambria Math" panose="02040503050406030204" pitchFamily="18" charset="0"/>
                  </a:rPr>
                  <a:t>$[0,\pi]$</a:t>
                </a:r>
                <a:r>
                  <a:rPr sz="2400" b="0">
                    <a:solidFill>
                      <a:srgbClr val="111827"/>
                    </a:solidFill>
                    <a:latin typeface="Arial"/>
                  </a:rPr>
                  <a:t>, while the right side is at least </a:t>
                </a:r>
                <a:r>
                  <a:rPr lang="en-IN" sz="2400">
                    <a:solidFill>
                      <a:srgbClr val="111827"/>
                    </a:solidFill>
                    <a:latin typeface="Cambria Math" panose="02040503050406030204" pitchFamily="18" charset="0"/>
                  </a:rPr>
                  <a:t>$\pi$</a:t>
                </a:r>
                <a:r>
                  <a:rPr sz="2400" b="0">
                    <a:solidFill>
                      <a:srgbClr val="111827"/>
                    </a:solidFill>
                    <a:latin typeface="Arial"/>
                  </a:rPr>
                  <a:t> (because </a:t>
                </a:r>
                <a:r>
                  <a:rPr lang="en-IN" sz="2400">
                    <a:solidFill>
                      <a:srgbClr val="111827"/>
                    </a:solidFill>
                    <a:latin typeface="Cambria Math" panose="02040503050406030204" pitchFamily="18" charset="0"/>
                  </a:rPr>
                  <a:t>$\cos^{-1}\ge0$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equation is meaningful only if </a:t>
                </a:r>
                <a:r>
                  <a:rPr lang="en-IN" sz="2400">
                    <a:solidFill>
                      <a:srgbClr val="111827"/>
                    </a:solidFill>
                    <a:latin typeface="Cambria Math" panose="02040503050406030204" pitchFamily="18" charset="0"/>
                  </a:rPr>
                  <a:t>$\cos^{-1}(2x)=\pi$</a:t>
                </a:r>
                <a:r>
                  <a:rPr sz="2400" b="0">
                    <a:solidFill>
                      <a:srgbClr val="111827"/>
                    </a:solidFill>
                    <a:latin typeface="Arial"/>
                  </a:rPr>
                  <a:t> and </a:t>
                </a:r>
                <a:r>
                  <a:rPr lang="en-IN" sz="2400">
                    <a:solidFill>
                      <a:srgbClr val="111827"/>
                    </a:solidFill>
                    <a:latin typeface="Cambria Math" panose="02040503050406030204" pitchFamily="18" charset="0"/>
                  </a:rPr>
                  <a:t>$\cos^{-1}\left(\sqrt{1-x^2}\right)=0$</a:t>
                </a:r>
                <a:r>
                  <a:rPr sz="2400" b="0">
                    <a:solidFill>
                      <a:srgbClr val="111827"/>
                    </a:solidFill>
                    <a:latin typeface="Arial"/>
                  </a:rPr>
                  <a:t> together.</a:t>
                </a:r>
                <a:endParaRPr sz="2400">
                  <a:solidFill>
                    <a:srgbClr val="111827"/>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while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cannot hold at once, so no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satisfies the equation: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over the empty set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sub>
                      <m:sup>
                        <m:r>
                          <a:rPr lang="en-IN" sz="2400" i="1">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2</m:t>
                        </m:r>
                      </m:e>
                    </m:nary>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answer is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$\cos^{-1}(2x)=\pi$</a:t>
                </a:r>
                <a:r>
                  <a:rPr sz="2400" b="0">
                    <a:solidFill>
                      <a:srgbClr val="111827"/>
                    </a:solidFill>
                    <a:latin typeface="Arial"/>
                  </a:rPr>
                  <a:t> gives </a:t>
                </a:r>
                <a:r>
                  <a:rPr lang="en-IN" sz="2400">
                    <a:solidFill>
                      <a:srgbClr val="111827"/>
                    </a:solidFill>
                    <a:latin typeface="Cambria Math" panose="02040503050406030204" pitchFamily="18" charset="0"/>
                  </a:rPr>
                  <a:t>$x=-\frac12$</a:t>
                </a:r>
                <a:r>
                  <a:rPr sz="2400" b="0">
                    <a:solidFill>
                      <a:srgbClr val="111827"/>
                    </a:solidFill>
                    <a:latin typeface="Arial"/>
                  </a:rPr>
                  <a:t>, while </a:t>
                </a:r>
                <a:r>
                  <a:rPr lang="en-IN" sz="2400">
                    <a:solidFill>
                      <a:srgbClr val="111827"/>
                    </a:solidFill>
                    <a:latin typeface="Cambria Math" panose="02040503050406030204" pitchFamily="18" charset="0"/>
                  </a:rPr>
                  <a:t>$\cos^{-1}\sqrt{1-x^2}=0$</a:t>
                </a:r>
                <a:r>
                  <a:rPr sz="2400" b="0">
                    <a:solidFill>
                      <a:srgbClr val="111827"/>
                    </a:solidFill>
                    <a:latin typeface="Arial"/>
                  </a:rPr>
                  <a:t> gives </a:t>
                </a:r>
                <a:r>
                  <a:rPr lang="en-IN" sz="2400">
                    <a:solidFill>
                      <a:srgbClr val="111827"/>
                    </a:solidFill>
                    <a:latin typeface="Cambria Math" panose="02040503050406030204" pitchFamily="18" charset="0"/>
                  </a:rPr>
                  <a:t>$x=0$</a:t>
                </a:r>
                <a:r>
                  <a:rPr sz="2400" b="0">
                    <a:solidFill>
                      <a:srgbClr val="111827"/>
                    </a:solidFill>
                    <a:latin typeface="Arial"/>
                  </a:rPr>
                  <a:t> (as </a:t>
                </a:r>
                <a:r>
                  <a:rPr lang="en-IN" sz="2400">
                    <a:solidFill>
                      <a:srgbClr val="111827"/>
                    </a:solidFill>
                    <a:latin typeface="Cambria Math" panose="02040503050406030204" pitchFamily="18" charset="0"/>
                  </a:rPr>
                  <a:t>$\sqrt{1-x^2}=1$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cannot hold at once, so no </a:t>
                </a:r>
                <a:r>
                  <a:rPr lang="en-IN" sz="2400">
                    <a:solidFill>
                      <a:srgbClr val="111827"/>
                    </a:solidFill>
                    <a:latin typeface="Cambria Math" panose="02040503050406030204" pitchFamily="18" charset="0"/>
                  </a:rPr>
                  <a:t>$x$</a:t>
                </a:r>
                <a:r>
                  <a:rPr sz="2400" b="0">
                    <a:solidFill>
                      <a:srgbClr val="111827"/>
                    </a:solidFill>
                    <a:latin typeface="Arial"/>
                  </a:rPr>
                  <a:t> satisfies the equation: </a:t>
                </a:r>
                <a:r>
                  <a:rPr lang="en-IN" sz="2400">
                    <a:solidFill>
                      <a:srgbClr val="111827"/>
                    </a:solidFill>
                    <a:latin typeface="Cambria Math" panose="02040503050406030204" pitchFamily="18" charset="0"/>
                  </a:rPr>
                  <a:t>$S=\emptyset$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over the empty set is </a:t>
                </a:r>
                <a:r>
                  <a:rPr lang="en-IN" sz="2400">
                    <a:solidFill>
                      <a:srgbClr val="111827"/>
                    </a:solidFill>
                    <a:latin typeface="Cambria Math" panose="02040503050406030204" pitchFamily="18" charset="0"/>
                  </a:rPr>
                  <a:t>$0$</a:t>
                </a:r>
                <a:r>
                  <a:rPr sz="2400" b="0">
                    <a:solidFill>
                      <a:srgbClr val="111827"/>
                    </a:solidFill>
                    <a:latin typeface="Arial"/>
                  </a:rPr>
                  <a:t>, so </a:t>
                </a:r>
                <a:r>
                  <a:rPr lang="en-IN" sz="2400">
                    <a:solidFill>
                      <a:srgbClr val="111827"/>
                    </a:solidFill>
                    <a:latin typeface="Cambria Math" panose="02040503050406030204" pitchFamily="18" charset="0"/>
                  </a:rPr>
                  <a:t>$\sum_{x\in S}2\sin^{-1}(x^2-1)=0$</a:t>
                </a:r>
                <a:r>
                  <a:rPr sz="2400" b="0">
                    <a:solidFill>
                      <a:srgbClr val="111827"/>
                    </a:solidFill>
                    <a:latin typeface="Arial"/>
                  </a:rPr>
                  <a:t>. The answer is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0</a:t>
            </a:r>
            <a:endParaRPr sz="2800">
              <a:solidFill>
                <a:srgbClr val="15803D"/>
              </a:solidFill>
            </a:endParaR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we have </a:t>
                </a:r>
                <a14:m>
                  <m:oMath xmlns:m="http://schemas.openxmlformats.org/officeDocument/2006/math">
                    <m:sSup>
                      <m:e>
                        <m:r>
                          <m:rPr>
                            <m:sty m:val="p"/>
                          </m:rPr>
                          <a:rPr lang="en-IN" sz="2400">
                            <a:solidFill>
                              <a:srgbClr val="78350F"/>
                            </a:solidFill>
                            <a:latin typeface="Cambria Math" panose="02040503050406030204" pitchFamily="18" charset="0"/>
                          </a:rPr>
                          <m:t>cos</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e>
                    </m:rad>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sin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left side is a clean bounded function whose maximum is below </a:t>
                </a:r>
                <a14:m>
                  <m:oMath xmlns:m="http://schemas.openxmlformats.org/officeDocument/2006/math">
                    <m:r>
                      <a:rPr lang="en-IN" sz="2400" i="1">
                        <a:solidFill>
                          <a:srgbClr val="78350F"/>
                        </a:solidFill>
                        <a:latin typeface="Cambria Math" panose="02040503050406030204" pitchFamily="18" charset="0"/>
                      </a:rPr>
                      <m:t>π</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a:t>
                </a:r>
                <a:r>
                  <a:rPr lang="en-IN" sz="2400">
                    <a:solidFill>
                      <a:srgbClr val="78350F"/>
                    </a:solidFill>
                    <a:latin typeface="Cambria Math" panose="02040503050406030204" pitchFamily="18" charset="0"/>
                  </a:rPr>
                  <a:t>$|x|\le\frac12$</a:t>
                </a:r>
                <a:r>
                  <a:rPr sz="2400" b="0">
                    <a:solidFill>
                      <a:srgbClr val="78350F"/>
                    </a:solidFill>
                    <a:latin typeface="Arial"/>
                  </a:rPr>
                  <a:t> we have </a:t>
                </a:r>
                <a:r>
                  <a:rPr lang="en-IN" sz="2400">
                    <a:solidFill>
                      <a:srgbClr val="78350F"/>
                    </a:solidFill>
                    <a:latin typeface="Cambria Math" panose="02040503050406030204" pitchFamily="18" charset="0"/>
                  </a:rPr>
                  <a:t>$\cos^{-1}\sqrt{1-x^2}=\sin^{-1}|x|$</a:t>
                </a:r>
                <a:r>
                  <a:rPr sz="2400" b="0">
                    <a:solidFill>
                      <a:srgbClr val="78350F"/>
                    </a:solidFill>
                    <a:latin typeface="Arial"/>
                  </a:rPr>
                  <a:t>, so the left side is a clean bounded function whose maximum is below </a:t>
                </a:r>
                <a:r>
                  <a:rPr lang="en-IN" sz="2400">
                    <a:solidFill>
                      <a:srgbClr val="78350F"/>
                    </a:solidFill>
                    <a:latin typeface="Cambria Math" panose="02040503050406030204" pitchFamily="18" charset="0"/>
                  </a:rPr>
                  <a:t>$\pi$</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would need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but then </a:t>
                </a:r>
                <a14:m>
                  <m:oMath xmlns:m="http://schemas.openxmlformats.org/officeDocument/2006/math">
                    <m:r>
                      <a:rPr lang="en-IN" sz="2400" i="1">
                        <a:solidFill>
                          <a:srgbClr val="111827"/>
                        </a:solidFill>
                        <a:latin typeface="Cambria Math" panose="02040503050406030204" pitchFamily="18" charset="0"/>
                      </a:rPr>
                      <m:t>𝑔</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$x\in[-\frac12,\frac12]$</a:t>
                </a:r>
                <a:r>
                  <a:rPr sz="2400" b="0">
                    <a:solidFill>
                      <a:srgbClr val="111827"/>
                    </a:solidFill>
                    <a:latin typeface="Arial"/>
                  </a:rPr>
                  <a:t>, </a:t>
                </a:r>
                <a:r>
                  <a:rPr lang="en-IN" sz="2400">
                    <a:solidFill>
                      <a:srgbClr val="111827"/>
                    </a:solidFill>
                    <a:latin typeface="Cambria Math" panose="02040503050406030204" pitchFamily="18" charset="0"/>
                  </a:rPr>
                  <a:t>$\sqrt{1-x^2}\ge\frac{\sqrt3}2$</a:t>
                </a:r>
                <a:r>
                  <a:rPr sz="2400" b="0">
                    <a:solidFill>
                      <a:srgbClr val="111827"/>
                    </a:solidFill>
                    <a:latin typeface="Arial"/>
                  </a:rPr>
                  <a:t> and </a:t>
                </a:r>
                <a:r>
                  <a:rPr lang="en-IN" sz="2400">
                    <a:solidFill>
                      <a:srgbClr val="111827"/>
                    </a:solidFill>
                    <a:latin typeface="Cambria Math" panose="02040503050406030204" pitchFamily="18" charset="0"/>
                  </a:rPr>
                  <a:t>$\cos^{-1}\sqrt{1-x^2}=\sin^{-1}|x|\in[0,\frac\pi6]$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$g(x)=\cos^{-1}(2x)-2\sin^{-1}|x|$</a:t>
                </a:r>
                <a:r>
                  <a:rPr sz="2400" b="0">
                    <a:solidFill>
                      <a:srgbClr val="111827"/>
                    </a:solidFill>
                    <a:latin typeface="Arial"/>
                  </a:rPr>
                  <a:t>. Since </a:t>
                </a:r>
                <a:r>
                  <a:rPr lang="en-IN" sz="2400">
                    <a:solidFill>
                      <a:srgbClr val="111827"/>
                    </a:solidFill>
                    <a:latin typeface="Cambria Math" panose="02040503050406030204" pitchFamily="18" charset="0"/>
                  </a:rPr>
                  <a:t>$2\sin^{-1}|x|\ge0$</a:t>
                </a:r>
                <a:r>
                  <a:rPr sz="2400" b="0">
                    <a:solidFill>
                      <a:srgbClr val="111827"/>
                    </a:solidFill>
                    <a:latin typeface="Arial"/>
                  </a:rPr>
                  <a:t>, </a:t>
                </a:r>
                <a:r>
                  <a:rPr lang="en-IN" sz="2400">
                    <a:solidFill>
                      <a:srgbClr val="111827"/>
                    </a:solidFill>
                    <a:latin typeface="Cambria Math" panose="02040503050406030204" pitchFamily="18" charset="0"/>
                  </a:rPr>
                  <a:t>$g(x)\le\cos^{-1}(2x)\le\pi$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a:t>
                </a:r>
                <a:r>
                  <a:rPr lang="en-IN" sz="2400">
                    <a:solidFill>
                      <a:srgbClr val="111827"/>
                    </a:solidFill>
                    <a:latin typeface="Cambria Math" panose="02040503050406030204" pitchFamily="18" charset="0"/>
                  </a:rPr>
                  <a:t>$g(x)=\pi$</a:t>
                </a:r>
                <a:r>
                  <a:rPr sz="2400" b="0">
                    <a:solidFill>
                      <a:srgbClr val="111827"/>
                    </a:solidFill>
                    <a:latin typeface="Arial"/>
                  </a:rPr>
                  <a:t> would need </a:t>
                </a:r>
                <a:r>
                  <a:rPr lang="en-IN" sz="2400">
                    <a:solidFill>
                      <a:srgbClr val="111827"/>
                    </a:solidFill>
                    <a:latin typeface="Cambria Math" panose="02040503050406030204" pitchFamily="18" charset="0"/>
                  </a:rPr>
                  <a:t>$\cos^{-1}(2x)=\pi$</a:t>
                </a:r>
                <a:r>
                  <a:rPr sz="2400" b="0">
                    <a:solidFill>
                      <a:srgbClr val="111827"/>
                    </a:solidFill>
                    <a:latin typeface="Arial"/>
                  </a:rPr>
                  <a:t>, i.e. </a:t>
                </a:r>
                <a:r>
                  <a:rPr lang="en-IN" sz="2400">
                    <a:solidFill>
                      <a:srgbClr val="111827"/>
                    </a:solidFill>
                    <a:latin typeface="Cambria Math" panose="02040503050406030204" pitchFamily="18" charset="0"/>
                  </a:rPr>
                  <a:t>$x=-\frac12$</a:t>
                </a:r>
                <a:r>
                  <a:rPr sz="2400" b="0">
                    <a:solidFill>
                      <a:srgbClr val="111827"/>
                    </a:solidFill>
                    <a:latin typeface="Arial"/>
                  </a:rPr>
                  <a:t>, but then </a:t>
                </a:r>
                <a:r>
                  <a:rPr lang="en-IN" sz="2400">
                    <a:solidFill>
                      <a:srgbClr val="111827"/>
                    </a:solidFill>
                    <a:latin typeface="Cambria Math" panose="02040503050406030204" pitchFamily="18" charset="0"/>
                  </a:rPr>
                  <a:t>$g\left(-\frac12\right)=\pi-2\cdot\frac\pi6=\frac{2\pi}3&lt;\pi$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every other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π</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π</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has no solution and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over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the empty sum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every other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$\cos^{-1}(2x)&lt;\pi$</a:t>
                </a:r>
                <a:r>
                  <a:rPr sz="2400" b="0">
                    <a:solidFill>
                      <a:srgbClr val="111827"/>
                    </a:solidFill>
                    <a:latin typeface="Arial"/>
                  </a:rPr>
                  <a:t>, so </a:t>
                </a:r>
                <a:r>
                  <a:rPr lang="en-IN" sz="2400">
                    <a:solidFill>
                      <a:srgbClr val="111827"/>
                    </a:solidFill>
                    <a:latin typeface="Cambria Math" panose="02040503050406030204" pitchFamily="18" charset="0"/>
                  </a:rPr>
                  <a:t>$g(x)&lt;\pi$</a:t>
                </a:r>
                <a:r>
                  <a:rPr sz="2400" b="0">
                    <a:solidFill>
                      <a:srgbClr val="111827"/>
                    </a:solidFill>
                    <a:latin typeface="Arial"/>
                  </a:rPr>
                  <a:t>. Hence </a:t>
                </a:r>
                <a:r>
                  <a:rPr lang="en-IN" sz="2400">
                    <a:solidFill>
                      <a:srgbClr val="111827"/>
                    </a:solidFill>
                    <a:latin typeface="Cambria Math" panose="02040503050406030204" pitchFamily="18" charset="0"/>
                  </a:rPr>
                  <a:t>$g(x)=\pi$</a:t>
                </a:r>
                <a:r>
                  <a:rPr sz="2400" b="0">
                    <a:solidFill>
                      <a:srgbClr val="111827"/>
                    </a:solidFill>
                    <a:latin typeface="Arial"/>
                  </a:rPr>
                  <a:t> has no solution and </a:t>
                </a:r>
                <a:r>
                  <a:rPr lang="en-IN" sz="2400">
                    <a:solidFill>
                      <a:srgbClr val="111827"/>
                    </a:solidFill>
                    <a:latin typeface="Cambria Math" panose="02040503050406030204" pitchFamily="18" charset="0"/>
                  </a:rPr>
                  <a:t>$S=\emptyset$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sum over </a:t>
                </a:r>
                <a:r>
                  <a:rPr lang="en-IN" sz="2400">
                    <a:solidFill>
                      <a:srgbClr val="111827"/>
                    </a:solidFill>
                    <a:latin typeface="Cambria Math" panose="02040503050406030204" pitchFamily="18" charset="0"/>
                  </a:rPr>
                  <a:t>$S$</a:t>
                </a:r>
                <a:r>
                  <a:rPr sz="2400" b="0">
                    <a:solidFill>
                      <a:srgbClr val="111827"/>
                    </a:solidFill>
                    <a:latin typeface="Arial"/>
                  </a:rPr>
                  <a:t> is the empty sum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0</a:t>
            </a:r>
            <a:endParaRPr sz="2800">
              <a:solidFill>
                <a:srgbClr val="15803D"/>
              </a:solidFill>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solve an equation mixing inverse functions, first bound each side by the ranges: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versus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equality forces both extreme values together.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over an empty set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an empty product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 a standard trap in 'set of solutions' questions.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verify a published key against the working: here the working and the correct answer agree on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solve an equation mixing inverse functions, first bound each side by the ranges: here </a:t>
                </a:r>
                <a:r>
                  <a:rPr lang="en-IN" sz="2400">
                    <a:solidFill>
                      <a:srgbClr val="111827"/>
                    </a:solidFill>
                    <a:latin typeface="Cambria Math" panose="02040503050406030204" pitchFamily="18" charset="0"/>
                  </a:rPr>
                  <a:t>$[0,\pi]$</a:t>
                </a:r>
                <a:r>
                  <a:rPr sz="2400" b="0">
                    <a:solidFill>
                      <a:srgbClr val="111827"/>
                    </a:solidFill>
                    <a:latin typeface="Arial"/>
                  </a:rPr>
                  <a:t> versus </a:t>
                </a:r>
                <a:r>
                  <a:rPr lang="en-IN" sz="2400">
                    <a:solidFill>
                      <a:srgbClr val="111827"/>
                    </a:solidFill>
                    <a:latin typeface="Cambria Math" panose="02040503050406030204" pitchFamily="18" charset="0"/>
                  </a:rPr>
                  <a:t>$[\pi,\infty)$</a:t>
                </a:r>
                <a:r>
                  <a:rPr sz="2400" b="0">
                    <a:solidFill>
                      <a:srgbClr val="111827"/>
                    </a:solidFill>
                    <a:latin typeface="Arial"/>
                  </a:rPr>
                  <a:t>, so equality forces both extreme values together.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$\cos^{-1}\sqrt{1-x^2}=\sin^{-1}|x|$</a:t>
                </a:r>
                <a:r>
                  <a:rPr sz="2400" b="0">
                    <a:solidFill>
                      <a:srgbClr val="111827"/>
                    </a:solidFill>
                    <a:latin typeface="Arial"/>
                  </a:rPr>
                  <a:t> for </a:t>
                </a:r>
                <a:r>
                  <a:rPr lang="en-IN" sz="2400">
                    <a:solidFill>
                      <a:srgbClr val="111827"/>
                    </a:solidFill>
                    <a:latin typeface="Cambria Math" panose="02040503050406030204" pitchFamily="18" charset="0"/>
                  </a:rPr>
                  <a:t>$|x|\le1$</a:t>
                </a:r>
                <a:r>
                  <a:rPr sz="2400" b="0">
                    <a:solidFill>
                      <a:srgbClr val="111827"/>
                    </a:solidFill>
                    <a:latin typeface="Arial"/>
                  </a:rPr>
                  <a:t>; </a:t>
                </a:r>
                <a:r>
                  <a:rPr lang="en-IN" sz="2400">
                    <a:solidFill>
                      <a:srgbClr val="111827"/>
                    </a:solidFill>
                    <a:latin typeface="Cambria Math" panose="02040503050406030204" pitchFamily="18" charset="0"/>
                  </a:rPr>
                  <a:t>$\cos^{-1}(-x)=\pi-\cos^{-1}x$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over an empty set is </a:t>
                </a:r>
                <a:r>
                  <a:rPr lang="en-IN" sz="2400">
                    <a:solidFill>
                      <a:srgbClr val="111827"/>
                    </a:solidFill>
                    <a:latin typeface="Cambria Math" panose="02040503050406030204" pitchFamily="18" charset="0"/>
                  </a:rPr>
                  <a:t>$0$</a:t>
                </a:r>
                <a:r>
                  <a:rPr sz="2400" b="0">
                    <a:solidFill>
                      <a:srgbClr val="111827"/>
                    </a:solidFill>
                    <a:latin typeface="Arial"/>
                  </a:rPr>
                  <a:t> (and an empty product is </a:t>
                </a:r>
                <a:r>
                  <a:rPr lang="en-IN" sz="2400">
                    <a:solidFill>
                      <a:srgbClr val="111827"/>
                    </a:solidFill>
                    <a:latin typeface="Cambria Math" panose="02040503050406030204" pitchFamily="18" charset="0"/>
                  </a:rPr>
                  <a:t>$1$</a:t>
                </a:r>
                <a:r>
                  <a:rPr sz="2400" b="0">
                    <a:solidFill>
                      <a:srgbClr val="111827"/>
                    </a:solidFill>
                    <a:latin typeface="Arial"/>
                  </a:rPr>
                  <a:t>) - a standard trap in 'set of solutions' questions.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verify a published key against the working: here the working and the correct answer agree on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Integer Type(0 to 9)</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Q06 – Q09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JEE Advanced default assumed: +4 per question</a:t>
            </a:r>
            <a:endParaRPr sz="2800">
              <a:solidFill>
                <a:srgbClr val="FFFFFF"/>
              </a:solidFil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$y=\cos\left(\frac\pi3+\cos^{-1}\frac x2\right)$</a:t>
                </a:r>
                <a:r>
                  <a:rPr sz="2400" b="0">
                    <a:solidFill>
                      <a:srgbClr val="111827"/>
                    </a:solidFill>
                    <a:latin typeface="Arial"/>
                  </a:rPr>
                  <a:t>, then </a:t>
                </a:r>
                <a:r>
                  <a:rPr lang="en-IN" sz="2400">
                    <a:solidFill>
                      <a:srgbClr val="111827"/>
                    </a:solidFill>
                    <a:latin typeface="Cambria Math" panose="02040503050406030204" pitchFamily="18" charset="0"/>
                  </a:rPr>
                  <a:t>$(x-y)^2+3y^2$</a:t>
                </a:r>
                <a:r>
                  <a:rPr sz="2400" b="0">
                    <a:solidFill>
                      <a:srgbClr val="111827"/>
                    </a:solidFill>
                    <a:latin typeface="Arial"/>
                  </a:rPr>
                  <a:t> is equal to __________.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Compound angle formula with inverse cosine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Expand with </a:t>
                </a:r>
                <a14:m>
                  <m:oMath xmlns:m="http://schemas.openxmlformats.org/officeDocument/2006/math">
                    <m:r>
                      <m:rPr>
                        <m:sty m:val="p"/>
                      </m:rPr>
                      <a:rPr lang="en-IN" sz="2400">
                        <a:solidFill>
                          <a:srgbClr val="78350F"/>
                        </a:solidFill>
                        <a:latin typeface="Cambria Math" panose="02040503050406030204" pitchFamily="18" charset="0"/>
                      </a:rPr>
                      <m:t>cos</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use </a:t>
                </a:r>
                <a14:m>
                  <m:oMath xmlns:m="http://schemas.openxmlformats.org/officeDocument/2006/math">
                    <m:r>
                      <m:rPr>
                        <m:sty m:val="p"/>
                      </m:rPr>
                      <a:rPr lang="en-IN" sz="2400">
                        <a:solidFill>
                          <a:srgbClr val="78350F"/>
                        </a:solidFill>
                        <a:latin typeface="Cambria Math" panose="02040503050406030204" pitchFamily="18" charset="0"/>
                      </a:rPr>
                      <m:t>sin</m:t>
                    </m:r>
                    <m:d>
                      <m:dPr>
                        <m:begChr m:val="("/>
                        <m:sepChr m:val=""/>
                        <m:endChr m:val=")"/>
                        <m:grow/>
                        <m:ctrlPr>
                          <a:rPr lang="en-IN" sz="2400" i="1">
                            <a:solidFill>
                              <a:srgbClr val="78350F"/>
                            </a:solidFill>
                            <a:latin typeface="Cambria Math" panose="02040503050406030204" pitchFamily="18" charset="0"/>
                          </a:rPr>
                        </m:ctrlPr>
                      </m:dPr>
                      <m:e>
                        <m:sSup>
                          <m:e>
                            <m:r>
                              <m:rPr>
                                <m:sty m:val="p"/>
                              </m:rPr>
                              <a:rPr lang="en-IN" sz="2400">
                                <a:solidFill>
                                  <a:srgbClr val="78350F"/>
                                </a:solidFill>
                                <a:latin typeface="Cambria Math" panose="02040503050406030204" pitchFamily="18" charset="0"/>
                              </a:rPr>
                              <m:t>cos</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2</m:t>
                            </m:r>
                          </m:den>
                        </m:f>
                      </m:e>
                    </m:d>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4</m:t>
                            </m:r>
                          </m:den>
                        </m:f>
                      </m:e>
                    </m:rad>
                  </m:oMath>
                </a14:m>
                <a:r>
                  <a:rPr sz="2400" b="0">
                    <a:solidFill>
                      <a:srgbClr val="78350F"/>
                    </a:solidFill>
                    <a:latin typeface="Arial"/>
                  </a:rPr>
                  <a:t> to get a relation between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free of the inverse function.</a:t>
                </a:r>
                <a:endParaRPr sz="2400">
                  <a:solidFill>
                    <a:srgbClr val="78350F"/>
                  </a:solidFill>
                </a:endParaRPr>
              </a:p>
            </p:txBody>
          </p:sp>
        </mc:Choice>
        <mc:Fallback>
          <p:sp>
            <p:nvSpPr>
              <p:cNvPr id="4" name="Rounded Rectangle 3"/>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Expand with </a:t>
                </a:r>
                <a:r>
                  <a:rPr lang="en-IN" sz="2400">
                    <a:solidFill>
                      <a:srgbClr val="78350F"/>
                    </a:solidFill>
                    <a:latin typeface="Cambria Math" panose="02040503050406030204" pitchFamily="18" charset="0"/>
                  </a:rPr>
                  <a:t>$\cos(A+B)$</a:t>
                </a:r>
                <a:r>
                  <a:rPr sz="2400" b="0">
                    <a:solidFill>
                      <a:srgbClr val="78350F"/>
                    </a:solidFill>
                    <a:latin typeface="Arial"/>
                  </a:rPr>
                  <a:t> and use </a:t>
                </a:r>
                <a:r>
                  <a:rPr lang="en-IN" sz="2400">
                    <a:solidFill>
                      <a:srgbClr val="78350F"/>
                    </a:solidFill>
                    <a:latin typeface="Cambria Math" panose="02040503050406030204" pitchFamily="18" charset="0"/>
                  </a:rPr>
                  <a:t>$\sin\left(\cos^{-1}\frac x2\right)=\sqrt{1-\frac{x^2}4}$</a:t>
                </a:r>
                <a:r>
                  <a:rPr sz="2400" b="0">
                    <a:solidFill>
                      <a:srgbClr val="78350F"/>
                    </a:solidFill>
                    <a:latin typeface="Arial"/>
                  </a:rPr>
                  <a:t> to get a relation between </a:t>
                </a:r>
                <a:r>
                  <a:rPr lang="en-IN" sz="2400">
                    <a:solidFill>
                      <a:srgbClr val="78350F"/>
                    </a:solidFill>
                    <a:latin typeface="Cambria Math" panose="02040503050406030204" pitchFamily="18" charset="0"/>
                  </a:rPr>
                  <a:t>$x$</a:t>
                </a:r>
                <a:r>
                  <a:rPr sz="2400" b="0">
                    <a:solidFill>
                      <a:srgbClr val="78350F"/>
                    </a:solidFill>
                    <a:latin typeface="Arial"/>
                  </a:rPr>
                  <a:t> and </a:t>
                </a:r>
                <a:r>
                  <a:rPr lang="en-IN" sz="2400">
                    <a:solidFill>
                      <a:srgbClr val="78350F"/>
                    </a:solidFill>
                    <a:latin typeface="Cambria Math" panose="02040503050406030204" pitchFamily="18" charset="0"/>
                  </a:rPr>
                  <a:t>$y$</a:t>
                </a:r>
                <a:r>
                  <a:rPr sz="2400" b="0">
                    <a:solidFill>
                      <a:srgbClr val="78350F"/>
                    </a:solidFill>
                    <a:latin typeface="Arial"/>
                  </a:rPr>
                  <a:t> free of the inverse function.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cos</m:t>
                    </m:r>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Isolate the root: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and square: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$y=\cos\frac\pi3\cos\left(\cos^{-1}\frac x2\right)-\sin\frac\pi3\sin\left(\cos^{-1}\frac x2\right)$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$y=\frac12\cdot\frac x2-\frac{\sqrt3}2\sqrt{1-\frac{x^2}4}$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$4y=x-\sqrt3\sqrt{4-x^2}$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Isolate the root: </a:t>
                </a:r>
                <a:r>
                  <a:rPr lang="en-IN" sz="2400">
                    <a:solidFill>
                      <a:srgbClr val="111827"/>
                    </a:solidFill>
                    <a:latin typeface="Cambria Math" panose="02040503050406030204" pitchFamily="18" charset="0"/>
                  </a:rPr>
                  <a:t>$4y-x=-\sqrt3\sqrt{4-x^2}$</a:t>
                </a:r>
                <a:r>
                  <a:rPr sz="2400" b="0">
                    <a:solidFill>
                      <a:srgbClr val="111827"/>
                    </a:solidFill>
                    <a:latin typeface="Arial"/>
                  </a:rPr>
                  <a:t>, and square: </a:t>
                </a:r>
                <a:r>
                  <a:rPr lang="en-IN" sz="2400">
                    <a:solidFill>
                      <a:srgbClr val="111827"/>
                    </a:solidFill>
                    <a:latin typeface="Cambria Math" panose="02040503050406030204" pitchFamily="18" charset="0"/>
                  </a:rPr>
                  <a:t>$(4y-x)^2=3(4-x^2)$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a:rPr lang="en-IN" sz="2400" i="1">
                        <a:solidFill>
                          <a:srgbClr val="111827"/>
                        </a:solidFill>
                        <a:latin typeface="Cambria Math" panose="02040503050406030204" pitchFamily="18" charset="0"/>
                      </a:rPr>
                      <m:t>16</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Collect terms: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 the value is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$16y^2+x^2-8xy=12-3x^2$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Collect terms: </a:t>
                </a:r>
                <a:r>
                  <a:rPr lang="en-IN" sz="2400">
                    <a:solidFill>
                      <a:srgbClr val="111827"/>
                    </a:solidFill>
                    <a:latin typeface="Cambria Math" panose="02040503050406030204" pitchFamily="18" charset="0"/>
                  </a:rPr>
                  <a:t>$4x^2+16y^2-8xy=12$</a:t>
                </a:r>
                <a:r>
                  <a:rPr sz="2400" b="0">
                    <a:solidFill>
                      <a:srgbClr val="111827"/>
                    </a:solidFill>
                    <a:latin typeface="Arial"/>
                  </a:rPr>
                  <a:t>, i.e. </a:t>
                </a:r>
                <a:r>
                  <a:rPr lang="en-IN" sz="2400">
                    <a:solidFill>
                      <a:srgbClr val="111827"/>
                    </a:solidFill>
                    <a:latin typeface="Cambria Math" panose="02040503050406030204" pitchFamily="18" charset="0"/>
                  </a:rPr>
                  <a:t>$x^2+4y^2-2xy=3$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$(x-y)^2+3y^2=x^2-2xy+y^2+3y^2=x^2+4y^2-2xy$</a:t>
                </a:r>
                <a:r>
                  <a:rPr sz="2400" b="0">
                    <a:solidFill>
                      <a:srgbClr val="111827"/>
                    </a:solidFill>
                    <a:latin typeface="Arial"/>
                  </a:rPr>
                  <a:t>, the value is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3</a:t>
            </a:r>
            <a:endParaRPr sz="2800">
              <a:solidFill>
                <a:srgbClr val="15803D"/>
              </a:solidFil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oMath>
                </a14:m>
                <a:r>
                  <a:rPr sz="2400" b="0">
                    <a:solidFill>
                      <a:srgbClr val="78350F"/>
                    </a:solidFill>
                    <a:latin typeface="Arial"/>
                  </a:rPr>
                  <a:t> so that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3</m:t>
                        </m:r>
                      </m:den>
                    </m:f>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become a sine and cosine of the same angle.</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r>
                  <a:rPr lang="en-IN" sz="2400">
                    <a:solidFill>
                      <a:srgbClr val="78350F"/>
                    </a:solidFill>
                    <a:latin typeface="Cambria Math" panose="02040503050406030204" pitchFamily="18" charset="0"/>
                  </a:rPr>
                  <a:t>$x=2\cos\theta$</a:t>
                </a:r>
                <a:r>
                  <a:rPr sz="2400" b="0">
                    <a:solidFill>
                      <a:srgbClr val="78350F"/>
                    </a:solidFill>
                    <a:latin typeface="Arial"/>
                  </a:rPr>
                  <a:t> so that </a:t>
                </a:r>
                <a:r>
                  <a:rPr lang="en-IN" sz="2400">
                    <a:solidFill>
                      <a:srgbClr val="78350F"/>
                    </a:solidFill>
                    <a:latin typeface="Cambria Math" panose="02040503050406030204" pitchFamily="18" charset="0"/>
                  </a:rPr>
                  <a:t>$y=\cos(\theta+\frac\pi3)$</a:t>
                </a:r>
                <a:r>
                  <a:rPr sz="2400" b="0">
                    <a:solidFill>
                      <a:srgbClr val="78350F"/>
                    </a:solidFill>
                    <a:latin typeface="Arial"/>
                  </a:rPr>
                  <a:t>; then </a:t>
                </a:r>
                <a:r>
                  <a:rPr lang="en-IN" sz="2400">
                    <a:solidFill>
                      <a:srgbClr val="78350F"/>
                    </a:solidFill>
                    <a:latin typeface="Cambria Math" panose="02040503050406030204" pitchFamily="18" charset="0"/>
                  </a:rPr>
                  <a:t>$x-y$</a:t>
                </a:r>
                <a:r>
                  <a:rPr sz="2400" b="0">
                    <a:solidFill>
                      <a:srgbClr val="78350F"/>
                    </a:solidFill>
                    <a:latin typeface="Arial"/>
                  </a:rPr>
                  <a:t> and </a:t>
                </a:r>
                <a:r>
                  <a:rPr lang="en-IN" sz="2400">
                    <a:solidFill>
                      <a:srgbClr val="78350F"/>
                    </a:solidFill>
                    <a:latin typeface="Cambria Math" panose="02040503050406030204" pitchFamily="18" charset="0"/>
                  </a:rPr>
                  <a:t>$y$</a:t>
                </a:r>
                <a:r>
                  <a:rPr sz="2400" b="0">
                    <a:solidFill>
                      <a:srgbClr val="78350F"/>
                    </a:solidFill>
                    <a:latin typeface="Arial"/>
                  </a:rPr>
                  <a:t> become a sine and cosine of the same angle.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cos</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$\theta=\cos^{-1}\frac x2\in[0,\pi]$</a:t>
                </a:r>
                <a:r>
                  <a:rPr sz="2400" b="0">
                    <a:solidFill>
                      <a:srgbClr val="111827"/>
                    </a:solidFill>
                    <a:latin typeface="Arial"/>
                  </a:rPr>
                  <a:t>, so </a:t>
                </a:r>
                <a:r>
                  <a:rPr lang="en-IN" sz="2400">
                    <a:solidFill>
                      <a:srgbClr val="111827"/>
                    </a:solidFill>
                    <a:latin typeface="Cambria Math" panose="02040503050406030204" pitchFamily="18" charset="0"/>
                  </a:rPr>
                  <a:t>$x=2\cos\theta$</a:t>
                </a:r>
                <a:r>
                  <a:rPr sz="2400" b="0">
                    <a:solidFill>
                      <a:srgbClr val="111827"/>
                    </a:solidFill>
                    <a:latin typeface="Arial"/>
                  </a:rPr>
                  <a:t> and </a:t>
                </a:r>
                <a:r>
                  <a:rPr lang="en-IN" sz="2400">
                    <a:solidFill>
                      <a:srgbClr val="111827"/>
                    </a:solidFill>
                    <a:latin typeface="Cambria Math" panose="02040503050406030204" pitchFamily="18" charset="0"/>
                  </a:rPr>
                  <a:t>$y=\cos\left(\theta+\frac\pi3\right)$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$x-y=2\cos\theta-\frac12\cos\theta+\frac{\sqrt3}2\sin\theta=\frac32\cos\theta+\frac{\sqrt3}2\sin\theta=\sqrt3\cos\left(\theta-\frac\pi6\right)$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$\theta+\frac\pi3=\left(\theta-\frac\pi6\right)+\frac\pi2$</a:t>
                </a:r>
                <a:r>
                  <a:rPr sz="2400" b="0">
                    <a:solidFill>
                      <a:srgbClr val="111827"/>
                    </a:solidFill>
                    <a:latin typeface="Arial"/>
                  </a:rPr>
                  <a:t>, so </a:t>
                </a:r>
                <a:r>
                  <a:rPr lang="en-IN" sz="2400">
                    <a:solidFill>
                      <a:srgbClr val="111827"/>
                    </a:solidFill>
                    <a:latin typeface="Cambria Math" panose="02040503050406030204" pitchFamily="18" charset="0"/>
                  </a:rPr>
                  <a:t>$y=-\sin\left(\theta-\frac\pi6\right)$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$(x-y)^2+3y^2=3\cos^2\left(\theta-\frac\pi6\right)+3\sin^2\left(\theta-\frac\pi6\right)=3$</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3</a:t>
            </a:r>
            <a:endParaRPr sz="2800">
              <a:solidFill>
                <a:srgbClr val="15803D"/>
              </a:solidFill>
            </a:endParaR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angles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 an ellipse.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Parametrise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whenever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𝑟</m:t>
                        </m:r>
                      </m:den>
                    </m:f>
                  </m:oMath>
                </a14:m>
                <a:r>
                  <a:rPr sz="2400" b="0">
                    <a:solidFill>
                      <a:srgbClr val="111827"/>
                    </a:solidFill>
                    <a:latin typeface="Arial"/>
                  </a:rPr>
                  <a:t> appears; the inverse function disappears.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Eliminating the parameter by squaring is safe here because only the combination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asked.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angles </a:t>
                </a:r>
                <a:r>
                  <a:rPr lang="en-IN" sz="2400">
                    <a:solidFill>
                      <a:srgbClr val="111827"/>
                    </a:solidFill>
                    <a:latin typeface="Cambria Math" panose="02040503050406030204" pitchFamily="18" charset="0"/>
                  </a:rPr>
                  <a:t>$A,B$</a:t>
                </a:r>
                <a:r>
                  <a:rPr sz="2400" b="0">
                    <a:solidFill>
                      <a:srgbClr val="111827"/>
                    </a:solidFill>
                    <a:latin typeface="Arial"/>
                  </a:rPr>
                  <a:t> with </a:t>
                </a:r>
                <a:r>
                  <a:rPr lang="en-IN" sz="2400">
                    <a:solidFill>
                      <a:srgbClr val="111827"/>
                    </a:solidFill>
                    <a:latin typeface="Cambria Math" panose="02040503050406030204" pitchFamily="18" charset="0"/>
                  </a:rPr>
                  <a:t>$A-B=\alpha$</a:t>
                </a:r>
                <a:r>
                  <a:rPr sz="2400" b="0">
                    <a:solidFill>
                      <a:srgbClr val="111827"/>
                    </a:solidFill>
                    <a:latin typeface="Arial"/>
                  </a:rPr>
                  <a:t>: </a:t>
                </a:r>
                <a:r>
                  <a:rPr lang="en-IN" sz="2400">
                    <a:solidFill>
                      <a:srgbClr val="111827"/>
                    </a:solidFill>
                    <a:latin typeface="Cambria Math" panose="02040503050406030204" pitchFamily="18" charset="0"/>
                  </a:rPr>
                  <a:t>$\cos^2A+\cos^2B-2\cos A\cos B\cos\alpha=\sin^2\alpha$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$\cos A=\frac x2,\ \cos B=y,\ \alpha=\frac\pi3$</a:t>
                </a:r>
                <a:r>
                  <a:rPr sz="2400" b="0">
                    <a:solidFill>
                      <a:srgbClr val="111827"/>
                    </a:solidFill>
                    <a:latin typeface="Arial"/>
                  </a:rPr>
                  <a:t> gives </a:t>
                </a:r>
                <a:r>
                  <a:rPr lang="en-IN" sz="2400">
                    <a:solidFill>
                      <a:srgbClr val="111827"/>
                    </a:solidFill>
                    <a:latin typeface="Cambria Math" panose="02040503050406030204" pitchFamily="18" charset="0"/>
                  </a:rPr>
                  <a:t>$\frac{x^2}4+y^2-\frac{xy}2=\frac34$</a:t>
                </a:r>
                <a:r>
                  <a:rPr sz="2400" b="0">
                    <a:solidFill>
                      <a:srgbClr val="111827"/>
                    </a:solidFill>
                    <a:latin typeface="Arial"/>
                  </a:rPr>
                  <a:t>, i.e. </a:t>
                </a:r>
                <a:r>
                  <a:rPr lang="en-IN" sz="2400">
                    <a:solidFill>
                      <a:srgbClr val="111827"/>
                    </a:solidFill>
                    <a:latin typeface="Cambria Math" panose="02040503050406030204" pitchFamily="18" charset="0"/>
                  </a:rPr>
                  <a:t>$x^2+4y^2-2xy=3$</a:t>
                </a:r>
                <a:r>
                  <a:rPr sz="2400" b="0">
                    <a:solidFill>
                      <a:srgbClr val="111827"/>
                    </a:solidFill>
                    <a:latin typeface="Arial"/>
                  </a:rPr>
                  <a:t> - an ellipse.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Parametrise </a:t>
                </a:r>
                <a:r>
                  <a:rPr lang="en-IN" sz="2400">
                    <a:solidFill>
                      <a:srgbClr val="111827"/>
                    </a:solidFill>
                    <a:latin typeface="Cambria Math" panose="02040503050406030204" pitchFamily="18" charset="0"/>
                  </a:rPr>
                  <a:t>$x=r\cos\theta$</a:t>
                </a:r>
                <a:r>
                  <a:rPr sz="2400" b="0">
                    <a:solidFill>
                      <a:srgbClr val="111827"/>
                    </a:solidFill>
                    <a:latin typeface="Arial"/>
                  </a:rPr>
                  <a:t> whenever </a:t>
                </a:r>
                <a:r>
                  <a:rPr lang="en-IN" sz="2400">
                    <a:solidFill>
                      <a:srgbClr val="111827"/>
                    </a:solidFill>
                    <a:latin typeface="Cambria Math" panose="02040503050406030204" pitchFamily="18" charset="0"/>
                  </a:rPr>
                  <a:t>$\cos^{-1}\frac xr$</a:t>
                </a:r>
                <a:r>
                  <a:rPr sz="2400" b="0">
                    <a:solidFill>
                      <a:srgbClr val="111827"/>
                    </a:solidFill>
                    <a:latin typeface="Arial"/>
                  </a:rPr>
                  <a:t> appears; the inverse function disappears.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Eliminating the parameter by squaring is safe here because only the combination </a:t>
                </a:r>
                <a:r>
                  <a:rPr lang="en-IN" sz="2400">
                    <a:solidFill>
                      <a:srgbClr val="111827"/>
                    </a:solidFill>
                    <a:latin typeface="Cambria Math" panose="02040503050406030204" pitchFamily="18" charset="0"/>
                  </a:rPr>
                  <a:t>$(x-y)^2+3y^2$</a:t>
                </a:r>
                <a:r>
                  <a:rPr sz="2400" b="0">
                    <a:solidFill>
                      <a:srgbClr val="111827"/>
                    </a:solidFill>
                    <a:latin typeface="Arial"/>
                  </a:rPr>
                  <a:t> is asked.</a:t>
                </a:r>
                <a:endParaRPr sz="2400">
                  <a:solidFill>
                    <a:srgbClr val="111827"/>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$S=\{x:\cos^{-1}x=\pi+\sin^{-1}x+\sin^{-1}(2x+1)\}$</a:t>
                </a:r>
                <a:r>
                  <a:rPr sz="2400" b="0">
                    <a:solidFill>
                      <a:srgbClr val="111827"/>
                    </a:solidFill>
                    <a:latin typeface="Arial"/>
                  </a:rPr>
                  <a:t>. Then </a:t>
                </a:r>
                <a:r>
                  <a:rPr lang="en-IN" sz="2400">
                    <a:solidFill>
                      <a:srgbClr val="111827"/>
                    </a:solidFill>
                    <a:latin typeface="Cambria Math" panose="02040503050406030204" pitchFamily="18" charset="0"/>
                  </a:rPr>
                  <a:t>$\sum_{x\in S}(2x-1)^2$</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Equations involving sum of inverse sine functions and domain restrictions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Move </a:t>
                </a:r>
                <a14:m>
                  <m:oMath xmlns:m="http://schemas.openxmlformats.org/officeDocument/2006/math">
                    <m:sSup>
                      <m:e>
                        <m:r>
                          <m:rPr>
                            <m:sty m:val="p"/>
                          </m:rPr>
                          <a:rPr lang="en-IN" sz="2400">
                            <a:solidFill>
                              <a:srgbClr val="78350F"/>
                            </a:solidFill>
                            <a:latin typeface="Cambria Math" panose="02040503050406030204" pitchFamily="18" charset="0"/>
                          </a:rPr>
                          <m:t>sin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oMath>
                </a14:m>
                <a:r>
                  <a:rPr sz="2400" b="0">
                    <a:solidFill>
                      <a:srgbClr val="78350F"/>
                    </a:solidFill>
                    <a:latin typeface="Arial"/>
                  </a:rPr>
                  <a:t> across so that the equation reads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sin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sin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sin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take the sine of both sides.</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Move </a:t>
                </a:r>
                <a:r>
                  <a:rPr lang="en-IN" sz="2400">
                    <a:solidFill>
                      <a:srgbClr val="78350F"/>
                    </a:solidFill>
                    <a:latin typeface="Cambria Math" panose="02040503050406030204" pitchFamily="18" charset="0"/>
                  </a:rPr>
                  <a:t>$\sin^{-1}x$</a:t>
                </a:r>
                <a:r>
                  <a:rPr sz="2400" b="0">
                    <a:solidFill>
                      <a:srgbClr val="78350F"/>
                    </a:solidFill>
                    <a:latin typeface="Arial"/>
                  </a:rPr>
                  <a:t> across so that the equation reads </a:t>
                </a:r>
                <a:r>
                  <a:rPr lang="en-IN" sz="2400">
                    <a:solidFill>
                      <a:srgbClr val="78350F"/>
                    </a:solidFill>
                    <a:latin typeface="Cambria Math" panose="02040503050406030204" pitchFamily="18" charset="0"/>
                  </a:rPr>
                  <a:t>$-\frac\pi2-\sin^{-1}x=\sin^{-1}x+\sin^{-1}(2x+1)$</a:t>
                </a:r>
                <a:r>
                  <a:rPr sz="2400" b="0">
                    <a:solidFill>
                      <a:srgbClr val="78350F"/>
                    </a:solidFill>
                    <a:latin typeface="Arial"/>
                  </a:rPr>
                  <a:t>, then take the sine of both sides.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Domain: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 from both sides: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Domain: </a:t>
                </a:r>
                <a:r>
                  <a:rPr lang="en-IN" sz="2400">
                    <a:solidFill>
                      <a:srgbClr val="111827"/>
                    </a:solidFill>
                    <a:latin typeface="Cambria Math" panose="02040503050406030204" pitchFamily="18" charset="0"/>
                  </a:rPr>
                  <a:t>$x\in[-1,1]$</a:t>
                </a:r>
                <a:r>
                  <a:rPr sz="2400" b="0">
                    <a:solidFill>
                      <a:srgbClr val="111827"/>
                    </a:solidFill>
                    <a:latin typeface="Arial"/>
                  </a:rPr>
                  <a:t> and </a:t>
                </a:r>
                <a:r>
                  <a:rPr lang="en-IN" sz="2400">
                    <a:solidFill>
                      <a:srgbClr val="111827"/>
                    </a:solidFill>
                    <a:latin typeface="Cambria Math" panose="02040503050406030204" pitchFamily="18" charset="0"/>
                  </a:rPr>
                  <a:t>$-1\le2x+1\le1$</a:t>
                </a:r>
                <a:r>
                  <a:rPr sz="2400" b="0">
                    <a:solidFill>
                      <a:srgbClr val="111827"/>
                    </a:solidFill>
                    <a:latin typeface="Arial"/>
                  </a:rPr>
                  <a:t>, so </a:t>
                </a:r>
                <a:r>
                  <a:rPr lang="en-IN" sz="2400">
                    <a:solidFill>
                      <a:srgbClr val="111827"/>
                    </a:solidFill>
                    <a:latin typeface="Cambria Math" panose="02040503050406030204" pitchFamily="18" charset="0"/>
                  </a:rPr>
                  <a:t>$x\in[-1,0]$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$\cos^{-1}x=\frac\pi2-\sin^{-1}x$</a:t>
                </a:r>
                <a:r>
                  <a:rPr sz="2400" b="0">
                    <a:solidFill>
                      <a:srgbClr val="111827"/>
                    </a:solidFill>
                    <a:latin typeface="Arial"/>
                  </a:rPr>
                  <a:t>: </a:t>
                </a:r>
                <a:r>
                  <a:rPr lang="en-IN" sz="2400">
                    <a:solidFill>
                      <a:srgbClr val="111827"/>
                    </a:solidFill>
                    <a:latin typeface="Cambria Math" panose="02040503050406030204" pitchFamily="18" charset="0"/>
                  </a:rPr>
                  <a:t>$\frac\pi2-\sin^{-1}x=\pi+\sin^{-1}x+\sin^{-1}(2x+1)$</a:t>
                </a:r>
                <a:r>
                  <a:rPr sz="2400" b="0">
                    <a:solidFill>
                      <a:srgbClr val="111827"/>
                    </a:solidFill>
                    <a:latin typeface="Arial"/>
                  </a:rPr>
                  <a:t>, i.e. </a:t>
                </a:r>
                <a:r>
                  <a:rPr lang="en-IN" sz="2400">
                    <a:solidFill>
                      <a:srgbClr val="111827"/>
                    </a:solidFill>
                    <a:latin typeface="Cambria Math" panose="02040503050406030204" pitchFamily="18" charset="0"/>
                  </a:rPr>
                  <a:t>$-\frac\pi2=2\sin^{-1}x+\sin^{-1}(2x+1)$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r>
                  <a:rPr lang="en-IN" sz="2400">
                    <a:solidFill>
                      <a:srgbClr val="111827"/>
                    </a:solidFill>
                    <a:latin typeface="Cambria Math" panose="02040503050406030204" pitchFamily="18" charset="0"/>
                  </a:rPr>
                  <a:t>$\sin^{-1}x$</a:t>
                </a:r>
                <a:r>
                  <a:rPr sz="2400" b="0">
                    <a:solidFill>
                      <a:srgbClr val="111827"/>
                    </a:solidFill>
                    <a:latin typeface="Arial"/>
                  </a:rPr>
                  <a:t> from both sides: </a:t>
                </a:r>
                <a:r>
                  <a:rPr lang="en-IN" sz="2400">
                    <a:solidFill>
                      <a:srgbClr val="111827"/>
                    </a:solidFill>
                    <a:latin typeface="Cambria Math" panose="02040503050406030204" pitchFamily="18" charset="0"/>
                  </a:rPr>
                  <a:t>$-\frac\pi2-\sin^{-1}x=\sin^{-1}x+\sin^{-1}(2x+1)$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sine: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this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 both sides: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simplifies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sine: </a:t>
                </a:r>
                <a:r>
                  <a:rPr lang="en-IN" sz="2400">
                    <a:solidFill>
                      <a:srgbClr val="111827"/>
                    </a:solidFill>
                    <a:latin typeface="Cambria Math" panose="02040503050406030204" pitchFamily="18" charset="0"/>
                  </a:rPr>
                  <a:t>$-\sin\left(\frac\pi2+\sin^{-1}x\right)=\sin\left(\sin^{-1}x+\sin^{-1}(2x+1)\right)$</a:t>
                </a:r>
                <a:r>
                  <a:rPr sz="2400" b="0">
                    <a:solidFill>
                      <a:srgbClr val="111827"/>
                    </a:solidFill>
                    <a:latin typeface="Arial"/>
                  </a:rPr>
                  <a:t>, i.e. </a:t>
                </a:r>
                <a:r>
                  <a:rPr lang="en-IN" sz="2400">
                    <a:solidFill>
                      <a:srgbClr val="111827"/>
                    </a:solidFill>
                    <a:latin typeface="Cambria Math" panose="02040503050406030204" pitchFamily="18" charset="0"/>
                  </a:rPr>
                  <a:t>$-\cos(\sin^{-1}x)=x\cos(\sin^{-1}(2x+1))+\cos(\sin^{-1}x)\,(2x+1)$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$-\sqrt{1-x^2}=x\sqrt{1-(2x+1)^2}+(2x+1)\sqrt{1-x^2}$</a:t>
                </a:r>
                <a:r>
                  <a:rPr sz="2400" b="0">
                    <a:solidFill>
                      <a:srgbClr val="111827"/>
                    </a:solidFill>
                    <a:latin typeface="Arial"/>
                  </a:rPr>
                  <a:t>. Since </a:t>
                </a:r>
                <a:r>
                  <a:rPr lang="en-IN" sz="2400">
                    <a:solidFill>
                      <a:srgbClr val="111827"/>
                    </a:solidFill>
                    <a:latin typeface="Cambria Math" panose="02040503050406030204" pitchFamily="18" charset="0"/>
                  </a:rPr>
                  <a:t>$1-(2x+1)^2=-4x(x+1)$</a:t>
                </a:r>
                <a:r>
                  <a:rPr sz="2400" b="0">
                    <a:solidFill>
                      <a:srgbClr val="111827"/>
                    </a:solidFill>
                    <a:latin typeface="Arial"/>
                  </a:rPr>
                  <a:t>, this is </a:t>
                </a:r>
                <a:r>
                  <a:rPr lang="en-IN" sz="2400">
                    <a:solidFill>
                      <a:srgbClr val="111827"/>
                    </a:solidFill>
                    <a:latin typeface="Cambria Math" panose="02040503050406030204" pitchFamily="18" charset="0"/>
                  </a:rPr>
                  <a:t>$-(2x+2)\sqrt{1-x^2}=x\sqrt{-4x(x+1)}$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Square both sides: </a:t>
                </a:r>
                <a:r>
                  <a:rPr lang="en-IN" sz="2400">
                    <a:solidFill>
                      <a:srgbClr val="111827"/>
                    </a:solidFill>
                    <a:latin typeface="Cambria Math" panose="02040503050406030204" pitchFamily="18" charset="0"/>
                  </a:rPr>
                  <a:t>$4(x+1)^2(1-x^2)=-4x^3(x+1)$</a:t>
                </a:r>
                <a:r>
                  <a:rPr sz="2400" b="0">
                    <a:solidFill>
                      <a:srgbClr val="111827"/>
                    </a:solidFill>
                    <a:latin typeface="Arial"/>
                  </a:rPr>
                  <a:t>, which simplifies to </a:t>
                </a:r>
                <a:r>
                  <a:rPr lang="en-IN" sz="2400">
                    <a:solidFill>
                      <a:srgbClr val="111827"/>
                    </a:solidFill>
                    <a:latin typeface="Cambria Math" panose="02040503050406030204" pitchFamily="18" charset="0"/>
                  </a:rPr>
                  <a:t>$(x+1)\left(x^2-x-1\right)=0$</a:t>
                </a:r>
                <a:r>
                  <a:rPr sz="2400" b="0">
                    <a:solidFill>
                      <a:srgbClr val="111827"/>
                    </a:solidFill>
                    <a:latin typeface="Arial"/>
                  </a:rPr>
                  <a:t>, i.e. </a:t>
                </a:r>
                <a:r>
                  <a:rPr lang="en-IN" sz="2400">
                    <a:solidFill>
                      <a:srgbClr val="111827"/>
                    </a:solidFill>
                    <a:latin typeface="Cambria Math" panose="02040503050406030204" pitchFamily="18" charset="0"/>
                  </a:rPr>
                  <a:t>$x^3-2x-1=0$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rejected: it gives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but the right side is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(extraneous after squaring).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0.618</m:t>
                    </m:r>
                  </m:oMath>
                </a14:m>
                <a:r>
                  <a:rPr sz="2400" b="0">
                    <a:solidFill>
                      <a:srgbClr val="111827"/>
                    </a:solidFill>
                    <a:latin typeface="Arial"/>
                  </a:rPr>
                  <a:t> lies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it satisfies the original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this root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has one element, hence the sum is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a:t>
                </a:r>
                <a:r>
                  <a:rPr sz="2400" b="0">
                    <a:solidFill>
                      <a:srgbClr val="111827"/>
                    </a:solidFill>
                    <a:latin typeface="Arial"/>
                  </a:rPr>
                  <a:t> is rejected: it gives </a:t>
                </a:r>
                <a:r>
                  <a:rPr lang="en-IN" sz="2400">
                    <a:solidFill>
                      <a:srgbClr val="111827"/>
                    </a:solidFill>
                    <a:latin typeface="Cambria Math" panose="02040503050406030204" pitchFamily="18" charset="0"/>
                  </a:rPr>
                  <a:t>$\cos^{-1}(-1)=\pi$</a:t>
                </a:r>
                <a:r>
                  <a:rPr sz="2400" b="0">
                    <a:solidFill>
                      <a:srgbClr val="111827"/>
                    </a:solidFill>
                    <a:latin typeface="Arial"/>
                  </a:rPr>
                  <a:t> but the right side is </a:t>
                </a:r>
                <a:r>
                  <a:rPr lang="en-IN" sz="2400">
                    <a:solidFill>
                      <a:srgbClr val="111827"/>
                    </a:solidFill>
                    <a:latin typeface="Cambria Math" panose="02040503050406030204" pitchFamily="18" charset="0"/>
                  </a:rPr>
                  <a:t>$\pi-\frac\pi2-\frac\pi2=0$</a:t>
                </a:r>
                <a:r>
                  <a:rPr sz="2400" b="0">
                    <a:solidFill>
                      <a:srgbClr val="111827"/>
                    </a:solidFill>
                    <a:latin typeface="Arial"/>
                  </a:rPr>
                  <a:t> (extraneous after squaring).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$x^2-x-1=0$</a:t>
                </a:r>
                <a:r>
                  <a:rPr sz="2400" b="0">
                    <a:solidFill>
                      <a:srgbClr val="111827"/>
                    </a:solidFill>
                    <a:latin typeface="Arial"/>
                  </a:rPr>
                  <a:t>: </a:t>
                </a:r>
                <a:r>
                  <a:rPr lang="en-IN" sz="2400">
                    <a:solidFill>
                      <a:srgbClr val="111827"/>
                    </a:solidFill>
                    <a:latin typeface="Cambria Math" panose="02040503050406030204" pitchFamily="18" charset="0"/>
                  </a:rPr>
                  <a:t>$x=\frac{1\pm\sqrt5}2$</a:t>
                </a:r>
                <a:r>
                  <a:rPr sz="2400" b="0">
                    <a:solidFill>
                      <a:srgbClr val="111827"/>
                    </a:solidFill>
                    <a:latin typeface="Arial"/>
                  </a:rPr>
                  <a:t>; only </a:t>
                </a:r>
                <a:r>
                  <a:rPr lang="en-IN" sz="2400">
                    <a:solidFill>
                      <a:srgbClr val="111827"/>
                    </a:solidFill>
                    <a:latin typeface="Cambria Math" panose="02040503050406030204" pitchFamily="18" charset="0"/>
                  </a:rPr>
                  <a:t>$x=\frac{1-\sqrt5}2\approx-0.618$</a:t>
                </a:r>
                <a:r>
                  <a:rPr sz="2400" b="0">
                    <a:solidFill>
                      <a:srgbClr val="111827"/>
                    </a:solidFill>
                    <a:latin typeface="Arial"/>
                  </a:rPr>
                  <a:t> lies in </a:t>
                </a:r>
                <a:r>
                  <a:rPr lang="en-IN" sz="2400">
                    <a:solidFill>
                      <a:srgbClr val="111827"/>
                    </a:solidFill>
                    <a:latin typeface="Cambria Math" panose="02040503050406030204" pitchFamily="18" charset="0"/>
                  </a:rPr>
                  <a:t>$[-1,0]$</a:t>
                </a:r>
                <a:r>
                  <a:rPr sz="2400" b="0">
                    <a:solidFill>
                      <a:srgbClr val="111827"/>
                    </a:solidFill>
                    <a:latin typeface="Arial"/>
                  </a:rPr>
                  <a:t> (and it satisfies the original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this root </a:t>
                </a:r>
                <a:r>
                  <a:rPr lang="en-IN" sz="2400">
                    <a:solidFill>
                      <a:srgbClr val="111827"/>
                    </a:solidFill>
                    <a:latin typeface="Cambria Math" panose="02040503050406030204" pitchFamily="18" charset="0"/>
                  </a:rPr>
                  <a:t>$2x-1=-\sqrt5$</a:t>
                </a:r>
                <a:r>
                  <a:rPr sz="2400" b="0">
                    <a:solidFill>
                      <a:srgbClr val="111827"/>
                    </a:solidFill>
                    <a:latin typeface="Arial"/>
                  </a:rPr>
                  <a:t>, so </a:t>
                </a:r>
                <a:r>
                  <a:rPr lang="en-IN" sz="2400">
                    <a:solidFill>
                      <a:srgbClr val="111827"/>
                    </a:solidFill>
                    <a:latin typeface="Cambria Math" panose="02040503050406030204" pitchFamily="18" charset="0"/>
                  </a:rPr>
                  <a:t>$(2x-1)^2=5$</a:t>
                </a:r>
                <a:r>
                  <a:rPr sz="2400" b="0">
                    <a:solidFill>
                      <a:srgbClr val="111827"/>
                    </a:solidFill>
                    <a:latin typeface="Arial"/>
                  </a:rPr>
                  <a:t>; </a:t>
                </a:r>
                <a:r>
                  <a:rPr lang="en-IN" sz="2400">
                    <a:solidFill>
                      <a:srgbClr val="111827"/>
                    </a:solidFill>
                    <a:latin typeface="Cambria Math" panose="02040503050406030204" pitchFamily="18" charset="0"/>
                  </a:rPr>
                  <a:t>$S$</a:t>
                </a:r>
                <a:r>
                  <a:rPr sz="2400" b="0">
                    <a:solidFill>
                      <a:srgbClr val="111827"/>
                    </a:solidFill>
                    <a:latin typeface="Arial"/>
                  </a:rPr>
                  <a:t> has one element, hence the sum is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substitute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φ</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φ</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inverse sines become linear in </a:t>
                </a:r>
                <a14:m>
                  <m:oMath xmlns:m="http://schemas.openxmlformats.org/officeDocument/2006/math">
                    <m:r>
                      <a:rPr lang="en-IN" sz="2400" i="1">
                        <a:solidFill>
                          <a:srgbClr val="78350F"/>
                        </a:solidFill>
                        <a:latin typeface="Cambria Math" panose="02040503050406030204" pitchFamily="18" charset="0"/>
                      </a:rPr>
                      <m:t>φ</m:t>
                    </m:r>
                  </m:oMath>
                </a14:m>
                <a:r>
                  <a:rPr sz="2400" b="0">
                    <a:solidFill>
                      <a:srgbClr val="78350F"/>
                    </a:solidFill>
                    <a:latin typeface="Arial"/>
                  </a:rPr>
                  <a:t> and no squaring (hence no extraneous root) occurs.</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r>
                  <a:rPr lang="en-IN" sz="2400">
                    <a:solidFill>
                      <a:srgbClr val="78350F"/>
                    </a:solidFill>
                    <a:latin typeface="Cambria Math" panose="02040503050406030204" pitchFamily="18" charset="0"/>
                  </a:rPr>
                  <a:t>$x\in[-1,0]$</a:t>
                </a:r>
                <a:r>
                  <a:rPr sz="2400" b="0">
                    <a:solidFill>
                      <a:srgbClr val="78350F"/>
                    </a:solidFill>
                    <a:latin typeface="Arial"/>
                  </a:rPr>
                  <a:t>, substitute </a:t>
                </a:r>
                <a:r>
                  <a:rPr lang="en-IN" sz="2400">
                    <a:solidFill>
                      <a:srgbClr val="78350F"/>
                    </a:solidFill>
                    <a:latin typeface="Cambria Math" panose="02040503050406030204" pitchFamily="18" charset="0"/>
                  </a:rPr>
                  <a:t>$x=-\sin\varphi$</a:t>
                </a:r>
                <a:r>
                  <a:rPr sz="2400" b="0">
                    <a:solidFill>
                      <a:srgbClr val="78350F"/>
                    </a:solidFill>
                    <a:latin typeface="Arial"/>
                  </a:rPr>
                  <a:t> with </a:t>
                </a:r>
                <a:r>
                  <a:rPr lang="en-IN" sz="2400">
                    <a:solidFill>
                      <a:srgbClr val="78350F"/>
                    </a:solidFill>
                    <a:latin typeface="Cambria Math" panose="02040503050406030204" pitchFamily="18" charset="0"/>
                  </a:rPr>
                  <a:t>$\varphi\in[0,\frac\pi2]$</a:t>
                </a:r>
                <a:r>
                  <a:rPr sz="2400" b="0">
                    <a:solidFill>
                      <a:srgbClr val="78350F"/>
                    </a:solidFill>
                    <a:latin typeface="Arial"/>
                  </a:rPr>
                  <a:t>: the inverse sines become linear in </a:t>
                </a:r>
                <a:r>
                  <a:rPr lang="en-IN" sz="2400">
                    <a:solidFill>
                      <a:srgbClr val="78350F"/>
                    </a:solidFill>
                    <a:latin typeface="Cambria Math" panose="02040503050406030204" pitchFamily="18" charset="0"/>
                  </a:rPr>
                  <a:t>$\varphi$</a:t>
                </a:r>
                <a:r>
                  <a:rPr sz="2400" b="0">
                    <a:solidFill>
                      <a:srgbClr val="78350F"/>
                    </a:solidFill>
                    <a:latin typeface="Arial"/>
                  </a:rPr>
                  <a:t> and no squaring (hence no extraneous root) occurs.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domain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φ</m:t>
                    </m:r>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φ</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principal-value range, this is equivalent to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domain is </a:t>
                </a:r>
                <a:r>
                  <a:rPr lang="en-IN" sz="2400">
                    <a:solidFill>
                      <a:srgbClr val="111827"/>
                    </a:solidFill>
                    <a:latin typeface="Cambria Math" panose="02040503050406030204" pitchFamily="18" charset="0"/>
                  </a:rPr>
                  <a:t>$x\in[-1,0]$</a:t>
                </a:r>
                <a:r>
                  <a:rPr sz="2400" b="0">
                    <a:solidFill>
                      <a:srgbClr val="111827"/>
                    </a:solidFill>
                    <a:latin typeface="Arial"/>
                  </a:rPr>
                  <a:t>, so put </a:t>
                </a:r>
                <a:r>
                  <a:rPr lang="en-IN" sz="2400">
                    <a:solidFill>
                      <a:srgbClr val="111827"/>
                    </a:solidFill>
                    <a:latin typeface="Cambria Math" panose="02040503050406030204" pitchFamily="18" charset="0"/>
                  </a:rPr>
                  <a:t>$x=-\sin\varphi$</a:t>
                </a:r>
                <a:r>
                  <a:rPr sz="2400" b="0">
                    <a:solidFill>
                      <a:srgbClr val="111827"/>
                    </a:solidFill>
                    <a:latin typeface="Arial"/>
                  </a:rPr>
                  <a:t>, </a:t>
                </a:r>
                <a:r>
                  <a:rPr lang="en-IN" sz="2400">
                    <a:solidFill>
                      <a:srgbClr val="111827"/>
                    </a:solidFill>
                    <a:latin typeface="Cambria Math" panose="02040503050406030204" pitchFamily="18" charset="0"/>
                  </a:rPr>
                  <a:t>$\varphi\in[0,\frac\pi2]$</a:t>
                </a:r>
                <a:r>
                  <a:rPr sz="2400" b="0">
                    <a:solidFill>
                      <a:srgbClr val="111827"/>
                    </a:solidFill>
                    <a:latin typeface="Arial"/>
                  </a:rPr>
                  <a:t>; then </a:t>
                </a:r>
                <a:r>
                  <a:rPr lang="en-IN" sz="2400">
                    <a:solidFill>
                      <a:srgbClr val="111827"/>
                    </a:solidFill>
                    <a:latin typeface="Cambria Math" panose="02040503050406030204" pitchFamily="18" charset="0"/>
                  </a:rPr>
                  <a:t>$\sin^{-1}x=-\varphi$</a:t>
                </a:r>
                <a:r>
                  <a:rPr sz="2400" b="0">
                    <a:solidFill>
                      <a:srgbClr val="111827"/>
                    </a:solidFill>
                    <a:latin typeface="Arial"/>
                  </a:rPr>
                  <a:t> and </a:t>
                </a:r>
                <a:r>
                  <a:rPr lang="en-IN" sz="2400">
                    <a:solidFill>
                      <a:srgbClr val="111827"/>
                    </a:solidFill>
                    <a:latin typeface="Cambria Math" panose="02040503050406030204" pitchFamily="18" charset="0"/>
                  </a:rPr>
                  <a:t>$\cos^{-1}x=\frac\pi2+\varphi$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a:t>
                </a:r>
                <a:r>
                  <a:rPr lang="en-IN" sz="2400">
                    <a:solidFill>
                      <a:srgbClr val="111827"/>
                    </a:solidFill>
                    <a:latin typeface="Cambria Math" panose="02040503050406030204" pitchFamily="18" charset="0"/>
                  </a:rPr>
                  <a:t>$\frac\pi2+\varphi=\pi-\varphi+\sin^{-1}(1-2\sin\varphi)$</a:t>
                </a:r>
                <a:r>
                  <a:rPr sz="2400" b="0">
                    <a:solidFill>
                      <a:srgbClr val="111827"/>
                    </a:solidFill>
                    <a:latin typeface="Arial"/>
                  </a:rPr>
                  <a:t> gives </a:t>
                </a:r>
                <a:r>
                  <a:rPr lang="en-IN" sz="2400">
                    <a:solidFill>
                      <a:srgbClr val="111827"/>
                    </a:solidFill>
                    <a:latin typeface="Cambria Math" panose="02040503050406030204" pitchFamily="18" charset="0"/>
                  </a:rPr>
                  <a:t>$\sin^{-1}(1-2\sin\varphi)=2\varphi-\frac\pi2$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$2\varphi-\frac\pi2\in[-\frac\pi2,\frac\pi2]$</a:t>
                </a:r>
                <a:r>
                  <a:rPr sz="2400" b="0">
                    <a:solidFill>
                      <a:srgbClr val="111827"/>
                    </a:solidFill>
                    <a:latin typeface="Arial"/>
                  </a:rPr>
                  <a:t>, the principal-value range, this is equivalent to </a:t>
                </a:r>
                <a:r>
                  <a:rPr lang="en-IN" sz="2400">
                    <a:solidFill>
                      <a:srgbClr val="111827"/>
                    </a:solidFill>
                    <a:latin typeface="Cambria Math" panose="02040503050406030204" pitchFamily="18" charset="0"/>
                  </a:rPr>
                  <a:t>$1-2\sin\varphi=\sin\left(2\varphi-\frac\pi2\right)=-\cos2\varphi=2\sin^2\varphi-1$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other root is 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giving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equivalence shows this is the only solution.</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$s=\sin\varphi\in[0,1]$</a:t>
                </a:r>
                <a:r>
                  <a:rPr sz="2400" b="0">
                    <a:solidFill>
                      <a:srgbClr val="111827"/>
                    </a:solidFill>
                    <a:latin typeface="Arial"/>
                  </a:rPr>
                  <a:t>: </a:t>
                </a:r>
                <a:r>
                  <a:rPr lang="en-IN" sz="2400">
                    <a:solidFill>
                      <a:srgbClr val="111827"/>
                    </a:solidFill>
                    <a:latin typeface="Cambria Math" panose="02040503050406030204" pitchFamily="18" charset="0"/>
                  </a:rPr>
                  <a:t>$2s^2+2s-2=0\Rightarrow s^2+s-1=0\Rightarrow s=\frac{\sqrt5-1}2$</a:t>
                </a:r>
                <a:r>
                  <a:rPr sz="2400" b="0">
                    <a:solidFill>
                      <a:srgbClr val="111827"/>
                    </a:solidFill>
                    <a:latin typeface="Arial"/>
                  </a:rPr>
                  <a:t> (the other root is 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$x=-s=\frac{1-\sqrt5}2$</a:t>
                </a:r>
                <a:r>
                  <a:rPr sz="2400" b="0">
                    <a:solidFill>
                      <a:srgbClr val="111827"/>
                    </a:solidFill>
                    <a:latin typeface="Arial"/>
                  </a:rPr>
                  <a:t> and </a:t>
                </a:r>
                <a:r>
                  <a:rPr lang="en-IN" sz="2400">
                    <a:solidFill>
                      <a:srgbClr val="111827"/>
                    </a:solidFill>
                    <a:latin typeface="Cambria Math" panose="02040503050406030204" pitchFamily="18" charset="0"/>
                  </a:rPr>
                  <a:t>$2x-1=-2s-1=-\sqrt5$</a:t>
                </a:r>
                <a:r>
                  <a:rPr sz="2400" b="0">
                    <a:solidFill>
                      <a:srgbClr val="111827"/>
                    </a:solidFill>
                    <a:latin typeface="Arial"/>
                  </a:rPr>
                  <a:t>, giving </a:t>
                </a:r>
                <a:r>
                  <a:rPr lang="en-IN" sz="2400">
                    <a:solidFill>
                      <a:srgbClr val="111827"/>
                    </a:solidFill>
                    <a:latin typeface="Cambria Math" panose="02040503050406030204" pitchFamily="18" charset="0"/>
                  </a:rPr>
                  <a:t>$(2x-1)^2=5$</a:t>
                </a:r>
                <a:r>
                  <a:rPr sz="2400" b="0">
                    <a:solidFill>
                      <a:srgbClr val="111827"/>
                    </a:solidFill>
                    <a:latin typeface="Arial"/>
                  </a:rPr>
                  <a:t>; the equivalence shows this is the only solution.</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a:t>
            </a:r>
            <a:endParaRPr sz="2800">
              <a:solidFill>
                <a:srgbClr val="15803D"/>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type equations, take sine (or cosine) of both sides, but squaring and the range of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can introduce extraneous roots; always substitute back.</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write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φ</m:t>
                    </m:r>
                  </m:oMath>
                </a14:m>
                <a:r>
                  <a:rPr sz="2400" b="0">
                    <a:solidFill>
                      <a:srgbClr val="111827"/>
                    </a:solidFill>
                    <a:latin typeface="Arial"/>
                  </a:rPr>
                  <a:t>): inverse sines become linear in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golden-ratio quadratic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roots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domain of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 intersect all domains first; it removes half the candidates at once.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$\sin^{-1}A+\sin^{-1}B=C$</a:t>
                </a:r>
                <a:r>
                  <a:rPr sz="2400" b="0">
                    <a:solidFill>
                      <a:srgbClr val="111827"/>
                    </a:solidFill>
                    <a:latin typeface="Arial"/>
                  </a:rPr>
                  <a:t> type equations, take sine (or cosine) of both sides, but squaring and the range of </a:t>
                </a:r>
                <a:r>
                  <a:rPr lang="en-IN" sz="2400">
                    <a:solidFill>
                      <a:srgbClr val="111827"/>
                    </a:solidFill>
                    <a:latin typeface="Cambria Math" panose="02040503050406030204" pitchFamily="18" charset="0"/>
                  </a:rPr>
                  <a:t>$\sin^{-1}$</a:t>
                </a:r>
                <a:r>
                  <a:rPr sz="2400" b="0">
                    <a:solidFill>
                      <a:srgbClr val="111827"/>
                    </a:solidFill>
                    <a:latin typeface="Arial"/>
                  </a:rPr>
                  <a:t> can introduce extraneous roots; always substitute back.</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$x\in[-1,0]$</a:t>
                </a:r>
                <a:r>
                  <a:rPr sz="2400" b="0">
                    <a:solidFill>
                      <a:srgbClr val="111827"/>
                    </a:solidFill>
                    <a:latin typeface="Arial"/>
                  </a:rPr>
                  <a:t> (or </a:t>
                </a:r>
                <a:r>
                  <a:rPr lang="en-IN" sz="2400">
                    <a:solidFill>
                      <a:srgbClr val="111827"/>
                    </a:solidFill>
                    <a:latin typeface="Cambria Math" panose="02040503050406030204" pitchFamily="18" charset="0"/>
                  </a:rPr>
                  <a:t>$[0,1]$</a:t>
                </a:r>
                <a:r>
                  <a:rPr sz="2400" b="0">
                    <a:solidFill>
                      <a:srgbClr val="111827"/>
                    </a:solidFill>
                    <a:latin typeface="Arial"/>
                  </a:rPr>
                  <a:t>) write </a:t>
                </a:r>
                <a:r>
                  <a:rPr lang="en-IN" sz="2400">
                    <a:solidFill>
                      <a:srgbClr val="111827"/>
                    </a:solidFill>
                    <a:latin typeface="Cambria Math" panose="02040503050406030204" pitchFamily="18" charset="0"/>
                  </a:rPr>
                  <a:t>$x=-\sin\varphi$</a:t>
                </a:r>
                <a:r>
                  <a:rPr sz="2400" b="0">
                    <a:solidFill>
                      <a:srgbClr val="111827"/>
                    </a:solidFill>
                    <a:latin typeface="Arial"/>
                  </a:rPr>
                  <a:t> (or </a:t>
                </a:r>
                <a:r>
                  <a:rPr lang="en-IN" sz="2400">
                    <a:solidFill>
                      <a:srgbClr val="111827"/>
                    </a:solidFill>
                    <a:latin typeface="Cambria Math" panose="02040503050406030204" pitchFamily="18" charset="0"/>
                  </a:rPr>
                  <a:t>$\sin\varphi$</a:t>
                </a:r>
                <a:r>
                  <a:rPr sz="2400" b="0">
                    <a:solidFill>
                      <a:srgbClr val="111827"/>
                    </a:solidFill>
                    <a:latin typeface="Arial"/>
                  </a:rPr>
                  <a:t>): inverse sines become linear in </a:t>
                </a:r>
                <a:r>
                  <a:rPr lang="en-IN" sz="2400">
                    <a:solidFill>
                      <a:srgbClr val="111827"/>
                    </a:solidFill>
                    <a:latin typeface="Cambria Math" panose="02040503050406030204" pitchFamily="18" charset="0"/>
                  </a:rPr>
                  <a:t>$\varphi$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golden-ratio quadratic </a:t>
                </a:r>
                <a:r>
                  <a:rPr lang="en-IN" sz="2400">
                    <a:solidFill>
                      <a:srgbClr val="111827"/>
                    </a:solidFill>
                    <a:latin typeface="Cambria Math" panose="02040503050406030204" pitchFamily="18" charset="0"/>
                  </a:rPr>
                  <a:t>$x^2-x-1=0$</a:t>
                </a:r>
                <a:r>
                  <a:rPr sz="2400" b="0">
                    <a:solidFill>
                      <a:srgbClr val="111827"/>
                    </a:solidFill>
                    <a:latin typeface="Arial"/>
                  </a:rPr>
                  <a:t> has roots </a:t>
                </a:r>
                <a:r>
                  <a:rPr lang="en-IN" sz="2400">
                    <a:solidFill>
                      <a:srgbClr val="111827"/>
                    </a:solidFill>
                    <a:latin typeface="Cambria Math" panose="02040503050406030204" pitchFamily="18" charset="0"/>
                  </a:rPr>
                  <a:t>$\frac{1\pm\sqrt5}2$</a:t>
                </a:r>
                <a:r>
                  <a:rPr sz="2400" b="0">
                    <a:solidFill>
                      <a:srgbClr val="111827"/>
                    </a:solidFill>
                    <a:latin typeface="Arial"/>
                  </a:rPr>
                  <a:t>; </a:t>
                </a:r>
                <a:r>
                  <a:rPr lang="en-IN" sz="2400">
                    <a:solidFill>
                      <a:srgbClr val="111827"/>
                    </a:solidFill>
                    <a:latin typeface="Cambria Math" panose="02040503050406030204" pitchFamily="18" charset="0"/>
                  </a:rPr>
                  <a:t>$x^3-2x-1=(x+1)(x^2-x-1)$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domain of </a:t>
                </a:r>
                <a:r>
                  <a:rPr lang="en-IN" sz="2400">
                    <a:solidFill>
                      <a:srgbClr val="111827"/>
                    </a:solidFill>
                    <a:latin typeface="Cambria Math" panose="02040503050406030204" pitchFamily="18" charset="0"/>
                  </a:rPr>
                  <a:t>$\sin^{-1}(2x+1)$</a:t>
                </a:r>
                <a:r>
                  <a:rPr sz="2400" b="0">
                    <a:solidFill>
                      <a:srgbClr val="111827"/>
                    </a:solidFill>
                    <a:latin typeface="Arial"/>
                  </a:rPr>
                  <a:t> is </a:t>
                </a:r>
                <a:r>
                  <a:rPr lang="en-IN" sz="2400">
                    <a:solidFill>
                      <a:srgbClr val="111827"/>
                    </a:solidFill>
                    <a:latin typeface="Cambria Math" panose="02040503050406030204" pitchFamily="18" charset="0"/>
                  </a:rPr>
                  <a:t>$[-1,0]$</a:t>
                </a:r>
                <a:r>
                  <a:rPr sz="2400" b="0">
                    <a:solidFill>
                      <a:srgbClr val="111827"/>
                    </a:solidFill>
                    <a:latin typeface="Arial"/>
                  </a:rPr>
                  <a:t> - intersect all domains first; it removes half the candidates at once.</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inverse trigonometric functions take principal values. The number of real solutions of the equation </a:t>
                </a: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is __________.</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the inverse trigonometric functions take principal values. The number of real solutions of the equation </a:t>
                </a:r>
                <a:r>
                  <a:rPr lang="en-IN" sz="2400">
                    <a:solidFill>
                      <a:srgbClr val="111827"/>
                    </a:solidFill>
                    <a:latin typeface="Cambria Math" panose="02040503050406030204" pitchFamily="18" charset="0"/>
                  </a:rPr>
                  <a:t>$2\sin^{-1}x+3\cos^{-1}x=\frac{2\pi}5$</a:t>
                </a:r>
                <a:r>
                  <a:rPr sz="2400" b="0">
                    <a:solidFill>
                      <a:srgbClr val="111827"/>
                    </a:solidFill>
                    <a:latin typeface="Arial"/>
                  </a:rPr>
                  <a:t> is __________.</a:t>
                </a:r>
                <a:endParaRPr sz="2400">
                  <a:solidFill>
                    <a:srgbClr val="111827"/>
                  </a:solidFill>
                </a:endParaRPr>
              </a:p>
            </p:txBody>
          </p:sp>
        </mc:Fallback>
      </mc:AlternateContent>
      <p:sp>
        <p:nvSpPr>
          <p:cNvPr id="5" name="Rectangle 4"/>
          <p:cNvSpPr/>
          <p:nvPr/>
        </p:nvSpPr>
        <p:spPr>
          <a:xfrm>
            <a:off x="731520" y="32547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Identity sin^-1 x + cos^-1 x = π/2 and range of cos^-1</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sin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m:rPr>
                            <m:sty m:val="p"/>
                          </m:rPr>
                          <a:rPr lang="en-IN" sz="2400">
                            <a:solidFill>
                              <a:srgbClr val="78350F"/>
                            </a:solidFill>
                            <a:latin typeface="Cambria Math" panose="02040503050406030204" pitchFamily="18" charset="0"/>
                          </a:rPr>
                          <m:t>cos</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d>
                      <m:dPr>
                        <m:begChr m:val="("/>
                        <m:sepChr m:val=""/>
                        <m:endChr m:val=")"/>
                        <m:grow/>
                        <m:ctrlPr>
                          <a:rPr lang="en-IN" sz="2400" i="1">
                            <a:solidFill>
                              <a:srgbClr val="78350F"/>
                            </a:solidFill>
                            <a:latin typeface="Cambria Math" panose="02040503050406030204" pitchFamily="18" charset="0"/>
                          </a:rPr>
                        </m:ctrlPr>
                      </m:dPr>
                      <m:e>
                        <m:sSup>
                          <m:e>
                            <m:r>
                              <m:rPr>
                                <m:sty m:val="p"/>
                              </m:rPr>
                              <a:rPr lang="en-IN" sz="2400">
                                <a:solidFill>
                                  <a:srgbClr val="78350F"/>
                                </a:solidFill>
                                <a:latin typeface="Cambria Math" panose="02040503050406030204" pitchFamily="18" charset="0"/>
                              </a:rPr>
                              <m:t>sin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cos</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e>
                    </m:d>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cos</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cos</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π</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$2\sin^{-1}x+3\cos^{-1}x=2\left(\sin^{-1}x+\cos^{-1}x\right)+\cos^{-1}x=\pi+\cos^{-1}x\ge\pi$</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Split the second term: </a:t>
                </a: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Split the second term: </a:t>
                </a:r>
                <a:r>
                  <a:rPr lang="en-IN" sz="2400">
                    <a:solidFill>
                      <a:srgbClr val="111827"/>
                    </a:solidFill>
                    <a:latin typeface="Cambria Math" panose="02040503050406030204" pitchFamily="18" charset="0"/>
                  </a:rPr>
                  <a:t>$2\sin^{-1}x+2\cos^{-1}x+\cos^{-1}x=\frac{2\pi}5$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$\sin^{-1}x+\cos^{-1}x=\frac\pi2$</a:t>
                </a:r>
                <a:r>
                  <a:rPr sz="2400" b="0">
                    <a:solidFill>
                      <a:srgbClr val="111827"/>
                    </a:solidFill>
                    <a:latin typeface="Arial"/>
                  </a:rPr>
                  <a:t>: </a:t>
                </a:r>
                <a:r>
                  <a:rPr lang="en-IN" sz="2400">
                    <a:solidFill>
                      <a:srgbClr val="111827"/>
                    </a:solidFill>
                    <a:latin typeface="Cambria Math" panose="02040503050406030204" pitchFamily="18" charset="0"/>
                  </a:rPr>
                  <a:t>$2\cdot\frac\pi2+\cos^{-1}x=\frac{2\pi}5$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$\cos^{-1}x=\frac{2\pi}5-\pi=-\frac{3\pi}5$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the principal range of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is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satisfies the equation: the number of solutions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the principal range of </a:t>
                </a:r>
                <a:r>
                  <a:rPr lang="en-IN" sz="2400">
                    <a:solidFill>
                      <a:srgbClr val="111827"/>
                    </a:solidFill>
                    <a:latin typeface="Cambria Math" panose="02040503050406030204" pitchFamily="18" charset="0"/>
                  </a:rPr>
                  <a:t>$\cos^{-1}x$</a:t>
                </a:r>
                <a:r>
                  <a:rPr sz="2400" b="0">
                    <a:solidFill>
                      <a:srgbClr val="111827"/>
                    </a:solidFill>
                    <a:latin typeface="Arial"/>
                  </a:rPr>
                  <a:t> is </a:t>
                </a:r>
                <a:r>
                  <a:rPr lang="en-IN" sz="2400">
                    <a:solidFill>
                      <a:srgbClr val="111827"/>
                    </a:solidFill>
                    <a:latin typeface="Cambria Math" panose="02040503050406030204" pitchFamily="18" charset="0"/>
                  </a:rPr>
                  <a:t>$[0,\pi]$</a:t>
                </a:r>
                <a:r>
                  <a:rPr sz="2400" b="0">
                    <a:solidFill>
                      <a:srgbClr val="111827"/>
                    </a:solidFill>
                    <a:latin typeface="Arial"/>
                  </a:rPr>
                  <a:t>, so </a:t>
                </a:r>
                <a:r>
                  <a:rPr lang="en-IN" sz="2400">
                    <a:solidFill>
                      <a:srgbClr val="111827"/>
                    </a:solidFill>
                    <a:latin typeface="Cambria Math" panose="02040503050406030204" pitchFamily="18" charset="0"/>
                  </a:rPr>
                  <a:t>$-\frac{3\pi}5$</a:t>
                </a:r>
                <a:r>
                  <a:rPr sz="2400" b="0">
                    <a:solidFill>
                      <a:srgbClr val="111827"/>
                    </a:solidFill>
                    <a:latin typeface="Arial"/>
                  </a:rPr>
                  <a:t> is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 real </a:t>
                </a:r>
                <a:r>
                  <a:rPr lang="en-IN" sz="2400">
                    <a:solidFill>
                      <a:srgbClr val="111827"/>
                    </a:solidFill>
                    <a:latin typeface="Cambria Math" panose="02040503050406030204" pitchFamily="18" charset="0"/>
                  </a:rPr>
                  <a:t>$x$</a:t>
                </a:r>
                <a:r>
                  <a:rPr sz="2400" b="0">
                    <a:solidFill>
                      <a:srgbClr val="111827"/>
                    </a:solidFill>
                    <a:latin typeface="Arial"/>
                  </a:rPr>
                  <a:t> satisfies the equation: the number of solutions is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0</a:t>
            </a:r>
            <a:endParaRPr sz="2800">
              <a:solidFill>
                <a:srgbClr val="15803D"/>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Range viewpoint: the left side is a monotonic function of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so just compare its minimum value with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5</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Range viewpoint: the left side is a monotonic function of </a:t>
                </a:r>
                <a:r>
                  <a:rPr lang="en-IN" sz="2400">
                    <a:solidFill>
                      <a:srgbClr val="78350F"/>
                    </a:solidFill>
                    <a:latin typeface="Cambria Math" panose="02040503050406030204" pitchFamily="18" charset="0"/>
                  </a:rPr>
                  <a:t>$x$</a:t>
                </a:r>
                <a:r>
                  <a:rPr sz="2400" b="0">
                    <a:solidFill>
                      <a:srgbClr val="78350F"/>
                    </a:solidFill>
                    <a:latin typeface="Arial"/>
                  </a:rPr>
                  <a:t>, so just compare its minimum value with </a:t>
                </a:r>
                <a:r>
                  <a:rPr lang="en-IN" sz="2400">
                    <a:solidFill>
                      <a:srgbClr val="78350F"/>
                    </a:solidFill>
                    <a:latin typeface="Cambria Math" panose="02040503050406030204" pitchFamily="18" charset="0"/>
                  </a:rPr>
                  <a:t>$\frac{2\pi}5$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oMath>
                </a14:m>
                <a:r>
                  <a:rPr sz="2400" b="0">
                    <a:solidFill>
                      <a:srgbClr val="111827"/>
                    </a:solidFill>
                    <a:latin typeface="Arial"/>
                  </a:rPr>
                  <a:t>, which is decreasing in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it equals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and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it equals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oMath>
                </a14:m>
                <a:r>
                  <a:rPr sz="2400" b="0">
                    <a:solidFill>
                      <a:srgbClr val="111827"/>
                    </a:solidFill>
                    <a:latin typeface="Arial"/>
                  </a:rPr>
                  <a:t>, so its range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π</m:t>
                    </m:r>
                  </m:oMath>
                </a14:m>
                <a:r>
                  <a:rPr sz="2400" b="0">
                    <a:solidFill>
                      <a:srgbClr val="111827"/>
                    </a:solidFill>
                    <a:latin typeface="Arial"/>
                  </a:rPr>
                  <a:t>, the value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is never attained: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solutions.</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$2\sin^{-1}x+3\cos^{-1}x=\pi+\cos^{-1}x$</a:t>
                </a:r>
                <a:r>
                  <a:rPr sz="2400" b="0">
                    <a:solidFill>
                      <a:srgbClr val="111827"/>
                    </a:solidFill>
                    <a:latin typeface="Arial"/>
                  </a:rPr>
                  <a:t>, which is decreasing in </a:t>
                </a:r>
                <a:r>
                  <a:rPr lang="en-IN" sz="2400">
                    <a:solidFill>
                      <a:srgbClr val="111827"/>
                    </a:solidFill>
                    <a:latin typeface="Cambria Math" panose="02040503050406030204" pitchFamily="18" charset="0"/>
                  </a:rPr>
                  <a:t>$x$</a:t>
                </a:r>
                <a:r>
                  <a:rPr sz="2400" b="0">
                    <a:solidFill>
                      <a:srgbClr val="111827"/>
                    </a:solidFill>
                    <a:latin typeface="Arial"/>
                  </a:rPr>
                  <a:t> on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$x=1$</a:t>
                </a:r>
                <a:r>
                  <a:rPr sz="2400" b="0">
                    <a:solidFill>
                      <a:srgbClr val="111827"/>
                    </a:solidFill>
                    <a:latin typeface="Arial"/>
                  </a:rPr>
                  <a:t> it equals </a:t>
                </a:r>
                <a:r>
                  <a:rPr lang="en-IN" sz="2400">
                    <a:solidFill>
                      <a:srgbClr val="111827"/>
                    </a:solidFill>
                    <a:latin typeface="Cambria Math" panose="02040503050406030204" pitchFamily="18" charset="0"/>
                  </a:rPr>
                  <a:t>$\pi+0=\pi$</a:t>
                </a:r>
                <a:r>
                  <a:rPr sz="2400" b="0">
                    <a:solidFill>
                      <a:srgbClr val="111827"/>
                    </a:solidFill>
                    <a:latin typeface="Arial"/>
                  </a:rPr>
                  <a:t> and at </a:t>
                </a:r>
                <a:r>
                  <a:rPr lang="en-IN" sz="2400">
                    <a:solidFill>
                      <a:srgbClr val="111827"/>
                    </a:solidFill>
                    <a:latin typeface="Cambria Math" panose="02040503050406030204" pitchFamily="18" charset="0"/>
                  </a:rPr>
                  <a:t>$x=-1$</a:t>
                </a:r>
                <a:r>
                  <a:rPr sz="2400" b="0">
                    <a:solidFill>
                      <a:srgbClr val="111827"/>
                    </a:solidFill>
                    <a:latin typeface="Arial"/>
                  </a:rPr>
                  <a:t> it equals </a:t>
                </a:r>
                <a:r>
                  <a:rPr lang="en-IN" sz="2400">
                    <a:solidFill>
                      <a:srgbClr val="111827"/>
                    </a:solidFill>
                    <a:latin typeface="Cambria Math" panose="02040503050406030204" pitchFamily="18" charset="0"/>
                  </a:rPr>
                  <a:t>$\pi+\pi=2\pi$</a:t>
                </a:r>
                <a:r>
                  <a:rPr sz="2400" b="0">
                    <a:solidFill>
                      <a:srgbClr val="111827"/>
                    </a:solidFill>
                    <a:latin typeface="Arial"/>
                  </a:rPr>
                  <a:t>, so its range is </a:t>
                </a:r>
                <a:r>
                  <a:rPr lang="en-IN" sz="2400">
                    <a:solidFill>
                      <a:srgbClr val="111827"/>
                    </a:solidFill>
                    <a:latin typeface="Cambria Math" panose="02040503050406030204" pitchFamily="18" charset="0"/>
                  </a:rPr>
                  <a:t>$[\pi,2\pi]$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$\frac{2\pi}5&lt;\pi$</a:t>
                </a:r>
                <a:r>
                  <a:rPr sz="2400" b="0">
                    <a:solidFill>
                      <a:srgbClr val="111827"/>
                    </a:solidFill>
                    <a:latin typeface="Arial"/>
                  </a:rPr>
                  <a:t>, the value </a:t>
                </a:r>
                <a:r>
                  <a:rPr lang="en-IN" sz="2400">
                    <a:solidFill>
                      <a:srgbClr val="111827"/>
                    </a:solidFill>
                    <a:latin typeface="Cambria Math" panose="02040503050406030204" pitchFamily="18" charset="0"/>
                  </a:rPr>
                  <a:t>$\frac{2\pi}5$</a:t>
                </a:r>
                <a:r>
                  <a:rPr sz="2400" b="0">
                    <a:solidFill>
                      <a:srgbClr val="111827"/>
                    </a:solidFill>
                    <a:latin typeface="Arial"/>
                  </a:rPr>
                  <a:t> is never attained: </a:t>
                </a:r>
                <a:r>
                  <a:rPr lang="en-IN" sz="2400">
                    <a:solidFill>
                      <a:srgbClr val="111827"/>
                    </a:solidFill>
                    <a:latin typeface="Cambria Math" panose="02040503050406030204" pitchFamily="18" charset="0"/>
                  </a:rPr>
                  <a:t>$0$</a:t>
                </a:r>
                <a:r>
                  <a:rPr sz="2400" b="0">
                    <a:solidFill>
                      <a:srgbClr val="111827"/>
                    </a:solidFill>
                    <a:latin typeface="Arial"/>
                  </a:rPr>
                  <a:t> solutions.</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0</a:t>
            </a:r>
            <a:endParaRPr sz="2800">
              <a:solidFill>
                <a:srgbClr val="15803D"/>
              </a:solidFill>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it is monotonic, so its range is the interval between its values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Values at the ends: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oMath>
                </a14:m>
                <a:r>
                  <a:rPr sz="2400" b="0">
                    <a:solidFill>
                      <a:srgbClr val="111827"/>
                    </a:solidFill>
                    <a:latin typeface="Arial"/>
                  </a:rPr>
                  <a:t>, so the range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Immediate test: if the right-hand side lies outside the interval between these two end values, there is no solution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$a\sin^{-1}x+b\cos^{-1}x=(a-b)\sin^{-1}x+\frac{b\pi}2$</a:t>
                </a:r>
                <a:r>
                  <a:rPr sz="2400" b="0">
                    <a:solidFill>
                      <a:srgbClr val="111827"/>
                    </a:solidFill>
                    <a:latin typeface="Arial"/>
                  </a:rPr>
                  <a:t> on </a:t>
                </a:r>
                <a:r>
                  <a:rPr lang="en-IN" sz="2400">
                    <a:solidFill>
                      <a:srgbClr val="111827"/>
                    </a:solidFill>
                    <a:latin typeface="Cambria Math" panose="02040503050406030204" pitchFamily="18" charset="0"/>
                  </a:rPr>
                  <a:t>$[-1,1]$</a:t>
                </a:r>
                <a:r>
                  <a:rPr sz="2400" b="0">
                    <a:solidFill>
                      <a:srgbClr val="111827"/>
                    </a:solidFill>
                    <a:latin typeface="Arial"/>
                  </a:rPr>
                  <a:t>; for </a:t>
                </a:r>
                <a:r>
                  <a:rPr lang="en-IN" sz="2400">
                    <a:solidFill>
                      <a:srgbClr val="111827"/>
                    </a:solidFill>
                    <a:latin typeface="Cambria Math" panose="02040503050406030204" pitchFamily="18" charset="0"/>
                  </a:rPr>
                  <a:t>$a\ne b$</a:t>
                </a:r>
                <a:r>
                  <a:rPr sz="2400" b="0">
                    <a:solidFill>
                      <a:srgbClr val="111827"/>
                    </a:solidFill>
                    <a:latin typeface="Arial"/>
                  </a:rPr>
                  <a:t> it is monotonic, so its range is the interval between its values at </a:t>
                </a:r>
                <a:r>
                  <a:rPr lang="en-IN" sz="2400">
                    <a:solidFill>
                      <a:srgbClr val="111827"/>
                    </a:solidFill>
                    <a:latin typeface="Cambria Math" panose="02040503050406030204" pitchFamily="18" charset="0"/>
                  </a:rPr>
                  <a:t>$x=-1$</a:t>
                </a:r>
                <a:r>
                  <a:rPr sz="2400" b="0">
                    <a:solidFill>
                      <a:srgbClr val="111827"/>
                    </a:solidFill>
                    <a:latin typeface="Arial"/>
                  </a:rPr>
                  <a:t> and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Values at the ends: </a:t>
                </a:r>
                <a:r>
                  <a:rPr lang="en-IN" sz="2400">
                    <a:solidFill>
                      <a:srgbClr val="111827"/>
                    </a:solidFill>
                    <a:latin typeface="Cambria Math" panose="02040503050406030204" pitchFamily="18" charset="0"/>
                  </a:rPr>
                  <a:t>$x=1$</a:t>
                </a:r>
                <a:r>
                  <a:rPr sz="2400" b="0">
                    <a:solidFill>
                      <a:srgbClr val="111827"/>
                    </a:solidFill>
                    <a:latin typeface="Arial"/>
                  </a:rPr>
                  <a:t> gives </a:t>
                </a:r>
                <a:r>
                  <a:rPr lang="en-IN" sz="2400">
                    <a:solidFill>
                      <a:srgbClr val="111827"/>
                    </a:solidFill>
                    <a:latin typeface="Cambria Math" panose="02040503050406030204" pitchFamily="18" charset="0"/>
                  </a:rPr>
                  <a:t>$\frac{a\pi}2$</a:t>
                </a:r>
                <a:r>
                  <a:rPr sz="2400" b="0">
                    <a:solidFill>
                      <a:srgbClr val="111827"/>
                    </a:solidFill>
                    <a:latin typeface="Arial"/>
                  </a:rPr>
                  <a:t> and </a:t>
                </a:r>
                <a:r>
                  <a:rPr lang="en-IN" sz="2400">
                    <a:solidFill>
                      <a:srgbClr val="111827"/>
                    </a:solidFill>
                    <a:latin typeface="Cambria Math" panose="02040503050406030204" pitchFamily="18" charset="0"/>
                  </a:rPr>
                  <a:t>$x=-1$</a:t>
                </a:r>
                <a:r>
                  <a:rPr sz="2400" b="0">
                    <a:solidFill>
                      <a:srgbClr val="111827"/>
                    </a:solidFill>
                    <a:latin typeface="Arial"/>
                  </a:rPr>
                  <a:t> gives </a:t>
                </a:r>
                <a:r>
                  <a:rPr lang="en-IN" sz="2400">
                    <a:solidFill>
                      <a:srgbClr val="111827"/>
                    </a:solidFill>
                    <a:latin typeface="Cambria Math" panose="02040503050406030204" pitchFamily="18" charset="0"/>
                  </a:rPr>
                  <a:t>$-\frac{a\pi}2+b\pi$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$a=2,b=3$</a:t>
                </a:r>
                <a:r>
                  <a:rPr sz="2400" b="0">
                    <a:solidFill>
                      <a:srgbClr val="111827"/>
                    </a:solidFill>
                    <a:latin typeface="Arial"/>
                  </a:rPr>
                  <a:t>: </a:t>
                </a:r>
                <a:r>
                  <a:rPr lang="en-IN" sz="2400">
                    <a:solidFill>
                      <a:srgbClr val="111827"/>
                    </a:solidFill>
                    <a:latin typeface="Cambria Math" panose="02040503050406030204" pitchFamily="18" charset="0"/>
                  </a:rPr>
                  <a:t>$x=1\to\pi$</a:t>
                </a:r>
                <a:r>
                  <a:rPr sz="2400" b="0">
                    <a:solidFill>
                      <a:srgbClr val="111827"/>
                    </a:solidFill>
                    <a:latin typeface="Arial"/>
                  </a:rPr>
                  <a:t>, </a:t>
                </a:r>
                <a:r>
                  <a:rPr lang="en-IN" sz="2400">
                    <a:solidFill>
                      <a:srgbClr val="111827"/>
                    </a:solidFill>
                    <a:latin typeface="Cambria Math" panose="02040503050406030204" pitchFamily="18" charset="0"/>
                  </a:rPr>
                  <a:t>$x=-1\to2\pi$</a:t>
                </a:r>
                <a:r>
                  <a:rPr sz="2400" b="0">
                    <a:solidFill>
                      <a:srgbClr val="111827"/>
                    </a:solidFill>
                    <a:latin typeface="Arial"/>
                  </a:rPr>
                  <a:t>, so the range is </a:t>
                </a:r>
                <a:r>
                  <a:rPr lang="en-IN" sz="2400">
                    <a:solidFill>
                      <a:srgbClr val="111827"/>
                    </a:solidFill>
                    <a:latin typeface="Cambria Math" panose="02040503050406030204" pitchFamily="18" charset="0"/>
                  </a:rPr>
                  <a:t>$[\pi,2\pi]$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Immediate test: if the right-hand side lies outside the interval between these two end values, there is no solution (here </a:t>
                </a:r>
                <a:r>
                  <a:rPr lang="en-IN" sz="2400">
                    <a:solidFill>
                      <a:srgbClr val="111827"/>
                    </a:solidFill>
                    <a:latin typeface="Cambria Math" panose="02040503050406030204" pitchFamily="18" charset="0"/>
                  </a:rPr>
                  <a:t>$\frac{2\pi}5&lt;\pi$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88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rad>
                              </m:den>
                            </m:f>
                          </m:e>
                        </m: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then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e>
                            </m:d>
                          </m:e>
                        </m:d>
                      </m:e>
                    </m:nary>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8188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$S=\left\{x\in\mathbb R:\sin^{-1}\left(\frac{x+1}{\sqrt{x^2+2x+2}}\right)-\sin^{-1}\left(\frac{x}{\sqrt{x^2+1}}\right)=\frac\pi4\right\}$</a:t>
                </a:r>
                <a:r>
                  <a:rPr sz="2400" b="0">
                    <a:solidFill>
                      <a:srgbClr val="111827"/>
                    </a:solidFill>
                    <a:latin typeface="Arial"/>
                  </a:rPr>
                  <a:t>, then </a:t>
                </a:r>
                <a:r>
                  <a:rPr lang="en-IN" sz="2400">
                    <a:solidFill>
                      <a:srgbClr val="111827"/>
                    </a:solidFill>
                    <a:latin typeface="Cambria Math" panose="02040503050406030204" pitchFamily="18" charset="0"/>
                  </a:rPr>
                  <a:t>$\sum_{x\in S}\left(\sin\left((x^2+x+5)\frac\pi2\right)-\cos\left((x^2+x+5)\pi\right)\right)$</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432765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Conversion of sin^-1 to tan^-1 and difference of inverse tangents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𝑡</m:t>
                        </m:r>
                      </m:num>
                      <m:den>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e>
                        </m:rad>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with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the equation is </a:t>
                </a:r>
                <a14:m>
                  <m:oMath xmlns:m="http://schemas.openxmlformats.org/officeDocument/2006/math">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$\frac{t}{\sqrt{1+t^2}}=\sin(\tan^{-1}t)$</a:t>
                </a:r>
                <a:r>
                  <a:rPr sz="2400" b="0">
                    <a:solidFill>
                      <a:srgbClr val="78350F"/>
                    </a:solidFill>
                    <a:latin typeface="Arial"/>
                  </a:rPr>
                  <a:t>, so with </a:t>
                </a:r>
                <a:r>
                  <a:rPr lang="en-IN" sz="2400">
                    <a:solidFill>
                      <a:srgbClr val="78350F"/>
                    </a:solidFill>
                    <a:latin typeface="Cambria Math" panose="02040503050406030204" pitchFamily="18" charset="0"/>
                  </a:rPr>
                  <a:t>$t=x+1$</a:t>
                </a:r>
                <a:r>
                  <a:rPr sz="2400" b="0">
                    <a:solidFill>
                      <a:srgbClr val="78350F"/>
                    </a:solidFill>
                    <a:latin typeface="Arial"/>
                  </a:rPr>
                  <a:t> and </a:t>
                </a:r>
                <a:r>
                  <a:rPr lang="en-IN" sz="2400">
                    <a:solidFill>
                      <a:srgbClr val="78350F"/>
                    </a:solidFill>
                    <a:latin typeface="Cambria Math" panose="02040503050406030204" pitchFamily="18" charset="0"/>
                  </a:rPr>
                  <a:t>$t=x$</a:t>
                </a:r>
                <a:r>
                  <a:rPr sz="2400" b="0">
                    <a:solidFill>
                      <a:srgbClr val="78350F"/>
                    </a:solidFill>
                    <a:latin typeface="Arial"/>
                  </a:rPr>
                  <a:t> the equation is </a:t>
                </a:r>
                <a:r>
                  <a:rPr lang="en-IN" sz="2400">
                    <a:solidFill>
                      <a:srgbClr val="78350F"/>
                    </a:solidFill>
                    <a:latin typeface="Cambria Math" panose="02040503050406030204" pitchFamily="18" charset="0"/>
                  </a:rPr>
                  <a:t>$\tan^{-1}(x+1)-\tan^{-1}x=\frac\pi4$</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arguments are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as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becomes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 (valid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$x^2+2x+2=(x+1)^2+1$</a:t>
                </a:r>
                <a:r>
                  <a:rPr sz="2400" b="0">
                    <a:solidFill>
                      <a:srgbClr val="111827"/>
                    </a:solidFill>
                    <a:latin typeface="Arial"/>
                  </a:rPr>
                  <a:t>, the arguments are </a:t>
                </a:r>
                <a:r>
                  <a:rPr lang="en-IN" sz="2400">
                    <a:solidFill>
                      <a:srgbClr val="111827"/>
                    </a:solidFill>
                    <a:latin typeface="Cambria Math" panose="02040503050406030204" pitchFamily="18" charset="0"/>
                  </a:rPr>
                  <a:t>$\frac{t}{\sqrt{1+t^2}}$</a:t>
                </a:r>
                <a:r>
                  <a:rPr sz="2400" b="0">
                    <a:solidFill>
                      <a:srgbClr val="111827"/>
                    </a:solidFill>
                    <a:latin typeface="Arial"/>
                  </a:rPr>
                  <a:t> with </a:t>
                </a:r>
                <a:r>
                  <a:rPr lang="en-IN" sz="2400">
                    <a:solidFill>
                      <a:srgbClr val="111827"/>
                    </a:solidFill>
                    <a:latin typeface="Cambria Math" panose="02040503050406030204" pitchFamily="18" charset="0"/>
                  </a:rPr>
                  <a:t>$t=x+1$</a:t>
                </a:r>
                <a:r>
                  <a:rPr sz="2400" b="0">
                    <a:solidFill>
                      <a:srgbClr val="111827"/>
                    </a:solidFill>
                    <a:latin typeface="Arial"/>
                  </a:rPr>
                  <a:t> and </a:t>
                </a:r>
                <a:r>
                  <a:rPr lang="en-IN" sz="2400">
                    <a:solidFill>
                      <a:srgbClr val="111827"/>
                    </a:solidFill>
                    <a:latin typeface="Cambria Math" panose="02040503050406030204" pitchFamily="18" charset="0"/>
                  </a:rPr>
                  <a:t>$t=x$</a:t>
                </a:r>
                <a:r>
                  <a:rPr sz="2400" b="0">
                    <a:solidFill>
                      <a:srgbClr val="111827"/>
                    </a:solidFill>
                    <a:latin typeface="Arial"/>
                  </a:rPr>
                  <a:t>; as </a:t>
                </a:r>
                <a:r>
                  <a:rPr lang="en-IN" sz="2400">
                    <a:solidFill>
                      <a:srgbClr val="111827"/>
                    </a:solidFill>
                    <a:latin typeface="Cambria Math" panose="02040503050406030204" pitchFamily="18" charset="0"/>
                  </a:rPr>
                  <a:t>$\tan^{-1}t\in(-\frac\pi2,\frac\pi2)$</a:t>
                </a:r>
                <a:r>
                  <a:rPr sz="2400" b="0">
                    <a:solidFill>
                      <a:srgbClr val="111827"/>
                    </a:solidFill>
                    <a:latin typeface="Arial"/>
                  </a:rPr>
                  <a:t>, </a:t>
                </a:r>
                <a:r>
                  <a:rPr lang="en-IN" sz="2400">
                    <a:solidFill>
                      <a:srgbClr val="111827"/>
                    </a:solidFill>
                    <a:latin typeface="Cambria Math" panose="02040503050406030204" pitchFamily="18" charset="0"/>
                  </a:rPr>
                  <a:t>$\sin^{-1}\frac t{\sqrt{1+t^2}}=\tan^{-1}t$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becomes </a:t>
                </a:r>
                <a:r>
                  <a:rPr lang="en-IN" sz="2400">
                    <a:solidFill>
                      <a:srgbClr val="111827"/>
                    </a:solidFill>
                    <a:latin typeface="Cambria Math" panose="02040503050406030204" pitchFamily="18" charset="0"/>
                  </a:rPr>
                  <a:t>$\tan^{-1}(x+1)-\tan^{-1}x=\frac\pi4$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Combine (valid since </a:t>
                </a:r>
                <a:r>
                  <a:rPr lang="en-IN" sz="2400">
                    <a:solidFill>
                      <a:srgbClr val="111827"/>
                    </a:solidFill>
                    <a:latin typeface="Cambria Math" panose="02040503050406030204" pitchFamily="18" charset="0"/>
                  </a:rPr>
                  <a:t>$(x+1)x&gt;-1$</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$\tan^{-1}\frac{(x+1)-x}{1+(x+1)x}=\frac\pi4$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$\tan^{-1}\frac1{1+x^2+x}=\frac\pi4\Rightarrow\frac1{1+x^2+x}=1$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both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term is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over the two elements: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$x^2+x+1=1\Rightarrow x^2+x=0\Rightarrow x=0$</a:t>
                </a:r>
                <a:r>
                  <a:rPr sz="2400" b="0">
                    <a:solidFill>
                      <a:srgbClr val="111827"/>
                    </a:solidFill>
                    <a:latin typeface="Arial"/>
                  </a:rPr>
                  <a:t> or </a:t>
                </a:r>
                <a:r>
                  <a:rPr lang="en-IN" sz="2400">
                    <a:solidFill>
                      <a:srgbClr val="111827"/>
                    </a:solidFill>
                    <a:latin typeface="Cambria Math" panose="02040503050406030204" pitchFamily="18" charset="0"/>
                  </a:rPr>
                  <a:t>$x=-1$</a:t>
                </a:r>
                <a:r>
                  <a:rPr sz="2400" b="0">
                    <a:solidFill>
                      <a:srgbClr val="111827"/>
                    </a:solidFill>
                    <a:latin typeface="Arial"/>
                  </a:rPr>
                  <a:t>, so </a:t>
                </a:r>
                <a:r>
                  <a:rPr lang="en-IN" sz="2400">
                    <a:solidFill>
                      <a:srgbClr val="111827"/>
                    </a:solidFill>
                    <a:latin typeface="Cambria Math" panose="02040503050406030204" pitchFamily="18" charset="0"/>
                  </a:rPr>
                  <a:t>$S=\{0,-1\}$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both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$x^2+x+5=5$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term is </a:t>
                </a:r>
                <a:r>
                  <a:rPr lang="en-IN" sz="2400">
                    <a:solidFill>
                      <a:srgbClr val="111827"/>
                    </a:solidFill>
                    <a:latin typeface="Cambria Math" panose="02040503050406030204" pitchFamily="18" charset="0"/>
                  </a:rPr>
                  <a:t>$\sin\frac{5\pi}2-\cos5\pi=1-(-1)=2$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over the two elements: </a:t>
                </a:r>
                <a:r>
                  <a:rPr lang="en-IN" sz="2400">
                    <a:solidFill>
                      <a:srgbClr val="111827"/>
                    </a:solidFill>
                    <a:latin typeface="Cambria Math" panose="02040503050406030204" pitchFamily="18" charset="0"/>
                  </a:rPr>
                  <a:t>$2+2=4$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4</a:t>
            </a:r>
            <a:endParaRPr sz="2800">
              <a:solidFill>
                <a:srgbClr val="15803D"/>
              </a:solidFill>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Complex-number view: </a:t>
                </a:r>
                <a14:m>
                  <m:oMath xmlns:m="http://schemas.openxmlformats.org/officeDocument/2006/math">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arg</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a:rPr lang="en-IN" sz="2400" i="1">
                            <a:solidFill>
                              <a:srgbClr val="78350F"/>
                            </a:solidFill>
                            <a:latin typeface="Cambria Math" panose="02040503050406030204" pitchFamily="18" charset="0"/>
                          </a:rPr>
                          <m:t>𝑥</m:t>
                        </m:r>
                      </m:den>
                    </m:f>
                  </m:oMath>
                </a14:m>
                <a:r>
                  <a:rPr sz="2400" b="0">
                    <a:solidFill>
                      <a:srgbClr val="78350F"/>
                    </a:solidFill>
                    <a:latin typeface="Arial"/>
                  </a:rPr>
                  <a:t>, and the argument of a number equals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 exactly when its real and imaginary parts are equal and positive.</a:t>
                </a:r>
                <a:endParaRPr sz="2400">
                  <a:solidFill>
                    <a:srgbClr val="78350F"/>
                  </a:solidFill>
                </a:endParaRPr>
              </a:p>
            </p:txBody>
          </p:sp>
        </mc:Choice>
        <mc:Fallback>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Complex-number view: </a:t>
                </a:r>
                <a:r>
                  <a:rPr lang="en-IN" sz="2400">
                    <a:solidFill>
                      <a:srgbClr val="78350F"/>
                    </a:solidFill>
                    <a:latin typeface="Cambria Math" panose="02040503050406030204" pitchFamily="18" charset="0"/>
                  </a:rPr>
                  <a:t>$\tan^{-1}(x+1)-\tan^{-1}x=\arg\frac{1+i(x+1)}{1+ix}$</a:t>
                </a:r>
                <a:r>
                  <a:rPr sz="2400" b="0">
                    <a:solidFill>
                      <a:srgbClr val="78350F"/>
                    </a:solidFill>
                    <a:latin typeface="Arial"/>
                  </a:rPr>
                  <a:t>, and the argument of a number equals </a:t>
                </a:r>
                <a:r>
                  <a:rPr lang="en-IN" sz="2400">
                    <a:solidFill>
                      <a:srgbClr val="78350F"/>
                    </a:solidFill>
                    <a:latin typeface="Cambria Math" panose="02040503050406030204" pitchFamily="18" charset="0"/>
                  </a:rPr>
                  <a:t>$\frac\pi4$</a:t>
                </a:r>
                <a:r>
                  <a:rPr sz="2400" b="0">
                    <a:solidFill>
                      <a:srgbClr val="78350F"/>
                    </a:solidFill>
                    <a:latin typeface="Arial"/>
                  </a:rPr>
                  <a:t> exactly when its real and imaginary parts are equal and positive.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the equation reads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arg</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(the moduli are positive and the difference lies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 whose real part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always (so the argument is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no extra branch occurs).</a:t>
                </a:r>
                <a:endParaRPr sz="2400">
                  <a:solidFill>
                    <a:srgbClr val="111827"/>
                  </a:solidFill>
                </a:endParaRPr>
              </a:p>
            </p:txBody>
          </p:sp>
        </mc:Choice>
        <mc:Fallback>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the equation reads </a:t>
                </a:r>
                <a:r>
                  <a:rPr lang="en-IN" sz="2400">
                    <a:solidFill>
                      <a:srgbClr val="111827"/>
                    </a:solidFill>
                    <a:latin typeface="Cambria Math" panose="02040503050406030204" pitchFamily="18" charset="0"/>
                  </a:rPr>
                  <a:t>$\tan^{-1}(x+1)-\tan^{-1}x=\frac\pi4$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$\tan^{-1}(x+1)-\tan^{-1}x=\arg\left[(1+i(x+1))(1-ix)\right]$</a:t>
                </a:r>
                <a:r>
                  <a:rPr sz="2400" b="0">
                    <a:solidFill>
                      <a:srgbClr val="111827"/>
                    </a:solidFill>
                    <a:latin typeface="Arial"/>
                  </a:rPr>
                  <a:t> (the moduli are positive and the difference lies in </a:t>
                </a:r>
                <a:r>
                  <a:rPr lang="en-IN" sz="2400">
                    <a:solidFill>
                      <a:srgbClr val="111827"/>
                    </a:solidFill>
                    <a:latin typeface="Cambria Math" panose="02040503050406030204" pitchFamily="18" charset="0"/>
                  </a:rPr>
                  <a:t>$(-\pi,\pi)$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$(1+i(x+1))(1-ix)=1+x(x+1)+i$</a:t>
                </a:r>
                <a:r>
                  <a:rPr sz="2400" b="0">
                    <a:solidFill>
                      <a:srgbClr val="111827"/>
                    </a:solidFill>
                    <a:latin typeface="Arial"/>
                  </a:rPr>
                  <a:t>, whose real part </a:t>
                </a:r>
                <a:r>
                  <a:rPr lang="en-IN" sz="2400">
                    <a:solidFill>
                      <a:srgbClr val="111827"/>
                    </a:solidFill>
                    <a:latin typeface="Cambria Math" panose="02040503050406030204" pitchFamily="18" charset="0"/>
                  </a:rPr>
                  <a:t>$x^2+x+1&gt;0$</a:t>
                </a:r>
                <a:r>
                  <a:rPr sz="2400" b="0">
                    <a:solidFill>
                      <a:srgbClr val="111827"/>
                    </a:solidFill>
                    <a:latin typeface="Arial"/>
                  </a:rPr>
                  <a:t> always (so the argument is in </a:t>
                </a:r>
                <a:r>
                  <a:rPr lang="en-IN" sz="2400">
                    <a:solidFill>
                      <a:srgbClr val="111827"/>
                    </a:solidFill>
                    <a:latin typeface="Cambria Math" panose="02040503050406030204" pitchFamily="18" charset="0"/>
                  </a:rPr>
                  <a:t>$(0,\frac\pi2)$</a:t>
                </a:r>
                <a:r>
                  <a:rPr sz="2400" b="0">
                    <a:solidFill>
                      <a:srgbClr val="111827"/>
                    </a:solidFill>
                    <a:latin typeface="Arial"/>
                  </a:rPr>
                  <a:t> and no extra branch occurs).</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argument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iff real part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imaginary part: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roots give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the sum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argument is </a:t>
                </a:r>
                <a:r>
                  <a:rPr lang="en-IN" sz="2400">
                    <a:solidFill>
                      <a:srgbClr val="111827"/>
                    </a:solidFill>
                    <a:latin typeface="Cambria Math" panose="02040503050406030204" pitchFamily="18" charset="0"/>
                  </a:rPr>
                  <a:t>$\frac\pi4$</a:t>
                </a:r>
                <a:r>
                  <a:rPr sz="2400" b="0">
                    <a:solidFill>
                      <a:srgbClr val="111827"/>
                    </a:solidFill>
                    <a:latin typeface="Arial"/>
                  </a:rPr>
                  <a:t> iff real part </a:t>
                </a:r>
                <a:r>
                  <a:rPr lang="en-IN" sz="2400">
                    <a:solidFill>
                      <a:srgbClr val="111827"/>
                    </a:solidFill>
                    <a:latin typeface="Cambria Math" panose="02040503050406030204" pitchFamily="18" charset="0"/>
                  </a:rPr>
                  <a:t>$=$</a:t>
                </a:r>
                <a:r>
                  <a:rPr sz="2400" b="0">
                    <a:solidFill>
                      <a:srgbClr val="111827"/>
                    </a:solidFill>
                    <a:latin typeface="Arial"/>
                  </a:rPr>
                  <a:t> imaginary part: </a:t>
                </a:r>
                <a:r>
                  <a:rPr lang="en-IN" sz="2400">
                    <a:solidFill>
                      <a:srgbClr val="111827"/>
                    </a:solidFill>
                    <a:latin typeface="Cambria Math" panose="02040503050406030204" pitchFamily="18" charset="0"/>
                  </a:rPr>
                  <a:t>$x^2+x+1=1$</a:t>
                </a:r>
                <a:r>
                  <a:rPr sz="2400" b="0">
                    <a:solidFill>
                      <a:srgbClr val="111827"/>
                    </a:solidFill>
                    <a:latin typeface="Arial"/>
                  </a:rPr>
                  <a:t>, so </a:t>
                </a:r>
                <a:r>
                  <a:rPr lang="en-IN" sz="2400">
                    <a:solidFill>
                      <a:srgbClr val="111827"/>
                    </a:solidFill>
                    <a:latin typeface="Cambria Math" panose="02040503050406030204" pitchFamily="18" charset="0"/>
                  </a:rPr>
                  <a:t>$x=0,-1$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roots give </a:t>
                </a:r>
                <a:r>
                  <a:rPr lang="en-IN" sz="2400">
                    <a:solidFill>
                      <a:srgbClr val="111827"/>
                    </a:solidFill>
                    <a:latin typeface="Cambria Math" panose="02040503050406030204" pitchFamily="18" charset="0"/>
                  </a:rPr>
                  <a:t>$x^2+x+5=5$</a:t>
                </a:r>
                <a:r>
                  <a:rPr sz="2400" b="0">
                    <a:solidFill>
                      <a:srgbClr val="111827"/>
                    </a:solidFill>
                    <a:latin typeface="Arial"/>
                  </a:rPr>
                  <a:t>, so the sum is </a:t>
                </a:r>
                <a:r>
                  <a:rPr lang="en-IN" sz="2400">
                    <a:solidFill>
                      <a:srgbClr val="111827"/>
                    </a:solidFill>
                    <a:latin typeface="Cambria Math" panose="02040503050406030204" pitchFamily="18" charset="0"/>
                  </a:rPr>
                  <a:t>$2\times(1-(-1))=4$</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4</a:t>
            </a:r>
            <a:endParaRPr sz="2800">
              <a:solidFill>
                <a:srgbClr val="15803D"/>
              </a:solidFill>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all real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 'square root of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signals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den>
                    </m:f>
                  </m:oMath>
                </a14:m>
                <a:r>
                  <a:rPr sz="2400" b="0">
                    <a:solidFill>
                      <a:srgbClr val="111827"/>
                    </a:solidFill>
                    <a:latin typeface="Arial"/>
                  </a:rPr>
                  <a:t> is safe when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is symmetric about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its roots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symmetric: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preserves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Values to remember: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(odd multiples of </a:t>
                </a:r>
                <a14:m>
                  <m:oMath xmlns:m="http://schemas.openxmlformats.org/officeDocument/2006/math">
                    <m:r>
                      <a:rPr lang="en-IN" sz="2400" i="1">
                        <a:solidFill>
                          <a:srgbClr val="111827"/>
                        </a:solidFill>
                        <a:latin typeface="Cambria Math" panose="02040503050406030204" pitchFamily="18" charset="0"/>
                      </a:rPr>
                      <m:t>π</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$\sin^{-1}\frac t{\sqrt{1+t^2}}=\tan^{-1}t$</a:t>
                </a:r>
                <a:r>
                  <a:rPr sz="2400" b="0">
                    <a:solidFill>
                      <a:srgbClr val="111827"/>
                    </a:solidFill>
                    <a:latin typeface="Arial"/>
                  </a:rPr>
                  <a:t> and </a:t>
                </a:r>
                <a:r>
                  <a:rPr lang="en-IN" sz="2400">
                    <a:solidFill>
                      <a:srgbClr val="111827"/>
                    </a:solidFill>
                    <a:latin typeface="Cambria Math" panose="02040503050406030204" pitchFamily="18" charset="0"/>
                  </a:rPr>
                  <a:t>$\cos^{-1}\frac1{\sqrt{1+t^2}}=\tan^{-1}|t|$</a:t>
                </a:r>
                <a:r>
                  <a:rPr sz="2400" b="0">
                    <a:solidFill>
                      <a:srgbClr val="111827"/>
                    </a:solidFill>
                    <a:latin typeface="Arial"/>
                  </a:rPr>
                  <a:t> for all real </a:t>
                </a:r>
                <a:r>
                  <a:rPr lang="en-IN" sz="2400">
                    <a:solidFill>
                      <a:srgbClr val="111827"/>
                    </a:solidFill>
                    <a:latin typeface="Cambria Math" panose="02040503050406030204" pitchFamily="18" charset="0"/>
                  </a:rPr>
                  <a:t>$t$</a:t>
                </a:r>
                <a:r>
                  <a:rPr sz="2400" b="0">
                    <a:solidFill>
                      <a:srgbClr val="111827"/>
                    </a:solidFill>
                    <a:latin typeface="Arial"/>
                  </a:rPr>
                  <a:t> - 'square root of </a:t>
                </a:r>
                <a:r>
                  <a:rPr lang="en-IN" sz="2400">
                    <a:solidFill>
                      <a:srgbClr val="111827"/>
                    </a:solidFill>
                    <a:latin typeface="Cambria Math" panose="02040503050406030204" pitchFamily="18" charset="0"/>
                  </a:rPr>
                  <a:t>$1+t^2$</a:t>
                </a:r>
                <a:r>
                  <a:rPr sz="2400" b="0">
                    <a:solidFill>
                      <a:srgbClr val="111827"/>
                    </a:solidFill>
                    <a:latin typeface="Arial"/>
                  </a:rPr>
                  <a:t>' signals </a:t>
                </a:r>
                <a:r>
                  <a:rPr lang="en-IN" sz="2400">
                    <a:solidFill>
                      <a:srgbClr val="111827"/>
                    </a:solidFill>
                    <a:latin typeface="Cambria Math" panose="02040503050406030204" pitchFamily="18" charset="0"/>
                  </a:rPr>
                  <a:t>$\tan^{-1}$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$\tan^{-1}a-\tan^{-1}b=\tan^{-1}\frac{a-b}{1+ab}$</a:t>
                </a:r>
                <a:r>
                  <a:rPr sz="2400" b="0">
                    <a:solidFill>
                      <a:srgbClr val="111827"/>
                    </a:solidFill>
                    <a:latin typeface="Arial"/>
                  </a:rPr>
                  <a:t> is safe when </a:t>
                </a:r>
                <a:r>
                  <a:rPr lang="en-IN" sz="2400">
                    <a:solidFill>
                      <a:srgbClr val="111827"/>
                    </a:solidFill>
                    <a:latin typeface="Cambria Math" panose="02040503050406030204" pitchFamily="18" charset="0"/>
                  </a:rPr>
                  <a:t>$1+ab&gt;0$</a:t>
                </a:r>
                <a:r>
                  <a:rPr sz="2400" b="0">
                    <a:solidFill>
                      <a:srgbClr val="111827"/>
                    </a:solidFill>
                    <a:latin typeface="Arial"/>
                  </a:rPr>
                  <a:t>; here </a:t>
                </a:r>
                <a:r>
                  <a:rPr lang="en-IN" sz="2400">
                    <a:solidFill>
                      <a:srgbClr val="111827"/>
                    </a:solidFill>
                    <a:latin typeface="Cambria Math" panose="02040503050406030204" pitchFamily="18" charset="0"/>
                  </a:rPr>
                  <a:t>$1+x(x+1)=x^2+x+1&gt;0$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$\tan^{-1}(x+1)-\tan^{-1}x=\frac\pi4$</a:t>
                </a:r>
                <a:r>
                  <a:rPr sz="2400" b="0">
                    <a:solidFill>
                      <a:srgbClr val="111827"/>
                    </a:solidFill>
                    <a:latin typeface="Arial"/>
                  </a:rPr>
                  <a:t> is symmetric about </a:t>
                </a:r>
                <a:r>
                  <a:rPr lang="en-IN" sz="2400">
                    <a:solidFill>
                      <a:srgbClr val="111827"/>
                    </a:solidFill>
                    <a:latin typeface="Cambria Math" panose="02040503050406030204" pitchFamily="18" charset="0"/>
                  </a:rPr>
                  <a:t>$x=-\frac12$</a:t>
                </a:r>
                <a:r>
                  <a:rPr sz="2400" b="0">
                    <a:solidFill>
                      <a:srgbClr val="111827"/>
                    </a:solidFill>
                    <a:latin typeface="Arial"/>
                  </a:rPr>
                  <a:t>, so its roots (</a:t>
                </a:r>
                <a:r>
                  <a:rPr lang="en-IN" sz="2400">
                    <a:solidFill>
                      <a:srgbClr val="111827"/>
                    </a:solidFill>
                    <a:latin typeface="Cambria Math" panose="02040503050406030204" pitchFamily="18" charset="0"/>
                  </a:rPr>
                  <a:t>$0,-1$</a:t>
                </a:r>
                <a:r>
                  <a:rPr sz="2400" b="0">
                    <a:solidFill>
                      <a:srgbClr val="111827"/>
                    </a:solidFill>
                    <a:latin typeface="Arial"/>
                  </a:rPr>
                  <a:t>) are symmetric: </a:t>
                </a:r>
                <a:r>
                  <a:rPr lang="en-IN" sz="2400">
                    <a:solidFill>
                      <a:srgbClr val="111827"/>
                    </a:solidFill>
                    <a:latin typeface="Cambria Math" panose="02040503050406030204" pitchFamily="18" charset="0"/>
                  </a:rPr>
                  <a:t>$x\to-1-x$</a:t>
                </a:r>
                <a:r>
                  <a:rPr sz="2400" b="0">
                    <a:solidFill>
                      <a:srgbClr val="111827"/>
                    </a:solidFill>
                    <a:latin typeface="Arial"/>
                  </a:rPr>
                  <a:t> preserves </a:t>
                </a:r>
                <a:r>
                  <a:rPr lang="en-IN" sz="2400">
                    <a:solidFill>
                      <a:srgbClr val="111827"/>
                    </a:solidFill>
                    <a:latin typeface="Cambria Math" panose="02040503050406030204" pitchFamily="18" charset="0"/>
                  </a:rPr>
                  <a:t>$x^2+x$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Values to remember: </a:t>
                </a:r>
                <a:r>
                  <a:rPr lang="en-IN" sz="2400">
                    <a:solidFill>
                      <a:srgbClr val="111827"/>
                    </a:solidFill>
                    <a:latin typeface="Cambria Math" panose="02040503050406030204" pitchFamily="18" charset="0"/>
                  </a:rPr>
                  <a:t>$\sin\frac{5\pi}2=1$</a:t>
                </a:r>
                <a:r>
                  <a:rPr sz="2400" b="0">
                    <a:solidFill>
                      <a:srgbClr val="111827"/>
                    </a:solidFill>
                    <a:latin typeface="Arial"/>
                  </a:rPr>
                  <a:t>, </a:t>
                </a:r>
                <a:r>
                  <a:rPr lang="en-IN" sz="2400">
                    <a:solidFill>
                      <a:srgbClr val="111827"/>
                    </a:solidFill>
                    <a:latin typeface="Cambria Math" panose="02040503050406030204" pitchFamily="18" charset="0"/>
                  </a:rPr>
                  <a:t>$\cos5\pi=-1$</a:t>
                </a:r>
                <a:r>
                  <a:rPr sz="2400" b="0">
                    <a:solidFill>
                      <a:srgbClr val="111827"/>
                    </a:solidFill>
                    <a:latin typeface="Arial"/>
                  </a:rPr>
                  <a:t> (odd multiples of </a:t>
                </a:r>
                <a:r>
                  <a:rPr lang="en-IN" sz="2400">
                    <a:solidFill>
                      <a:srgbClr val="111827"/>
                    </a:solidFill>
                    <a:latin typeface="Cambria Math" panose="02040503050406030204" pitchFamily="18" charset="0"/>
                  </a:rPr>
                  <a:t>$\pi$</a:t>
                </a:r>
                <a:r>
                  <a:rPr sz="2400" b="0">
                    <a:solidFill>
                      <a:srgbClr val="111827"/>
                    </a:solidFill>
                    <a:latin typeface="Arial"/>
                  </a:rPr>
                  <a:t> and </a:t>
                </a:r>
                <a:r>
                  <a:rPr lang="en-IN" sz="2400">
                    <a:solidFill>
                      <a:srgbClr val="111827"/>
                    </a:solidFill>
                    <a:latin typeface="Cambria Math" panose="02040503050406030204" pitchFamily="18" charset="0"/>
                  </a:rPr>
                  <a:t>$\frac\pi2$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Q10 – Q20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No marking scheme printed in the paper</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JEE Advanced default assumed: +4 per question</a:t>
            </a:r>
            <a:endParaRPr sz="2800">
              <a:solidFill>
                <a:srgbClr val="FFFFFF"/>
              </a:solidFill>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bi"/>
                      </m:rPr>
                      <a:rPr lang="en-IN" sz="2400" i="1">
                        <a:solidFill>
                          <a:srgbClr val="111827"/>
                        </a:solidFill>
                        <a:latin typeface="Cambria Math" panose="02040503050406030204" pitchFamily="18" charset="0"/>
                      </a:rPr>
                      <m:t>𝑅</m:t>
                    </m:r>
                  </m:oMath>
                </a14:m>
                <a:r>
                  <a:rPr sz="2400" b="0">
                    <a:solidFill>
                      <a:srgbClr val="111827"/>
                    </a:solidFill>
                    <a:latin typeface="Arial"/>
                  </a:rPr>
                  <a:t>, if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up>
                        </m:sSup>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$\alpha,\beta,\gamma\in\mathbf R$</a:t>
                </a:r>
                <a:r>
                  <a:rPr sz="2400" b="0">
                    <a:solidFill>
                      <a:srgbClr val="111827"/>
                    </a:solidFill>
                    <a:latin typeface="Arial"/>
                  </a:rPr>
                  <a:t>, if </a:t>
                </a:r>
                <a:r>
                  <a:rPr lang="en-IN" sz="2400">
                    <a:solidFill>
                      <a:srgbClr val="111827"/>
                    </a:solidFill>
                    <a:latin typeface="Cambria Math" panose="02040503050406030204" pitchFamily="18" charset="0"/>
                  </a:rPr>
                  <a:t>$\lim_{x\to0}\frac{x^2\sin\alpha x+(\gamma-1)e^{x^2}}{\sin2x-\beta x}=3$</a:t>
                </a:r>
                <a:r>
                  <a:rPr sz="2400" b="0">
                    <a:solidFill>
                      <a:srgbClr val="111827"/>
                    </a:solidFill>
                    <a:latin typeface="Arial"/>
                  </a:rPr>
                  <a:t>, then </a:t>
                </a:r>
                <a:r>
                  <a:rPr lang="en-IN" sz="2400">
                    <a:solidFill>
                      <a:srgbClr val="111827"/>
                    </a:solidFill>
                    <a:latin typeface="Cambria Math" panose="02040503050406030204" pitchFamily="18" charset="0"/>
                  </a:rPr>
                  <a:t>$\beta+\gamma-\alpha$</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$7$</a:t>
                </a:r>
                <a:r>
                  <a:rPr sz="2400" b="0">
                    <a:solidFill>
                      <a:srgbClr val="111827"/>
                    </a:solidFill>
                    <a:latin typeface="Arial"/>
                  </a:rPr>
                  <a:t>   (B) </a:t>
                </a:r>
                <a:r>
                  <a:rPr lang="en-IN" sz="2400">
                    <a:solidFill>
                      <a:srgbClr val="111827"/>
                    </a:solidFill>
                    <a:latin typeface="Cambria Math" panose="02040503050406030204" pitchFamily="18" charset="0"/>
                  </a:rPr>
                  <a:t>$6$</a:t>
                </a:r>
                <a:r>
                  <a:rPr sz="2400" b="0">
                    <a:solidFill>
                      <a:srgbClr val="111827"/>
                    </a:solidFill>
                    <a:latin typeface="Arial"/>
                  </a:rPr>
                  <a:t>   (C) </a:t>
                </a:r>
                <a:r>
                  <a:rPr lang="en-IN" sz="2400">
                    <a:solidFill>
                      <a:srgbClr val="111827"/>
                    </a:solidFill>
                    <a:latin typeface="Cambria Math" panose="02040503050406030204" pitchFamily="18" charset="0"/>
                  </a:rPr>
                  <a:t>$4$</a:t>
                </a:r>
                <a:r>
                  <a:rPr sz="2400" b="0">
                    <a:solidFill>
                      <a:srgbClr val="111827"/>
                    </a:solidFill>
                    <a:latin typeface="Arial"/>
                  </a:rPr>
                  <a:t>   (D) </a:t>
                </a:r>
                <a:r>
                  <a:rPr lang="en-IN" sz="2400">
                    <a:solidFill>
                      <a:srgbClr val="111827"/>
                    </a:solidFill>
                    <a:latin typeface="Cambria Math" panose="02040503050406030204" pitchFamily="18" charset="0"/>
                  </a:rPr>
                  <a:t>$-1$</a:t>
                </a:r>
                <a:endParaRPr sz="2400">
                  <a:solidFill>
                    <a:srgbClr val="111827"/>
                  </a:solidFill>
                </a:endParaRPr>
              </a:p>
            </p:txBody>
          </p:sp>
        </mc:Fallback>
      </mc:AlternateContent>
      <p:sp>
        <p:nvSpPr>
          <p:cNvPr id="5" name="Rectangle 4"/>
          <p:cNvSpPr/>
          <p:nvPr/>
        </p:nvSpPr>
        <p:spPr>
          <a:xfrm>
            <a:off x="731520" y="36901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Limits using series expansion and determination of unknown constants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finite non-zero limit forces the constant term and the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-coefficient to vanish, then the leading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coefficients decide </a:t>
                </a:r>
                <a14:m>
                  <m:oMath xmlns:m="http://schemas.openxmlformats.org/officeDocument/2006/math">
                    <m:r>
                      <a:rPr lang="en-IN" sz="2400" i="1">
                        <a:solidFill>
                          <a:srgbClr val="78350F"/>
                        </a:solidFill>
                        <a:latin typeface="Cambria Math" panose="02040503050406030204" pitchFamily="18" charset="0"/>
                      </a:rPr>
                      <m:t>α</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finite non-zero limit forces the constant term and the </a:t>
                </a:r>
                <a:r>
                  <a:rPr lang="en-IN" sz="2400">
                    <a:solidFill>
                      <a:srgbClr val="78350F"/>
                    </a:solidFill>
                    <a:latin typeface="Cambria Math" panose="02040503050406030204" pitchFamily="18" charset="0"/>
                  </a:rPr>
                  <a:t>$x$</a:t>
                </a:r>
                <a:r>
                  <a:rPr sz="2400" b="0">
                    <a:solidFill>
                      <a:srgbClr val="78350F"/>
                    </a:solidFill>
                    <a:latin typeface="Arial"/>
                  </a:rPr>
                  <a:t>-coefficient to vanish, then the leading </a:t>
                </a:r>
                <a:r>
                  <a:rPr lang="en-IN" sz="2400">
                    <a:solidFill>
                      <a:srgbClr val="78350F"/>
                    </a:solidFill>
                    <a:latin typeface="Cambria Math" panose="02040503050406030204" pitchFamily="18" charset="0"/>
                  </a:rPr>
                  <a:t>$x^3$</a:t>
                </a:r>
                <a:r>
                  <a:rPr sz="2400" b="0">
                    <a:solidFill>
                      <a:srgbClr val="78350F"/>
                    </a:solidFill>
                    <a:latin typeface="Arial"/>
                  </a:rPr>
                  <a:t> coefficients decide </a:t>
                </a:r>
                <a:r>
                  <a:rPr lang="en-IN" sz="2400">
                    <a:solidFill>
                      <a:srgbClr val="78350F"/>
                    </a:solidFill>
                    <a:latin typeface="Cambria Math" panose="02040503050406030204" pitchFamily="18" charset="0"/>
                  </a:rPr>
                  <a:t>$\alpha$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the numerator: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𝑒</m:t>
                        </m:r>
                      </m:e>
                      <m: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numerator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the denominator: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numerator is a constant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the limit to be finite we need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the numerator: </a:t>
                </a:r>
                <a:r>
                  <a:rPr lang="en-IN" sz="2400">
                    <a:solidFill>
                      <a:srgbClr val="111827"/>
                    </a:solidFill>
                    <a:latin typeface="Cambria Math" panose="02040503050406030204" pitchFamily="18" charset="0"/>
                  </a:rPr>
                  <a:t>$x^2\sin\alpha x=\alpha x^3-\dots$</a:t>
                </a:r>
                <a:r>
                  <a:rPr sz="2400" b="0">
                    <a:solidFill>
                      <a:srgbClr val="111827"/>
                    </a:solidFill>
                    <a:latin typeface="Arial"/>
                  </a:rPr>
                  <a:t> and </a:t>
                </a:r>
                <a:r>
                  <a:rPr lang="en-IN" sz="2400">
                    <a:solidFill>
                      <a:srgbClr val="111827"/>
                    </a:solidFill>
                    <a:latin typeface="Cambria Math" panose="02040503050406030204" pitchFamily="18" charset="0"/>
                  </a:rPr>
                  <a:t>$e^{x^2}=1+x^2+\dots$</a:t>
                </a:r>
                <a:r>
                  <a:rPr sz="2400" b="0">
                    <a:solidFill>
                      <a:srgbClr val="111827"/>
                    </a:solidFill>
                    <a:latin typeface="Arial"/>
                  </a:rPr>
                  <a:t>, so the numerator is </a:t>
                </a:r>
                <a:r>
                  <a:rPr lang="en-IN" sz="2400">
                    <a:solidFill>
                      <a:srgbClr val="111827"/>
                    </a:solidFill>
                    <a:latin typeface="Cambria Math" panose="02040503050406030204" pitchFamily="18" charset="0"/>
                  </a:rPr>
                  <a:t>$(\gamma-1)+(\gamma-1)x^2+\alpha x^3+\dots$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the denominator: </a:t>
                </a:r>
                <a:r>
                  <a:rPr lang="en-IN" sz="2400">
                    <a:solidFill>
                      <a:srgbClr val="111827"/>
                    </a:solidFill>
                    <a:latin typeface="Cambria Math" panose="02040503050406030204" pitchFamily="18" charset="0"/>
                  </a:rPr>
                  <a:t>$\sin2x-\beta x=2x-\frac{8x^3}6-\beta x=(2-\beta)x-\frac43x^3+\dots$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numerator is a constant </a:t>
                </a:r>
                <a:r>
                  <a:rPr lang="en-IN" sz="2400">
                    <a:solidFill>
                      <a:srgbClr val="111827"/>
                    </a:solidFill>
                    <a:latin typeface="Cambria Math" panose="02040503050406030204" pitchFamily="18" charset="0"/>
                  </a:rPr>
                  <a:t>$\gamma-1$</a:t>
                </a:r>
                <a:r>
                  <a:rPr sz="2400" b="0">
                    <a:solidFill>
                      <a:srgbClr val="111827"/>
                    </a:solidFill>
                    <a:latin typeface="Arial"/>
                  </a:rPr>
                  <a:t> at </a:t>
                </a:r>
                <a:r>
                  <a:rPr lang="en-IN" sz="2400">
                    <a:solidFill>
                      <a:srgbClr val="111827"/>
                    </a:solidFill>
                    <a:latin typeface="Cambria Math" panose="02040503050406030204" pitchFamily="18" charset="0"/>
                  </a:rPr>
                  <a:t>$x=0$</a:t>
                </a:r>
                <a:r>
                  <a:rPr sz="2400" b="0">
                    <a:solidFill>
                      <a:srgbClr val="111827"/>
                    </a:solidFill>
                    <a:latin typeface="Arial"/>
                  </a:rPr>
                  <a:t>; for the limit to be finite we need </a:t>
                </a:r>
                <a:r>
                  <a:rPr lang="en-IN" sz="2400">
                    <a:solidFill>
                      <a:srgbClr val="111827"/>
                    </a:solidFill>
                    <a:latin typeface="Cambria Math" panose="02040503050406030204" pitchFamily="18" charset="0"/>
                  </a:rPr>
                  <a:t>$\gamma-1=0$</a:t>
                </a:r>
                <a:r>
                  <a:rPr sz="2400" b="0">
                    <a:solidFill>
                      <a:srgbClr val="111827"/>
                    </a:solidFill>
                    <a:latin typeface="Arial"/>
                  </a:rPr>
                  <a:t>, so </a:t>
                </a:r>
                <a:r>
                  <a:rPr lang="en-IN" sz="2400">
                    <a:solidFill>
                      <a:srgbClr val="111827"/>
                    </a:solidFill>
                    <a:latin typeface="Cambria Math" panose="02040503050406030204" pitchFamily="18" charset="0"/>
                  </a:rPr>
                  <a:t>$\gamma=1$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the numerator starts at </a:t>
                </a:r>
                <a14:m>
                  <m:oMath xmlns:m="http://schemas.openxmlformats.org/officeDocument/2006/math">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to avoid a limit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the denominator must also start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limit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it equals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the numerator starts at </a:t>
                </a:r>
                <a:r>
                  <a:rPr lang="en-IN" sz="2400">
                    <a:solidFill>
                      <a:srgbClr val="111827"/>
                    </a:solidFill>
                    <a:latin typeface="Cambria Math" panose="02040503050406030204" pitchFamily="18" charset="0"/>
                  </a:rPr>
                  <a:t>$\alpha x^3$</a:t>
                </a:r>
                <a:r>
                  <a:rPr sz="2400" b="0">
                    <a:solidFill>
                      <a:srgbClr val="111827"/>
                    </a:solidFill>
                    <a:latin typeface="Arial"/>
                  </a:rPr>
                  <a:t>; to avoid a limit of </a:t>
                </a:r>
                <a:r>
                  <a:rPr lang="en-IN" sz="2400">
                    <a:solidFill>
                      <a:srgbClr val="111827"/>
                    </a:solidFill>
                    <a:latin typeface="Cambria Math" panose="02040503050406030204" pitchFamily="18" charset="0"/>
                  </a:rPr>
                  <a:t>$0$</a:t>
                </a:r>
                <a:r>
                  <a:rPr sz="2400" b="0">
                    <a:solidFill>
                      <a:srgbClr val="111827"/>
                    </a:solidFill>
                    <a:latin typeface="Arial"/>
                  </a:rPr>
                  <a:t> the denominator must also start at </a:t>
                </a:r>
                <a:r>
                  <a:rPr lang="en-IN" sz="2400">
                    <a:solidFill>
                      <a:srgbClr val="111827"/>
                    </a:solidFill>
                    <a:latin typeface="Cambria Math" panose="02040503050406030204" pitchFamily="18" charset="0"/>
                  </a:rPr>
                  <a:t>$x^3$</a:t>
                </a:r>
                <a:r>
                  <a:rPr sz="2400" b="0">
                    <a:solidFill>
                      <a:srgbClr val="111827"/>
                    </a:solidFill>
                    <a:latin typeface="Arial"/>
                  </a:rPr>
                  <a:t>, so </a:t>
                </a:r>
                <a:r>
                  <a:rPr lang="en-IN" sz="2400">
                    <a:solidFill>
                      <a:srgbClr val="111827"/>
                    </a:solidFill>
                    <a:latin typeface="Cambria Math" panose="02040503050406030204" pitchFamily="18" charset="0"/>
                  </a:rPr>
                  <a:t>$2-\beta=0$</a:t>
                </a:r>
                <a:r>
                  <a:rPr sz="2400" b="0">
                    <a:solidFill>
                      <a:srgbClr val="111827"/>
                    </a:solidFill>
                    <a:latin typeface="Arial"/>
                  </a:rPr>
                  <a:t>, i.e. </a:t>
                </a:r>
                <a:r>
                  <a:rPr lang="en-IN" sz="2400">
                    <a:solidFill>
                      <a:srgbClr val="111827"/>
                    </a:solidFill>
                    <a:latin typeface="Cambria Math" panose="02040503050406030204" pitchFamily="18" charset="0"/>
                  </a:rPr>
                  <a:t>$\beta=2$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limit is </a:t>
                </a:r>
                <a:r>
                  <a:rPr lang="en-IN" sz="2400">
                    <a:solidFill>
                      <a:srgbClr val="111827"/>
                    </a:solidFill>
                    <a:latin typeface="Cambria Math" panose="02040503050406030204" pitchFamily="18" charset="0"/>
                  </a:rPr>
                  <a:t>$\frac{\alpha x^3}{-\frac43x^3}=-\frac{3\alpha}4$</a:t>
                </a:r>
                <a:r>
                  <a:rPr sz="2400" b="0">
                    <a:solidFill>
                      <a:srgbClr val="111827"/>
                    </a:solidFill>
                    <a:latin typeface="Arial"/>
                  </a:rPr>
                  <a:t>, and it equals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$-\frac{3\alpha}4=3\Rightarrow\alpha=-4$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$\beta+\gamma-\alpha=2+1-(-4)=7$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7</a:t>
            </a:r>
            <a:endParaRPr sz="2800">
              <a:solidFill>
                <a:srgbClr val="15803D"/>
              </a:solidFill>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Third-derivative (Maclaurin coefficient) matching: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𝑁</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𝑁</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num>
                      <m:den>
                        <m:sSup>
                          <m:e>
                            <m:r>
                              <a:rPr lang="en-IN" sz="2400" i="1">
                                <a:solidFill>
                                  <a:srgbClr val="78350F"/>
                                </a:solidFill>
                                <a:latin typeface="Cambria Math" panose="02040503050406030204" pitchFamily="18" charset="0"/>
                              </a:rPr>
                              <m:t>𝐷</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once both vanish to order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Third-derivative (Maclaurin coefficient) matching: </a:t>
                </a:r>
                <a:r>
                  <a:rPr lang="en-IN" sz="2400">
                    <a:solidFill>
                      <a:srgbClr val="78350F"/>
                    </a:solidFill>
                    <a:latin typeface="Cambria Math" panose="02040503050406030204" pitchFamily="18" charset="0"/>
                  </a:rPr>
                  <a:t>$\frac{N(x)}{D(x)}\to\frac{N'''(0)}{D'''(0)}$</a:t>
                </a:r>
                <a:r>
                  <a:rPr sz="2400" b="0">
                    <a:solidFill>
                      <a:srgbClr val="78350F"/>
                    </a:solidFill>
                    <a:latin typeface="Arial"/>
                  </a:rPr>
                  <a:t> once both vanish to order </a:t>
                </a:r>
                <a:r>
                  <a:rPr lang="en-IN" sz="2400">
                    <a:solidFill>
                      <a:srgbClr val="78350F"/>
                    </a:solidFill>
                    <a:latin typeface="Cambria Math" panose="02040503050406030204" pitchFamily="18" charset="0"/>
                  </a:rPr>
                  <a: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numerator tends to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the quotient blows up unless the denominator tends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 impossible; so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𝑁</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𝑁</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𝑁</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denominator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𝐷</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must be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(otherwise the ratio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𝐷</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𝐷</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$\gamma\ne1$</a:t>
                </a:r>
                <a:r>
                  <a:rPr sz="2400" b="0">
                    <a:solidFill>
                      <a:srgbClr val="111827"/>
                    </a:solidFill>
                    <a:latin typeface="Arial"/>
                  </a:rPr>
                  <a:t>, the numerator tends to </a:t>
                </a:r>
                <a:r>
                  <a:rPr lang="en-IN" sz="2400">
                    <a:solidFill>
                      <a:srgbClr val="111827"/>
                    </a:solidFill>
                    <a:latin typeface="Cambria Math" panose="02040503050406030204" pitchFamily="18" charset="0"/>
                  </a:rPr>
                  <a:t>$\gamma-1\ne0$</a:t>
                </a:r>
                <a:r>
                  <a:rPr sz="2400" b="0">
                    <a:solidFill>
                      <a:srgbClr val="111827"/>
                    </a:solidFill>
                    <a:latin typeface="Arial"/>
                  </a:rPr>
                  <a:t> and the quotient blows up unless the denominator tends to </a:t>
                </a:r>
                <a:r>
                  <a:rPr lang="en-IN" sz="2400">
                    <a:solidFill>
                      <a:srgbClr val="111827"/>
                    </a:solidFill>
                    <a:latin typeface="Cambria Math" panose="02040503050406030204" pitchFamily="18" charset="0"/>
                  </a:rPr>
                  <a:t>$\infty$</a:t>
                </a:r>
                <a:r>
                  <a:rPr sz="2400" b="0">
                    <a:solidFill>
                      <a:srgbClr val="111827"/>
                    </a:solidFill>
                    <a:latin typeface="Arial"/>
                  </a:rPr>
                  <a:t> - impossible; so </a:t>
                </a:r>
                <a:r>
                  <a:rPr lang="en-IN" sz="2400">
                    <a:solidFill>
                      <a:srgbClr val="111827"/>
                    </a:solidFill>
                    <a:latin typeface="Cambria Math" panose="02040503050406030204" pitchFamily="18" charset="0"/>
                  </a:rPr>
                  <a:t>$\gamma=1$</a:t>
                </a:r>
                <a:r>
                  <a:rPr sz="2400" b="0">
                    <a:solidFill>
                      <a:srgbClr val="111827"/>
                    </a:solidFill>
                    <a:latin typeface="Arial"/>
                  </a:rPr>
                  <a:t> and </a:t>
                </a:r>
                <a:r>
                  <a:rPr lang="en-IN" sz="2400">
                    <a:solidFill>
                      <a:srgbClr val="111827"/>
                    </a:solidFill>
                    <a:latin typeface="Cambria Math" panose="02040503050406030204" pitchFamily="18" charset="0"/>
                  </a:rPr>
                  <a:t>$N(x)=x^2\sin\alpha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$N(0)=N'(0)=N''(0)=0$</a:t>
                </a:r>
                <a:r>
                  <a:rPr sz="2400" b="0">
                    <a:solidFill>
                      <a:srgbClr val="111827"/>
                    </a:solidFill>
                    <a:latin typeface="Arial"/>
                  </a:rPr>
                  <a:t> and </a:t>
                </a:r>
                <a:r>
                  <a:rPr lang="en-IN" sz="2400">
                    <a:solidFill>
                      <a:srgbClr val="111827"/>
                    </a:solidFill>
                    <a:latin typeface="Cambria Math" panose="02040503050406030204" pitchFamily="18" charset="0"/>
                  </a:rPr>
                  <a:t>$N'''(0)=6\alpha$</a:t>
                </a:r>
                <a:r>
                  <a:rPr sz="2400" b="0">
                    <a:solidFill>
                      <a:srgbClr val="111827"/>
                    </a:solidFill>
                    <a:latin typeface="Arial"/>
                  </a:rPr>
                  <a:t> (since </a:t>
                </a:r>
                <a:r>
                  <a:rPr lang="en-IN" sz="2400">
                    <a:solidFill>
                      <a:srgbClr val="111827"/>
                    </a:solidFill>
                    <a:latin typeface="Cambria Math" panose="02040503050406030204" pitchFamily="18" charset="0"/>
                  </a:rPr>
                  <a:t>$N=\alpha x^3+\dots$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denominator </a:t>
                </a:r>
                <a:r>
                  <a:rPr lang="en-IN" sz="2400">
                    <a:solidFill>
                      <a:srgbClr val="111827"/>
                    </a:solidFill>
                    <a:latin typeface="Cambria Math" panose="02040503050406030204" pitchFamily="18" charset="0"/>
                  </a:rPr>
                  <a:t>$D=\sin2x-\beta x$</a:t>
                </a:r>
                <a:r>
                  <a:rPr sz="2400" b="0">
                    <a:solidFill>
                      <a:srgbClr val="111827"/>
                    </a:solidFill>
                    <a:latin typeface="Arial"/>
                  </a:rPr>
                  <a:t>, </a:t>
                </a:r>
                <a:r>
                  <a:rPr lang="en-IN" sz="2400">
                    <a:solidFill>
                      <a:srgbClr val="111827"/>
                    </a:solidFill>
                    <a:latin typeface="Cambria Math" panose="02040503050406030204" pitchFamily="18" charset="0"/>
                  </a:rPr>
                  <a:t>$D(0)=0$</a:t>
                </a:r>
                <a:r>
                  <a:rPr sz="2400" b="0">
                    <a:solidFill>
                      <a:srgbClr val="111827"/>
                    </a:solidFill>
                    <a:latin typeface="Arial"/>
                  </a:rPr>
                  <a:t>; </a:t>
                </a:r>
                <a:r>
                  <a:rPr lang="en-IN" sz="2400">
                    <a:solidFill>
                      <a:srgbClr val="111827"/>
                    </a:solidFill>
                    <a:latin typeface="Cambria Math" panose="02040503050406030204" pitchFamily="18" charset="0"/>
                  </a:rPr>
                  <a:t>$D'(0)=2-\beta$</a:t>
                </a:r>
                <a:r>
                  <a:rPr sz="2400" b="0">
                    <a:solidFill>
                      <a:srgbClr val="111827"/>
                    </a:solidFill>
                    <a:latin typeface="Arial"/>
                  </a:rPr>
                  <a:t> must be </a:t>
                </a:r>
                <a:r>
                  <a:rPr lang="en-IN" sz="2400">
                    <a:solidFill>
                      <a:srgbClr val="111827"/>
                    </a:solidFill>
                    <a:latin typeface="Cambria Math" panose="02040503050406030204" pitchFamily="18" charset="0"/>
                  </a:rPr>
                  <a:t>$0$</a:t>
                </a:r>
                <a:r>
                  <a:rPr sz="2400" b="0">
                    <a:solidFill>
                      <a:srgbClr val="111827"/>
                    </a:solidFill>
                    <a:latin typeface="Arial"/>
                  </a:rPr>
                  <a:t> (otherwise the ratio </a:t>
                </a:r>
                <a:r>
                  <a:rPr lang="en-IN" sz="2400">
                    <a:solidFill>
                      <a:srgbClr val="111827"/>
                    </a:solidFill>
                    <a:latin typeface="Cambria Math" panose="02040503050406030204" pitchFamily="18" charset="0"/>
                  </a:rPr>
                  <a:t>$\to0$</a:t>
                </a:r>
                <a:r>
                  <a:rPr sz="2400" b="0">
                    <a:solidFill>
                      <a:srgbClr val="111827"/>
                    </a:solidFill>
                    <a:latin typeface="Arial"/>
                  </a:rPr>
                  <a:t>), so </a:t>
                </a:r>
                <a:r>
                  <a:rPr lang="en-IN" sz="2400">
                    <a:solidFill>
                      <a:srgbClr val="111827"/>
                    </a:solidFill>
                    <a:latin typeface="Cambria Math" panose="02040503050406030204" pitchFamily="18" charset="0"/>
                  </a:rPr>
                  <a:t>$\beta=2$</a:t>
                </a:r>
                <a:r>
                  <a:rPr sz="2400" b="0">
                    <a:solidFill>
                      <a:srgbClr val="111827"/>
                    </a:solidFill>
                    <a:latin typeface="Arial"/>
                  </a:rPr>
                  <a:t>; then </a:t>
                </a:r>
                <a:r>
                  <a:rPr lang="en-IN" sz="2400">
                    <a:solidFill>
                      <a:srgbClr val="111827"/>
                    </a:solidFill>
                    <a:latin typeface="Cambria Math" panose="02040503050406030204" pitchFamily="18" charset="0"/>
                  </a:rPr>
                  <a:t>$D''(0)=0$</a:t>
                </a:r>
                <a:r>
                  <a:rPr sz="2400" b="0">
                    <a:solidFill>
                      <a:srgbClr val="111827"/>
                    </a:solidFill>
                    <a:latin typeface="Arial"/>
                  </a:rPr>
                  <a:t> and </a:t>
                </a:r>
                <a:r>
                  <a:rPr lang="en-IN" sz="2400">
                    <a:solidFill>
                      <a:srgbClr val="111827"/>
                    </a:solidFill>
                    <a:latin typeface="Cambria Math" panose="02040503050406030204" pitchFamily="18" charset="0"/>
                  </a:rPr>
                  <a:t>$D'''(0)=-8\cos0=-8$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Applying L'Hopital three times: limit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𝑁</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𝐷</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α</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Applying L'Hopital three times: limit </a:t>
                </a:r>
                <a:r>
                  <a:rPr lang="en-IN" sz="2400">
                    <a:solidFill>
                      <a:srgbClr val="111827"/>
                    </a:solidFill>
                    <a:latin typeface="Cambria Math" panose="02040503050406030204" pitchFamily="18" charset="0"/>
                  </a:rPr>
                  <a:t>$=\frac{N'''(0)}{D'''(0)}=\frac{6\alpha}{-8}=-\frac{3\alpha}4=3$</a:t>
                </a:r>
                <a:r>
                  <a:rPr sz="2400" b="0">
                    <a:solidFill>
                      <a:srgbClr val="111827"/>
                    </a:solidFill>
                    <a:latin typeface="Arial"/>
                  </a:rPr>
                  <a:t>, so </a:t>
                </a:r>
                <a:r>
                  <a:rPr lang="en-IN" sz="2400">
                    <a:solidFill>
                      <a:srgbClr val="111827"/>
                    </a:solidFill>
                    <a:latin typeface="Cambria Math" panose="02040503050406030204" pitchFamily="18" charset="0"/>
                  </a:rPr>
                  <a:t>$\alpha=-4$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$\beta+\gamma-\alpha=2+1+4=7$</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7</a:t>
            </a:r>
            <a:endParaRPr sz="2800">
              <a:solidFill>
                <a:srgbClr val="15803D"/>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lim</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𝑁</m:t>
                        </m:r>
                      </m:num>
                      <m:den>
                        <m:r>
                          <a:rPr lang="en-IN" sz="2400" i="1">
                            <a:solidFill>
                              <a:srgbClr val="111827"/>
                            </a:solidFill>
                            <a:latin typeface="Cambria Math" panose="02040503050406030204" pitchFamily="18" charset="0"/>
                          </a:rPr>
                          <m:t>𝐷</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finite with both analytic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the lowest powers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must be equal, and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ratio of their coefficients.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Parameter-determination questions: kill the lower-order terms one at a time (constant, then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general: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limit evaluates to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(verified symbolically).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$\lim\frac{N}{D}=L\ne0$</a:t>
                </a:r>
                <a:r>
                  <a:rPr sz="2400" b="0">
                    <a:solidFill>
                      <a:srgbClr val="111827"/>
                    </a:solidFill>
                    <a:latin typeface="Arial"/>
                  </a:rPr>
                  <a:t> finite with both analytic at </a:t>
                </a:r>
                <a:r>
                  <a:rPr lang="en-IN" sz="2400">
                    <a:solidFill>
                      <a:srgbClr val="111827"/>
                    </a:solidFill>
                    <a:latin typeface="Cambria Math" panose="02040503050406030204" pitchFamily="18" charset="0"/>
                  </a:rPr>
                  <a:t>$0$</a:t>
                </a:r>
                <a:r>
                  <a:rPr sz="2400" b="0">
                    <a:solidFill>
                      <a:srgbClr val="111827"/>
                    </a:solidFill>
                    <a:latin typeface="Arial"/>
                  </a:rPr>
                  <a:t>: the lowest powers of </a:t>
                </a:r>
                <a:r>
                  <a:rPr lang="en-IN" sz="2400">
                    <a:solidFill>
                      <a:srgbClr val="111827"/>
                    </a:solidFill>
                    <a:latin typeface="Cambria Math" panose="02040503050406030204" pitchFamily="18" charset="0"/>
                  </a:rPr>
                  <a:t>$x$</a:t>
                </a:r>
                <a:r>
                  <a:rPr sz="2400" b="0">
                    <a:solidFill>
                      <a:srgbClr val="111827"/>
                    </a:solidFill>
                    <a:latin typeface="Arial"/>
                  </a:rPr>
                  <a:t> in </a:t>
                </a:r>
                <a:r>
                  <a:rPr lang="en-IN" sz="2400">
                    <a:solidFill>
                      <a:srgbClr val="111827"/>
                    </a:solidFill>
                    <a:latin typeface="Cambria Math" panose="02040503050406030204" pitchFamily="18" charset="0"/>
                  </a:rPr>
                  <a:t>$N$</a:t>
                </a:r>
                <a:r>
                  <a:rPr sz="2400" b="0">
                    <a:solidFill>
                      <a:srgbClr val="111827"/>
                    </a:solidFill>
                    <a:latin typeface="Arial"/>
                  </a:rPr>
                  <a:t> and </a:t>
                </a:r>
                <a:r>
                  <a:rPr lang="en-IN" sz="2400">
                    <a:solidFill>
                      <a:srgbClr val="111827"/>
                    </a:solidFill>
                    <a:latin typeface="Cambria Math" panose="02040503050406030204" pitchFamily="18" charset="0"/>
                  </a:rPr>
                  <a:t>$D$</a:t>
                </a:r>
                <a:r>
                  <a:rPr sz="2400" b="0">
                    <a:solidFill>
                      <a:srgbClr val="111827"/>
                    </a:solidFill>
                    <a:latin typeface="Arial"/>
                  </a:rPr>
                  <a:t> must be equal, and </a:t>
                </a:r>
                <a:r>
                  <a:rPr lang="en-IN" sz="2400">
                    <a:solidFill>
                      <a:srgbClr val="111827"/>
                    </a:solidFill>
                    <a:latin typeface="Cambria Math" panose="02040503050406030204" pitchFamily="18" charset="0"/>
                  </a:rPr>
                  <a:t>$L=$</a:t>
                </a:r>
                <a:r>
                  <a:rPr sz="2400" b="0">
                    <a:solidFill>
                      <a:srgbClr val="111827"/>
                    </a:solidFill>
                    <a:latin typeface="Arial"/>
                  </a:rPr>
                  <a:t> ratio of their coefficients.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Parameter-determination questions: kill the lower-order terms one at a time (constant, then </a:t>
                </a:r>
                <a:r>
                  <a:rPr lang="en-IN" sz="2400">
                    <a:solidFill>
                      <a:srgbClr val="111827"/>
                    </a:solidFill>
                    <a:latin typeface="Cambria Math" panose="02040503050406030204" pitchFamily="18" charset="0"/>
                  </a:rPr>
                  <a:t>$x$</a:t>
                </a:r>
                <a:r>
                  <a:rPr sz="2400" b="0">
                    <a:solidFill>
                      <a:srgbClr val="111827"/>
                    </a:solidFill>
                    <a:latin typeface="Arial"/>
                  </a:rPr>
                  <a:t>, then </a:t>
                </a:r>
                <a:r>
                  <a:rPr lang="en-IN" sz="2400">
                    <a:solidFill>
                      <a:srgbClr val="111827"/>
                    </a:solidFill>
                    <a:latin typeface="Cambria Math" panose="02040503050406030204" pitchFamily="18" charset="0"/>
                  </a:rPr>
                  <a:t>$x^2$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$x^2\sin\alpha x\sim\alpha x^3$</a:t>
                </a:r>
                <a:r>
                  <a:rPr sz="2400" b="0">
                    <a:solidFill>
                      <a:srgbClr val="111827"/>
                    </a:solidFill>
                    <a:latin typeface="Arial"/>
                  </a:rPr>
                  <a:t> and </a:t>
                </a:r>
                <a:r>
                  <a:rPr lang="en-IN" sz="2400">
                    <a:solidFill>
                      <a:srgbClr val="111827"/>
                    </a:solidFill>
                    <a:latin typeface="Cambria Math" panose="02040503050406030204" pitchFamily="18" charset="0"/>
                  </a:rPr>
                  <a:t>$\sin2x-2x\sim-\frac{(2x)^3}6=-\frac43x^3$</a:t>
                </a:r>
                <a:r>
                  <a:rPr sz="2400" b="0">
                    <a:solidFill>
                      <a:srgbClr val="111827"/>
                    </a:solidFill>
                    <a:latin typeface="Arial"/>
                  </a:rPr>
                  <a:t>; general: </a:t>
                </a:r>
                <a:r>
                  <a:rPr lang="en-IN" sz="2400">
                    <a:solidFill>
                      <a:srgbClr val="111827"/>
                    </a:solidFill>
                    <a:latin typeface="Cambria Math" panose="02040503050406030204" pitchFamily="18" charset="0"/>
                  </a:rPr>
                  <a:t>$\sin kx-kx\sim-\frac{k^3x^3}6$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$\alpha=-4,\beta=2,\gamma=1$</a:t>
                </a:r>
                <a:r>
                  <a:rPr sz="2400" b="0">
                    <a:solidFill>
                      <a:srgbClr val="111827"/>
                    </a:solidFill>
                    <a:latin typeface="Arial"/>
                  </a:rPr>
                  <a:t> the limit evaluates to </a:t>
                </a:r>
                <a:r>
                  <a:rPr lang="en-IN" sz="2400">
                    <a:solidFill>
                      <a:srgbClr val="111827"/>
                    </a:solidFill>
                    <a:latin typeface="Cambria Math" panose="02040503050406030204" pitchFamily="18" charset="0"/>
                  </a:rPr>
                  <a:t>$3$</a:t>
                </a:r>
                <a:r>
                  <a:rPr sz="2400" b="0">
                    <a:solidFill>
                      <a:srgbClr val="111827"/>
                    </a:solidFill>
                    <a:latin typeface="Arial"/>
                  </a:rPr>
                  <a:t> (verified symbolically).</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 is finite,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endParaRPr sz="2400">
                  <a:solidFill>
                    <a:srgbClr val="111827"/>
                  </a:solidFill>
                </a:endParaRPr>
              </a:p>
            </p:txBody>
          </p:sp>
        </mc:Choice>
        <mc:Fallback>
          <p:sp>
            <p:nvSpPr>
              <p:cNvPr id="4" name="Rounded Rectangle 3"/>
              <p:cNvSpPr/>
              <p:nvPr/>
            </p:nvSpPr>
            <p:spPr>
              <a:xfrm>
                <a:off x="731520" y="1280160"/>
                <a:ext cx="10725912" cy="19192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$\lim_{x\to0}\frac{\cos(2x)+a\cos(4x)-b}{x^4}$</a:t>
                </a:r>
                <a:r>
                  <a:rPr sz="2400" b="0">
                    <a:solidFill>
                      <a:srgbClr val="111827"/>
                    </a:solidFill>
                    <a:latin typeface="Arial"/>
                  </a:rPr>
                  <a:t> is finite, then </a:t>
                </a:r>
                <a:r>
                  <a:rPr lang="en-IN" sz="2400">
                    <a:solidFill>
                      <a:srgbClr val="111827"/>
                    </a:solidFill>
                    <a:latin typeface="Cambria Math" panose="02040503050406030204" pitchFamily="18" charset="0"/>
                  </a:rPr>
                  <a:t>$(a+b)$</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$\frac34$</a:t>
                </a:r>
                <a:r>
                  <a:rPr sz="2400" b="0">
                    <a:solidFill>
                      <a:srgbClr val="111827"/>
                    </a:solidFill>
                    <a:latin typeface="Arial"/>
                  </a:rPr>
                  <a:t>   (B) </a:t>
                </a:r>
                <a:r>
                  <a:rPr lang="en-IN" sz="2400">
                    <a:solidFill>
                      <a:srgbClr val="111827"/>
                    </a:solidFill>
                    <a:latin typeface="Cambria Math" panose="02040503050406030204" pitchFamily="18" charset="0"/>
                  </a:rPr>
                  <a:t>$0$</a:t>
                </a:r>
                <a:r>
                  <a:rPr sz="2400" b="0">
                    <a:solidFill>
                      <a:srgbClr val="111827"/>
                    </a:solidFill>
                    <a:latin typeface="Arial"/>
                  </a:rPr>
                  <a:t>   (C) </a:t>
                </a:r>
                <a:r>
                  <a:rPr lang="en-IN" sz="2400">
                    <a:solidFill>
                      <a:srgbClr val="111827"/>
                    </a:solidFill>
                    <a:latin typeface="Cambria Math" panose="02040503050406030204" pitchFamily="18" charset="0"/>
                  </a:rPr>
                  <a:t>$\frac12$</a:t>
                </a:r>
                <a:r>
                  <a:rPr sz="2400" b="0">
                    <a:solidFill>
                      <a:srgbClr val="111827"/>
                    </a:solidFill>
                    <a:latin typeface="Arial"/>
                  </a:rPr>
                  <a:t>   (D) </a:t>
                </a:r>
                <a:r>
                  <a:rPr lang="en-IN" sz="2400">
                    <a:solidFill>
                      <a:srgbClr val="111827"/>
                    </a:solidFill>
                    <a:latin typeface="Cambria Math" panose="02040503050406030204" pitchFamily="18" charset="0"/>
                  </a:rPr>
                  <a:t>$-1$</a:t>
                </a:r>
                <a:endParaRPr sz="2400">
                  <a:solidFill>
                    <a:srgbClr val="111827"/>
                  </a:solidFill>
                </a:endParaRPr>
              </a:p>
            </p:txBody>
          </p:sp>
        </mc:Fallback>
      </mc:AlternateContent>
      <p:sp>
        <p:nvSpPr>
          <p:cNvPr id="5" name="Rectangle 4"/>
          <p:cNvSpPr/>
          <p:nvPr/>
        </p:nvSpPr>
        <p:spPr>
          <a:xfrm>
            <a:off x="731520" y="34279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Finiteness of a limit and Taylor series of cosine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Finiteness over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4</m:t>
                        </m:r>
                      </m:sup>
                    </m:sSup>
                  </m:oMath>
                </a14:m>
                <a:r>
                  <a:rPr sz="2400" b="0">
                    <a:solidFill>
                      <a:srgbClr val="78350F"/>
                    </a:solidFill>
                    <a:latin typeface="Arial"/>
                  </a:rPr>
                  <a:t> forces the constant term and the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term of the numerator's expansion to vanish: two equations for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Finiteness over </a:t>
                </a:r>
                <a:r>
                  <a:rPr lang="en-IN" sz="2400">
                    <a:solidFill>
                      <a:srgbClr val="78350F"/>
                    </a:solidFill>
                    <a:latin typeface="Cambria Math" panose="02040503050406030204" pitchFamily="18" charset="0"/>
                  </a:rPr>
                  <a:t>$x^4$</a:t>
                </a:r>
                <a:r>
                  <a:rPr sz="2400" b="0">
                    <a:solidFill>
                      <a:srgbClr val="78350F"/>
                    </a:solidFill>
                    <a:latin typeface="Arial"/>
                  </a:rPr>
                  <a:t> forces the constant term and the </a:t>
                </a:r>
                <a:r>
                  <a:rPr lang="en-IN" sz="2400">
                    <a:solidFill>
                      <a:srgbClr val="78350F"/>
                    </a:solidFill>
                    <a:latin typeface="Cambria Math" panose="02040503050406030204" pitchFamily="18" charset="0"/>
                  </a:rPr>
                  <a:t>$x^2$</a:t>
                </a:r>
                <a:r>
                  <a:rPr sz="2400" b="0">
                    <a:solidFill>
                      <a:srgbClr val="78350F"/>
                    </a:solidFill>
                    <a:latin typeface="Arial"/>
                  </a:rPr>
                  <a:t> term of the numerator's expansion to vanish: two equations for </a:t>
                </a:r>
                <a:r>
                  <a:rPr lang="en-IN" sz="2400">
                    <a:solidFill>
                      <a:srgbClr val="78350F"/>
                    </a:solidFill>
                    <a:latin typeface="Cambria Math" panose="02040503050406030204" pitchFamily="18" charset="0"/>
                  </a:rPr>
                  <a:t>$a,b$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numerator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limit to be finite, the constant term must vanish: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term must vanish too: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$\cos2x=1-\frac{(2x)^2}{2!}+\frac{(2x)^4}{4!}-\dots$</a:t>
                </a:r>
                <a:r>
                  <a:rPr sz="2400" b="0">
                    <a:solidFill>
                      <a:srgbClr val="111827"/>
                    </a:solidFill>
                    <a:latin typeface="Arial"/>
                  </a:rPr>
                  <a:t> and </a:t>
                </a:r>
                <a:r>
                  <a:rPr lang="en-IN" sz="2400">
                    <a:solidFill>
                      <a:srgbClr val="111827"/>
                    </a:solidFill>
                    <a:latin typeface="Cambria Math" panose="02040503050406030204" pitchFamily="18" charset="0"/>
                  </a:rPr>
                  <a:t>$\cos4x=1-\frac{(4x)^2}{2!}+\frac{(4x)^4}{4!}-\dots$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numerator is </a:t>
                </a:r>
                <a:r>
                  <a:rPr lang="en-IN" sz="2400">
                    <a:solidFill>
                      <a:srgbClr val="111827"/>
                    </a:solidFill>
                    <a:latin typeface="Cambria Math" panose="02040503050406030204" pitchFamily="18" charset="0"/>
                  </a:rPr>
                  <a:t>$(1+a-b)+(-2-8a)x^2+O(x^4)$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limit to be finite, the constant term must vanish: </a:t>
                </a:r>
                <a:r>
                  <a:rPr lang="en-IN" sz="2400">
                    <a:solidFill>
                      <a:srgbClr val="111827"/>
                    </a:solidFill>
                    <a:latin typeface="Cambria Math" panose="02040503050406030204" pitchFamily="18" charset="0"/>
                  </a:rPr>
                  <a:t>$1+a-b=0$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$x^2$</a:t>
                </a:r>
                <a:r>
                  <a:rPr sz="2400" b="0">
                    <a:solidFill>
                      <a:srgbClr val="111827"/>
                    </a:solidFill>
                    <a:latin typeface="Arial"/>
                  </a:rPr>
                  <a:t> term must vanish too: </a:t>
                </a:r>
                <a:r>
                  <a:rPr lang="en-IN" sz="2400">
                    <a:solidFill>
                      <a:srgbClr val="111827"/>
                    </a:solidFill>
                    <a:latin typeface="Cambria Math" panose="02040503050406030204" pitchFamily="18" charset="0"/>
                  </a:rPr>
                  <a:t>$-2-8a=0$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$8a=-2$</a:t>
                </a:r>
                <a:r>
                  <a:rPr sz="2400" b="0">
                    <a:solidFill>
                      <a:srgbClr val="111827"/>
                    </a:solidFill>
                    <a:latin typeface="Arial"/>
                  </a:rPr>
                  <a:t>, giving </a:t>
                </a:r>
                <a:r>
                  <a:rPr lang="en-IN" sz="2400">
                    <a:solidFill>
                      <a:srgbClr val="111827"/>
                    </a:solidFill>
                    <a:latin typeface="Cambria Math" panose="02040503050406030204" pitchFamily="18" charset="0"/>
                  </a:rPr>
                  <a:t>$a=-\frac14$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$b=1+a=1-\frac14=\frac34$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$a+b=-\frac14+\frac34=\frac12$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$\frac12$</a:t>
                </a:r>
                <a:endParaRPr sz="2800">
                  <a:solidFill>
                    <a:srgbClr val="15803D"/>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Avoid series: write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22</m:t>
                        </m:r>
                      </m:sup>
                    </m:s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use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m:rPr>
                            <m:sty m:val="p"/>
                          </m:rPr>
                          <a:rPr lang="en-IN" sz="2400">
                            <a:solidFill>
                              <a:srgbClr val="78350F"/>
                            </a:solidFill>
                            <a:latin typeface="Cambria Math" panose="02040503050406030204" pitchFamily="18" charset="0"/>
                          </a:rPr>
                          <m:t>sin</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𝑥</m:t>
                    </m:r>
                  </m:oMath>
                </a14:m>
                <a:r>
                  <a:rPr sz="2400" b="0">
                    <a:solidFill>
                      <a:srgbClr val="78350F"/>
                    </a:solidFill>
                    <a:latin typeface="Arial"/>
                  </a:rPr>
                  <a:t>, so the numerator is a polynomial in </a:t>
                </a:r>
                <a14:m>
                  <m:oMath xmlns:m="http://schemas.openxmlformats.org/officeDocument/2006/math">
                    <m:r>
                      <a:rPr lang="en-IN" sz="2400" i="1">
                        <a:solidFill>
                          <a:srgbClr val="78350F"/>
                        </a:solidFill>
                        <a:latin typeface="Cambria Math" panose="02040503050406030204" pitchFamily="18" charset="0"/>
                      </a:rPr>
                      <m:t>𝑢</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Avoid series: write </a:t>
                </a:r>
                <a:r>
                  <a:rPr lang="en-IN" sz="2400">
                    <a:solidFill>
                      <a:srgbClr val="78350F"/>
                    </a:solidFill>
                    <a:latin typeface="Cambria Math" panose="02040503050406030204" pitchFamily="18" charset="0"/>
                  </a:rPr>
                  <a:t>$\cos4x=2\cos^22x-1$</a:t>
                </a:r>
                <a:r>
                  <a:rPr sz="2400" b="0">
                    <a:solidFill>
                      <a:srgbClr val="78350F"/>
                    </a:solidFill>
                    <a:latin typeface="Arial"/>
                  </a:rPr>
                  <a:t> and use </a:t>
                </a:r>
                <a:r>
                  <a:rPr lang="en-IN" sz="2400">
                    <a:solidFill>
                      <a:srgbClr val="78350F"/>
                    </a:solidFill>
                    <a:latin typeface="Cambria Math" panose="02040503050406030204" pitchFamily="18" charset="0"/>
                  </a:rPr>
                  <a:t>$u=1-\cos2x=2\sin^2x$</a:t>
                </a:r>
                <a:r>
                  <a:rPr sz="2400" b="0">
                    <a:solidFill>
                      <a:srgbClr val="78350F"/>
                    </a:solidFill>
                    <a:latin typeface="Arial"/>
                  </a:rPr>
                  <a:t>, so the numerator is a polynomial in </a:t>
                </a:r>
                <a:r>
                  <a:rPr lang="en-IN" sz="2400">
                    <a:solidFill>
                      <a:srgbClr val="78350F"/>
                    </a:solidFill>
                    <a:latin typeface="Cambria Math" panose="02040503050406030204" pitchFamily="18" charset="0"/>
                  </a:rPr>
                  <a:t>$u$</a:t>
                </a:r>
                <a:r>
                  <a:rPr sz="2400" b="0">
                    <a:solidFill>
                      <a:srgbClr val="78350F"/>
                    </a:solidFill>
                    <a:latin typeface="Arial"/>
                  </a:rPr>
                  <a:t> with </a:t>
                </a:r>
                <a:r>
                  <a:rPr lang="en-IN" sz="2400">
                    <a:solidFill>
                      <a:srgbClr val="78350F"/>
                    </a:solidFill>
                    <a:latin typeface="Cambria Math" panose="02040503050406030204" pitchFamily="18" charset="0"/>
                  </a:rPr>
                  <a:t>$u\sim2x^2$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Numerator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dividing by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needs the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0</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1</m:t>
                        </m:r>
                      </m:sup>
                    </m:sSup>
                  </m:oMath>
                </a14:m>
                <a:r>
                  <a:rPr sz="2400" b="0">
                    <a:solidFill>
                      <a:srgbClr val="111827"/>
                    </a:solidFill>
                    <a:latin typeface="Arial"/>
                  </a:rPr>
                  <a:t> coefficients to vanish: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$c=\cos2x=1-u$</a:t>
                </a:r>
                <a:r>
                  <a:rPr sz="2400" b="0">
                    <a:solidFill>
                      <a:srgbClr val="111827"/>
                    </a:solidFill>
                    <a:latin typeface="Arial"/>
                  </a:rPr>
                  <a:t>: </a:t>
                </a:r>
                <a:r>
                  <a:rPr lang="en-IN" sz="2400">
                    <a:solidFill>
                      <a:srgbClr val="111827"/>
                    </a:solidFill>
                    <a:latin typeface="Cambria Math" panose="02040503050406030204" pitchFamily="18" charset="0"/>
                  </a:rPr>
                  <a:t>$\cos4x=2c^2-1=2(1-u)^2-1=1-4u+2u^2$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Numerator </a:t>
                </a:r>
                <a:r>
                  <a:rPr lang="en-IN" sz="2400">
                    <a:solidFill>
                      <a:srgbClr val="111827"/>
                    </a:solidFill>
                    <a:latin typeface="Cambria Math" panose="02040503050406030204" pitchFamily="18" charset="0"/>
                  </a:rPr>
                  <a:t>$=(1-u)+a(1-4u+2u^2)-b=(1+a-b)-(1+4a)u+2au^2$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$u=2\sin^2x\sim2x^2$</a:t>
                </a:r>
                <a:r>
                  <a:rPr sz="2400" b="0">
                    <a:solidFill>
                      <a:srgbClr val="111827"/>
                    </a:solidFill>
                    <a:latin typeface="Arial"/>
                  </a:rPr>
                  <a:t>, dividing by </a:t>
                </a:r>
                <a:r>
                  <a:rPr lang="en-IN" sz="2400">
                    <a:solidFill>
                      <a:srgbClr val="111827"/>
                    </a:solidFill>
                    <a:latin typeface="Cambria Math" panose="02040503050406030204" pitchFamily="18" charset="0"/>
                  </a:rPr>
                  <a:t>$x^4$</a:t>
                </a:r>
                <a:r>
                  <a:rPr sz="2400" b="0">
                    <a:solidFill>
                      <a:srgbClr val="111827"/>
                    </a:solidFill>
                    <a:latin typeface="Arial"/>
                  </a:rPr>
                  <a:t> needs the </a:t>
                </a:r>
                <a:r>
                  <a:rPr lang="en-IN" sz="2400">
                    <a:solidFill>
                      <a:srgbClr val="111827"/>
                    </a:solidFill>
                    <a:latin typeface="Cambria Math" panose="02040503050406030204" pitchFamily="18" charset="0"/>
                  </a:rPr>
                  <a:t>$u^0$</a:t>
                </a:r>
                <a:r>
                  <a:rPr sz="2400" b="0">
                    <a:solidFill>
                      <a:srgbClr val="111827"/>
                    </a:solidFill>
                    <a:latin typeface="Arial"/>
                  </a:rPr>
                  <a:t> and </a:t>
                </a:r>
                <a:r>
                  <a:rPr lang="en-IN" sz="2400">
                    <a:solidFill>
                      <a:srgbClr val="111827"/>
                    </a:solidFill>
                    <a:latin typeface="Cambria Math" panose="02040503050406030204" pitchFamily="18" charset="0"/>
                  </a:rPr>
                  <a:t>$u^1$</a:t>
                </a:r>
                <a:r>
                  <a:rPr sz="2400" b="0">
                    <a:solidFill>
                      <a:srgbClr val="111827"/>
                    </a:solidFill>
                    <a:latin typeface="Arial"/>
                  </a:rPr>
                  <a:t> coefficients to vanish: </a:t>
                </a:r>
                <a:r>
                  <a:rPr lang="en-IN" sz="2400">
                    <a:solidFill>
                      <a:srgbClr val="111827"/>
                    </a:solidFill>
                    <a:latin typeface="Cambria Math" panose="02040503050406030204" pitchFamily="18" charset="0"/>
                  </a:rPr>
                  <a:t>$1+a-b=0$</a:t>
                </a:r>
                <a:r>
                  <a:rPr sz="2400" b="0">
                    <a:solidFill>
                      <a:srgbClr val="111827"/>
                    </a:solidFill>
                    <a:latin typeface="Arial"/>
                  </a:rPr>
                  <a:t> and </a:t>
                </a:r>
                <a:r>
                  <a:rPr lang="en-IN" sz="2400">
                    <a:solidFill>
                      <a:srgbClr val="111827"/>
                    </a:solidFill>
                    <a:latin typeface="Cambria Math" panose="02040503050406030204" pitchFamily="18" charset="0"/>
                  </a:rPr>
                  <a:t>$1+4a=0$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(then the limit is </a:t>
                </a:r>
                <a14:m>
                  <m:oMath xmlns:m="http://schemas.openxmlformats.org/officeDocument/2006/math">
                    <m:r>
                      <m:rPr>
                        <m:sty m:val="p"/>
                      </m:rPr>
                      <a:rPr lang="en-IN" sz="2400">
                        <a:solidFill>
                          <a:srgbClr val="111827"/>
                        </a:solidFill>
                        <a:latin typeface="Cambria Math" panose="02040503050406030204" pitchFamily="18" charset="0"/>
                      </a:rPr>
                      <m:t>lim</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finite).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$a=-\frac14$</a:t>
                </a:r>
                <a:r>
                  <a:rPr sz="2400" b="0">
                    <a:solidFill>
                      <a:srgbClr val="111827"/>
                    </a:solidFill>
                    <a:latin typeface="Arial"/>
                  </a:rPr>
                  <a:t> and </a:t>
                </a:r>
                <a:r>
                  <a:rPr lang="en-IN" sz="2400">
                    <a:solidFill>
                      <a:srgbClr val="111827"/>
                    </a:solidFill>
                    <a:latin typeface="Cambria Math" panose="02040503050406030204" pitchFamily="18" charset="0"/>
                  </a:rPr>
                  <a:t>$b=1+a=\frac34$</a:t>
                </a:r>
                <a:r>
                  <a:rPr sz="2400" b="0">
                    <a:solidFill>
                      <a:srgbClr val="111827"/>
                    </a:solidFill>
                    <a:latin typeface="Arial"/>
                  </a:rPr>
                  <a:t> (then the limit is </a:t>
                </a:r>
                <a:r>
                  <a:rPr lang="en-IN" sz="2400">
                    <a:solidFill>
                      <a:srgbClr val="111827"/>
                    </a:solidFill>
                    <a:latin typeface="Cambria Math" panose="02040503050406030204" pitchFamily="18" charset="0"/>
                  </a:rPr>
                  <a:t>$\lim\frac{2au^2}{x^4}=2a\cdot4=-2$</a:t>
                </a:r>
                <a:r>
                  <a:rPr sz="2400" b="0">
                    <a:solidFill>
                      <a:srgbClr val="111827"/>
                    </a:solidFill>
                    <a:latin typeface="Arial"/>
                  </a:rPr>
                  <a:t>, finite).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$a+b=\frac12$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$\frac12$</a:t>
                </a:r>
                <a:endParaRPr sz="2800">
                  <a:solidFill>
                    <a:srgbClr val="15803D"/>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4</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24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𝑗</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 to be finite we need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𝑗</m:t>
                        </m:r>
                      </m:sub>
                    </m:sSub>
                    <m:sSubSup>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limit is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𝑗</m:t>
                            </m:r>
                          </m:sub>
                        </m:sSub>
                        <m:sSubSup>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4</m:t>
                            </m:r>
                          </m:sup>
                        </m:sSubSup>
                      </m:num>
                      <m:den>
                        <m:r>
                          <a:rPr lang="en-IN" sz="2400" i="1">
                            <a:solidFill>
                              <a:srgbClr val="111827"/>
                            </a:solidFill>
                            <a:latin typeface="Cambria Math" panose="02040503050406030204" pitchFamily="18" charset="0"/>
                          </a:rPr>
                          <m:t>24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coefficients of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the limit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24</m:t>
                        </m:r>
                      </m:den>
                    </m:f>
                  </m:oMath>
                </a14:m>
                <a:r>
                  <a:rPr sz="2400" b="0">
                    <a:solidFill>
                      <a:srgbClr val="111827"/>
                    </a:solidFill>
                    <a:latin typeface="Arial"/>
                  </a:rPr>
                  <a:t>, which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(checked symbolically).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Multiple-angle identities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let you reduce to one variable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and count orders of </a:t>
                </a:r>
                <a14:m>
                  <m:oMath xmlns:m="http://schemas.openxmlformats.org/officeDocument/2006/math">
                    <m:r>
                      <a:rPr lang="en-IN" sz="2400" i="1">
                        <a:solidFill>
                          <a:srgbClr val="111827"/>
                        </a:solidFill>
                        <a:latin typeface="Cambria Math" panose="02040503050406030204" pitchFamily="18" charset="0"/>
                      </a:rPr>
                      <m:t>𝑢</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Finite limit with unknown constants: set the coefficient of every power below the denominator's degree equal to zero.</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 kx=1-\frac{k^2x^2}2+\frac{k^4x^4}{24}-\dots$</a:t>
                </a:r>
                <a:r>
                  <a:rPr sz="2400" b="0">
                    <a:solidFill>
                      <a:srgbClr val="111827"/>
                    </a:solidFill>
                    <a:latin typeface="Arial"/>
                  </a:rPr>
                  <a:t>; for </a:t>
                </a:r>
                <a:r>
                  <a:rPr lang="en-IN" sz="2400">
                    <a:solidFill>
                      <a:srgbClr val="111827"/>
                    </a:solidFill>
                    <a:latin typeface="Cambria Math" panose="02040503050406030204" pitchFamily="18" charset="0"/>
                  </a:rPr>
                  <a:t>$\frac{\sum c_j\cos(k_jx)}{x^4}$</a:t>
                </a:r>
                <a:r>
                  <a:rPr sz="2400" b="0">
                    <a:solidFill>
                      <a:srgbClr val="111827"/>
                    </a:solidFill>
                    <a:latin typeface="Arial"/>
                  </a:rPr>
                  <a:t> to be finite we need </a:t>
                </a:r>
                <a:r>
                  <a:rPr lang="en-IN" sz="2400">
                    <a:solidFill>
                      <a:srgbClr val="111827"/>
                    </a:solidFill>
                    <a:latin typeface="Cambria Math" panose="02040503050406030204" pitchFamily="18" charset="0"/>
                  </a:rPr>
                  <a:t>$\sum c_j=0$</a:t>
                </a:r>
                <a:r>
                  <a:rPr sz="2400" b="0">
                    <a:solidFill>
                      <a:srgbClr val="111827"/>
                    </a:solidFill>
                    <a:latin typeface="Arial"/>
                  </a:rPr>
                  <a:t> and </a:t>
                </a:r>
                <a:r>
                  <a:rPr lang="en-IN" sz="2400">
                    <a:solidFill>
                      <a:srgbClr val="111827"/>
                    </a:solidFill>
                    <a:latin typeface="Cambria Math" panose="02040503050406030204" pitchFamily="18" charset="0"/>
                  </a:rPr>
                  <a:t>$\sum c_jk_j^2=0$</a:t>
                </a:r>
                <a:r>
                  <a:rPr sz="2400" b="0">
                    <a:solidFill>
                      <a:srgbClr val="111827"/>
                    </a:solidFill>
                    <a:latin typeface="Arial"/>
                  </a:rPr>
                  <a:t>; the limit is then </a:t>
                </a:r>
                <a:r>
                  <a:rPr lang="en-IN" sz="2400">
                    <a:solidFill>
                      <a:srgbClr val="111827"/>
                    </a:solidFill>
                    <a:latin typeface="Cambria Math" panose="02040503050406030204" pitchFamily="18" charset="0"/>
                  </a:rPr>
                  <a:t>$\frac{\sum c_jk_j^4}{24}$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coefficients of </a:t>
                </a:r>
                <a:r>
                  <a:rPr lang="en-IN" sz="2400">
                    <a:solidFill>
                      <a:srgbClr val="111827"/>
                    </a:solidFill>
                    <a:latin typeface="Cambria Math" panose="02040503050406030204" pitchFamily="18" charset="0"/>
                  </a:rPr>
                  <a:t>$\cos2x,\cos4x$</a:t>
                </a:r>
                <a:r>
                  <a:rPr sz="2400" b="0">
                    <a:solidFill>
                      <a:srgbClr val="111827"/>
                    </a:solidFill>
                    <a:latin typeface="Arial"/>
                  </a:rPr>
                  <a:t> are </a:t>
                </a:r>
                <a:r>
                  <a:rPr lang="en-IN" sz="2400">
                    <a:solidFill>
                      <a:srgbClr val="111827"/>
                    </a:solidFill>
                    <a:latin typeface="Cambria Math" panose="02040503050406030204" pitchFamily="18" charset="0"/>
                  </a:rPr>
                  <a:t>$1,a$</a:t>
                </a:r>
                <a:r>
                  <a:rPr sz="2400" b="0">
                    <a:solidFill>
                      <a:srgbClr val="111827"/>
                    </a:solidFill>
                    <a:latin typeface="Arial"/>
                  </a:rPr>
                  <a:t>: the limit is </a:t>
                </a:r>
                <a:r>
                  <a:rPr lang="en-IN" sz="2400">
                    <a:solidFill>
                      <a:srgbClr val="111827"/>
                    </a:solidFill>
                    <a:latin typeface="Cambria Math" panose="02040503050406030204" pitchFamily="18" charset="0"/>
                  </a:rPr>
                  <a:t>$\frac{16+256a}{24}$</a:t>
                </a:r>
                <a:r>
                  <a:rPr sz="2400" b="0">
                    <a:solidFill>
                      <a:srgbClr val="111827"/>
                    </a:solidFill>
                    <a:latin typeface="Arial"/>
                  </a:rPr>
                  <a:t>, which for </a:t>
                </a:r>
                <a:r>
                  <a:rPr lang="en-IN" sz="2400">
                    <a:solidFill>
                      <a:srgbClr val="111827"/>
                    </a:solidFill>
                    <a:latin typeface="Cambria Math" panose="02040503050406030204" pitchFamily="18" charset="0"/>
                  </a:rPr>
                  <a:t>$a=-\frac14$</a:t>
                </a:r>
                <a:r>
                  <a:rPr sz="2400" b="0">
                    <a:solidFill>
                      <a:srgbClr val="111827"/>
                    </a:solidFill>
                    <a:latin typeface="Arial"/>
                  </a:rPr>
                  <a:t> is </a:t>
                </a:r>
                <a:r>
                  <a:rPr lang="en-IN" sz="2400">
                    <a:solidFill>
                      <a:srgbClr val="111827"/>
                    </a:solidFill>
                    <a:latin typeface="Cambria Math" panose="02040503050406030204" pitchFamily="18" charset="0"/>
                  </a:rPr>
                  <a:t>$-2$</a:t>
                </a:r>
                <a:r>
                  <a:rPr sz="2400" b="0">
                    <a:solidFill>
                      <a:srgbClr val="111827"/>
                    </a:solidFill>
                    <a:latin typeface="Arial"/>
                  </a:rPr>
                  <a:t> (checked symbolically).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Multiple-angle identities (</a:t>
                </a:r>
                <a:r>
                  <a:rPr lang="en-IN" sz="2400">
                    <a:solidFill>
                      <a:srgbClr val="111827"/>
                    </a:solidFill>
                    <a:latin typeface="Cambria Math" panose="02040503050406030204" pitchFamily="18" charset="0"/>
                  </a:rPr>
                  <a:t>$\cos4x=2\cos^22x-1$</a:t>
                </a:r>
                <a:r>
                  <a:rPr sz="2400" b="0">
                    <a:solidFill>
                      <a:srgbClr val="111827"/>
                    </a:solidFill>
                    <a:latin typeface="Arial"/>
                  </a:rPr>
                  <a:t>) let you reduce to one variable </a:t>
                </a:r>
                <a:r>
                  <a:rPr lang="en-IN" sz="2400">
                    <a:solidFill>
                      <a:srgbClr val="111827"/>
                    </a:solidFill>
                    <a:latin typeface="Cambria Math" panose="02040503050406030204" pitchFamily="18" charset="0"/>
                  </a:rPr>
                  <a:t>$u=1-\cos2x$</a:t>
                </a:r>
                <a:r>
                  <a:rPr sz="2400" b="0">
                    <a:solidFill>
                      <a:srgbClr val="111827"/>
                    </a:solidFill>
                    <a:latin typeface="Arial"/>
                  </a:rPr>
                  <a:t> and count orders of </a:t>
                </a:r>
                <a:r>
                  <a:rPr lang="en-IN" sz="2400">
                    <a:solidFill>
                      <a:srgbClr val="111827"/>
                    </a:solidFill>
                    <a:latin typeface="Cambria Math" panose="02040503050406030204" pitchFamily="18" charset="0"/>
                  </a:rPr>
                  <a:t>$u$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Finite limit with unknown constants: set the coefficient of every power below the denominator's degree equal to zero.</a:t>
                </a:r>
                <a:endParaRPr sz="2400">
                  <a:solidFill>
                    <a:srgbClr val="111827"/>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19</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17</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20</m:t>
                    </m:r>
                  </m:oMath>
                </a14:m>
                <a:endParaRPr sz="2400">
                  <a:solidFill>
                    <a:srgbClr val="111827"/>
                  </a:solidFill>
                </a:endParaRPr>
              </a:p>
            </p:txBody>
          </p:sp>
        </mc:Choice>
        <mc:Fallback>
          <p:sp>
            <p:nvSpPr>
              <p:cNvPr id="4" name="Rounded Rectangle 3"/>
              <p:cNvSpPr/>
              <p:nvPr/>
            </p:nvSpPr>
            <p:spPr>
              <a:xfrm>
                <a:off x="731520" y="1280160"/>
                <a:ext cx="10725912" cy="21813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$\lim_{x\to1^+}\frac{(x-1)(6+\lambda\cos(x-1))+\mu\sin(1-x)}{(x-1)^3}=-1$</a:t>
                </a:r>
                <a:r>
                  <a:rPr sz="2400" b="0">
                    <a:solidFill>
                      <a:srgbClr val="111827"/>
                    </a:solidFill>
                    <a:latin typeface="Arial"/>
                  </a:rPr>
                  <a:t>, where </a:t>
                </a:r>
                <a:r>
                  <a:rPr lang="en-IN" sz="2400">
                    <a:solidFill>
                      <a:srgbClr val="111827"/>
                    </a:solidFill>
                    <a:latin typeface="Cambria Math" panose="02040503050406030204" pitchFamily="18" charset="0"/>
                  </a:rPr>
                  <a:t>$\lambda,\mu\in\mathbb R$</a:t>
                </a:r>
                <a:r>
                  <a:rPr sz="2400" b="0">
                    <a:solidFill>
                      <a:srgbClr val="111827"/>
                    </a:solidFill>
                    <a:latin typeface="Arial"/>
                  </a:rPr>
                  <a:t>, then </a:t>
                </a:r>
                <a:r>
                  <a:rPr lang="en-IN" sz="2400">
                    <a:solidFill>
                      <a:srgbClr val="111827"/>
                    </a:solidFill>
                    <a:latin typeface="Cambria Math" panose="02040503050406030204" pitchFamily="18" charset="0"/>
                  </a:rPr>
                  <a:t>$\lambda+\mu$</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$19$</a:t>
                </a:r>
                <a:r>
                  <a:rPr sz="2400" b="0">
                    <a:solidFill>
                      <a:srgbClr val="111827"/>
                    </a:solidFill>
                    <a:latin typeface="Arial"/>
                  </a:rPr>
                  <a:t>   (B) </a:t>
                </a:r>
                <a:r>
                  <a:rPr lang="en-IN" sz="2400">
                    <a:solidFill>
                      <a:srgbClr val="111827"/>
                    </a:solidFill>
                    <a:latin typeface="Cambria Math" panose="02040503050406030204" pitchFamily="18" charset="0"/>
                  </a:rPr>
                  <a:t>$17$</a:t>
                </a:r>
                <a:r>
                  <a:rPr sz="2400" b="0">
                    <a:solidFill>
                      <a:srgbClr val="111827"/>
                    </a:solidFill>
                    <a:latin typeface="Arial"/>
                  </a:rPr>
                  <a:t>   (C) </a:t>
                </a:r>
                <a:r>
                  <a:rPr lang="en-IN" sz="2400">
                    <a:solidFill>
                      <a:srgbClr val="111827"/>
                    </a:solidFill>
                    <a:latin typeface="Cambria Math" panose="02040503050406030204" pitchFamily="18" charset="0"/>
                  </a:rPr>
                  <a:t>$18$</a:t>
                </a:r>
                <a:r>
                  <a:rPr sz="2400" b="0">
                    <a:solidFill>
                      <a:srgbClr val="111827"/>
                    </a:solidFill>
                    <a:latin typeface="Arial"/>
                  </a:rPr>
                  <a:t>   (D) </a:t>
                </a:r>
                <a:r>
                  <a:rPr lang="en-IN" sz="2400">
                    <a:solidFill>
                      <a:srgbClr val="111827"/>
                    </a:solidFill>
                    <a:latin typeface="Cambria Math" panose="02040503050406030204" pitchFamily="18" charset="0"/>
                  </a:rPr>
                  <a:t>$20$</a:t>
                </a:r>
                <a:endParaRPr sz="2400">
                  <a:solidFill>
                    <a:srgbClr val="111827"/>
                  </a:solidFill>
                </a:endParaRPr>
              </a:p>
            </p:txBody>
          </p:sp>
        </mc:Fallback>
      </mc:AlternateContent>
      <p:sp>
        <p:nvSpPr>
          <p:cNvPr id="5" name="Rectangle 4"/>
          <p:cNvSpPr/>
          <p:nvPr/>
        </p:nvSpPr>
        <p:spPr>
          <a:xfrm>
            <a:off x="731520" y="36901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Limits using series expansion and determination of unknown constants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oMath>
                </a14:m>
                <a:r>
                  <a:rPr sz="2400" b="0">
                    <a:solidFill>
                      <a:srgbClr val="78350F"/>
                    </a:solidFill>
                    <a:latin typeface="Arial"/>
                  </a:rPr>
                  <a:t> and expand in </a:t>
                </a:r>
                <a14:m>
                  <m:oMath xmlns:m="http://schemas.openxmlformats.org/officeDocument/2006/math">
                    <m:r>
                      <a:rPr lang="en-IN" sz="2400" i="1">
                        <a:solidFill>
                          <a:srgbClr val="78350F"/>
                        </a:solidFill>
                        <a:latin typeface="Cambria Math" panose="02040503050406030204" pitchFamily="18" charset="0"/>
                      </a:rPr>
                      <m:t>ℎ</m:t>
                    </m:r>
                  </m:oMath>
                </a14:m>
                <a:r>
                  <a:rPr sz="2400" b="0">
                    <a:solidFill>
                      <a:srgbClr val="78350F"/>
                    </a:solidFill>
                    <a:latin typeface="Arial"/>
                  </a:rPr>
                  <a:t>: the </a:t>
                </a:r>
                <a14:m>
                  <m:oMath xmlns:m="http://schemas.openxmlformats.org/officeDocument/2006/math">
                    <m:r>
                      <a:rPr lang="en-IN" sz="2400" i="1">
                        <a:solidFill>
                          <a:srgbClr val="78350F"/>
                        </a:solidFill>
                        <a:latin typeface="Cambria Math" panose="02040503050406030204" pitchFamily="18" charset="0"/>
                      </a:rPr>
                      <m:t>ℎ</m:t>
                    </m:r>
                  </m:oMath>
                </a14:m>
                <a:r>
                  <a:rPr sz="2400" b="0">
                    <a:solidFill>
                      <a:srgbClr val="78350F"/>
                    </a:solidFill>
                    <a:latin typeface="Arial"/>
                  </a:rPr>
                  <a:t>-coefficient must vanish and the </a:t>
                </a:r>
                <a14:m>
                  <m:oMath xmlns:m="http://schemas.openxmlformats.org/officeDocument/2006/math">
                    <m:sSup>
                      <m:e>
                        <m:r>
                          <a:rPr lang="en-IN" sz="2400" i="1">
                            <a:solidFill>
                              <a:srgbClr val="78350F"/>
                            </a:solidFill>
                            <a:latin typeface="Cambria Math" panose="02040503050406030204" pitchFamily="18" charset="0"/>
                          </a:rPr>
                          <m:t>ℎ</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-coefficient must equal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r>
                  <a:rPr lang="en-IN" sz="2400">
                    <a:solidFill>
                      <a:srgbClr val="78350F"/>
                    </a:solidFill>
                    <a:latin typeface="Cambria Math" panose="02040503050406030204" pitchFamily="18" charset="0"/>
                  </a:rPr>
                  <a:t>$x-1=h$</a:t>
                </a:r>
                <a:r>
                  <a:rPr sz="2400" b="0">
                    <a:solidFill>
                      <a:srgbClr val="78350F"/>
                    </a:solidFill>
                    <a:latin typeface="Arial"/>
                  </a:rPr>
                  <a:t> and expand in </a:t>
                </a:r>
                <a:r>
                  <a:rPr lang="en-IN" sz="2400">
                    <a:solidFill>
                      <a:srgbClr val="78350F"/>
                    </a:solidFill>
                    <a:latin typeface="Cambria Math" panose="02040503050406030204" pitchFamily="18" charset="0"/>
                  </a:rPr>
                  <a:t>$h$</a:t>
                </a:r>
                <a:r>
                  <a:rPr sz="2400" b="0">
                    <a:solidFill>
                      <a:srgbClr val="78350F"/>
                    </a:solidFill>
                    <a:latin typeface="Arial"/>
                  </a:rPr>
                  <a:t>: the </a:t>
                </a:r>
                <a:r>
                  <a:rPr lang="en-IN" sz="2400">
                    <a:solidFill>
                      <a:srgbClr val="78350F"/>
                    </a:solidFill>
                    <a:latin typeface="Cambria Math" panose="02040503050406030204" pitchFamily="18" charset="0"/>
                  </a:rPr>
                  <a:t>$h$</a:t>
                </a:r>
                <a:r>
                  <a:rPr sz="2400" b="0">
                    <a:solidFill>
                      <a:srgbClr val="78350F"/>
                    </a:solidFill>
                    <a:latin typeface="Arial"/>
                  </a:rPr>
                  <a:t>-coefficient must vanish and the </a:t>
                </a:r>
                <a:r>
                  <a:rPr lang="en-IN" sz="2400">
                    <a:solidFill>
                      <a:srgbClr val="78350F"/>
                    </a:solidFill>
                    <a:latin typeface="Cambria Math" panose="02040503050406030204" pitchFamily="18" charset="0"/>
                  </a:rPr>
                  <a:t>$h^3$</a:t>
                </a:r>
                <a:r>
                  <a:rPr sz="2400" b="0">
                    <a:solidFill>
                      <a:srgbClr val="78350F"/>
                    </a:solidFill>
                    <a:latin typeface="Arial"/>
                  </a:rPr>
                  <a:t>-coefficient must equal </a:t>
                </a:r>
                <a:r>
                  <a:rPr lang="en-IN" sz="2400">
                    <a:solidFill>
                      <a:srgbClr val="78350F"/>
                    </a:solidFill>
                    <a:latin typeface="Cambria Math" panose="02040503050406030204" pitchFamily="18" charset="0"/>
                  </a:rPr>
                  <a:t>$-1$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limit is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ℎ</m:t>
                        </m:r>
                      </m:num>
                      <m:den>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den>
                    </m:f>
                  </m:oMath>
                </a14:m>
                <a:r>
                  <a:rPr sz="2400" b="0">
                    <a:solidFill>
                      <a:srgbClr val="111827"/>
                    </a:solidFill>
                    <a:latin typeface="Arial"/>
                  </a:rPr>
                  <a:t>: numerator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e>
                        </m:d>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out: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Group: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$x-1=h$</a:t>
                </a:r>
                <a:r>
                  <a:rPr sz="2400" b="0">
                    <a:solidFill>
                      <a:srgbClr val="111827"/>
                    </a:solidFill>
                    <a:latin typeface="Arial"/>
                  </a:rPr>
                  <a:t> (</a:t>
                </a:r>
                <a:r>
                  <a:rPr lang="en-IN" sz="2400">
                    <a:solidFill>
                      <a:srgbClr val="111827"/>
                    </a:solidFill>
                    <a:latin typeface="Cambria Math" panose="02040503050406030204" pitchFamily="18" charset="0"/>
                  </a:rPr>
                  <a:t>$h\to0^+$</a:t>
                </a:r>
                <a:r>
                  <a:rPr sz="2400" b="0">
                    <a:solidFill>
                      <a:srgbClr val="111827"/>
                    </a:solidFill>
                    <a:latin typeface="Arial"/>
                  </a:rPr>
                  <a:t>): the limit is </a:t>
                </a:r>
                <a:r>
                  <a:rPr lang="en-IN" sz="2400">
                    <a:solidFill>
                      <a:srgbClr val="111827"/>
                    </a:solidFill>
                    <a:latin typeface="Cambria Math" panose="02040503050406030204" pitchFamily="18" charset="0"/>
                  </a:rPr>
                  <a:t>$\lim_{h\to0}\frac{h(6+\lambda\cosh h)-\mu\sin h}{h^3}=-1$</a:t>
                </a:r>
                <a:r>
                  <a:rPr sz="2400" b="0">
                    <a:solidFill>
                      <a:srgbClr val="111827"/>
                    </a:solidFill>
                    <a:latin typeface="Arial"/>
                  </a:rPr>
                  <a:t> (since </a:t>
                </a:r>
                <a:r>
                  <a:rPr lang="en-IN" sz="2400">
                    <a:solidFill>
                      <a:srgbClr val="111827"/>
                    </a:solidFill>
                    <a:latin typeface="Cambria Math" panose="02040503050406030204" pitchFamily="18" charset="0"/>
                  </a:rPr>
                  <a:t>$\sin(1-x)=-\sin 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$\cos h=1-\frac{h^2}2$</a:t>
                </a:r>
                <a:r>
                  <a:rPr sz="2400" b="0">
                    <a:solidFill>
                      <a:srgbClr val="111827"/>
                    </a:solidFill>
                    <a:latin typeface="Arial"/>
                  </a:rPr>
                  <a:t> and </a:t>
                </a:r>
                <a:r>
                  <a:rPr lang="en-IN" sz="2400">
                    <a:solidFill>
                      <a:srgbClr val="111827"/>
                    </a:solidFill>
                    <a:latin typeface="Cambria Math" panose="02040503050406030204" pitchFamily="18" charset="0"/>
                  </a:rPr>
                  <a:t>$\sin h=h-\frac{h^3}6$</a:t>
                </a:r>
                <a:r>
                  <a:rPr sz="2400" b="0">
                    <a:solidFill>
                      <a:srgbClr val="111827"/>
                    </a:solidFill>
                    <a:latin typeface="Arial"/>
                  </a:rPr>
                  <a:t>: numerator </a:t>
                </a:r>
                <a:r>
                  <a:rPr lang="en-IN" sz="2400">
                    <a:solidFill>
                      <a:srgbClr val="111827"/>
                    </a:solidFill>
                    <a:latin typeface="Cambria Math" panose="02040503050406030204" pitchFamily="18" charset="0"/>
                  </a:rPr>
                  <a:t>$=h\left(6+\lambda\left(1-\frac{h^2}2\right)\right)-\mu\left(h-\frac{h^3}6\right)$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out: </a:t>
                </a:r>
                <a:r>
                  <a:rPr lang="en-IN" sz="2400">
                    <a:solidFill>
                      <a:srgbClr val="111827"/>
                    </a:solidFill>
                    <a:latin typeface="Cambria Math" panose="02040503050406030204" pitchFamily="18" charset="0"/>
                  </a:rPr>
                  <a:t>$6h+\lambda h-\frac{\lambda h^3}2-\mu h+\frac{\mu h^3}6$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Group: </a:t>
                </a:r>
                <a:r>
                  <a:rPr lang="en-IN" sz="2400">
                    <a:solidFill>
                      <a:srgbClr val="111827"/>
                    </a:solidFill>
                    <a:latin typeface="Cambria Math" panose="02040503050406030204" pitchFamily="18" charset="0"/>
                  </a:rPr>
                  <a:t>$h(6+\lambda-\mu)+h^3\left(\frac\mu6-\frac\lambda2\right)$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Finiteness needs the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-coefficient to vanish: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the limit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(2) from (1):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then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Finiteness needs the </a:t>
                </a:r>
                <a:r>
                  <a:rPr lang="en-IN" sz="2400">
                    <a:solidFill>
                      <a:srgbClr val="111827"/>
                    </a:solidFill>
                    <a:latin typeface="Cambria Math" panose="02040503050406030204" pitchFamily="18" charset="0"/>
                  </a:rPr>
                  <a:t>$h$</a:t>
                </a:r>
                <a:r>
                  <a:rPr sz="2400" b="0">
                    <a:solidFill>
                      <a:srgbClr val="111827"/>
                    </a:solidFill>
                    <a:latin typeface="Arial"/>
                  </a:rPr>
                  <a:t>-coefficient to vanish: </a:t>
                </a:r>
                <a:r>
                  <a:rPr lang="en-IN" sz="2400">
                    <a:solidFill>
                      <a:srgbClr val="111827"/>
                    </a:solidFill>
                    <a:latin typeface="Cambria Math" panose="02040503050406030204" pitchFamily="18" charset="0"/>
                  </a:rPr>
                  <a:t>$\lambda-\mu+6=0$</a:t>
                </a:r>
                <a:r>
                  <a:rPr sz="2400" b="0">
                    <a:solidFill>
                      <a:srgbClr val="111827"/>
                    </a:solidFill>
                    <a:latin typeface="Arial"/>
                  </a:rPr>
                  <a:t>, i.e. </a:t>
                </a:r>
                <a:r>
                  <a:rPr lang="en-IN" sz="2400">
                    <a:solidFill>
                      <a:srgbClr val="111827"/>
                    </a:solidFill>
                    <a:latin typeface="Cambria Math" panose="02040503050406030204" pitchFamily="18" charset="0"/>
                  </a:rPr>
                  <a:t>$\mu-\lambda=6$</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the limit is </a:t>
                </a:r>
                <a:r>
                  <a:rPr lang="en-IN" sz="2400">
                    <a:solidFill>
                      <a:srgbClr val="111827"/>
                    </a:solidFill>
                    <a:latin typeface="Cambria Math" panose="02040503050406030204" pitchFamily="18" charset="0"/>
                  </a:rPr>
                  <a:t>$\frac\mu6-\frac\lambda2=-1$</a:t>
                </a:r>
                <a:r>
                  <a:rPr sz="2400" b="0">
                    <a:solidFill>
                      <a:srgbClr val="111827"/>
                    </a:solidFill>
                    <a:latin typeface="Arial"/>
                  </a:rPr>
                  <a:t>, i.e. </a:t>
                </a:r>
                <a:r>
                  <a:rPr lang="en-IN" sz="2400">
                    <a:solidFill>
                      <a:srgbClr val="111827"/>
                    </a:solidFill>
                    <a:latin typeface="Cambria Math" panose="02040503050406030204" pitchFamily="18" charset="0"/>
                  </a:rPr>
                  <a:t>$\mu-3\lambda=-6$</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(2) from (1): </a:t>
                </a:r>
                <a:r>
                  <a:rPr lang="en-IN" sz="2400">
                    <a:solidFill>
                      <a:srgbClr val="111827"/>
                    </a:solidFill>
                    <a:latin typeface="Cambria Math" panose="02040503050406030204" pitchFamily="18" charset="0"/>
                  </a:rPr>
                  <a:t>$2\lambda=12$</a:t>
                </a:r>
                <a:r>
                  <a:rPr sz="2400" b="0">
                    <a:solidFill>
                      <a:srgbClr val="111827"/>
                    </a:solidFill>
                    <a:latin typeface="Arial"/>
                  </a:rPr>
                  <a:t>, so </a:t>
                </a:r>
                <a:r>
                  <a:rPr lang="en-IN" sz="2400">
                    <a:solidFill>
                      <a:srgbClr val="111827"/>
                    </a:solidFill>
                    <a:latin typeface="Cambria Math" panose="02040503050406030204" pitchFamily="18" charset="0"/>
                  </a:rPr>
                  <a:t>$\lambda=6$</a:t>
                </a:r>
                <a:r>
                  <a:rPr sz="2400" b="0">
                    <a:solidFill>
                      <a:srgbClr val="111827"/>
                    </a:solidFill>
                    <a:latin typeface="Arial"/>
                  </a:rPr>
                  <a:t>, and then </a:t>
                </a:r>
                <a:r>
                  <a:rPr lang="en-IN" sz="2400">
                    <a:solidFill>
                      <a:srgbClr val="111827"/>
                    </a:solidFill>
                    <a:latin typeface="Cambria Math" panose="02040503050406030204" pitchFamily="18" charset="0"/>
                  </a:rPr>
                  <a:t>$\mu=12$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$\lambda+\mu=18$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18</a:t>
            </a:r>
            <a:endParaRPr sz="2800">
              <a:solidFill>
                <a:srgbClr val="15803D"/>
              </a:solidFill>
            </a:endParaRP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Treat the numerator as a function </a:t>
                </a:r>
                <a14:m>
                  <m:oMath xmlns:m="http://schemas.openxmlformats.org/officeDocument/2006/math">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use the derivative test: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num>
                      <m:den>
                        <m:sSup>
                          <m:e>
                            <m:r>
                              <a:rPr lang="en-IN" sz="2400" i="1">
                                <a:solidFill>
                                  <a:srgbClr val="78350F"/>
                                </a:solidFill>
                                <a:latin typeface="Cambria Math" panose="02040503050406030204" pitchFamily="18" charset="0"/>
                              </a:rPr>
                              <m:t>ℎ</m:t>
                            </m:r>
                          </m:e>
                          <m:sup>
                            <m:r>
                              <a:rPr lang="en-IN" sz="2400" i="1">
                                <a:solidFill>
                                  <a:srgbClr val="78350F"/>
                                </a:solidFill>
                                <a:latin typeface="Cambria Math" panose="02040503050406030204" pitchFamily="18" charset="0"/>
                              </a:rPr>
                              <m:t>3</m:t>
                            </m:r>
                          </m:sup>
                        </m:sSup>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𝐸</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when </a:t>
                </a:r>
                <a14:m>
                  <m:oMath xmlns:m="http://schemas.openxmlformats.org/officeDocument/2006/math">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𝐸</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𝐸</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Treat the numerator as a function </a:t>
                </a:r>
                <a:r>
                  <a:rPr lang="en-IN" sz="2400">
                    <a:solidFill>
                      <a:srgbClr val="78350F"/>
                    </a:solidFill>
                    <a:latin typeface="Cambria Math" panose="02040503050406030204" pitchFamily="18" charset="0"/>
                  </a:rPr>
                  <a:t>$E(h)$</a:t>
                </a:r>
                <a:r>
                  <a:rPr sz="2400" b="0">
                    <a:solidFill>
                      <a:srgbClr val="78350F"/>
                    </a:solidFill>
                    <a:latin typeface="Arial"/>
                  </a:rPr>
                  <a:t> and use the derivative test: </a:t>
                </a:r>
                <a:r>
                  <a:rPr lang="en-IN" sz="2400">
                    <a:solidFill>
                      <a:srgbClr val="78350F"/>
                    </a:solidFill>
                    <a:latin typeface="Cambria Math" panose="02040503050406030204" pitchFamily="18" charset="0"/>
                  </a:rPr>
                  <a:t>$\frac{E(h)}{h^3}\to\frac{E'''(0)}{3!}$</a:t>
                </a:r>
                <a:r>
                  <a:rPr sz="2400" b="0">
                    <a:solidFill>
                      <a:srgbClr val="78350F"/>
                    </a:solidFill>
                    <a:latin typeface="Arial"/>
                  </a:rPr>
                  <a:t> when </a:t>
                </a:r>
                <a:r>
                  <a:rPr lang="en-IN" sz="2400">
                    <a:solidFill>
                      <a:srgbClr val="78350F"/>
                    </a:solidFill>
                    <a:latin typeface="Cambria Math" panose="02040503050406030204" pitchFamily="18" charset="0"/>
                  </a:rPr>
                  <a:t>$E(0)=E'(0)=E''(0)=0$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ℎ</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𝐸</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ℎ</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𝐸</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oMath>
                </a14:m>
                <a:r>
                  <a:rPr sz="2400" b="0">
                    <a:solidFill>
                      <a:srgbClr val="111827"/>
                    </a:solidFill>
                    <a:latin typeface="Arial"/>
                  </a:rPr>
                  <a:t>, which must be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𝐸</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ℎ</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𝐸</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automatically.</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$E(h)=h(6+\lambda\cos h)-\mu\sin h$</a:t>
                </a:r>
                <a:r>
                  <a:rPr sz="2400" b="0">
                    <a:solidFill>
                      <a:srgbClr val="111827"/>
                    </a:solidFill>
                    <a:latin typeface="Arial"/>
                  </a:rPr>
                  <a:t>. Then </a:t>
                </a:r>
                <a:r>
                  <a:rPr lang="en-IN" sz="2400">
                    <a:solidFill>
                      <a:srgbClr val="111827"/>
                    </a:solidFill>
                    <a:latin typeface="Cambria Math" panose="02040503050406030204" pitchFamily="18" charset="0"/>
                  </a:rPr>
                  <a:t>$E(0)=0$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$E'(h)=6+\lambda\cos h-\lambda h\sin h-\mu\cos h$</a:t>
                </a:r>
                <a:r>
                  <a:rPr sz="2400" b="0">
                    <a:solidFill>
                      <a:srgbClr val="111827"/>
                    </a:solidFill>
                    <a:latin typeface="Arial"/>
                  </a:rPr>
                  <a:t>, so </a:t>
                </a:r>
                <a:r>
                  <a:rPr lang="en-IN" sz="2400">
                    <a:solidFill>
                      <a:srgbClr val="111827"/>
                    </a:solidFill>
                    <a:latin typeface="Cambria Math" panose="02040503050406030204" pitchFamily="18" charset="0"/>
                  </a:rPr>
                  <a:t>$E'(0)=6+\lambda-\mu$</a:t>
                </a:r>
                <a:r>
                  <a:rPr sz="2400" b="0">
                    <a:solidFill>
                      <a:srgbClr val="111827"/>
                    </a:solidFill>
                    <a:latin typeface="Arial"/>
                  </a:rPr>
                  <a:t>, which must be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$E''(h)=-2\lambda\sin h-\lambda h\cos h+\mu\sin h$</a:t>
                </a:r>
                <a:r>
                  <a:rPr sz="2400" b="0">
                    <a:solidFill>
                      <a:srgbClr val="111827"/>
                    </a:solidFill>
                    <a:latin typeface="Arial"/>
                  </a:rPr>
                  <a:t>, so </a:t>
                </a:r>
                <a:r>
                  <a:rPr lang="en-IN" sz="2400">
                    <a:solidFill>
                      <a:srgbClr val="111827"/>
                    </a:solidFill>
                    <a:latin typeface="Cambria Math" panose="02040503050406030204" pitchFamily="18" charset="0"/>
                  </a:rPr>
                  <a:t>$E''(0)=0$</a:t>
                </a:r>
                <a:r>
                  <a:rPr sz="2400" b="0">
                    <a:solidFill>
                      <a:srgbClr val="111827"/>
                    </a:solidFill>
                    <a:latin typeface="Arial"/>
                  </a:rPr>
                  <a:t> automatically.</a:t>
                </a:r>
                <a:endParaRPr sz="2400">
                  <a:solidFill>
                    <a:srgbClr val="111827"/>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𝐸</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ℎ</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𝐸</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oMath>
                </a14:m>
                <a:r>
                  <a:rPr sz="2400" b="0">
                    <a:solidFill>
                      <a:srgbClr val="111827"/>
                    </a:solidFill>
                    <a:latin typeface="Arial"/>
                  </a:rPr>
                  <a:t>, and the limit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Solve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$E'''(h)=-3\lambda\cos h+\lambda h\sin h+\mu\cos h$</a:t>
                </a:r>
                <a:r>
                  <a:rPr sz="2400" b="0">
                    <a:solidFill>
                      <a:srgbClr val="111827"/>
                    </a:solidFill>
                    <a:latin typeface="Arial"/>
                  </a:rPr>
                  <a:t>, so </a:t>
                </a:r>
                <a:r>
                  <a:rPr lang="en-IN" sz="2400">
                    <a:solidFill>
                      <a:srgbClr val="111827"/>
                    </a:solidFill>
                    <a:latin typeface="Cambria Math" panose="02040503050406030204" pitchFamily="18" charset="0"/>
                  </a:rPr>
                  <a:t>$E'''(0)=\mu-3\lambda$</a:t>
                </a:r>
                <a:r>
                  <a:rPr sz="2400" b="0">
                    <a:solidFill>
                      <a:srgbClr val="111827"/>
                    </a:solidFill>
                    <a:latin typeface="Arial"/>
                  </a:rPr>
                  <a:t>, and the limit is </a:t>
                </a:r>
                <a:r>
                  <a:rPr lang="en-IN" sz="2400">
                    <a:solidFill>
                      <a:srgbClr val="111827"/>
                    </a:solidFill>
                    <a:latin typeface="Cambria Math" panose="02040503050406030204" pitchFamily="18" charset="0"/>
                  </a:rPr>
                  <a:t>$\frac{\mu-3\lambda}6=-1$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Solve </a:t>
                </a:r>
                <a:r>
                  <a:rPr lang="en-IN" sz="2400">
                    <a:solidFill>
                      <a:srgbClr val="111827"/>
                    </a:solidFill>
                    <a:latin typeface="Cambria Math" panose="02040503050406030204" pitchFamily="18" charset="0"/>
                  </a:rPr>
                  <a:t>$\mu-\lambda=6$</a:t>
                </a:r>
                <a:r>
                  <a:rPr sz="2400" b="0">
                    <a:solidFill>
                      <a:srgbClr val="111827"/>
                    </a:solidFill>
                    <a:latin typeface="Arial"/>
                  </a:rPr>
                  <a:t> and </a:t>
                </a:r>
                <a:r>
                  <a:rPr lang="en-IN" sz="2400">
                    <a:solidFill>
                      <a:srgbClr val="111827"/>
                    </a:solidFill>
                    <a:latin typeface="Cambria Math" panose="02040503050406030204" pitchFamily="18" charset="0"/>
                  </a:rPr>
                  <a:t>$\mu-3\lambda=-6$</a:t>
                </a:r>
                <a:r>
                  <a:rPr sz="2400" b="0">
                    <a:solidFill>
                      <a:srgbClr val="111827"/>
                    </a:solidFill>
                    <a:latin typeface="Arial"/>
                  </a:rPr>
                  <a:t>: </a:t>
                </a:r>
                <a:r>
                  <a:rPr lang="en-IN" sz="2400">
                    <a:solidFill>
                      <a:srgbClr val="111827"/>
                    </a:solidFill>
                    <a:latin typeface="Cambria Math" panose="02040503050406030204" pitchFamily="18" charset="0"/>
                  </a:rPr>
                  <a:t>$\lambda=6,\ \mu=12$</a:t>
                </a:r>
                <a:r>
                  <a:rPr sz="2400" b="0">
                    <a:solidFill>
                      <a:srgbClr val="111827"/>
                    </a:solidFill>
                    <a:latin typeface="Arial"/>
                  </a:rPr>
                  <a:t>, so </a:t>
                </a:r>
                <a:r>
                  <a:rPr lang="en-IN" sz="2400">
                    <a:solidFill>
                      <a:srgbClr val="111827"/>
                    </a:solidFill>
                    <a:latin typeface="Cambria Math" panose="02040503050406030204" pitchFamily="18" charset="0"/>
                  </a:rPr>
                  <a:t>$\lambda+\mu=18$</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18</a:t>
            </a:r>
            <a:endParaRPr sz="2800">
              <a:solidFill>
                <a:srgbClr val="15803D"/>
              </a:solidFil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is smooth with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𝐸</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𝑛</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𝐸</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turns a limit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into a standard limit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the one-sided approach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irrelevant when the function is analytic.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the limit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(verified symbolically).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Unknown-constant limits: one equation per vanishing lower-order coefficient, one for the final value.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$E$</a:t>
                </a:r>
                <a:r>
                  <a:rPr sz="2400" b="0">
                    <a:solidFill>
                      <a:srgbClr val="111827"/>
                    </a:solidFill>
                    <a:latin typeface="Arial"/>
                  </a:rPr>
                  <a:t> is smooth with </a:t>
                </a:r>
                <a:r>
                  <a:rPr lang="en-IN" sz="2400">
                    <a:solidFill>
                      <a:srgbClr val="111827"/>
                    </a:solidFill>
                    <a:latin typeface="Cambria Math" panose="02040503050406030204" pitchFamily="18" charset="0"/>
                  </a:rPr>
                  <a:t>$E(0)=\dots=E^{(n-1)}(0)=0$</a:t>
                </a:r>
                <a:r>
                  <a:rPr sz="2400" b="0">
                    <a:solidFill>
                      <a:srgbClr val="111827"/>
                    </a:solidFill>
                    <a:latin typeface="Arial"/>
                  </a:rPr>
                  <a:t>, then </a:t>
                </a:r>
                <a:r>
                  <a:rPr lang="en-IN" sz="2400">
                    <a:solidFill>
                      <a:srgbClr val="111827"/>
                    </a:solidFill>
                    <a:latin typeface="Cambria Math" panose="02040503050406030204" pitchFamily="18" charset="0"/>
                  </a:rPr>
                  <a:t>$\lim_{h\to0}\frac{E(h)}{h^n}=\frac{E^{(n)}(0)}{n!}$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$h=x-1$</a:t>
                </a:r>
                <a:r>
                  <a:rPr sz="2400" b="0">
                    <a:solidFill>
                      <a:srgbClr val="111827"/>
                    </a:solidFill>
                    <a:latin typeface="Arial"/>
                  </a:rPr>
                  <a:t> turns a limit at </a:t>
                </a:r>
                <a:r>
                  <a:rPr lang="en-IN" sz="2400">
                    <a:solidFill>
                      <a:srgbClr val="111827"/>
                    </a:solidFill>
                    <a:latin typeface="Cambria Math" panose="02040503050406030204" pitchFamily="18" charset="0"/>
                  </a:rPr>
                  <a:t>$x=1$</a:t>
                </a:r>
                <a:r>
                  <a:rPr sz="2400" b="0">
                    <a:solidFill>
                      <a:srgbClr val="111827"/>
                    </a:solidFill>
                    <a:latin typeface="Arial"/>
                  </a:rPr>
                  <a:t> into a standard limit at </a:t>
                </a:r>
                <a:r>
                  <a:rPr lang="en-IN" sz="2400">
                    <a:solidFill>
                      <a:srgbClr val="111827"/>
                    </a:solidFill>
                    <a:latin typeface="Cambria Math" panose="02040503050406030204" pitchFamily="18" charset="0"/>
                  </a:rPr>
                  <a:t>$0$</a:t>
                </a:r>
                <a:r>
                  <a:rPr sz="2400" b="0">
                    <a:solidFill>
                      <a:srgbClr val="111827"/>
                    </a:solidFill>
                    <a:latin typeface="Arial"/>
                  </a:rPr>
                  <a:t>; the one-sided approach </a:t>
                </a:r>
                <a:r>
                  <a:rPr lang="en-IN" sz="2400">
                    <a:solidFill>
                      <a:srgbClr val="111827"/>
                    </a:solidFill>
                    <a:latin typeface="Cambria Math" panose="02040503050406030204" pitchFamily="18" charset="0"/>
                  </a:rPr>
                  <a:t>$x\to1^+$</a:t>
                </a:r>
                <a:r>
                  <a:rPr sz="2400" b="0">
                    <a:solidFill>
                      <a:srgbClr val="111827"/>
                    </a:solidFill>
                    <a:latin typeface="Arial"/>
                  </a:rPr>
                  <a:t> is irrelevant when the function is analytic.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$\lambda=6,\mu=12$</a:t>
                </a:r>
                <a:r>
                  <a:rPr sz="2400" b="0">
                    <a:solidFill>
                      <a:srgbClr val="111827"/>
                    </a:solidFill>
                    <a:latin typeface="Arial"/>
                  </a:rPr>
                  <a:t> the limit is </a:t>
                </a:r>
                <a:r>
                  <a:rPr lang="en-IN" sz="2400">
                    <a:solidFill>
                      <a:srgbClr val="111827"/>
                    </a:solidFill>
                    <a:latin typeface="Cambria Math" panose="02040503050406030204" pitchFamily="18" charset="0"/>
                  </a:rPr>
                  <a:t>$-1$</a:t>
                </a:r>
                <a:r>
                  <a:rPr sz="2400" b="0">
                    <a:solidFill>
                      <a:srgbClr val="111827"/>
                    </a:solidFill>
                    <a:latin typeface="Arial"/>
                  </a:rPr>
                  <a:t> (verified symbolically).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Unknown-constant limits: one equation per vanishing lower-order coefficient, one for the final value.</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tan</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e>
                        </m:d>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d>
                      </m:num>
                      <m:den>
                        <m:sSup>
                          <m:e>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e>
                            </m:d>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den>
                    </m:f>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endParaRPr sz="2400">
                  <a:solidFill>
                    <a:srgbClr val="111827"/>
                  </a:solidFill>
                </a:endParaRPr>
              </a:p>
            </p:txBody>
          </p:sp>
        </mc:Choice>
        <mc:Fallback>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$\lim_{x\to0^+}\frac{\tan\left(5x^{1/3}\right)\log_e\left(1+3x^2\right)}{\left(\tan^{-1}3\sqrt x\right)^2\left(e^{5x^{4/3}}-1\right)}$</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$\frac1{15}$</a:t>
                </a:r>
                <a:r>
                  <a:rPr sz="2400" b="0">
                    <a:solidFill>
                      <a:srgbClr val="111827"/>
                    </a:solidFill>
                    <a:latin typeface="Arial"/>
                  </a:rPr>
                  <a:t>   (B) </a:t>
                </a:r>
                <a:r>
                  <a:rPr lang="en-IN" sz="2400">
                    <a:solidFill>
                      <a:srgbClr val="111827"/>
                    </a:solidFill>
                    <a:latin typeface="Cambria Math" panose="02040503050406030204" pitchFamily="18" charset="0"/>
                  </a:rPr>
                  <a:t>$\frac53$</a:t>
                </a:r>
                <a:r>
                  <a:rPr sz="2400" b="0">
                    <a:solidFill>
                      <a:srgbClr val="111827"/>
                    </a:solidFill>
                    <a:latin typeface="Arial"/>
                  </a:rPr>
                  <a:t>   (C) </a:t>
                </a:r>
                <a:r>
                  <a:rPr lang="en-IN" sz="2400">
                    <a:solidFill>
                      <a:srgbClr val="111827"/>
                    </a:solidFill>
                    <a:latin typeface="Cambria Math" panose="02040503050406030204" pitchFamily="18" charset="0"/>
                  </a:rPr>
                  <a:t>$1$</a:t>
                </a:r>
                <a:r>
                  <a:rPr sz="2400" b="0">
                    <a:solidFill>
                      <a:srgbClr val="111827"/>
                    </a:solidFill>
                    <a:latin typeface="Arial"/>
                  </a:rPr>
                  <a:t>   (D) </a:t>
                </a:r>
                <a:r>
                  <a:rPr lang="en-IN" sz="2400">
                    <a:solidFill>
                      <a:srgbClr val="111827"/>
                    </a:solidFill>
                    <a:latin typeface="Cambria Math" panose="02040503050406030204" pitchFamily="18" charset="0"/>
                  </a:rPr>
                  <a:t>$\frac13$</a:t>
                </a:r>
                <a:endParaRPr sz="2400">
                  <a:solidFill>
                    <a:srgbClr val="111827"/>
                  </a:solidFill>
                </a:endParaRPr>
              </a:p>
            </p:txBody>
          </p:sp>
        </mc:Fallback>
      </mc:AlternateContent>
      <p:sp>
        <p:nvSpPr>
          <p:cNvPr id="5" name="Rectangle 4"/>
          <p:cNvSpPr/>
          <p:nvPr/>
        </p:nvSpPr>
        <p:spPr>
          <a:xfrm>
            <a:off x="731520" y="37998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Standard limits and evaluation by equivalent infinitesimals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Multiply and divide to build the standard limits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𝑢</m:t>
                        </m:r>
                      </m:num>
                      <m:den>
                        <m:r>
                          <a:rPr lang="en-IN" sz="2400" i="1">
                            <a:solidFill>
                              <a:srgbClr val="78350F"/>
                            </a:solidFill>
                            <a:latin typeface="Cambria Math" panose="02040503050406030204" pitchFamily="18" charset="0"/>
                          </a:rPr>
                          <m:t>𝑢</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ln</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𝑢</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𝑢</m:t>
                        </m:r>
                      </m:num>
                      <m:den>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𝑢</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𝑢</m:t>
                        </m:r>
                      </m:num>
                      <m:den>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𝑢</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 all tending to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only a power ratio remains.</a:t>
                </a:r>
                <a:endParaRPr sz="2400">
                  <a:solidFill>
                    <a:srgbClr val="78350F"/>
                  </a:solidFill>
                </a:endParaRPr>
              </a:p>
            </p:txBody>
          </p:sp>
        </mc:Choice>
        <mc:Fallback>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Multiply and divide to build the standard limits </a:t>
                </a:r>
                <a:r>
                  <a:rPr lang="en-IN" sz="2400">
                    <a:solidFill>
                      <a:srgbClr val="78350F"/>
                    </a:solidFill>
                    <a:latin typeface="Cambria Math" panose="02040503050406030204" pitchFamily="18" charset="0"/>
                  </a:rPr>
                  <a:t>$\frac{\tan u}u,\ \frac{\ln(1+u)}u,\ \frac{u}{\tan^{-1}u},\ \frac u{e^u-1}$</a:t>
                </a:r>
                <a:r>
                  <a:rPr sz="2400" b="0">
                    <a:solidFill>
                      <a:srgbClr val="78350F"/>
                    </a:solidFill>
                    <a:latin typeface="Arial"/>
                  </a:rPr>
                  <a:t>, all tending to </a:t>
                </a:r>
                <a:r>
                  <a:rPr lang="en-IN" sz="2400">
                    <a:solidFill>
                      <a:srgbClr val="78350F"/>
                    </a:solidFill>
                    <a:latin typeface="Cambria Math" panose="02040503050406030204" pitchFamily="18" charset="0"/>
                  </a:rPr>
                  <a:t>$1$</a:t>
                </a:r>
                <a:r>
                  <a:rPr sz="2400" b="0">
                    <a:solidFill>
                      <a:srgbClr val="78350F"/>
                    </a:solidFill>
                    <a:latin typeface="Arial"/>
                  </a:rPr>
                  <a:t>; only a power ratio remains.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Insert the matching arguments: the expression equals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den>
                        </m:f>
                      </m:e>
                    </m:d>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e>
                    </m:d>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e>
                    </m:d>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of the four bracketed factors tends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Insert the matching arguments: the expression equals </a:t>
                </a:r>
                <a:r>
                  <a:rPr lang="en-IN" sz="2400">
                    <a:solidFill>
                      <a:srgbClr val="111827"/>
                    </a:solidFill>
                    <a:latin typeface="Cambria Math" panose="02040503050406030204" pitchFamily="18" charset="0"/>
                  </a:rPr>
                  <a:t>$\left[\frac{\tan(5x^{1/3})}{5x^{1/3}}\right]\left[\frac{(3\sqrt x)^2}{(\tan^{-1}3\sqrt x)^2}\right]\left[\frac{\ln(1+3x^2)}{3x^2}\right]\left[\frac{5x^{4/3}}{e^{5x^{4/3}}-1}\right]\times\frac{5x^{1/3}\cdot3x^2}{5x^{4/3}\cdot9x}$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of the four bracketed factors tends to </a:t>
                </a:r>
                <a:r>
                  <a:rPr lang="en-IN" sz="2400">
                    <a:solidFill>
                      <a:srgbClr val="111827"/>
                    </a:solidFill>
                    <a:latin typeface="Cambria Math" panose="02040503050406030204" pitchFamily="18" charset="0"/>
                  </a:rPr>
                  <a:t>$1$</a:t>
                </a:r>
                <a:r>
                  <a:rPr sz="2400" b="0">
                    <a:solidFill>
                      <a:srgbClr val="111827"/>
                    </a:solidFill>
                    <a:latin typeface="Arial"/>
                  </a:rPr>
                  <a:t> as </a:t>
                </a:r>
                <a:r>
                  <a:rPr lang="en-IN" sz="2400">
                    <a:solidFill>
                      <a:srgbClr val="111827"/>
                    </a:solidFill>
                    <a:latin typeface="Cambria Math" panose="02040503050406030204" pitchFamily="18" charset="0"/>
                  </a:rPr>
                  <a:t>$x\to0^+$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remaining fraction has numerator </a:t>
                </a:r>
                <a14:m>
                  <m:oMath xmlns:m="http://schemas.openxmlformats.org/officeDocument/2006/math">
                    <m:r>
                      <a:rPr lang="en-IN" sz="2400" i="1">
                        <a:solidFill>
                          <a:srgbClr val="111827"/>
                        </a:solidFill>
                        <a:latin typeface="Cambria Math" panose="02040503050406030204" pitchFamily="18" charset="0"/>
                      </a:rPr>
                      <m:t>15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and denominator </a:t>
                </a:r>
                <a14:m>
                  <m:oMath xmlns:m="http://schemas.openxmlformats.org/officeDocument/2006/math">
                    <m:r>
                      <a:rPr lang="en-IN" sz="2400" i="1">
                        <a:solidFill>
                          <a:srgbClr val="111827"/>
                        </a:solidFill>
                        <a:latin typeface="Cambria Math" panose="02040503050406030204" pitchFamily="18" charset="0"/>
                      </a:rPr>
                      <m:t>45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limit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45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remaining fraction has numerator </a:t>
                </a:r>
                <a:r>
                  <a:rPr lang="en-IN" sz="2400">
                    <a:solidFill>
                      <a:srgbClr val="111827"/>
                    </a:solidFill>
                    <a:latin typeface="Cambria Math" panose="02040503050406030204" pitchFamily="18" charset="0"/>
                  </a:rPr>
                  <a:t>$15x^{1/3+2}=15x^{7/3}$</a:t>
                </a:r>
                <a:r>
                  <a:rPr sz="2400" b="0">
                    <a:solidFill>
                      <a:srgbClr val="111827"/>
                    </a:solidFill>
                    <a:latin typeface="Arial"/>
                  </a:rPr>
                  <a:t> and denominator </a:t>
                </a:r>
                <a:r>
                  <a:rPr lang="en-IN" sz="2400">
                    <a:solidFill>
                      <a:srgbClr val="111827"/>
                    </a:solidFill>
                    <a:latin typeface="Cambria Math" panose="02040503050406030204" pitchFamily="18" charset="0"/>
                  </a:rPr>
                  <a:t>$45x^{4/3+1}=45x^{7/3}$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limit is </a:t>
                </a:r>
                <a:r>
                  <a:rPr lang="en-IN" sz="2400">
                    <a:solidFill>
                      <a:srgbClr val="111827"/>
                    </a:solidFill>
                    <a:latin typeface="Cambria Math" panose="02040503050406030204" pitchFamily="18" charset="0"/>
                  </a:rPr>
                  <a:t>$\frac{15}{45}=\frac13$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$\frac13$</a:t>
                </a:r>
                <a:endParaRPr sz="2800">
                  <a:solidFill>
                    <a:srgbClr val="15803D"/>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fractional powers with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6</m:t>
                        </m:r>
                      </m:sup>
                    </m:sSup>
                  </m:oMath>
                </a14:m>
                <a:r>
                  <a:rPr sz="2400" b="0">
                    <a:solidFill>
                      <a:srgbClr val="78350F"/>
                    </a:solidFill>
                    <a:latin typeface="Arial"/>
                  </a:rPr>
                  <a:t>, so every factor is an integer power of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 and the order count is transparent.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Clear the fractional powers with </a:t>
                </a:r>
                <a:r>
                  <a:rPr lang="en-IN" sz="2400">
                    <a:solidFill>
                      <a:srgbClr val="78350F"/>
                    </a:solidFill>
                    <a:latin typeface="Cambria Math" panose="02040503050406030204" pitchFamily="18" charset="0"/>
                  </a:rPr>
                  <a:t>$x=t^6$</a:t>
                </a:r>
                <a:r>
                  <a:rPr sz="2400" b="0">
                    <a:solidFill>
                      <a:srgbClr val="78350F"/>
                    </a:solidFill>
                    <a:latin typeface="Arial"/>
                  </a:rPr>
                  <a:t>, so every factor is an integer power of </a:t>
                </a:r>
                <a:r>
                  <a:rPr lang="en-IN" sz="2400">
                    <a:solidFill>
                      <a:srgbClr val="78350F"/>
                    </a:solidFill>
                    <a:latin typeface="Cambria Math" panose="02040503050406030204" pitchFamily="18" charset="0"/>
                  </a:rPr>
                  <a:t>$t$</a:t>
                </a:r>
                <a:r>
                  <a:rPr sz="2400" b="0">
                    <a:solidFill>
                      <a:srgbClr val="78350F"/>
                    </a:solidFill>
                    <a:latin typeface="Arial"/>
                  </a:rPr>
                  <a:t> and the order count is transparent.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8</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12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expression becomes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8</m:t>
                                </m:r>
                              </m:sup>
                            </m:sSup>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Near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12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12</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8</m:t>
                            </m:r>
                          </m:sup>
                        </m:sSup>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8</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limit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12</m:t>
                            </m:r>
                          </m:sup>
                        </m:sSup>
                      </m:num>
                      <m:den>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6</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8</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14</m:t>
                            </m:r>
                          </m:sup>
                        </m:sSup>
                      </m:num>
                      <m:den>
                        <m:r>
                          <a:rPr lang="en-IN" sz="2400" i="1">
                            <a:solidFill>
                              <a:srgbClr val="111827"/>
                            </a:solidFill>
                            <a:latin typeface="Cambria Math" panose="02040503050406030204" pitchFamily="18" charset="0"/>
                          </a:rPr>
                          <m:t>45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14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$x=t^6$</a:t>
                </a:r>
                <a:r>
                  <a:rPr sz="2400" b="0">
                    <a:solidFill>
                      <a:srgbClr val="111827"/>
                    </a:solidFill>
                    <a:latin typeface="Arial"/>
                  </a:rPr>
                  <a:t>, </a:t>
                </a:r>
                <a:r>
                  <a:rPr lang="en-IN" sz="2400">
                    <a:solidFill>
                      <a:srgbClr val="111827"/>
                    </a:solidFill>
                    <a:latin typeface="Cambria Math" panose="02040503050406030204" pitchFamily="18" charset="0"/>
                  </a:rPr>
                  <a:t>$t\to0^+$</a:t>
                </a:r>
                <a:r>
                  <a:rPr sz="2400" b="0">
                    <a:solidFill>
                      <a:srgbClr val="111827"/>
                    </a:solidFill>
                    <a:latin typeface="Arial"/>
                  </a:rPr>
                  <a:t>: </a:t>
                </a:r>
                <a:r>
                  <a:rPr lang="en-IN" sz="2400">
                    <a:solidFill>
                      <a:srgbClr val="111827"/>
                    </a:solidFill>
                    <a:latin typeface="Cambria Math" panose="02040503050406030204" pitchFamily="18" charset="0"/>
                  </a:rPr>
                  <a:t>$x^{1/3}=t^2$</a:t>
                </a:r>
                <a:r>
                  <a:rPr sz="2400" b="0">
                    <a:solidFill>
                      <a:srgbClr val="111827"/>
                    </a:solidFill>
                    <a:latin typeface="Arial"/>
                  </a:rPr>
                  <a:t>, </a:t>
                </a:r>
                <a:r>
                  <a:rPr lang="en-IN" sz="2400">
                    <a:solidFill>
                      <a:srgbClr val="111827"/>
                    </a:solidFill>
                    <a:latin typeface="Cambria Math" panose="02040503050406030204" pitchFamily="18" charset="0"/>
                  </a:rPr>
                  <a:t>$\sqrt x=t^3$</a:t>
                </a:r>
                <a:r>
                  <a:rPr sz="2400" b="0">
                    <a:solidFill>
                      <a:srgbClr val="111827"/>
                    </a:solidFill>
                    <a:latin typeface="Arial"/>
                  </a:rPr>
                  <a:t>, </a:t>
                </a:r>
                <a:r>
                  <a:rPr lang="en-IN" sz="2400">
                    <a:solidFill>
                      <a:srgbClr val="111827"/>
                    </a:solidFill>
                    <a:latin typeface="Cambria Math" panose="02040503050406030204" pitchFamily="18" charset="0"/>
                  </a:rPr>
                  <a:t>$x^{4/3}=t^8$</a:t>
                </a:r>
                <a:r>
                  <a:rPr sz="2400" b="0">
                    <a:solidFill>
                      <a:srgbClr val="111827"/>
                    </a:solidFill>
                    <a:latin typeface="Arial"/>
                  </a:rPr>
                  <a:t>, </a:t>
                </a:r>
                <a:r>
                  <a:rPr lang="en-IN" sz="2400">
                    <a:solidFill>
                      <a:srgbClr val="111827"/>
                    </a:solidFill>
                    <a:latin typeface="Cambria Math" panose="02040503050406030204" pitchFamily="18" charset="0"/>
                  </a:rPr>
                  <a:t>$x^2=t^{12}$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expression becomes </a:t>
                </a:r>
                <a:r>
                  <a:rPr lang="en-IN" sz="2400">
                    <a:solidFill>
                      <a:srgbClr val="111827"/>
                    </a:solidFill>
                    <a:latin typeface="Cambria Math" panose="02040503050406030204" pitchFamily="18" charset="0"/>
                  </a:rPr>
                  <a:t>$\frac{\tan(5t^2)\ln(1+3t^{12})}{(\tan^{-1}3t^3)^2(e^{5t^8}-1)}$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Near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$\tan(5t^2)\sim5t^2$</a:t>
                </a:r>
                <a:r>
                  <a:rPr sz="2400" b="0">
                    <a:solidFill>
                      <a:srgbClr val="111827"/>
                    </a:solidFill>
                    <a:latin typeface="Arial"/>
                  </a:rPr>
                  <a:t>, </a:t>
                </a:r>
                <a:r>
                  <a:rPr lang="en-IN" sz="2400">
                    <a:solidFill>
                      <a:srgbClr val="111827"/>
                    </a:solidFill>
                    <a:latin typeface="Cambria Math" panose="02040503050406030204" pitchFamily="18" charset="0"/>
                  </a:rPr>
                  <a:t>$\ln(1+3t^{12})\sim3t^{12}$</a:t>
                </a:r>
                <a:r>
                  <a:rPr sz="2400" b="0">
                    <a:solidFill>
                      <a:srgbClr val="111827"/>
                    </a:solidFill>
                    <a:latin typeface="Arial"/>
                  </a:rPr>
                  <a:t>, </a:t>
                </a:r>
                <a:r>
                  <a:rPr lang="en-IN" sz="2400">
                    <a:solidFill>
                      <a:srgbClr val="111827"/>
                    </a:solidFill>
                    <a:latin typeface="Cambria Math" panose="02040503050406030204" pitchFamily="18" charset="0"/>
                  </a:rPr>
                  <a:t>$(\tan^{-1}3t^3)^2\sim9t^6$</a:t>
                </a:r>
                <a:r>
                  <a:rPr sz="2400" b="0">
                    <a:solidFill>
                      <a:srgbClr val="111827"/>
                    </a:solidFill>
                    <a:latin typeface="Arial"/>
                  </a:rPr>
                  <a:t>, </a:t>
                </a:r>
                <a:r>
                  <a:rPr lang="en-IN" sz="2400">
                    <a:solidFill>
                      <a:srgbClr val="111827"/>
                    </a:solidFill>
                    <a:latin typeface="Cambria Math" panose="02040503050406030204" pitchFamily="18" charset="0"/>
                  </a:rPr>
                  <a:t>$e^{5t^8}-1\sim5t^8$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limit is </a:t>
                </a:r>
                <a:r>
                  <a:rPr lang="en-IN" sz="2400">
                    <a:solidFill>
                      <a:srgbClr val="111827"/>
                    </a:solidFill>
                    <a:latin typeface="Cambria Math" panose="02040503050406030204" pitchFamily="18" charset="0"/>
                  </a:rPr>
                  <a:t>$\frac{5t^2\cdot3t^{12}}{9t^6\cdot5t^8}=\frac{15t^{14}}{45t^{14}}=\frac13$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$\frac13$</a:t>
                </a:r>
                <a:endParaRPr sz="2800">
                  <a:solidFill>
                    <a:srgbClr val="15803D"/>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Equivalents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𝑢</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they can be substituted inside a product or quotient (not inside sums with cancellation).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fractional power signals the substitution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 lcm of denominators) to turn everything into integer powers.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total order: numerator order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denominator order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equal orders mean a finite non-zero limit equal to the ratio of coefficients.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coefficient ratio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Equivalents at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$\tan u\sim u$</a:t>
                </a:r>
                <a:r>
                  <a:rPr sz="2400" b="0">
                    <a:solidFill>
                      <a:srgbClr val="111827"/>
                    </a:solidFill>
                    <a:latin typeface="Arial"/>
                  </a:rPr>
                  <a:t>, </a:t>
                </a:r>
                <a:r>
                  <a:rPr lang="en-IN" sz="2400">
                    <a:solidFill>
                      <a:srgbClr val="111827"/>
                    </a:solidFill>
                    <a:latin typeface="Cambria Math" panose="02040503050406030204" pitchFamily="18" charset="0"/>
                  </a:rPr>
                  <a:t>$\tan^{-1}u\sim u$</a:t>
                </a:r>
                <a:r>
                  <a:rPr sz="2400" b="0">
                    <a:solidFill>
                      <a:srgbClr val="111827"/>
                    </a:solidFill>
                    <a:latin typeface="Arial"/>
                  </a:rPr>
                  <a:t>, </a:t>
                </a:r>
                <a:r>
                  <a:rPr lang="en-IN" sz="2400">
                    <a:solidFill>
                      <a:srgbClr val="111827"/>
                    </a:solidFill>
                    <a:latin typeface="Cambria Math" panose="02040503050406030204" pitchFamily="18" charset="0"/>
                  </a:rPr>
                  <a:t>$\ln(1+u)\sim u$</a:t>
                </a:r>
                <a:r>
                  <a:rPr sz="2400" b="0">
                    <a:solidFill>
                      <a:srgbClr val="111827"/>
                    </a:solidFill>
                    <a:latin typeface="Arial"/>
                  </a:rPr>
                  <a:t>, </a:t>
                </a:r>
                <a:r>
                  <a:rPr lang="en-IN" sz="2400">
                    <a:solidFill>
                      <a:srgbClr val="111827"/>
                    </a:solidFill>
                    <a:latin typeface="Cambria Math" panose="02040503050406030204" pitchFamily="18" charset="0"/>
                  </a:rPr>
                  <a:t>$e^u-1\sim u$</a:t>
                </a:r>
                <a:r>
                  <a:rPr sz="2400" b="0">
                    <a:solidFill>
                      <a:srgbClr val="111827"/>
                    </a:solidFill>
                    <a:latin typeface="Arial"/>
                  </a:rPr>
                  <a:t>; they can be substituted inside a product or quotient (not inside sums with cancellation).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fractional power signals the substitution </a:t>
                </a:r>
                <a:r>
                  <a:rPr lang="en-IN" sz="2400">
                    <a:solidFill>
                      <a:srgbClr val="111827"/>
                    </a:solidFill>
                    <a:latin typeface="Cambria Math" panose="02040503050406030204" pitchFamily="18" charset="0"/>
                  </a:rPr>
                  <a:t>$x=t^k$</a:t>
                </a:r>
                <a:r>
                  <a:rPr sz="2400" b="0">
                    <a:solidFill>
                      <a:srgbClr val="111827"/>
                    </a:solidFill>
                    <a:latin typeface="Arial"/>
                  </a:rPr>
                  <a:t> (</a:t>
                </a:r>
                <a:r>
                  <a:rPr lang="en-IN" sz="2400">
                    <a:solidFill>
                      <a:srgbClr val="111827"/>
                    </a:solidFill>
                    <a:latin typeface="Cambria Math" panose="02040503050406030204" pitchFamily="18" charset="0"/>
                  </a:rPr>
                  <a:t>$k$</a:t>
                </a:r>
                <a:r>
                  <a:rPr sz="2400" b="0">
                    <a:solidFill>
                      <a:srgbClr val="111827"/>
                    </a:solidFill>
                    <a:latin typeface="Arial"/>
                  </a:rPr>
                  <a:t> = lcm of denominators) to turn everything into integer powers.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total order: numerator order </a:t>
                </a:r>
                <a:r>
                  <a:rPr lang="en-IN" sz="2400">
                    <a:solidFill>
                      <a:srgbClr val="111827"/>
                    </a:solidFill>
                    <a:latin typeface="Cambria Math" panose="02040503050406030204" pitchFamily="18" charset="0"/>
                  </a:rPr>
                  <a:t>$\frac13+2=\frac73$</a:t>
                </a:r>
                <a:r>
                  <a:rPr sz="2400" b="0">
                    <a:solidFill>
                      <a:srgbClr val="111827"/>
                    </a:solidFill>
                    <a:latin typeface="Arial"/>
                  </a:rPr>
                  <a:t>, denominator order </a:t>
                </a:r>
                <a:r>
                  <a:rPr lang="en-IN" sz="2400">
                    <a:solidFill>
                      <a:srgbClr val="111827"/>
                    </a:solidFill>
                    <a:latin typeface="Cambria Math" panose="02040503050406030204" pitchFamily="18" charset="0"/>
                  </a:rPr>
                  <a:t>$1+\frac43=\frac73$</a:t>
                </a:r>
                <a:r>
                  <a:rPr sz="2400" b="0">
                    <a:solidFill>
                      <a:srgbClr val="111827"/>
                    </a:solidFill>
                    <a:latin typeface="Arial"/>
                  </a:rPr>
                  <a:t>; equal orders mean a finite non-zero limit equal to the ratio of coefficients.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coefficient ratio is </a:t>
                </a:r>
                <a:r>
                  <a:rPr lang="en-IN" sz="2400">
                    <a:solidFill>
                      <a:srgbClr val="111827"/>
                    </a:solidFill>
                    <a:latin typeface="Cambria Math" panose="02040503050406030204" pitchFamily="18" charset="0"/>
                  </a:rPr>
                  <a:t>$\frac{5\cdot3}{3^2\cdot5}=\frac13$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18845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below are two statements : Statement I :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Statement II :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sup>
                        </m:sSup>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In the light of the above statements, choose the correct answer from the options given below.</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 I is true but Statement II is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Both Statement I and Statement II are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Both Statement I and Statement II are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 I is false but Statement II is true</a:t>
                </a:r>
                <a:endParaRPr sz="2400">
                  <a:solidFill>
                    <a:srgbClr val="111827"/>
                  </a:solidFill>
                </a:endParaRPr>
              </a:p>
            </p:txBody>
          </p:sp>
        </mc:Choice>
        <mc:Fallback>
          <p:sp>
            <p:nvSpPr>
              <p:cNvPr id="4" name="Rounded Rectangle 3"/>
              <p:cNvSpPr/>
              <p:nvPr/>
            </p:nvSpPr>
            <p:spPr>
              <a:xfrm>
                <a:off x="731520" y="1280160"/>
                <a:ext cx="10725912" cy="418845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below are two statements : Statement I : </a:t>
                </a:r>
                <a:r>
                  <a:rPr lang="en-IN" sz="2400">
                    <a:solidFill>
                      <a:srgbClr val="111827"/>
                    </a:solidFill>
                    <a:latin typeface="Cambria Math" panose="02040503050406030204" pitchFamily="18" charset="0"/>
                  </a:rPr>
                  <a:t>$\lim_{x\to0}\frac{\tan^{-1}x+\log_e\sqrt{\frac{1+x}{1-x}}-2x}{x^5}=\frac25$</a:t>
                </a:r>
                <a:r>
                  <a:rPr sz="2400" b="0">
                    <a:solidFill>
                      <a:srgbClr val="111827"/>
                    </a:solidFill>
                    <a:latin typeface="Arial"/>
                  </a:rPr>
                  <a:t>. Statement II : </a:t>
                </a:r>
                <a:r>
                  <a:rPr lang="en-IN" sz="2400">
                    <a:solidFill>
                      <a:srgbClr val="111827"/>
                    </a:solidFill>
                    <a:latin typeface="Cambria Math" panose="02040503050406030204" pitchFamily="18" charset="0"/>
                  </a:rPr>
                  <a:t>$\lim_{x\to1}\left(x^{\frac2{1-x}}\right)=\frac1{e^2}$</a:t>
                </a:r>
                <a:r>
                  <a:rPr sz="2400" b="0">
                    <a:solidFill>
                      <a:srgbClr val="111827"/>
                    </a:solidFill>
                    <a:latin typeface="Arial"/>
                  </a:rPr>
                  <a:t>. In the light of the above statements, choose the correct answer from the options given below.</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 I is true but Statement II is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Both Statement I and Statement II are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Both Statement I and Statement II are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 I is false but Statement II is true</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Limits using series expansions and the 1-infinity form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a:t>
                </a:r>
                <a14:m>
                  <m:oMath xmlns:m="http://schemas.openxmlformats.org/officeDocument/2006/math">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ln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den>
                    </m:f>
                  </m:oMath>
                </a14:m>
                <a:r>
                  <a:rPr sz="2400" b="0">
                    <a:solidFill>
                      <a:srgbClr val="78350F"/>
                    </a:solidFill>
                    <a:latin typeface="Arial"/>
                  </a:rPr>
                  <a:t> have series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num>
                      <m:den>
                        <m:r>
                          <a:rPr lang="en-IN" sz="2400" i="1">
                            <a:solidFill>
                              <a:srgbClr val="78350F"/>
                            </a:solidFill>
                            <a:latin typeface="Cambria Math" panose="02040503050406030204" pitchFamily="18" charset="0"/>
                          </a:rPr>
                          <m:t>3</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m:t>
                            </m:r>
                          </m:sup>
                        </m:sSup>
                      </m:num>
                      <m:den>
                        <m:r>
                          <a:rPr lang="en-IN" sz="2400" i="1">
                            <a:solidFill>
                              <a:srgbClr val="78350F"/>
                            </a:solidFill>
                            <a:latin typeface="Cambria Math" panose="02040503050406030204" pitchFamily="18" charset="0"/>
                          </a:rPr>
                          <m:t>5</m:t>
                        </m:r>
                      </m:den>
                    </m:f>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terms cancel and the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m:t>
                        </m:r>
                      </m:sup>
                    </m:sSup>
                  </m:oMath>
                </a14:m>
                <a:r>
                  <a:rPr sz="2400" b="0">
                    <a:solidFill>
                      <a:srgbClr val="78350F"/>
                    </a:solidFill>
                    <a:latin typeface="Arial"/>
                  </a:rPr>
                  <a:t> terms add to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5</m:t>
                            </m:r>
                          </m:sup>
                        </m:sSup>
                      </m:num>
                      <m:den>
                        <m:r>
                          <a:rPr lang="en-IN" sz="2400" i="1">
                            <a:solidFill>
                              <a:srgbClr val="78350F"/>
                            </a:solidFill>
                            <a:latin typeface="Cambria Math" panose="02040503050406030204" pitchFamily="18" charset="0"/>
                          </a:rPr>
                          <m:t>5</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a:t>
                </a:r>
                <a:r>
                  <a:rPr lang="en-IN" sz="2400">
                    <a:solidFill>
                      <a:srgbClr val="78350F"/>
                    </a:solidFill>
                    <a:latin typeface="Cambria Math" panose="02040503050406030204" pitchFamily="18" charset="0"/>
                  </a:rPr>
                  <a:t>$\tan^{-1}x$</a:t>
                </a:r>
                <a:r>
                  <a:rPr sz="2400" b="0">
                    <a:solidFill>
                      <a:srgbClr val="78350F"/>
                    </a:solidFill>
                    <a:latin typeface="Arial"/>
                  </a:rPr>
                  <a:t> and </a:t>
                </a:r>
                <a:r>
                  <a:rPr lang="en-IN" sz="2400">
                    <a:solidFill>
                      <a:srgbClr val="78350F"/>
                    </a:solidFill>
                    <a:latin typeface="Cambria Math" panose="02040503050406030204" pitchFamily="18" charset="0"/>
                  </a:rPr>
                  <a:t>$\frac12\ln\frac{1+x}{1-x}$</a:t>
                </a:r>
                <a:r>
                  <a:rPr sz="2400" b="0">
                    <a:solidFill>
                      <a:srgbClr val="78350F"/>
                    </a:solidFill>
                    <a:latin typeface="Arial"/>
                  </a:rPr>
                  <a:t> have series </a:t>
                </a:r>
                <a:r>
                  <a:rPr lang="en-IN" sz="2400">
                    <a:solidFill>
                      <a:srgbClr val="78350F"/>
                    </a:solidFill>
                    <a:latin typeface="Cambria Math" panose="02040503050406030204" pitchFamily="18" charset="0"/>
                  </a:rPr>
                  <a:t>$x\mp\frac{x^3}3+\frac{x^5}5\dots$</a:t>
                </a:r>
                <a:r>
                  <a:rPr sz="2400" b="0">
                    <a:solidFill>
                      <a:srgbClr val="78350F"/>
                    </a:solidFill>
                    <a:latin typeface="Arial"/>
                  </a:rPr>
                  <a:t>: the </a:t>
                </a:r>
                <a:r>
                  <a:rPr lang="en-IN" sz="2400">
                    <a:solidFill>
                      <a:srgbClr val="78350F"/>
                    </a:solidFill>
                    <a:latin typeface="Cambria Math" panose="02040503050406030204" pitchFamily="18" charset="0"/>
                  </a:rPr>
                  <a:t>$x^3$</a:t>
                </a:r>
                <a:r>
                  <a:rPr sz="2400" b="0">
                    <a:solidFill>
                      <a:srgbClr val="78350F"/>
                    </a:solidFill>
                    <a:latin typeface="Arial"/>
                  </a:rPr>
                  <a:t> terms cancel and the </a:t>
                </a:r>
                <a:r>
                  <a:rPr lang="en-IN" sz="2400">
                    <a:solidFill>
                      <a:srgbClr val="78350F"/>
                    </a:solidFill>
                    <a:latin typeface="Cambria Math" panose="02040503050406030204" pitchFamily="18" charset="0"/>
                  </a:rPr>
                  <a:t>$x^5$</a:t>
                </a:r>
                <a:r>
                  <a:rPr sz="2400" b="0">
                    <a:solidFill>
                      <a:srgbClr val="78350F"/>
                    </a:solidFill>
                    <a:latin typeface="Arial"/>
                  </a:rPr>
                  <a:t> terms add to </a:t>
                </a:r>
                <a:r>
                  <a:rPr lang="en-IN" sz="2400">
                    <a:solidFill>
                      <a:srgbClr val="78350F"/>
                    </a:solidFill>
                    <a:latin typeface="Cambria Math" panose="02040503050406030204" pitchFamily="18" charset="0"/>
                  </a:rPr>
                  <a:t>$\frac{2x^5}5$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Statement I: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Statement I: </a:t>
                </a:r>
                <a:r>
                  <a:rPr lang="en-IN" sz="2400">
                    <a:solidFill>
                      <a:srgbClr val="111827"/>
                    </a:solidFill>
                    <a:latin typeface="Cambria Math" panose="02040503050406030204" pitchFamily="18" charset="0"/>
                  </a:rPr>
                  <a:t>$\tan^{-1}x=x-\frac{x^3}3+\frac{x^5}5-\dots$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$\log_e\sqrt{\frac{1+x}{1-x}}=\frac12\left[\ln(1+x)-\ln(1-x)\right]=x+\frac{x^3}3+\frac{x^5}5+\dots$</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 and subtract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the numerator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5</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and 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limit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so Statement I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 II: it is a </a:t>
                </a:r>
                <a14:m>
                  <m:oMath xmlns:m="http://schemas.openxmlformats.org/officeDocument/2006/math">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form, so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Add and subtract </a:t>
                </a:r>
                <a:r>
                  <a:rPr lang="en-IN" sz="2400">
                    <a:solidFill>
                      <a:srgbClr val="111827"/>
                    </a:solidFill>
                    <a:latin typeface="Cambria Math" panose="02040503050406030204" pitchFamily="18" charset="0"/>
                  </a:rPr>
                  <a:t>$2x$</a:t>
                </a:r>
                <a:r>
                  <a:rPr sz="2400" b="0">
                    <a:solidFill>
                      <a:srgbClr val="111827"/>
                    </a:solidFill>
                    <a:latin typeface="Arial"/>
                  </a:rPr>
                  <a:t>: the numerator is </a:t>
                </a:r>
                <a:r>
                  <a:rPr lang="en-IN" sz="2400">
                    <a:solidFill>
                      <a:srgbClr val="111827"/>
                    </a:solidFill>
                    <a:latin typeface="Cambria Math" panose="02040503050406030204" pitchFamily="18" charset="0"/>
                  </a:rPr>
                  <a:t>$\left(x-\frac{x^3}3+\frac{x^5}5\right)+\left(x+\frac{x^3}3+\frac{x^5}5\right)-2x+\dots=\frac{2x^5}5+\dots$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$x^5$</a:t>
                </a:r>
                <a:r>
                  <a:rPr sz="2400" b="0">
                    <a:solidFill>
                      <a:srgbClr val="111827"/>
                    </a:solidFill>
                    <a:latin typeface="Arial"/>
                  </a:rPr>
                  <a:t> and let </a:t>
                </a:r>
                <a:r>
                  <a:rPr lang="en-IN" sz="2400">
                    <a:solidFill>
                      <a:srgbClr val="111827"/>
                    </a:solidFill>
                    <a:latin typeface="Cambria Math" panose="02040503050406030204" pitchFamily="18" charset="0"/>
                  </a:rPr>
                  <a:t>$x\to0$</a:t>
                </a:r>
                <a:r>
                  <a:rPr sz="2400" b="0">
                    <a:solidFill>
                      <a:srgbClr val="111827"/>
                    </a:solidFill>
                    <a:latin typeface="Arial"/>
                  </a:rPr>
                  <a:t>: the limit is </a:t>
                </a:r>
                <a:r>
                  <a:rPr lang="en-IN" sz="2400">
                    <a:solidFill>
                      <a:srgbClr val="111827"/>
                    </a:solidFill>
                    <a:latin typeface="Cambria Math" panose="02040503050406030204" pitchFamily="18" charset="0"/>
                  </a:rPr>
                  <a:t>$\frac25$</a:t>
                </a:r>
                <a:r>
                  <a:rPr sz="2400" b="0">
                    <a:solidFill>
                      <a:srgbClr val="111827"/>
                    </a:solidFill>
                    <a:latin typeface="Arial"/>
                  </a:rPr>
                  <a:t>, so Statement I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 II: it is a </a:t>
                </a:r>
                <a:r>
                  <a:rPr lang="en-IN" sz="2400">
                    <a:solidFill>
                      <a:srgbClr val="111827"/>
                    </a:solidFill>
                    <a:latin typeface="Cambria Math" panose="02040503050406030204" pitchFamily="18" charset="0"/>
                  </a:rPr>
                  <a:t>$1^\infty$</a:t>
                </a:r>
                <a:r>
                  <a:rPr sz="2400" b="0">
                    <a:solidFill>
                      <a:srgbClr val="111827"/>
                    </a:solidFill>
                    <a:latin typeface="Arial"/>
                  </a:rPr>
                  <a:t> form, so </a:t>
                </a:r>
                <a:r>
                  <a:rPr lang="en-IN" sz="2400">
                    <a:solidFill>
                      <a:srgbClr val="111827"/>
                    </a:solidFill>
                    <a:latin typeface="Cambria Math" panose="02040503050406030204" pitchFamily="18" charset="0"/>
                  </a:rPr>
                  <a:t>$\lim_{x\to1}x^{\frac2{1-x}}=e^{\lim_{x\to1}(x-1)\cdot\frac2{1-x}}$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exponent is </a:t>
                </a:r>
                <a14:m>
                  <m:oMath xmlns:m="http://schemas.openxmlformats.org/officeDocument/2006/math">
                    <m:r>
                      <m:rPr>
                        <m:sty m:val="p"/>
                      </m:rPr>
                      <a:rPr lang="en-IN" sz="2400">
                        <a:solidFill>
                          <a:srgbClr val="111827"/>
                        </a:solidFill>
                        <a:latin typeface="Cambria Math" panose="02040503050406030204" pitchFamily="18" charset="0"/>
                      </a:rPr>
                      <m:t>lim</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the limit is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and Statement II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statements are true: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exponent is </a:t>
                </a:r>
                <a:r>
                  <a:rPr lang="en-IN" sz="2400">
                    <a:solidFill>
                      <a:srgbClr val="111827"/>
                    </a:solidFill>
                    <a:latin typeface="Cambria Math" panose="02040503050406030204" pitchFamily="18" charset="0"/>
                  </a:rPr>
                  <a:t>$\lim(x-1)\frac{2}{1-x}=-2$</a:t>
                </a:r>
                <a:r>
                  <a:rPr sz="2400" b="0">
                    <a:solidFill>
                      <a:srgbClr val="111827"/>
                    </a:solidFill>
                    <a:latin typeface="Arial"/>
                  </a:rPr>
                  <a:t>, so the limit is </a:t>
                </a:r>
                <a:r>
                  <a:rPr lang="en-IN" sz="2400">
                    <a:solidFill>
                      <a:srgbClr val="111827"/>
                    </a:solidFill>
                    <a:latin typeface="Cambria Math" panose="02040503050406030204" pitchFamily="18" charset="0"/>
                  </a:rPr>
                  <a:t>$e^{-2}=\frac1{e^2}$</a:t>
                </a:r>
                <a:r>
                  <a:rPr sz="2400" b="0">
                    <a:solidFill>
                      <a:srgbClr val="111827"/>
                    </a:solidFill>
                    <a:latin typeface="Arial"/>
                  </a:rPr>
                  <a:t> and Statement II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statements are true: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Both Statement I and Statement II are true</a:t>
            </a:r>
            <a:endParaRPr sz="2800">
              <a:solidFill>
                <a:srgbClr val="15803D"/>
              </a:solidFil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2182367"/>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Differentiate the numerator: the derivative of </a:t>
                </a:r>
                <a14:m>
                  <m:oMath xmlns:m="http://schemas.openxmlformats.org/officeDocument/2006/math">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ln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oMath>
                </a14:m>
                <a:r>
                  <a:rPr sz="2400" b="0">
                    <a:solidFill>
                      <a:srgbClr val="78350F"/>
                    </a:solidFill>
                    <a:latin typeface="Arial"/>
                  </a:rPr>
                  <a:t> collapses to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4</m:t>
                            </m:r>
                          </m:sup>
                        </m:sSup>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4</m:t>
                            </m:r>
                          </m:sup>
                        </m:sSup>
                      </m:den>
                    </m:f>
                  </m:oMath>
                </a14:m>
                <a:r>
                  <a:rPr sz="2400" b="0">
                    <a:solidFill>
                      <a:srgbClr val="78350F"/>
                    </a:solidFill>
                    <a:latin typeface="Arial"/>
                  </a:rPr>
                  <a:t>, so one L'Hopital step finishes Statement I; Statement II follows from the derivative of </a:t>
                </a:r>
                <a14:m>
                  <m:oMath xmlns:m="http://schemas.openxmlformats.org/officeDocument/2006/math">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2182367"/>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Differentiate the numerator: the derivative of </a:t>
                </a:r>
                <a:r>
                  <a:rPr lang="en-IN" sz="2400">
                    <a:solidFill>
                      <a:srgbClr val="78350F"/>
                    </a:solidFill>
                    <a:latin typeface="Cambria Math" panose="02040503050406030204" pitchFamily="18" charset="0"/>
                  </a:rPr>
                  <a:t>$\tan^{-1}x+\frac12\ln\frac{1+x}{1-x}-2x$</a:t>
                </a:r>
                <a:r>
                  <a:rPr sz="2400" b="0">
                    <a:solidFill>
                      <a:srgbClr val="78350F"/>
                    </a:solidFill>
                    <a:latin typeface="Arial"/>
                  </a:rPr>
                  <a:t> collapses to </a:t>
                </a:r>
                <a:r>
                  <a:rPr lang="en-IN" sz="2400">
                    <a:solidFill>
                      <a:srgbClr val="78350F"/>
                    </a:solidFill>
                    <a:latin typeface="Cambria Math" panose="02040503050406030204" pitchFamily="18" charset="0"/>
                  </a:rPr>
                  <a:t>$\frac{2x^4}{1-x^4}$</a:t>
                </a:r>
                <a:r>
                  <a:rPr sz="2400" b="0">
                    <a:solidFill>
                      <a:srgbClr val="78350F"/>
                    </a:solidFill>
                    <a:latin typeface="Arial"/>
                  </a:rPr>
                  <a:t>, so one L'Hopital step finishes Statement I; Statement II follows from the derivative of </a:t>
                </a:r>
                <a:r>
                  <a:rPr lang="en-IN" sz="2400">
                    <a:solidFill>
                      <a:srgbClr val="78350F"/>
                    </a:solidFill>
                    <a:latin typeface="Cambria Math" panose="02040503050406030204" pitchFamily="18" charset="0"/>
                  </a:rPr>
                  <a:t>$\ln 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599687"/>
                <a:ext cx="10725912" cy="30754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599687"/>
                <a:ext cx="10725912" cy="30754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$g(x)=\tan^{-1}x+\frac12\ln\frac{1+x}{1-x}-2x$</a:t>
                </a:r>
                <a:r>
                  <a:rPr sz="2400" b="0">
                    <a:solidFill>
                      <a:srgbClr val="111827"/>
                    </a:solidFill>
                    <a:latin typeface="Arial"/>
                  </a:rPr>
                  <a:t>; then </a:t>
                </a:r>
                <a:r>
                  <a:rPr lang="en-IN" sz="2400">
                    <a:solidFill>
                      <a:srgbClr val="111827"/>
                    </a:solidFill>
                    <a:latin typeface="Cambria Math" panose="02040503050406030204" pitchFamily="18" charset="0"/>
                  </a:rPr>
                  <a:t>$g(0)=0$</a:t>
                </a:r>
                <a:r>
                  <a:rPr sz="2400" b="0">
                    <a:solidFill>
                      <a:srgbClr val="111827"/>
                    </a:solidFill>
                    <a:latin typeface="Arial"/>
                  </a:rPr>
                  <a:t> and </a:t>
                </a:r>
                <a:r>
                  <a:rPr lang="en-IN" sz="2400">
                    <a:solidFill>
                      <a:srgbClr val="111827"/>
                    </a:solidFill>
                    <a:latin typeface="Cambria Math" panose="02040503050406030204" pitchFamily="18" charset="0"/>
                  </a:rPr>
                  <a:t>$g'(x)=\frac1{1+x^2}+\frac1{1-x^2}-2$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$\frac1{1+x^2}+\frac1{1-x^2}=\frac2{1-x^4}$</a:t>
                </a:r>
                <a:r>
                  <a:rPr sz="2400" b="0">
                    <a:solidFill>
                      <a:srgbClr val="111827"/>
                    </a:solidFill>
                    <a:latin typeface="Arial"/>
                  </a:rPr>
                  <a:t>, so </a:t>
                </a:r>
                <a:r>
                  <a:rPr lang="en-IN" sz="2400">
                    <a:solidFill>
                      <a:srgbClr val="111827"/>
                    </a:solidFill>
                    <a:latin typeface="Cambria Math" panose="02040503050406030204" pitchFamily="18" charset="0"/>
                  </a:rPr>
                  <a:t>$g'(x)=\frac{2-2(1-x^4)}{1-x^4}=\frac{2x^4}{1-x^4}$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L'Hopital: </a:t>
                </a:r>
                <a14:m>
                  <m:oMath xmlns:m="http://schemas.openxmlformats.org/officeDocument/2006/math">
                    <m:r>
                      <m:rPr>
                        <m:sty m:val="p"/>
                      </m:rPr>
                      <a:rPr lang="en-IN" sz="2400">
                        <a:solidFill>
                          <a:srgbClr val="111827"/>
                        </a:solidFill>
                        <a:latin typeface="Cambria Math" panose="02040503050406030204" pitchFamily="18" charset="0"/>
                      </a:rPr>
                      <m:t>lim</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lim</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lim</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so Statement I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 II: </a:t>
                </a:r>
                <a14:m>
                  <m:oMath xmlns:m="http://schemas.openxmlformats.org/officeDocument/2006/math">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sup>
                        </m:sSup>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sSub>
                      <m:e>
                        <m:r>
                          <m:rPr>
                            <m:sty m:val="p"/>
                          </m:rPr>
                          <a:rPr lang="en-IN" sz="2400">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(definition of derivative).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logarithm tends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the limit is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Statement II is true, answer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L'Hopital: </a:t>
                </a:r>
                <a:r>
                  <a:rPr lang="en-IN" sz="2400">
                    <a:solidFill>
                      <a:srgbClr val="111827"/>
                    </a:solidFill>
                    <a:latin typeface="Cambria Math" panose="02040503050406030204" pitchFamily="18" charset="0"/>
                  </a:rPr>
                  <a:t>$\lim\frac{g(x)}{x^5}=\lim\frac{g'(x)}{5x^4}=\lim\frac{2}{5(1-x^4)}=\frac25$</a:t>
                </a:r>
                <a:r>
                  <a:rPr sz="2400" b="0">
                    <a:solidFill>
                      <a:srgbClr val="111827"/>
                    </a:solidFill>
                    <a:latin typeface="Arial"/>
                  </a:rPr>
                  <a:t>, so Statement I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 II: </a:t>
                </a:r>
                <a:r>
                  <a:rPr lang="en-IN" sz="2400">
                    <a:solidFill>
                      <a:srgbClr val="111827"/>
                    </a:solidFill>
                    <a:latin typeface="Cambria Math" panose="02040503050406030204" pitchFamily="18" charset="0"/>
                  </a:rPr>
                  <a:t>$\ln\left(x^{\frac2{1-x}}\right)=\frac{2\ln x}{1-x}$</a:t>
                </a:r>
                <a:r>
                  <a:rPr sz="2400" b="0">
                    <a:solidFill>
                      <a:srgbClr val="111827"/>
                    </a:solidFill>
                    <a:latin typeface="Arial"/>
                  </a:rPr>
                  <a:t>, and </a:t>
                </a:r>
                <a:r>
                  <a:rPr lang="en-IN" sz="2400">
                    <a:solidFill>
                      <a:srgbClr val="111827"/>
                    </a:solidFill>
                    <a:latin typeface="Cambria Math" panose="02040503050406030204" pitchFamily="18" charset="0"/>
                  </a:rPr>
                  <a:t>$\frac{\ln x}{1-x}\to-\frac{d}{dx}\ln x\Big|_{x=1}=-1$</a:t>
                </a:r>
                <a:r>
                  <a:rPr sz="2400" b="0">
                    <a:solidFill>
                      <a:srgbClr val="111827"/>
                    </a:solidFill>
                    <a:latin typeface="Arial"/>
                  </a:rPr>
                  <a:t> (definition of derivative).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logarithm tends to </a:t>
                </a:r>
                <a:r>
                  <a:rPr lang="en-IN" sz="2400">
                    <a:solidFill>
                      <a:srgbClr val="111827"/>
                    </a:solidFill>
                    <a:latin typeface="Cambria Math" panose="02040503050406030204" pitchFamily="18" charset="0"/>
                  </a:rPr>
                  <a:t>$-2$</a:t>
                </a:r>
                <a:r>
                  <a:rPr sz="2400" b="0">
                    <a:solidFill>
                      <a:srgbClr val="111827"/>
                    </a:solidFill>
                    <a:latin typeface="Arial"/>
                  </a:rPr>
                  <a:t> and the limit is </a:t>
                </a:r>
                <a:r>
                  <a:rPr lang="en-IN" sz="2400">
                    <a:solidFill>
                      <a:srgbClr val="111827"/>
                    </a:solidFill>
                    <a:latin typeface="Cambria Math" panose="02040503050406030204" pitchFamily="18" charset="0"/>
                  </a:rPr>
                  <a:t>$e^{-2}$</a:t>
                </a:r>
                <a:r>
                  <a:rPr sz="2400" b="0">
                    <a:solidFill>
                      <a:srgbClr val="111827"/>
                    </a:solidFill>
                    <a:latin typeface="Arial"/>
                  </a:rPr>
                  <a:t>: Statement II is true, answer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Both Statement I and Statement II are true</a:t>
            </a:r>
            <a:endParaRPr sz="2800">
              <a:solidFill>
                <a:srgbClr val="15803D"/>
              </a:solidFill>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tanh</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their sum is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5</m:t>
                                </m:r>
                              </m:sup>
                            </m:sSup>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9</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simplifies to a single power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den>
                    </m:f>
                  </m:oMath>
                </a14:m>
                <a:r>
                  <a:rPr sz="2400" b="0">
                    <a:solidFill>
                      <a:srgbClr val="111827"/>
                    </a:solidFill>
                    <a:latin typeface="Arial"/>
                  </a:rPr>
                  <a:t>), differentiate once instead of expanding series.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rule: </a:t>
                </a:r>
                <a14:m>
                  <m:oMath xmlns:m="http://schemas.openxmlformats.org/officeDocument/2006/math">
                    <m:r>
                      <m:rPr>
                        <m:sty m:val="p"/>
                      </m:rPr>
                      <a:rPr lang="en-IN" sz="2400">
                        <a:solidFill>
                          <a:srgbClr val="111827"/>
                        </a:solidFill>
                        <a:latin typeface="Cambria Math" panose="02040503050406030204" pitchFamily="18" charset="0"/>
                      </a:rPr>
                      <m:t>lim</m:t>
                    </m:r>
                    <m:sSup>
                      <m:e>
                        <m:r>
                          <a:rPr lang="en-IN" sz="2400" i="1">
                            <a:solidFill>
                              <a:srgbClr val="111827"/>
                            </a:solidFill>
                            <a:latin typeface="Cambria Math" panose="02040503050406030204" pitchFamily="18" charset="0"/>
                          </a:rPr>
                          <m:t>𝑓</m:t>
                        </m:r>
                      </m:e>
                      <m:sup>
                        <m:r>
                          <a:rPr lang="en-IN" sz="2400" i="1">
                            <a:solidFill>
                              <a:srgbClr val="111827"/>
                            </a:solidFill>
                            <a:latin typeface="Cambria Math" panose="02040503050406030204" pitchFamily="18" charset="0"/>
                          </a:rPr>
                          <m:t>𝑔</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lim</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in general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sSup>
                      <m:e>
                        <m:r>
                          <a:rPr lang="en-IN" sz="2400" i="1">
                            <a:solidFill>
                              <a:srgbClr val="111827"/>
                            </a:solidFill>
                            <a:latin typeface="Cambria Math" panose="02040503050406030204" pitchFamily="18" charset="0"/>
                          </a:rPr>
                          <m:t>𝑥</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Two-statement questions: verify each independently; do not assume statement II explains statement I.</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$\tan^{-1}x=x-\frac{x^3}3+\frac{x^5}5-\dots$</a:t>
                </a:r>
                <a:r>
                  <a:rPr sz="2400" b="0">
                    <a:solidFill>
                      <a:srgbClr val="111827"/>
                    </a:solidFill>
                    <a:latin typeface="Arial"/>
                  </a:rPr>
                  <a:t> and </a:t>
                </a:r>
                <a:r>
                  <a:rPr lang="en-IN" sz="2400">
                    <a:solidFill>
                      <a:srgbClr val="111827"/>
                    </a:solidFill>
                    <a:latin typeface="Cambria Math" panose="02040503050406030204" pitchFamily="18" charset="0"/>
                  </a:rPr>
                  <a:t>$\tanh^{-1}x=\frac12\ln\frac{1+x}{1-x}=x+\frac{x^3}3+\frac{x^5}5+\dots$</a:t>
                </a:r>
                <a:r>
                  <a:rPr sz="2400" b="0">
                    <a:solidFill>
                      <a:srgbClr val="111827"/>
                    </a:solidFill>
                    <a:latin typeface="Arial"/>
                  </a:rPr>
                  <a:t>; their sum is </a:t>
                </a:r>
                <a:r>
                  <a:rPr lang="en-IN" sz="2400">
                    <a:solidFill>
                      <a:srgbClr val="111827"/>
                    </a:solidFill>
                    <a:latin typeface="Cambria Math" panose="02040503050406030204" pitchFamily="18" charset="0"/>
                  </a:rPr>
                  <a:t>$2\left(x+\frac{x^5}5+\frac{x^9}9+\dots\right)$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$g'(x)$</a:t>
                </a:r>
                <a:r>
                  <a:rPr sz="2400" b="0">
                    <a:solidFill>
                      <a:srgbClr val="111827"/>
                    </a:solidFill>
                    <a:latin typeface="Arial"/>
                  </a:rPr>
                  <a:t> simplifies to a single power (here </a:t>
                </a:r>
                <a:r>
                  <a:rPr lang="en-IN" sz="2400">
                    <a:solidFill>
                      <a:srgbClr val="111827"/>
                    </a:solidFill>
                    <a:latin typeface="Cambria Math" panose="02040503050406030204" pitchFamily="18" charset="0"/>
                  </a:rPr>
                  <a:t>$\frac{2x^4}{1-x^4}$</a:t>
                </a:r>
                <a:r>
                  <a:rPr sz="2400" b="0">
                    <a:solidFill>
                      <a:srgbClr val="111827"/>
                    </a:solidFill>
                    <a:latin typeface="Arial"/>
                  </a:rPr>
                  <a:t>), differentiate once instead of expanding series.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$1^\infty$</a:t>
                </a:r>
                <a:r>
                  <a:rPr sz="2400" b="0">
                    <a:solidFill>
                      <a:srgbClr val="111827"/>
                    </a:solidFill>
                    <a:latin typeface="Arial"/>
                  </a:rPr>
                  <a:t> rule: </a:t>
                </a:r>
                <a:r>
                  <a:rPr lang="en-IN" sz="2400">
                    <a:solidFill>
                      <a:srgbClr val="111827"/>
                    </a:solidFill>
                    <a:latin typeface="Cambria Math" panose="02040503050406030204" pitchFamily="18" charset="0"/>
                  </a:rPr>
                  <a:t>$\lim f^g=e^{\lim g(f-1)}$</a:t>
                </a:r>
                <a:r>
                  <a:rPr sz="2400" b="0">
                    <a:solidFill>
                      <a:srgbClr val="111827"/>
                    </a:solidFill>
                    <a:latin typeface="Arial"/>
                  </a:rPr>
                  <a:t>; </a:t>
                </a:r>
                <a:r>
                  <a:rPr lang="en-IN" sz="2400">
                    <a:solidFill>
                      <a:srgbClr val="111827"/>
                    </a:solidFill>
                    <a:latin typeface="Cambria Math" panose="02040503050406030204" pitchFamily="18" charset="0"/>
                  </a:rPr>
                  <a:t>$\lim_{x\to1}x^{\frac1{1-x}}=\frac1e$</a:t>
                </a:r>
                <a:r>
                  <a:rPr sz="2400" b="0">
                    <a:solidFill>
                      <a:srgbClr val="111827"/>
                    </a:solidFill>
                    <a:latin typeface="Arial"/>
                  </a:rPr>
                  <a:t>, in general </a:t>
                </a:r>
                <a:r>
                  <a:rPr lang="en-IN" sz="2400">
                    <a:solidFill>
                      <a:srgbClr val="111827"/>
                    </a:solidFill>
                    <a:latin typeface="Cambria Math" panose="02040503050406030204" pitchFamily="18" charset="0"/>
                  </a:rPr>
                  <a:t>$\lim_{x\to1}x^{\frac k{1-x}}=e^{-k}$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Two-statement questions: verify each independently; do not assume statement II explains statement I.</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sSup>
                      <m:e>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e>
                            </m:d>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e>
                            </m:d>
                          </m:e>
                        </m:d>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then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a:rPr lang="en-IN" sz="2400" i="1">
                            <a:solidFill>
                              <a:srgbClr val="111827"/>
                            </a:solidFill>
                            <a:latin typeface="Cambria Math" panose="02040503050406030204" pitchFamily="18" charset="0"/>
                          </a:rPr>
                          <m:t>α</m:t>
                        </m:r>
                      </m:den>
                    </m:f>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   (B)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(C)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endParaRPr sz="2400">
                  <a:solidFill>
                    <a:srgbClr val="111827"/>
                  </a:solidFill>
                </a:endParaRPr>
              </a:p>
            </p:txBody>
          </p:sp>
        </mc:Choice>
        <mc:Fallback>
          <p:sp>
            <p:nvSpPr>
              <p:cNvPr id="4" name="Rounded Rectangle 3"/>
              <p:cNvSpPr/>
              <p:nvPr/>
            </p:nvSpPr>
            <p:spPr>
              <a:xfrm>
                <a:off x="731520" y="1280160"/>
                <a:ext cx="10725912" cy="24008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$\lim_{x\to\infty}\left(\left(\frac e{1-e}\right)\left(\frac1e-\frac x{1+x}\right)\right)^x=\alpha$</a:t>
                </a:r>
                <a:r>
                  <a:rPr sz="2400" b="0">
                    <a:solidFill>
                      <a:srgbClr val="111827"/>
                    </a:solidFill>
                    <a:latin typeface="Arial"/>
                  </a:rPr>
                  <a:t>, then the value of </a:t>
                </a:r>
                <a:r>
                  <a:rPr lang="en-IN" sz="2400">
                    <a:solidFill>
                      <a:srgbClr val="111827"/>
                    </a:solidFill>
                    <a:latin typeface="Cambria Math" panose="02040503050406030204" pitchFamily="18" charset="0"/>
                  </a:rPr>
                  <a:t>$\frac{\log_e\alpha}{1+\log_e\alpha}$</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$e$</a:t>
                </a:r>
                <a:r>
                  <a:rPr sz="2400" b="0">
                    <a:solidFill>
                      <a:srgbClr val="111827"/>
                    </a:solidFill>
                    <a:latin typeface="Arial"/>
                  </a:rPr>
                  <a:t>   (B) </a:t>
                </a:r>
                <a:r>
                  <a:rPr lang="en-IN" sz="2400">
                    <a:solidFill>
                      <a:srgbClr val="111827"/>
                    </a:solidFill>
                    <a:latin typeface="Cambria Math" panose="02040503050406030204" pitchFamily="18" charset="0"/>
                  </a:rPr>
                  <a:t>$e^{-2}$</a:t>
                </a:r>
                <a:r>
                  <a:rPr sz="2400" b="0">
                    <a:solidFill>
                      <a:srgbClr val="111827"/>
                    </a:solidFill>
                    <a:latin typeface="Arial"/>
                  </a:rPr>
                  <a:t>   (C) </a:t>
                </a:r>
                <a:r>
                  <a:rPr lang="en-IN" sz="2400">
                    <a:solidFill>
                      <a:srgbClr val="111827"/>
                    </a:solidFill>
                    <a:latin typeface="Cambria Math" panose="02040503050406030204" pitchFamily="18" charset="0"/>
                  </a:rPr>
                  <a:t>$e^2$</a:t>
                </a:r>
                <a:r>
                  <a:rPr sz="2400" b="0">
                    <a:solidFill>
                      <a:srgbClr val="111827"/>
                    </a:solidFill>
                    <a:latin typeface="Arial"/>
                  </a:rPr>
                  <a:t>   (D) </a:t>
                </a:r>
                <a:r>
                  <a:rPr lang="en-IN" sz="2400">
                    <a:solidFill>
                      <a:srgbClr val="111827"/>
                    </a:solidFill>
                    <a:latin typeface="Cambria Math" panose="02040503050406030204" pitchFamily="18" charset="0"/>
                  </a:rPr>
                  <a:t>$e^{-1}$</a:t>
                </a:r>
                <a:endParaRPr sz="2400">
                  <a:solidFill>
                    <a:srgbClr val="111827"/>
                  </a:solidFill>
                </a:endParaRPr>
              </a:p>
            </p:txBody>
          </p:sp>
        </mc:Fallback>
      </mc:AlternateContent>
      <p:sp>
        <p:nvSpPr>
          <p:cNvPr id="5" name="Rectangle 4"/>
          <p:cNvSpPr/>
          <p:nvPr/>
        </p:nvSpPr>
        <p:spPr>
          <a:xfrm>
            <a:off x="731520" y="39095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1-infinity form limits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base tends to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m:rPr>
                            <m:sty m:val="p"/>
                          </m:rPr>
                          <a:rPr lang="en-IN" sz="2400">
                            <a:solidFill>
                              <a:srgbClr val="78350F"/>
                            </a:solidFill>
                            <a:latin typeface="Cambria Math" panose="02040503050406030204" pitchFamily="18" charset="0"/>
                          </a:rPr>
                          <m:t>lim</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𝑏𝑎𝑠𝑒</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this gives </a:t>
                </a:r>
                <a14:m>
                  <m:oMath xmlns:m="http://schemas.openxmlformats.org/officeDocument/2006/math">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𝑒</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𝑒</m:t>
                        </m:r>
                      </m:den>
                    </m:f>
                  </m:oMath>
                </a14:m>
                <a:r>
                  <a:rPr sz="2400" b="0">
                    <a:solidFill>
                      <a:srgbClr val="78350F"/>
                    </a:solidFill>
                    <a:latin typeface="Arial"/>
                  </a:rPr>
                  <a:t> and then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α</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α</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𝑒</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base tends to </a:t>
                </a:r>
                <a:r>
                  <a:rPr lang="en-IN" sz="2400">
                    <a:solidFill>
                      <a:srgbClr val="78350F"/>
                    </a:solidFill>
                    <a:latin typeface="Cambria Math" panose="02040503050406030204" pitchFamily="18" charset="0"/>
                  </a:rPr>
                  <a:t>$1$</a:t>
                </a:r>
                <a:r>
                  <a:rPr sz="2400" b="0">
                    <a:solidFill>
                      <a:srgbClr val="78350F"/>
                    </a:solidFill>
                    <a:latin typeface="Arial"/>
                  </a:rPr>
                  <a:t>, so </a:t>
                </a:r>
                <a:r>
                  <a:rPr lang="en-IN" sz="2400">
                    <a:solidFill>
                      <a:srgbClr val="78350F"/>
                    </a:solidFill>
                    <a:latin typeface="Cambria Math" panose="02040503050406030204" pitchFamily="18" charset="0"/>
                  </a:rPr>
                  <a:t>$\alpha=e^{\lim x(\text{base}-1)}$</a:t>
                </a:r>
                <a:r>
                  <a:rPr sz="2400" b="0">
                    <a:solidFill>
                      <a:srgbClr val="78350F"/>
                    </a:solidFill>
                    <a:latin typeface="Arial"/>
                  </a:rPr>
                  <a:t>; this gives </a:t>
                </a:r>
                <a:r>
                  <a:rPr lang="en-IN" sz="2400">
                    <a:solidFill>
                      <a:srgbClr val="78350F"/>
                    </a:solidFill>
                    <a:latin typeface="Cambria Math" panose="02040503050406030204" pitchFamily="18" charset="0"/>
                  </a:rPr>
                  <a:t>$\ln\alpha=\frac e{1-e}$</a:t>
                </a:r>
                <a:r>
                  <a:rPr sz="2400" b="0">
                    <a:solidFill>
                      <a:srgbClr val="78350F"/>
                    </a:solidFill>
                    <a:latin typeface="Arial"/>
                  </a:rPr>
                  <a:t> and then </a:t>
                </a:r>
                <a:r>
                  <a:rPr lang="en-IN" sz="2400">
                    <a:solidFill>
                      <a:srgbClr val="78350F"/>
                    </a:solidFill>
                    <a:latin typeface="Cambria Math" panose="02040503050406030204" pitchFamily="18" charset="0"/>
                  </a:rPr>
                  <a:t>$\frac{\ln\alpha}{1+\ln\alpha}=e$</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base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limit is of the form </a:t>
                </a:r>
                <a14:m>
                  <m:oMath xmlns:m="http://schemas.openxmlformats.org/officeDocument/2006/math">
                    <m:sSup>
                      <m:e>
                        <m:r>
                          <a:rPr lang="en-IN" sz="2400" i="1">
                            <a:solidFill>
                              <a:srgbClr val="111827"/>
                            </a:solidFill>
                            <a:latin typeface="Cambria Math" panose="02040503050406030204" pitchFamily="18" charset="0"/>
                          </a:rPr>
                          <m:t>1</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the brace over a common denominator: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base is </a:t>
                </a:r>
                <a:r>
                  <a:rPr lang="en-IN" sz="2400">
                    <a:solidFill>
                      <a:srgbClr val="111827"/>
                    </a:solidFill>
                    <a:latin typeface="Cambria Math" panose="02040503050406030204" pitchFamily="18" charset="0"/>
                  </a:rPr>
                  <a:t>$\frac e{1-e}\cdot\frac{1+x-ex}{e(1+x)}=\frac{1+(1-e)x}{(1-e)(1+x)}\to1$</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so the limit is of the form </a:t>
                </a:r>
                <a:r>
                  <a:rPr lang="en-IN" sz="2400">
                    <a:solidFill>
                      <a:srgbClr val="111827"/>
                    </a:solidFill>
                    <a:latin typeface="Cambria Math" panose="02040503050406030204" pitchFamily="18" charset="0"/>
                  </a:rPr>
                  <a:t>$1^\infty$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$\alpha=e^{\lim_{x\to\infty}x\left\{\frac e{1-e}\left(\frac1e-\frac x{1+x}\right)-1\right\}}$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the brace over a common denominator: </a:t>
                </a:r>
                <a:r>
                  <a:rPr lang="en-IN" sz="2400">
                    <a:solidFill>
                      <a:srgbClr val="111827"/>
                    </a:solidFill>
                    <a:latin typeface="Cambria Math" panose="02040503050406030204" pitchFamily="18" charset="0"/>
                  </a:rPr>
                  <a:t>$\frac{e(1+x-ex)-(1-e)e(1+x)}{(1-e)e(1+x)}=\frac{e^2}{e-e^2+x(e-e^2)}$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exponent is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exponent is </a:t>
                </a:r>
                <a:r>
                  <a:rPr lang="en-IN" sz="2400">
                    <a:solidFill>
                      <a:srgbClr val="111827"/>
                    </a:solidFill>
                    <a:latin typeface="Cambria Math" panose="02040503050406030204" pitchFamily="18" charset="0"/>
                  </a:rPr>
                  <a:t>$\lim_{x\to\infty}\frac{xe^2}{e-e^2+x(e-e^2)}=\frac{e^2}{e-e^2}=\frac e{1-e}$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$\alpha=e^{\frac e{1-e}}$</a:t>
                </a:r>
                <a:r>
                  <a:rPr sz="2400" b="0">
                    <a:solidFill>
                      <a:srgbClr val="111827"/>
                    </a:solidFill>
                    <a:latin typeface="Arial"/>
                  </a:rPr>
                  <a:t> and </a:t>
                </a:r>
                <a:r>
                  <a:rPr lang="en-IN" sz="2400">
                    <a:solidFill>
                      <a:srgbClr val="111827"/>
                    </a:solidFill>
                    <a:latin typeface="Cambria Math" panose="02040503050406030204" pitchFamily="18" charset="0"/>
                  </a:rPr>
                  <a:t>$\ln\alpha=\frac e{1-e}$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$\frac{\ln\alpha}{1+\ln\alpha}=\frac{\frac e{1-e}}{1+\frac e{1-e}}=\frac{e/(1-e)}{1/(1-e)}=e$</a:t>
                </a:r>
                <a:r>
                  <a:rPr sz="2400" b="0">
                    <a:solidFill>
                      <a:srgbClr val="111827"/>
                    </a:solidFill>
                    <a:latin typeface="Arial"/>
                  </a:rPr>
                  <a: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e</a:t>
            </a:r>
            <a:endParaRPr sz="2800">
              <a:solidFill>
                <a:srgbClr val="15803D"/>
              </a:solidFill>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Polynomial division turns the base into exactly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𝑘</m:t>
                        </m:r>
                      </m:num>
                      <m:den>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oMath>
                </a14:m>
                <a:r>
                  <a:rPr sz="2400" b="0">
                    <a:solidFill>
                      <a:srgbClr val="78350F"/>
                    </a:solidFill>
                    <a:latin typeface="Arial"/>
                  </a:rPr>
                  <a:t>, and </a:t>
                </a:r>
                <a14:m>
                  <m:oMath xmlns:m="http://schemas.openxmlformats.org/officeDocument/2006/math">
                    <m:sSup>
                      <m:e>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𝑘</m:t>
                                </m:r>
                              </m:num>
                              <m:den>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den>
                            </m:f>
                          </m:e>
                        </m:d>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𝑘</m:t>
                        </m:r>
                      </m:sup>
                    </m:sSup>
                  </m:oMath>
                </a14:m>
                <a:r>
                  <a:rPr sz="2400" b="0">
                    <a:solidFill>
                      <a:srgbClr val="78350F"/>
                    </a:solidFill>
                    <a:latin typeface="Arial"/>
                  </a:rPr>
                  <a:t> is the standard limit.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Polynomial division turns the base into exactly </a:t>
                </a:r>
                <a:r>
                  <a:rPr lang="en-IN" sz="2400">
                    <a:solidFill>
                      <a:srgbClr val="78350F"/>
                    </a:solidFill>
                    <a:latin typeface="Cambria Math" panose="02040503050406030204" pitchFamily="18" charset="0"/>
                  </a:rPr>
                  <a:t>$1+\frac{k}{x+1}$</a:t>
                </a:r>
                <a:r>
                  <a:rPr sz="2400" b="0">
                    <a:solidFill>
                      <a:srgbClr val="78350F"/>
                    </a:solidFill>
                    <a:latin typeface="Arial"/>
                  </a:rPr>
                  <a:t>, and </a:t>
                </a:r>
                <a:r>
                  <a:rPr lang="en-IN" sz="2400">
                    <a:solidFill>
                      <a:srgbClr val="78350F"/>
                    </a:solidFill>
                    <a:latin typeface="Cambria Math" panose="02040503050406030204" pitchFamily="18" charset="0"/>
                  </a:rPr>
                  <a:t>$\left(1+\frac k{x+1}\right)^x\to e^k$</a:t>
                </a:r>
                <a:r>
                  <a:rPr sz="2400" b="0">
                    <a:solidFill>
                      <a:srgbClr val="78350F"/>
                    </a:solidFill>
                    <a:latin typeface="Arial"/>
                  </a:rPr>
                  <a:t> is the standard limit.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base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d>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𝑘</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base is </a:t>
                </a:r>
                <a:r>
                  <a:rPr lang="en-IN" sz="2400">
                    <a:solidFill>
                      <a:srgbClr val="111827"/>
                    </a:solidFill>
                    <a:latin typeface="Cambria Math" panose="02040503050406030204" pitchFamily="18" charset="0"/>
                  </a:rPr>
                  <a:t>$\frac{(1-e)x+1}{(1-e)(x+1)}=\frac{x+\frac1{1-e}}{x+1}=1+\frac{\frac1{1-e}-1}{x+1}=1+\frac{k}{x+1}$</a:t>
                </a:r>
                <a:r>
                  <a:rPr sz="2400" b="0">
                    <a:solidFill>
                      <a:srgbClr val="111827"/>
                    </a:solidFill>
                    <a:latin typeface="Arial"/>
                  </a:rPr>
                  <a:t> with </a:t>
                </a:r>
                <a:r>
                  <a:rPr lang="en-IN" sz="2400">
                    <a:solidFill>
                      <a:srgbClr val="111827"/>
                    </a:solidFill>
                    <a:latin typeface="Cambria Math" panose="02040503050406030204" pitchFamily="18" charset="0"/>
                  </a:rPr>
                  <a:t>$k=\frac e{1-e}$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$\left(1+\frac k{x+1}\right)^x=\left[\left(1+\frac k{x+1}\right)^{x+1}\right]^{\frac x{x+1}}\to(e^k)^1=e^k$</a:t>
                </a:r>
                <a:r>
                  <a:rPr sz="2400" b="0">
                    <a:solidFill>
                      <a:srgbClr val="111827"/>
                    </a:solidFill>
                    <a:latin typeface="Arial"/>
                  </a:rPr>
                  <a:t>, so </a:t>
                </a:r>
                <a:r>
                  <a:rPr lang="en-IN" sz="2400">
                    <a:solidFill>
                      <a:srgbClr val="111827"/>
                    </a:solidFill>
                    <a:latin typeface="Cambria Math" panose="02040503050406030204" pitchFamily="18" charset="0"/>
                  </a:rPr>
                  <a:t>$\alpha=e^k$</a:t>
                </a:r>
                <a:r>
                  <a:rPr sz="2400" b="0">
                    <a:solidFill>
                      <a:srgbClr val="111827"/>
                    </a:solidFill>
                    <a:latin typeface="Arial"/>
                  </a:rPr>
                  <a:t> and </a:t>
                </a:r>
                <a:r>
                  <a:rPr lang="en-IN" sz="2400">
                    <a:solidFill>
                      <a:srgbClr val="111827"/>
                    </a:solidFill>
                    <a:latin typeface="Cambria Math" panose="02040503050406030204" pitchFamily="18" charset="0"/>
                  </a:rPr>
                  <a:t>$\ln\alpha=k=\frac e{1-e}$</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$\frac{\ln\alpha}{1+\ln\alpha}=\frac k{1+k}$</a:t>
                </a:r>
                <a:r>
                  <a:rPr sz="2400" b="0">
                    <a:solidFill>
                      <a:srgbClr val="111827"/>
                    </a:solidFill>
                    <a:latin typeface="Arial"/>
                  </a:rPr>
                  <a:t>, and </a:t>
                </a:r>
                <a:r>
                  <a:rPr lang="en-IN" sz="2400">
                    <a:solidFill>
                      <a:srgbClr val="111827"/>
                    </a:solidFill>
                    <a:latin typeface="Cambria Math" panose="02040503050406030204" pitchFamily="18" charset="0"/>
                  </a:rPr>
                  <a:t>$1+k=\frac1{1-e}$</a:t>
                </a:r>
                <a:r>
                  <a:rPr sz="2400" b="0">
                    <a:solidFill>
                      <a:srgbClr val="111827"/>
                    </a:solidFill>
                    <a:latin typeface="Arial"/>
                  </a:rPr>
                  <a:t>, so </a:t>
                </a:r>
                <a:r>
                  <a:rPr lang="en-IN" sz="2400">
                    <a:solidFill>
                      <a:srgbClr val="111827"/>
                    </a:solidFill>
                    <a:latin typeface="Cambria Math" panose="02040503050406030204" pitchFamily="18" charset="0"/>
                  </a:rPr>
                  <a:t>$\frac k{1+k}=\frac{e}{1-e}\cdot(1-e)=e$</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e</a:t>
            </a:r>
            <a:endParaRPr sz="2800">
              <a:solidFill>
                <a:srgbClr val="15803D"/>
              </a:solidFill>
            </a:endParaR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and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e>
                        </m:d>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𝑘</m:t>
                        </m:r>
                      </m:sup>
                    </m:sSup>
                  </m:oMath>
                </a14:m>
                <a:r>
                  <a:rPr sz="2400" b="0">
                    <a:solidFill>
                      <a:srgbClr val="111827"/>
                    </a:solidFill>
                    <a:latin typeface="Arial"/>
                  </a:rPr>
                  <a:t> for any constant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Division trick: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write it as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𝑐𝑜𝑛𝑠𝑡</m:t>
                        </m:r>
                      </m:num>
                      <m:den>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oMath>
                </a14:m>
                <a:r>
                  <a:rPr sz="2400" b="0">
                    <a:solidFill>
                      <a:srgbClr val="111827"/>
                    </a:solidFill>
                    <a:latin typeface="Arial"/>
                  </a:rPr>
                  <a:t> is chosen so that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if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check: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m:t>
                    </m:r>
                  </m:oMath>
                </a14:m>
                <a:r>
                  <a:rPr sz="2400" b="0">
                    <a:solidFill>
                      <a:srgbClr val="111827"/>
                    </a:solidFill>
                    <a:latin typeface="Arial"/>
                  </a:rPr>
                  <a:t>); verified numerically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a:rPr lang="en-IN" sz="2400" i="1">
                            <a:solidFill>
                              <a:srgbClr val="111827"/>
                            </a:solidFill>
                            <a:latin typeface="Cambria Math" panose="02040503050406030204" pitchFamily="18" charset="0"/>
                          </a:rPr>
                          <m:t>6</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$\lim_{x\to\infty}\left(1+\frac kx\right)^x=e^k$</a:t>
                </a:r>
                <a:r>
                  <a:rPr sz="2400" b="0">
                    <a:solidFill>
                      <a:srgbClr val="111827"/>
                    </a:solidFill>
                    <a:latin typeface="Arial"/>
                  </a:rPr>
                  <a:t>, and </a:t>
                </a:r>
                <a:r>
                  <a:rPr lang="en-IN" sz="2400">
                    <a:solidFill>
                      <a:srgbClr val="111827"/>
                    </a:solidFill>
                    <a:latin typeface="Cambria Math" panose="02040503050406030204" pitchFamily="18" charset="0"/>
                  </a:rPr>
                  <a:t>$\left(1+\frac k{x+c}\right)^x\to e^k$</a:t>
                </a:r>
                <a:r>
                  <a:rPr sz="2400" b="0">
                    <a:solidFill>
                      <a:srgbClr val="111827"/>
                    </a:solidFill>
                    <a:latin typeface="Arial"/>
                  </a:rPr>
                  <a:t> for any constant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Division trick: </a:t>
                </a:r>
                <a:r>
                  <a:rPr lang="en-IN" sz="2400">
                    <a:solidFill>
                      <a:srgbClr val="111827"/>
                    </a:solidFill>
                    <a:latin typeface="Cambria Math" panose="02040503050406030204" pitchFamily="18" charset="0"/>
                  </a:rPr>
                  <a:t>$\frac{px+q}{rx+s}=\frac pr+\dots$</a:t>
                </a:r>
                <a:r>
                  <a:rPr sz="2400" b="0">
                    <a:solidFill>
                      <a:srgbClr val="111827"/>
                    </a:solidFill>
                    <a:latin typeface="Arial"/>
                  </a:rPr>
                  <a:t>; when </a:t>
                </a:r>
                <a:r>
                  <a:rPr lang="en-IN" sz="2400">
                    <a:solidFill>
                      <a:srgbClr val="111827"/>
                    </a:solidFill>
                    <a:latin typeface="Cambria Math" panose="02040503050406030204" pitchFamily="18" charset="0"/>
                  </a:rPr>
                  <a:t>$\frac pr=1$</a:t>
                </a:r>
                <a:r>
                  <a:rPr sz="2400" b="0">
                    <a:solidFill>
                      <a:srgbClr val="111827"/>
                    </a:solidFill>
                    <a:latin typeface="Arial"/>
                  </a:rPr>
                  <a:t> write it as </a:t>
                </a:r>
                <a:r>
                  <a:rPr lang="en-IN" sz="2400">
                    <a:solidFill>
                      <a:srgbClr val="111827"/>
                    </a:solidFill>
                    <a:latin typeface="Cambria Math" panose="02040503050406030204" pitchFamily="18" charset="0"/>
                  </a:rPr>
                  <a:t>$1+\frac{\text{const}}{rx+s}$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$k=\frac e{1-e}$</a:t>
                </a:r>
                <a:r>
                  <a:rPr sz="2400" b="0">
                    <a:solidFill>
                      <a:srgbClr val="111827"/>
                    </a:solidFill>
                    <a:latin typeface="Arial"/>
                  </a:rPr>
                  <a:t> is chosen so that </a:t>
                </a:r>
                <a:r>
                  <a:rPr lang="en-IN" sz="2400">
                    <a:solidFill>
                      <a:srgbClr val="111827"/>
                    </a:solidFill>
                    <a:latin typeface="Cambria Math" panose="02040503050406030204" pitchFamily="18" charset="0"/>
                  </a:rPr>
                  <a:t>$\frac k{1+k}=e$</a:t>
                </a:r>
                <a:r>
                  <a:rPr sz="2400" b="0">
                    <a:solidFill>
                      <a:srgbClr val="111827"/>
                    </a:solidFill>
                    <a:latin typeface="Arial"/>
                  </a:rPr>
                  <a:t>: if </a:t>
                </a:r>
                <a:r>
                  <a:rPr lang="en-IN" sz="2400">
                    <a:solidFill>
                      <a:srgbClr val="111827"/>
                    </a:solidFill>
                    <a:latin typeface="Cambria Math" panose="02040503050406030204" pitchFamily="18" charset="0"/>
                  </a:rPr>
                  <a:t>$\ln\alpha=k$</a:t>
                </a:r>
                <a:r>
                  <a:rPr sz="2400" b="0">
                    <a:solidFill>
                      <a:srgbClr val="111827"/>
                    </a:solidFill>
                    <a:latin typeface="Arial"/>
                  </a:rPr>
                  <a:t> then </a:t>
                </a:r>
                <a:r>
                  <a:rPr lang="en-IN" sz="2400">
                    <a:solidFill>
                      <a:srgbClr val="111827"/>
                    </a:solidFill>
                    <a:latin typeface="Cambria Math" panose="02040503050406030204" pitchFamily="18" charset="0"/>
                  </a:rPr>
                  <a:t>$\frac{\ln\alpha}{1+\ln\alpha}=e\iff k=\frac e{1-e}$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check: </a:t>
                </a:r>
                <a:r>
                  <a:rPr lang="en-IN" sz="2400">
                    <a:solidFill>
                      <a:srgbClr val="111827"/>
                    </a:solidFill>
                    <a:latin typeface="Cambria Math" panose="02040503050406030204" pitchFamily="18" charset="0"/>
                  </a:rPr>
                  <a:t>$1-e&lt;0$</a:t>
                </a:r>
                <a:r>
                  <a:rPr sz="2400" b="0">
                    <a:solidFill>
                      <a:srgbClr val="111827"/>
                    </a:solidFill>
                    <a:latin typeface="Arial"/>
                  </a:rPr>
                  <a:t>, so </a:t>
                </a:r>
                <a:r>
                  <a:rPr lang="en-IN" sz="2400">
                    <a:solidFill>
                      <a:srgbClr val="111827"/>
                    </a:solidFill>
                    <a:latin typeface="Cambria Math" panose="02040503050406030204" pitchFamily="18" charset="0"/>
                  </a:rPr>
                  <a:t>$k&lt;0$</a:t>
                </a:r>
                <a:r>
                  <a:rPr sz="2400" b="0">
                    <a:solidFill>
                      <a:srgbClr val="111827"/>
                    </a:solidFill>
                    <a:latin typeface="Arial"/>
                  </a:rPr>
                  <a:t> and </a:t>
                </a:r>
                <a:r>
                  <a:rPr lang="en-IN" sz="2400">
                    <a:solidFill>
                      <a:srgbClr val="111827"/>
                    </a:solidFill>
                    <a:latin typeface="Cambria Math" panose="02040503050406030204" pitchFamily="18" charset="0"/>
                  </a:rPr>
                  <a:t>$\alpha&lt;1$</a:t>
                </a:r>
                <a:r>
                  <a:rPr sz="2400" b="0">
                    <a:solidFill>
                      <a:srgbClr val="111827"/>
                    </a:solidFill>
                    <a:latin typeface="Arial"/>
                  </a:rPr>
                  <a:t> (</a:t>
                </a:r>
                <a:r>
                  <a:rPr lang="en-IN" sz="2400">
                    <a:solidFill>
                      <a:srgbClr val="111827"/>
                    </a:solidFill>
                    <a:latin typeface="Cambria Math" panose="02040503050406030204" pitchFamily="18" charset="0"/>
                  </a:rPr>
                  <a:t>$\alpha\approx e^{-1.58}\approx0.2$</a:t>
                </a:r>
                <a:r>
                  <a:rPr sz="2400" b="0">
                    <a:solidFill>
                      <a:srgbClr val="111827"/>
                    </a:solidFill>
                    <a:latin typeface="Arial"/>
                  </a:rPr>
                  <a:t>); verified numerically for </a:t>
                </a:r>
                <a:r>
                  <a:rPr lang="en-IN" sz="2400">
                    <a:solidFill>
                      <a:srgbClr val="111827"/>
                    </a:solidFill>
                    <a:latin typeface="Cambria Math" panose="02040503050406030204" pitchFamily="18" charset="0"/>
                  </a:rPr>
                  <a:t>$x=10^6$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823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a function such that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If the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m:t>
                    </m:r>
                  </m:oMath>
                </a14:m>
                <a:endParaRPr sz="2400">
                  <a:solidFill>
                    <a:srgbClr val="111827"/>
                  </a:solidFill>
                </a:endParaRPr>
              </a:p>
            </p:txBody>
          </p:sp>
        </mc:Choice>
        <mc:Fallback>
          <p:sp>
            <p:nvSpPr>
              <p:cNvPr id="4" name="Rounded Rectangle 3"/>
              <p:cNvSpPr/>
              <p:nvPr/>
            </p:nvSpPr>
            <p:spPr>
              <a:xfrm>
                <a:off x="731520" y="1280160"/>
                <a:ext cx="10725912" cy="28823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$f:\mathbb R-\{0\}\to\mathbb R$</a:t>
                </a:r>
                <a:r>
                  <a:rPr sz="2400" b="0">
                    <a:solidFill>
                      <a:srgbClr val="111827"/>
                    </a:solidFill>
                    <a:latin typeface="Arial"/>
                  </a:rPr>
                  <a:t> be a function such that </a:t>
                </a:r>
                <a:r>
                  <a:rPr lang="en-IN" sz="2400">
                    <a:solidFill>
                      <a:srgbClr val="111827"/>
                    </a:solidFill>
                    <a:latin typeface="Cambria Math" panose="02040503050406030204" pitchFamily="18" charset="0"/>
                  </a:rPr>
                  <a:t>$f(x)-6f\left(\frac1x\right)=\frac{35}{3x}-\frac52$</a:t>
                </a:r>
                <a:r>
                  <a:rPr sz="2400" b="0">
                    <a:solidFill>
                      <a:srgbClr val="111827"/>
                    </a:solidFill>
                    <a:latin typeface="Arial"/>
                  </a:rPr>
                  <a:t>. If the </a:t>
                </a:r>
                <a:r>
                  <a:rPr lang="en-IN" sz="2400">
                    <a:solidFill>
                      <a:srgbClr val="111827"/>
                    </a:solidFill>
                    <a:latin typeface="Cambria Math" panose="02040503050406030204" pitchFamily="18" charset="0"/>
                  </a:rPr>
                  <a:t>$\lim_{x\to0}\left(\frac1{\alpha x}+f(x)\right)=\beta$</a:t>
                </a:r>
                <a:r>
                  <a:rPr sz="2400" b="0">
                    <a:solidFill>
                      <a:srgbClr val="111827"/>
                    </a:solidFill>
                    <a:latin typeface="Arial"/>
                  </a:rPr>
                  <a:t>; </a:t>
                </a:r>
                <a:r>
                  <a:rPr lang="en-IN" sz="2400">
                    <a:solidFill>
                      <a:srgbClr val="111827"/>
                    </a:solidFill>
                    <a:latin typeface="Cambria Math" panose="02040503050406030204" pitchFamily="18" charset="0"/>
                  </a:rPr>
                  <a:t>$\alpha,\beta\in\mathbb R$</a:t>
                </a:r>
                <a:r>
                  <a:rPr sz="2400" b="0">
                    <a:solidFill>
                      <a:srgbClr val="111827"/>
                    </a:solidFill>
                    <a:latin typeface="Arial"/>
                  </a:rPr>
                  <a:t>, then </a:t>
                </a:r>
                <a:r>
                  <a:rPr lang="en-IN" sz="2400">
                    <a:solidFill>
                      <a:srgbClr val="111827"/>
                    </a:solidFill>
                    <a:latin typeface="Cambria Math" panose="02040503050406030204" pitchFamily="18" charset="0"/>
                  </a:rPr>
                  <a:t>$\alpha+2\beta$</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$3$</a:t>
                </a:r>
                <a:r>
                  <a:rPr sz="2400" b="0">
                    <a:solidFill>
                      <a:srgbClr val="111827"/>
                    </a:solidFill>
                    <a:latin typeface="Arial"/>
                  </a:rPr>
                  <a:t>   (B) </a:t>
                </a:r>
                <a:r>
                  <a:rPr lang="en-IN" sz="2400">
                    <a:solidFill>
                      <a:srgbClr val="111827"/>
                    </a:solidFill>
                    <a:latin typeface="Cambria Math" panose="02040503050406030204" pitchFamily="18" charset="0"/>
                  </a:rPr>
                  <a:t>$5$</a:t>
                </a:r>
                <a:r>
                  <a:rPr sz="2400" b="0">
                    <a:solidFill>
                      <a:srgbClr val="111827"/>
                    </a:solidFill>
                    <a:latin typeface="Arial"/>
                  </a:rPr>
                  <a:t>   (C) </a:t>
                </a:r>
                <a:r>
                  <a:rPr lang="en-IN" sz="2400">
                    <a:solidFill>
                      <a:srgbClr val="111827"/>
                    </a:solidFill>
                    <a:latin typeface="Cambria Math" panose="02040503050406030204" pitchFamily="18" charset="0"/>
                  </a:rPr>
                  <a:t>$4$</a:t>
                </a:r>
                <a:r>
                  <a:rPr sz="2400" b="0">
                    <a:solidFill>
                      <a:srgbClr val="111827"/>
                    </a:solidFill>
                    <a:latin typeface="Arial"/>
                  </a:rPr>
                  <a:t>   (D) </a:t>
                </a:r>
                <a:r>
                  <a:rPr lang="en-IN" sz="2400">
                    <a:solidFill>
                      <a:srgbClr val="111827"/>
                    </a:solidFill>
                    <a:latin typeface="Cambria Math" panose="02040503050406030204" pitchFamily="18" charset="0"/>
                  </a:rPr>
                  <a:t>$6$</a:t>
                </a:r>
                <a:endParaRPr sz="2400">
                  <a:solidFill>
                    <a:srgbClr val="111827"/>
                  </a:solidFill>
                </a:endParaRPr>
              </a:p>
            </p:txBody>
          </p:sp>
        </mc:Fallback>
      </mc:AlternateContent>
      <p:sp>
        <p:nvSpPr>
          <p:cNvPr id="5" name="Rectangle 4"/>
          <p:cNvSpPr/>
          <p:nvPr/>
        </p:nvSpPr>
        <p:spPr>
          <a:xfrm>
            <a:off x="731520" y="439115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Functional equation f(x) - 6f(1/x), Evaluation of limits using cancellation of poles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Replace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 to get a second linear equation in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e>
                    </m:d>
                  </m:oMath>
                </a14:m>
                <a:r>
                  <a:rPr sz="2400" b="0">
                    <a:solidFill>
                      <a:srgbClr val="78350F"/>
                    </a:solidFill>
                    <a:latin typeface="Arial"/>
                  </a:rPr>
                  <a:t> and solve for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limit then needs the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 terms to cancel.</a:t>
                </a:r>
                <a:endParaRPr sz="2400">
                  <a:solidFill>
                    <a:srgbClr val="78350F"/>
                  </a:solidFill>
                </a:endParaRPr>
              </a:p>
            </p:txBody>
          </p:sp>
        </mc:Choice>
        <mc:Fallback>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Replace </a:t>
                </a:r>
                <a:r>
                  <a:rPr lang="en-IN" sz="2400">
                    <a:solidFill>
                      <a:srgbClr val="78350F"/>
                    </a:solidFill>
                    <a:latin typeface="Cambria Math" panose="02040503050406030204" pitchFamily="18" charset="0"/>
                  </a:rPr>
                  <a:t>$x\to\frac1x$</a:t>
                </a:r>
                <a:r>
                  <a:rPr sz="2400" b="0">
                    <a:solidFill>
                      <a:srgbClr val="78350F"/>
                    </a:solidFill>
                    <a:latin typeface="Arial"/>
                  </a:rPr>
                  <a:t> to get a second linear equation in </a:t>
                </a:r>
                <a:r>
                  <a:rPr lang="en-IN" sz="2400">
                    <a:solidFill>
                      <a:srgbClr val="78350F"/>
                    </a:solidFill>
                    <a:latin typeface="Cambria Math" panose="02040503050406030204" pitchFamily="18" charset="0"/>
                  </a:rPr>
                  <a:t>$f(x),f\left(\frac1x\right)$</a:t>
                </a:r>
                <a:r>
                  <a:rPr sz="2400" b="0">
                    <a:solidFill>
                      <a:srgbClr val="78350F"/>
                    </a:solidFill>
                    <a:latin typeface="Arial"/>
                  </a:rPr>
                  <a:t> and solve for </a:t>
                </a:r>
                <a:r>
                  <a:rPr lang="en-IN" sz="2400">
                    <a:solidFill>
                      <a:srgbClr val="78350F"/>
                    </a:solidFill>
                    <a:latin typeface="Cambria Math" panose="02040503050406030204" pitchFamily="18" charset="0"/>
                  </a:rPr>
                  <a:t>$f(x)$</a:t>
                </a:r>
                <a:r>
                  <a:rPr sz="2400" b="0">
                    <a:solidFill>
                      <a:srgbClr val="78350F"/>
                    </a:solidFill>
                    <a:latin typeface="Arial"/>
                  </a:rPr>
                  <a:t>; the limit then needs the </a:t>
                </a:r>
                <a:r>
                  <a:rPr lang="en-IN" sz="2400">
                    <a:solidFill>
                      <a:srgbClr val="78350F"/>
                    </a:solidFill>
                    <a:latin typeface="Cambria Math" panose="02040503050406030204" pitchFamily="18" charset="0"/>
                  </a:rPr>
                  <a:t>$\frac1x$</a:t>
                </a:r>
                <a:r>
                  <a:rPr sz="2400" b="0">
                    <a:solidFill>
                      <a:srgbClr val="78350F"/>
                    </a:solidFill>
                    <a:latin typeface="Arial"/>
                  </a:rPr>
                  <a:t> terms to cancel.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Eliminate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oMath>
                </a14:m>
                <a:r>
                  <a:rPr sz="2400" b="0">
                    <a:solidFill>
                      <a:srgbClr val="111827"/>
                    </a:solidFill>
                    <a:latin typeface="Arial"/>
                  </a:rPr>
                  <a:t> from (1) and (2) (multiply (2) by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and add):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$f(x)-6f\left(\frac1x\right)=\frac{35}{3x}-\frac52$</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Replace </a:t>
                </a:r>
                <a:r>
                  <a:rPr lang="en-IN" sz="2400">
                    <a:solidFill>
                      <a:srgbClr val="111827"/>
                    </a:solidFill>
                    <a:latin typeface="Cambria Math" panose="02040503050406030204" pitchFamily="18" charset="0"/>
                  </a:rPr>
                  <a:t>$x\to\frac1x$</a:t>
                </a:r>
                <a:r>
                  <a:rPr sz="2400" b="0">
                    <a:solidFill>
                      <a:srgbClr val="111827"/>
                    </a:solidFill>
                    <a:latin typeface="Arial"/>
                  </a:rPr>
                  <a:t>: </a:t>
                </a:r>
                <a:r>
                  <a:rPr lang="en-IN" sz="2400">
                    <a:solidFill>
                      <a:srgbClr val="111827"/>
                    </a:solidFill>
                    <a:latin typeface="Cambria Math" panose="02040503050406030204" pitchFamily="18" charset="0"/>
                  </a:rPr>
                  <a:t>$f\left(\frac1x\right)-6f(x)=\frac{35x}3-\frac52$</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Eliminate </a:t>
                </a:r>
                <a:r>
                  <a:rPr lang="en-IN" sz="2400">
                    <a:solidFill>
                      <a:srgbClr val="111827"/>
                    </a:solidFill>
                    <a:latin typeface="Cambria Math" panose="02040503050406030204" pitchFamily="18" charset="0"/>
                  </a:rPr>
                  <a:t>$f\left(\frac1x\right)$</a:t>
                </a:r>
                <a:r>
                  <a:rPr sz="2400" b="0">
                    <a:solidFill>
                      <a:srgbClr val="111827"/>
                    </a:solidFill>
                    <a:latin typeface="Arial"/>
                  </a:rPr>
                  <a:t> from (1) and (2) (multiply (2) by </a:t>
                </a:r>
                <a:r>
                  <a:rPr lang="en-IN" sz="2400">
                    <a:solidFill>
                      <a:srgbClr val="111827"/>
                    </a:solidFill>
                    <a:latin typeface="Cambria Math" panose="02040503050406030204" pitchFamily="18" charset="0"/>
                  </a:rPr>
                  <a:t>$6$</a:t>
                </a:r>
                <a:r>
                  <a:rPr sz="2400" b="0">
                    <a:solidFill>
                      <a:srgbClr val="111827"/>
                    </a:solidFill>
                    <a:latin typeface="Arial"/>
                  </a:rPr>
                  <a:t> and add): </a:t>
                </a:r>
                <a:r>
                  <a:rPr lang="en-IN" sz="2400">
                    <a:solidFill>
                      <a:srgbClr val="111827"/>
                    </a:solidFill>
                    <a:latin typeface="Cambria Math" panose="02040503050406030204" pitchFamily="18" charset="0"/>
                  </a:rPr>
                  <a:t>$f(x)=-2x-\frac1{3x}+\frac12$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$\beta=\lim_{x\to0}\left(\frac1{\alpha x}-2x-\frac1{3x}+\frac12\right)$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terms must cancel for a finite limit: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limit is then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$\frac1x$</a:t>
                </a:r>
                <a:r>
                  <a:rPr sz="2400" b="0">
                    <a:solidFill>
                      <a:srgbClr val="111827"/>
                    </a:solidFill>
                    <a:latin typeface="Arial"/>
                  </a:rPr>
                  <a:t> terms must cancel for a finite limit: </a:t>
                </a:r>
                <a:r>
                  <a:rPr lang="en-IN" sz="2400">
                    <a:solidFill>
                      <a:srgbClr val="111827"/>
                    </a:solidFill>
                    <a:latin typeface="Cambria Math" panose="02040503050406030204" pitchFamily="18" charset="0"/>
                  </a:rPr>
                  <a:t>$\frac1\alpha=\frac13$</a:t>
                </a:r>
                <a:r>
                  <a:rPr sz="2400" b="0">
                    <a:solidFill>
                      <a:srgbClr val="111827"/>
                    </a:solidFill>
                    <a:latin typeface="Arial"/>
                  </a:rPr>
                  <a:t>, so </a:t>
                </a:r>
                <a:r>
                  <a:rPr lang="en-IN" sz="2400">
                    <a:solidFill>
                      <a:srgbClr val="111827"/>
                    </a:solidFill>
                    <a:latin typeface="Cambria Math" panose="02040503050406030204" pitchFamily="18" charset="0"/>
                  </a:rPr>
                  <a:t>$\alpha=3$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limit is then </a:t>
                </a:r>
                <a:r>
                  <a:rPr lang="en-IN" sz="2400">
                    <a:solidFill>
                      <a:srgbClr val="111827"/>
                    </a:solidFill>
                    <a:latin typeface="Cambria Math" panose="02040503050406030204" pitchFamily="18" charset="0"/>
                  </a:rPr>
                  <a:t>$0-0+\frac12$</a:t>
                </a:r>
                <a:r>
                  <a:rPr sz="2400" b="0">
                    <a:solidFill>
                      <a:srgbClr val="111827"/>
                    </a:solidFill>
                    <a:latin typeface="Arial"/>
                  </a:rPr>
                  <a:t>, so </a:t>
                </a:r>
                <a:r>
                  <a:rPr lang="en-IN" sz="2400">
                    <a:solidFill>
                      <a:srgbClr val="111827"/>
                    </a:solidFill>
                    <a:latin typeface="Cambria Math" panose="02040503050406030204" pitchFamily="18" charset="0"/>
                  </a:rPr>
                  <a:t>$\beta=\frac12$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$\alpha+2\beta=3+1=4$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4</a:t>
            </a:r>
            <a:endParaRPr sz="2800">
              <a:solidFill>
                <a:srgbClr val="15803D"/>
              </a:solidFill>
            </a:endParaRP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Ansatz: the right side contains only </a:t>
                </a:r>
                <a14:m>
                  <m:oMath xmlns:m="http://schemas.openxmlformats.org/officeDocument/2006/math">
                    <m:sSup>
                      <m:e>
                        <m:r>
                          <a:rPr lang="en-IN" sz="2400" i="1">
                            <a:solidFill>
                              <a:srgbClr val="78350F"/>
                            </a:solidFill>
                            <a:latin typeface="Cambria Math" panose="02040503050406030204" pitchFamily="18" charset="0"/>
                          </a:rPr>
                          <m:t>𝑥</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and constants, so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𝐵</m:t>
                        </m:r>
                      </m:num>
                      <m:den>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oMath>
                </a14:m>
                <a:r>
                  <a:rPr sz="2400" b="0">
                    <a:solidFill>
                      <a:srgbClr val="78350F"/>
                    </a:solidFill>
                    <a:latin typeface="Arial"/>
                  </a:rPr>
                  <a:t>; compare coefficients instead of eliminating.</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Ansatz: the right side contains only </a:t>
                </a:r>
                <a:r>
                  <a:rPr lang="en-IN" sz="2400">
                    <a:solidFill>
                      <a:srgbClr val="78350F"/>
                    </a:solidFill>
                    <a:latin typeface="Cambria Math" panose="02040503050406030204" pitchFamily="18" charset="0"/>
                  </a:rPr>
                  <a:t>$x^{-1}$</a:t>
                </a:r>
                <a:r>
                  <a:rPr sz="2400" b="0">
                    <a:solidFill>
                      <a:srgbClr val="78350F"/>
                    </a:solidFill>
                    <a:latin typeface="Arial"/>
                  </a:rPr>
                  <a:t> and constants, so </a:t>
                </a:r>
                <a:r>
                  <a:rPr lang="en-IN" sz="2400">
                    <a:solidFill>
                      <a:srgbClr val="78350F"/>
                    </a:solidFill>
                    <a:latin typeface="Cambria Math" panose="02040503050406030204" pitchFamily="18" charset="0"/>
                  </a:rPr>
                  <a:t>$f(x)=Ax+\frac Bx+C$</a:t>
                </a:r>
                <a:r>
                  <a:rPr sz="2400" b="0">
                    <a:solidFill>
                      <a:srgbClr val="78350F"/>
                    </a:solidFill>
                    <a:latin typeface="Arial"/>
                  </a:rPr>
                  <a:t>; compare coefficients instead of eliminating.</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$f(x)=Ax+\frac Bx+C$</a:t>
                </a:r>
                <a:r>
                  <a:rPr sz="2400" b="0">
                    <a:solidFill>
                      <a:srgbClr val="111827"/>
                    </a:solidFill>
                    <a:latin typeface="Arial"/>
                  </a:rPr>
                  <a:t>; then </a:t>
                </a:r>
                <a:r>
                  <a:rPr lang="en-IN" sz="2400">
                    <a:solidFill>
                      <a:srgbClr val="111827"/>
                    </a:solidFill>
                    <a:latin typeface="Cambria Math" panose="02040503050406030204" pitchFamily="18" charset="0"/>
                  </a:rPr>
                  <a:t>$f\left(\frac1x\right)=\frac Ax+Bx+C$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$f(x)-6f\left(\frac1x\right)=(A-6B)x+\frac{B-6A}x-5C$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with </a:t>
                </a:r>
                <a:r>
                  <a:rPr lang="en-IN" sz="2400">
                    <a:solidFill>
                      <a:srgbClr val="111827"/>
                    </a:solidFill>
                    <a:latin typeface="Cambria Math" panose="02040503050406030204" pitchFamily="18" charset="0"/>
                  </a:rPr>
                  <a:t>$\frac{35}{3x}-\frac52$</a:t>
                </a:r>
                <a:r>
                  <a:rPr sz="2400" b="0">
                    <a:solidFill>
                      <a:srgbClr val="111827"/>
                    </a:solidFill>
                    <a:latin typeface="Arial"/>
                  </a:rPr>
                  <a:t>: </a:t>
                </a:r>
                <a:r>
                  <a:rPr lang="en-IN" sz="2400">
                    <a:solidFill>
                      <a:srgbClr val="111827"/>
                    </a:solidFill>
                    <a:latin typeface="Cambria Math" panose="02040503050406030204" pitchFamily="18" charset="0"/>
                  </a:rPr>
                  <a:t>$A-6B=0$</a:t>
                </a:r>
                <a:r>
                  <a:rPr sz="2400" b="0">
                    <a:solidFill>
                      <a:srgbClr val="111827"/>
                    </a:solidFill>
                    <a:latin typeface="Arial"/>
                  </a:rPr>
                  <a:t>, </a:t>
                </a:r>
                <a:r>
                  <a:rPr lang="en-IN" sz="2400">
                    <a:solidFill>
                      <a:srgbClr val="111827"/>
                    </a:solidFill>
                    <a:latin typeface="Cambria Math" panose="02040503050406030204" pitchFamily="18" charset="0"/>
                  </a:rPr>
                  <a:t>$B-6A=\frac{35}3$</a:t>
                </a:r>
                <a:r>
                  <a:rPr sz="2400" b="0">
                    <a:solidFill>
                      <a:srgbClr val="111827"/>
                    </a:solidFill>
                    <a:latin typeface="Arial"/>
                  </a:rPr>
                  <a:t>, </a:t>
                </a:r>
                <a:r>
                  <a:rPr lang="en-IN" sz="2400">
                    <a:solidFill>
                      <a:srgbClr val="111827"/>
                    </a:solidFill>
                    <a:latin typeface="Cambria Math" panose="02040503050406030204" pitchFamily="18" charset="0"/>
                  </a:rPr>
                  <a:t>$-5C=-\frac52$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thus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(unique, since the linear system 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determinant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has a finite limit iff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then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$C=\frac12$</a:t>
                </a:r>
                <a:r>
                  <a:rPr sz="2400" b="0">
                    <a:solidFill>
                      <a:srgbClr val="111827"/>
                    </a:solidFill>
                    <a:latin typeface="Arial"/>
                  </a:rPr>
                  <a:t>, </a:t>
                </a:r>
                <a:r>
                  <a:rPr lang="en-IN" sz="2400">
                    <a:solidFill>
                      <a:srgbClr val="111827"/>
                    </a:solidFill>
                    <a:latin typeface="Cambria Math" panose="02040503050406030204" pitchFamily="18" charset="0"/>
                  </a:rPr>
                  <a:t>$A=6B$</a:t>
                </a:r>
                <a:r>
                  <a:rPr sz="2400" b="0">
                    <a:solidFill>
                      <a:srgbClr val="111827"/>
                    </a:solidFill>
                    <a:latin typeface="Arial"/>
                  </a:rPr>
                  <a:t>, </a:t>
                </a:r>
                <a:r>
                  <a:rPr lang="en-IN" sz="2400">
                    <a:solidFill>
                      <a:srgbClr val="111827"/>
                    </a:solidFill>
                    <a:latin typeface="Cambria Math" panose="02040503050406030204" pitchFamily="18" charset="0"/>
                  </a:rPr>
                  <a:t>$B-36B=\frac{35}3\Rightarrow B=-\frac13$</a:t>
                </a:r>
                <a:r>
                  <a:rPr sz="2400" b="0">
                    <a:solidFill>
                      <a:srgbClr val="111827"/>
                    </a:solidFill>
                    <a:latin typeface="Arial"/>
                  </a:rPr>
                  <a:t>, </a:t>
                </a:r>
                <a:r>
                  <a:rPr lang="en-IN" sz="2400">
                    <a:solidFill>
                      <a:srgbClr val="111827"/>
                    </a:solidFill>
                    <a:latin typeface="Cambria Math" panose="02040503050406030204" pitchFamily="18" charset="0"/>
                  </a:rPr>
                  <a:t>$A=-2$</a:t>
                </a:r>
                <a:r>
                  <a:rPr sz="2400" b="0">
                    <a:solidFill>
                      <a:srgbClr val="111827"/>
                    </a:solidFill>
                    <a:latin typeface="Arial"/>
                  </a:rPr>
                  <a:t>; thus </a:t>
                </a:r>
                <a:r>
                  <a:rPr lang="en-IN" sz="2400">
                    <a:solidFill>
                      <a:srgbClr val="111827"/>
                    </a:solidFill>
                    <a:latin typeface="Cambria Math" panose="02040503050406030204" pitchFamily="18" charset="0"/>
                  </a:rPr>
                  <a:t>$f(x)=-2x-\frac1{3x}+\frac12$</a:t>
                </a:r>
                <a:r>
                  <a:rPr sz="2400" b="0">
                    <a:solidFill>
                      <a:srgbClr val="111827"/>
                    </a:solidFill>
                    <a:latin typeface="Arial"/>
                  </a:rPr>
                  <a:t> (unique, since the linear system for </a:t>
                </a:r>
                <a:r>
                  <a:rPr lang="en-IN" sz="2400">
                    <a:solidFill>
                      <a:srgbClr val="111827"/>
                    </a:solidFill>
                    <a:latin typeface="Cambria Math" panose="02040503050406030204" pitchFamily="18" charset="0"/>
                  </a:rPr>
                  <a:t>$f(x),f(1/x)$</a:t>
                </a:r>
                <a:r>
                  <a:rPr sz="2400" b="0">
                    <a:solidFill>
                      <a:srgbClr val="111827"/>
                    </a:solidFill>
                    <a:latin typeface="Arial"/>
                  </a:rPr>
                  <a:t> has determinant </a:t>
                </a:r>
                <a:r>
                  <a:rPr lang="en-IN" sz="2400">
                    <a:solidFill>
                      <a:srgbClr val="111827"/>
                    </a:solidFill>
                    <a:latin typeface="Cambria Math" panose="02040503050406030204" pitchFamily="18" charset="0"/>
                  </a:rPr>
                  <a:t>$1-36\ne0$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$\frac1{\alpha x}+f(x)=\left(\frac1\alpha-\frac13\right)\frac1x-2x+\frac12$</a:t>
                </a:r>
                <a:r>
                  <a:rPr sz="2400" b="0">
                    <a:solidFill>
                      <a:srgbClr val="111827"/>
                    </a:solidFill>
                    <a:latin typeface="Arial"/>
                  </a:rPr>
                  <a:t> has a finite limit iff </a:t>
                </a:r>
                <a:r>
                  <a:rPr lang="en-IN" sz="2400">
                    <a:solidFill>
                      <a:srgbClr val="111827"/>
                    </a:solidFill>
                    <a:latin typeface="Cambria Math" panose="02040503050406030204" pitchFamily="18" charset="0"/>
                  </a:rPr>
                  <a:t>$\alpha=3$</a:t>
                </a:r>
                <a:r>
                  <a:rPr sz="2400" b="0">
                    <a:solidFill>
                      <a:srgbClr val="111827"/>
                    </a:solidFill>
                    <a:latin typeface="Arial"/>
                  </a:rPr>
                  <a:t>, and then </a:t>
                </a:r>
                <a:r>
                  <a:rPr lang="en-IN" sz="2400">
                    <a:solidFill>
                      <a:srgbClr val="111827"/>
                    </a:solidFill>
                    <a:latin typeface="Cambria Math" panose="02040503050406030204" pitchFamily="18" charset="0"/>
                  </a:rPr>
                  <a:t>$\beta=\frac12$</a:t>
                </a:r>
                <a:r>
                  <a:rPr sz="2400" b="0">
                    <a:solidFill>
                      <a:srgbClr val="111827"/>
                    </a:solidFill>
                    <a:latin typeface="Arial"/>
                  </a:rPr>
                  <a:t>, so </a:t>
                </a:r>
                <a:r>
                  <a:rPr lang="en-IN" sz="2400">
                    <a:solidFill>
                      <a:srgbClr val="111827"/>
                    </a:solidFill>
                    <a:latin typeface="Cambria Math" panose="02040503050406030204" pitchFamily="18" charset="0"/>
                  </a:rPr>
                  <a:t>$\alpha+2\beta=4$</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4</a:t>
            </a:r>
            <a:endParaRPr sz="2800">
              <a:solidFill>
                <a:srgbClr val="15803D"/>
              </a:solidFill>
            </a:endParaR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𝑓</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swap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and solve the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system: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here: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35</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den>
                    </m:f>
                  </m:oMath>
                </a14:m>
                <a:r>
                  <a:rPr sz="2400" b="0">
                    <a:solidFill>
                      <a:srgbClr val="111827"/>
                    </a:solidFill>
                    <a:latin typeface="Arial"/>
                  </a:rPr>
                  <a:t> - this agrees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limit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finite only if the coefficient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then the limit is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case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needs a different treatment, because the system is degenerate.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$f(x)+kf\left(\frac1x\right)=g(x)$</a:t>
                </a:r>
                <a:r>
                  <a:rPr sz="2400" b="0">
                    <a:solidFill>
                      <a:srgbClr val="111827"/>
                    </a:solidFill>
                    <a:latin typeface="Arial"/>
                  </a:rPr>
                  <a:t> with </a:t>
                </a:r>
                <a:r>
                  <a:rPr lang="en-IN" sz="2400">
                    <a:solidFill>
                      <a:srgbClr val="111827"/>
                    </a:solidFill>
                    <a:latin typeface="Cambria Math" panose="02040503050406030204" pitchFamily="18" charset="0"/>
                  </a:rPr>
                  <a:t>$k^2\ne1$</a:t>
                </a:r>
                <a:r>
                  <a:rPr sz="2400" b="0">
                    <a:solidFill>
                      <a:srgbClr val="111827"/>
                    </a:solidFill>
                    <a:latin typeface="Arial"/>
                  </a:rPr>
                  <a:t>, swap </a:t>
                </a:r>
                <a:r>
                  <a:rPr lang="en-IN" sz="2400">
                    <a:solidFill>
                      <a:srgbClr val="111827"/>
                    </a:solidFill>
                    <a:latin typeface="Cambria Math" panose="02040503050406030204" pitchFamily="18" charset="0"/>
                  </a:rPr>
                  <a:t>$x\to\frac1x$</a:t>
                </a:r>
                <a:r>
                  <a:rPr sz="2400" b="0">
                    <a:solidFill>
                      <a:srgbClr val="111827"/>
                    </a:solidFill>
                    <a:latin typeface="Arial"/>
                  </a:rPr>
                  <a:t> and solve the </a:t>
                </a:r>
                <a:r>
                  <a:rPr lang="en-IN" sz="2400">
                    <a:solidFill>
                      <a:srgbClr val="111827"/>
                    </a:solidFill>
                    <a:latin typeface="Cambria Math" panose="02040503050406030204" pitchFamily="18" charset="0"/>
                  </a:rPr>
                  <a:t>$2\times2$</a:t>
                </a:r>
                <a:r>
                  <a:rPr sz="2400" b="0">
                    <a:solidFill>
                      <a:srgbClr val="111827"/>
                    </a:solidFill>
                    <a:latin typeface="Arial"/>
                  </a:rPr>
                  <a:t> system: </a:t>
                </a:r>
                <a:r>
                  <a:rPr lang="en-IN" sz="2400">
                    <a:solidFill>
                      <a:srgbClr val="111827"/>
                    </a:solidFill>
                    <a:latin typeface="Cambria Math" panose="02040503050406030204" pitchFamily="18" charset="0"/>
                  </a:rPr>
                  <a:t>$f(x)=\frac{g(x)-kg(1/x)}{1-k^2}$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here: </a:t>
                </a:r>
                <a:r>
                  <a:rPr lang="en-IN" sz="2400">
                    <a:solidFill>
                      <a:srgbClr val="111827"/>
                    </a:solidFill>
                    <a:latin typeface="Cambria Math" panose="02040503050406030204" pitchFamily="18" charset="0"/>
                  </a:rPr>
                  <a:t>$k=-6$</a:t>
                </a:r>
                <a:r>
                  <a:rPr sz="2400" b="0">
                    <a:solidFill>
                      <a:srgbClr val="111827"/>
                    </a:solidFill>
                    <a:latin typeface="Arial"/>
                  </a:rPr>
                  <a:t>, </a:t>
                </a:r>
                <a:r>
                  <a:rPr lang="en-IN" sz="2400">
                    <a:solidFill>
                      <a:srgbClr val="111827"/>
                    </a:solidFill>
                    <a:latin typeface="Cambria Math" panose="02040503050406030204" pitchFamily="18" charset="0"/>
                  </a:rPr>
                  <a:t>$g=\frac{35}{3x}-\frac52$</a:t>
                </a:r>
                <a:r>
                  <a:rPr sz="2400" b="0">
                    <a:solidFill>
                      <a:srgbClr val="111827"/>
                    </a:solidFill>
                    <a:latin typeface="Arial"/>
                  </a:rPr>
                  <a:t>: </a:t>
                </a:r>
                <a:r>
                  <a:rPr lang="en-IN" sz="2400">
                    <a:solidFill>
                      <a:srgbClr val="111827"/>
                    </a:solidFill>
                    <a:latin typeface="Cambria Math" panose="02040503050406030204" pitchFamily="18" charset="0"/>
                  </a:rPr>
                  <a:t>$f=\frac{g(x)+6g(1/x)}{1-36}=\frac{\frac{35}{3x}-\frac52+70x-15}{-35}$</a:t>
                </a:r>
                <a:r>
                  <a:rPr sz="2400" b="0">
                    <a:solidFill>
                      <a:srgbClr val="111827"/>
                    </a:solidFill>
                    <a:latin typeface="Arial"/>
                  </a:rPr>
                  <a:t> - this agrees with </a:t>
                </a:r>
                <a:r>
                  <a:rPr lang="en-IN" sz="2400">
                    <a:solidFill>
                      <a:srgbClr val="111827"/>
                    </a:solidFill>
                    <a:latin typeface="Cambria Math" panose="02040503050406030204" pitchFamily="18" charset="0"/>
                  </a:rPr>
                  <a:t>$-2x-\frac1{3x}+\frac12$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limit </a:t>
                </a:r>
                <a:r>
                  <a:rPr lang="en-IN" sz="2400">
                    <a:solidFill>
                      <a:srgbClr val="111827"/>
                    </a:solidFill>
                    <a:latin typeface="Cambria Math" panose="02040503050406030204" pitchFamily="18" charset="0"/>
                  </a:rPr>
                  <a:t>$\frac cx+h(x)$</a:t>
                </a:r>
                <a:r>
                  <a:rPr sz="2400" b="0">
                    <a:solidFill>
                      <a:srgbClr val="111827"/>
                    </a:solidFill>
                    <a:latin typeface="Arial"/>
                  </a:rPr>
                  <a:t> as </a:t>
                </a:r>
                <a:r>
                  <a:rPr lang="en-IN" sz="2400">
                    <a:solidFill>
                      <a:srgbClr val="111827"/>
                    </a:solidFill>
                    <a:latin typeface="Cambria Math" panose="02040503050406030204" pitchFamily="18" charset="0"/>
                  </a:rPr>
                  <a:t>$x\to0$</a:t>
                </a:r>
                <a:r>
                  <a:rPr sz="2400" b="0">
                    <a:solidFill>
                      <a:srgbClr val="111827"/>
                    </a:solidFill>
                    <a:latin typeface="Arial"/>
                  </a:rPr>
                  <a:t> is finite only if the coefficient </a:t>
                </a:r>
                <a:r>
                  <a:rPr lang="en-IN" sz="2400">
                    <a:solidFill>
                      <a:srgbClr val="111827"/>
                    </a:solidFill>
                    <a:latin typeface="Cambria Math" panose="02040503050406030204" pitchFamily="18" charset="0"/>
                  </a:rPr>
                  <a:t>$c$</a:t>
                </a:r>
                <a:r>
                  <a:rPr sz="2400" b="0">
                    <a:solidFill>
                      <a:srgbClr val="111827"/>
                    </a:solidFill>
                    <a:latin typeface="Arial"/>
                  </a:rPr>
                  <a:t> of </a:t>
                </a:r>
                <a:r>
                  <a:rPr lang="en-IN" sz="2400">
                    <a:solidFill>
                      <a:srgbClr val="111827"/>
                    </a:solidFill>
                    <a:latin typeface="Cambria Math" panose="02040503050406030204" pitchFamily="18" charset="0"/>
                  </a:rPr>
                  <a:t>$\frac1x$</a:t>
                </a:r>
                <a:r>
                  <a:rPr sz="2400" b="0">
                    <a:solidFill>
                      <a:srgbClr val="111827"/>
                    </a:solidFill>
                    <a:latin typeface="Arial"/>
                  </a:rPr>
                  <a:t> is </a:t>
                </a:r>
                <a:r>
                  <a:rPr lang="en-IN" sz="2400">
                    <a:solidFill>
                      <a:srgbClr val="111827"/>
                    </a:solidFill>
                    <a:latin typeface="Cambria Math" panose="02040503050406030204" pitchFamily="18" charset="0"/>
                  </a:rPr>
                  <a:t>$0$</a:t>
                </a:r>
                <a:r>
                  <a:rPr sz="2400" b="0">
                    <a:solidFill>
                      <a:srgbClr val="111827"/>
                    </a:solidFill>
                    <a:latin typeface="Arial"/>
                  </a:rPr>
                  <a:t>; then the limit is </a:t>
                </a:r>
                <a:r>
                  <a:rPr lang="en-IN" sz="2400">
                    <a:solidFill>
                      <a:srgbClr val="111827"/>
                    </a:solidFill>
                    <a:latin typeface="Cambria Math" panose="02040503050406030204" pitchFamily="18" charset="0"/>
                  </a:rPr>
                  <a:t>$h(0)$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case </a:t>
                </a:r>
                <a:r>
                  <a:rPr lang="en-IN" sz="2400">
                    <a:solidFill>
                      <a:srgbClr val="111827"/>
                    </a:solidFill>
                    <a:latin typeface="Cambria Math" panose="02040503050406030204" pitchFamily="18" charset="0"/>
                  </a:rPr>
                  <a:t>$k=\pm1$</a:t>
                </a:r>
                <a:r>
                  <a:rPr sz="2400" b="0">
                    <a:solidFill>
                      <a:srgbClr val="111827"/>
                    </a:solidFill>
                    <a:latin typeface="Arial"/>
                  </a:rPr>
                  <a:t> (</a:t>
                </a:r>
                <a:r>
                  <a:rPr lang="en-IN" sz="2400">
                    <a:solidFill>
                      <a:srgbClr val="111827"/>
                    </a:solidFill>
                    <a:latin typeface="Cambria Math" panose="02040503050406030204" pitchFamily="18" charset="0"/>
                  </a:rPr>
                  <a:t>$f(x)\pm f(1/x)$</a:t>
                </a:r>
                <a:r>
                  <a:rPr sz="2400" b="0">
                    <a:solidFill>
                      <a:srgbClr val="111827"/>
                    </a:solidFill>
                    <a:latin typeface="Arial"/>
                  </a:rPr>
                  <a:t>) needs a different treatment, because the system is degenerate.</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726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some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𝑏</m:t>
                              </m:r>
                            </m:e>
                          </m:mr>
                          <m:mr>
                            <m:e>
                              <m:r>
                                <a:rPr lang="en-IN" sz="2400" i="1">
                                  <a:solidFill>
                                    <a:srgbClr val="111827"/>
                                  </a:solidFill>
                                  <a:latin typeface="Cambria Math" panose="02040503050406030204" pitchFamily="18" charset="0"/>
                                </a:rPr>
                                <m:t>𝑎</m:t>
                              </m:r>
                            </m:e>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e>
                            <m:e>
                              <m:r>
                                <a:rPr lang="en-IN" sz="2400" i="1">
                                  <a:solidFill>
                                    <a:srgbClr val="111827"/>
                                  </a:solidFill>
                                  <a:latin typeface="Cambria Math" panose="02040503050406030204" pitchFamily="18" charset="0"/>
                                </a:rPr>
                                <m:t>𝑏</m:t>
                              </m:r>
                            </m:e>
                          </m:mr>
                          <m:mr>
                            <m:e>
                              <m:r>
                                <a:rPr lang="en-IN" sz="2400" i="1">
                                  <a:solidFill>
                                    <a:srgbClr val="111827"/>
                                  </a:solidFill>
                                  <a:latin typeface="Cambria Math" panose="02040503050406030204" pitchFamily="18" charset="0"/>
                                </a:rPr>
                                <m:t>𝑎</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e>
                          </m:mr>
                        </m:m>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ν</m:t>
                    </m:r>
                    <m:r>
                      <a:rPr lang="en-IN" sz="2400" i="1">
                        <a:solidFill>
                          <a:srgbClr val="111827"/>
                        </a:solidFill>
                        <a:latin typeface="Cambria Math" panose="02040503050406030204" pitchFamily="18" charset="0"/>
                      </a:rPr>
                      <m:t>𝑏</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ν</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25</m:t>
                    </m:r>
                  </m:oMath>
                </a14:m>
                <a:endParaRPr sz="2400">
                  <a:solidFill>
                    <a:srgbClr val="111827"/>
                  </a:solidFill>
                </a:endParaRPr>
              </a:p>
            </p:txBody>
          </p:sp>
        </mc:Choice>
        <mc:Fallback>
          <p:sp>
            <p:nvSpPr>
              <p:cNvPr id="4" name="Rounded Rectangle 3"/>
              <p:cNvSpPr/>
              <p:nvPr/>
            </p:nvSpPr>
            <p:spPr>
              <a:xfrm>
                <a:off x="731520" y="1280160"/>
                <a:ext cx="10725912" cy="27726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some </a:t>
                </a:r>
                <a:r>
                  <a:rPr lang="en-IN" sz="2400">
                    <a:solidFill>
                      <a:srgbClr val="111827"/>
                    </a:solidFill>
                    <a:latin typeface="Cambria Math" panose="02040503050406030204" pitchFamily="18" charset="0"/>
                  </a:rPr>
                  <a:t>$a,b$</a:t>
                </a:r>
                <a:r>
                  <a:rPr sz="2400" b="0">
                    <a:solidFill>
                      <a:srgbClr val="111827"/>
                    </a:solidFill>
                    <a:latin typeface="Arial"/>
                  </a:rPr>
                  <a:t>, let </a:t>
                </a:r>
                <a:r>
                  <a:rPr lang="en-IN" sz="2400">
                    <a:solidFill>
                      <a:srgbClr val="111827"/>
                    </a:solidFill>
                    <a:latin typeface="Cambria Math" panose="02040503050406030204" pitchFamily="18" charset="0"/>
                  </a:rPr>
                  <a:t>$f(x)=\left|\begin{matrix}a+\frac{\sin x}x&amp;1&amp;b\\a&amp;1+\frac{\sin x}x&amp;b\\a&amp;1&amp;b+\frac{\sin x}x\end{matrix}\right|$</a:t>
                </a:r>
                <a:r>
                  <a:rPr sz="2400" b="0">
                    <a:solidFill>
                      <a:srgbClr val="111827"/>
                    </a:solidFill>
                    <a:latin typeface="Arial"/>
                  </a:rPr>
                  <a:t>, </a:t>
                </a:r>
                <a:r>
                  <a:rPr lang="en-IN" sz="2400">
                    <a:solidFill>
                      <a:srgbClr val="111827"/>
                    </a:solidFill>
                    <a:latin typeface="Cambria Math" panose="02040503050406030204" pitchFamily="18" charset="0"/>
                  </a:rPr>
                  <a:t>$x\ne0$</a:t>
                </a:r>
                <a:r>
                  <a:rPr sz="2400" b="0">
                    <a:solidFill>
                      <a:srgbClr val="111827"/>
                    </a:solidFill>
                    <a:latin typeface="Arial"/>
                  </a:rPr>
                  <a:t>, </a:t>
                </a:r>
                <a:r>
                  <a:rPr lang="en-IN" sz="2400">
                    <a:solidFill>
                      <a:srgbClr val="111827"/>
                    </a:solidFill>
                    <a:latin typeface="Cambria Math" panose="02040503050406030204" pitchFamily="18" charset="0"/>
                  </a:rPr>
                  <a:t>$\lim_{x\to0}f(x)=\lambda+\mu a+\nu b$</a:t>
                </a:r>
                <a:r>
                  <a:rPr sz="2400" b="0">
                    <a:solidFill>
                      <a:srgbClr val="111827"/>
                    </a:solidFill>
                    <a:latin typeface="Arial"/>
                  </a:rPr>
                  <a:t>. Then </a:t>
                </a:r>
                <a:r>
                  <a:rPr lang="en-IN" sz="2400">
                    <a:solidFill>
                      <a:srgbClr val="111827"/>
                    </a:solidFill>
                    <a:latin typeface="Cambria Math" panose="02040503050406030204" pitchFamily="18" charset="0"/>
                  </a:rPr>
                  <a:t>$(\lambda+\mu+\nu)^2$</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$9$</a:t>
                </a:r>
                <a:r>
                  <a:rPr sz="2400" b="0">
                    <a:solidFill>
                      <a:srgbClr val="111827"/>
                    </a:solidFill>
                    <a:latin typeface="Arial"/>
                  </a:rPr>
                  <a:t>   (B) </a:t>
                </a:r>
                <a:r>
                  <a:rPr lang="en-IN" sz="2400">
                    <a:solidFill>
                      <a:srgbClr val="111827"/>
                    </a:solidFill>
                    <a:latin typeface="Cambria Math" panose="02040503050406030204" pitchFamily="18" charset="0"/>
                  </a:rPr>
                  <a:t>$36$</a:t>
                </a:r>
                <a:r>
                  <a:rPr sz="2400" b="0">
                    <a:solidFill>
                      <a:srgbClr val="111827"/>
                    </a:solidFill>
                    <a:latin typeface="Arial"/>
                  </a:rPr>
                  <a:t>   (C) </a:t>
                </a:r>
                <a:r>
                  <a:rPr lang="en-IN" sz="2400">
                    <a:solidFill>
                      <a:srgbClr val="111827"/>
                    </a:solidFill>
                    <a:latin typeface="Cambria Math" panose="02040503050406030204" pitchFamily="18" charset="0"/>
                  </a:rPr>
                  <a:t>$16$</a:t>
                </a:r>
                <a:r>
                  <a:rPr sz="2400" b="0">
                    <a:solidFill>
                      <a:srgbClr val="111827"/>
                    </a:solidFill>
                    <a:latin typeface="Arial"/>
                  </a:rPr>
                  <a:t>   (D) </a:t>
                </a:r>
                <a:r>
                  <a:rPr lang="en-IN" sz="2400">
                    <a:solidFill>
                      <a:srgbClr val="111827"/>
                    </a:solidFill>
                    <a:latin typeface="Cambria Math" panose="02040503050406030204" pitchFamily="18" charset="0"/>
                  </a:rPr>
                  <a:t>$25$</a:t>
                </a:r>
                <a:endParaRPr sz="2400">
                  <a:solidFill>
                    <a:srgbClr val="111827"/>
                  </a:solidFill>
                </a:endParaRPr>
              </a:p>
            </p:txBody>
          </p:sp>
        </mc:Fallback>
      </mc:AlternateContent>
      <p:sp>
        <p:nvSpPr>
          <p:cNvPr id="5" name="Rectangle 4"/>
          <p:cNvSpPr/>
          <p:nvPr/>
        </p:nvSpPr>
        <p:spPr>
          <a:xfrm>
            <a:off x="731520" y="428142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Limit of a determinant (continuity), Standard limit sin x / 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determinant is a polynomial in its entries, so the limit is the determinant of the limits: replace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 by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determinant is a polynomial in its entries, so the limit is the determinant of the limits: replace </a:t>
                </a:r>
                <a:r>
                  <a:rPr lang="en-IN" sz="2400">
                    <a:solidFill>
                      <a:srgbClr val="78350F"/>
                    </a:solidFill>
                    <a:latin typeface="Cambria Math" panose="02040503050406030204" pitchFamily="18" charset="0"/>
                  </a:rPr>
                  <a:t>$\frac{\sin x}x$</a:t>
                </a:r>
                <a:r>
                  <a:rPr sz="2400" b="0">
                    <a:solidFill>
                      <a:srgbClr val="78350F"/>
                    </a:solidFill>
                    <a:latin typeface="Arial"/>
                  </a:rPr>
                  <a:t> by </a:t>
                </a:r>
                <a:r>
                  <a:rPr lang="en-IN" sz="2400">
                    <a:solidFill>
                      <a:srgbClr val="78350F"/>
                    </a:solidFill>
                    <a:latin typeface="Cambria Math" panose="02040503050406030204" pitchFamily="18" charset="0"/>
                  </a:rPr>
                  <a:t>$1$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determinant is continuous in its entries, so </a:t>
                </a:r>
                <a14:m>
                  <m:oMath xmlns:m="http://schemas.openxmlformats.org/officeDocument/2006/math">
                    <m:r>
                      <m:rPr>
                        <m:sty m:val="p"/>
                      </m:rPr>
                      <a:rPr lang="en-IN" sz="2400">
                        <a:solidFill>
                          <a:srgbClr val="111827"/>
                        </a:solidFill>
                        <a:latin typeface="Cambria Math" panose="02040503050406030204" pitchFamily="18" charset="0"/>
                      </a:rPr>
                      <m:t>lim</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𝑏</m:t>
                              </m:r>
                            </m:e>
                          </m:mr>
                          <m:mr>
                            <m:e>
                              <m:r>
                                <a:rPr lang="en-IN" sz="2400" i="1">
                                  <a:solidFill>
                                    <a:srgbClr val="111827"/>
                                  </a:solidFill>
                                  <a:latin typeface="Cambria Math" panose="02040503050406030204" pitchFamily="18" charset="0"/>
                                </a:rPr>
                                <m:t>𝑎</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𝑏</m:t>
                              </m:r>
                            </m:e>
                          </m:mr>
                          <m:mr>
                            <m:e>
                              <m:r>
                                <a:rPr lang="en-IN" sz="2400" i="1">
                                  <a:solidFill>
                                    <a:srgbClr val="111827"/>
                                  </a:solidFill>
                                  <a:latin typeface="Cambria Math" panose="02040503050406030204" pitchFamily="18" charset="0"/>
                                </a:rPr>
                                <m:t>𝑎</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along the first row: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$x\to0$</a:t>
                </a:r>
                <a:r>
                  <a:rPr sz="2400" b="0">
                    <a:solidFill>
                      <a:srgbClr val="111827"/>
                    </a:solidFill>
                    <a:latin typeface="Arial"/>
                  </a:rPr>
                  <a:t>, </a:t>
                </a:r>
                <a:r>
                  <a:rPr lang="en-IN" sz="2400">
                    <a:solidFill>
                      <a:srgbClr val="111827"/>
                    </a:solidFill>
                    <a:latin typeface="Cambria Math" panose="02040503050406030204" pitchFamily="18" charset="0"/>
                  </a:rPr>
                  <a:t>$\frac{\sin x}x\to1$</a:t>
                </a:r>
                <a:r>
                  <a:rPr sz="2400" b="0">
                    <a:solidFill>
                      <a:srgbClr val="111827"/>
                    </a:solidFill>
                    <a:latin typeface="Arial"/>
                  </a:rPr>
                  <a:t>; the determinant is continuous in its entries, so </a:t>
                </a:r>
                <a:r>
                  <a:rPr lang="en-IN" sz="2400">
                    <a:solidFill>
                      <a:srgbClr val="111827"/>
                    </a:solidFill>
                    <a:latin typeface="Cambria Math" panose="02040503050406030204" pitchFamily="18" charset="0"/>
                  </a:rPr>
                  <a:t>$\lim f(x)=\left|\begin{matrix}a+1&amp;1&amp;b\\a&amp;2&amp;b\\a&amp;1&amp;b+1\end{matrix}\right|$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along the first row: </a:t>
                </a:r>
                <a:r>
                  <a:rPr lang="en-IN" sz="2400">
                    <a:solidFill>
                      <a:srgbClr val="111827"/>
                    </a:solidFill>
                    <a:latin typeface="Cambria Math" panose="02040503050406030204" pitchFamily="18" charset="0"/>
                  </a:rPr>
                  <a:t>$(a+1)\left[2(b+1)-b\right]-1\left[a(b+1)-ab\right]+b\left[a-2a\right]$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t>
                </a:r>
                <a:r>
                  <a:rPr lang="en-IN" sz="2400">
                    <a:solidFill>
                      <a:srgbClr val="111827"/>
                    </a:solidFill>
                    <a:latin typeface="Cambria Math" panose="02040503050406030204" pitchFamily="18" charset="0"/>
                  </a:rPr>
                  <a:t>$(a+1)(b+2)-a-ab$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the value is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ν</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ν</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ν</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$(a+1)(b+2)=ab+2a+b+2$</a:t>
                </a:r>
                <a:r>
                  <a:rPr sz="2400" b="0">
                    <a:solidFill>
                      <a:srgbClr val="111827"/>
                    </a:solidFill>
                    <a:latin typeface="Arial"/>
                  </a:rPr>
                  <a:t>, so the value is </a:t>
                </a:r>
                <a:r>
                  <a:rPr lang="en-IN" sz="2400">
                    <a:solidFill>
                      <a:srgbClr val="111827"/>
                    </a:solidFill>
                    <a:latin typeface="Cambria Math" panose="02040503050406030204" pitchFamily="18" charset="0"/>
                  </a:rPr>
                  <a:t>$ab+2a+b+2-a-ab=2+a+b$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$\lambda+\mu a+\nu b$</a:t>
                </a:r>
                <a:r>
                  <a:rPr sz="2400" b="0">
                    <a:solidFill>
                      <a:srgbClr val="111827"/>
                    </a:solidFill>
                    <a:latin typeface="Arial"/>
                  </a:rPr>
                  <a:t>: </a:t>
                </a:r>
                <a:r>
                  <a:rPr lang="en-IN" sz="2400">
                    <a:solidFill>
                      <a:srgbClr val="111827"/>
                    </a:solidFill>
                    <a:latin typeface="Cambria Math" panose="02040503050406030204" pitchFamily="18" charset="0"/>
                  </a:rPr>
                  <a:t>$\lambda=2,\ \mu=1,\ \nu=1$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$(\lambda+\mu+\nu)^2=4^2=16$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16</a:t>
            </a:r>
            <a:endParaRPr sz="2800">
              <a:solidFill>
                <a:srgbClr val="15803D"/>
              </a:solidFill>
            </a:endParaR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Matrix determinant lemma: the matrix is </a:t>
                </a:r>
                <a14:m>
                  <m:oMath xmlns:m="http://schemas.openxmlformats.org/officeDocument/2006/math">
                    <m:r>
                      <a:rPr lang="en-IN" sz="2400" i="1">
                        <a:solidFill>
                          <a:srgbClr val="78350F"/>
                        </a:solidFill>
                        <a:latin typeface="Cambria Math" panose="02040503050406030204" pitchFamily="18" charset="0"/>
                      </a:rPr>
                      <m:t>𝑠</m:t>
                    </m:r>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r>
                      <m:rPr>
                        <m:sty m:val="bi"/>
                      </m:rPr>
                      <a:rPr lang="en-IN" sz="2400" i="1">
                        <a:solidFill>
                          <a:srgbClr val="78350F"/>
                        </a:solidFill>
                        <a:latin typeface="Cambria Math" panose="02040503050406030204" pitchFamily="18" charset="0"/>
                      </a:rPr>
                      <m:t>𝑢</m:t>
                    </m:r>
                    <m:sSup>
                      <m:e>
                        <m:r>
                          <m:rPr>
                            <m:sty m:val="bi"/>
                          </m:rPr>
                          <a:rPr lang="en-IN" sz="2400" i="1">
                            <a:solidFill>
                              <a:srgbClr val="78350F"/>
                            </a:solidFill>
                            <a:latin typeface="Cambria Math" panose="02040503050406030204" pitchFamily="18" charset="0"/>
                          </a:rPr>
                          <m:t>𝑣</m:t>
                        </m:r>
                      </m:e>
                      <m:sup>
                        <m:r>
                          <a:rPr lang="en-IN" sz="2400" i="1">
                            <a:solidFill>
                              <a:srgbClr val="78350F"/>
                            </a:solidFill>
                            <a:latin typeface="Cambria Math" panose="02040503050406030204" pitchFamily="18" charset="0"/>
                          </a:rPr>
                          <m:t>𝑇</m:t>
                        </m:r>
                      </m:sup>
                    </m:sSup>
                  </m:oMath>
                </a14:m>
                <a:r>
                  <a:rPr sz="2400" b="0">
                    <a:solidFill>
                      <a:srgbClr val="78350F"/>
                    </a:solidFill>
                    <a:latin typeface="Arial"/>
                  </a:rPr>
                  <a:t> with a rank-one part, so </a:t>
                </a:r>
                <a14:m>
                  <m:oMath xmlns:m="http://schemas.openxmlformats.org/officeDocument/2006/math">
                    <m:r>
                      <m:rPr>
                        <m:sty m:val="p"/>
                      </m:rPr>
                      <a:rPr lang="en-IN" sz="2400">
                        <a:solidFill>
                          <a:srgbClr val="78350F"/>
                        </a:solidFill>
                        <a:latin typeface="Cambria Math" panose="02040503050406030204" pitchFamily="18" charset="0"/>
                      </a:rPr>
                      <m:t>det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𝑠</m:t>
                        </m:r>
                      </m:e>
                      <m:sup>
                        <m:r>
                          <a:rPr lang="en-IN" sz="2400" i="1">
                            <a:solidFill>
                              <a:srgbClr val="78350F"/>
                            </a:solidFill>
                            <a:latin typeface="Cambria Math" panose="02040503050406030204" pitchFamily="18" charset="0"/>
                          </a:rPr>
                          <m:t>2</m:t>
                        </m:r>
                      </m:sup>
                    </m:sSup>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sSup>
                          <m:e>
                            <m:r>
                              <m:rPr>
                                <m:sty m:val="bi"/>
                              </m:rPr>
                              <a:rPr lang="en-IN" sz="2400" i="1">
                                <a:solidFill>
                                  <a:srgbClr val="78350F"/>
                                </a:solidFill>
                                <a:latin typeface="Cambria Math" panose="02040503050406030204" pitchFamily="18" charset="0"/>
                              </a:rPr>
                              <m:t>𝑣</m:t>
                            </m:r>
                          </m:e>
                          <m:sup>
                            <m:r>
                              <a:rPr lang="en-IN" sz="2400" i="1">
                                <a:solidFill>
                                  <a:srgbClr val="78350F"/>
                                </a:solidFill>
                                <a:latin typeface="Cambria Math" panose="02040503050406030204" pitchFamily="18" charset="0"/>
                              </a:rPr>
                              <m:t>𝑇</m:t>
                            </m:r>
                          </m:sup>
                        </m:sSup>
                        <m:r>
                          <m:rPr>
                            <m:sty m:val="bi"/>
                          </m:rPr>
                          <a:rPr lang="en-IN" sz="2400" i="1">
                            <a:solidFill>
                              <a:srgbClr val="78350F"/>
                            </a:solidFill>
                            <a:latin typeface="Cambria Math" panose="02040503050406030204" pitchFamily="18" charset="0"/>
                          </a:rPr>
                          <m:t>𝑢</m:t>
                        </m:r>
                      </m:e>
                    </m: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Matrix determinant lemma: the matrix is </a:t>
                </a:r>
                <a:r>
                  <a:rPr lang="en-IN" sz="2400">
                    <a:solidFill>
                      <a:srgbClr val="78350F"/>
                    </a:solidFill>
                    <a:latin typeface="Cambria Math" panose="02040503050406030204" pitchFamily="18" charset="0"/>
                  </a:rPr>
                  <a:t>$sI+\mathbf u\mathbf v^T$</a:t>
                </a:r>
                <a:r>
                  <a:rPr sz="2400" b="0">
                    <a:solidFill>
                      <a:srgbClr val="78350F"/>
                    </a:solidFill>
                    <a:latin typeface="Arial"/>
                  </a:rPr>
                  <a:t> with a rank-one part, so </a:t>
                </a:r>
                <a:r>
                  <a:rPr lang="en-IN" sz="2400">
                    <a:solidFill>
                      <a:srgbClr val="78350F"/>
                    </a:solidFill>
                    <a:latin typeface="Cambria Math" panose="02040503050406030204" pitchFamily="18" charset="0"/>
                  </a:rPr>
                  <a:t>$\det=s^2\left(s+\mathbf v^T\mathbf u\right)$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every row of the 'extra part'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bi"/>
                          </m:rPr>
                          <a:rPr lang="en-IN" sz="2400" i="1">
                            <a:solidFill>
                              <a:srgbClr val="111827"/>
                            </a:solidFill>
                            <a:latin typeface="Cambria Math" panose="02040503050406030204" pitchFamily="18" charset="0"/>
                          </a:rPr>
                          <m:t>𝑢</m:t>
                        </m:r>
                        <m:sSup>
                          <m:e>
                            <m:r>
                              <m:rPr>
                                <m:sty m:val="bi"/>
                              </m:rP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𝑇</m:t>
                            </m:r>
                          </m:sup>
                        </m:sSup>
                      </m:e>
                    </m:d>
                  </m:oMath>
                </a14:m>
                <a:r>
                  <a:rPr sz="2400" b="0">
                    <a:solidFill>
                      <a:srgbClr val="111827"/>
                    </a:solidFill>
                    <a:latin typeface="Arial"/>
                  </a:rPr>
                  <a:t> with </a:t>
                </a:r>
                <a14:m>
                  <m:oMath xmlns:m="http://schemas.openxmlformats.org/officeDocument/2006/math">
                    <m:r>
                      <m:rPr>
                        <m:sty m:val="bi"/>
                      </m:rP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𝑇</m:t>
                        </m:r>
                      </m:sup>
                    </m:sSup>
                  </m:oMath>
                </a14:m>
                <a:r>
                  <a:rPr sz="2400" b="0">
                    <a:solidFill>
                      <a:srgbClr val="111827"/>
                    </a:solidFill>
                    <a:latin typeface="Arial"/>
                  </a:rPr>
                  <a:t>, </a:t>
                </a:r>
                <a14:m>
                  <m:oMath xmlns:m="http://schemas.openxmlformats.org/officeDocument/2006/math">
                    <m:r>
                      <m:rPr>
                        <m:sty m:val="bi"/>
                      </m:rP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𝑇</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rank-one matrix </a:t>
                </a:r>
                <a14:m>
                  <m:oMath xmlns:m="http://schemas.openxmlformats.org/officeDocument/2006/math">
                    <m:r>
                      <m:rPr>
                        <m:sty m:val="bi"/>
                      </m:rPr>
                      <a:rPr lang="en-IN" sz="2400" i="1">
                        <a:solidFill>
                          <a:srgbClr val="111827"/>
                        </a:solidFill>
                        <a:latin typeface="Cambria Math" panose="02040503050406030204" pitchFamily="18" charset="0"/>
                      </a:rPr>
                      <m:t>𝑢</m:t>
                    </m:r>
                    <m:sSup>
                      <m:e>
                        <m:r>
                          <m:rPr>
                            <m:sty m:val="bi"/>
                          </m:rP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𝑇</m:t>
                        </m:r>
                      </m:sup>
                    </m:sSup>
                  </m:oMath>
                </a14:m>
                <a:r>
                  <a:rPr sz="2400" b="0">
                    <a:solidFill>
                      <a:srgbClr val="111827"/>
                    </a:solidFill>
                    <a:latin typeface="Arial"/>
                  </a:rPr>
                  <a:t> has eigenvalues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m:rPr>
                            <m:sty m:val="bi"/>
                          </m:rP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𝑇</m:t>
                        </m:r>
                      </m:sup>
                    </m:sSup>
                    <m:r>
                      <m:rPr>
                        <m:sty m:val="bi"/>
                      </m:rP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bi"/>
                      </m:rPr>
                      <a:rPr lang="en-IN" sz="2400" i="1">
                        <a:solidFill>
                          <a:srgbClr val="111827"/>
                        </a:solidFill>
                        <a:latin typeface="Cambria Math" panose="02040503050406030204" pitchFamily="18" charset="0"/>
                      </a:rPr>
                      <m:t>𝑢</m:t>
                    </m:r>
                    <m:sSup>
                      <m:e>
                        <m:r>
                          <m:rPr>
                            <m:sty m:val="bi"/>
                          </m:rP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𝑇</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lim</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ν</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ν</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$s=\frac{\sin x}x$</a:t>
                </a:r>
                <a:r>
                  <a:rPr sz="2400" b="0">
                    <a:solidFill>
                      <a:srgbClr val="111827"/>
                    </a:solidFill>
                    <a:latin typeface="Arial"/>
                  </a:rPr>
                  <a:t>, every row of the 'extra part' is </a:t>
                </a:r>
                <a:r>
                  <a:rPr lang="en-IN" sz="2400">
                    <a:solidFill>
                      <a:srgbClr val="111827"/>
                    </a:solidFill>
                    <a:latin typeface="Cambria Math" panose="02040503050406030204" pitchFamily="18" charset="0"/>
                  </a:rPr>
                  <a:t>$(a,1,b)$</a:t>
                </a:r>
                <a:r>
                  <a:rPr sz="2400" b="0">
                    <a:solidFill>
                      <a:srgbClr val="111827"/>
                    </a:solidFill>
                    <a:latin typeface="Arial"/>
                  </a:rPr>
                  <a:t>, so </a:t>
                </a:r>
                <a:r>
                  <a:rPr lang="en-IN" sz="2400">
                    <a:solidFill>
                      <a:srgbClr val="111827"/>
                    </a:solidFill>
                    <a:latin typeface="Cambria Math" panose="02040503050406030204" pitchFamily="18" charset="0"/>
                  </a:rPr>
                  <a:t>$f(x)=\det\left(sI+\mathbf u\mathbf v^T\right)$</a:t>
                </a:r>
                <a:r>
                  <a:rPr sz="2400" b="0">
                    <a:solidFill>
                      <a:srgbClr val="111827"/>
                    </a:solidFill>
                    <a:latin typeface="Arial"/>
                  </a:rPr>
                  <a:t> with </a:t>
                </a:r>
                <a:r>
                  <a:rPr lang="en-IN" sz="2400">
                    <a:solidFill>
                      <a:srgbClr val="111827"/>
                    </a:solidFill>
                    <a:latin typeface="Cambria Math" panose="02040503050406030204" pitchFamily="18" charset="0"/>
                  </a:rPr>
                  <a:t>$\mathbf u=(1,1,1)^T$</a:t>
                </a:r>
                <a:r>
                  <a:rPr sz="2400" b="0">
                    <a:solidFill>
                      <a:srgbClr val="111827"/>
                    </a:solidFill>
                    <a:latin typeface="Arial"/>
                  </a:rPr>
                  <a:t>, </a:t>
                </a:r>
                <a:r>
                  <a:rPr lang="en-IN" sz="2400">
                    <a:solidFill>
                      <a:srgbClr val="111827"/>
                    </a:solidFill>
                    <a:latin typeface="Cambria Math" panose="02040503050406030204" pitchFamily="18" charset="0"/>
                  </a:rPr>
                  <a:t>$\mathbf v=(a,1,b)^T$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rank-one matrix </a:t>
                </a:r>
                <a:r>
                  <a:rPr lang="en-IN" sz="2400">
                    <a:solidFill>
                      <a:srgbClr val="111827"/>
                    </a:solidFill>
                    <a:latin typeface="Cambria Math" panose="02040503050406030204" pitchFamily="18" charset="0"/>
                  </a:rPr>
                  <a:t>$\mathbf u\mathbf v^T$</a:t>
                </a:r>
                <a:r>
                  <a:rPr sz="2400" b="0">
                    <a:solidFill>
                      <a:srgbClr val="111827"/>
                    </a:solidFill>
                    <a:latin typeface="Arial"/>
                  </a:rPr>
                  <a:t> has eigenvalues </a:t>
                </a:r>
                <a:r>
                  <a:rPr lang="en-IN" sz="2400">
                    <a:solidFill>
                      <a:srgbClr val="111827"/>
                    </a:solidFill>
                    <a:latin typeface="Cambria Math" panose="02040503050406030204" pitchFamily="18" charset="0"/>
                  </a:rPr>
                  <a:t>$0,0,\mathbf v^T\mathbf u=a+1+b$</a:t>
                </a:r>
                <a:r>
                  <a:rPr sz="2400" b="0">
                    <a:solidFill>
                      <a:srgbClr val="111827"/>
                    </a:solidFill>
                    <a:latin typeface="Arial"/>
                  </a:rPr>
                  <a:t>, so </a:t>
                </a:r>
                <a:r>
                  <a:rPr lang="en-IN" sz="2400">
                    <a:solidFill>
                      <a:srgbClr val="111827"/>
                    </a:solidFill>
                    <a:latin typeface="Cambria Math" panose="02040503050406030204" pitchFamily="18" charset="0"/>
                  </a:rPr>
                  <a:t>$\det(sI+\mathbf u\mathbf v^T)=s\cdot s\cdot(s+a+1+b)$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$x\to0$</a:t>
                </a:r>
                <a:r>
                  <a:rPr sz="2400" b="0">
                    <a:solidFill>
                      <a:srgbClr val="111827"/>
                    </a:solidFill>
                    <a:latin typeface="Arial"/>
                  </a:rPr>
                  <a:t>, </a:t>
                </a:r>
                <a:r>
                  <a:rPr lang="en-IN" sz="2400">
                    <a:solidFill>
                      <a:srgbClr val="111827"/>
                    </a:solidFill>
                    <a:latin typeface="Cambria Math" panose="02040503050406030204" pitchFamily="18" charset="0"/>
                  </a:rPr>
                  <a:t>$s\to1$</a:t>
                </a:r>
                <a:r>
                  <a:rPr sz="2400" b="0">
                    <a:solidFill>
                      <a:srgbClr val="111827"/>
                    </a:solidFill>
                    <a:latin typeface="Arial"/>
                  </a:rPr>
                  <a:t>: </a:t>
                </a:r>
                <a:r>
                  <a:rPr lang="en-IN" sz="2400">
                    <a:solidFill>
                      <a:srgbClr val="111827"/>
                    </a:solidFill>
                    <a:latin typeface="Cambria Math" panose="02040503050406030204" pitchFamily="18" charset="0"/>
                  </a:rPr>
                  <a:t>$\lim f=1\cdot(1+a+1+b)=2+a+b$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$(\lambda,\mu,\nu)=(2,1,1)$</a:t>
                </a:r>
                <a:r>
                  <a:rPr sz="2400" b="0">
                    <a:solidFill>
                      <a:srgbClr val="111827"/>
                    </a:solidFill>
                    <a:latin typeface="Arial"/>
                  </a:rPr>
                  <a:t> and </a:t>
                </a:r>
                <a:r>
                  <a:rPr lang="en-IN" sz="2400">
                    <a:solidFill>
                      <a:srgbClr val="111827"/>
                    </a:solidFill>
                    <a:latin typeface="Cambria Math" panose="02040503050406030204" pitchFamily="18" charset="0"/>
                  </a:rPr>
                  <a:t>$(\lambda+\mu+\nu)^2=16$</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16</a:t>
            </a:r>
            <a:endParaRPr sz="2800">
              <a:solidFill>
                <a:srgbClr val="15803D"/>
              </a:solidFill>
            </a:endParaR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Matrix determinant lemma: </a:t>
                </a: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m:rPr>
                        <m:sty m:val="bi"/>
                      </m:rPr>
                      <a:rPr lang="en-IN" sz="2400" i="1">
                        <a:solidFill>
                          <a:srgbClr val="111827"/>
                        </a:solidFill>
                        <a:latin typeface="Cambria Math" panose="02040503050406030204" pitchFamily="18" charset="0"/>
                      </a:rPr>
                      <m:t>𝑢</m:t>
                    </m:r>
                    <m:sSup>
                      <m:e>
                        <m:r>
                          <m:rPr>
                            <m:sty m:val="bi"/>
                          </m:rP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𝑇</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sSup>
                          <m:e>
                            <m:r>
                              <m:rPr>
                                <m:sty m:val="bi"/>
                              </m:rP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𝑇</m:t>
                            </m:r>
                          </m:sup>
                        </m:sSup>
                        <m:r>
                          <m:rPr>
                            <m:sty m:val="bi"/>
                          </m:rPr>
                          <a:rPr lang="en-IN" sz="2400" i="1">
                            <a:solidFill>
                              <a:srgbClr val="111827"/>
                            </a:solidFill>
                            <a:latin typeface="Cambria Math" panose="02040503050406030204" pitchFamily="18" charset="0"/>
                          </a:rPr>
                          <m:t>𝑢</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Limits can be taken inside a determinant (continuity) when the entries converge and the number of terms is fixed.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Recognise 'identity-like diagonal plus a repeated row/column pattern' as a rank-one perturbation.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Symbolic check: </a:t>
                </a: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this matrix;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it equals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Matrix determinant lemma: </a:t>
                </a:r>
                <a:r>
                  <a:rPr lang="en-IN" sz="2400">
                    <a:solidFill>
                      <a:srgbClr val="111827"/>
                    </a:solidFill>
                    <a:latin typeface="Cambria Math" panose="02040503050406030204" pitchFamily="18" charset="0"/>
                  </a:rPr>
                  <a:t>$\det(sI_n+\mathbf u\mathbf v^T)=s^{n-1}\left(s+\mathbf v^T\mathbf u\right)$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Limits can be taken inside a determinant (continuity) when the entries converge and the number of terms is fixed.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Recognise 'identity-like diagonal plus a repeated row/column pattern' as a rank-one perturbation.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Symbolic check: </a:t>
                </a:r>
                <a:r>
                  <a:rPr lang="en-IN" sz="2400">
                    <a:solidFill>
                      <a:srgbClr val="111827"/>
                    </a:solidFill>
                    <a:latin typeface="Cambria Math" panose="02040503050406030204" pitchFamily="18" charset="0"/>
                  </a:rPr>
                  <a:t>$\det=s^2(a+b+s+1)$</a:t>
                </a:r>
                <a:r>
                  <a:rPr sz="2400" b="0">
                    <a:solidFill>
                      <a:srgbClr val="111827"/>
                    </a:solidFill>
                    <a:latin typeface="Arial"/>
                  </a:rPr>
                  <a:t> for this matrix; at </a:t>
                </a:r>
                <a:r>
                  <a:rPr lang="en-IN" sz="2400">
                    <a:solidFill>
                      <a:srgbClr val="111827"/>
                    </a:solidFill>
                    <a:latin typeface="Cambria Math" panose="02040503050406030204" pitchFamily="18" charset="0"/>
                  </a:rPr>
                  <a:t>$s=1$</a:t>
                </a:r>
                <a:r>
                  <a:rPr sz="2400" b="0">
                    <a:solidFill>
                      <a:srgbClr val="111827"/>
                    </a:solidFill>
                    <a:latin typeface="Arial"/>
                  </a:rPr>
                  <a:t> it equals </a:t>
                </a:r>
                <a:r>
                  <a:rPr lang="en-IN" sz="2400">
                    <a:solidFill>
                      <a:srgbClr val="111827"/>
                    </a:solidFill>
                    <a:latin typeface="Cambria Math" panose="02040503050406030204" pitchFamily="18" charset="0"/>
                  </a:rPr>
                  <a:t>$a+b+2$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e>
                        </m:d>
                      </m:den>
                    </m:f>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endParaRPr sz="2400">
                  <a:solidFill>
                    <a:srgbClr val="111827"/>
                  </a:solidFill>
                </a:endParaRPr>
              </a:p>
            </p:txBody>
          </p:sp>
        </mc:Choice>
        <mc:Fallback>
          <p:sp>
            <p:nvSpPr>
              <p:cNvPr id="4" name="Rounded Rectangle 3"/>
              <p:cNvSpPr/>
              <p:nvPr/>
            </p:nvSpPr>
            <p:spPr>
              <a:xfrm>
                <a:off x="731520" y="1280160"/>
                <a:ext cx="10725912" cy="22910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$\lim_{n\to\infty}\frac{(1^2-1)(n-1)+(2^2-2)(n-2)+\dots+\left((n-1)^2-(n-1)\right)\cdot1}{\left(1^3+2^3+\dots+n^3\right)-\left(1^2+2^2+\dots+n^2\right)}$</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$\frac23$</a:t>
                </a:r>
                <a:r>
                  <a:rPr sz="2400" b="0">
                    <a:solidFill>
                      <a:srgbClr val="111827"/>
                    </a:solidFill>
                    <a:latin typeface="Arial"/>
                  </a:rPr>
                  <a:t>   (B) </a:t>
                </a:r>
                <a:r>
                  <a:rPr lang="en-IN" sz="2400">
                    <a:solidFill>
                      <a:srgbClr val="111827"/>
                    </a:solidFill>
                    <a:latin typeface="Cambria Math" panose="02040503050406030204" pitchFamily="18" charset="0"/>
                  </a:rPr>
                  <a:t>$\frac34$</a:t>
                </a:r>
                <a:r>
                  <a:rPr sz="2400" b="0">
                    <a:solidFill>
                      <a:srgbClr val="111827"/>
                    </a:solidFill>
                    <a:latin typeface="Arial"/>
                  </a:rPr>
                  <a:t>   (C) </a:t>
                </a:r>
                <a:r>
                  <a:rPr lang="en-IN" sz="2400">
                    <a:solidFill>
                      <a:srgbClr val="111827"/>
                    </a:solidFill>
                    <a:latin typeface="Cambria Math" panose="02040503050406030204" pitchFamily="18" charset="0"/>
                  </a:rPr>
                  <a:t>$\frac12$</a:t>
                </a:r>
                <a:r>
                  <a:rPr sz="2400" b="0">
                    <a:solidFill>
                      <a:srgbClr val="111827"/>
                    </a:solidFill>
                    <a:latin typeface="Arial"/>
                  </a:rPr>
                  <a:t>   (D) </a:t>
                </a:r>
                <a:r>
                  <a:rPr lang="en-IN" sz="2400">
                    <a:solidFill>
                      <a:srgbClr val="111827"/>
                    </a:solidFill>
                    <a:latin typeface="Cambria Math" panose="02040503050406030204" pitchFamily="18" charset="0"/>
                  </a:rPr>
                  <a:t>$\frac13$</a:t>
                </a:r>
                <a:endParaRPr sz="2400">
                  <a:solidFill>
                    <a:srgbClr val="111827"/>
                  </a:solidFill>
                </a:endParaRPr>
              </a:p>
            </p:txBody>
          </p:sp>
        </mc:Fallback>
      </mc:AlternateContent>
      <p:sp>
        <p:nvSpPr>
          <p:cNvPr id="5" name="Rectangle 4"/>
          <p:cNvSpPr/>
          <p:nvPr/>
        </p:nvSpPr>
        <p:spPr>
          <a:xfrm>
            <a:off x="731520" y="37998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Limit of a ratio of sums using summation formulas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sums are polynomials in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of degree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only the leading coefficients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12</m:t>
                        </m:r>
                      </m:den>
                    </m:f>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den>
                    </m:f>
                  </m:oMath>
                </a14:m>
                <a:r>
                  <a:rPr sz="2400" b="0">
                    <a:solidFill>
                      <a:srgbClr val="78350F"/>
                    </a:solidFill>
                    <a:latin typeface="Arial"/>
                  </a:rPr>
                  <a:t>) matter.</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sums are polynomials in </a:t>
                </a:r>
                <a:r>
                  <a:rPr lang="en-IN" sz="2400">
                    <a:solidFill>
                      <a:srgbClr val="78350F"/>
                    </a:solidFill>
                    <a:latin typeface="Cambria Math" panose="02040503050406030204" pitchFamily="18" charset="0"/>
                  </a:rPr>
                  <a:t>$n$</a:t>
                </a:r>
                <a:r>
                  <a:rPr sz="2400" b="0">
                    <a:solidFill>
                      <a:srgbClr val="78350F"/>
                    </a:solidFill>
                    <a:latin typeface="Arial"/>
                  </a:rPr>
                  <a:t> of degree </a:t>
                </a:r>
                <a:r>
                  <a:rPr lang="en-IN" sz="2400">
                    <a:solidFill>
                      <a:srgbClr val="78350F"/>
                    </a:solidFill>
                    <a:latin typeface="Cambria Math" panose="02040503050406030204" pitchFamily="18" charset="0"/>
                  </a:rPr>
                  <a:t>$4$</a:t>
                </a:r>
                <a:r>
                  <a:rPr sz="2400" b="0">
                    <a:solidFill>
                      <a:srgbClr val="78350F"/>
                    </a:solidFill>
                    <a:latin typeface="Arial"/>
                  </a:rPr>
                  <a:t>; only the leading coefficients (</a:t>
                </a:r>
                <a:r>
                  <a:rPr lang="en-IN" sz="2400">
                    <a:solidFill>
                      <a:srgbClr val="78350F"/>
                    </a:solidFill>
                    <a:latin typeface="Cambria Math" panose="02040503050406030204" pitchFamily="18" charset="0"/>
                  </a:rPr>
                  <a:t>$\frac1{12}$</a:t>
                </a:r>
                <a:r>
                  <a:rPr sz="2400" b="0">
                    <a:solidFill>
                      <a:srgbClr val="78350F"/>
                    </a:solidFill>
                    <a:latin typeface="Arial"/>
                  </a:rPr>
                  <a:t> and </a:t>
                </a:r>
                <a:r>
                  <a:rPr lang="en-IN" sz="2400">
                    <a:solidFill>
                      <a:srgbClr val="78350F"/>
                    </a:solidFill>
                    <a:latin typeface="Cambria Math" panose="02040503050406030204" pitchFamily="18" charset="0"/>
                  </a:rPr>
                  <a:t>$\frac14$</a:t>
                </a:r>
                <a:r>
                  <a:rPr sz="2400" b="0">
                    <a:solidFill>
                      <a:srgbClr val="78350F"/>
                    </a:solidFill>
                    <a:latin typeface="Arial"/>
                  </a:rPr>
                  <a:t>) matter.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-th term of the numerator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numerator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r>
                          <a:rPr lang="en-IN" sz="2400" i="1">
                            <a:solidFill>
                              <a:srgbClr val="111827"/>
                            </a:solidFill>
                            <a:latin typeface="Cambria Math" panose="02040503050406030204" pitchFamily="18" charset="0"/>
                          </a:rPr>
                          <m:t>𝑟</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Keep only the highest power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after summation: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 (lower order).</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$r$</a:t>
                </a:r>
                <a:r>
                  <a:rPr sz="2400" b="0">
                    <a:solidFill>
                      <a:srgbClr val="111827"/>
                    </a:solidFill>
                    <a:latin typeface="Arial"/>
                  </a:rPr>
                  <a:t>-th term of the numerator is </a:t>
                </a:r>
                <a:r>
                  <a:rPr lang="en-IN" sz="2400">
                    <a:solidFill>
                      <a:srgbClr val="111827"/>
                    </a:solidFill>
                    <a:latin typeface="Cambria Math" panose="02040503050406030204" pitchFamily="18" charset="0"/>
                  </a:rPr>
                  <a:t>$(r^2-r)(n-r)$</a:t>
                </a:r>
                <a:r>
                  <a:rPr sz="2400" b="0">
                    <a:solidFill>
                      <a:srgbClr val="111827"/>
                    </a:solidFill>
                    <a:latin typeface="Arial"/>
                  </a:rPr>
                  <a:t>, for </a:t>
                </a:r>
                <a:r>
                  <a:rPr lang="en-IN" sz="2400">
                    <a:solidFill>
                      <a:srgbClr val="111827"/>
                    </a:solidFill>
                    <a:latin typeface="Cambria Math" panose="02040503050406030204" pitchFamily="18" charset="0"/>
                  </a:rPr>
                  <a:t>$r=1,\dots,n-1$</a:t>
                </a:r>
                <a:r>
                  <a:rPr sz="2400" b="0">
                    <a:solidFill>
                      <a:srgbClr val="111827"/>
                    </a:solidFill>
                    <a:latin typeface="Arial"/>
                  </a:rPr>
                  <a:t>; so numerator </a:t>
                </a:r>
                <a:r>
                  <a:rPr lang="en-IN" sz="2400">
                    <a:solidFill>
                      <a:srgbClr val="111827"/>
                    </a:solidFill>
                    <a:latin typeface="Cambria Math" panose="02040503050406030204" pitchFamily="18" charset="0"/>
                  </a:rPr>
                  <a:t>$=\sum_{r=1}^{n-1}r(r-1)(n-r)$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$(r^2-r)(n-r)=-r^3+(n+1)r^2-nr$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Keep only the highest power of </a:t>
                </a:r>
                <a:r>
                  <a:rPr lang="en-IN" sz="2400">
                    <a:solidFill>
                      <a:srgbClr val="111827"/>
                    </a:solidFill>
                    <a:latin typeface="Cambria Math" panose="02040503050406030204" pitchFamily="18" charset="0"/>
                  </a:rPr>
                  <a:t>$n$</a:t>
                </a:r>
                <a:r>
                  <a:rPr sz="2400" b="0">
                    <a:solidFill>
                      <a:srgbClr val="111827"/>
                    </a:solidFill>
                    <a:latin typeface="Arial"/>
                  </a:rPr>
                  <a:t> after summation: </a:t>
                </a:r>
                <a:r>
                  <a:rPr lang="en-IN" sz="2400">
                    <a:solidFill>
                      <a:srgbClr val="111827"/>
                    </a:solidFill>
                    <a:latin typeface="Cambria Math" panose="02040503050406030204" pitchFamily="18" charset="0"/>
                  </a:rPr>
                  <a:t>$\sum_{r=1}^{n-1}r^3\sim\frac{n^4}4$</a:t>
                </a:r>
                <a:r>
                  <a:rPr sz="2400" b="0">
                    <a:solidFill>
                      <a:srgbClr val="111827"/>
                    </a:solidFill>
                    <a:latin typeface="Arial"/>
                  </a:rPr>
                  <a:t>, </a:t>
                </a:r>
                <a:r>
                  <a:rPr lang="en-IN" sz="2400">
                    <a:solidFill>
                      <a:srgbClr val="111827"/>
                    </a:solidFill>
                    <a:latin typeface="Cambria Math" panose="02040503050406030204" pitchFamily="18" charset="0"/>
                  </a:rPr>
                  <a:t>$(n+1)\sum r^2\sim n\cdot\frac{n^3}3$</a:t>
                </a:r>
                <a:r>
                  <a:rPr sz="2400" b="0">
                    <a:solidFill>
                      <a:srgbClr val="111827"/>
                    </a:solidFill>
                    <a:latin typeface="Arial"/>
                  </a:rPr>
                  <a:t>, </a:t>
                </a:r>
                <a:r>
                  <a:rPr lang="en-IN" sz="2400">
                    <a:solidFill>
                      <a:srgbClr val="111827"/>
                    </a:solidFill>
                    <a:latin typeface="Cambria Math" panose="02040503050406030204" pitchFamily="18" charset="0"/>
                  </a:rPr>
                  <a:t>$n\sum r\sim\frac{n^3}{2}$</a:t>
                </a:r>
                <a:r>
                  <a:rPr sz="2400" b="0">
                    <a:solidFill>
                      <a:srgbClr val="111827"/>
                    </a:solidFill>
                    <a:latin typeface="Arial"/>
                  </a:rPr>
                  <a:t> (lower order).</a:t>
                </a:r>
                <a:endParaRPr sz="2400">
                  <a:solidFill>
                    <a:srgbClr val="111827"/>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Numerator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Denominator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e>
                    </m:nary>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e>
                    </m:nary>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whose highest power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4</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the limit is </a:t>
                </a:r>
                <a14:m>
                  <m:oMath xmlns:m="http://schemas.openxmlformats.org/officeDocument/2006/math">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4</m:t>
                            </m:r>
                          </m:sup>
                        </m:sSup>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Numerator </a:t>
                </a:r>
                <a:r>
                  <a:rPr lang="en-IN" sz="2400">
                    <a:solidFill>
                      <a:srgbClr val="111827"/>
                    </a:solidFill>
                    <a:latin typeface="Cambria Math" panose="02040503050406030204" pitchFamily="18" charset="0"/>
                  </a:rPr>
                  <a:t>$\sim-\frac14n^4+\frac13n^4=\frac1{12}n^4$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Denominator </a:t>
                </a:r>
                <a:r>
                  <a:rPr lang="en-IN" sz="2400">
                    <a:solidFill>
                      <a:srgbClr val="111827"/>
                    </a:solidFill>
                    <a:latin typeface="Cambria Math" panose="02040503050406030204" pitchFamily="18" charset="0"/>
                  </a:rPr>
                  <a:t>$=\sum_{r=1}^nr^3-\sum_{r=1}^nr^2=\frac{n^2(n+1)^2}4-\frac{n(n+1)(2n+1)}6$</a:t>
                </a:r>
                <a:r>
                  <a:rPr sz="2400" b="0">
                    <a:solidFill>
                      <a:srgbClr val="111827"/>
                    </a:solidFill>
                    <a:latin typeface="Arial"/>
                  </a:rPr>
                  <a:t>, whose highest power of </a:t>
                </a:r>
                <a:r>
                  <a:rPr lang="en-IN" sz="2400">
                    <a:solidFill>
                      <a:srgbClr val="111827"/>
                    </a:solidFill>
                    <a:latin typeface="Cambria Math" panose="02040503050406030204" pitchFamily="18" charset="0"/>
                  </a:rPr>
                  <a:t>$n$</a:t>
                </a:r>
                <a:r>
                  <a:rPr sz="2400" b="0">
                    <a:solidFill>
                      <a:srgbClr val="111827"/>
                    </a:solidFill>
                    <a:latin typeface="Arial"/>
                  </a:rPr>
                  <a:t> is </a:t>
                </a:r>
                <a:r>
                  <a:rPr lang="en-IN" sz="2400">
                    <a:solidFill>
                      <a:srgbClr val="111827"/>
                    </a:solidFill>
                    <a:latin typeface="Cambria Math" panose="02040503050406030204" pitchFamily="18" charset="0"/>
                  </a:rPr>
                  <a:t>$\frac{n^4}4$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the limit is </a:t>
                </a:r>
                <a:r>
                  <a:rPr lang="en-IN" sz="2400">
                    <a:solidFill>
                      <a:srgbClr val="111827"/>
                    </a:solidFill>
                    <a:latin typeface="Cambria Math" panose="02040503050406030204" pitchFamily="18" charset="0"/>
                  </a:rPr>
                  <a:t>$\frac{\frac1{12}n^4}{\frac14n^4}=\frac13$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$\frac13$</a:t>
                </a:r>
                <a:endParaRPr sz="2800">
                  <a:solidFill>
                    <a:srgbClr val="15803D"/>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Exact evaluation: </a:t>
                </a:r>
                <a14:m>
                  <m:oMath xmlns:m="http://schemas.openxmlformats.org/officeDocument/2006/math">
                    <m:nary>
                      <m:naryPr>
                        <m:chr m:val="∑"/>
                        <m:limLoc m:val="undOvr"/>
                        <m:subHide m:val="off"/>
                        <m:supHide m:val="on"/>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𝑟</m:t>
                        </m:r>
                      </m:sub>
                      <m:sup>
                        <m:r>
                          <a:rPr lang="en-IN" sz="2400" i="1">
                            <a:solidFill>
                              <a:srgbClr val="78350F"/>
                            </a:solidFill>
                            <a:latin typeface="Cambria Math" panose="02040503050406030204" pitchFamily="18" charset="0"/>
                          </a:rPr>
                          <m:t>​</m:t>
                        </m:r>
                      </m:sup>
                      <m:e>
                        <m:r>
                          <a:rPr lang="en-IN" sz="2400" i="1">
                            <a:solidFill>
                              <a:srgbClr val="78350F"/>
                            </a:solidFill>
                            <a:latin typeface="Cambria Math" panose="02040503050406030204" pitchFamily="18" charset="0"/>
                          </a:rPr>
                          <m:t>𝑟</m:t>
                        </m:r>
                      </m:e>
                    </m:nary>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2</m:t>
                            </m:r>
                          </m:den>
                        </m:f>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den>
                        </m:f>
                      </m:e>
                    </m:d>
                  </m:oMath>
                </a14:m>
                <a:r>
                  <a:rPr sz="2400" b="0">
                    <a:solidFill>
                      <a:srgbClr val="78350F"/>
                    </a:solidFill>
                    <a:latin typeface="Arial"/>
                  </a:rPr>
                  <a:t> (a Vandermonde/hockey-stick identity), so the ratio is exactly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Exact evaluation: </a:t>
                </a:r>
                <a:r>
                  <a:rPr lang="en-IN" sz="2400">
                    <a:solidFill>
                      <a:srgbClr val="78350F"/>
                    </a:solidFill>
                    <a:latin typeface="Cambria Math" panose="02040503050406030204" pitchFamily="18" charset="0"/>
                  </a:rPr>
                  <a:t>$\sum_{r}r(r-1)(n-r)=2\sum\binom r2(n-r)=2\binom{n+1}4$</a:t>
                </a:r>
                <a:r>
                  <a:rPr sz="2400" b="0">
                    <a:solidFill>
                      <a:srgbClr val="78350F"/>
                    </a:solidFill>
                    <a:latin typeface="Arial"/>
                  </a:rPr>
                  <a:t> (a Vandermonde/hockey-stick identity), so the ratio is exactly </a:t>
                </a:r>
                <a:r>
                  <a:rPr lang="en-IN" sz="2400">
                    <a:solidFill>
                      <a:srgbClr val="78350F"/>
                    </a:solidFill>
                    <a:latin typeface="Cambria Math" panose="02040503050406030204" pitchFamily="18" charset="0"/>
                  </a:rPr>
                  <a:t>$\frac{n-2}{3n+2}$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and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(choose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𝑑</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let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ways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ways for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numerator is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$r(r-1)=2\binom r2$</a:t>
                </a:r>
                <a:r>
                  <a:rPr sz="2400" b="0">
                    <a:solidFill>
                      <a:srgbClr val="111827"/>
                    </a:solidFill>
                    <a:latin typeface="Arial"/>
                  </a:rPr>
                  <a:t>, and </a:t>
                </a:r>
                <a:r>
                  <a:rPr lang="en-IN" sz="2400">
                    <a:solidFill>
                      <a:srgbClr val="111827"/>
                    </a:solidFill>
                    <a:latin typeface="Cambria Math" panose="02040503050406030204" pitchFamily="18" charset="0"/>
                  </a:rPr>
                  <a:t>$\sum_{r}\binom r2\binom{n-r}1=\binom{n+1}4$</a:t>
                </a:r>
                <a:r>
                  <a:rPr sz="2400" b="0">
                    <a:solidFill>
                      <a:srgbClr val="111827"/>
                    </a:solidFill>
                    <a:latin typeface="Arial"/>
                  </a:rPr>
                  <a:t> (choose </a:t>
                </a:r>
                <a:r>
                  <a:rPr lang="en-IN" sz="2400">
                    <a:solidFill>
                      <a:srgbClr val="111827"/>
                    </a:solidFill>
                    <a:latin typeface="Cambria Math" panose="02040503050406030204" pitchFamily="18" charset="0"/>
                  </a:rPr>
                  <a:t>$a&lt;b&lt;c&lt;d$</a:t>
                </a:r>
                <a:r>
                  <a:rPr sz="2400" b="0">
                    <a:solidFill>
                      <a:srgbClr val="111827"/>
                    </a:solidFill>
                    <a:latin typeface="Arial"/>
                  </a:rPr>
                  <a:t> from </a:t>
                </a:r>
                <a:r>
                  <a:rPr lang="en-IN" sz="2400">
                    <a:solidFill>
                      <a:srgbClr val="111827"/>
                    </a:solidFill>
                    <a:latin typeface="Cambria Math" panose="02040503050406030204" pitchFamily="18" charset="0"/>
                  </a:rPr>
                  <a:t>$1,\dots,n+1$</a:t>
                </a:r>
                <a:r>
                  <a:rPr sz="2400" b="0">
                    <a:solidFill>
                      <a:srgbClr val="111827"/>
                    </a:solidFill>
                    <a:latin typeface="Arial"/>
                  </a:rPr>
                  <a:t> and let </a:t>
                </a:r>
                <a:r>
                  <a:rPr lang="en-IN" sz="2400">
                    <a:solidFill>
                      <a:srgbClr val="111827"/>
                    </a:solidFill>
                    <a:latin typeface="Cambria Math" panose="02040503050406030204" pitchFamily="18" charset="0"/>
                  </a:rPr>
                  <a:t>$c=r+1$</a:t>
                </a:r>
                <a:r>
                  <a:rPr sz="2400" b="0">
                    <a:solidFill>
                      <a:srgbClr val="111827"/>
                    </a:solidFill>
                    <a:latin typeface="Arial"/>
                  </a:rPr>
                  <a:t>: </a:t>
                </a:r>
                <a:r>
                  <a:rPr lang="en-IN" sz="2400">
                    <a:solidFill>
                      <a:srgbClr val="111827"/>
                    </a:solidFill>
                    <a:latin typeface="Cambria Math" panose="02040503050406030204" pitchFamily="18" charset="0"/>
                  </a:rPr>
                  <a:t>$\binom r2$</a:t>
                </a:r>
                <a:r>
                  <a:rPr sz="2400" b="0">
                    <a:solidFill>
                      <a:srgbClr val="111827"/>
                    </a:solidFill>
                    <a:latin typeface="Arial"/>
                  </a:rPr>
                  <a:t> ways for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$n-r$</a:t>
                </a:r>
                <a:r>
                  <a:rPr sz="2400" b="0">
                    <a:solidFill>
                      <a:srgbClr val="111827"/>
                    </a:solidFill>
                    <a:latin typeface="Arial"/>
                  </a:rPr>
                  <a:t> ways for </a:t>
                </a:r>
                <a:r>
                  <a:rPr lang="en-IN" sz="2400">
                    <a:solidFill>
                      <a:srgbClr val="111827"/>
                    </a:solidFill>
                    <a:latin typeface="Cambria Math" panose="02040503050406030204" pitchFamily="18" charset="0"/>
                  </a:rPr>
                  <a:t>$d$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numerator is </a:t>
                </a:r>
                <a:r>
                  <a:rPr lang="en-IN" sz="2400">
                    <a:solidFill>
                      <a:srgbClr val="111827"/>
                    </a:solidFill>
                    <a:latin typeface="Cambria Math" panose="02040503050406030204" pitchFamily="18" charset="0"/>
                  </a:rPr>
                  <a:t>$2\binom{n+1}4=\frac{(n+1)n(n-1)(n-2)}{12}$</a:t>
                </a:r>
                <a:r>
                  <a:rPr sz="2400" b="0">
                    <a:solidFill>
                      <a:srgbClr val="111827"/>
                    </a:solidFill>
                    <a:latin typeface="Arial"/>
                  </a:rPr>
                  <a:t>; check </a:t>
                </a:r>
                <a:r>
                  <a:rPr lang="en-IN" sz="2400">
                    <a:solidFill>
                      <a:srgbClr val="111827"/>
                    </a:solidFill>
                    <a:latin typeface="Cambria Math" panose="02040503050406030204" pitchFamily="18" charset="0"/>
                  </a:rPr>
                  <a:t>$n=5$</a:t>
                </a:r>
                <a:r>
                  <a:rPr sz="2400" b="0">
                    <a:solidFill>
                      <a:srgbClr val="111827"/>
                    </a:solidFill>
                    <a:latin typeface="Arial"/>
                  </a:rPr>
                  <a:t>: </a:t>
                </a:r>
                <a:r>
                  <a:rPr lang="en-IN" sz="2400">
                    <a:solidFill>
                      <a:srgbClr val="111827"/>
                    </a:solidFill>
                    <a:latin typeface="Cambria Math" panose="02040503050406030204" pitchFamily="18" charset="0"/>
                  </a:rPr>
                  <a:t>$30=2\binom64$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Denominator: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170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and as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this tends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Denominator: </a:t>
                </a:r>
                <a:r>
                  <a:rPr lang="en-IN" sz="2400">
                    <a:solidFill>
                      <a:srgbClr val="111827"/>
                    </a:solidFill>
                    <a:latin typeface="Cambria Math" panose="02040503050406030204" pitchFamily="18" charset="0"/>
                  </a:rPr>
                  <a:t>$\frac{n^2(n+1)^2}4-\frac{n(n+1)(2n+1)}6=\frac{n(n+1)\left[3n(n+1)-2(2n+1)\right]}{12}=\frac{n(n+1)(n-1)(3n+2)}{12}$</a:t>
                </a:r>
                <a:r>
                  <a:rPr sz="2400" b="0">
                    <a:solidFill>
                      <a:srgbClr val="111827"/>
                    </a:solidFill>
                    <a:latin typeface="Arial"/>
                  </a:rPr>
                  <a:t>; check </a:t>
                </a:r>
                <a:r>
                  <a:rPr lang="en-IN" sz="2400">
                    <a:solidFill>
                      <a:srgbClr val="111827"/>
                    </a:solidFill>
                    <a:latin typeface="Cambria Math" panose="02040503050406030204" pitchFamily="18" charset="0"/>
                  </a:rPr>
                  <a:t>$n=5$</a:t>
                </a:r>
                <a:r>
                  <a:rPr sz="2400" b="0">
                    <a:solidFill>
                      <a:srgbClr val="111827"/>
                    </a:solidFill>
                    <a:latin typeface="Arial"/>
                  </a:rPr>
                  <a:t>: </a:t>
                </a:r>
                <a:r>
                  <a:rPr lang="en-IN" sz="2400">
                    <a:solidFill>
                      <a:srgbClr val="111827"/>
                    </a:solidFill>
                    <a:latin typeface="Cambria Math" panose="02040503050406030204" pitchFamily="18" charset="0"/>
                  </a:rPr>
                  <a:t>$170$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Ratio </a:t>
                </a:r>
                <a:r>
                  <a:rPr lang="en-IN" sz="2400">
                    <a:solidFill>
                      <a:srgbClr val="111827"/>
                    </a:solidFill>
                    <a:latin typeface="Cambria Math" panose="02040503050406030204" pitchFamily="18" charset="0"/>
                  </a:rPr>
                  <a:t>$=\frac{(n-2)}{(3n+2)}$</a:t>
                </a:r>
                <a:r>
                  <a:rPr sz="2400" b="0">
                    <a:solidFill>
                      <a:srgbClr val="111827"/>
                    </a:solidFill>
                    <a:latin typeface="Arial"/>
                  </a:rPr>
                  <a:t>, and as </a:t>
                </a:r>
                <a:r>
                  <a:rPr lang="en-IN" sz="2400">
                    <a:solidFill>
                      <a:srgbClr val="111827"/>
                    </a:solidFill>
                    <a:latin typeface="Cambria Math" panose="02040503050406030204" pitchFamily="18" charset="0"/>
                  </a:rPr>
                  <a:t>$n\to\infty$</a:t>
                </a:r>
                <a:r>
                  <a:rPr sz="2400" b="0">
                    <a:solidFill>
                      <a:srgbClr val="111827"/>
                    </a:solidFill>
                    <a:latin typeface="Arial"/>
                  </a:rPr>
                  <a:t> this tends to </a:t>
                </a:r>
                <a:r>
                  <a:rPr lang="en-IN" sz="2400">
                    <a:solidFill>
                      <a:srgbClr val="111827"/>
                    </a:solidFill>
                    <a:latin typeface="Cambria Math" panose="02040503050406030204" pitchFamily="18" charset="0"/>
                  </a:rPr>
                  <a:t>$\frac13$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$\frac13$</a:t>
                </a:r>
                <a:endParaRPr sz="2800">
                  <a:solidFill>
                    <a:srgbClr val="15803D"/>
                  </a:solidFill>
                </a:endParaRPr>
              </a:p>
            </p:txBody>
          </p:sp>
        </mc:Fallback>
      </mc:AlternateContent>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and, in general,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𝑗</m:t>
                                </m:r>
                              </m:den>
                            </m:f>
                          </m:e>
                        </m:d>
                      </m:e>
                    </m:nary>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Riemann-sum shortcut: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4</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limits of ratios of sums, only the degree and leading coefficient matter: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𝑝</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num>
                      <m:den>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$\sum_{r}\binom r2(n-r)=\binom{n+1}4$</a:t>
                </a:r>
                <a:r>
                  <a:rPr sz="2400" b="0">
                    <a:solidFill>
                      <a:srgbClr val="111827"/>
                    </a:solidFill>
                    <a:latin typeface="Arial"/>
                  </a:rPr>
                  <a:t> and, in general, </a:t>
                </a:r>
                <a:r>
                  <a:rPr lang="en-IN" sz="2400">
                    <a:solidFill>
                      <a:srgbClr val="111827"/>
                    </a:solidFill>
                    <a:latin typeface="Cambria Math" panose="02040503050406030204" pitchFamily="18" charset="0"/>
                  </a:rPr>
                  <a:t>$\sum_r\binom rj\binom{n-r}k=\binom{n+1}{j+k+1}$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r^3-\sum r^2=\frac{n(n+1)(n-1)(3n+2)}{12}$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Riemann-sum shortcut: </a:t>
                </a:r>
                <a:r>
                  <a:rPr lang="en-IN" sz="2400">
                    <a:solidFill>
                      <a:srgbClr val="111827"/>
                    </a:solidFill>
                    <a:latin typeface="Cambria Math" panose="02040503050406030204" pitchFamily="18" charset="0"/>
                  </a:rPr>
                  <a:t>$\frac1{n^4}\sum r(r-1)(n-r)\to\int_0^1x^2(1-x)\,dx=\frac1{12}$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limits of ratios of sums, only the degree and leading coefficient matter: </a:t>
                </a:r>
                <a:r>
                  <a:rPr lang="en-IN" sz="2400">
                    <a:solidFill>
                      <a:srgbClr val="111827"/>
                    </a:solidFill>
                    <a:latin typeface="Cambria Math" panose="02040503050406030204" pitchFamily="18" charset="0"/>
                  </a:rPr>
                  <a:t>$\sum r^p\sim\frac{n^{p+1}}{p+1}$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circle passing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have its centre at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𝑐</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𝑐</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point of intersection of the lines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𝑐</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𝑐</m:t>
                        </m:r>
                      </m:sub>
                    </m:sSub>
                  </m:oMath>
                </a14:m>
                <a:r>
                  <a:rPr sz="2400" b="0">
                    <a:solidFill>
                      <a:srgbClr val="111827"/>
                    </a:solidFill>
                    <a:latin typeface="Arial"/>
                  </a:rPr>
                  <a:t>, then the equation of the circle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endParaRPr sz="2400">
                  <a:solidFill>
                    <a:srgbClr val="111827"/>
                  </a:solidFill>
                </a:endParaRPr>
              </a:p>
            </p:txBody>
          </p:sp>
        </mc:Choice>
        <mc:Fallback>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circle passing through </a:t>
                </a:r>
                <a:r>
                  <a:rPr lang="en-IN" sz="2400">
                    <a:solidFill>
                      <a:srgbClr val="111827"/>
                    </a:solidFill>
                    <a:latin typeface="Cambria Math" panose="02040503050406030204" pitchFamily="18" charset="0"/>
                  </a:rPr>
                  <a:t>$(2,0)$</a:t>
                </a:r>
                <a:r>
                  <a:rPr sz="2400" b="0">
                    <a:solidFill>
                      <a:srgbClr val="111827"/>
                    </a:solidFill>
                    <a:latin typeface="Arial"/>
                  </a:rPr>
                  <a:t> have its centre at the point </a:t>
                </a:r>
                <a:r>
                  <a:rPr lang="en-IN" sz="2400">
                    <a:solidFill>
                      <a:srgbClr val="111827"/>
                    </a:solidFill>
                    <a:latin typeface="Cambria Math" panose="02040503050406030204" pitchFamily="18" charset="0"/>
                  </a:rPr>
                  <a:t>$(h,k)$</a:t>
                </a:r>
                <a:r>
                  <a:rPr sz="2400" b="0">
                    <a:solidFill>
                      <a:srgbClr val="111827"/>
                    </a:solidFill>
                    <a:latin typeface="Arial"/>
                  </a:rPr>
                  <a:t>. Let </a:t>
                </a:r>
                <a:r>
                  <a:rPr lang="en-IN" sz="2400">
                    <a:solidFill>
                      <a:srgbClr val="111827"/>
                    </a:solidFill>
                    <a:latin typeface="Cambria Math" panose="02040503050406030204" pitchFamily="18" charset="0"/>
                  </a:rPr>
                  <a:t>$(x_c,y_c)$</a:t>
                </a:r>
                <a:r>
                  <a:rPr sz="2400" b="0">
                    <a:solidFill>
                      <a:srgbClr val="111827"/>
                    </a:solidFill>
                    <a:latin typeface="Arial"/>
                  </a:rPr>
                  <a:t> be the point of intersection of the lines </a:t>
                </a:r>
                <a:r>
                  <a:rPr lang="en-IN" sz="2400">
                    <a:solidFill>
                      <a:srgbClr val="111827"/>
                    </a:solidFill>
                    <a:latin typeface="Cambria Math" panose="02040503050406030204" pitchFamily="18" charset="0"/>
                  </a:rPr>
                  <a:t>$3x+5y=1$</a:t>
                </a:r>
                <a:r>
                  <a:rPr sz="2400" b="0">
                    <a:solidFill>
                      <a:srgbClr val="111827"/>
                    </a:solidFill>
                    <a:latin typeface="Arial"/>
                  </a:rPr>
                  <a:t> and </a:t>
                </a:r>
                <a:r>
                  <a:rPr lang="en-IN" sz="2400">
                    <a:solidFill>
                      <a:srgbClr val="111827"/>
                    </a:solidFill>
                    <a:latin typeface="Cambria Math" panose="02040503050406030204" pitchFamily="18" charset="0"/>
                  </a:rPr>
                  <a:t>$(2+c)x+5c^2y=1$</a:t>
                </a:r>
                <a:r>
                  <a:rPr sz="2400" b="0">
                    <a:solidFill>
                      <a:srgbClr val="111827"/>
                    </a:solidFill>
                    <a:latin typeface="Arial"/>
                  </a:rPr>
                  <a:t>. If </a:t>
                </a:r>
                <a:r>
                  <a:rPr lang="en-IN" sz="2400">
                    <a:solidFill>
                      <a:srgbClr val="111827"/>
                    </a:solidFill>
                    <a:latin typeface="Cambria Math" panose="02040503050406030204" pitchFamily="18" charset="0"/>
                  </a:rPr>
                  <a:t>$h=\lim_{c\to1}x_c$</a:t>
                </a:r>
                <a:r>
                  <a:rPr sz="2400" b="0">
                    <a:solidFill>
                      <a:srgbClr val="111827"/>
                    </a:solidFill>
                    <a:latin typeface="Arial"/>
                  </a:rPr>
                  <a:t> and </a:t>
                </a:r>
                <a:r>
                  <a:rPr lang="en-IN" sz="2400">
                    <a:solidFill>
                      <a:srgbClr val="111827"/>
                    </a:solidFill>
                    <a:latin typeface="Cambria Math" panose="02040503050406030204" pitchFamily="18" charset="0"/>
                  </a:rPr>
                  <a:t>$k=\lim_{c\to1}y_c$</a:t>
                </a:r>
                <a:r>
                  <a:rPr sz="2400" b="0">
                    <a:solidFill>
                      <a:srgbClr val="111827"/>
                    </a:solidFill>
                    <a:latin typeface="Arial"/>
                  </a:rPr>
                  <a:t>, then the equation of the circle is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$25x^2+25y^2-2x+2y-60=0$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$5x^2+5y^2-4x+2y-12=0$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$25x^2+25y^2-20x+2y-60=0$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$5x^2+5y^2-4x-2y-12=0$</a:t>
                </a:r>
                <a:endParaRPr sz="2400">
                  <a:solidFill>
                    <a:srgbClr val="111827"/>
                  </a:solidFill>
                </a:endParaRPr>
              </a:p>
            </p:txBody>
          </p:sp>
        </mc:Fallback>
      </mc:AlternateContent>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Limit of the point of intersection of two lines, Equation of a circle with given centre and a point on it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Eliminate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using </a:t>
                </a:r>
                <a14:m>
                  <m:oMath xmlns:m="http://schemas.openxmlformats.org/officeDocument/2006/math">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oMath>
                </a14:m>
                <a:r>
                  <a:rPr sz="2400" b="0">
                    <a:solidFill>
                      <a:srgbClr val="78350F"/>
                    </a:solidFill>
                    <a:latin typeface="Arial"/>
                  </a:rPr>
                  <a:t> to get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𝑐</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𝑐</m:t>
                        </m:r>
                      </m:sub>
                    </m:sSub>
                  </m:oMath>
                </a14:m>
                <a:r>
                  <a:rPr sz="2400" b="0">
                    <a:solidFill>
                      <a:srgbClr val="78350F"/>
                    </a:solidFill>
                    <a:latin typeface="Arial"/>
                  </a:rPr>
                  <a:t> as rational functions of </a:t>
                </a:r>
                <a14:m>
                  <m:oMath xmlns:m="http://schemas.openxmlformats.org/officeDocument/2006/math">
                    <m:r>
                      <a:rPr lang="en-IN" sz="2400" i="1">
                        <a:solidFill>
                          <a:srgbClr val="78350F"/>
                        </a:solidFill>
                        <a:latin typeface="Cambria Math" panose="02040503050406030204" pitchFamily="18" charset="0"/>
                      </a:rPr>
                      <m:t>𝑐</m:t>
                    </m:r>
                  </m:oMath>
                </a14:m>
                <a:r>
                  <a:rPr sz="2400" b="0">
                    <a:solidFill>
                      <a:srgbClr val="78350F"/>
                    </a:solidFill>
                    <a:latin typeface="Arial"/>
                  </a:rPr>
                  <a:t>; the common factor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cancels before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Eliminate </a:t>
                </a:r>
                <a:r>
                  <a:rPr lang="en-IN" sz="2400">
                    <a:solidFill>
                      <a:srgbClr val="78350F"/>
                    </a:solidFill>
                    <a:latin typeface="Cambria Math" panose="02040503050406030204" pitchFamily="18" charset="0"/>
                  </a:rPr>
                  <a:t>$y$</a:t>
                </a:r>
                <a:r>
                  <a:rPr sz="2400" b="0">
                    <a:solidFill>
                      <a:srgbClr val="78350F"/>
                    </a:solidFill>
                    <a:latin typeface="Arial"/>
                  </a:rPr>
                  <a:t> using </a:t>
                </a:r>
                <a:r>
                  <a:rPr lang="en-IN" sz="2400">
                    <a:solidFill>
                      <a:srgbClr val="78350F"/>
                    </a:solidFill>
                    <a:latin typeface="Cambria Math" panose="02040503050406030204" pitchFamily="18" charset="0"/>
                  </a:rPr>
                  <a:t>$5y=1-3x$</a:t>
                </a:r>
                <a:r>
                  <a:rPr sz="2400" b="0">
                    <a:solidFill>
                      <a:srgbClr val="78350F"/>
                    </a:solidFill>
                    <a:latin typeface="Arial"/>
                  </a:rPr>
                  <a:t> to get </a:t>
                </a:r>
                <a:r>
                  <a:rPr lang="en-IN" sz="2400">
                    <a:solidFill>
                      <a:srgbClr val="78350F"/>
                    </a:solidFill>
                    <a:latin typeface="Cambria Math" panose="02040503050406030204" pitchFamily="18" charset="0"/>
                  </a:rPr>
                  <a:t>$x_c,y_c$</a:t>
                </a:r>
                <a:r>
                  <a:rPr sz="2400" b="0">
                    <a:solidFill>
                      <a:srgbClr val="78350F"/>
                    </a:solidFill>
                    <a:latin typeface="Arial"/>
                  </a:rPr>
                  <a:t> as rational functions of </a:t>
                </a:r>
                <a:r>
                  <a:rPr lang="en-IN" sz="2400">
                    <a:solidFill>
                      <a:srgbClr val="78350F"/>
                    </a:solidFill>
                    <a:latin typeface="Cambria Math" panose="02040503050406030204" pitchFamily="18" charset="0"/>
                  </a:rPr>
                  <a:t>$c$</a:t>
                </a:r>
                <a:r>
                  <a:rPr sz="2400" b="0">
                    <a:solidFill>
                      <a:srgbClr val="78350F"/>
                    </a:solidFill>
                    <a:latin typeface="Arial"/>
                  </a:rPr>
                  <a:t>; the common factor </a:t>
                </a:r>
                <a:r>
                  <a:rPr lang="en-IN" sz="2400">
                    <a:solidFill>
                      <a:srgbClr val="78350F"/>
                    </a:solidFill>
                    <a:latin typeface="Cambria Math" panose="02040503050406030204" pitchFamily="18" charset="0"/>
                  </a:rPr>
                  <a:t>$(c-1)$</a:t>
                </a:r>
                <a:r>
                  <a:rPr sz="2400" b="0">
                    <a:solidFill>
                      <a:srgbClr val="78350F"/>
                    </a:solidFill>
                    <a:latin typeface="Arial"/>
                  </a:rPr>
                  <a:t> cancels before </a:t>
                </a:r>
                <a:r>
                  <a:rPr lang="en-IN" sz="2400">
                    <a:solidFill>
                      <a:srgbClr val="78350F"/>
                    </a:solidFill>
                    <a:latin typeface="Cambria Math" panose="02040503050406030204" pitchFamily="18" charset="0"/>
                  </a:rPr>
                  <a:t>$c\to1$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lines are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the first,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lines are </a:t>
                </a:r>
                <a:r>
                  <a:rPr lang="en-IN" sz="2400">
                    <a:solidFill>
                      <a:srgbClr val="111827"/>
                    </a:solidFill>
                    <a:latin typeface="Cambria Math" panose="02040503050406030204" pitchFamily="18" charset="0"/>
                  </a:rPr>
                  <a:t>$3x+5y=1$</a:t>
                </a:r>
                <a:r>
                  <a:rPr sz="2400" b="0">
                    <a:solidFill>
                      <a:srgbClr val="111827"/>
                    </a:solidFill>
                    <a:latin typeface="Arial"/>
                  </a:rPr>
                  <a:t> and </a:t>
                </a:r>
                <a:r>
                  <a:rPr lang="en-IN" sz="2400">
                    <a:solidFill>
                      <a:srgbClr val="111827"/>
                    </a:solidFill>
                    <a:latin typeface="Cambria Math" panose="02040503050406030204" pitchFamily="18" charset="0"/>
                  </a:rPr>
                  <a:t>$(2+c)x+5c^2y=1$</a:t>
                </a:r>
                <a:r>
                  <a:rPr sz="2400" b="0">
                    <a:solidFill>
                      <a:srgbClr val="111827"/>
                    </a:solidFill>
                    <a:latin typeface="Arial"/>
                  </a:rPr>
                  <a:t>. From the first, </a:t>
                </a:r>
                <a:r>
                  <a:rPr lang="en-IN" sz="2400">
                    <a:solidFill>
                      <a:srgbClr val="111827"/>
                    </a:solidFill>
                    <a:latin typeface="Cambria Math" panose="02040503050406030204" pitchFamily="18" charset="0"/>
                  </a:rPr>
                  <a:t>$5y=1-3x$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Substitute in the second: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𝑐</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𝑐</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Centre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25</m:t>
                            </m:r>
                          </m:den>
                        </m:f>
                      </m:e>
                    </m:d>
                  </m:oMath>
                </a14:m>
                <a:r>
                  <a:rPr sz="2400" b="0">
                    <a:solidFill>
                      <a:srgbClr val="111827"/>
                    </a:solidFill>
                    <a:latin typeface="Arial"/>
                  </a:rPr>
                  <a:t>; the radius is the distance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25</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625</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Substitute in the second: </a:t>
                </a:r>
                <a:r>
                  <a:rPr lang="en-IN" sz="2400">
                    <a:solidFill>
                      <a:srgbClr val="111827"/>
                    </a:solidFill>
                    <a:latin typeface="Cambria Math" panose="02040503050406030204" pitchFamily="18" charset="0"/>
                  </a:rPr>
                  <a:t>$(2+c)x+c^2(1-3x)=1$</a:t>
                </a:r>
                <a:r>
                  <a:rPr sz="2400" b="0">
                    <a:solidFill>
                      <a:srgbClr val="111827"/>
                    </a:solidFill>
                    <a:latin typeface="Arial"/>
                  </a:rPr>
                  <a:t>, so </a:t>
                </a:r>
                <a:r>
                  <a:rPr lang="en-IN" sz="2400">
                    <a:solidFill>
                      <a:srgbClr val="111827"/>
                    </a:solidFill>
                    <a:latin typeface="Cambria Math" panose="02040503050406030204" pitchFamily="18" charset="0"/>
                  </a:rPr>
                  <a:t>$(3c^2-c-2)x=c^2-1$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$x_c=\frac{c^2-1}{3c^2-c-2}=\frac{(c-1)(c+1)}{(c-1)(3c+2)}=\frac{c+1}{3c+2}$</a:t>
                </a:r>
                <a:r>
                  <a:rPr sz="2400" b="0">
                    <a:solidFill>
                      <a:srgbClr val="111827"/>
                    </a:solidFill>
                    <a:latin typeface="Arial"/>
                  </a:rPr>
                  <a:t> and </a:t>
                </a:r>
                <a:r>
                  <a:rPr lang="en-IN" sz="2400">
                    <a:solidFill>
                      <a:srgbClr val="111827"/>
                    </a:solidFill>
                    <a:latin typeface="Cambria Math" panose="02040503050406030204" pitchFamily="18" charset="0"/>
                  </a:rPr>
                  <a:t>$y_c=\frac15\left(1-\frac{3(c^2-1)}{3c^2-c-2}\right)=\frac{1-c}{5(3c^2-c-2)}$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$h=\lim_{c\to1}\frac{(1-c)(1+c)}{(1-c)(2+3c)}=\frac25$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$k=\lim_{c\to1}\frac{1-c}{5(c-1)(3c+2)}=\lim_{c\to1}\frac{-1}{5(3c+2)}=-\frac1{25}$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Centre </a:t>
                </a:r>
                <a:r>
                  <a:rPr lang="en-IN" sz="2400">
                    <a:solidFill>
                      <a:srgbClr val="111827"/>
                    </a:solidFill>
                    <a:latin typeface="Cambria Math" panose="02040503050406030204" pitchFamily="18" charset="0"/>
                  </a:rPr>
                  <a:t>$=\left(\frac25,-\frac1{25}\right)$</a:t>
                </a:r>
                <a:r>
                  <a:rPr sz="2400" b="0">
                    <a:solidFill>
                      <a:srgbClr val="111827"/>
                    </a:solidFill>
                    <a:latin typeface="Arial"/>
                  </a:rPr>
                  <a:t>; the radius is the distance to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$r^2=\left(2-\frac25\right)^2+\left(\frac1{25}\right)^2=\frac{64}{25}+\frac1{625}$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circle is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25</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625</m:t>
                        </m:r>
                      </m:den>
                    </m:f>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25</m:t>
                        </m:r>
                      </m:den>
                    </m:f>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64</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625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circle is </a:t>
                </a:r>
                <a:r>
                  <a:rPr lang="en-IN" sz="2400">
                    <a:solidFill>
                      <a:srgbClr val="111827"/>
                    </a:solidFill>
                    <a:latin typeface="Cambria Math" panose="02040503050406030204" pitchFamily="18" charset="0"/>
                  </a:rPr>
                  <a:t>$\left(x-\frac25\right)^2+\left(y+\frac1{25}\right)^2=\frac{64}{25}+\frac1{625}$</a:t>
                </a:r>
                <a:r>
                  <a:rPr sz="2400" b="0">
                    <a:solidFill>
                      <a:srgbClr val="111827"/>
                    </a:solidFill>
                    <a:latin typeface="Arial"/>
                  </a:rPr>
                  <a:t>, i.e. </a:t>
                </a:r>
                <a:r>
                  <a:rPr lang="en-IN" sz="2400">
                    <a:solidFill>
                      <a:srgbClr val="111827"/>
                    </a:solidFill>
                    <a:latin typeface="Cambria Math" panose="02040503050406030204" pitchFamily="18" charset="0"/>
                  </a:rPr>
                  <a:t>$x^2+y^2-\frac45x+\frac2{25}y+\frac4{25}+\frac1{625}=\frac{64}{25}+\frac1{625}$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$25$</a:t>
                </a:r>
                <a:r>
                  <a:rPr sz="2400" b="0">
                    <a:solidFill>
                      <a:srgbClr val="111827"/>
                    </a:solidFill>
                    <a:latin typeface="Arial"/>
                  </a:rPr>
                  <a:t>: </a:t>
                </a:r>
                <a:r>
                  <a:rPr lang="en-IN" sz="2400">
                    <a:solidFill>
                      <a:srgbClr val="111827"/>
                    </a:solidFill>
                    <a:latin typeface="Cambria Math" panose="02040503050406030204" pitchFamily="18" charset="0"/>
                  </a:rPr>
                  <a:t>$25x^2+25y^2-20x+2y+4=64$</a:t>
                </a:r>
                <a:r>
                  <a:rPr sz="2400" b="0">
                    <a:solidFill>
                      <a:srgbClr val="111827"/>
                    </a:solidFill>
                    <a:latin typeface="Arial"/>
                  </a:rPr>
                  <a:t>, i.e. </a:t>
                </a:r>
                <a:r>
                  <a:rPr lang="en-IN" sz="2400">
                    <a:solidFill>
                      <a:srgbClr val="111827"/>
                    </a:solidFill>
                    <a:latin typeface="Cambria Math" panose="02040503050406030204" pitchFamily="18" charset="0"/>
                  </a:rPr>
                  <a:t>$25x^2+25y^2-20x+2y-60=0$</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25</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25</m:t>
                    </m:r>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20</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$25x^2+25y^2-20x+2y-60=0$</a:t>
                </a:r>
                <a:endParaRPr sz="2800">
                  <a:solidFill>
                    <a:srgbClr val="15803D"/>
                  </a:solidFill>
                </a:endParaRPr>
              </a:p>
            </p:txBody>
          </p:sp>
        </mc:Fallback>
      </mc:AlternateContent>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As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the moving line tends to the fixed line, so the limit point is the 'characteristic point': subtracting the two equations and cancelling the factor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gives a second fixed line.</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As </a:t>
                </a:r>
                <a:r>
                  <a:rPr lang="en-IN" sz="2400">
                    <a:solidFill>
                      <a:srgbClr val="78350F"/>
                    </a:solidFill>
                    <a:latin typeface="Cambria Math" panose="02040503050406030204" pitchFamily="18" charset="0"/>
                  </a:rPr>
                  <a:t>$c\to1$</a:t>
                </a:r>
                <a:r>
                  <a:rPr sz="2400" b="0">
                    <a:solidFill>
                      <a:srgbClr val="78350F"/>
                    </a:solidFill>
                    <a:latin typeface="Arial"/>
                  </a:rPr>
                  <a:t> the moving line tends to the fixed line, so the limit point is the 'characteristic point': subtracting the two equations and cancelling the factor </a:t>
                </a:r>
                <a:r>
                  <a:rPr lang="en-IN" sz="2400">
                    <a:solidFill>
                      <a:srgbClr val="78350F"/>
                    </a:solidFill>
                    <a:latin typeface="Cambria Math" panose="02040503050406030204" pitchFamily="18" charset="0"/>
                  </a:rPr>
                  <a:t>$c-1$</a:t>
                </a:r>
                <a:r>
                  <a:rPr sz="2400" b="0">
                    <a:solidFill>
                      <a:srgbClr val="78350F"/>
                    </a:solidFill>
                    <a:latin typeface="Arial"/>
                  </a:rPr>
                  <a:t> gives a second fixed line.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Subtract the first line from the second at the intersection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divide by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holds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𝑐</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𝑐</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limit point satisfies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(being on the first line)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Subtract the first line from the second at the intersection point: </a:t>
                </a:r>
                <a:r>
                  <a:rPr lang="en-IN" sz="2400">
                    <a:solidFill>
                      <a:srgbClr val="111827"/>
                    </a:solidFill>
                    <a:latin typeface="Cambria Math" panose="02040503050406030204" pitchFamily="18" charset="0"/>
                  </a:rPr>
                  <a:t>$(c-1)x+5(c^2-1)y=0$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$c\ne1$</a:t>
                </a:r>
                <a:r>
                  <a:rPr sz="2400" b="0">
                    <a:solidFill>
                      <a:srgbClr val="111827"/>
                    </a:solidFill>
                    <a:latin typeface="Arial"/>
                  </a:rPr>
                  <a:t> divide by </a:t>
                </a:r>
                <a:r>
                  <a:rPr lang="en-IN" sz="2400">
                    <a:solidFill>
                      <a:srgbClr val="111827"/>
                    </a:solidFill>
                    <a:latin typeface="Cambria Math" panose="02040503050406030204" pitchFamily="18" charset="0"/>
                  </a:rPr>
                  <a:t>$c-1$</a:t>
                </a:r>
                <a:r>
                  <a:rPr sz="2400" b="0">
                    <a:solidFill>
                      <a:srgbClr val="111827"/>
                    </a:solidFill>
                    <a:latin typeface="Arial"/>
                  </a:rPr>
                  <a:t>: </a:t>
                </a:r>
                <a:r>
                  <a:rPr lang="en-IN" sz="2400">
                    <a:solidFill>
                      <a:srgbClr val="111827"/>
                    </a:solidFill>
                    <a:latin typeface="Cambria Math" panose="02040503050406030204" pitchFamily="18" charset="0"/>
                  </a:rPr>
                  <a:t>$x+5(c+1)y=0$</a:t>
                </a:r>
                <a:r>
                  <a:rPr sz="2400" b="0">
                    <a:solidFill>
                      <a:srgbClr val="111827"/>
                    </a:solidFill>
                    <a:latin typeface="Arial"/>
                  </a:rPr>
                  <a:t> holds at </a:t>
                </a:r>
                <a:r>
                  <a:rPr lang="en-IN" sz="2400">
                    <a:solidFill>
                      <a:srgbClr val="111827"/>
                    </a:solidFill>
                    <a:latin typeface="Cambria Math" panose="02040503050406030204" pitchFamily="18" charset="0"/>
                  </a:rPr>
                  <a:t>$(x_c,y_c)$</a:t>
                </a:r>
                <a:r>
                  <a:rPr sz="2400" b="0">
                    <a:solidFill>
                      <a:srgbClr val="111827"/>
                    </a:solidFill>
                    <a:latin typeface="Arial"/>
                  </a:rPr>
                  <a:t> for every </a:t>
                </a:r>
                <a:r>
                  <a:rPr lang="en-IN" sz="2400">
                    <a:solidFill>
                      <a:srgbClr val="111827"/>
                    </a:solidFill>
                    <a:latin typeface="Cambria Math" panose="02040503050406030204" pitchFamily="18" charset="0"/>
                  </a:rPr>
                  <a:t>$c\ne1$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$c\to1$</a:t>
                </a:r>
                <a:r>
                  <a:rPr sz="2400" b="0">
                    <a:solidFill>
                      <a:srgbClr val="111827"/>
                    </a:solidFill>
                    <a:latin typeface="Arial"/>
                  </a:rPr>
                  <a:t>: the limit point satisfies </a:t>
                </a:r>
                <a:r>
                  <a:rPr lang="en-IN" sz="2400">
                    <a:solidFill>
                      <a:srgbClr val="111827"/>
                    </a:solidFill>
                    <a:latin typeface="Cambria Math" panose="02040503050406030204" pitchFamily="18" charset="0"/>
                  </a:rPr>
                  <a:t>$x+10y=0$</a:t>
                </a:r>
                <a:r>
                  <a:rPr sz="2400" b="0">
                    <a:solidFill>
                      <a:srgbClr val="111827"/>
                    </a:solidFill>
                    <a:latin typeface="Arial"/>
                  </a:rPr>
                  <a:t> and (being on the first line) </a:t>
                </a:r>
                <a:r>
                  <a:rPr lang="en-IN" sz="2400">
                    <a:solidFill>
                      <a:srgbClr val="111827"/>
                    </a:solidFill>
                    <a:latin typeface="Cambria Math" panose="02040503050406030204" pitchFamily="18" charset="0"/>
                  </a:rPr>
                  <a:t>$3x+5y=1$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25</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Circle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circle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25</m:t>
                        </m:r>
                      </m:den>
                    </m:f>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multiplying by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Substitute </a:t>
                </a:r>
                <a:r>
                  <a:rPr lang="en-IN" sz="2400">
                    <a:solidFill>
                      <a:srgbClr val="111827"/>
                    </a:solidFill>
                    <a:latin typeface="Cambria Math" panose="02040503050406030204" pitchFamily="18" charset="0"/>
                  </a:rPr>
                  <a:t>$x=-10y$</a:t>
                </a:r>
                <a:r>
                  <a:rPr sz="2400" b="0">
                    <a:solidFill>
                      <a:srgbClr val="111827"/>
                    </a:solidFill>
                    <a:latin typeface="Arial"/>
                  </a:rPr>
                  <a:t>: </a:t>
                </a:r>
                <a:r>
                  <a:rPr lang="en-IN" sz="2400">
                    <a:solidFill>
                      <a:srgbClr val="111827"/>
                    </a:solidFill>
                    <a:latin typeface="Cambria Math" panose="02040503050406030204" pitchFamily="18" charset="0"/>
                  </a:rPr>
                  <a:t>$-30y+5y=1\Rightarrow y=-\frac1{25}$</a:t>
                </a:r>
                <a:r>
                  <a:rPr sz="2400" b="0">
                    <a:solidFill>
                      <a:srgbClr val="111827"/>
                    </a:solidFill>
                    <a:latin typeface="Arial"/>
                  </a:rPr>
                  <a:t>, </a:t>
                </a:r>
                <a:r>
                  <a:rPr lang="en-IN" sz="2400">
                    <a:solidFill>
                      <a:srgbClr val="111827"/>
                    </a:solidFill>
                    <a:latin typeface="Cambria Math" panose="02040503050406030204" pitchFamily="18" charset="0"/>
                  </a:rPr>
                  <a:t>$x=\frac25$</a:t>
                </a:r>
                <a:r>
                  <a:rPr sz="2400" b="0">
                    <a:solidFill>
                      <a:srgbClr val="111827"/>
                    </a:solidFill>
                    <a:latin typeface="Arial"/>
                  </a:rPr>
                  <a:t>. So </a:t>
                </a:r>
                <a:r>
                  <a:rPr lang="en-IN" sz="2400">
                    <a:solidFill>
                      <a:srgbClr val="111827"/>
                    </a:solidFill>
                    <a:latin typeface="Cambria Math" panose="02040503050406030204" pitchFamily="18" charset="0"/>
                  </a:rPr>
                  <a:t>$(h,k)=\left(\frac25,-\frac1{25}\right)$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Circle </a:t>
                </a:r>
                <a:r>
                  <a:rPr lang="en-IN" sz="2400">
                    <a:solidFill>
                      <a:srgbClr val="111827"/>
                    </a:solidFill>
                    <a:latin typeface="Cambria Math" panose="02040503050406030204" pitchFamily="18" charset="0"/>
                  </a:rPr>
                  <a:t>$x^2+y^2-2hx-2ky+C=0$</a:t>
                </a:r>
                <a:r>
                  <a:rPr sz="2400" b="0">
                    <a:solidFill>
                      <a:srgbClr val="111827"/>
                    </a:solidFill>
                    <a:latin typeface="Arial"/>
                  </a:rPr>
                  <a:t> through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$4-4h+C=0$</a:t>
                </a:r>
                <a:r>
                  <a:rPr sz="2400" b="0">
                    <a:solidFill>
                      <a:srgbClr val="111827"/>
                    </a:solidFill>
                    <a:latin typeface="Arial"/>
                  </a:rPr>
                  <a:t>, so </a:t>
                </a:r>
                <a:r>
                  <a:rPr lang="en-IN" sz="2400">
                    <a:solidFill>
                      <a:srgbClr val="111827"/>
                    </a:solidFill>
                    <a:latin typeface="Cambria Math" panose="02040503050406030204" pitchFamily="18" charset="0"/>
                  </a:rPr>
                  <a:t>$C=4h-4=-\frac{12}5$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circle is </a:t>
                </a:r>
                <a:r>
                  <a:rPr lang="en-IN" sz="2400">
                    <a:solidFill>
                      <a:srgbClr val="111827"/>
                    </a:solidFill>
                    <a:latin typeface="Cambria Math" panose="02040503050406030204" pitchFamily="18" charset="0"/>
                  </a:rPr>
                  <a:t>$x^2+y^2-\frac45x+\frac2{25}y-\frac{12}5=0$</a:t>
                </a:r>
                <a:r>
                  <a:rPr sz="2400" b="0">
                    <a:solidFill>
                      <a:srgbClr val="111827"/>
                    </a:solidFill>
                    <a:latin typeface="Arial"/>
                  </a:rPr>
                  <a:t>; multiplying by </a:t>
                </a:r>
                <a:r>
                  <a:rPr lang="en-IN" sz="2400">
                    <a:solidFill>
                      <a:srgbClr val="111827"/>
                    </a:solidFill>
                    <a:latin typeface="Cambria Math" panose="02040503050406030204" pitchFamily="18" charset="0"/>
                  </a:rPr>
                  <a:t>$25$</a:t>
                </a:r>
                <a:r>
                  <a:rPr sz="2400" b="0">
                    <a:solidFill>
                      <a:srgbClr val="111827"/>
                    </a:solidFill>
                    <a:latin typeface="Arial"/>
                  </a:rPr>
                  <a:t> gives </a:t>
                </a:r>
                <a:r>
                  <a:rPr lang="en-IN" sz="2400">
                    <a:solidFill>
                      <a:srgbClr val="111827"/>
                    </a:solidFill>
                    <a:latin typeface="Cambria Math" panose="02040503050406030204" pitchFamily="18" charset="0"/>
                  </a:rPr>
                  <a:t>$25x^2+25y^2-20x+2y-60=0$</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25</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25</m:t>
                    </m:r>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20</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$25x^2+25y^2-20x+2y-60=0$</a:t>
                </a:r>
                <a:endParaRPr sz="2800">
                  <a:solidFill>
                    <a:srgbClr val="15803D"/>
                  </a:solidFill>
                </a:endParaRPr>
              </a:p>
            </p:txBody>
          </p:sp>
        </mc:Fallback>
      </mc:AlternateContent>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family of lines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limit of the intersection of </a:t>
                </a:r>
                <a14:m>
                  <m:oMath xmlns:m="http://schemas.openxmlformats.org/officeDocument/2006/math">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𝑐</m:t>
                        </m:r>
                      </m:sub>
                    </m:sSub>
                  </m:oMath>
                </a14:m>
                <a:r>
                  <a:rPr sz="2400" b="0">
                    <a:solidFill>
                      <a:srgbClr val="111827"/>
                    </a:solidFill>
                    <a:latin typeface="Arial"/>
                  </a:rPr>
                  <a:t> with a fixed member </a:t>
                </a:r>
                <a14:m>
                  <m:oMath xmlns:m="http://schemas.openxmlformats.org/officeDocument/2006/math">
                    <m:sSub>
                      <m:e>
                        <m:r>
                          <a:rPr lang="en-IN" sz="2400" i="1">
                            <a:solidFill>
                              <a:srgbClr val="111827"/>
                            </a:solidFill>
                            <a:latin typeface="Cambria Math" panose="02040503050406030204" pitchFamily="18" charset="0"/>
                          </a:rPr>
                          <m:t>𝐹</m:t>
                        </m:r>
                      </m:e>
                      <m: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0</m:t>
                            </m:r>
                          </m:sub>
                        </m:sSub>
                      </m:sub>
                    </m:sSub>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is the intersection of </a:t>
                </a:r>
                <a14:m>
                  <m:oMath xmlns:m="http://schemas.openxmlformats.org/officeDocument/2006/math">
                    <m:sSub>
                      <m:e>
                        <m:r>
                          <a:rPr lang="en-IN" sz="2400" i="1">
                            <a:solidFill>
                              <a:srgbClr val="111827"/>
                            </a:solidFill>
                            <a:latin typeface="Cambria Math" panose="02040503050406030204" pitchFamily="18" charset="0"/>
                          </a:rPr>
                          <m:t>𝐹</m:t>
                        </m:r>
                      </m:e>
                      <m: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0</m:t>
                            </m:r>
                          </m:sub>
                        </m:sSub>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sSub>
                      <m:e>
                        <m:r>
                          <m:rPr>
                            <m:sty m:val="p"/>
                          </m:rPr>
                          <a:rPr lang="en-IN" sz="2400">
                            <a:solidFill>
                              <a:srgbClr val="111827"/>
                            </a:solidFill>
                            <a:latin typeface="Cambria Math" panose="02040503050406030204" pitchFamily="18" charset="0"/>
                          </a:rPr>
                          <m:t>|</m:t>
                        </m:r>
                      </m:e>
                      <m: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0</m:t>
                            </m:r>
                          </m:sub>
                        </m:sSub>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'characteristic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𝑦</m:t>
                    </m:r>
                  </m:oMath>
                </a14:m>
                <a:r>
                  <a:rPr sz="2400" b="0">
                    <a:solidFill>
                      <a:srgbClr val="111827"/>
                    </a:solidFill>
                    <a:latin typeface="Arial"/>
                  </a:rPr>
                  <a:t>, which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circle with centre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through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family of lines </a:t>
                </a:r>
                <a:r>
                  <a:rPr lang="en-IN" sz="2400">
                    <a:solidFill>
                      <a:srgbClr val="111827"/>
                    </a:solidFill>
                    <a:latin typeface="Cambria Math" panose="02040503050406030204" pitchFamily="18" charset="0"/>
                  </a:rPr>
                  <a:t>$F(x,y,c)=0$</a:t>
                </a:r>
                <a:r>
                  <a:rPr sz="2400" b="0">
                    <a:solidFill>
                      <a:srgbClr val="111827"/>
                    </a:solidFill>
                    <a:latin typeface="Arial"/>
                  </a:rPr>
                  <a:t>, the limit of the intersection of </a:t>
                </a:r>
                <a:r>
                  <a:rPr lang="en-IN" sz="2400">
                    <a:solidFill>
                      <a:srgbClr val="111827"/>
                    </a:solidFill>
                    <a:latin typeface="Cambria Math" panose="02040503050406030204" pitchFamily="18" charset="0"/>
                  </a:rPr>
                  <a:t>$F_c$</a:t>
                </a:r>
                <a:r>
                  <a:rPr sz="2400" b="0">
                    <a:solidFill>
                      <a:srgbClr val="111827"/>
                    </a:solidFill>
                    <a:latin typeface="Arial"/>
                  </a:rPr>
                  <a:t> with a fixed member </a:t>
                </a:r>
                <a:r>
                  <a:rPr lang="en-IN" sz="2400">
                    <a:solidFill>
                      <a:srgbClr val="111827"/>
                    </a:solidFill>
                    <a:latin typeface="Cambria Math" panose="02040503050406030204" pitchFamily="18" charset="0"/>
                  </a:rPr>
                  <a:t>$F_{c_0}$</a:t>
                </a:r>
                <a:r>
                  <a:rPr sz="2400" b="0">
                    <a:solidFill>
                      <a:srgbClr val="111827"/>
                    </a:solidFill>
                    <a:latin typeface="Arial"/>
                  </a:rPr>
                  <a:t> as </a:t>
                </a:r>
                <a:r>
                  <a:rPr lang="en-IN" sz="2400">
                    <a:solidFill>
                      <a:srgbClr val="111827"/>
                    </a:solidFill>
                    <a:latin typeface="Cambria Math" panose="02040503050406030204" pitchFamily="18" charset="0"/>
                  </a:rPr>
                  <a:t>$c\to c_0$</a:t>
                </a:r>
                <a:r>
                  <a:rPr sz="2400" b="0">
                    <a:solidFill>
                      <a:srgbClr val="111827"/>
                    </a:solidFill>
                    <a:latin typeface="Arial"/>
                  </a:rPr>
                  <a:t> is the intersection of </a:t>
                </a:r>
                <a:r>
                  <a:rPr lang="en-IN" sz="2400">
                    <a:solidFill>
                      <a:srgbClr val="111827"/>
                    </a:solidFill>
                    <a:latin typeface="Cambria Math" panose="02040503050406030204" pitchFamily="18" charset="0"/>
                  </a:rPr>
                  <a:t>$F_{c_0}=0$</a:t>
                </a:r>
                <a:r>
                  <a:rPr sz="2400" b="0">
                    <a:solidFill>
                      <a:srgbClr val="111827"/>
                    </a:solidFill>
                    <a:latin typeface="Arial"/>
                  </a:rPr>
                  <a:t> with </a:t>
                </a:r>
                <a:r>
                  <a:rPr lang="en-IN" sz="2400">
                    <a:solidFill>
                      <a:srgbClr val="111827"/>
                    </a:solidFill>
                    <a:latin typeface="Cambria Math" panose="02040503050406030204" pitchFamily="18" charset="0"/>
                  </a:rPr>
                  <a:t>$\frac{\partial F}{\partial c}\Big|_{c_0}=0$</a:t>
                </a:r>
                <a:r>
                  <a:rPr sz="2400" b="0">
                    <a:solidFill>
                      <a:srgbClr val="111827"/>
                    </a:solidFill>
                    <a:latin typeface="Arial"/>
                  </a:rPr>
                  <a:t> (the 'characteristic 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$\frac{\partial F}{\partial c}=x+10cy$</a:t>
                </a:r>
                <a:r>
                  <a:rPr sz="2400" b="0">
                    <a:solidFill>
                      <a:srgbClr val="111827"/>
                    </a:solidFill>
                    <a:latin typeface="Arial"/>
                  </a:rPr>
                  <a:t>, which at </a:t>
                </a:r>
                <a:r>
                  <a:rPr lang="en-IN" sz="2400">
                    <a:solidFill>
                      <a:srgbClr val="111827"/>
                    </a:solidFill>
                    <a:latin typeface="Cambria Math" panose="02040503050406030204" pitchFamily="18" charset="0"/>
                  </a:rPr>
                  <a:t>$c=1$</a:t>
                </a:r>
                <a:r>
                  <a:rPr sz="2400" b="0">
                    <a:solidFill>
                      <a:srgbClr val="111827"/>
                    </a:solidFill>
                    <a:latin typeface="Arial"/>
                  </a:rPr>
                  <a:t> gives </a:t>
                </a:r>
                <a:r>
                  <a:rPr lang="en-IN" sz="2400">
                    <a:solidFill>
                      <a:srgbClr val="111827"/>
                    </a:solidFill>
                    <a:latin typeface="Cambria Math" panose="02040503050406030204" pitchFamily="18" charset="0"/>
                  </a:rPr>
                  <a:t>$x+10y=0$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circle with centre </a:t>
                </a:r>
                <a:r>
                  <a:rPr lang="en-IN" sz="2400">
                    <a:solidFill>
                      <a:srgbClr val="111827"/>
                    </a:solidFill>
                    <a:latin typeface="Cambria Math" panose="02040503050406030204" pitchFamily="18" charset="0"/>
                  </a:rPr>
                  <a:t>$(h,k)$</a:t>
                </a:r>
                <a:r>
                  <a:rPr sz="2400" b="0">
                    <a:solidFill>
                      <a:srgbClr val="111827"/>
                    </a:solidFill>
                    <a:latin typeface="Arial"/>
                  </a:rPr>
                  <a:t> through </a:t>
                </a:r>
                <a:r>
                  <a:rPr lang="en-IN" sz="2400">
                    <a:solidFill>
                      <a:srgbClr val="111827"/>
                    </a:solidFill>
                    <a:latin typeface="Cambria Math" panose="02040503050406030204" pitchFamily="18" charset="0"/>
                  </a:rPr>
                  <a:t>$(x_0,y_0)$</a:t>
                </a:r>
                <a:r>
                  <a:rPr sz="2400" b="0">
                    <a:solidFill>
                      <a:srgbClr val="111827"/>
                    </a:solidFill>
                    <a:latin typeface="Arial"/>
                  </a:rPr>
                  <a:t>: </a:t>
                </a:r>
                <a:r>
                  <a:rPr lang="en-IN" sz="2400">
                    <a:solidFill>
                      <a:srgbClr val="111827"/>
                    </a:solidFill>
                    <a:latin typeface="Cambria Math" panose="02040503050406030204" pitchFamily="18" charset="0"/>
                  </a:rPr>
                  <a:t>$x^2+y^2-2hx-2ky+C=0$</a:t>
                </a:r>
                <a:r>
                  <a:rPr sz="2400" b="0">
                    <a:solidFill>
                      <a:srgbClr val="111827"/>
                    </a:solidFill>
                    <a:latin typeface="Arial"/>
                  </a:rPr>
                  <a:t> with </a:t>
                </a:r>
                <a:r>
                  <a:rPr lang="en-IN" sz="2400">
                    <a:solidFill>
                      <a:srgbClr val="111827"/>
                    </a:solidFill>
                    <a:latin typeface="Cambria Math" panose="02040503050406030204" pitchFamily="18" charset="0"/>
                  </a:rPr>
                  <a:t>$C=2hx_0+2ky_0-x_0^2-y_0^2$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$(2,0)$</a:t>
                </a:r>
                <a:r>
                  <a:rPr sz="2400" b="0">
                    <a:solidFill>
                      <a:srgbClr val="111827"/>
                    </a:solidFill>
                    <a:latin typeface="Arial"/>
                  </a:rPr>
                  <a:t> satisfies </a:t>
                </a:r>
                <a:r>
                  <a:rPr lang="en-IN" sz="2400">
                    <a:solidFill>
                      <a:srgbClr val="111827"/>
                    </a:solidFill>
                    <a:latin typeface="Cambria Math" panose="02040503050406030204" pitchFamily="18" charset="0"/>
                  </a:rPr>
                  <a:t>$25x^2+25y^2-20x+2y-60=0$</a:t>
                </a:r>
                <a:r>
                  <a:rPr sz="2400" b="0">
                    <a:solidFill>
                      <a:srgbClr val="111827"/>
                    </a:solidFill>
                    <a:latin typeface="Arial"/>
                  </a:rPr>
                  <a:t> since </a:t>
                </a:r>
                <a:r>
                  <a:rPr lang="en-IN" sz="2400">
                    <a:solidFill>
                      <a:srgbClr val="111827"/>
                    </a:solidFill>
                    <a:latin typeface="Cambria Math" panose="02040503050406030204" pitchFamily="18" charset="0"/>
                  </a:rPr>
                  <a:t>$100-40-60=0$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sup>
                        </m:sSup>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$\lim_{x\to0}\frac{e-(1+2x)^{\frac1{2x}}}x$</a:t>
                </a:r>
                <a:r>
                  <a:rPr sz="2400" b="0">
                    <a:solidFill>
                      <a:srgbClr val="111827"/>
                    </a:solidFill>
                    <a:latin typeface="Arial"/>
                  </a:rPr>
                  <a:t> is equal to :</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$e$</a:t>
                </a:r>
                <a:r>
                  <a:rPr sz="2400" b="0">
                    <a:solidFill>
                      <a:srgbClr val="111827"/>
                    </a:solidFill>
                    <a:latin typeface="Arial"/>
                  </a:rPr>
                  <a:t>   (B) </a:t>
                </a:r>
                <a:r>
                  <a:rPr lang="en-IN" sz="2400">
                    <a:solidFill>
                      <a:srgbClr val="111827"/>
                    </a:solidFill>
                    <a:latin typeface="Cambria Math" panose="02040503050406030204" pitchFamily="18" charset="0"/>
                  </a:rPr>
                  <a:t>$\frac{-2}e$</a:t>
                </a:r>
                <a:r>
                  <a:rPr sz="2400" b="0">
                    <a:solidFill>
                      <a:srgbClr val="111827"/>
                    </a:solidFill>
                    <a:latin typeface="Arial"/>
                  </a:rPr>
                  <a:t>   (C) </a:t>
                </a:r>
                <a:r>
                  <a:rPr lang="en-IN" sz="2400">
                    <a:solidFill>
                      <a:srgbClr val="111827"/>
                    </a:solidFill>
                    <a:latin typeface="Cambria Math" panose="02040503050406030204" pitchFamily="18" charset="0"/>
                  </a:rPr>
                  <a:t>$0$</a:t>
                </a:r>
                <a:r>
                  <a:rPr sz="2400" b="0">
                    <a:solidFill>
                      <a:srgbClr val="111827"/>
                    </a:solidFill>
                    <a:latin typeface="Arial"/>
                  </a:rPr>
                  <a:t>   (D) </a:t>
                </a:r>
                <a:r>
                  <a:rPr lang="en-IN" sz="2400">
                    <a:solidFill>
                      <a:srgbClr val="111827"/>
                    </a:solidFill>
                    <a:latin typeface="Cambria Math" panose="02040503050406030204" pitchFamily="18" charset="0"/>
                  </a:rPr>
                  <a:t>$e-e^2$</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Limit of 1-infinity type expression using expansion of (1+x)^(1/x)</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Factor out </a:t>
                </a:r>
                <a14:m>
                  <m:oMath xmlns:m="http://schemas.openxmlformats.org/officeDocument/2006/math">
                    <m:r>
                      <a:rPr lang="en-IN" sz="2400" i="1">
                        <a:solidFill>
                          <a:srgbClr val="78350F"/>
                        </a:solidFill>
                        <a:latin typeface="Cambria Math" panose="02040503050406030204" pitchFamily="18" charset="0"/>
                      </a:rPr>
                      <m:t>𝑒</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den>
                        </m:f>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𝑒</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ln</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den>
                        </m:f>
                      </m:sup>
                    </m:sSup>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ln</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Factor out </a:t>
                </a:r>
                <a:r>
                  <a:rPr lang="en-IN" sz="2400">
                    <a:solidFill>
                      <a:srgbClr val="78350F"/>
                    </a:solidFill>
                    <a:latin typeface="Cambria Math" panose="02040503050406030204" pitchFamily="18" charset="0"/>
                  </a:rPr>
                  <a:t>$e$</a:t>
                </a:r>
                <a:r>
                  <a:rPr sz="2400" b="0">
                    <a:solidFill>
                      <a:srgbClr val="78350F"/>
                    </a:solidFill>
                    <a:latin typeface="Arial"/>
                  </a:rPr>
                  <a:t>: </a:t>
                </a:r>
                <a:r>
                  <a:rPr lang="en-IN" sz="2400">
                    <a:solidFill>
                      <a:srgbClr val="78350F"/>
                    </a:solidFill>
                    <a:latin typeface="Cambria Math" panose="02040503050406030204" pitchFamily="18" charset="0"/>
                  </a:rPr>
                  <a:t>$(1+2x)^{\frac1{2x}}=e\cdot e^{\frac{\ln(1+2x)-2x}{2x}}$</a:t>
                </a:r>
                <a:r>
                  <a:rPr sz="2400" b="0">
                    <a:solidFill>
                      <a:srgbClr val="78350F"/>
                    </a:solidFill>
                    <a:latin typeface="Arial"/>
                  </a:rPr>
                  <a:t>, and </a:t>
                </a:r>
                <a:r>
                  <a:rPr lang="en-IN" sz="2400">
                    <a:solidFill>
                      <a:srgbClr val="78350F"/>
                    </a:solidFill>
                    <a:latin typeface="Cambria Math" panose="02040503050406030204" pitchFamily="18" charset="0"/>
                  </a:rPr>
                  <a:t>$\frac{\ln(1+2x)-2x}{2x}\sim-x$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sup>
                    </m:sSup>
                  </m:oMath>
                </a14:m>
                <a:r>
                  <a:rPr sz="2400" b="0">
                    <a:solidFill>
                      <a:srgbClr val="111827"/>
                    </a:solidFill>
                    <a:latin typeface="Arial"/>
                  </a:rPr>
                  <a:t>, so the limit is </a:t>
                </a:r>
                <a14:m>
                  <m:oMath xmlns:m="http://schemas.openxmlformats.org/officeDocument/2006/math">
                    <m:r>
                      <m:rPr>
                        <m:sty m:val="p"/>
                      </m:rPr>
                      <a:rPr lang="en-IN" sz="2400">
                        <a:solidFill>
                          <a:srgbClr val="111827"/>
                        </a:solidFill>
                        <a:latin typeface="Cambria Math" panose="02040503050406030204" pitchFamily="18" charset="0"/>
                      </a:rPr>
                      <m:t>lim</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sup>
                        </m:sSup>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a:t>
                </a: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 from the numerator: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𝑢</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limit is </a:t>
                </a:r>
                <a14:m>
                  <m:oMath xmlns:m="http://schemas.openxmlformats.org/officeDocument/2006/math">
                    <m:r>
                      <m:rPr>
                        <m:sty m:val="p"/>
                      </m:rPr>
                      <a:rPr lang="en-IN" sz="2400">
                        <a:solidFill>
                          <a:srgbClr val="111827"/>
                        </a:solidFill>
                        <a:latin typeface="Cambria Math" panose="02040503050406030204" pitchFamily="18" charset="0"/>
                      </a:rPr>
                      <m:t>lim</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$(1+2x)^{\frac1{2x}}=e^{\frac{\ln(1+2x)}{2x}}$</a:t>
                </a:r>
                <a:r>
                  <a:rPr sz="2400" b="0">
                    <a:solidFill>
                      <a:srgbClr val="111827"/>
                    </a:solidFill>
                    <a:latin typeface="Arial"/>
                  </a:rPr>
                  <a:t>, so the limit is </a:t>
                </a:r>
                <a:r>
                  <a:rPr lang="en-IN" sz="2400">
                    <a:solidFill>
                      <a:srgbClr val="111827"/>
                    </a:solidFill>
                    <a:latin typeface="Cambria Math" panose="02040503050406030204" pitchFamily="18" charset="0"/>
                  </a:rPr>
                  <a:t>$\lim\frac{e-e^{\frac{\ln(1+2x)}{2x}}}x$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a:t>
                </a:r>
                <a:r>
                  <a:rPr lang="en-IN" sz="2400">
                    <a:solidFill>
                      <a:srgbClr val="111827"/>
                    </a:solidFill>
                    <a:latin typeface="Cambria Math" panose="02040503050406030204" pitchFamily="18" charset="0"/>
                  </a:rPr>
                  <a:t>$e$</a:t>
                </a:r>
                <a:r>
                  <a:rPr sz="2400" b="0">
                    <a:solidFill>
                      <a:srgbClr val="111827"/>
                    </a:solidFill>
                    <a:latin typeface="Arial"/>
                  </a:rPr>
                  <a:t> from the numerator: </a:t>
                </a:r>
                <a:r>
                  <a:rPr lang="en-IN" sz="2400">
                    <a:solidFill>
                      <a:srgbClr val="111827"/>
                    </a:solidFill>
                    <a:latin typeface="Cambria Math" panose="02040503050406030204" pitchFamily="18" charset="0"/>
                  </a:rPr>
                  <a:t>$e-e^{u}=-e\left(e^{u-1}-1\right)$</a:t>
                </a:r>
                <a:r>
                  <a:rPr sz="2400" b="0">
                    <a:solidFill>
                      <a:srgbClr val="111827"/>
                    </a:solidFill>
                    <a:latin typeface="Arial"/>
                  </a:rPr>
                  <a:t> with </a:t>
                </a:r>
                <a:r>
                  <a:rPr lang="en-IN" sz="2400">
                    <a:solidFill>
                      <a:srgbClr val="111827"/>
                    </a:solidFill>
                    <a:latin typeface="Cambria Math" panose="02040503050406030204" pitchFamily="18" charset="0"/>
                  </a:rPr>
                  <a:t>$u=\frac{\ln(1+2x)}{2x}$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limit is </a:t>
                </a:r>
                <a:r>
                  <a:rPr lang="en-IN" sz="2400">
                    <a:solidFill>
                      <a:srgbClr val="111827"/>
                    </a:solidFill>
                    <a:latin typeface="Cambria Math" panose="02040503050406030204" pitchFamily="18" charset="0"/>
                  </a:rPr>
                  <a:t>$\lim(-e)\frac{e^{\frac{\ln(1+2x)}{2x}-1}-1}x$</a:t>
                </a:r>
                <a:r>
                  <a:rPr sz="2400" b="0">
                    <a:solidFill>
                      <a:srgbClr val="111827"/>
                    </a:solidFill>
                    <a:latin typeface="Arial"/>
                  </a:rPr>
                  <a:t>, and </a:t>
                </a:r>
                <a:r>
                  <a:rPr lang="en-IN" sz="2400">
                    <a:solidFill>
                      <a:srgbClr val="111827"/>
                    </a:solidFill>
                    <a:latin typeface="Cambria Math" panose="02040503050406030204" pitchFamily="18" charset="0"/>
                  </a:rPr>
                  <a:t>$\frac{\ln(1+2x)}{2x}-1=\frac{\ln(1+2x)-2x}{2x}\to0$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lim</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limit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$e^t-1\sim t$</a:t>
                </a:r>
                <a:r>
                  <a:rPr sz="2400" b="0">
                    <a:solidFill>
                      <a:srgbClr val="111827"/>
                    </a:solidFill>
                    <a:latin typeface="Arial"/>
                  </a:rPr>
                  <a:t>: </a:t>
                </a:r>
                <a:r>
                  <a:rPr lang="en-IN" sz="2400">
                    <a:solidFill>
                      <a:srgbClr val="111827"/>
                    </a:solidFill>
                    <a:latin typeface="Cambria Math" panose="02040503050406030204" pitchFamily="18" charset="0"/>
                  </a:rPr>
                  <a:t>$\lim(-e)\frac{\ln(1+2x)-2x}{2x^2}$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$\ln(1+2x)-2x\sim-\frac{(2x)^2}2=-2x^2$</a:t>
                </a:r>
                <a:r>
                  <a:rPr sz="2400" b="0">
                    <a:solidFill>
                      <a:srgbClr val="111827"/>
                    </a:solidFill>
                    <a:latin typeface="Arial"/>
                  </a:rPr>
                  <a:t>: </a:t>
                </a:r>
                <a:r>
                  <a:rPr lang="en-IN" sz="2400">
                    <a:solidFill>
                      <a:srgbClr val="111827"/>
                    </a:solidFill>
                    <a:latin typeface="Cambria Math" panose="02040503050406030204" pitchFamily="18" charset="0"/>
                  </a:rPr>
                  <a:t>$\frac{\ln(1+2x)-2x}{2x^2}\to-1$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limit is </a:t>
                </a:r>
                <a:r>
                  <a:rPr lang="en-IN" sz="2400">
                    <a:solidFill>
                      <a:srgbClr val="111827"/>
                    </a:solidFill>
                    <a:latin typeface="Cambria Math" panose="02040503050406030204" pitchFamily="18" charset="0"/>
                  </a:rPr>
                  <a:t>$(-e)(-1)=e$</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e</a:t>
            </a:r>
            <a:endParaRPr sz="2800">
              <a:solidFill>
                <a:srgbClr val="15803D"/>
              </a:solidFill>
            </a:endParaRP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limit is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sSup>
                      <m:e>
                        <m:r>
                          <m:rPr>
                            <m:sty m:val="p"/>
                          </m:rPr>
                          <a:rPr lang="en-IN" sz="2400">
                            <a:solidFill>
                              <a:srgbClr val="78350F"/>
                            </a:solidFill>
                            <a:latin typeface="Cambria Math" panose="02040503050406030204" pitchFamily="18" charset="0"/>
                          </a:rPr>
                          <m:t>)</m:t>
                        </m:r>
                      </m:e>
                      <m:sup>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den>
                        </m:f>
                      </m:sup>
                    </m:sSup>
                  </m:oMath>
                </a14:m>
                <a:r>
                  <a:rPr sz="2400" b="0">
                    <a:solidFill>
                      <a:srgbClr val="78350F"/>
                    </a:solidFill>
                    <a:latin typeface="Arial"/>
                  </a:rPr>
                  <a:t> extended by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𝑒</m:t>
                    </m:r>
                  </m:oMath>
                </a14:m>
                <a:r>
                  <a:rPr sz="2400" b="0">
                    <a:solidFill>
                      <a:srgbClr val="78350F"/>
                    </a:solidFill>
                    <a:latin typeface="Arial"/>
                  </a:rPr>
                  <a:t>; get </a:t>
                </a:r>
                <a14:m>
                  <m:oMath xmlns:m="http://schemas.openxmlformats.org/officeDocument/2006/math">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from the expansion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𝑒</m:t>
                    </m:r>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𝑡</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11</m:t>
                            </m:r>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24</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e>
                    </m: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limit is </a:t>
                </a:r>
                <a:r>
                  <a:rPr lang="en-IN" sz="2400">
                    <a:solidFill>
                      <a:srgbClr val="78350F"/>
                    </a:solidFill>
                    <a:latin typeface="Cambria Math" panose="02040503050406030204" pitchFamily="18" charset="0"/>
                  </a:rPr>
                  <a:t>$-g'(0)$</a:t>
                </a:r>
                <a:r>
                  <a:rPr sz="2400" b="0">
                    <a:solidFill>
                      <a:srgbClr val="78350F"/>
                    </a:solidFill>
                    <a:latin typeface="Arial"/>
                  </a:rPr>
                  <a:t> for </a:t>
                </a:r>
                <a:r>
                  <a:rPr lang="en-IN" sz="2400">
                    <a:solidFill>
                      <a:srgbClr val="78350F"/>
                    </a:solidFill>
                    <a:latin typeface="Cambria Math" panose="02040503050406030204" pitchFamily="18" charset="0"/>
                  </a:rPr>
                  <a:t>$g(x)=(1+2x)^{\frac1{2x}}$</a:t>
                </a:r>
                <a:r>
                  <a:rPr sz="2400" b="0">
                    <a:solidFill>
                      <a:srgbClr val="78350F"/>
                    </a:solidFill>
                    <a:latin typeface="Arial"/>
                  </a:rPr>
                  <a:t> extended by </a:t>
                </a:r>
                <a:r>
                  <a:rPr lang="en-IN" sz="2400">
                    <a:solidFill>
                      <a:srgbClr val="78350F"/>
                    </a:solidFill>
                    <a:latin typeface="Cambria Math" panose="02040503050406030204" pitchFamily="18" charset="0"/>
                  </a:rPr>
                  <a:t>$g(0)=e$</a:t>
                </a:r>
                <a:r>
                  <a:rPr sz="2400" b="0">
                    <a:solidFill>
                      <a:srgbClr val="78350F"/>
                    </a:solidFill>
                    <a:latin typeface="Arial"/>
                  </a:rPr>
                  <a:t>; get </a:t>
                </a:r>
                <a:r>
                  <a:rPr lang="en-IN" sz="2400">
                    <a:solidFill>
                      <a:srgbClr val="78350F"/>
                    </a:solidFill>
                    <a:latin typeface="Cambria Math" panose="02040503050406030204" pitchFamily="18" charset="0"/>
                  </a:rPr>
                  <a:t>$g'(0)$</a:t>
                </a:r>
                <a:r>
                  <a:rPr sz="2400" b="0">
                    <a:solidFill>
                      <a:srgbClr val="78350F"/>
                    </a:solidFill>
                    <a:latin typeface="Arial"/>
                  </a:rPr>
                  <a:t> from the expansion </a:t>
                </a:r>
                <a:r>
                  <a:rPr lang="en-IN" sz="2400">
                    <a:solidFill>
                      <a:srgbClr val="78350F"/>
                    </a:solidFill>
                    <a:latin typeface="Cambria Math" panose="02040503050406030204" pitchFamily="18" charset="0"/>
                  </a:rPr>
                  <a:t>$(1+t)^{1/t}=e\left(1-\frac t2+\frac{11t^2}{24}-\dots\right)$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(from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6</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$t=2x$</a:t>
                </a:r>
                <a:r>
                  <a:rPr sz="2400" b="0">
                    <a:solidFill>
                      <a:srgbClr val="111827"/>
                    </a:solidFill>
                    <a:latin typeface="Arial"/>
                  </a:rPr>
                  <a:t>: </a:t>
                </a:r>
                <a:r>
                  <a:rPr lang="en-IN" sz="2400">
                    <a:solidFill>
                      <a:srgbClr val="111827"/>
                    </a:solidFill>
                    <a:latin typeface="Cambria Math" panose="02040503050406030204" pitchFamily="18" charset="0"/>
                  </a:rPr>
                  <a:t>$(1+t)^{1/t}=e\left(1-\frac t2+\frac{11t^2}{24}-\dots\right)$</a:t>
                </a:r>
                <a:r>
                  <a:rPr sz="2400" b="0">
                    <a:solidFill>
                      <a:srgbClr val="111827"/>
                    </a:solidFill>
                    <a:latin typeface="Arial"/>
                  </a:rPr>
                  <a:t> (from </a:t>
                </a:r>
                <a:r>
                  <a:rPr lang="en-IN" sz="2400">
                    <a:solidFill>
                      <a:srgbClr val="111827"/>
                    </a:solidFill>
                    <a:latin typeface="Cambria Math" panose="02040503050406030204" pitchFamily="18" charset="0"/>
                  </a:rPr>
                  <a:t>$\frac{\ln(1+t)}t=1-\frac t2+\frac{t^2}3-\dots$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$g(x)=e\left(1-x+\frac{11x^2}6-\dots\right)$</a:t>
                </a:r>
                <a:r>
                  <a:rPr sz="2400" b="0">
                    <a:solidFill>
                      <a:srgbClr val="111827"/>
                    </a:solidFill>
                    <a:latin typeface="Arial"/>
                  </a:rPr>
                  <a:t> and </a:t>
                </a:r>
                <a:r>
                  <a:rPr lang="en-IN" sz="2400">
                    <a:solidFill>
                      <a:srgbClr val="111827"/>
                    </a:solidFill>
                    <a:latin typeface="Cambria Math" panose="02040503050406030204" pitchFamily="18" charset="0"/>
                  </a:rPr>
                  <a:t>$e-g(x)=ex-\frac{11e}6x^2+\dots$</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6</m:t>
                        </m:r>
                      </m:den>
                    </m:f>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statement: the limit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option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$\frac{e-g(x)}x=e-\frac{11e}6x+\dots\to 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statement: the limit is </a:t>
                </a:r>
                <a:r>
                  <a:rPr lang="en-IN" sz="2400">
                    <a:solidFill>
                      <a:srgbClr val="111827"/>
                    </a:solidFill>
                    <a:latin typeface="Cambria Math" panose="02040503050406030204" pitchFamily="18" charset="0"/>
                  </a:rPr>
                  <a:t>$-g'(0)=-e\cdot(-1)=e$</a:t>
                </a:r>
                <a:r>
                  <a:rPr sz="2400" b="0">
                    <a:solidFill>
                      <a:srgbClr val="111827"/>
                    </a:solidFill>
                    <a:latin typeface="Arial"/>
                  </a:rPr>
                  <a:t>, option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e</a:t>
            </a:r>
            <a:endParaRPr sz="2800">
              <a:solidFill>
                <a:srgbClr val="15803D"/>
              </a:solidFill>
            </a:endParaRP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up>
                        </m:sSup>
                      </m:num>
                      <m:den>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the limit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hence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num>
                      <m:den>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Generalisation: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𝑒</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numerically: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10</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up>
                    </m:sSup>
                  </m:oMath>
                </a14:m>
                <a:r>
                  <a:rPr sz="2400" b="0">
                    <a:solidFill>
                      <a:srgbClr val="111827"/>
                    </a:solidFill>
                    <a:latin typeface="Arial"/>
                  </a:rPr>
                  <a:t> the quotient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2.718</m:t>
                    </m:r>
                  </m:oMath>
                </a14:m>
                <a:r>
                  <a:rPr sz="2400" b="0">
                    <a:solidFill>
                      <a:srgbClr val="111827"/>
                    </a:solidFill>
                    <a:latin typeface="Arial"/>
                  </a:rPr>
                  <a:t> (value of </a:t>
                </a: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$(1+t)^{1/t}=e\left(1-\frac t2+\frac{11t^2}{24}-\dots\right)$</a:t>
                </a:r>
                <a:r>
                  <a:rPr sz="2400" b="0">
                    <a:solidFill>
                      <a:srgbClr val="111827"/>
                    </a:solidFill>
                    <a:latin typeface="Arial"/>
                  </a:rPr>
                  <a:t>, so </a:t>
                </a:r>
                <a:r>
                  <a:rPr lang="en-IN" sz="2400">
                    <a:solidFill>
                      <a:srgbClr val="111827"/>
                    </a:solidFill>
                    <a:latin typeface="Cambria Math" panose="02040503050406030204" pitchFamily="18" charset="0"/>
                  </a:rPr>
                  <a:t>$\frac{e-(1+t)^{1/t}}t\to\frac e2$</a:t>
                </a:r>
                <a:r>
                  <a:rPr sz="2400" b="0">
                    <a:solidFill>
                      <a:srgbClr val="111827"/>
                    </a:solidFill>
                    <a:latin typeface="Arial"/>
                  </a:rPr>
                  <a:t> and with </a:t>
                </a:r>
                <a:r>
                  <a:rPr lang="en-IN" sz="2400">
                    <a:solidFill>
                      <a:srgbClr val="111827"/>
                    </a:solidFill>
                    <a:latin typeface="Cambria Math" panose="02040503050406030204" pitchFamily="18" charset="0"/>
                  </a:rPr>
                  <a:t>$t=2x$</a:t>
                </a:r>
                <a:r>
                  <a:rPr sz="2400" b="0">
                    <a:solidFill>
                      <a:srgbClr val="111827"/>
                    </a:solidFill>
                    <a:latin typeface="Arial"/>
                  </a:rPr>
                  <a:t> the limit is </a:t>
                </a:r>
                <a:r>
                  <a:rPr lang="en-IN" sz="2400">
                    <a:solidFill>
                      <a:srgbClr val="111827"/>
                    </a:solidFill>
                    <a:latin typeface="Cambria Math" panose="02040503050406030204" pitchFamily="18" charset="0"/>
                  </a:rPr>
                  <a:t>$\frac e2\cdot2=e$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$\ln(1+t)=t-\frac{t^2}2+\frac{t^3}3-\dots$</a:t>
                </a:r>
                <a:r>
                  <a:rPr sz="2400" b="0">
                    <a:solidFill>
                      <a:srgbClr val="111827"/>
                    </a:solidFill>
                    <a:latin typeface="Arial"/>
                  </a:rPr>
                  <a:t>, hence </a:t>
                </a:r>
                <a:r>
                  <a:rPr lang="en-IN" sz="2400">
                    <a:solidFill>
                      <a:srgbClr val="111827"/>
                    </a:solidFill>
                    <a:latin typeface="Cambria Math" panose="02040503050406030204" pitchFamily="18" charset="0"/>
                  </a:rPr>
                  <a:t>$\frac{\ln(1+t)-t}{t^2}\to-\frac12$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Generalisation: </a:t>
                </a:r>
                <a:r>
                  <a:rPr lang="en-IN" sz="2400">
                    <a:solidFill>
                      <a:srgbClr val="111827"/>
                    </a:solidFill>
                    <a:latin typeface="Cambria Math" panose="02040503050406030204" pitchFamily="18" charset="0"/>
                  </a:rPr>
                  <a:t>$\lim_{x\to0}\frac{e-(1+kx)^{1/(kx)}}x=\frac{ke}2$</a:t>
                </a:r>
                <a:r>
                  <a:rPr sz="2400" b="0">
                    <a:solidFill>
                      <a:srgbClr val="111827"/>
                    </a:solidFill>
                    <a:latin typeface="Arial"/>
                  </a:rPr>
                  <a:t> (here </a:t>
                </a:r>
                <a:r>
                  <a:rPr lang="en-IN" sz="2400">
                    <a:solidFill>
                      <a:srgbClr val="111827"/>
                    </a:solidFill>
                    <a:latin typeface="Cambria Math" panose="02040503050406030204" pitchFamily="18" charset="0"/>
                  </a:rPr>
                  <a:t>$k=2$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numerically: at </a:t>
                </a:r>
                <a:r>
                  <a:rPr lang="en-IN" sz="2400">
                    <a:solidFill>
                      <a:srgbClr val="111827"/>
                    </a:solidFill>
                    <a:latin typeface="Cambria Math" panose="02040503050406030204" pitchFamily="18" charset="0"/>
                  </a:rPr>
                  <a:t>$x=10^{-4}$</a:t>
                </a:r>
                <a:r>
                  <a:rPr sz="2400" b="0">
                    <a:solidFill>
                      <a:srgbClr val="111827"/>
                    </a:solidFill>
                    <a:latin typeface="Arial"/>
                  </a:rPr>
                  <a:t> the quotient is </a:t>
                </a:r>
                <a:r>
                  <a:rPr lang="en-IN" sz="2400">
                    <a:solidFill>
                      <a:srgbClr val="111827"/>
                    </a:solidFill>
                    <a:latin typeface="Cambria Math" panose="02040503050406030204" pitchFamily="18" charset="0"/>
                  </a:rPr>
                  <a:t>$\approx2.718$</a:t>
                </a:r>
                <a:r>
                  <a:rPr sz="2400" b="0">
                    <a:solidFill>
                      <a:srgbClr val="111827"/>
                    </a:solidFill>
                    <a:latin typeface="Arial"/>
                  </a:rPr>
                  <a:t> (value of </a:t>
                </a:r>
                <a:r>
                  <a:rPr lang="en-IN" sz="2400">
                    <a:solidFill>
                      <a:srgbClr val="111827"/>
                    </a:solidFill>
                    <a:latin typeface="Cambria Math" panose="02040503050406030204" pitchFamily="18" charset="0"/>
                  </a:rPr>
                  <a:t>$e$</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One or More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(4/4)</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2.15</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2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13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5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20 questions, 80 marks.  Index = Σ(marks × level) ÷ Σ marks, on the 0-5 scale.</a:t>
            </a:r>
            <a:endParaRPr sz="2400">
              <a:solidFill>
                <a:srgbClr val="111827"/>
              </a:solidFill>
            </a:endParaRP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JEE Main Question Bank 01 Inverse Trigonometric Functions and Limits · detailed solutions</a:t>
                      </a:r>
                    </a:p>
                  </a:txBody>
                  <a:tcPr anchor="ctr" marL="137160" marR="137160">
                    <a:solidFill>
                      <a:srgbClr val="E0ECFF"/>
                    </a:solidFill>
                  </a:tcPr>
                </a:tc>
                <a:tc>
                  <a:txBody>
                    <a:bodyPr/>
                    <a:lstStyle/>
                    <a:p>
                      <a:pPr algn="ctr"/>
                      <a:r>
                        <a:rPr sz="2600" b="1">
                          <a:solidFill>
                            <a:srgbClr val="0B1F3A"/>
                          </a:solidFill>
                          <a:latin typeface="Arial"/>
                        </a:rPr>
                        <a:t>2.15</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