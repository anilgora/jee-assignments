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Level</c:v>
                </c:pt>
              </c:strCache>
            </c:strRef>
          </c:tx>
          <c:dPt>
            <c:idx val="0"/>
            <c:spPr>
              <a:solidFill>
                <a:srgbClr val="FFD966"/>
              </a:solidFill>
              <a:ln w="9525">
                <a:solidFill>
                  <a:srgbClr val="111827"/>
                </a:solidFill>
              </a:ln>
            </c:spPr>
          </c:dPt>
          <c:dPt>
            <c:idx val="1"/>
            <c:spPr>
              <a:solidFill>
                <a:srgbClr val="B6D7A8"/>
              </a:solidFill>
              <a:ln w="9525">
                <a:solidFill>
                  <a:srgbClr val="111827"/>
                </a:solidFill>
              </a:ln>
            </c:spPr>
          </c:dPt>
          <c:dPt>
            <c:idx val="2"/>
            <c:spPr>
              <a:solidFill>
                <a:srgbClr val="FFD966"/>
              </a:solidFill>
              <a:ln w="9525">
                <a:solidFill>
                  <a:srgbClr val="111827"/>
                </a:solidFill>
              </a:ln>
            </c:spPr>
          </c:dPt>
          <c:dPt>
            <c:idx val="3"/>
            <c:spPr>
              <a:solidFill>
                <a:srgbClr val="F6B26B"/>
              </a:solidFill>
              <a:ln w="9525">
                <a:solidFill>
                  <a:srgbClr val="111827"/>
                </a:solidFill>
              </a:ln>
            </c:spPr>
          </c:dPt>
          <c:dPt>
            <c:idx val="4"/>
            <c:spPr>
              <a:solidFill>
                <a:srgbClr val="F6B26B"/>
              </a:solidFill>
              <a:ln w="9525">
                <a:solidFill>
                  <a:srgbClr val="111827"/>
                </a:solidFill>
              </a:ln>
            </c:spPr>
          </c:dPt>
          <c:dPt>
            <c:idx val="5"/>
            <c:spPr>
              <a:solidFill>
                <a:srgbClr val="FFD966"/>
              </a:solidFill>
              <a:ln w="9525">
                <a:solidFill>
                  <a:srgbClr val="111827"/>
                </a:solidFill>
              </a:ln>
            </c:spPr>
          </c:dPt>
          <c:dPt>
            <c:idx val="6"/>
            <c:spPr>
              <a:solidFill>
                <a:srgbClr val="FFD966"/>
              </a:solidFill>
              <a:ln w="9525">
                <a:solidFill>
                  <a:srgbClr val="111827"/>
                </a:solidFill>
              </a:ln>
            </c:spPr>
          </c:dPt>
          <c:dPt>
            <c:idx val="7"/>
            <c:spPr>
              <a:solidFill>
                <a:srgbClr val="FFD966"/>
              </a:solidFill>
              <a:ln w="9525">
                <a:solidFill>
                  <a:srgbClr val="111827"/>
                </a:solidFill>
              </a:ln>
            </c:spPr>
          </c:dPt>
          <c:dPt>
            <c:idx val="8"/>
            <c:spPr>
              <a:solidFill>
                <a:srgbClr val="FFD966"/>
              </a:solidFill>
              <a:ln w="9525">
                <a:solidFill>
                  <a:srgbClr val="111827"/>
                </a:solidFill>
              </a:ln>
            </c:spPr>
          </c:dPt>
          <c:dPt>
            <c:idx val="9"/>
            <c:spPr>
              <a:solidFill>
                <a:srgbClr val="FFD966"/>
              </a:solidFill>
              <a:ln w="9525">
                <a:solidFill>
                  <a:srgbClr val="111827"/>
                </a:solidFill>
              </a:ln>
            </c:spPr>
          </c:dPt>
          <c:dPt>
            <c:idx val="10"/>
            <c:spPr>
              <a:solidFill>
                <a:srgbClr val="FFD966"/>
              </a:solidFill>
              <a:ln w="9525">
                <a:solidFill>
                  <a:srgbClr val="111827"/>
                </a:solidFill>
              </a:ln>
            </c:spPr>
          </c:dPt>
          <c:dPt>
            <c:idx val="11"/>
            <c:spPr>
              <a:solidFill>
                <a:srgbClr val="F6B26B"/>
              </a:solidFill>
              <a:ln w="9525">
                <a:solidFill>
                  <a:srgbClr val="111827"/>
                </a:solidFill>
              </a:ln>
            </c:spPr>
          </c:dPt>
          <c:dPt>
            <c:idx val="12"/>
            <c:spPr>
              <a:solidFill>
                <a:srgbClr val="F6B26B"/>
              </a:solidFill>
              <a:ln w="9525">
                <a:solidFill>
                  <a:srgbClr val="111827"/>
                </a:solidFill>
              </a:ln>
            </c:spPr>
          </c:dPt>
          <c:dPt>
            <c:idx val="13"/>
            <c:spPr>
              <a:solidFill>
                <a:srgbClr val="FFD966"/>
              </a:solidFill>
              <a:ln w="9525">
                <a:solidFill>
                  <a:srgbClr val="111827"/>
                </a:solidFill>
              </a:ln>
            </c:spPr>
          </c:dPt>
          <c:dPt>
            <c:idx val="14"/>
            <c:spPr>
              <a:solidFill>
                <a:srgbClr val="FFD966"/>
              </a:solidFill>
              <a:ln w="9525">
                <a:solidFill>
                  <a:srgbClr val="111827"/>
                </a:solidFill>
              </a:ln>
            </c:spPr>
          </c:dPt>
          <c:dPt>
            <c:idx val="15"/>
            <c:spPr>
              <a:solidFill>
                <a:srgbClr val="FFD966"/>
              </a:solidFill>
              <a:ln w="9525">
                <a:solidFill>
                  <a:srgbClr val="111827"/>
                </a:solidFill>
              </a:ln>
            </c:spPr>
          </c:dPt>
          <c:dPt>
            <c:idx val="16"/>
            <c:spPr>
              <a:solidFill>
                <a:srgbClr val="F6B26B"/>
              </a:solidFill>
              <a:ln w="9525">
                <a:solidFill>
                  <a:srgbClr val="111827"/>
                </a:solidFill>
              </a:ln>
            </c:spPr>
          </c:dPt>
          <c:dPt>
            <c:idx val="17"/>
            <c:spPr>
              <a:solidFill>
                <a:srgbClr val="F6B26B"/>
              </a:solidFill>
              <a:ln w="9525">
                <a:solidFill>
                  <a:srgbClr val="111827"/>
                </a:solidFill>
              </a:ln>
            </c:spPr>
          </c:dPt>
          <c:dPt>
            <c:idx val="18"/>
            <c:spPr>
              <a:solidFill>
                <a:srgbClr val="FFD966"/>
              </a:solidFill>
              <a:ln w="9525">
                <a:solidFill>
                  <a:srgbClr val="111827"/>
                </a:solidFill>
              </a:ln>
            </c:spPr>
          </c:dPt>
          <c:dPt>
            <c:idx val="19"/>
            <c:spPr>
              <a:solidFill>
                <a:srgbClr val="F6B26B"/>
              </a:solidFill>
              <a:ln w="9525">
                <a:solidFill>
                  <a:srgbClr val="111827"/>
                </a:solidFill>
              </a:ln>
            </c:spPr>
          </c:dPt>
          <c:cat>
            <c:strRef>
              <c:f>Sheet1!$A$2:$A$21</c:f>
              <c:strCache>
                <c:ptCount val="20"/>
                <c:pt idx="0">
                  <c:v>Q1</c:v>
                </c:pt>
                <c:pt idx="1">
                  <c:v>Q2</c:v>
                </c:pt>
                <c:pt idx="2">
                  <c:v>Q3</c:v>
                </c:pt>
                <c:pt idx="3">
                  <c:v>Q4</c:v>
                </c:pt>
                <c:pt idx="4">
                  <c:v>Q5</c:v>
                </c:pt>
                <c:pt idx="5">
                  <c:v>Q6</c:v>
                </c:pt>
                <c:pt idx="6">
                  <c:v>Q7</c:v>
                </c:pt>
                <c:pt idx="7">
                  <c:v>Q8</c:v>
                </c:pt>
                <c:pt idx="8">
                  <c:v>Q9</c:v>
                </c:pt>
                <c:pt idx="9">
                  <c:v>Q10</c:v>
                </c:pt>
                <c:pt idx="10">
                  <c:v>Q11</c:v>
                </c:pt>
                <c:pt idx="11">
                  <c:v>Q12</c:v>
                </c:pt>
                <c:pt idx="12">
                  <c:v>Q13</c:v>
                </c:pt>
                <c:pt idx="13">
                  <c:v>Q14</c:v>
                </c:pt>
                <c:pt idx="14">
                  <c:v>Q15</c:v>
                </c:pt>
                <c:pt idx="15">
                  <c:v>Q16</c:v>
                </c:pt>
                <c:pt idx="16">
                  <c:v>Q17</c:v>
                </c:pt>
                <c:pt idx="17">
                  <c:v>Q18</c:v>
                </c:pt>
                <c:pt idx="18">
                  <c:v>Q19</c:v>
                </c:pt>
                <c:pt idx="19">
                  <c:v>Q20</c:v>
                </c:pt>
              </c:strCache>
            </c:strRef>
          </c:cat>
          <c:val>
            <c:numRef>
              <c:f>Sheet1!$B$2:$B$21</c:f>
              <c:numCache>
                <c:formatCode>General</c:formatCode>
                <c:ptCount val="20"/>
                <c:pt idx="0">
                  <c:v>2.0</c:v>
                </c:pt>
                <c:pt idx="1">
                  <c:v>1.0</c:v>
                </c:pt>
                <c:pt idx="2">
                  <c:v>2.0</c:v>
                </c:pt>
                <c:pt idx="3">
                  <c:v>3.0</c:v>
                </c:pt>
                <c:pt idx="4">
                  <c:v>3.0</c:v>
                </c:pt>
                <c:pt idx="5">
                  <c:v>2.0</c:v>
                </c:pt>
                <c:pt idx="6">
                  <c:v>2.0</c:v>
                </c:pt>
                <c:pt idx="7">
                  <c:v>2.0</c:v>
                </c:pt>
                <c:pt idx="8">
                  <c:v>2.0</c:v>
                </c:pt>
                <c:pt idx="9">
                  <c:v>2.0</c:v>
                </c:pt>
                <c:pt idx="10">
                  <c:v>2.0</c:v>
                </c:pt>
                <c:pt idx="11">
                  <c:v>3.0</c:v>
                </c:pt>
                <c:pt idx="12">
                  <c:v>3.0</c:v>
                </c:pt>
                <c:pt idx="13">
                  <c:v>2.0</c:v>
                </c:pt>
                <c:pt idx="14">
                  <c:v>2.0</c:v>
                </c:pt>
                <c:pt idx="15">
                  <c:v>2.0</c:v>
                </c:pt>
                <c:pt idx="16">
                  <c:v>3.0</c:v>
                </c:pt>
                <c:pt idx="17">
                  <c:v>3.0</c:v>
                </c:pt>
                <c:pt idx="18">
                  <c:v>2.0</c:v>
                </c:pt>
                <c:pt idx="19">
                  <c:v>3.0</c:v>
                </c:pt>
              </c:numCache>
            </c:numRef>
          </c:val>
        </c:ser>
        <c:dLbls>
          <c:numFmt formatCode="0.0#" sourceLinked="0"/>
          <c:txPr>
            <a:bodyPr/>
            <a:lstStyle/>
            <a:p>
              <a:pPr>
                <a:defRPr sz="2000" b="1">
                  <a:solidFill>
                    <a:srgbClr val="111827"/>
                  </a:solidFill>
                  <a:latin typeface="Arial"/>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txPr>
          <a:bodyPr/>
          <a:lstStyle/>
          <a:p>
            <a:pPr>
              <a:defRPr sz="2000" b="1">
                <a:latin typeface="Arial"/>
              </a:defRPr>
            </a:pPr>
          </a:p>
        </c:txPr>
        <c:crossAx val="-2113994440"/>
        <c:crosses val="autoZero"/>
        <c:auto val="1"/>
        <c:lblAlgn val="ctr"/>
        <c:lblOffset val="100"/>
        <c:noMultiLvlLbl val="0"/>
      </c:catAx>
      <c:valAx>
        <c:axId val="-2113994440"/>
        <c:scaling>
          <c:max val="5.5"/>
          <c:min val="0.0"/>
        </c:scaling>
        <c:delete val="0"/>
        <c:axPos val="l"/>
        <c:majorGridlines>
          <c:spPr>
            <a:ln>
              <a:solidFill>
                <a:srgbClr val="D1D5DB"/>
              </a:solidFill>
            </a:ln>
          </c:spPr>
        </c:majorGridlines>
        <c:title>
          <c:tx>
            <c:rich>
              <a:bodyPr/>
              <a:lstStyle/>
              <a:p>
                <a:r>
                  <a:rPr sz="2000"/>
                  <a:t>Level</a:t>
                </a:r>
              </a:p>
            </c:rich>
          </c:tx>
          <c:layout/>
          <c:overlay val="0"/>
        </c:title>
        <c:majorTickMark val="out"/>
        <c:minorTickMark val="none"/>
        <c:tickLblPos val="nextTo"/>
        <c:txPr>
          <a:bodyPr/>
          <a:lstStyle/>
          <a:p>
            <a:pPr>
              <a:defRPr sz="2000">
                <a:latin typeface="Arial"/>
              </a:defRPr>
            </a:pPr>
          </a:p>
        </c:txPr>
        <c:crossAx val="-2068027336"/>
        <c:crosses val="autoZero"/>
        <c:majorUnit val="1.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writes $3125=2124+1$ (and then $[11k\times19+1]$); $3125-1=3124=11\cdot284$, so '2124' is a typo for 3124, and $(11\cdot284+1)^{19}$ is simply $11k+1$ by the binomial theorem. Corrected both lines; the answer 9 is unchanged.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writes the base as $(\sqrt4-6/x^{3/2})^4$ (should be $\sqrt x$) and the coefficient as ${}^4C_1(-6)^3$ (the term is $k=3$, ${}^4C_3(-6)^3$; numerically equal since ${}^4C_1={}^4C_3$), and says 'by observation' for $n=4$ without excluding $n=8,12$. Corrected the base and the index and added the exclusion of $n=8,12$. Answer 36 is unchanged.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lists 'n = 1, 7, 13, 20, ..... 97' ('20' is a typo for 19), does not justify the period 6, and does not drop $n=1,7$ which lie outside $[10,100]$ before counting 15. Added the cycle of residues, fixed 20 to 19 and excluded 1 and 7. Answer 15 is unchanged.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writes '$z_1^2+z_2^2+z_3^2=3z_6^2$' (typo for $3z_0^2$) and uses $\sum z_iz_j=\sum z_i^2$ without stating that it is the equilateral-triangle condition. Corrected the typo and stated the condition; answer 0 unchanged.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concludes '$\alpha=5,\ \beta=2$' from $5-2\sqrt2$; since $5-2\sqrt2=\alpha+\beta\sqrt2$ gives $\beta=-2$. The sign slip does not change $\alpha^2+\beta^2=29$. Corrected to $\beta=-2$.</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a:lstStyle>
            <a:lvl1pPr>
              <a:defRPr sz="4000">
                <a:solidFill>
                  <a:srgbClr val="FFFFFF"/>
                </a:solidFill>
              </a:defRPr>
            </a:lvl1pPr>
          </a:lstStyle>
          <a:p>
            <a:pPr algn="ctr">
              <a:defRPr sz="4000">
                <a:solidFill>
                  <a:srgbClr val="FFFFFF"/>
                </a:solidFill>
              </a:defRPr>
            </a:pPr>
            <a:r>
              <a:rPr sz="4000" b="1">
                <a:solidFill>
                  <a:srgbClr val="FFFFFF"/>
                </a:solidFill>
                <a:latin typeface="Arial"/>
              </a:rPr>
              <a:t>JEE Main Question Bank – Algebra 16 — Paper Analysis</a:t>
            </a:r>
            <a:endParaRPr sz="4000">
              <a:solidFill>
                <a:srgbClr val="FFFFFF"/>
              </a:solidFill>
            </a:endParaRPr>
          </a:p>
          <a:p>
            <a:pPr algn="ctr"/>
            <a:r>
              <a:rPr sz="2200">
                <a:solidFill>
                  <a:srgbClr val="FFFFFF"/>
                </a:solidFill>
                <a:latin typeface="Arial"/>
              </a:rPr>
              <a:t>Binomial Theorem and Complex Numbers (Q301–Q320) · detailed solutions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1</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Q01 – Q07</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marks each (JEE Advanced default; no marks printed in the paper)</a:t>
            </a:r>
            <a:endParaRPr sz="2800">
              <a:solidFill>
                <a:srgbClr val="FFFFFF"/>
              </a:solidFill>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11785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be the smallest number such that the expansion of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den>
                            </m:f>
                          </m:e>
                        </m:d>
                      </m:e>
                      <m:sup>
                        <m:r>
                          <a:rPr lang="en-IN" sz="2400" i="1">
                            <a:solidFill>
                              <a:srgbClr val="111827"/>
                            </a:solidFill>
                            <a:latin typeface="Cambria Math" panose="02040503050406030204" pitchFamily="18" charset="0"/>
                          </a:rPr>
                          <m:t>30</m:t>
                        </m:r>
                      </m:sup>
                    </m:sSup>
                  </m:oMath>
                </a14:m>
                <a:r>
                  <a:rPr sz="2400" b="0">
                    <a:solidFill>
                      <a:srgbClr val="111827"/>
                    </a:solidFill>
                    <a:latin typeface="Arial"/>
                  </a:rPr>
                  <a:t> has a term </a:t>
                </a:r>
                <a14:m>
                  <m:oMath xmlns:m="http://schemas.openxmlformats.org/officeDocument/2006/math">
                    <m:r>
                      <a:rPr lang="en-IN" sz="2400" i="1">
                        <a:solidFill>
                          <a:srgbClr val="111827"/>
                        </a:solidFill>
                        <a:latin typeface="Cambria Math" panose="02040503050406030204" pitchFamily="18" charset="0"/>
                      </a:rPr>
                      <m:t>β</m:t>
                    </m:r>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is equal to ______ .</a:t>
                </a:r>
                <a:endParaRPr sz="2400">
                  <a:solidFill>
                    <a:srgbClr val="111827"/>
                  </a:solidFill>
                </a:endParaRPr>
              </a:p>
            </p:txBody>
          </p:sp>
        </mc:Choice>
        <mc:Fallback>
          <p:sp>
            <p:nvSpPr>
              <p:cNvPr id="4" name="Rounded Rectangle 3"/>
              <p:cNvSpPr/>
              <p:nvPr/>
            </p:nvSpPr>
            <p:spPr>
              <a:xfrm>
                <a:off x="731520" y="1280160"/>
                <a:ext cx="10725912" cy="211785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$\alpha&gt;0$</a:t>
                </a:r>
                <a:r>
                  <a:rPr sz="2400" b="0">
                    <a:solidFill>
                      <a:srgbClr val="111827"/>
                    </a:solidFill>
                    <a:latin typeface="Arial"/>
                  </a:rPr>
                  <a:t> be the smallest number such that the expansion of </a:t>
                </a:r>
                <a:r>
                  <a:rPr lang="en-IN" sz="2400">
                    <a:solidFill>
                      <a:srgbClr val="111827"/>
                    </a:solidFill>
                    <a:latin typeface="Cambria Math" panose="02040503050406030204" pitchFamily="18" charset="0"/>
                  </a:rPr>
                  <a:t>$\left(x^{2/3}+\frac{2}{x^{3}}\right)^{30}$</a:t>
                </a:r>
                <a:r>
                  <a:rPr sz="2400" b="0">
                    <a:solidFill>
                      <a:srgbClr val="111827"/>
                    </a:solidFill>
                    <a:latin typeface="Arial"/>
                  </a:rPr>
                  <a:t> has a term </a:t>
                </a:r>
                <a:r>
                  <a:rPr lang="en-IN" sz="2400">
                    <a:solidFill>
                      <a:srgbClr val="111827"/>
                    </a:solidFill>
                    <a:latin typeface="Cambria Math" panose="02040503050406030204" pitchFamily="18" charset="0"/>
                  </a:rPr>
                  <a:t>$\beta x^{-\alpha}$</a:t>
                </a:r>
                <a:r>
                  <a:rPr sz="2400" b="0">
                    <a:solidFill>
                      <a:srgbClr val="111827"/>
                    </a:solidFill>
                    <a:latin typeface="Arial"/>
                  </a:rPr>
                  <a:t>, </a:t>
                </a:r>
                <a:r>
                  <a:rPr lang="en-IN" sz="2400">
                    <a:solidFill>
                      <a:srgbClr val="111827"/>
                    </a:solidFill>
                    <a:latin typeface="Cambria Math" panose="02040503050406030204" pitchFamily="18" charset="0"/>
                  </a:rPr>
                  <a:t>$\beta\in\mathbb{N}$</a:t>
                </a:r>
                <a:r>
                  <a:rPr sz="2400" b="0">
                    <a:solidFill>
                      <a:srgbClr val="111827"/>
                    </a:solidFill>
                    <a:latin typeface="Arial"/>
                  </a:rPr>
                  <a:t>. Then </a:t>
                </a:r>
                <a:r>
                  <a:rPr lang="en-IN" sz="2400">
                    <a:solidFill>
                      <a:srgbClr val="111827"/>
                    </a:solidFill>
                    <a:latin typeface="Cambria Math" panose="02040503050406030204" pitchFamily="18" charset="0"/>
                  </a:rPr>
                  <a:t>$\alpha$</a:t>
                </a:r>
                <a:r>
                  <a:rPr sz="2400" b="0">
                    <a:solidFill>
                      <a:srgbClr val="111827"/>
                    </a:solidFill>
                    <a:latin typeface="Arial"/>
                  </a:rPr>
                  <a:t> is equal to ______ .</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626611"/>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General term of a binomial expansion and the exponent of </a:t>
                </a:r>
                <a14:m>
                  <m:oMath xmlns:m="http://schemas.openxmlformats.org/officeDocument/2006/math">
                    <m:r>
                      <a:rPr lang="en-IN" sz="2400" i="1">
                        <a:solidFill>
                          <a:srgbClr val="111827"/>
                        </a:solidFill>
                        <a:latin typeface="Cambria Math" panose="02040503050406030204" pitchFamily="18" charset="0"/>
                      </a:rPr>
                      <m:t>𝑥</m:t>
                    </m:r>
                  </m:oMath>
                </a14:m>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Choice>
        <mc:Fallback>
          <p:sp>
            <p:nvSpPr>
              <p:cNvPr id="5" name="Rectangle 4"/>
              <p:cNvSpPr/>
              <p:nvPr/>
            </p:nvSpPr>
            <p:spPr>
              <a:xfrm>
                <a:off x="731520" y="3626611"/>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General term of a binomial expansion and the exponent of </a:t>
                </a:r>
                <a:r>
                  <a:rPr lang="en-IN" sz="2400">
                    <a:solidFill>
                      <a:srgbClr val="111827"/>
                    </a:solidFill>
                    <a:latin typeface="Cambria Math" panose="02040503050406030204" pitchFamily="18" charset="0"/>
                  </a:rPr>
                  <a:t>$x$</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Fallback>
      </mc:AlternateContent>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exponent of </a:t>
                </a:r>
                <a14:m>
                  <m:oMath xmlns:m="http://schemas.openxmlformats.org/officeDocument/2006/math">
                    <m:r>
                      <a:rPr lang="en-IN" sz="2400" i="1">
                        <a:solidFill>
                          <a:srgbClr val="78350F"/>
                        </a:solidFill>
                        <a:latin typeface="Cambria Math" panose="02040503050406030204" pitchFamily="18" charset="0"/>
                      </a:rPr>
                      <m:t>𝑥</m:t>
                    </m:r>
                  </m:oMath>
                </a14:m>
                <a:r>
                  <a:rPr sz="2400" b="0">
                    <a:solidFill>
                      <a:srgbClr val="78350F"/>
                    </a:solidFill>
                    <a:latin typeface="Arial"/>
                  </a:rPr>
                  <a:t> in </a:t>
                </a:r>
                <a14:m>
                  <m:oMath xmlns:m="http://schemas.openxmlformats.org/officeDocument/2006/math">
                    <m:sSub>
                      <m:e>
                        <m:r>
                          <a:rPr lang="en-IN" sz="2400" i="1">
                            <a:solidFill>
                              <a:srgbClr val="78350F"/>
                            </a:solidFill>
                            <a:latin typeface="Cambria Math" panose="02040503050406030204" pitchFamily="18" charset="0"/>
                          </a:rPr>
                          <m:t>𝑇</m:t>
                        </m:r>
                      </m:e>
                      <m:sub>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b>
                    </m:sSub>
                  </m:oMath>
                </a14:m>
                <a:r>
                  <a:rPr sz="2400" b="0">
                    <a:solidFill>
                      <a:srgbClr val="78350F"/>
                    </a:solidFill>
                    <a:latin typeface="Arial"/>
                  </a:rPr>
                  <a:t> is linear in </a:t>
                </a:r>
                <a14:m>
                  <m:oMath xmlns:m="http://schemas.openxmlformats.org/officeDocument/2006/math">
                    <m:r>
                      <a:rPr lang="en-IN" sz="2400" i="1">
                        <a:solidFill>
                          <a:srgbClr val="78350F"/>
                        </a:solidFill>
                        <a:latin typeface="Cambria Math" panose="02040503050406030204" pitchFamily="18" charset="0"/>
                      </a:rPr>
                      <m:t>𝑟</m:t>
                    </m:r>
                  </m:oMath>
                </a14:m>
                <a:r>
                  <a:rPr sz="2400" b="0">
                    <a:solidFill>
                      <a:srgbClr val="78350F"/>
                    </a:solidFill>
                    <a:latin typeface="Arial"/>
                  </a:rPr>
                  <a:t>, so the smallest </a:t>
                </a:r>
                <a14:m>
                  <m:oMath xmlns:m="http://schemas.openxmlformats.org/officeDocument/2006/math">
                    <m:r>
                      <a:rPr lang="en-IN" sz="2400" i="1">
                        <a:solidFill>
                          <a:srgbClr val="78350F"/>
                        </a:solidFill>
                        <a:latin typeface="Cambria Math" panose="02040503050406030204" pitchFamily="18" charset="0"/>
                      </a:rPr>
                      <m:t>α</m:t>
                    </m:r>
                    <m:r>
                      <m:rPr>
                        <m:sty m:val="p"/>
                      </m:rPr>
                      <a:rPr lang="en-IN" sz="2400">
                        <a:solidFill>
                          <a:srgbClr val="78350F"/>
                        </a:solidFill>
                        <a:latin typeface="Cambria Math" panose="02040503050406030204" pitchFamily="18" charset="0"/>
                      </a:rPr>
                      <m:t>&gt;</m:t>
                    </m:r>
                    <m:r>
                      <a:rPr lang="en-IN" sz="2400" i="1">
                        <a:solidFill>
                          <a:srgbClr val="78350F"/>
                        </a:solidFill>
                        <a:latin typeface="Cambria Math" panose="02040503050406030204" pitchFamily="18" charset="0"/>
                      </a:rPr>
                      <m:t>0</m:t>
                    </m:r>
                  </m:oMath>
                </a14:m>
                <a:r>
                  <a:rPr sz="2400" b="0">
                    <a:solidFill>
                      <a:srgbClr val="78350F"/>
                    </a:solidFill>
                    <a:latin typeface="Arial"/>
                  </a:rPr>
                  <a:t> comes from the first </a:t>
                </a:r>
                <a14:m>
                  <m:oMath xmlns:m="http://schemas.openxmlformats.org/officeDocument/2006/math">
                    <m:r>
                      <a:rPr lang="en-IN" sz="2400" i="1">
                        <a:solidFill>
                          <a:srgbClr val="78350F"/>
                        </a:solidFill>
                        <a:latin typeface="Cambria Math" panose="02040503050406030204" pitchFamily="18" charset="0"/>
                      </a:rPr>
                      <m:t>𝑟</m:t>
                    </m:r>
                  </m:oMath>
                </a14:m>
                <a:r>
                  <a:rPr sz="2400" b="0">
                    <a:solidFill>
                      <a:srgbClr val="78350F"/>
                    </a:solidFill>
                    <a:latin typeface="Arial"/>
                  </a:rPr>
                  <a:t> making it negative.</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exponent of </a:t>
                </a:r>
                <a:r>
                  <a:rPr lang="en-IN" sz="2400">
                    <a:solidFill>
                      <a:srgbClr val="78350F"/>
                    </a:solidFill>
                    <a:latin typeface="Cambria Math" panose="02040503050406030204" pitchFamily="18" charset="0"/>
                  </a:rPr>
                  <a:t>$x$</a:t>
                </a:r>
                <a:r>
                  <a:rPr sz="2400" b="0">
                    <a:solidFill>
                      <a:srgbClr val="78350F"/>
                    </a:solidFill>
                    <a:latin typeface="Arial"/>
                  </a:rPr>
                  <a:t> in </a:t>
                </a:r>
                <a:r>
                  <a:rPr lang="en-IN" sz="2400">
                    <a:solidFill>
                      <a:srgbClr val="78350F"/>
                    </a:solidFill>
                    <a:latin typeface="Cambria Math" panose="02040503050406030204" pitchFamily="18" charset="0"/>
                  </a:rPr>
                  <a:t>$T_{r+1}$</a:t>
                </a:r>
                <a:r>
                  <a:rPr sz="2400" b="0">
                    <a:solidFill>
                      <a:srgbClr val="78350F"/>
                    </a:solidFill>
                    <a:latin typeface="Arial"/>
                  </a:rPr>
                  <a:t> is linear in </a:t>
                </a:r>
                <a:r>
                  <a:rPr lang="en-IN" sz="2400">
                    <a:solidFill>
                      <a:srgbClr val="78350F"/>
                    </a:solidFill>
                    <a:latin typeface="Cambria Math" panose="02040503050406030204" pitchFamily="18" charset="0"/>
                  </a:rPr>
                  <a:t>$r$</a:t>
                </a:r>
                <a:r>
                  <a:rPr sz="2400" b="0">
                    <a:solidFill>
                      <a:srgbClr val="78350F"/>
                    </a:solidFill>
                    <a:latin typeface="Arial"/>
                  </a:rPr>
                  <a:t>, so the smallest </a:t>
                </a:r>
                <a:r>
                  <a:rPr lang="en-IN" sz="2400">
                    <a:solidFill>
                      <a:srgbClr val="78350F"/>
                    </a:solidFill>
                    <a:latin typeface="Cambria Math" panose="02040503050406030204" pitchFamily="18" charset="0"/>
                  </a:rPr>
                  <a:t>$\alpha&gt;0$</a:t>
                </a:r>
                <a:r>
                  <a:rPr sz="2400" b="0">
                    <a:solidFill>
                      <a:srgbClr val="78350F"/>
                    </a:solidFill>
                    <a:latin typeface="Arial"/>
                  </a:rPr>
                  <a:t> comes from the first </a:t>
                </a:r>
                <a:r>
                  <a:rPr lang="en-IN" sz="2400">
                    <a:solidFill>
                      <a:srgbClr val="78350F"/>
                    </a:solidFill>
                    <a:latin typeface="Cambria Math" panose="02040503050406030204" pitchFamily="18" charset="0"/>
                  </a:rPr>
                  <a:t>$r$</a:t>
                </a:r>
                <a:r>
                  <a:rPr sz="2400" b="0">
                    <a:solidFill>
                      <a:srgbClr val="78350F"/>
                    </a:solidFill>
                    <a:latin typeface="Arial"/>
                  </a:rPr>
                  <a:t> making it negative.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general term is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𝑟</m:t>
                        </m:r>
                      </m:sub>
                    </m:sSub>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e>
                        </m:d>
                      </m:e>
                      <m:sup>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up>
                    </m:sSup>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den>
                            </m:f>
                          </m:e>
                        </m:d>
                      </m:e>
                      <m:sup>
                        <m:r>
                          <a:rPr lang="en-IN" sz="2400" i="1">
                            <a:solidFill>
                              <a:srgbClr val="111827"/>
                            </a:solidFill>
                            <a:latin typeface="Cambria Math" panose="02040503050406030204" pitchFamily="18" charset="0"/>
                          </a:rPr>
                          <m:t>𝑟</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power of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𝑟</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𝑟</m:t>
                        </m:r>
                      </m:sub>
                    </m:sSub>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𝑟</m:t>
                        </m:r>
                      </m:sup>
                    </m:sSup>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𝑥</m:t>
                        </m:r>
                      </m:e>
                      <m: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3</m:t>
                            </m:r>
                          </m:den>
                        </m:f>
                      </m:sup>
                    </m:sSup>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We need </a:t>
                </a:r>
                <a14:m>
                  <m:oMath xmlns:m="http://schemas.openxmlformats.org/officeDocument/2006/math">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sup>
                    </m:sSup>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11</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60</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general term is </a:t>
                </a:r>
                <a:r>
                  <a:rPr lang="en-IN" sz="2400">
                    <a:solidFill>
                      <a:srgbClr val="111827"/>
                    </a:solidFill>
                    <a:latin typeface="Cambria Math" panose="02040503050406030204" pitchFamily="18" charset="0"/>
                  </a:rPr>
                  <a:t>$T_{r+1}={}^{30}C_r\left(x^{2/3}\right)^{30-r}\left(\frac{2}{x^{3}}\right)^{r}$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power of </a:t>
                </a:r>
                <a:r>
                  <a:rPr lang="en-IN" sz="2400">
                    <a:solidFill>
                      <a:srgbClr val="111827"/>
                    </a:solidFill>
                    <a:latin typeface="Cambria Math" panose="02040503050406030204" pitchFamily="18" charset="0"/>
                  </a:rPr>
                  <a:t>$x$</a:t>
                </a:r>
                <a:r>
                  <a:rPr sz="2400" b="0">
                    <a:solidFill>
                      <a:srgbClr val="111827"/>
                    </a:solidFill>
                    <a:latin typeface="Arial"/>
                  </a:rPr>
                  <a:t> is </a:t>
                </a:r>
                <a:r>
                  <a:rPr lang="en-IN" sz="2400">
                    <a:solidFill>
                      <a:srgbClr val="111827"/>
                    </a:solidFill>
                    <a:latin typeface="Cambria Math" panose="02040503050406030204" pitchFamily="18" charset="0"/>
                  </a:rPr>
                  <a:t>$\frac{2(30-r)}{3}-3r=20-\frac{2r}{3}-3r$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$T_{r+1}={}^{30}C_r\,(2)^r\,x^{\frac{60-11r}{3}}$</a:t>
                </a:r>
                <a:r>
                  <a:rPr sz="2400" b="0">
                    <a:solidFill>
                      <a:srgbClr val="111827"/>
                    </a:solidFill>
                    <a:latin typeface="Arial"/>
                  </a:rPr>
                  <a:t>, for </a:t>
                </a:r>
                <a:r>
                  <a:rPr lang="en-IN" sz="2400">
                    <a:solidFill>
                      <a:srgbClr val="111827"/>
                    </a:solidFill>
                    <a:latin typeface="Cambria Math" panose="02040503050406030204" pitchFamily="18" charset="0"/>
                  </a:rPr>
                  <a:t>$0\le r\le 30$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We need </a:t>
                </a:r>
                <a:r>
                  <a:rPr lang="en-IN" sz="2400">
                    <a:solidFill>
                      <a:srgbClr val="111827"/>
                    </a:solidFill>
                    <a:latin typeface="Cambria Math" panose="02040503050406030204" pitchFamily="18" charset="0"/>
                  </a:rPr>
                  <a:t>$x^{-\alpha}$</a:t>
                </a:r>
                <a:r>
                  <a:rPr sz="2400" b="0">
                    <a:solidFill>
                      <a:srgbClr val="111827"/>
                    </a:solidFill>
                    <a:latin typeface="Arial"/>
                  </a:rPr>
                  <a:t> with </a:t>
                </a:r>
                <a:r>
                  <a:rPr lang="en-IN" sz="2400">
                    <a:solidFill>
                      <a:srgbClr val="111827"/>
                    </a:solidFill>
                    <a:latin typeface="Cambria Math" panose="02040503050406030204" pitchFamily="18" charset="0"/>
                  </a:rPr>
                  <a:t>$\alpha&gt;0$</a:t>
                </a:r>
                <a:r>
                  <a:rPr sz="2400" b="0">
                    <a:solidFill>
                      <a:srgbClr val="111827"/>
                    </a:solidFill>
                    <a:latin typeface="Arial"/>
                  </a:rPr>
                  <a:t>, so </a:t>
                </a:r>
                <a:r>
                  <a:rPr lang="en-IN" sz="2400">
                    <a:solidFill>
                      <a:srgbClr val="111827"/>
                    </a:solidFill>
                    <a:latin typeface="Cambria Math" panose="02040503050406030204" pitchFamily="18" charset="0"/>
                  </a:rPr>
                  <a:t>$\frac{60-11r}{3}&lt;0$</a:t>
                </a:r>
                <a:r>
                  <a:rPr sz="2400" b="0">
                    <a:solidFill>
                      <a:srgbClr val="111827"/>
                    </a:solidFill>
                    <a:latin typeface="Arial"/>
                  </a:rPr>
                  <a:t>, i.e. </a:t>
                </a:r>
                <a:r>
                  <a:rPr lang="en-IN" sz="2400">
                    <a:solidFill>
                      <a:srgbClr val="111827"/>
                    </a:solidFill>
                    <a:latin typeface="Cambria Math" panose="02040503050406030204" pitchFamily="18" charset="0"/>
                  </a:rPr>
                  <a:t>$11r&gt;60$</a:t>
                </a:r>
                <a:r>
                  <a:rPr sz="2400" b="0">
                    <a:solidFill>
                      <a:srgbClr val="111827"/>
                    </a:solidFill>
                    <a:latin typeface="Arial"/>
                  </a:rPr>
                  <a:t>, i.e. </a:t>
                </a:r>
                <a:r>
                  <a:rPr lang="en-IN" sz="2400">
                    <a:solidFill>
                      <a:srgbClr val="111827"/>
                    </a:solidFill>
                    <a:latin typeface="Cambria Math" panose="02040503050406030204" pitchFamily="18" charset="0"/>
                  </a:rPr>
                  <a:t>$r\ge 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the power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(not allowed); for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it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66</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As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increases the power decreases by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each time, so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gives the smallest positive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7</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6</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oMath>
                </a14:m>
                <a:r>
                  <a:rPr sz="2400" b="0">
                    <a:solidFill>
                      <a:srgbClr val="111827"/>
                    </a:solidFill>
                    <a:latin typeface="Arial"/>
                  </a:rPr>
                  <a:t> with coefficient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6</m:t>
                        </m:r>
                      </m:sub>
                    </m:sSub>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$r=5$</a:t>
                </a:r>
                <a:r>
                  <a:rPr sz="2400" b="0">
                    <a:solidFill>
                      <a:srgbClr val="111827"/>
                    </a:solidFill>
                    <a:latin typeface="Arial"/>
                  </a:rPr>
                  <a:t> the power is </a:t>
                </a:r>
                <a:r>
                  <a:rPr lang="en-IN" sz="2400">
                    <a:solidFill>
                      <a:srgbClr val="111827"/>
                    </a:solidFill>
                    <a:latin typeface="Cambria Math" panose="02040503050406030204" pitchFamily="18" charset="0"/>
                  </a:rPr>
                  <a:t>$\frac{5}{3}&gt;0$</a:t>
                </a:r>
                <a:r>
                  <a:rPr sz="2400" b="0">
                    <a:solidFill>
                      <a:srgbClr val="111827"/>
                    </a:solidFill>
                    <a:latin typeface="Arial"/>
                  </a:rPr>
                  <a:t> (not allowed); for </a:t>
                </a:r>
                <a:r>
                  <a:rPr lang="en-IN" sz="2400">
                    <a:solidFill>
                      <a:srgbClr val="111827"/>
                    </a:solidFill>
                    <a:latin typeface="Cambria Math" panose="02040503050406030204" pitchFamily="18" charset="0"/>
                  </a:rPr>
                  <a:t>$r=6$</a:t>
                </a:r>
                <a:r>
                  <a:rPr sz="2400" b="0">
                    <a:solidFill>
                      <a:srgbClr val="111827"/>
                    </a:solidFill>
                    <a:latin typeface="Arial"/>
                  </a:rPr>
                  <a:t> it is </a:t>
                </a:r>
                <a:r>
                  <a:rPr lang="en-IN" sz="2400">
                    <a:solidFill>
                      <a:srgbClr val="111827"/>
                    </a:solidFill>
                    <a:latin typeface="Cambria Math" panose="02040503050406030204" pitchFamily="18" charset="0"/>
                  </a:rPr>
                  <a:t>$\frac{60-66}{3}=-2$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As </a:t>
                </a:r>
                <a:r>
                  <a:rPr lang="en-IN" sz="2400">
                    <a:solidFill>
                      <a:srgbClr val="111827"/>
                    </a:solidFill>
                    <a:latin typeface="Cambria Math" panose="02040503050406030204" pitchFamily="18" charset="0"/>
                  </a:rPr>
                  <a:t>$r$</a:t>
                </a:r>
                <a:r>
                  <a:rPr sz="2400" b="0">
                    <a:solidFill>
                      <a:srgbClr val="111827"/>
                    </a:solidFill>
                    <a:latin typeface="Arial"/>
                  </a:rPr>
                  <a:t> increases the power decreases by </a:t>
                </a:r>
                <a:r>
                  <a:rPr lang="en-IN" sz="2400">
                    <a:solidFill>
                      <a:srgbClr val="111827"/>
                    </a:solidFill>
                    <a:latin typeface="Cambria Math" panose="02040503050406030204" pitchFamily="18" charset="0"/>
                  </a:rPr>
                  <a:t>$\frac{11}{3}$</a:t>
                </a:r>
                <a:r>
                  <a:rPr sz="2400" b="0">
                    <a:solidFill>
                      <a:srgbClr val="111827"/>
                    </a:solidFill>
                    <a:latin typeface="Arial"/>
                  </a:rPr>
                  <a:t> each time, so </a:t>
                </a:r>
                <a:r>
                  <a:rPr lang="en-IN" sz="2400">
                    <a:solidFill>
                      <a:srgbClr val="111827"/>
                    </a:solidFill>
                    <a:latin typeface="Cambria Math" panose="02040503050406030204" pitchFamily="18" charset="0"/>
                  </a:rPr>
                  <a:t>$r=6$</a:t>
                </a:r>
                <a:r>
                  <a:rPr sz="2400" b="0">
                    <a:solidFill>
                      <a:srgbClr val="111827"/>
                    </a:solidFill>
                    <a:latin typeface="Arial"/>
                  </a:rPr>
                  <a:t> gives the smallest positive </a:t>
                </a:r>
                <a:r>
                  <a:rPr lang="en-IN" sz="2400">
                    <a:solidFill>
                      <a:srgbClr val="111827"/>
                    </a:solidFill>
                    <a:latin typeface="Cambria Math" panose="02040503050406030204" pitchFamily="18" charset="0"/>
                  </a:rPr>
                  <a:t>$\alpha$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$T_7={}^{30}C_6(2)^6x^{-2}$</a:t>
                </a:r>
                <a:r>
                  <a:rPr sz="2400" b="0">
                    <a:solidFill>
                      <a:srgbClr val="111827"/>
                    </a:solidFill>
                    <a:latin typeface="Arial"/>
                  </a:rPr>
                  <a:t> with coefficient </a:t>
                </a:r>
                <a:r>
                  <a:rPr lang="en-IN" sz="2400">
                    <a:solidFill>
                      <a:srgbClr val="111827"/>
                    </a:solidFill>
                    <a:latin typeface="Cambria Math" panose="02040503050406030204" pitchFamily="18" charset="0"/>
                  </a:rPr>
                  <a:t>$\beta={}^{30}C_6\,2^6\in\mathbb{N}$</a:t>
                </a:r>
                <a:r>
                  <a:rPr sz="2400" b="0">
                    <a:solidFill>
                      <a:srgbClr val="111827"/>
                    </a:solidFill>
                    <a:latin typeface="Arial"/>
                  </a:rPr>
                  <a:t>, so </a:t>
                </a:r>
                <a:r>
                  <a:rPr lang="en-IN" sz="2400">
                    <a:solidFill>
                      <a:srgbClr val="111827"/>
                    </a:solidFill>
                    <a:latin typeface="Cambria Math" panose="02040503050406030204" pitchFamily="18" charset="0"/>
                  </a:rPr>
                  <a:t>$\alpha=2$</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2</a:t>
            </a:r>
            <a:endParaRPr sz="2800">
              <a:solidFill>
                <a:srgbClr val="15803D"/>
              </a:solidFill>
            </a:endParaR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Put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𝑡</m:t>
                        </m:r>
                      </m:e>
                      <m:sup>
                        <m:r>
                          <a:rPr lang="en-IN" sz="2400" i="1">
                            <a:solidFill>
                              <a:srgbClr val="78350F"/>
                            </a:solidFill>
                            <a:latin typeface="Cambria Math" panose="02040503050406030204" pitchFamily="18" charset="0"/>
                          </a:rPr>
                          <m:t>3</m:t>
                        </m:r>
                      </m:sup>
                    </m:sSup>
                  </m:oMath>
                </a14:m>
                <a:r>
                  <a:rPr sz="2400" b="0">
                    <a:solidFill>
                      <a:srgbClr val="78350F"/>
                    </a:solidFill>
                    <a:latin typeface="Arial"/>
                  </a:rPr>
                  <a:t> so every exponent becomes an integer and the sign test is done on integers.</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Put </a:t>
                </a:r>
                <a:r>
                  <a:rPr lang="en-IN" sz="2400">
                    <a:solidFill>
                      <a:srgbClr val="78350F"/>
                    </a:solidFill>
                    <a:latin typeface="Cambria Math" panose="02040503050406030204" pitchFamily="18" charset="0"/>
                  </a:rPr>
                  <a:t>$x=t^{3}$</a:t>
                </a:r>
                <a:r>
                  <a:rPr sz="2400" b="0">
                    <a:solidFill>
                      <a:srgbClr val="78350F"/>
                    </a:solidFill>
                    <a:latin typeface="Arial"/>
                  </a:rPr>
                  <a:t> so every exponent becomes an integer and the sign test is done on integers.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the expression is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9</m:t>
                                    </m:r>
                                  </m:sup>
                                </m:sSup>
                              </m:den>
                            </m:f>
                          </m:e>
                        </m:d>
                      </m:e>
                      <m:sup>
                        <m:r>
                          <a:rPr lang="en-IN" sz="2400" i="1">
                            <a:solidFill>
                              <a:srgbClr val="111827"/>
                            </a:solidFill>
                            <a:latin typeface="Cambria Math" panose="02040503050406030204" pitchFamily="18" charset="0"/>
                          </a:rPr>
                          <m:t>30</m:t>
                        </m:r>
                      </m:sup>
                    </m:sSup>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α</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Its general term is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𝑟</m:t>
                        </m:r>
                      </m:sub>
                    </m:sSub>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sup>
                    </m:sSup>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𝑟</m:t>
                        </m:r>
                      </m:sup>
                    </m:sSup>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𝑡</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𝑟</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𝑟</m:t>
                        </m:r>
                      </m:sub>
                    </m:sSub>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𝑟</m:t>
                        </m:r>
                      </m:sup>
                    </m:sSup>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a:rPr lang="en-IN" sz="2400" i="1">
                            <a:solidFill>
                              <a:srgbClr val="111827"/>
                            </a:solidFill>
                            <a:latin typeface="Cambria Math" panose="02040503050406030204" pitchFamily="18" charset="0"/>
                          </a:rPr>
                          <m:t>𝑟</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We need </a:t>
                </a:r>
                <a14:m>
                  <m:oMath xmlns:m="http://schemas.openxmlformats.org/officeDocument/2006/math">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α</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$x=t^3$</a:t>
                </a:r>
                <a:r>
                  <a:rPr sz="2400" b="0">
                    <a:solidFill>
                      <a:srgbClr val="111827"/>
                    </a:solidFill>
                    <a:latin typeface="Arial"/>
                  </a:rPr>
                  <a:t> the expression is </a:t>
                </a:r>
                <a:r>
                  <a:rPr lang="en-IN" sz="2400">
                    <a:solidFill>
                      <a:srgbClr val="111827"/>
                    </a:solidFill>
                    <a:latin typeface="Cambria Math" panose="02040503050406030204" pitchFamily="18" charset="0"/>
                  </a:rPr>
                  <a:t>$\left(t^{2}+\frac{2}{t^{9}}\right)^{30}$</a:t>
                </a:r>
                <a:r>
                  <a:rPr sz="2400" b="0">
                    <a:solidFill>
                      <a:srgbClr val="111827"/>
                    </a:solidFill>
                    <a:latin typeface="Arial"/>
                  </a:rPr>
                  <a:t> and </a:t>
                </a:r>
                <a:r>
                  <a:rPr lang="en-IN" sz="2400">
                    <a:solidFill>
                      <a:srgbClr val="111827"/>
                    </a:solidFill>
                    <a:latin typeface="Cambria Math" panose="02040503050406030204" pitchFamily="18" charset="0"/>
                  </a:rPr>
                  <a:t>$x^{-\alpha}=t^{-3\alpha}$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Its general term is </a:t>
                </a:r>
                <a:r>
                  <a:rPr lang="en-IN" sz="2400">
                    <a:solidFill>
                      <a:srgbClr val="111827"/>
                    </a:solidFill>
                    <a:latin typeface="Cambria Math" panose="02040503050406030204" pitchFamily="18" charset="0"/>
                  </a:rPr>
                  <a:t>${}^{30}C_r\,t^{2(30-r)}\,2^r\,t^{-9r}={}^{30}C_r\,2^r\,t^{60-11r}$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We need </a:t>
                </a:r>
                <a:r>
                  <a:rPr lang="en-IN" sz="2400">
                    <a:solidFill>
                      <a:srgbClr val="111827"/>
                    </a:solidFill>
                    <a:latin typeface="Cambria Math" panose="02040503050406030204" pitchFamily="18" charset="0"/>
                  </a:rPr>
                  <a:t>$60-11r=-3\alpha$</a:t>
                </a:r>
                <a:r>
                  <a:rPr sz="2400" b="0">
                    <a:solidFill>
                      <a:srgbClr val="111827"/>
                    </a:solidFill>
                    <a:latin typeface="Arial"/>
                  </a:rPr>
                  <a:t>, i.e. </a:t>
                </a:r>
                <a:r>
                  <a:rPr lang="en-IN" sz="2400">
                    <a:solidFill>
                      <a:srgbClr val="111827"/>
                    </a:solidFill>
                    <a:latin typeface="Cambria Math" panose="02040503050406030204" pitchFamily="18" charset="0"/>
                  </a:rPr>
                  <a:t>$3\alpha=11r-60$</a:t>
                </a:r>
                <a:r>
                  <a:rPr sz="2400" b="0">
                    <a:solidFill>
                      <a:srgbClr val="111827"/>
                    </a:solidFill>
                    <a:latin typeface="Arial"/>
                  </a:rPr>
                  <a:t> with </a:t>
                </a:r>
                <a:r>
                  <a:rPr lang="en-IN" sz="2400">
                    <a:solidFill>
                      <a:srgbClr val="111827"/>
                    </a:solidFill>
                    <a:latin typeface="Cambria Math" panose="02040503050406030204" pitchFamily="18" charset="0"/>
                  </a:rPr>
                  <a:t>$\alpha&gt;0$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smallest positive value of </a:t>
                </a:r>
                <a14:m>
                  <m:oMath xmlns:m="http://schemas.openxmlformats.org/officeDocument/2006/math">
                    <m:r>
                      <a:rPr lang="en-IN" sz="2400" i="1">
                        <a:solidFill>
                          <a:srgbClr val="111827"/>
                        </a:solidFill>
                        <a:latin typeface="Cambria Math" panose="02040503050406030204" pitchFamily="18" charset="0"/>
                      </a:rPr>
                      <m:t>11</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oMath>
                </a14:m>
                <a:r>
                  <a:rPr sz="2400" b="0">
                    <a:solidFill>
                      <a:srgbClr val="111827"/>
                    </a:solidFill>
                    <a:latin typeface="Arial"/>
                  </a:rPr>
                  <a:t> over integers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gives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and larger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gives larger values.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smallest positive value of </a:t>
                </a:r>
                <a:r>
                  <a:rPr lang="en-IN" sz="2400">
                    <a:solidFill>
                      <a:srgbClr val="111827"/>
                    </a:solidFill>
                    <a:latin typeface="Cambria Math" panose="02040503050406030204" pitchFamily="18" charset="0"/>
                  </a:rPr>
                  <a:t>$11r-60$</a:t>
                </a:r>
                <a:r>
                  <a:rPr sz="2400" b="0">
                    <a:solidFill>
                      <a:srgbClr val="111827"/>
                    </a:solidFill>
                    <a:latin typeface="Arial"/>
                  </a:rPr>
                  <a:t> over integers </a:t>
                </a:r>
                <a:r>
                  <a:rPr lang="en-IN" sz="2400">
                    <a:solidFill>
                      <a:srgbClr val="111827"/>
                    </a:solidFill>
                    <a:latin typeface="Cambria Math" panose="02040503050406030204" pitchFamily="18" charset="0"/>
                  </a:rPr>
                  <a:t>$r$</a:t>
                </a:r>
                <a:r>
                  <a:rPr sz="2400" b="0">
                    <a:solidFill>
                      <a:srgbClr val="111827"/>
                    </a:solidFill>
                    <a:latin typeface="Arial"/>
                  </a:rPr>
                  <a:t>: </a:t>
                </a:r>
                <a:r>
                  <a:rPr lang="en-IN" sz="2400">
                    <a:solidFill>
                      <a:srgbClr val="111827"/>
                    </a:solidFill>
                    <a:latin typeface="Cambria Math" panose="02040503050406030204" pitchFamily="18" charset="0"/>
                  </a:rPr>
                  <a:t>$r=5$</a:t>
                </a:r>
                <a:r>
                  <a:rPr sz="2400" b="0">
                    <a:solidFill>
                      <a:srgbClr val="111827"/>
                    </a:solidFill>
                    <a:latin typeface="Arial"/>
                  </a:rPr>
                  <a:t> gives </a:t>
                </a:r>
                <a:r>
                  <a:rPr lang="en-IN" sz="2400">
                    <a:solidFill>
                      <a:srgbClr val="111827"/>
                    </a:solidFill>
                    <a:latin typeface="Cambria Math" panose="02040503050406030204" pitchFamily="18" charset="0"/>
                  </a:rPr>
                  <a:t>$-5$</a:t>
                </a:r>
                <a:r>
                  <a:rPr sz="2400" b="0">
                    <a:solidFill>
                      <a:srgbClr val="111827"/>
                    </a:solidFill>
                    <a:latin typeface="Arial"/>
                  </a:rPr>
                  <a:t>, </a:t>
                </a:r>
                <a:r>
                  <a:rPr lang="en-IN" sz="2400">
                    <a:solidFill>
                      <a:srgbClr val="111827"/>
                    </a:solidFill>
                    <a:latin typeface="Cambria Math" panose="02040503050406030204" pitchFamily="18" charset="0"/>
                  </a:rPr>
                  <a:t>$r=6$</a:t>
                </a:r>
                <a:r>
                  <a:rPr sz="2400" b="0">
                    <a:solidFill>
                      <a:srgbClr val="111827"/>
                    </a:solidFill>
                    <a:latin typeface="Arial"/>
                  </a:rPr>
                  <a:t> gives </a:t>
                </a:r>
                <a:r>
                  <a:rPr lang="en-IN" sz="2400">
                    <a:solidFill>
                      <a:srgbClr val="111827"/>
                    </a:solidFill>
                    <a:latin typeface="Cambria Math" panose="02040503050406030204" pitchFamily="18" charset="0"/>
                  </a:rPr>
                  <a:t>$6$</a:t>
                </a:r>
                <a:r>
                  <a:rPr sz="2400" b="0">
                    <a:solidFill>
                      <a:srgbClr val="111827"/>
                    </a:solidFill>
                    <a:latin typeface="Arial"/>
                  </a:rPr>
                  <a:t>, and larger </a:t>
                </a:r>
                <a:r>
                  <a:rPr lang="en-IN" sz="2400">
                    <a:solidFill>
                      <a:srgbClr val="111827"/>
                    </a:solidFill>
                    <a:latin typeface="Cambria Math" panose="02040503050406030204" pitchFamily="18" charset="0"/>
                  </a:rPr>
                  <a:t>$r$</a:t>
                </a:r>
                <a:r>
                  <a:rPr sz="2400" b="0">
                    <a:solidFill>
                      <a:srgbClr val="111827"/>
                    </a:solidFill>
                    <a:latin typeface="Arial"/>
                  </a:rPr>
                  <a:t> gives larger values.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$3\alpha=6$</a:t>
                </a:r>
                <a:r>
                  <a:rPr sz="2400" b="0">
                    <a:solidFill>
                      <a:srgbClr val="111827"/>
                    </a:solidFill>
                    <a:latin typeface="Arial"/>
                  </a:rPr>
                  <a:t> and </a:t>
                </a:r>
                <a:r>
                  <a:rPr lang="en-IN" sz="2400">
                    <a:solidFill>
                      <a:srgbClr val="111827"/>
                    </a:solidFill>
                    <a:latin typeface="Cambria Math" panose="02040503050406030204" pitchFamily="18" charset="0"/>
                  </a:rPr>
                  <a:t>$\alpha=2$</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2</a:t>
            </a:r>
            <a:endParaRPr sz="2800">
              <a:solidFill>
                <a:srgbClr val="15803D"/>
              </a:solidFill>
            </a:endParaR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𝑝</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𝑐</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𝑞</m:t>
                                    </m:r>
                                  </m:sup>
                                </m:sSup>
                              </m:den>
                            </m:f>
                          </m:e>
                        </m:d>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the power of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in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oMath>
                </a14:m>
                <a:r>
                  <a:rPr sz="2400" b="0">
                    <a:solidFill>
                      <a:srgbClr val="111827"/>
                    </a:solidFill>
                    <a:latin typeface="Arial"/>
                  </a:rPr>
                  <a:t>, an arithmetic progression in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with common difference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fractional powers substitute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𝑘</m:t>
                        </m:r>
                      </m:sup>
                    </m:sSup>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so that all exponents become integers and the integrality of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can be tested directly.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first term with a negative power is the first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&gt;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den>
                    </m:f>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&gt;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60</m:t>
                        </m:r>
                      </m:num>
                      <m:den>
                        <m:r>
                          <a:rPr lang="en-IN" sz="2400" i="1">
                            <a:solidFill>
                              <a:srgbClr val="111827"/>
                            </a:solidFill>
                            <a:latin typeface="Cambria Math" panose="02040503050406030204" pitchFamily="18" charset="0"/>
                          </a:rPr>
                          <m:t>11</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t>
                </a:r>
                <a:r>
                  <a:rPr lang="en-IN" sz="2400">
                    <a:solidFill>
                      <a:srgbClr val="111827"/>
                    </a:solidFill>
                    <a:latin typeface="Cambria Math" panose="02040503050406030204" pitchFamily="18" charset="0"/>
                  </a:rPr>
                  <a:t>$\left(x^{p}+\frac{c}{x^{q}}\right)^n$</a:t>
                </a:r>
                <a:r>
                  <a:rPr sz="2400" b="0">
                    <a:solidFill>
                      <a:srgbClr val="111827"/>
                    </a:solidFill>
                    <a:latin typeface="Arial"/>
                  </a:rPr>
                  <a:t> the power of </a:t>
                </a:r>
                <a:r>
                  <a:rPr lang="en-IN" sz="2400">
                    <a:solidFill>
                      <a:srgbClr val="111827"/>
                    </a:solidFill>
                    <a:latin typeface="Cambria Math" panose="02040503050406030204" pitchFamily="18" charset="0"/>
                  </a:rPr>
                  <a:t>$x$</a:t>
                </a:r>
                <a:r>
                  <a:rPr sz="2400" b="0">
                    <a:solidFill>
                      <a:srgbClr val="111827"/>
                    </a:solidFill>
                    <a:latin typeface="Arial"/>
                  </a:rPr>
                  <a:t> in </a:t>
                </a:r>
                <a:r>
                  <a:rPr lang="en-IN" sz="2400">
                    <a:solidFill>
                      <a:srgbClr val="111827"/>
                    </a:solidFill>
                    <a:latin typeface="Cambria Math" panose="02040503050406030204" pitchFamily="18" charset="0"/>
                  </a:rPr>
                  <a:t>$T_{r+1}$</a:t>
                </a:r>
                <a:r>
                  <a:rPr sz="2400" b="0">
                    <a:solidFill>
                      <a:srgbClr val="111827"/>
                    </a:solidFill>
                    <a:latin typeface="Arial"/>
                  </a:rPr>
                  <a:t> is </a:t>
                </a:r>
                <a:r>
                  <a:rPr lang="en-IN" sz="2400">
                    <a:solidFill>
                      <a:srgbClr val="111827"/>
                    </a:solidFill>
                    <a:latin typeface="Cambria Math" panose="02040503050406030204" pitchFamily="18" charset="0"/>
                  </a:rPr>
                  <a:t>$p(n-r)-qr=pn-(p+q)r$</a:t>
                </a:r>
                <a:r>
                  <a:rPr sz="2400" b="0">
                    <a:solidFill>
                      <a:srgbClr val="111827"/>
                    </a:solidFill>
                    <a:latin typeface="Arial"/>
                  </a:rPr>
                  <a:t>, an arithmetic progression in </a:t>
                </a:r>
                <a:r>
                  <a:rPr lang="en-IN" sz="2400">
                    <a:solidFill>
                      <a:srgbClr val="111827"/>
                    </a:solidFill>
                    <a:latin typeface="Cambria Math" panose="02040503050406030204" pitchFamily="18" charset="0"/>
                  </a:rPr>
                  <a:t>$r$</a:t>
                </a:r>
                <a:r>
                  <a:rPr sz="2400" b="0">
                    <a:solidFill>
                      <a:srgbClr val="111827"/>
                    </a:solidFill>
                    <a:latin typeface="Arial"/>
                  </a:rPr>
                  <a:t> with common difference </a:t>
                </a:r>
                <a:r>
                  <a:rPr lang="en-IN" sz="2400">
                    <a:solidFill>
                      <a:srgbClr val="111827"/>
                    </a:solidFill>
                    <a:latin typeface="Cambria Math" panose="02040503050406030204" pitchFamily="18" charset="0"/>
                  </a:rPr>
                  <a:t>$-(p+q)$</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fractional powers substitute </a:t>
                </a:r>
                <a:r>
                  <a:rPr lang="en-IN" sz="2400">
                    <a:solidFill>
                      <a:srgbClr val="111827"/>
                    </a:solidFill>
                    <a:latin typeface="Cambria Math" panose="02040503050406030204" pitchFamily="18" charset="0"/>
                  </a:rPr>
                  <a:t>$x=t^{k}$</a:t>
                </a:r>
                <a:r>
                  <a:rPr sz="2400" b="0">
                    <a:solidFill>
                      <a:srgbClr val="111827"/>
                    </a:solidFill>
                    <a:latin typeface="Arial"/>
                  </a:rPr>
                  <a:t> (here </a:t>
                </a:r>
                <a:r>
                  <a:rPr lang="en-IN" sz="2400">
                    <a:solidFill>
                      <a:srgbClr val="111827"/>
                    </a:solidFill>
                    <a:latin typeface="Cambria Math" panose="02040503050406030204" pitchFamily="18" charset="0"/>
                  </a:rPr>
                  <a:t>$k=3$</a:t>
                </a:r>
                <a:r>
                  <a:rPr sz="2400" b="0">
                    <a:solidFill>
                      <a:srgbClr val="111827"/>
                    </a:solidFill>
                    <a:latin typeface="Arial"/>
                  </a:rPr>
                  <a:t>) so that all exponents become integers and the integrality of </a:t>
                </a:r>
                <a:r>
                  <a:rPr lang="en-IN" sz="2400">
                    <a:solidFill>
                      <a:srgbClr val="111827"/>
                    </a:solidFill>
                    <a:latin typeface="Cambria Math" panose="02040503050406030204" pitchFamily="18" charset="0"/>
                  </a:rPr>
                  <a:t>$r$</a:t>
                </a:r>
                <a:r>
                  <a:rPr sz="2400" b="0">
                    <a:solidFill>
                      <a:srgbClr val="111827"/>
                    </a:solidFill>
                    <a:latin typeface="Arial"/>
                  </a:rPr>
                  <a:t> can be tested directly.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first term with a negative power is the first </a:t>
                </a:r>
                <a:r>
                  <a:rPr lang="en-IN" sz="2400">
                    <a:solidFill>
                      <a:srgbClr val="111827"/>
                    </a:solidFill>
                    <a:latin typeface="Cambria Math" panose="02040503050406030204" pitchFamily="18" charset="0"/>
                  </a:rPr>
                  <a:t>$r$</a:t>
                </a:r>
                <a:r>
                  <a:rPr sz="2400" b="0">
                    <a:solidFill>
                      <a:srgbClr val="111827"/>
                    </a:solidFill>
                    <a:latin typeface="Arial"/>
                  </a:rPr>
                  <a:t> with </a:t>
                </a:r>
                <a:r>
                  <a:rPr lang="en-IN" sz="2400">
                    <a:solidFill>
                      <a:srgbClr val="111827"/>
                    </a:solidFill>
                    <a:latin typeface="Cambria Math" panose="02040503050406030204" pitchFamily="18" charset="0"/>
                  </a:rPr>
                  <a:t>$r&gt;\frac{pn}{p+q}$</a:t>
                </a:r>
                <a:r>
                  <a:rPr sz="2400" b="0">
                    <a:solidFill>
                      <a:srgbClr val="111827"/>
                    </a:solidFill>
                    <a:latin typeface="Arial"/>
                  </a:rPr>
                  <a:t>; here </a:t>
                </a:r>
                <a:r>
                  <a:rPr lang="en-IN" sz="2400">
                    <a:solidFill>
                      <a:srgbClr val="111827"/>
                    </a:solidFill>
                    <a:latin typeface="Cambria Math" panose="02040503050406030204" pitchFamily="18" charset="0"/>
                  </a:rPr>
                  <a:t>$r&gt;\frac{60}{11}$</a:t>
                </a:r>
                <a:r>
                  <a:rPr sz="2400" b="0">
                    <a:solidFill>
                      <a:srgbClr val="111827"/>
                    </a:solidFill>
                    <a:latin typeface="Arial"/>
                  </a:rPr>
                  <a:t>, so </a:t>
                </a:r>
                <a:r>
                  <a:rPr lang="en-IN" sz="2400">
                    <a:solidFill>
                      <a:srgbClr val="111827"/>
                    </a:solidFill>
                    <a:latin typeface="Cambria Math" panose="02040503050406030204" pitchFamily="18" charset="0"/>
                  </a:rPr>
                  <a:t>$r=6$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remainder on dividing </a:t>
                </a:r>
                <a14:m>
                  <m:oMath xmlns:m="http://schemas.openxmlformats.org/officeDocument/2006/math">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99</m:t>
                        </m:r>
                      </m:sup>
                    </m:sSup>
                  </m:oMath>
                </a14:m>
                <a:r>
                  <a:rPr sz="2400" b="0">
                    <a:solidFill>
                      <a:srgbClr val="111827"/>
                    </a:solidFill>
                    <a:latin typeface="Arial"/>
                  </a:rPr>
                  <a:t> by 11 is ______ .</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remainder on dividing </a:t>
                </a:r>
                <a:r>
                  <a:rPr lang="en-IN" sz="2400">
                    <a:solidFill>
                      <a:srgbClr val="111827"/>
                    </a:solidFill>
                    <a:latin typeface="Cambria Math" panose="02040503050406030204" pitchFamily="18" charset="0"/>
                  </a:rPr>
                  <a:t>$5^{99}$</a:t>
                </a:r>
                <a:r>
                  <a:rPr sz="2400" b="0">
                    <a:solidFill>
                      <a:srgbClr val="111827"/>
                    </a:solidFill>
                    <a:latin typeface="Arial"/>
                  </a:rPr>
                  <a:t> by 11 is ______ .</a:t>
                </a:r>
                <a:endParaRPr sz="2400">
                  <a:solidFill>
                    <a:srgbClr val="111827"/>
                  </a:solidFill>
                </a:endParaRPr>
              </a:p>
            </p:txBody>
          </p:sp>
        </mc:Fallback>
      </mc:AlternateContent>
      <p:sp>
        <p:nvSpPr>
          <p:cNvPr id="5" name="Rectangle 4"/>
          <p:cNvSpPr/>
          <p:nvPr/>
        </p:nvSpPr>
        <p:spPr>
          <a:xfrm>
            <a:off x="731520" y="3246120"/>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Remainder on division using the binomial expansion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Rewrite the power through </a:t>
                </a:r>
                <a14:m>
                  <m:oMath xmlns:m="http://schemas.openxmlformats.org/officeDocument/2006/math">
                    <m:sSup>
                      <m:e>
                        <m:r>
                          <a:rPr lang="en-IN" sz="2400" i="1">
                            <a:solidFill>
                              <a:srgbClr val="78350F"/>
                            </a:solidFill>
                            <a:latin typeface="Cambria Math" panose="02040503050406030204" pitchFamily="18" charset="0"/>
                          </a:rPr>
                          <m:t>5</m:t>
                        </m:r>
                      </m:e>
                      <m:sup>
                        <m:r>
                          <a:rPr lang="en-IN" sz="2400" i="1">
                            <a:solidFill>
                              <a:srgbClr val="78350F"/>
                            </a:solidFill>
                            <a:latin typeface="Cambria Math" panose="02040503050406030204" pitchFamily="18" charset="0"/>
                          </a:rPr>
                          <m:t>5</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3125</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284</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which is </a:t>
                </a:r>
                <a14:m>
                  <m:oMath xmlns:m="http://schemas.openxmlformats.org/officeDocument/2006/math">
                    <m:r>
                      <a:rPr lang="en-IN" sz="2400" i="1">
                        <a:solidFill>
                          <a:srgbClr val="78350F"/>
                        </a:solidFill>
                        <a:latin typeface="Cambria Math" panose="02040503050406030204" pitchFamily="18" charset="0"/>
                      </a:rPr>
                      <m:t>1</m:t>
                    </m:r>
                  </m:oMath>
                </a14:m>
                <a:r>
                  <a:rPr sz="2400" b="0">
                    <a:solidFill>
                      <a:srgbClr val="78350F"/>
                    </a:solidFill>
                    <a:latin typeface="Arial"/>
                  </a:rPr>
                  <a:t> more than a multiple of 11.</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Rewrite the power through </a:t>
                </a:r>
                <a:r>
                  <a:rPr lang="en-IN" sz="2400">
                    <a:solidFill>
                      <a:srgbClr val="78350F"/>
                    </a:solidFill>
                    <a:latin typeface="Cambria Math" panose="02040503050406030204" pitchFamily="18" charset="0"/>
                  </a:rPr>
                  <a:t>$5^5=3125=11\cdot284+1$</a:t>
                </a:r>
                <a:r>
                  <a:rPr sz="2400" b="0">
                    <a:solidFill>
                      <a:srgbClr val="78350F"/>
                    </a:solidFill>
                    <a:latin typeface="Arial"/>
                  </a:rPr>
                  <a:t>, which is </a:t>
                </a:r>
                <a:r>
                  <a:rPr lang="en-IN" sz="2400">
                    <a:solidFill>
                      <a:srgbClr val="78350F"/>
                    </a:solidFill>
                    <a:latin typeface="Cambria Math" panose="02040503050406030204" pitchFamily="18" charset="0"/>
                  </a:rPr>
                  <a:t>$1$</a:t>
                </a:r>
                <a:r>
                  <a:rPr sz="2400" b="0">
                    <a:solidFill>
                      <a:srgbClr val="78350F"/>
                    </a:solidFill>
                    <a:latin typeface="Arial"/>
                  </a:rPr>
                  <a:t> more than a multiple of 11.</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99</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95</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625</m:t>
                    </m:r>
                    <m:r>
                      <a:rPr lang="en-IN" sz="2400" i="1">
                        <a:solidFill>
                          <a:srgbClr val="111827"/>
                        </a:solidFill>
                        <a:latin typeface="Cambria Math" panose="02040503050406030204" pitchFamily="18" charset="0"/>
                      </a:rPr>
                      <m:t> </m:t>
                    </m:r>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5</m:t>
                                </m:r>
                              </m:sup>
                            </m:sSup>
                          </m:e>
                        </m:d>
                      </m:e>
                      <m:sup>
                        <m:r>
                          <a:rPr lang="en-IN" sz="2400" i="1">
                            <a:solidFill>
                              <a:srgbClr val="111827"/>
                            </a:solidFill>
                            <a:latin typeface="Cambria Math" panose="02040503050406030204" pitchFamily="18" charset="0"/>
                          </a:rPr>
                          <m:t>19</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625</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3125</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19</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a:rPr lang="en-IN" sz="2400" i="1">
                        <a:solidFill>
                          <a:srgbClr val="111827"/>
                        </a:solidFill>
                        <a:latin typeface="Cambria Math" panose="02040503050406030204" pitchFamily="18" charset="0"/>
                      </a:rPr>
                      <m:t>3125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this is </a:t>
                </a:r>
                <a14:m>
                  <m:oMath xmlns:m="http://schemas.openxmlformats.org/officeDocument/2006/math">
                    <m:r>
                      <a:rPr lang="en-IN" sz="2400" i="1">
                        <a:solidFill>
                          <a:srgbClr val="111827"/>
                        </a:solidFill>
                        <a:latin typeface="Cambria Math" panose="02040503050406030204" pitchFamily="18" charset="0"/>
                      </a:rPr>
                      <m:t>625</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19</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$5^{99}=5^{4}\cdot5^{95}$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$=625\,\left[5^{5}\right]^{19}$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$=625\,[3125]^{19}$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$3125=11\cdot 284+1$</a:t>
                </a:r>
                <a:r>
                  <a:rPr sz="2400" b="0">
                    <a:solidFill>
                      <a:srgbClr val="111827"/>
                    </a:solidFill>
                    <a:latin typeface="Arial"/>
                  </a:rPr>
                  <a:t>, this is </a:t>
                </a:r>
                <a:r>
                  <a:rPr lang="en-IN" sz="2400">
                    <a:solidFill>
                      <a:srgbClr val="111827"/>
                    </a:solidFill>
                    <a:latin typeface="Cambria Math" panose="02040503050406030204" pitchFamily="18" charset="0"/>
                  </a:rPr>
                  <a:t>$625\,[11\cdot284+1]^{19}$</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By the binomial theorem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19</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for some integer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99</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625</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625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Now </a:t>
                </a:r>
                <a14:m>
                  <m:oMath xmlns:m="http://schemas.openxmlformats.org/officeDocument/2006/math">
                    <m:r>
                      <a:rPr lang="en-IN" sz="2400" i="1">
                        <a:solidFill>
                          <a:srgbClr val="111827"/>
                        </a:solidFill>
                        <a:latin typeface="Cambria Math" panose="02040503050406030204" pitchFamily="18" charset="0"/>
                      </a:rPr>
                      <m:t>625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99</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Remainder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By the binomial theorem </a:t>
                </a:r>
                <a:r>
                  <a:rPr lang="en-IN" sz="2400">
                    <a:solidFill>
                      <a:srgbClr val="111827"/>
                    </a:solidFill>
                    <a:latin typeface="Cambria Math" panose="02040503050406030204" pitchFamily="18" charset="0"/>
                  </a:rPr>
                  <a:t>$[11\cdot284+1]^{19}=11k+1$</a:t>
                </a:r>
                <a:r>
                  <a:rPr sz="2400" b="0">
                    <a:solidFill>
                      <a:srgbClr val="111827"/>
                    </a:solidFill>
                    <a:latin typeface="Arial"/>
                  </a:rPr>
                  <a:t> for some integer </a:t>
                </a:r>
                <a:r>
                  <a:rPr lang="en-IN" sz="2400">
                    <a:solidFill>
                      <a:srgbClr val="111827"/>
                    </a:solidFill>
                    <a:latin typeface="Cambria Math" panose="02040503050406030204" pitchFamily="18" charset="0"/>
                  </a:rPr>
                  <a:t>$k$</a:t>
                </a:r>
                <a:r>
                  <a:rPr sz="2400" b="0">
                    <a:solidFill>
                      <a:srgbClr val="111827"/>
                    </a:solidFill>
                    <a:latin typeface="Arial"/>
                  </a:rPr>
                  <a:t>, so </a:t>
                </a:r>
                <a:r>
                  <a:rPr lang="en-IN" sz="2400">
                    <a:solidFill>
                      <a:srgbClr val="111827"/>
                    </a:solidFill>
                    <a:latin typeface="Cambria Math" panose="02040503050406030204" pitchFamily="18" charset="0"/>
                  </a:rPr>
                  <a:t>$5^{99}=625\,(11k+1)$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$=625\cdot 11k+625$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Now </a:t>
                </a:r>
                <a:r>
                  <a:rPr lang="en-IN" sz="2400">
                    <a:solidFill>
                      <a:srgbClr val="111827"/>
                    </a:solidFill>
                    <a:latin typeface="Cambria Math" panose="02040503050406030204" pitchFamily="18" charset="0"/>
                  </a:rPr>
                  <a:t>$625=616+9=11\cdot56+9$</a:t>
                </a:r>
                <a:r>
                  <a:rPr sz="2400" b="0">
                    <a:solidFill>
                      <a:srgbClr val="111827"/>
                    </a:solidFill>
                    <a:latin typeface="Arial"/>
                  </a:rPr>
                  <a:t>, so </a:t>
                </a:r>
                <a:r>
                  <a:rPr lang="en-IN" sz="2400">
                    <a:solidFill>
                      <a:srgbClr val="111827"/>
                    </a:solidFill>
                    <a:latin typeface="Cambria Math" panose="02040503050406030204" pitchFamily="18" charset="0"/>
                  </a:rPr>
                  <a:t>$5^{99}=11k_1+616+9=11(k_2)+9$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Remainder </a:t>
                </a:r>
                <a:r>
                  <a:rPr lang="en-IN" sz="2400">
                    <a:solidFill>
                      <a:srgbClr val="111827"/>
                    </a:solidFill>
                    <a:latin typeface="Cambria Math" panose="02040503050406030204" pitchFamily="18" charset="0"/>
                  </a:rPr>
                  <a:t>$=9$</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9</a:t>
            </a:r>
            <a:endParaRPr sz="2800">
              <a:solidFill>
                <a:srgbClr val="15803D"/>
              </a:solidFill>
            </a:endParaR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Fermat's little theorem: </a:t>
                </a:r>
                <a14:m>
                  <m:oMath xmlns:m="http://schemas.openxmlformats.org/officeDocument/2006/math">
                    <m:sSup>
                      <m:e>
                        <m:r>
                          <a:rPr lang="en-IN" sz="2400" i="1">
                            <a:solidFill>
                              <a:srgbClr val="78350F"/>
                            </a:solidFill>
                            <a:latin typeface="Cambria Math" panose="02040503050406030204" pitchFamily="18" charset="0"/>
                          </a:rPr>
                          <m:t>5</m:t>
                        </m:r>
                      </m:e>
                      <m:sup>
                        <m:r>
                          <a:rPr lang="en-IN" sz="2400" i="1">
                            <a:solidFill>
                              <a:srgbClr val="78350F"/>
                            </a:solidFill>
                            <a:latin typeface="Cambria Math" panose="02040503050406030204" pitchFamily="18" charset="0"/>
                          </a:rPr>
                          <m:t>10</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a:rPr lang="en-IN" sz="2400" i="1">
                        <a:solidFill>
                          <a:srgbClr val="78350F"/>
                        </a:solidFill>
                        <a:latin typeface="Cambria Math" panose="02040503050406030204" pitchFamily="18" charset="0"/>
                      </a:rPr>
                      <m:t> </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mod</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11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so </a:t>
                </a:r>
                <a14:m>
                  <m:oMath xmlns:m="http://schemas.openxmlformats.org/officeDocument/2006/math">
                    <m:sSup>
                      <m:e>
                        <m:r>
                          <a:rPr lang="en-IN" sz="2400" i="1">
                            <a:solidFill>
                              <a:srgbClr val="78350F"/>
                            </a:solidFill>
                            <a:latin typeface="Cambria Math" panose="02040503050406030204" pitchFamily="18" charset="0"/>
                          </a:rPr>
                          <m:t>5</m:t>
                        </m:r>
                      </m:e>
                      <m:sup>
                        <m:r>
                          <a:rPr lang="en-IN" sz="2400" i="1">
                            <a:solidFill>
                              <a:srgbClr val="78350F"/>
                            </a:solidFill>
                            <a:latin typeface="Cambria Math" panose="02040503050406030204" pitchFamily="18" charset="0"/>
                          </a:rPr>
                          <m:t>99</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5</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Fermat's little theorem: </a:t>
                </a:r>
                <a:r>
                  <a:rPr lang="en-IN" sz="2400">
                    <a:solidFill>
                      <a:srgbClr val="78350F"/>
                    </a:solidFill>
                    <a:latin typeface="Cambria Math" panose="02040503050406030204" pitchFamily="18" charset="0"/>
                  </a:rPr>
                  <a:t>$5^{10}\equiv1\pmod{11}$</a:t>
                </a:r>
                <a:r>
                  <a:rPr sz="2400" b="0">
                    <a:solidFill>
                      <a:srgbClr val="78350F"/>
                    </a:solidFill>
                    <a:latin typeface="Arial"/>
                  </a:rPr>
                  <a:t>, so </a:t>
                </a:r>
                <a:r>
                  <a:rPr lang="en-IN" sz="2400">
                    <a:solidFill>
                      <a:srgbClr val="78350F"/>
                    </a:solidFill>
                    <a:latin typeface="Cambria Math" panose="02040503050406030204" pitchFamily="18" charset="0"/>
                  </a:rPr>
                  <a:t>$5^{99}\equiv 5^{-1}$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11 is prime and </a:t>
                </a:r>
                <a14:m>
                  <m:oMath xmlns:m="http://schemas.openxmlformats.org/officeDocument/2006/math">
                    <m:r>
                      <m:rPr>
                        <m:sty m:val="p"/>
                      </m:rPr>
                      <a:rPr lang="en-IN" sz="2400">
                        <a:solidFill>
                          <a:srgbClr val="111827"/>
                        </a:solidFill>
                        <a:latin typeface="Cambria Math" panose="02040503050406030204" pitchFamily="18" charset="0"/>
                      </a:rPr>
                      <m:t>gcd</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10</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100</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10</m:t>
                                </m:r>
                              </m:sup>
                            </m:sSup>
                          </m:e>
                        </m:d>
                      </m:e>
                      <m:sup>
                        <m:r>
                          <a:rPr lang="en-IN" sz="2400" i="1">
                            <a:solidFill>
                              <a:srgbClr val="111827"/>
                            </a:solidFill>
                            <a:latin typeface="Cambria Math" panose="02040503050406030204" pitchFamily="18" charset="0"/>
                          </a:rPr>
                          <m:t>10</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99</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99</m:t>
                        </m:r>
                      </m:sup>
                    </m:sSup>
                  </m:oMath>
                </a14:m>
                <a:r>
                  <a:rPr sz="2400" b="0">
                    <a:solidFill>
                      <a:srgbClr val="111827"/>
                    </a:solidFill>
                    <a:latin typeface="Arial"/>
                  </a:rPr>
                  <a:t> is the inverse of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modulo 11.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 inverse is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Remainder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11 is prime and </a:t>
                </a:r>
                <a:r>
                  <a:rPr lang="en-IN" sz="2400">
                    <a:solidFill>
                      <a:srgbClr val="111827"/>
                    </a:solidFill>
                    <a:latin typeface="Cambria Math" panose="02040503050406030204" pitchFamily="18" charset="0"/>
                  </a:rPr>
                  <a:t>$\gcd(5,11)=1$</a:t>
                </a:r>
                <a:r>
                  <a:rPr sz="2400" b="0">
                    <a:solidFill>
                      <a:srgbClr val="111827"/>
                    </a:solidFill>
                    <a:latin typeface="Arial"/>
                  </a:rPr>
                  <a:t>, so </a:t>
                </a:r>
                <a:r>
                  <a:rPr lang="en-IN" sz="2400">
                    <a:solidFill>
                      <a:srgbClr val="111827"/>
                    </a:solidFill>
                    <a:latin typeface="Cambria Math" panose="02040503050406030204" pitchFamily="18" charset="0"/>
                  </a:rPr>
                  <a:t>$5^{10}\equiv1\pmod{11}$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$5^{100}=\left(5^{10}\right)^{10}\equiv1$</a:t>
                </a:r>
                <a:r>
                  <a:rPr sz="2400" b="0">
                    <a:solidFill>
                      <a:srgbClr val="111827"/>
                    </a:solidFill>
                    <a:latin typeface="Arial"/>
                  </a:rPr>
                  <a:t>, so </a:t>
                </a:r>
                <a:r>
                  <a:rPr lang="en-IN" sz="2400">
                    <a:solidFill>
                      <a:srgbClr val="111827"/>
                    </a:solidFill>
                    <a:latin typeface="Cambria Math" panose="02040503050406030204" pitchFamily="18" charset="0"/>
                  </a:rPr>
                  <a:t>$5\cdot5^{99}\equiv1\pmod{11}$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$5^{99}$</a:t>
                </a:r>
                <a:r>
                  <a:rPr sz="2400" b="0">
                    <a:solidFill>
                      <a:srgbClr val="111827"/>
                    </a:solidFill>
                    <a:latin typeface="Arial"/>
                  </a:rPr>
                  <a:t> is the inverse of </a:t>
                </a:r>
                <a:r>
                  <a:rPr lang="en-IN" sz="2400">
                    <a:solidFill>
                      <a:srgbClr val="111827"/>
                    </a:solidFill>
                    <a:latin typeface="Cambria Math" panose="02040503050406030204" pitchFamily="18" charset="0"/>
                  </a:rPr>
                  <a:t>$5$</a:t>
                </a:r>
                <a:r>
                  <a:rPr sz="2400" b="0">
                    <a:solidFill>
                      <a:srgbClr val="111827"/>
                    </a:solidFill>
                    <a:latin typeface="Arial"/>
                  </a:rPr>
                  <a:t> modulo 11.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$5\cdot9=45=44+1\equiv1$</a:t>
                </a:r>
                <a:r>
                  <a:rPr sz="2400" b="0">
                    <a:solidFill>
                      <a:srgbClr val="111827"/>
                    </a:solidFill>
                    <a:latin typeface="Arial"/>
                  </a:rPr>
                  <a:t>, the inverse is </a:t>
                </a:r>
                <a:r>
                  <a:rPr lang="en-IN" sz="2400">
                    <a:solidFill>
                      <a:srgbClr val="111827"/>
                    </a:solidFill>
                    <a:latin typeface="Cambria Math" panose="02040503050406030204" pitchFamily="18" charset="0"/>
                  </a:rPr>
                  <a:t>$9$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Remainder </a:t>
                </a:r>
                <a:r>
                  <a:rPr lang="en-IN" sz="2400">
                    <a:solidFill>
                      <a:srgbClr val="111827"/>
                    </a:solidFill>
                    <a:latin typeface="Cambria Math" panose="02040503050406030204" pitchFamily="18" charset="0"/>
                  </a:rPr>
                  <a:t>$=9$</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9</a:t>
            </a:r>
            <a:endParaRPr sz="2800">
              <a:solidFill>
                <a:srgbClr val="15803D"/>
              </a:solidFill>
            </a:endParaRP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Fermat: for prime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which is quick when the exponent is one less than a multiple of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𝑚</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𝑚𝑢𝑙𝑡𝑖𝑝𝑙𝑒 𝑜𝑓 </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 small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(here </a:t>
                </a:r>
                <a14:m>
                  <m:oMath xmlns:m="http://schemas.openxmlformats.org/officeDocument/2006/math">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3125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284</m:t>
                    </m:r>
                  </m:oMath>
                </a14:m>
                <a:r>
                  <a:rPr sz="2400" b="0">
                    <a:solidFill>
                      <a:srgbClr val="111827"/>
                    </a:solidFill>
                    <a:latin typeface="Arial"/>
                  </a:rPr>
                  <a:t>), then every power of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𝑚</m:t>
                        </m:r>
                      </m:sup>
                    </m:sSup>
                  </m:oMath>
                </a14:m>
                <a:r>
                  <a:rPr sz="2400" b="0">
                    <a:solidFill>
                      <a:srgbClr val="111827"/>
                    </a:solidFill>
                    <a:latin typeface="Arial"/>
                  </a:rPr>
                  <a:t>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99</m:t>
                        </m:r>
                      </m:sup>
                    </m:sSup>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11</m:t>
                    </m:r>
                  </m:oMath>
                </a14:m>
                <a:r>
                  <a:rPr sz="2400" b="0">
                    <a:solidFill>
                      <a:srgbClr val="111827"/>
                    </a:solidFill>
                    <a:latin typeface="Arial"/>
                  </a:rPr>
                  <a:t> computed directly is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Fermat: for prime </a:t>
                </a:r>
                <a:r>
                  <a:rPr lang="en-IN" sz="2400">
                    <a:solidFill>
                      <a:srgbClr val="111827"/>
                    </a:solidFill>
                    <a:latin typeface="Cambria Math" panose="02040503050406030204" pitchFamily="18" charset="0"/>
                  </a:rPr>
                  <a:t>$p\nmid a$</a:t>
                </a:r>
                <a:r>
                  <a:rPr sz="2400" b="0">
                    <a:solidFill>
                      <a:srgbClr val="111827"/>
                    </a:solidFill>
                    <a:latin typeface="Arial"/>
                  </a:rPr>
                  <a:t>, </a:t>
                </a:r>
                <a:r>
                  <a:rPr lang="en-IN" sz="2400">
                    <a:solidFill>
                      <a:srgbClr val="111827"/>
                    </a:solidFill>
                    <a:latin typeface="Cambria Math" panose="02040503050406030204" pitchFamily="18" charset="0"/>
                  </a:rPr>
                  <a:t>$a^{p-1}\equiv1\pmod p$</a:t>
                </a:r>
                <a:r>
                  <a:rPr sz="2400" b="0">
                    <a:solidFill>
                      <a:srgbClr val="111827"/>
                    </a:solidFill>
                    <a:latin typeface="Arial"/>
                  </a:rPr>
                  <a:t>; so </a:t>
                </a:r>
                <a:r>
                  <a:rPr lang="en-IN" sz="2400">
                    <a:solidFill>
                      <a:srgbClr val="111827"/>
                    </a:solidFill>
                    <a:latin typeface="Cambria Math" panose="02040503050406030204" pitchFamily="18" charset="0"/>
                  </a:rPr>
                  <a:t>$a^{k(p-1)-1}\equiv a^{-1}$</a:t>
                </a:r>
                <a:r>
                  <a:rPr sz="2400" b="0">
                    <a:solidFill>
                      <a:srgbClr val="111827"/>
                    </a:solidFill>
                    <a:latin typeface="Arial"/>
                  </a:rPr>
                  <a:t>, which is quick when the exponent is one less than a multiple of </a:t>
                </a:r>
                <a:r>
                  <a:rPr lang="en-IN" sz="2400">
                    <a:solidFill>
                      <a:srgbClr val="111827"/>
                    </a:solidFill>
                    <a:latin typeface="Cambria Math" panose="02040503050406030204" pitchFamily="18" charset="0"/>
                  </a:rPr>
                  <a:t>$p-1$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$a^m=1+(\text{multiple of }p)$</a:t>
                </a:r>
                <a:r>
                  <a:rPr sz="2400" b="0">
                    <a:solidFill>
                      <a:srgbClr val="111827"/>
                    </a:solidFill>
                    <a:latin typeface="Arial"/>
                  </a:rPr>
                  <a:t> for a small </a:t>
                </a:r>
                <a:r>
                  <a:rPr lang="en-IN" sz="2400">
                    <a:solidFill>
                      <a:srgbClr val="111827"/>
                    </a:solidFill>
                    <a:latin typeface="Cambria Math" panose="02040503050406030204" pitchFamily="18" charset="0"/>
                  </a:rPr>
                  <a:t>$m$</a:t>
                </a:r>
                <a:r>
                  <a:rPr sz="2400" b="0">
                    <a:solidFill>
                      <a:srgbClr val="111827"/>
                    </a:solidFill>
                    <a:latin typeface="Arial"/>
                  </a:rPr>
                  <a:t> (here </a:t>
                </a:r>
                <a:r>
                  <a:rPr lang="en-IN" sz="2400">
                    <a:solidFill>
                      <a:srgbClr val="111827"/>
                    </a:solidFill>
                    <a:latin typeface="Cambria Math" panose="02040503050406030204" pitchFamily="18" charset="0"/>
                  </a:rPr>
                  <a:t>$5^5=3125=1+11\cdot284$</a:t>
                </a:r>
                <a:r>
                  <a:rPr sz="2400" b="0">
                    <a:solidFill>
                      <a:srgbClr val="111827"/>
                    </a:solidFill>
                    <a:latin typeface="Arial"/>
                  </a:rPr>
                  <a:t>), then every power of </a:t>
                </a:r>
                <a:r>
                  <a:rPr lang="en-IN" sz="2400">
                    <a:solidFill>
                      <a:srgbClr val="111827"/>
                    </a:solidFill>
                    <a:latin typeface="Cambria Math" panose="02040503050406030204" pitchFamily="18" charset="0"/>
                  </a:rPr>
                  <a:t>$a^m$</a:t>
                </a:r>
                <a:r>
                  <a:rPr sz="2400" b="0">
                    <a:solidFill>
                      <a:srgbClr val="111827"/>
                    </a:solidFill>
                    <a:latin typeface="Arial"/>
                  </a:rPr>
                  <a:t> is </a:t>
                </a:r>
                <a:r>
                  <a:rPr lang="en-IN" sz="2400">
                    <a:solidFill>
                      <a:srgbClr val="111827"/>
                    </a:solidFill>
                    <a:latin typeface="Cambria Math" panose="02040503050406030204" pitchFamily="18" charset="0"/>
                  </a:rPr>
                  <a:t>$\equiv1\pmod p$</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$5^{99}\bmod 11$</a:t>
                </a:r>
                <a:r>
                  <a:rPr sz="2400" b="0">
                    <a:solidFill>
                      <a:srgbClr val="111827"/>
                    </a:solidFill>
                    <a:latin typeface="Arial"/>
                  </a:rPr>
                  <a:t> computed directly is </a:t>
                </a:r>
                <a:r>
                  <a:rPr lang="en-IN" sz="2400">
                    <a:solidFill>
                      <a:srgbClr val="111827"/>
                    </a:solidFill>
                    <a:latin typeface="Cambria Math" panose="02040503050406030204" pitchFamily="18" charset="0"/>
                  </a:rPr>
                  <a:t>$9$</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remainder, when </a:t>
                </a:r>
                <a14:m>
                  <m:oMath xmlns:m="http://schemas.openxmlformats.org/officeDocument/2006/math">
                    <m:sSup>
                      <m:e>
                        <m:r>
                          <a:rPr lang="en-IN" sz="2400" i="1">
                            <a:solidFill>
                              <a:srgbClr val="111827"/>
                            </a:solidFill>
                            <a:latin typeface="Cambria Math" panose="02040503050406030204" pitchFamily="18" charset="0"/>
                          </a:rPr>
                          <m:t>19</m:t>
                        </m:r>
                      </m:e>
                      <m:sup>
                        <m:r>
                          <a:rPr lang="en-IN" sz="2400" i="1">
                            <a:solidFill>
                              <a:srgbClr val="111827"/>
                            </a:solidFill>
                            <a:latin typeface="Cambria Math" panose="02040503050406030204" pitchFamily="18" charset="0"/>
                          </a:rPr>
                          <m:t>200</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23</m:t>
                        </m:r>
                      </m:e>
                      <m:sup>
                        <m:r>
                          <a:rPr lang="en-IN" sz="2400" i="1">
                            <a:solidFill>
                              <a:srgbClr val="111827"/>
                            </a:solidFill>
                            <a:latin typeface="Cambria Math" panose="02040503050406030204" pitchFamily="18" charset="0"/>
                          </a:rPr>
                          <m:t>200</m:t>
                        </m:r>
                      </m:sup>
                    </m:sSup>
                  </m:oMath>
                </a14:m>
                <a:r>
                  <a:rPr sz="2400" b="0">
                    <a:solidFill>
                      <a:srgbClr val="111827"/>
                    </a:solidFill>
                    <a:latin typeface="Arial"/>
                  </a:rPr>
                  <a:t> is divided by 49, is ______ .</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remainder, when </a:t>
                </a:r>
                <a:r>
                  <a:rPr lang="en-IN" sz="2400">
                    <a:solidFill>
                      <a:srgbClr val="111827"/>
                    </a:solidFill>
                    <a:latin typeface="Cambria Math" panose="02040503050406030204" pitchFamily="18" charset="0"/>
                  </a:rPr>
                  <a:t>$19^{200}+23^{200}$</a:t>
                </a:r>
                <a:r>
                  <a:rPr sz="2400" b="0">
                    <a:solidFill>
                      <a:srgbClr val="111827"/>
                    </a:solidFill>
                    <a:latin typeface="Arial"/>
                  </a:rPr>
                  <a:t> is divided by 49, is ______ .</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Remainder on division using the binomial expansion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Write </a:t>
                </a:r>
                <a14:m>
                  <m:oMath xmlns:m="http://schemas.openxmlformats.org/officeDocument/2006/math">
                    <m:r>
                      <a:rPr lang="en-IN" sz="2400" i="1">
                        <a:solidFill>
                          <a:srgbClr val="78350F"/>
                        </a:solidFill>
                        <a:latin typeface="Cambria Math" panose="02040503050406030204" pitchFamily="18" charset="0"/>
                      </a:rPr>
                      <m:t>19</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23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in the sum the odd powers of </a:t>
                </a:r>
                <a14:m>
                  <m:oMath xmlns:m="http://schemas.openxmlformats.org/officeDocument/2006/math">
                    <m:r>
                      <a:rPr lang="en-IN" sz="2400" i="1">
                        <a:solidFill>
                          <a:srgbClr val="78350F"/>
                        </a:solidFill>
                        <a:latin typeface="Cambria Math" panose="02040503050406030204" pitchFamily="18" charset="0"/>
                      </a:rPr>
                      <m:t>21</m:t>
                    </m:r>
                  </m:oMath>
                </a14:m>
                <a:r>
                  <a:rPr sz="2400" b="0">
                    <a:solidFill>
                      <a:srgbClr val="78350F"/>
                    </a:solidFill>
                    <a:latin typeface="Arial"/>
                  </a:rPr>
                  <a:t> cancel and </a:t>
                </a:r>
                <a14:m>
                  <m:oMath xmlns:m="http://schemas.openxmlformats.org/officeDocument/2006/math">
                    <m:sSup>
                      <m:e>
                        <m:r>
                          <a:rPr lang="en-IN" sz="2400" i="1">
                            <a:solidFill>
                              <a:srgbClr val="78350F"/>
                            </a:solidFill>
                            <a:latin typeface="Cambria Math" panose="02040503050406030204" pitchFamily="18" charset="0"/>
                          </a:rPr>
                          <m:t>21</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9</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49</m:t>
                    </m:r>
                  </m:oMath>
                </a14:m>
                <a:r>
                  <a:rPr sz="2400" b="0">
                    <a:solidFill>
                      <a:srgbClr val="78350F"/>
                    </a:solidFill>
                    <a:latin typeface="Arial"/>
                  </a:rPr>
                  <a:t> kills the rest.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Write </a:t>
                </a:r>
                <a:r>
                  <a:rPr lang="en-IN" sz="2400">
                    <a:solidFill>
                      <a:srgbClr val="78350F"/>
                    </a:solidFill>
                    <a:latin typeface="Cambria Math" panose="02040503050406030204" pitchFamily="18" charset="0"/>
                  </a:rPr>
                  <a:t>$19=21-2$</a:t>
                </a:r>
                <a:r>
                  <a:rPr sz="2400" b="0">
                    <a:solidFill>
                      <a:srgbClr val="78350F"/>
                    </a:solidFill>
                    <a:latin typeface="Arial"/>
                  </a:rPr>
                  <a:t> and </a:t>
                </a:r>
                <a:r>
                  <a:rPr lang="en-IN" sz="2400">
                    <a:solidFill>
                      <a:srgbClr val="78350F"/>
                    </a:solidFill>
                    <a:latin typeface="Cambria Math" panose="02040503050406030204" pitchFamily="18" charset="0"/>
                  </a:rPr>
                  <a:t>$23=21+2$</a:t>
                </a:r>
                <a:r>
                  <a:rPr sz="2400" b="0">
                    <a:solidFill>
                      <a:srgbClr val="78350F"/>
                    </a:solidFill>
                    <a:latin typeface="Arial"/>
                  </a:rPr>
                  <a:t>; in the sum the odd powers of </a:t>
                </a:r>
                <a:r>
                  <a:rPr lang="en-IN" sz="2400">
                    <a:solidFill>
                      <a:srgbClr val="78350F"/>
                    </a:solidFill>
                    <a:latin typeface="Cambria Math" panose="02040503050406030204" pitchFamily="18" charset="0"/>
                  </a:rPr>
                  <a:t>$21$</a:t>
                </a:r>
                <a:r>
                  <a:rPr sz="2400" b="0">
                    <a:solidFill>
                      <a:srgbClr val="78350F"/>
                    </a:solidFill>
                    <a:latin typeface="Arial"/>
                  </a:rPr>
                  <a:t> cancel and </a:t>
                </a:r>
                <a:r>
                  <a:rPr lang="en-IN" sz="2400">
                    <a:solidFill>
                      <a:srgbClr val="78350F"/>
                    </a:solidFill>
                    <a:latin typeface="Cambria Math" panose="02040503050406030204" pitchFamily="18" charset="0"/>
                  </a:rPr>
                  <a:t>$21^2=9\cdot49$</a:t>
                </a:r>
                <a:r>
                  <a:rPr sz="2400" b="0">
                    <a:solidFill>
                      <a:srgbClr val="78350F"/>
                    </a:solidFill>
                    <a:latin typeface="Arial"/>
                  </a:rPr>
                  <a:t> kills the rest.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Write </a:t>
                </a:r>
                <a14:m>
                  <m:oMath xmlns:m="http://schemas.openxmlformats.org/officeDocument/2006/math">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the number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200</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200</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 expansion the terms with odd powers of </a:t>
                </a:r>
                <a14:m>
                  <m:oMath xmlns:m="http://schemas.openxmlformats.org/officeDocument/2006/math">
                    <m:r>
                      <a:rPr lang="en-IN" sz="2400" i="1">
                        <a:solidFill>
                          <a:srgbClr val="111827"/>
                        </a:solidFill>
                        <a:latin typeface="Cambria Math" panose="02040503050406030204" pitchFamily="18" charset="0"/>
                      </a:rPr>
                      <m:t>21</m:t>
                    </m:r>
                  </m:oMath>
                </a14:m>
                <a:r>
                  <a:rPr sz="2400" b="0">
                    <a:solidFill>
                      <a:srgbClr val="111827"/>
                    </a:solidFill>
                    <a:latin typeface="Arial"/>
                  </a:rPr>
                  <a:t> cancel, and every term with </a:t>
                </a:r>
                <a14:m>
                  <m:oMath xmlns:m="http://schemas.openxmlformats.org/officeDocument/2006/math">
                    <m:sSup>
                      <m:e>
                        <m:r>
                          <a:rPr lang="en-IN" sz="2400" i="1">
                            <a:solidFill>
                              <a:srgbClr val="111827"/>
                            </a:solidFill>
                            <a:latin typeface="Cambria Math" panose="02040503050406030204" pitchFamily="18" charset="0"/>
                          </a:rPr>
                          <m:t>21</m:t>
                        </m:r>
                      </m:e>
                      <m:sup>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𝑗</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a multiple of </a:t>
                </a:r>
                <a14:m>
                  <m:oMath xmlns:m="http://schemas.openxmlformats.org/officeDocument/2006/math">
                    <m:sSup>
                      <m:e>
                        <m:r>
                          <a:rPr lang="en-IN" sz="2400" i="1">
                            <a:solidFill>
                              <a:srgbClr val="111827"/>
                            </a:solidFill>
                            <a:latin typeface="Cambria Math" panose="02040503050406030204" pitchFamily="18" charset="0"/>
                          </a:rPr>
                          <m:t>21</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441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200</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200</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200</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201</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201</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67</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8</m:t>
                        </m:r>
                      </m:e>
                      <m:sup>
                        <m:r>
                          <a:rPr lang="en-IN" sz="2400" i="1">
                            <a:solidFill>
                              <a:srgbClr val="111827"/>
                            </a:solidFill>
                            <a:latin typeface="Cambria Math" panose="02040503050406030204" pitchFamily="18" charset="0"/>
                          </a:rPr>
                          <m:t>67</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67</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Write </a:t>
                </a:r>
                <a:r>
                  <a:rPr lang="en-IN" sz="2400">
                    <a:solidFill>
                      <a:srgbClr val="111827"/>
                    </a:solidFill>
                    <a:latin typeface="Cambria Math" panose="02040503050406030204" pitchFamily="18" charset="0"/>
                  </a:rPr>
                  <a:t>$19=21-2$</a:t>
                </a:r>
                <a:r>
                  <a:rPr sz="2400" b="0">
                    <a:solidFill>
                      <a:srgbClr val="111827"/>
                    </a:solidFill>
                    <a:latin typeface="Arial"/>
                  </a:rPr>
                  <a:t> and </a:t>
                </a:r>
                <a:r>
                  <a:rPr lang="en-IN" sz="2400">
                    <a:solidFill>
                      <a:srgbClr val="111827"/>
                    </a:solidFill>
                    <a:latin typeface="Cambria Math" panose="02040503050406030204" pitchFamily="18" charset="0"/>
                  </a:rPr>
                  <a:t>$23=21+2$</a:t>
                </a:r>
                <a:r>
                  <a:rPr sz="2400" b="0">
                    <a:solidFill>
                      <a:srgbClr val="111827"/>
                    </a:solidFill>
                    <a:latin typeface="Arial"/>
                  </a:rPr>
                  <a:t>, so the number is </a:t>
                </a:r>
                <a:r>
                  <a:rPr lang="en-IN" sz="2400">
                    <a:solidFill>
                      <a:srgbClr val="111827"/>
                    </a:solidFill>
                    <a:latin typeface="Cambria Math" panose="02040503050406030204" pitchFamily="18" charset="0"/>
                  </a:rPr>
                  <a:t>$(21-2)^{200}+(21+2)^{200}$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 expansion the terms with odd powers of </a:t>
                </a:r>
                <a:r>
                  <a:rPr lang="en-IN" sz="2400">
                    <a:solidFill>
                      <a:srgbClr val="111827"/>
                    </a:solidFill>
                    <a:latin typeface="Cambria Math" panose="02040503050406030204" pitchFamily="18" charset="0"/>
                  </a:rPr>
                  <a:t>$21$</a:t>
                </a:r>
                <a:r>
                  <a:rPr sz="2400" b="0">
                    <a:solidFill>
                      <a:srgbClr val="111827"/>
                    </a:solidFill>
                    <a:latin typeface="Arial"/>
                  </a:rPr>
                  <a:t> cancel, and every term with </a:t>
                </a:r>
                <a:r>
                  <a:rPr lang="en-IN" sz="2400">
                    <a:solidFill>
                      <a:srgbClr val="111827"/>
                    </a:solidFill>
                    <a:latin typeface="Cambria Math" panose="02040503050406030204" pitchFamily="18" charset="0"/>
                  </a:rPr>
                  <a:t>$21^{2j}$</a:t>
                </a:r>
                <a:r>
                  <a:rPr sz="2400" b="0">
                    <a:solidFill>
                      <a:srgbClr val="111827"/>
                    </a:solidFill>
                    <a:latin typeface="Arial"/>
                  </a:rPr>
                  <a:t>, </a:t>
                </a:r>
                <a:r>
                  <a:rPr lang="en-IN" sz="2400">
                    <a:solidFill>
                      <a:srgbClr val="111827"/>
                    </a:solidFill>
                    <a:latin typeface="Cambria Math" panose="02040503050406030204" pitchFamily="18" charset="0"/>
                  </a:rPr>
                  <a:t>$j\ge1$</a:t>
                </a:r>
                <a:r>
                  <a:rPr sz="2400" b="0">
                    <a:solidFill>
                      <a:srgbClr val="111827"/>
                    </a:solidFill>
                    <a:latin typeface="Arial"/>
                  </a:rPr>
                  <a:t>, is a multiple of </a:t>
                </a:r>
                <a:r>
                  <a:rPr lang="en-IN" sz="2400">
                    <a:solidFill>
                      <a:srgbClr val="111827"/>
                    </a:solidFill>
                    <a:latin typeface="Cambria Math" panose="02040503050406030204" pitchFamily="18" charset="0"/>
                  </a:rPr>
                  <a:t>$21^2=441=9\cdot49$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$(21-2)^{200}+(21+2)^{200}=49\lambda+2\cdot2^{200}=49\lambda+2^{201}$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$2^{201}=2^{3\cdot67}=8^{67}=(7+1)^{67}$</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67</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67</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since all terms from </a:t>
                </a:r>
                <a14:m>
                  <m:oMath xmlns:m="http://schemas.openxmlformats.org/officeDocument/2006/math">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onward are multiples of 49.</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470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470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29</m:t>
                    </m:r>
                  </m:oMath>
                </a14:m>
                <a:r>
                  <a:rPr sz="2400" b="0">
                    <a:solidFill>
                      <a:srgbClr val="111827"/>
                    </a:solidFill>
                    <a:latin typeface="Arial"/>
                  </a:rPr>
                  <a:t>, so the whole number is </a:t>
                </a:r>
                <a14:m>
                  <m:oMath xmlns:m="http://schemas.openxmlformats.org/officeDocument/2006/math">
                    <m:r>
                      <a:rPr lang="en-IN" sz="2400" i="1">
                        <a:solidFill>
                          <a:srgbClr val="111827"/>
                        </a:solidFill>
                        <a:latin typeface="Cambria Math" panose="02040503050406030204" pitchFamily="18" charset="0"/>
                      </a:rPr>
                      <m:t>49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remainder is </a:t>
                </a:r>
                <a14:m>
                  <m:oMath xmlns:m="http://schemas.openxmlformats.org/officeDocument/2006/math">
                    <m:r>
                      <a:rPr lang="en-IN" sz="2400" i="1">
                        <a:solidFill>
                          <a:srgbClr val="111827"/>
                        </a:solidFill>
                        <a:latin typeface="Cambria Math" panose="02040503050406030204" pitchFamily="18" charset="0"/>
                      </a:rPr>
                      <m:t>29</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$(7+1)^{67}=49\mu+{}^{67}C_1\cdot7+1=49\mu+7\cdot67+1$</a:t>
                </a:r>
                <a:r>
                  <a:rPr sz="2400" b="0">
                    <a:solidFill>
                      <a:srgbClr val="111827"/>
                    </a:solidFill>
                    <a:latin typeface="Arial"/>
                  </a:rPr>
                  <a:t>, since all terms from </a:t>
                </a:r>
                <a:r>
                  <a:rPr lang="en-IN" sz="2400">
                    <a:solidFill>
                      <a:srgbClr val="111827"/>
                    </a:solidFill>
                    <a:latin typeface="Cambria Math" panose="02040503050406030204" pitchFamily="18" charset="0"/>
                  </a:rPr>
                  <a:t>$7^2$</a:t>
                </a:r>
                <a:r>
                  <a:rPr sz="2400" b="0">
                    <a:solidFill>
                      <a:srgbClr val="111827"/>
                    </a:solidFill>
                    <a:latin typeface="Arial"/>
                  </a:rPr>
                  <a:t> onward are multiples of 49.</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$=49\mu+470$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$470=49\cdot9+29$</a:t>
                </a:r>
                <a:r>
                  <a:rPr sz="2400" b="0">
                    <a:solidFill>
                      <a:srgbClr val="111827"/>
                    </a:solidFill>
                    <a:latin typeface="Arial"/>
                  </a:rPr>
                  <a:t>, so the whole number is </a:t>
                </a:r>
                <a:r>
                  <a:rPr lang="en-IN" sz="2400">
                    <a:solidFill>
                      <a:srgbClr val="111827"/>
                    </a:solidFill>
                    <a:latin typeface="Cambria Math" panose="02040503050406030204" pitchFamily="18" charset="0"/>
                  </a:rPr>
                  <a:t>$49(\lambda+\mu+9)+29$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remainder is </a:t>
                </a:r>
                <a:r>
                  <a:rPr lang="en-IN" sz="2400">
                    <a:solidFill>
                      <a:srgbClr val="111827"/>
                    </a:solidFill>
                    <a:latin typeface="Cambria Math" panose="02040503050406030204" pitchFamily="18" charset="0"/>
                  </a:rPr>
                  <a:t>$29$</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29</a:t>
            </a:r>
            <a:endParaRPr sz="2800">
              <a:solidFill>
                <a:srgbClr val="15803D"/>
              </a:solidFill>
            </a:endParaRP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After reducing to </a:t>
                </a:r>
                <a14:m>
                  <m:oMath xmlns:m="http://schemas.openxmlformats.org/officeDocument/2006/math">
                    <m:sSup>
                      <m:e>
                        <m:r>
                          <a:rPr lang="en-IN" sz="2400" i="1">
                            <a:solidFill>
                              <a:srgbClr val="78350F"/>
                            </a:solidFill>
                            <a:latin typeface="Cambria Math" panose="02040503050406030204" pitchFamily="18" charset="0"/>
                          </a:rPr>
                          <m:t>2</m:t>
                        </m:r>
                      </m:e>
                      <m:sup>
                        <m:r>
                          <a:rPr lang="en-IN" sz="2400" i="1">
                            <a:solidFill>
                              <a:srgbClr val="78350F"/>
                            </a:solidFill>
                            <a:latin typeface="Cambria Math" panose="02040503050406030204" pitchFamily="18" charset="0"/>
                          </a:rPr>
                          <m:t>201</m:t>
                        </m:r>
                      </m:sup>
                    </m:sSup>
                  </m:oMath>
                </a14:m>
                <a:r>
                  <a:rPr sz="2400" b="0">
                    <a:solidFill>
                      <a:srgbClr val="78350F"/>
                    </a:solidFill>
                    <a:latin typeface="Arial"/>
                  </a:rPr>
                  <a:t>, use that </a:t>
                </a:r>
                <a14:m>
                  <m:oMath xmlns:m="http://schemas.openxmlformats.org/officeDocument/2006/math">
                    <m:r>
                      <a:rPr lang="en-IN" sz="2400" i="1">
                        <a:solidFill>
                          <a:srgbClr val="78350F"/>
                        </a:solidFill>
                        <a:latin typeface="Cambria Math" panose="02040503050406030204" pitchFamily="18" charset="0"/>
                      </a:rPr>
                      <m:t>2</m:t>
                    </m:r>
                  </m:oMath>
                </a14:m>
                <a:r>
                  <a:rPr sz="2400" b="0">
                    <a:solidFill>
                      <a:srgbClr val="78350F"/>
                    </a:solidFill>
                    <a:latin typeface="Arial"/>
                  </a:rPr>
                  <a:t> has order </a:t>
                </a:r>
                <a14:m>
                  <m:oMath xmlns:m="http://schemas.openxmlformats.org/officeDocument/2006/math">
                    <m:r>
                      <a:rPr lang="en-IN" sz="2400" i="1">
                        <a:solidFill>
                          <a:srgbClr val="78350F"/>
                        </a:solidFill>
                        <a:latin typeface="Cambria Math" panose="02040503050406030204" pitchFamily="18" charset="0"/>
                      </a:rPr>
                      <m:t>21</m:t>
                    </m:r>
                  </m:oMath>
                </a14:m>
                <a:r>
                  <a:rPr sz="2400" b="0">
                    <a:solidFill>
                      <a:srgbClr val="78350F"/>
                    </a:solidFill>
                    <a:latin typeface="Arial"/>
                  </a:rPr>
                  <a:t> modulo 49 to shorten the exponent.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After reducing to </a:t>
                </a:r>
                <a:r>
                  <a:rPr lang="en-IN" sz="2400">
                    <a:solidFill>
                      <a:srgbClr val="78350F"/>
                    </a:solidFill>
                    <a:latin typeface="Cambria Math" panose="02040503050406030204" pitchFamily="18" charset="0"/>
                  </a:rPr>
                  <a:t>$2^{201}$</a:t>
                </a:r>
                <a:r>
                  <a:rPr sz="2400" b="0">
                    <a:solidFill>
                      <a:srgbClr val="78350F"/>
                    </a:solidFill>
                    <a:latin typeface="Arial"/>
                  </a:rPr>
                  <a:t>, use that </a:t>
                </a:r>
                <a:r>
                  <a:rPr lang="en-IN" sz="2400">
                    <a:solidFill>
                      <a:srgbClr val="78350F"/>
                    </a:solidFill>
                    <a:latin typeface="Cambria Math" panose="02040503050406030204" pitchFamily="18" charset="0"/>
                  </a:rPr>
                  <a:t>$2$</a:t>
                </a:r>
                <a:r>
                  <a:rPr sz="2400" b="0">
                    <a:solidFill>
                      <a:srgbClr val="78350F"/>
                    </a:solidFill>
                    <a:latin typeface="Arial"/>
                  </a:rPr>
                  <a:t> has order </a:t>
                </a:r>
                <a:r>
                  <a:rPr lang="en-IN" sz="2400">
                    <a:solidFill>
                      <a:srgbClr val="78350F"/>
                    </a:solidFill>
                    <a:latin typeface="Cambria Math" panose="02040503050406030204" pitchFamily="18" charset="0"/>
                  </a:rPr>
                  <a:t>$21$</a:t>
                </a:r>
                <a:r>
                  <a:rPr sz="2400" b="0">
                    <a:solidFill>
                      <a:srgbClr val="78350F"/>
                    </a:solidFill>
                    <a:latin typeface="Arial"/>
                  </a:rPr>
                  <a:t> modulo 49 to shorten the exponent.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As in the main solution the number is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201</m:t>
                        </m:r>
                      </m:sup>
                    </m:sSup>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49</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(odd powers of </a:t>
                </a:r>
                <a14:m>
                  <m:oMath xmlns:m="http://schemas.openxmlformats.org/officeDocument/2006/math">
                    <m:r>
                      <a:rPr lang="en-IN" sz="2400" i="1">
                        <a:solidFill>
                          <a:srgbClr val="111827"/>
                        </a:solidFill>
                        <a:latin typeface="Cambria Math" panose="02040503050406030204" pitchFamily="18" charset="0"/>
                      </a:rPr>
                      <m:t>21</m:t>
                    </m:r>
                  </m:oMath>
                </a14:m>
                <a:r>
                  <a:rPr sz="2400" b="0">
                    <a:solidFill>
                      <a:srgbClr val="111827"/>
                    </a:solidFill>
                    <a:latin typeface="Arial"/>
                  </a:rPr>
                  <a:t> cancel, </a:t>
                </a:r>
                <a14:m>
                  <m:oMath xmlns:m="http://schemas.openxmlformats.org/officeDocument/2006/math">
                    <m:sSup>
                      <m:e>
                        <m:r>
                          <a:rPr lang="en-IN" sz="2400" i="1">
                            <a:solidFill>
                              <a:srgbClr val="111827"/>
                            </a:solidFill>
                            <a:latin typeface="Cambria Math" panose="02040503050406030204" pitchFamily="18" charset="0"/>
                          </a:rPr>
                          <m:t>21</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Compute powers of 2 modulo 49: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10</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20</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order of 2 divides 21, and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201</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12</m:t>
                        </m:r>
                      </m:sup>
                    </m:sSup>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As in the main solution the number is </a:t>
                </a:r>
                <a:r>
                  <a:rPr lang="en-IN" sz="2400">
                    <a:solidFill>
                      <a:srgbClr val="111827"/>
                    </a:solidFill>
                    <a:latin typeface="Cambria Math" panose="02040503050406030204" pitchFamily="18" charset="0"/>
                  </a:rPr>
                  <a:t>$\equiv 2^{201}\pmod{49}$</a:t>
                </a:r>
                <a:r>
                  <a:rPr sz="2400" b="0">
                    <a:solidFill>
                      <a:srgbClr val="111827"/>
                    </a:solidFill>
                    <a:latin typeface="Arial"/>
                  </a:rPr>
                  <a:t> (odd powers of </a:t>
                </a:r>
                <a:r>
                  <a:rPr lang="en-IN" sz="2400">
                    <a:solidFill>
                      <a:srgbClr val="111827"/>
                    </a:solidFill>
                    <a:latin typeface="Cambria Math" panose="02040503050406030204" pitchFamily="18" charset="0"/>
                  </a:rPr>
                  <a:t>$21$</a:t>
                </a:r>
                <a:r>
                  <a:rPr sz="2400" b="0">
                    <a:solidFill>
                      <a:srgbClr val="111827"/>
                    </a:solidFill>
                    <a:latin typeface="Arial"/>
                  </a:rPr>
                  <a:t> cancel, </a:t>
                </a:r>
                <a:r>
                  <a:rPr lang="en-IN" sz="2400">
                    <a:solidFill>
                      <a:srgbClr val="111827"/>
                    </a:solidFill>
                    <a:latin typeface="Cambria Math" panose="02040503050406030204" pitchFamily="18" charset="0"/>
                  </a:rPr>
                  <a:t>$21^2\equiv0$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Compute powers of 2 modulo 49: </a:t>
                </a:r>
                <a:r>
                  <a:rPr lang="en-IN" sz="2400">
                    <a:solidFill>
                      <a:srgbClr val="111827"/>
                    </a:solidFill>
                    <a:latin typeface="Cambria Math" panose="02040503050406030204" pitchFamily="18" charset="0"/>
                  </a:rPr>
                  <a:t>$2^{10}=1024=49\cdot20+44\equiv-5$</a:t>
                </a:r>
                <a:r>
                  <a:rPr sz="2400" b="0">
                    <a:solidFill>
                      <a:srgbClr val="111827"/>
                    </a:solidFill>
                    <a:latin typeface="Arial"/>
                  </a:rPr>
                  <a:t>, so </a:t>
                </a:r>
                <a:r>
                  <a:rPr lang="en-IN" sz="2400">
                    <a:solidFill>
                      <a:srgbClr val="111827"/>
                    </a:solidFill>
                    <a:latin typeface="Cambria Math" panose="02040503050406030204" pitchFamily="18" charset="0"/>
                  </a:rPr>
                  <a:t>$2^{20}\equiv25$</a:t>
                </a:r>
                <a:r>
                  <a:rPr sz="2400" b="0">
                    <a:solidFill>
                      <a:srgbClr val="111827"/>
                    </a:solidFill>
                    <a:latin typeface="Arial"/>
                  </a:rPr>
                  <a:t> and </a:t>
                </a:r>
                <a:r>
                  <a:rPr lang="en-IN" sz="2400">
                    <a:solidFill>
                      <a:srgbClr val="111827"/>
                    </a:solidFill>
                    <a:latin typeface="Cambria Math" panose="02040503050406030204" pitchFamily="18" charset="0"/>
                  </a:rPr>
                  <a:t>$2^{21}\equiv50\equiv1$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order of 2 divides 21, and </a:t>
                </a:r>
                <a:r>
                  <a:rPr lang="en-IN" sz="2400">
                    <a:solidFill>
                      <a:srgbClr val="111827"/>
                    </a:solidFill>
                    <a:latin typeface="Cambria Math" panose="02040503050406030204" pitchFamily="18" charset="0"/>
                  </a:rPr>
                  <a:t>$2^{201}=2^{21\cdot9+12}\equiv2^{12}$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4096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Remainder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29</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$2^{12}=4096=49\cdot83+29$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Remainder </a:t>
                </a:r>
                <a:r>
                  <a:rPr lang="en-IN" sz="2400">
                    <a:solidFill>
                      <a:srgbClr val="111827"/>
                    </a:solidFill>
                    <a:latin typeface="Cambria Math" panose="02040503050406030204" pitchFamily="18" charset="0"/>
                  </a:rPr>
                  <a:t>$=29$</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29</a:t>
            </a:r>
            <a:endParaRPr sz="2800">
              <a:solidFill>
                <a:srgbClr val="15803D"/>
              </a:solidFill>
            </a:endParaRP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even equals </a:t>
                </a:r>
                <a14:m>
                  <m:oMath xmlns:m="http://schemas.openxmlformats.org/officeDocument/2006/math">
                    <m:r>
                      <a:rPr lang="en-IN" sz="2400" i="1">
                        <a:solidFill>
                          <a:srgbClr val="111827"/>
                        </a:solidFill>
                        <a:latin typeface="Cambria Math" panose="02040503050406030204" pitchFamily="18" charset="0"/>
                      </a:rPr>
                      <m:t>2</m:t>
                    </m:r>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𝑗</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𝑒</m:t>
                        </m:r>
                        <m:r>
                          <a:rPr lang="en-IN" sz="2400" i="1">
                            <a:solidFill>
                              <a:srgbClr val="111827"/>
                            </a:solidFill>
                            <a:latin typeface="Cambria Math" panose="02040503050406030204" pitchFamily="18" charset="0"/>
                          </a:rPr>
                          <m:t>𝑣</m:t>
                        </m:r>
                        <m:r>
                          <a:rPr lang="en-IN" sz="2400" i="1">
                            <a:solidFill>
                              <a:srgbClr val="111827"/>
                            </a:solidFill>
                            <a:latin typeface="Cambria Math" panose="02040503050406030204" pitchFamily="18" charset="0"/>
                          </a:rPr>
                          <m:t>𝑒</m:t>
                        </m:r>
                        <m:r>
                          <a:rPr lang="en-IN" sz="2400" i="1">
                            <a:solidFill>
                              <a:srgbClr val="111827"/>
                            </a:solidFill>
                            <a:latin typeface="Cambria Math" panose="02040503050406030204" pitchFamily="18" charset="0"/>
                          </a:rPr>
                          <m:t>𝑛</m:t>
                        </m:r>
                      </m:sub>
                      <m:sup>
                        <m:r>
                          <a:rPr lang="en-IN" sz="2400" i="1">
                            <a:solidFill>
                              <a:srgbClr val="111827"/>
                            </a:solidFill>
                            <a:latin typeface="Cambria Math" panose="02040503050406030204" pitchFamily="18" charset="0"/>
                          </a:rPr>
                          <m:t>​</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𝑗</m:t>
                                </m:r>
                              </m:den>
                            </m:f>
                          </m:e>
                        </m:d>
                      </m:e>
                    </m:nary>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𝑗</m:t>
                        </m:r>
                      </m:sup>
                    </m:sSup>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sup>
                    </m:sSup>
                  </m:oMath>
                </a14:m>
                <a:r>
                  <a:rPr sz="2400" b="0">
                    <a:solidFill>
                      <a:srgbClr val="111827"/>
                    </a:solidFill>
                    <a:latin typeface="Arial"/>
                  </a:rPr>
                  <a:t>; if </a:t>
                </a:r>
                <a14:m>
                  <m:oMath xmlns:m="http://schemas.openxmlformats.org/officeDocument/2006/math">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is divisible by the modulus only the </a:t>
                </a:r>
                <a14:m>
                  <m:oMath xmlns:m="http://schemas.openxmlformats.org/officeDocument/2006/math">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term </a:t>
                </a:r>
                <a14:m>
                  <m:oMath xmlns:m="http://schemas.openxmlformats.org/officeDocument/2006/math">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survives.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Choosing the centre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as a multiple of the prime (</a:t>
                </a:r>
                <a14:m>
                  <m:oMath xmlns:m="http://schemas.openxmlformats.org/officeDocument/2006/math">
                    <m:r>
                      <a:rPr lang="en-IN" sz="2400" i="1">
                        <a:solidFill>
                          <a:srgbClr val="111827"/>
                        </a:solidFill>
                        <a:latin typeface="Cambria Math" panose="02040503050406030204" pitchFamily="18" charset="0"/>
                      </a:rPr>
                      <m:t>21</m:t>
                    </m:r>
                  </m:oMath>
                </a14:m>
                <a:r>
                  <a:rPr sz="2400" b="0">
                    <a:solidFill>
                      <a:srgbClr val="111827"/>
                    </a:solidFill>
                    <a:latin typeface="Arial"/>
                  </a:rPr>
                  <a:t> for modulus </a:t>
                </a:r>
                <a14:m>
                  <m:oMath xmlns:m="http://schemas.openxmlformats.org/officeDocument/2006/math">
                    <m:r>
                      <a:rPr lang="en-IN" sz="2400" i="1">
                        <a:solidFill>
                          <a:srgbClr val="111827"/>
                        </a:solidFill>
                        <a:latin typeface="Cambria Math" panose="02040503050406030204" pitchFamily="18" charset="0"/>
                      </a:rPr>
                      <m:t>49</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kills all but the first terms;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𝑁</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𝑁</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49</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Euler: </a:t>
                </a:r>
                <a14:m>
                  <m:oMath xmlns:m="http://schemas.openxmlformats.org/officeDocument/2006/math">
                    <m:r>
                      <a:rPr lang="en-IN" sz="2400" i="1">
                        <a:solidFill>
                          <a:srgbClr val="111827"/>
                        </a:solidFill>
                        <a:latin typeface="Cambria Math" panose="02040503050406030204" pitchFamily="18" charset="0"/>
                      </a:rPr>
                      <m:t>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m:t>
                    </m:r>
                  </m:oMath>
                </a14:m>
                <a:r>
                  <a:rPr sz="2400" b="0">
                    <a:solidFill>
                      <a:srgbClr val="111827"/>
                    </a:solidFill>
                    <a:latin typeface="Arial"/>
                  </a:rPr>
                  <a:t>; orders divide 42. Here ord</a:t>
                </a:r>
                <a14:m>
                  <m:oMath xmlns:m="http://schemas.openxmlformats.org/officeDocument/2006/math">
                    <m:sSub>
                      <m:e>
                        <m:r>
                          <a:rPr lang="en-IN" sz="2400" i="1">
                            <a:solidFill>
                              <a:srgbClr val="111827"/>
                            </a:solidFill>
                            <a:latin typeface="Cambria Math" panose="02040503050406030204" pitchFamily="18" charset="0"/>
                          </a:rPr>
                          <m:t>​</m:t>
                        </m:r>
                      </m:e>
                      <m:sub>
                        <m:r>
                          <a:rPr lang="en-IN" sz="2400" i="1">
                            <a:solidFill>
                              <a:srgbClr val="111827"/>
                            </a:solidFill>
                            <a:latin typeface="Cambria Math" panose="02040503050406030204" pitchFamily="18" charset="0"/>
                          </a:rPr>
                          <m:t>49</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201</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29</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$a=m-d$</a:t>
                </a:r>
                <a:r>
                  <a:rPr sz="2400" b="0">
                    <a:solidFill>
                      <a:srgbClr val="111827"/>
                    </a:solidFill>
                    <a:latin typeface="Arial"/>
                  </a:rPr>
                  <a:t> and </a:t>
                </a:r>
                <a:r>
                  <a:rPr lang="en-IN" sz="2400">
                    <a:solidFill>
                      <a:srgbClr val="111827"/>
                    </a:solidFill>
                    <a:latin typeface="Cambria Math" panose="02040503050406030204" pitchFamily="18" charset="0"/>
                  </a:rPr>
                  <a:t>$b=m+d$</a:t>
                </a:r>
                <a:r>
                  <a:rPr sz="2400" b="0">
                    <a:solidFill>
                      <a:srgbClr val="111827"/>
                    </a:solidFill>
                    <a:latin typeface="Arial"/>
                  </a:rPr>
                  <a:t>: </a:t>
                </a:r>
                <a:r>
                  <a:rPr lang="en-IN" sz="2400">
                    <a:solidFill>
                      <a:srgbClr val="111827"/>
                    </a:solidFill>
                    <a:latin typeface="Cambria Math" panose="02040503050406030204" pitchFamily="18" charset="0"/>
                  </a:rPr>
                  <a:t>$a^{n}+b^{n}$</a:t>
                </a:r>
                <a:r>
                  <a:rPr sz="2400" b="0">
                    <a:solidFill>
                      <a:srgbClr val="111827"/>
                    </a:solidFill>
                    <a:latin typeface="Arial"/>
                  </a:rPr>
                  <a:t> with </a:t>
                </a:r>
                <a:r>
                  <a:rPr lang="en-IN" sz="2400">
                    <a:solidFill>
                      <a:srgbClr val="111827"/>
                    </a:solidFill>
                    <a:latin typeface="Cambria Math" panose="02040503050406030204" pitchFamily="18" charset="0"/>
                  </a:rPr>
                  <a:t>$n$</a:t>
                </a:r>
                <a:r>
                  <a:rPr sz="2400" b="0">
                    <a:solidFill>
                      <a:srgbClr val="111827"/>
                    </a:solidFill>
                    <a:latin typeface="Arial"/>
                  </a:rPr>
                  <a:t> even equals </a:t>
                </a:r>
                <a:r>
                  <a:rPr lang="en-IN" sz="2400">
                    <a:solidFill>
                      <a:srgbClr val="111827"/>
                    </a:solidFill>
                    <a:latin typeface="Cambria Math" panose="02040503050406030204" pitchFamily="18" charset="0"/>
                  </a:rPr>
                  <a:t>$2\sum_{j\ even}\binom{n}{j}m^{j}d^{n-j}$</a:t>
                </a:r>
                <a:r>
                  <a:rPr sz="2400" b="0">
                    <a:solidFill>
                      <a:srgbClr val="111827"/>
                    </a:solidFill>
                    <a:latin typeface="Arial"/>
                  </a:rPr>
                  <a:t>; if </a:t>
                </a:r>
                <a:r>
                  <a:rPr lang="en-IN" sz="2400">
                    <a:solidFill>
                      <a:srgbClr val="111827"/>
                    </a:solidFill>
                    <a:latin typeface="Cambria Math" panose="02040503050406030204" pitchFamily="18" charset="0"/>
                  </a:rPr>
                  <a:t>$m^2$</a:t>
                </a:r>
                <a:r>
                  <a:rPr sz="2400" b="0">
                    <a:solidFill>
                      <a:srgbClr val="111827"/>
                    </a:solidFill>
                    <a:latin typeface="Arial"/>
                  </a:rPr>
                  <a:t> is divisible by the modulus only the </a:t>
                </a:r>
                <a:r>
                  <a:rPr lang="en-IN" sz="2400">
                    <a:solidFill>
                      <a:srgbClr val="111827"/>
                    </a:solidFill>
                    <a:latin typeface="Cambria Math" panose="02040503050406030204" pitchFamily="18" charset="0"/>
                  </a:rPr>
                  <a:t>$j=0$</a:t>
                </a:r>
                <a:r>
                  <a:rPr sz="2400" b="0">
                    <a:solidFill>
                      <a:srgbClr val="111827"/>
                    </a:solidFill>
                    <a:latin typeface="Arial"/>
                  </a:rPr>
                  <a:t> term </a:t>
                </a:r>
                <a:r>
                  <a:rPr lang="en-IN" sz="2400">
                    <a:solidFill>
                      <a:srgbClr val="111827"/>
                    </a:solidFill>
                    <a:latin typeface="Cambria Math" panose="02040503050406030204" pitchFamily="18" charset="0"/>
                  </a:rPr>
                  <a:t>$2d^{n}$</a:t>
                </a:r>
                <a:r>
                  <a:rPr sz="2400" b="0">
                    <a:solidFill>
                      <a:srgbClr val="111827"/>
                    </a:solidFill>
                    <a:latin typeface="Arial"/>
                  </a:rPr>
                  <a:t> survives.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Choosing the centre </a:t>
                </a:r>
                <a:r>
                  <a:rPr lang="en-IN" sz="2400">
                    <a:solidFill>
                      <a:srgbClr val="111827"/>
                    </a:solidFill>
                    <a:latin typeface="Cambria Math" panose="02040503050406030204" pitchFamily="18" charset="0"/>
                  </a:rPr>
                  <a:t>$m$</a:t>
                </a:r>
                <a:r>
                  <a:rPr sz="2400" b="0">
                    <a:solidFill>
                      <a:srgbClr val="111827"/>
                    </a:solidFill>
                    <a:latin typeface="Arial"/>
                  </a:rPr>
                  <a:t> as a multiple of the prime (</a:t>
                </a:r>
                <a:r>
                  <a:rPr lang="en-IN" sz="2400">
                    <a:solidFill>
                      <a:srgbClr val="111827"/>
                    </a:solidFill>
                    <a:latin typeface="Cambria Math" panose="02040503050406030204" pitchFamily="18" charset="0"/>
                  </a:rPr>
                  <a:t>$21$</a:t>
                </a:r>
                <a:r>
                  <a:rPr sz="2400" b="0">
                    <a:solidFill>
                      <a:srgbClr val="111827"/>
                    </a:solidFill>
                    <a:latin typeface="Arial"/>
                  </a:rPr>
                  <a:t> for modulus </a:t>
                </a:r>
                <a:r>
                  <a:rPr lang="en-IN" sz="2400">
                    <a:solidFill>
                      <a:srgbClr val="111827"/>
                    </a:solidFill>
                    <a:latin typeface="Cambria Math" panose="02040503050406030204" pitchFamily="18" charset="0"/>
                  </a:rPr>
                  <a:t>$49=7^2$</a:t>
                </a:r>
                <a:r>
                  <a:rPr sz="2400" b="0">
                    <a:solidFill>
                      <a:srgbClr val="111827"/>
                    </a:solidFill>
                    <a:latin typeface="Arial"/>
                  </a:rPr>
                  <a:t>) kills all but the first terms; </a:t>
                </a:r>
                <a:r>
                  <a:rPr lang="en-IN" sz="2400">
                    <a:solidFill>
                      <a:srgbClr val="111827"/>
                    </a:solidFill>
                    <a:latin typeface="Cambria Math" panose="02040503050406030204" pitchFamily="18" charset="0"/>
                  </a:rPr>
                  <a:t>$(7+1)^N\equiv1+7N\pmod{49}$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Euler: </a:t>
                </a:r>
                <a:r>
                  <a:rPr lang="en-IN" sz="2400">
                    <a:solidFill>
                      <a:srgbClr val="111827"/>
                    </a:solidFill>
                    <a:latin typeface="Cambria Math" panose="02040503050406030204" pitchFamily="18" charset="0"/>
                  </a:rPr>
                  <a:t>$\varphi(49)=42$</a:t>
                </a:r>
                <a:r>
                  <a:rPr sz="2400" b="0">
                    <a:solidFill>
                      <a:srgbClr val="111827"/>
                    </a:solidFill>
                    <a:latin typeface="Arial"/>
                  </a:rPr>
                  <a:t>; orders divide 42. Here ord</a:t>
                </a:r>
                <a:r>
                  <a:rPr lang="en-IN" sz="2400">
                    <a:solidFill>
                      <a:srgbClr val="111827"/>
                    </a:solidFill>
                    <a:latin typeface="Cambria Math" panose="02040503050406030204" pitchFamily="18" charset="0"/>
                  </a:rPr>
                  <a:t>$_{49}(2)=21$</a:t>
                </a:r>
                <a:r>
                  <a:rPr sz="2400" b="0">
                    <a:solidFill>
                      <a:srgbClr val="111827"/>
                    </a:solidFill>
                    <a:latin typeface="Arial"/>
                  </a:rPr>
                  <a:t>, so </a:t>
                </a:r>
                <a:r>
                  <a:rPr lang="en-IN" sz="2400">
                    <a:solidFill>
                      <a:srgbClr val="111827"/>
                    </a:solidFill>
                    <a:latin typeface="Cambria Math" panose="02040503050406030204" pitchFamily="18" charset="0"/>
                  </a:rPr>
                  <a:t>$2^{201}\equiv2^{12}\equiv29$</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123692"/>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sixth term in the binomial expansion of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2</m:t>
                                        </m:r>
                                      </m:e>
                                      <m:sup>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sup>
                                    </m:sSup>
                                  </m:e>
                                </m:d>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2</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2</m:t>
                                            </m:r>
                                          </m:sub>
                                        </m:sSub>
                                        <m:r>
                                          <a:rPr lang="en-IN" sz="2400" i="1">
                                            <a:solidFill>
                                              <a:srgbClr val="111827"/>
                                            </a:solidFill>
                                            <a:latin typeface="Cambria Math" panose="02040503050406030204" pitchFamily="18" charset="0"/>
                                          </a:rPr>
                                          <m:t>3</m:t>
                                        </m:r>
                                      </m:sup>
                                    </m:sSup>
                                  </m:e>
                                </m:d>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up>
                            </m:sSup>
                          </m:e>
                        </m:d>
                      </m:e>
                      <m:sup>
                        <m:r>
                          <a:rPr lang="en-IN" sz="2400" i="1">
                            <a:solidFill>
                              <a:srgbClr val="111827"/>
                            </a:solidFill>
                            <a:latin typeface="Cambria Math" panose="02040503050406030204" pitchFamily="18" charset="0"/>
                          </a:rPr>
                          <m:t>𝑚</m:t>
                        </m:r>
                      </m:sup>
                    </m:sSup>
                  </m:oMath>
                </a14:m>
                <a:r>
                  <a:rPr sz="2400" b="0">
                    <a:solidFill>
                      <a:srgbClr val="111827"/>
                    </a:solidFill>
                    <a:latin typeface="Arial"/>
                  </a:rPr>
                  <a:t>, in the increasing powers of </a:t>
                </a:r>
                <a14:m>
                  <m:oMath xmlns:m="http://schemas.openxmlformats.org/officeDocument/2006/math">
                    <m:sSup>
                      <m:e>
                        <m:r>
                          <a:rPr lang="en-IN" sz="2400" i="1">
                            <a:solidFill>
                              <a:srgbClr val="111827"/>
                            </a:solidFill>
                            <a:latin typeface="Cambria Math" panose="02040503050406030204" pitchFamily="18" charset="0"/>
                          </a:rPr>
                          <m:t>2</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2</m:t>
                            </m:r>
                          </m:sub>
                        </m:sSub>
                        <m:r>
                          <a:rPr lang="en-IN" sz="2400" i="1">
                            <a:solidFill>
                              <a:srgbClr val="111827"/>
                            </a:solidFill>
                            <a:latin typeface="Cambria Math" panose="02040503050406030204" pitchFamily="18" charset="0"/>
                          </a:rPr>
                          <m:t>3</m:t>
                        </m:r>
                      </m:sup>
                    </m:sSup>
                  </m:oMath>
                </a14:m>
                <a:r>
                  <a:rPr sz="2400" b="0">
                    <a:solidFill>
                      <a:srgbClr val="111827"/>
                    </a:solidFill>
                    <a:latin typeface="Arial"/>
                  </a:rPr>
                  <a:t>, be </a:t>
                </a:r>
                <a14:m>
                  <m:oMath xmlns:m="http://schemas.openxmlformats.org/officeDocument/2006/math">
                    <m:r>
                      <a:rPr lang="en-IN" sz="2400" i="1">
                        <a:solidFill>
                          <a:srgbClr val="111827"/>
                        </a:solidFill>
                        <a:latin typeface="Cambria Math" panose="02040503050406030204" pitchFamily="18" charset="0"/>
                      </a:rPr>
                      <m:t>21</m:t>
                    </m:r>
                  </m:oMath>
                </a14:m>
                <a:r>
                  <a:rPr sz="2400" b="0">
                    <a:solidFill>
                      <a:srgbClr val="111827"/>
                    </a:solidFill>
                    <a:latin typeface="Arial"/>
                  </a:rPr>
                  <a:t>. If the binomial coefficients of the second, third and fourth terms in the expansion are respectively the first, third and fifth terms of an A.P., then the sum of the squares of all possible values of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is ______ .</a:t>
                </a:r>
                <a:endParaRPr sz="2400">
                  <a:solidFill>
                    <a:srgbClr val="111827"/>
                  </a:solidFill>
                </a:endParaRPr>
              </a:p>
            </p:txBody>
          </p:sp>
        </mc:Choice>
        <mc:Fallback>
          <p:sp>
            <p:nvSpPr>
              <p:cNvPr id="4" name="Rounded Rectangle 3"/>
              <p:cNvSpPr/>
              <p:nvPr/>
            </p:nvSpPr>
            <p:spPr>
              <a:xfrm>
                <a:off x="731520" y="1280160"/>
                <a:ext cx="10725912" cy="3123692"/>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sixth term in the binomial expansion of </a:t>
                </a:r>
                <a:r>
                  <a:rPr lang="en-IN" sz="2400">
                    <a:solidFill>
                      <a:srgbClr val="111827"/>
                    </a:solidFill>
                    <a:latin typeface="Cambria Math" panose="02040503050406030204" pitchFamily="18" charset="0"/>
                  </a:rPr>
                  <a:t>$\left(\left(2^{\log_2(10-3^{x})}\right)^{1/2}+\left(2^{(x-2)\log_2 3}\right)^{1/5}\right)^{m}$</a:t>
                </a:r>
                <a:r>
                  <a:rPr sz="2400" b="0">
                    <a:solidFill>
                      <a:srgbClr val="111827"/>
                    </a:solidFill>
                    <a:latin typeface="Arial"/>
                  </a:rPr>
                  <a:t>, in the increasing powers of </a:t>
                </a:r>
                <a:r>
                  <a:rPr lang="en-IN" sz="2400">
                    <a:solidFill>
                      <a:srgbClr val="111827"/>
                    </a:solidFill>
                    <a:latin typeface="Cambria Math" panose="02040503050406030204" pitchFamily="18" charset="0"/>
                  </a:rPr>
                  <a:t>$2^{(x-2)\log_2 3}$</a:t>
                </a:r>
                <a:r>
                  <a:rPr sz="2400" b="0">
                    <a:solidFill>
                      <a:srgbClr val="111827"/>
                    </a:solidFill>
                    <a:latin typeface="Arial"/>
                  </a:rPr>
                  <a:t>, be </a:t>
                </a:r>
                <a:r>
                  <a:rPr lang="en-IN" sz="2400">
                    <a:solidFill>
                      <a:srgbClr val="111827"/>
                    </a:solidFill>
                    <a:latin typeface="Cambria Math" panose="02040503050406030204" pitchFamily="18" charset="0"/>
                  </a:rPr>
                  <a:t>$21$</a:t>
                </a:r>
                <a:r>
                  <a:rPr sz="2400" b="0">
                    <a:solidFill>
                      <a:srgbClr val="111827"/>
                    </a:solidFill>
                    <a:latin typeface="Arial"/>
                  </a:rPr>
                  <a:t>. If the binomial coefficients of the second, third and fourth terms in the expansion are respectively the first, third and fifth terms of an A.P., then the sum of the squares of all possible values of </a:t>
                </a:r>
                <a:r>
                  <a:rPr lang="en-IN" sz="2400">
                    <a:solidFill>
                      <a:srgbClr val="111827"/>
                    </a:solidFill>
                    <a:latin typeface="Cambria Math" panose="02040503050406030204" pitchFamily="18" charset="0"/>
                  </a:rPr>
                  <a:t>$x$</a:t>
                </a:r>
                <a:r>
                  <a:rPr sz="2400" b="0">
                    <a:solidFill>
                      <a:srgbClr val="111827"/>
                    </a:solidFill>
                    <a:latin typeface="Arial"/>
                  </a:rPr>
                  <a:t> is ______ .</a:t>
                </a:r>
                <a:endParaRPr sz="2400">
                  <a:solidFill>
                    <a:srgbClr val="111827"/>
                  </a:solidFill>
                </a:endParaRPr>
              </a:p>
            </p:txBody>
          </p:sp>
        </mc:Fallback>
      </mc:AlternateContent>
      <p:sp>
        <p:nvSpPr>
          <p:cNvPr id="5" name="Rectangle 4"/>
          <p:cNvSpPr/>
          <p:nvPr/>
        </p:nvSpPr>
        <p:spPr>
          <a:xfrm>
            <a:off x="731520" y="4632452"/>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Binomial coefficients in A.P. and a given term of the expansion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A.P. condition on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𝑚</m:t>
                            </m:r>
                          </m:num>
                          <m:den>
                            <m:r>
                              <a:rPr lang="en-IN" sz="2400" i="1">
                                <a:solidFill>
                                  <a:srgbClr val="78350F"/>
                                </a:solidFill>
                                <a:latin typeface="Cambria Math" panose="02040503050406030204" pitchFamily="18" charset="0"/>
                              </a:rPr>
                              <m:t>1</m:t>
                            </m:r>
                          </m:den>
                        </m:f>
                      </m:e>
                    </m:d>
                    <m:r>
                      <m:rPr>
                        <m:sty m:val="p"/>
                      </m:rPr>
                      <a:rPr lang="en-IN" sz="2400">
                        <a:solidFill>
                          <a:srgbClr val="78350F"/>
                        </a:solidFill>
                        <a:latin typeface="Cambria Math" panose="02040503050406030204" pitchFamily="18" charset="0"/>
                      </a:rPr>
                      <m:t>,</m:t>
                    </m:r>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𝑚</m:t>
                            </m:r>
                          </m:num>
                          <m:den>
                            <m:r>
                              <a:rPr lang="en-IN" sz="2400" i="1">
                                <a:solidFill>
                                  <a:srgbClr val="78350F"/>
                                </a:solidFill>
                                <a:latin typeface="Cambria Math" panose="02040503050406030204" pitchFamily="18" charset="0"/>
                              </a:rPr>
                              <m:t>2</m:t>
                            </m:r>
                          </m:den>
                        </m:f>
                      </m:e>
                    </m:d>
                    <m:r>
                      <m:rPr>
                        <m:sty m:val="p"/>
                      </m:rPr>
                      <a:rPr lang="en-IN" sz="2400">
                        <a:solidFill>
                          <a:srgbClr val="78350F"/>
                        </a:solidFill>
                        <a:latin typeface="Cambria Math" panose="02040503050406030204" pitchFamily="18" charset="0"/>
                      </a:rPr>
                      <m:t>,</m:t>
                    </m:r>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𝑚</m:t>
                            </m:r>
                          </m:num>
                          <m:den>
                            <m:r>
                              <a:rPr lang="en-IN" sz="2400" i="1">
                                <a:solidFill>
                                  <a:srgbClr val="78350F"/>
                                </a:solidFill>
                                <a:latin typeface="Cambria Math" panose="02040503050406030204" pitchFamily="18" charset="0"/>
                              </a:rPr>
                              <m:t>3</m:t>
                            </m:r>
                          </m:den>
                        </m:f>
                      </m:e>
                    </m:d>
                  </m:oMath>
                </a14:m>
                <a:r>
                  <a:rPr sz="2400" b="0">
                    <a:solidFill>
                      <a:srgbClr val="78350F"/>
                    </a:solidFill>
                    <a:latin typeface="Arial"/>
                  </a:rPr>
                  <a:t> fixes </a:t>
                </a:r>
                <a14:m>
                  <m:oMath xmlns:m="http://schemas.openxmlformats.org/officeDocument/2006/math">
                    <m:r>
                      <a:rPr lang="en-IN" sz="2400" i="1">
                        <a:solidFill>
                          <a:srgbClr val="78350F"/>
                        </a:solidFill>
                        <a:latin typeface="Cambria Math" panose="02040503050406030204" pitchFamily="18" charset="0"/>
                      </a:rPr>
                      <m:t>𝑚</m:t>
                    </m:r>
                  </m:oMath>
                </a14:m>
                <a:r>
                  <a:rPr sz="2400" b="0">
                    <a:solidFill>
                      <a:srgbClr val="78350F"/>
                    </a:solidFill>
                    <a:latin typeface="Arial"/>
                  </a:rPr>
                  <a:t>; then the sixth term becomes a quadratic in </a:t>
                </a:r>
                <a14:m>
                  <m:oMath xmlns:m="http://schemas.openxmlformats.org/officeDocument/2006/math">
                    <m:sSup>
                      <m:e>
                        <m:r>
                          <a:rPr lang="en-IN" sz="2400" i="1">
                            <a:solidFill>
                              <a:srgbClr val="78350F"/>
                            </a:solidFill>
                            <a:latin typeface="Cambria Math" panose="02040503050406030204" pitchFamily="18" charset="0"/>
                          </a:rPr>
                          <m:t>3</m:t>
                        </m:r>
                      </m:e>
                      <m:sup>
                        <m:r>
                          <a:rPr lang="en-IN" sz="2400" i="1">
                            <a:solidFill>
                              <a:srgbClr val="78350F"/>
                            </a:solidFill>
                            <a:latin typeface="Cambria Math" panose="02040503050406030204" pitchFamily="18" charset="0"/>
                          </a:rPr>
                          <m:t>𝑥</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A.P. condition on </a:t>
                </a:r>
                <a:r>
                  <a:rPr lang="en-IN" sz="2400">
                    <a:solidFill>
                      <a:srgbClr val="78350F"/>
                    </a:solidFill>
                    <a:latin typeface="Cambria Math" panose="02040503050406030204" pitchFamily="18" charset="0"/>
                  </a:rPr>
                  <a:t>$\binom m1,\binom m2,\binom m3$</a:t>
                </a:r>
                <a:r>
                  <a:rPr sz="2400" b="0">
                    <a:solidFill>
                      <a:srgbClr val="78350F"/>
                    </a:solidFill>
                    <a:latin typeface="Arial"/>
                  </a:rPr>
                  <a:t> fixes </a:t>
                </a:r>
                <a:r>
                  <a:rPr lang="en-IN" sz="2400">
                    <a:solidFill>
                      <a:srgbClr val="78350F"/>
                    </a:solidFill>
                    <a:latin typeface="Cambria Math" panose="02040503050406030204" pitchFamily="18" charset="0"/>
                  </a:rPr>
                  <a:t>$m$</a:t>
                </a:r>
                <a:r>
                  <a:rPr sz="2400" b="0">
                    <a:solidFill>
                      <a:srgbClr val="78350F"/>
                    </a:solidFill>
                    <a:latin typeface="Arial"/>
                  </a:rPr>
                  <a:t>; then the sixth term becomes a quadratic in </a:t>
                </a:r>
                <a:r>
                  <a:rPr lang="en-IN" sz="2400">
                    <a:solidFill>
                      <a:srgbClr val="78350F"/>
                    </a:solidFill>
                    <a:latin typeface="Cambria Math" panose="02040503050406030204" pitchFamily="18" charset="0"/>
                  </a:rPr>
                  <a:t>$3^x$</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sSup>
                      <m:e>
                        <m:r>
                          <a:rPr lang="en-IN" sz="2400" i="1">
                            <a:solidFill>
                              <a:srgbClr val="111827"/>
                            </a:solidFill>
                            <a:latin typeface="Cambria Math" panose="02040503050406030204" pitchFamily="18" charset="0"/>
                          </a:rPr>
                          <m:t>2</m:t>
                        </m:r>
                      </m:e>
                      <m:sup>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𝑥</m:t>
                        </m:r>
                      </m:sup>
                    </m:sSup>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2</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23</m:t>
                            </m:r>
                          </m:sub>
                        </m:sSub>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oMath>
                </a14:m>
                <a:r>
                  <a:rPr sz="2400" b="0">
                    <a:solidFill>
                      <a:srgbClr val="111827"/>
                    </a:solidFill>
                    <a:latin typeface="Arial"/>
                  </a:rPr>
                  <a:t>, the expansion is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𝑥</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up>
                            </m:sSup>
                          </m:e>
                        </m:d>
                      </m:e>
                      <m:sup>
                        <m:r>
                          <a:rPr lang="en-IN" sz="2400" i="1">
                            <a:solidFill>
                              <a:srgbClr val="111827"/>
                            </a:solidFill>
                            <a:latin typeface="Cambria Math" panose="02040503050406030204" pitchFamily="18" charset="0"/>
                          </a:rPr>
                          <m:t>𝑚</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sixth term is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6</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𝑚</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5</m:t>
                        </m:r>
                      </m:sub>
                    </m:sSub>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𝑥</m:t>
                        </m:r>
                      </m:sup>
                    </m:sSup>
                    <m:sSup>
                      <m:e>
                        <m:r>
                          <m:rPr>
                            <m:sty m:val="p"/>
                          </m:rPr>
                          <a:rPr lang="en-IN" sz="2400">
                            <a:solidFill>
                              <a:srgbClr val="111827"/>
                            </a:solidFill>
                            <a:latin typeface="Cambria Math" panose="02040503050406030204" pitchFamily="18" charset="0"/>
                          </a:rPr>
                          <m:t>)</m:t>
                        </m:r>
                      </m:e>
                      <m: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sup>
                    </m:sSup>
                    <m:r>
                      <a:rPr lang="en-IN" sz="2400" i="1">
                        <a:solidFill>
                          <a:srgbClr val="111827"/>
                        </a:solidFill>
                        <a:latin typeface="Cambria Math" panose="02040503050406030204" pitchFamily="18" charset="0"/>
                      </a:rPr>
                      <m:t> </m:t>
                    </m:r>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oMath>
                </a14:m>
                <a:r>
                  <a:rPr sz="2400" b="0">
                    <a:solidFill>
                      <a:srgbClr val="111827"/>
                    </a:solidFill>
                    <a:latin typeface="Arial"/>
                  </a:rPr>
                  <a:t> ...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binomial coefficients of the 2nd, 3rd and 4th terms are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𝑚</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𝑚</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𝑚</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they are the 1st, 3rd and 5th terms of an A.P.</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middle one of three equally spaced terms is the mean, so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𝑚</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𝑚</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𝑚</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$2^{\log_2(10-3^x)}=10-3^x$</a:t>
                </a:r>
                <a:r>
                  <a:rPr sz="2400" b="0">
                    <a:solidFill>
                      <a:srgbClr val="111827"/>
                    </a:solidFill>
                    <a:latin typeface="Arial"/>
                  </a:rPr>
                  <a:t> and </a:t>
                </a:r>
                <a:r>
                  <a:rPr lang="en-IN" sz="2400">
                    <a:solidFill>
                      <a:srgbClr val="111827"/>
                    </a:solidFill>
                    <a:latin typeface="Cambria Math" panose="02040503050406030204" pitchFamily="18" charset="0"/>
                  </a:rPr>
                  <a:t>$2^{(x-2)\log_23}=3^{x-2}$</a:t>
                </a:r>
                <a:r>
                  <a:rPr sz="2400" b="0">
                    <a:solidFill>
                      <a:srgbClr val="111827"/>
                    </a:solidFill>
                    <a:latin typeface="Arial"/>
                  </a:rPr>
                  <a:t>, the expansion is </a:t>
                </a:r>
                <a:r>
                  <a:rPr lang="en-IN" sz="2400">
                    <a:solidFill>
                      <a:srgbClr val="111827"/>
                    </a:solidFill>
                    <a:latin typeface="Cambria Math" panose="02040503050406030204" pitchFamily="18" charset="0"/>
                  </a:rPr>
                  <a:t>$\left((10-3^x)^{1/2}+3^{(x-2)/5}\right)^m$</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sixth term is </a:t>
                </a:r>
                <a:r>
                  <a:rPr lang="en-IN" sz="2400">
                    <a:solidFill>
                      <a:srgbClr val="111827"/>
                    </a:solidFill>
                    <a:latin typeface="Cambria Math" panose="02040503050406030204" pitchFamily="18" charset="0"/>
                  </a:rPr>
                  <a:t>$T_6={}^mC_5\,(10-3^x)^{\frac{m-5}{2}}\,\left(3^{x-2}\right)=21$</a:t>
                </a:r>
                <a:r>
                  <a:rPr sz="2400" b="0">
                    <a:solidFill>
                      <a:srgbClr val="111827"/>
                    </a:solidFill>
                    <a:latin typeface="Arial"/>
                  </a:rPr>
                  <a:t> ...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binomial coefficients of the 2nd, 3rd and 4th terms are </a:t>
                </a:r>
                <a:r>
                  <a:rPr lang="en-IN" sz="2400">
                    <a:solidFill>
                      <a:srgbClr val="111827"/>
                    </a:solidFill>
                    <a:latin typeface="Cambria Math" panose="02040503050406030204" pitchFamily="18" charset="0"/>
                  </a:rPr>
                  <a:t>${}^mC_1,{}^mC_2,{}^mC_3$</a:t>
                </a:r>
                <a:r>
                  <a:rPr sz="2400" b="0">
                    <a:solidFill>
                      <a:srgbClr val="111827"/>
                    </a:solidFill>
                    <a:latin typeface="Arial"/>
                  </a:rPr>
                  <a:t>; they are the 1st, 3rd and 5th terms of an A.P.</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middle one of three equally spaced terms is the mean, so </a:t>
                </a:r>
                <a:r>
                  <a:rPr lang="en-IN" sz="2400">
                    <a:solidFill>
                      <a:srgbClr val="111827"/>
                    </a:solidFill>
                    <a:latin typeface="Cambria Math" panose="02040503050406030204" pitchFamily="18" charset="0"/>
                  </a:rPr>
                  <a:t>$2\cdot{}^mC_2={}^mC_1+{}^mC_3$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Solving,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which gives </a:t>
                </a:r>
                <a14:m>
                  <m:oMath xmlns:m="http://schemas.openxmlformats.org/officeDocument/2006/math">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is rejected (a sixth term needs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in (1):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7</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oMath>
                </a14:m>
                <a:r>
                  <a:rPr sz="2400" b="0">
                    <a:solidFill>
                      <a:srgbClr val="111827"/>
                    </a:solidFill>
                    <a:latin typeface="Arial"/>
                  </a:rPr>
                  <a:t> and the power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𝑥</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m:t>
                        </m:r>
                      </m:sup>
                    </m:sSup>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21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𝑥</m:t>
                            </m:r>
                          </m:sup>
                        </m:sSup>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𝑥</m:t>
                        </m:r>
                      </m:sup>
                    </m:sSup>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Thus </a:t>
                </a:r>
                <a14:m>
                  <m:oMath xmlns:m="http://schemas.openxmlformats.org/officeDocument/2006/math">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0</m:t>
                        </m:r>
                      </m:sup>
                    </m:sSup>
                  </m:oMath>
                </a14:m>
                <a:r>
                  <a:rPr sz="2400" b="0">
                    <a:solidFill>
                      <a:srgbClr val="111827"/>
                    </a:solidFill>
                    <a:latin typeface="Arial"/>
                  </a:rPr>
                  <a:t> or </a:t>
                </a:r>
                <a14:m>
                  <m:oMath xmlns:m="http://schemas.openxmlformats.org/officeDocument/2006/math">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(both give </a:t>
                </a:r>
                <a14:m>
                  <m:oMath xmlns:m="http://schemas.openxmlformats.org/officeDocument/2006/math">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sum of the squares of all possible values of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Solving, </a:t>
                </a:r>
                <a:r>
                  <a:rPr lang="en-IN" sz="2400">
                    <a:solidFill>
                      <a:srgbClr val="111827"/>
                    </a:solidFill>
                    <a:latin typeface="Cambria Math" panose="02040503050406030204" pitchFamily="18" charset="0"/>
                  </a:rPr>
                  <a:t>$m(m-1)=m+\frac{m(m-1)(m-2)}{6}$</a:t>
                </a:r>
                <a:r>
                  <a:rPr sz="2400" b="0">
                    <a:solidFill>
                      <a:srgbClr val="111827"/>
                    </a:solidFill>
                    <a:latin typeface="Arial"/>
                  </a:rPr>
                  <a:t>, which gives </a:t>
                </a:r>
                <a:r>
                  <a:rPr lang="en-IN" sz="2400">
                    <a:solidFill>
                      <a:srgbClr val="111827"/>
                    </a:solidFill>
                    <a:latin typeface="Cambria Math" panose="02040503050406030204" pitchFamily="18" charset="0"/>
                  </a:rPr>
                  <a:t>$m^2-9m+14=0$</a:t>
                </a:r>
                <a:r>
                  <a:rPr sz="2400" b="0">
                    <a:solidFill>
                      <a:srgbClr val="111827"/>
                    </a:solidFill>
                    <a:latin typeface="Arial"/>
                  </a:rPr>
                  <a:t>, so </a:t>
                </a:r>
                <a:r>
                  <a:rPr lang="en-IN" sz="2400">
                    <a:solidFill>
                      <a:srgbClr val="111827"/>
                    </a:solidFill>
                    <a:latin typeface="Cambria Math" panose="02040503050406030204" pitchFamily="18" charset="0"/>
                  </a:rPr>
                  <a:t>$m=2$</a:t>
                </a:r>
                <a:r>
                  <a:rPr sz="2400" b="0">
                    <a:solidFill>
                      <a:srgbClr val="111827"/>
                    </a:solidFill>
                    <a:latin typeface="Arial"/>
                  </a:rPr>
                  <a:t> or </a:t>
                </a:r>
                <a:r>
                  <a:rPr lang="en-IN" sz="2400">
                    <a:solidFill>
                      <a:srgbClr val="111827"/>
                    </a:solidFill>
                    <a:latin typeface="Cambria Math" panose="02040503050406030204" pitchFamily="18" charset="0"/>
                  </a:rPr>
                  <a:t>$m=7$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$m=2$</a:t>
                </a:r>
                <a:r>
                  <a:rPr sz="2400" b="0">
                    <a:solidFill>
                      <a:srgbClr val="111827"/>
                    </a:solidFill>
                    <a:latin typeface="Arial"/>
                  </a:rPr>
                  <a:t> is rejected (a sixth term needs </a:t>
                </a:r>
                <a:r>
                  <a:rPr lang="en-IN" sz="2400">
                    <a:solidFill>
                      <a:srgbClr val="111827"/>
                    </a:solidFill>
                    <a:latin typeface="Cambria Math" panose="02040503050406030204" pitchFamily="18" charset="0"/>
                  </a:rPr>
                  <a:t>$m\ge5$</a:t>
                </a:r>
                <a:r>
                  <a:rPr sz="2400" b="0">
                    <a:solidFill>
                      <a:srgbClr val="111827"/>
                    </a:solidFill>
                    <a:latin typeface="Arial"/>
                  </a:rPr>
                  <a:t>), so </a:t>
                </a:r>
                <a:r>
                  <a:rPr lang="en-IN" sz="2400">
                    <a:solidFill>
                      <a:srgbClr val="111827"/>
                    </a:solidFill>
                    <a:latin typeface="Cambria Math" panose="02040503050406030204" pitchFamily="18" charset="0"/>
                  </a:rPr>
                  <a:t>$m=7$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r>
                  <a:rPr lang="en-IN" sz="2400">
                    <a:solidFill>
                      <a:srgbClr val="111827"/>
                    </a:solidFill>
                    <a:latin typeface="Cambria Math" panose="02040503050406030204" pitchFamily="18" charset="0"/>
                  </a:rPr>
                  <a:t>$m=7$</a:t>
                </a:r>
                <a:r>
                  <a:rPr sz="2400" b="0">
                    <a:solidFill>
                      <a:srgbClr val="111827"/>
                    </a:solidFill>
                    <a:latin typeface="Arial"/>
                  </a:rPr>
                  <a:t> in (1): </a:t>
                </a:r>
                <a:r>
                  <a:rPr lang="en-IN" sz="2400">
                    <a:solidFill>
                      <a:srgbClr val="111827"/>
                    </a:solidFill>
                    <a:latin typeface="Cambria Math" panose="02040503050406030204" pitchFamily="18" charset="0"/>
                  </a:rPr>
                  <a:t>${}^7C_5=21$</a:t>
                </a:r>
                <a:r>
                  <a:rPr sz="2400" b="0">
                    <a:solidFill>
                      <a:srgbClr val="111827"/>
                    </a:solidFill>
                    <a:latin typeface="Arial"/>
                  </a:rPr>
                  <a:t> and the power is </a:t>
                </a:r>
                <a:r>
                  <a:rPr lang="en-IN" sz="2400">
                    <a:solidFill>
                      <a:srgbClr val="111827"/>
                    </a:solidFill>
                    <a:latin typeface="Cambria Math" panose="02040503050406030204" pitchFamily="18" charset="0"/>
                  </a:rPr>
                  <a:t>$(10-3^x)^{1}$</a:t>
                </a:r>
                <a:r>
                  <a:rPr sz="2400" b="0">
                    <a:solidFill>
                      <a:srgbClr val="111827"/>
                    </a:solidFill>
                    <a:latin typeface="Arial"/>
                  </a:rPr>
                  <a:t>, so </a:t>
                </a:r>
                <a:r>
                  <a:rPr lang="en-IN" sz="2400">
                    <a:solidFill>
                      <a:srgbClr val="111827"/>
                    </a:solidFill>
                    <a:latin typeface="Cambria Math" panose="02040503050406030204" pitchFamily="18" charset="0"/>
                  </a:rPr>
                  <a:t>$21\,(10-3^x)\cdot\frac{3^x}{9}=21$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$(10-3^x)3^x=9$</a:t>
                </a:r>
                <a:r>
                  <a:rPr sz="2400" b="0">
                    <a:solidFill>
                      <a:srgbClr val="111827"/>
                    </a:solidFill>
                    <a:latin typeface="Arial"/>
                  </a:rPr>
                  <a:t>; with </a:t>
                </a:r>
                <a:r>
                  <a:rPr lang="en-IN" sz="2400">
                    <a:solidFill>
                      <a:srgbClr val="111827"/>
                    </a:solidFill>
                    <a:latin typeface="Cambria Math" panose="02040503050406030204" pitchFamily="18" charset="0"/>
                  </a:rPr>
                  <a:t>$t=3^x$</a:t>
                </a:r>
                <a:r>
                  <a:rPr sz="2400" b="0">
                    <a:solidFill>
                      <a:srgbClr val="111827"/>
                    </a:solidFill>
                    <a:latin typeface="Arial"/>
                  </a:rPr>
                  <a:t>: </a:t>
                </a:r>
                <a:r>
                  <a:rPr lang="en-IN" sz="2400">
                    <a:solidFill>
                      <a:srgbClr val="111827"/>
                    </a:solidFill>
                    <a:latin typeface="Cambria Math" panose="02040503050406030204" pitchFamily="18" charset="0"/>
                  </a:rPr>
                  <a:t>$t^2-10t+9=0$</a:t>
                </a:r>
                <a:r>
                  <a:rPr sz="2400" b="0">
                    <a:solidFill>
                      <a:srgbClr val="111827"/>
                    </a:solidFill>
                    <a:latin typeface="Arial"/>
                  </a:rPr>
                  <a:t>, so </a:t>
                </a:r>
                <a:r>
                  <a:rPr lang="en-IN" sz="2400">
                    <a:solidFill>
                      <a:srgbClr val="111827"/>
                    </a:solidFill>
                    <a:latin typeface="Cambria Math" panose="02040503050406030204" pitchFamily="18" charset="0"/>
                  </a:rPr>
                  <a:t>$t=1$</a:t>
                </a:r>
                <a:r>
                  <a:rPr sz="2400" b="0">
                    <a:solidFill>
                      <a:srgbClr val="111827"/>
                    </a:solidFill>
                    <a:latin typeface="Arial"/>
                  </a:rPr>
                  <a:t> or </a:t>
                </a:r>
                <a:r>
                  <a:rPr lang="en-IN" sz="2400">
                    <a:solidFill>
                      <a:srgbClr val="111827"/>
                    </a:solidFill>
                    <a:latin typeface="Cambria Math" panose="02040503050406030204" pitchFamily="18" charset="0"/>
                  </a:rPr>
                  <a:t>$t=9$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Thus </a:t>
                </a:r>
                <a:r>
                  <a:rPr lang="en-IN" sz="2400">
                    <a:solidFill>
                      <a:srgbClr val="111827"/>
                    </a:solidFill>
                    <a:latin typeface="Cambria Math" panose="02040503050406030204" pitchFamily="18" charset="0"/>
                  </a:rPr>
                  <a:t>$3^x=3^0$</a:t>
                </a:r>
                <a:r>
                  <a:rPr sz="2400" b="0">
                    <a:solidFill>
                      <a:srgbClr val="111827"/>
                    </a:solidFill>
                    <a:latin typeface="Arial"/>
                  </a:rPr>
                  <a:t> or </a:t>
                </a:r>
                <a:r>
                  <a:rPr lang="en-IN" sz="2400">
                    <a:solidFill>
                      <a:srgbClr val="111827"/>
                    </a:solidFill>
                    <a:latin typeface="Cambria Math" panose="02040503050406030204" pitchFamily="18" charset="0"/>
                  </a:rPr>
                  <a:t>$3^2$</a:t>
                </a:r>
                <a:r>
                  <a:rPr sz="2400" b="0">
                    <a:solidFill>
                      <a:srgbClr val="111827"/>
                    </a:solidFill>
                    <a:latin typeface="Arial"/>
                  </a:rPr>
                  <a:t>, i.e. </a:t>
                </a:r>
                <a:r>
                  <a:rPr lang="en-IN" sz="2400">
                    <a:solidFill>
                      <a:srgbClr val="111827"/>
                    </a:solidFill>
                    <a:latin typeface="Cambria Math" panose="02040503050406030204" pitchFamily="18" charset="0"/>
                  </a:rPr>
                  <a:t>$x=0,2$</a:t>
                </a:r>
                <a:r>
                  <a:rPr sz="2400" b="0">
                    <a:solidFill>
                      <a:srgbClr val="111827"/>
                    </a:solidFill>
                    <a:latin typeface="Arial"/>
                  </a:rPr>
                  <a:t> (both give </a:t>
                </a:r>
                <a:r>
                  <a:rPr lang="en-IN" sz="2400">
                    <a:solidFill>
                      <a:srgbClr val="111827"/>
                    </a:solidFill>
                    <a:latin typeface="Cambria Math" panose="02040503050406030204" pitchFamily="18" charset="0"/>
                  </a:rPr>
                  <a:t>$10-3^x&gt;0$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sum of the squares of all possible values of </a:t>
                </a:r>
                <a:r>
                  <a:rPr lang="en-IN" sz="2400">
                    <a:solidFill>
                      <a:srgbClr val="111827"/>
                    </a:solidFill>
                    <a:latin typeface="Cambria Math" panose="02040503050406030204" pitchFamily="18" charset="0"/>
                  </a:rPr>
                  <a:t>$x$</a:t>
                </a:r>
                <a:r>
                  <a:rPr sz="2400" b="0">
                    <a:solidFill>
                      <a:srgbClr val="111827"/>
                    </a:solidFill>
                    <a:latin typeface="Arial"/>
                  </a:rPr>
                  <a:t> is </a:t>
                </a:r>
                <a:r>
                  <a:rPr lang="en-IN" sz="2400">
                    <a:solidFill>
                      <a:srgbClr val="111827"/>
                    </a:solidFill>
                    <a:latin typeface="Cambria Math" panose="02040503050406030204" pitchFamily="18" charset="0"/>
                  </a:rPr>
                  <a:t>$0+4=4$</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4</a:t>
            </a:r>
            <a:endParaRPr sz="2800">
              <a:solidFill>
                <a:srgbClr val="15803D"/>
              </a:solidFill>
            </a:endParaRP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Three terms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5</m:t>
                        </m:r>
                      </m:sub>
                    </m:sSub>
                  </m:oMath>
                </a14:m>
                <a:r>
                  <a:rPr sz="2400" b="0">
                    <a:solidFill>
                      <a:srgbClr val="111827"/>
                    </a:solidFill>
                    <a:latin typeface="Arial"/>
                  </a:rPr>
                  <a:t> of an A.P. satisfy </a:t>
                </a:r>
                <a14:m>
                  <m:oMath xmlns:m="http://schemas.openxmlformats.org/officeDocument/2006/math">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5</m:t>
                        </m:r>
                      </m:sub>
                    </m:sSub>
                  </m:oMath>
                </a14:m>
                <a:r>
                  <a:rPr sz="2400" b="0">
                    <a:solidFill>
                      <a:srgbClr val="111827"/>
                    </a:solidFill>
                    <a:latin typeface="Arial"/>
                  </a:rPr>
                  <a:t> (the middle one is the mean); do not use consecutive-term spacing.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3</m:t>
                            </m:r>
                          </m:den>
                        </m:f>
                      </m:e>
                    </m:d>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3</m:t>
                            </m:r>
                          </m:den>
                        </m:f>
                      </m:e>
                    </m:d>
                  </m:oMath>
                </a14:m>
                <a:r>
                  <a:rPr sz="2400" b="0">
                    <a:solidFill>
                      <a:srgbClr val="111827"/>
                    </a:solidFill>
                    <a:latin typeface="Arial"/>
                  </a:rPr>
                  <a:t> give </a:t>
                </a:r>
                <a14:m>
                  <m:oMath xmlns:m="http://schemas.openxmlformats.org/officeDocument/2006/math">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which is too small for the 6th term). Row 7: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contains </a:t>
                </a: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oMath>
                </a14:m>
                <a:r>
                  <a:rPr sz="2400" b="0">
                    <a:solidFill>
                      <a:srgbClr val="111827"/>
                    </a:solidFill>
                    <a:latin typeface="Arial"/>
                  </a:rPr>
                  <a:t> in A.P.</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clean log-power forms first: </a:t>
                </a:r>
                <a14:m>
                  <m:oMath xmlns:m="http://schemas.openxmlformats.org/officeDocument/2006/math">
                    <m:sSup>
                      <m:e>
                        <m:r>
                          <a:rPr lang="en-IN" sz="2400" i="1">
                            <a:solidFill>
                              <a:srgbClr val="111827"/>
                            </a:solidFill>
                            <a:latin typeface="Cambria Math" panose="02040503050406030204" pitchFamily="18" charset="0"/>
                          </a:rPr>
                          <m:t>𝑎</m:t>
                        </m:r>
                      </m:e>
                      <m:sup>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𝑎</m:t>
                            </m:r>
                          </m:sub>
                        </m:sSub>
                        <m:r>
                          <a:rPr lang="en-IN" sz="2400" i="1">
                            <a:solidFill>
                              <a:srgbClr val="111827"/>
                            </a:solidFill>
                            <a:latin typeface="Cambria Math" panose="02040503050406030204" pitchFamily="18" charset="0"/>
                          </a:rPr>
                          <m:t>𝑓</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𝑘</m:t>
                        </m:r>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2</m:t>
                            </m:r>
                          </m:sub>
                        </m:sSub>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𝑘</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 equation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𝑐𝑜𝑛𝑠𝑡</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𝑥</m:t>
                        </m:r>
                      </m:sup>
                    </m:sSup>
                  </m:oMath>
                </a14:m>
                <a:r>
                  <a:rPr sz="2400" b="0">
                    <a:solidFill>
                      <a:srgbClr val="111827"/>
                    </a:solidFill>
                    <a:latin typeface="Arial"/>
                  </a:rPr>
                  <a:t> is a quadratic in </a:t>
                </a:r>
                <a14:m>
                  <m:oMath xmlns:m="http://schemas.openxmlformats.org/officeDocument/2006/math">
                    <m:r>
                      <a:rPr lang="en-IN" sz="2400" i="1">
                        <a:solidFill>
                          <a:srgbClr val="111827"/>
                        </a:solidFill>
                        <a:latin typeface="Cambria Math" panose="02040503050406030204" pitchFamily="18" charset="0"/>
                      </a:rPr>
                      <m:t>𝑡</m:t>
                    </m:r>
                  </m:oMath>
                </a14:m>
                <a:r>
                  <a:rPr sz="2400" b="0">
                    <a:solidFill>
                      <a:srgbClr val="111827"/>
                    </a:solidFill>
                    <a:latin typeface="Arial"/>
                  </a:rPr>
                  <a:t>; roots must be checked against domain conditions such as </a:t>
                </a:r>
                <a14:m>
                  <m:oMath xmlns:m="http://schemas.openxmlformats.org/officeDocument/2006/math">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Three terms </a:t>
                </a:r>
                <a:r>
                  <a:rPr lang="en-IN" sz="2400">
                    <a:solidFill>
                      <a:srgbClr val="111827"/>
                    </a:solidFill>
                    <a:latin typeface="Cambria Math" panose="02040503050406030204" pitchFamily="18" charset="0"/>
                  </a:rPr>
                  <a:t>$a_1,a_3,a_5$</a:t>
                </a:r>
                <a:r>
                  <a:rPr sz="2400" b="0">
                    <a:solidFill>
                      <a:srgbClr val="111827"/>
                    </a:solidFill>
                    <a:latin typeface="Arial"/>
                  </a:rPr>
                  <a:t> of an A.P. satisfy </a:t>
                </a:r>
                <a:r>
                  <a:rPr lang="en-IN" sz="2400">
                    <a:solidFill>
                      <a:srgbClr val="111827"/>
                    </a:solidFill>
                    <a:latin typeface="Cambria Math" panose="02040503050406030204" pitchFamily="18" charset="0"/>
                  </a:rPr>
                  <a:t>$2a_3=a_1+a_5$</a:t>
                </a:r>
                <a:r>
                  <a:rPr sz="2400" b="0">
                    <a:solidFill>
                      <a:srgbClr val="111827"/>
                    </a:solidFill>
                    <a:latin typeface="Arial"/>
                  </a:rPr>
                  <a:t> (the middle one is the mean); do not use consecutive-term spacing.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Coefficients </a:t>
                </a:r>
                <a:r>
                  <a:rPr lang="en-IN" sz="2400">
                    <a:solidFill>
                      <a:srgbClr val="111827"/>
                    </a:solidFill>
                    <a:latin typeface="Cambria Math" panose="02040503050406030204" pitchFamily="18" charset="0"/>
                  </a:rPr>
                  <a:t>$\binom{m}{1},\binom m2,\binom m3$</a:t>
                </a:r>
                <a:r>
                  <a:rPr sz="2400" b="0">
                    <a:solidFill>
                      <a:srgbClr val="111827"/>
                    </a:solidFill>
                    <a:latin typeface="Arial"/>
                  </a:rPr>
                  <a:t> with </a:t>
                </a:r>
                <a:r>
                  <a:rPr lang="en-IN" sz="2400">
                    <a:solidFill>
                      <a:srgbClr val="111827"/>
                    </a:solidFill>
                    <a:latin typeface="Cambria Math" panose="02040503050406030204" pitchFamily="18" charset="0"/>
                  </a:rPr>
                  <a:t>$2\binom m2=\binom m1+\binom m3$</a:t>
                </a:r>
                <a:r>
                  <a:rPr sz="2400" b="0">
                    <a:solidFill>
                      <a:srgbClr val="111827"/>
                    </a:solidFill>
                    <a:latin typeface="Arial"/>
                  </a:rPr>
                  <a:t> give </a:t>
                </a:r>
                <a:r>
                  <a:rPr lang="en-IN" sz="2400">
                    <a:solidFill>
                      <a:srgbClr val="111827"/>
                    </a:solidFill>
                    <a:latin typeface="Cambria Math" panose="02040503050406030204" pitchFamily="18" charset="0"/>
                  </a:rPr>
                  <a:t>$m^2-9m+14=0$</a:t>
                </a:r>
                <a:r>
                  <a:rPr sz="2400" b="0">
                    <a:solidFill>
                      <a:srgbClr val="111827"/>
                    </a:solidFill>
                    <a:latin typeface="Arial"/>
                  </a:rPr>
                  <a:t>, i.e. </a:t>
                </a:r>
                <a:r>
                  <a:rPr lang="en-IN" sz="2400">
                    <a:solidFill>
                      <a:srgbClr val="111827"/>
                    </a:solidFill>
                    <a:latin typeface="Cambria Math" panose="02040503050406030204" pitchFamily="18" charset="0"/>
                  </a:rPr>
                  <a:t>$m=7$</a:t>
                </a:r>
                <a:r>
                  <a:rPr sz="2400" b="0">
                    <a:solidFill>
                      <a:srgbClr val="111827"/>
                    </a:solidFill>
                    <a:latin typeface="Arial"/>
                  </a:rPr>
                  <a:t> (and </a:t>
                </a:r>
                <a:r>
                  <a:rPr lang="en-IN" sz="2400">
                    <a:solidFill>
                      <a:srgbClr val="111827"/>
                    </a:solidFill>
                    <a:latin typeface="Cambria Math" panose="02040503050406030204" pitchFamily="18" charset="0"/>
                  </a:rPr>
                  <a:t>$m=2$</a:t>
                </a:r>
                <a:r>
                  <a:rPr sz="2400" b="0">
                    <a:solidFill>
                      <a:srgbClr val="111827"/>
                    </a:solidFill>
                    <a:latin typeface="Arial"/>
                  </a:rPr>
                  <a:t>, which is too small for the 6th term). Row 7: </a:t>
                </a:r>
                <a:r>
                  <a:rPr lang="en-IN" sz="2400">
                    <a:solidFill>
                      <a:srgbClr val="111827"/>
                    </a:solidFill>
                    <a:latin typeface="Cambria Math" panose="02040503050406030204" pitchFamily="18" charset="0"/>
                  </a:rPr>
                  <a:t>$1,7,21,35,35,21,7,1$</a:t>
                </a:r>
                <a:r>
                  <a:rPr sz="2400" b="0">
                    <a:solidFill>
                      <a:srgbClr val="111827"/>
                    </a:solidFill>
                    <a:latin typeface="Arial"/>
                  </a:rPr>
                  <a:t> contains </a:t>
                </a:r>
                <a:r>
                  <a:rPr lang="en-IN" sz="2400">
                    <a:solidFill>
                      <a:srgbClr val="111827"/>
                    </a:solidFill>
                    <a:latin typeface="Cambria Math" panose="02040503050406030204" pitchFamily="18" charset="0"/>
                  </a:rPr>
                  <a:t>$7,21,35$</a:t>
                </a:r>
                <a:r>
                  <a:rPr sz="2400" b="0">
                    <a:solidFill>
                      <a:srgbClr val="111827"/>
                    </a:solidFill>
                    <a:latin typeface="Arial"/>
                  </a:rPr>
                  <a:t> in A.P.</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clean log-power forms first: </a:t>
                </a:r>
                <a:r>
                  <a:rPr lang="en-IN" sz="2400">
                    <a:solidFill>
                      <a:srgbClr val="111827"/>
                    </a:solidFill>
                    <a:latin typeface="Cambria Math" panose="02040503050406030204" pitchFamily="18" charset="0"/>
                  </a:rPr>
                  <a:t>$a^{\log_a f}=f$</a:t>
                </a:r>
                <a:r>
                  <a:rPr sz="2400" b="0">
                    <a:solidFill>
                      <a:srgbClr val="111827"/>
                    </a:solidFill>
                    <a:latin typeface="Arial"/>
                  </a:rPr>
                  <a:t> and </a:t>
                </a:r>
                <a:r>
                  <a:rPr lang="en-IN" sz="2400">
                    <a:solidFill>
                      <a:srgbClr val="111827"/>
                    </a:solidFill>
                    <a:latin typeface="Cambria Math" panose="02040503050406030204" pitchFamily="18" charset="0"/>
                  </a:rPr>
                  <a:t>$2^{k\log_2 3}=3^k$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 equation </a:t>
                </a:r>
                <a:r>
                  <a:rPr lang="en-IN" sz="2400">
                    <a:solidFill>
                      <a:srgbClr val="111827"/>
                    </a:solidFill>
                    <a:latin typeface="Cambria Math" panose="02040503050406030204" pitchFamily="18" charset="0"/>
                  </a:rPr>
                  <a:t>$(c-t)t=\text{const}$</a:t>
                </a:r>
                <a:r>
                  <a:rPr sz="2400" b="0">
                    <a:solidFill>
                      <a:srgbClr val="111827"/>
                    </a:solidFill>
                    <a:latin typeface="Arial"/>
                  </a:rPr>
                  <a:t> with </a:t>
                </a:r>
                <a:r>
                  <a:rPr lang="en-IN" sz="2400">
                    <a:solidFill>
                      <a:srgbClr val="111827"/>
                    </a:solidFill>
                    <a:latin typeface="Cambria Math" panose="02040503050406030204" pitchFamily="18" charset="0"/>
                  </a:rPr>
                  <a:t>$t=b^x$</a:t>
                </a:r>
                <a:r>
                  <a:rPr sz="2400" b="0">
                    <a:solidFill>
                      <a:srgbClr val="111827"/>
                    </a:solidFill>
                    <a:latin typeface="Arial"/>
                  </a:rPr>
                  <a:t> is a quadratic in </a:t>
                </a:r>
                <a:r>
                  <a:rPr lang="en-IN" sz="2400">
                    <a:solidFill>
                      <a:srgbClr val="111827"/>
                    </a:solidFill>
                    <a:latin typeface="Cambria Math" panose="02040503050406030204" pitchFamily="18" charset="0"/>
                  </a:rPr>
                  <a:t>$t$</a:t>
                </a:r>
                <a:r>
                  <a:rPr sz="2400" b="0">
                    <a:solidFill>
                      <a:srgbClr val="111827"/>
                    </a:solidFill>
                    <a:latin typeface="Arial"/>
                  </a:rPr>
                  <a:t>; roots must be checked against domain conditions such as </a:t>
                </a:r>
                <a:r>
                  <a:rPr lang="en-IN" sz="2400">
                    <a:solidFill>
                      <a:srgbClr val="111827"/>
                    </a:solidFill>
                    <a:latin typeface="Cambria Math" panose="02040503050406030204" pitchFamily="18" charset="0"/>
                  </a:rPr>
                  <a:t>$10-3^x&gt;0$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897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be the constant term in the binomial expansion of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den>
                            </m:f>
                          </m:e>
                        </m:d>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If the sum of the coefficients of the remaining terms in the expansion is </a:t>
                </a:r>
                <a14:m>
                  <m:oMath xmlns:m="http://schemas.openxmlformats.org/officeDocument/2006/math">
                    <m:r>
                      <a:rPr lang="en-IN" sz="2400" i="1">
                        <a:solidFill>
                          <a:srgbClr val="111827"/>
                        </a:solidFill>
                        <a:latin typeface="Cambria Math" panose="02040503050406030204" pitchFamily="18" charset="0"/>
                      </a:rPr>
                      <m:t>649</m:t>
                    </m:r>
                  </m:oMath>
                </a14:m>
                <a:r>
                  <a:rPr sz="2400" b="0">
                    <a:solidFill>
                      <a:srgbClr val="111827"/>
                    </a:solidFill>
                    <a:latin typeface="Arial"/>
                  </a:rPr>
                  <a:t> and the coefficient of </a:t>
                </a:r>
                <a14:m>
                  <m:oMath xmlns:m="http://schemas.openxmlformats.org/officeDocument/2006/math">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up>
                    </m:sSup>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λ</m:t>
                    </m:r>
                    <m:r>
                      <a:rPr lang="en-IN" sz="2400" i="1">
                        <a:solidFill>
                          <a:srgbClr val="111827"/>
                        </a:solidFill>
                        <a:latin typeface="Cambria Math" panose="02040503050406030204" pitchFamily="18" charset="0"/>
                      </a:rPr>
                      <m:t>α</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λ</m:t>
                    </m:r>
                  </m:oMath>
                </a14:m>
                <a:r>
                  <a:rPr sz="2400" b="0">
                    <a:solidFill>
                      <a:srgbClr val="111827"/>
                    </a:solidFill>
                    <a:latin typeface="Arial"/>
                  </a:rPr>
                  <a:t> is equal to ______ .</a:t>
                </a:r>
                <a:endParaRPr sz="2400">
                  <a:solidFill>
                    <a:srgbClr val="111827"/>
                  </a:solidFill>
                </a:endParaRPr>
              </a:p>
            </p:txBody>
          </p:sp>
        </mc:Choice>
        <mc:Fallback>
          <p:sp>
            <p:nvSpPr>
              <p:cNvPr id="4" name="Rounded Rectangle 3"/>
              <p:cNvSpPr/>
              <p:nvPr/>
            </p:nvSpPr>
            <p:spPr>
              <a:xfrm>
                <a:off x="731520" y="1280160"/>
                <a:ext cx="10725912" cy="24897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$\alpha$</a:t>
                </a:r>
                <a:r>
                  <a:rPr sz="2400" b="0">
                    <a:solidFill>
                      <a:srgbClr val="111827"/>
                    </a:solidFill>
                    <a:latin typeface="Arial"/>
                  </a:rPr>
                  <a:t> be the constant term in the binomial expansion of </a:t>
                </a:r>
                <a:r>
                  <a:rPr lang="en-IN" sz="2400">
                    <a:solidFill>
                      <a:srgbClr val="111827"/>
                    </a:solidFill>
                    <a:latin typeface="Cambria Math" panose="02040503050406030204" pitchFamily="18" charset="0"/>
                  </a:rPr>
                  <a:t>$\left(\sqrt{x}-\frac{6}{x^{3/2}}\right)^{n}$</a:t>
                </a:r>
                <a:r>
                  <a:rPr sz="2400" b="0">
                    <a:solidFill>
                      <a:srgbClr val="111827"/>
                    </a:solidFill>
                    <a:latin typeface="Arial"/>
                  </a:rPr>
                  <a:t>, </a:t>
                </a:r>
                <a:r>
                  <a:rPr lang="en-IN" sz="2400">
                    <a:solidFill>
                      <a:srgbClr val="111827"/>
                    </a:solidFill>
                    <a:latin typeface="Cambria Math" panose="02040503050406030204" pitchFamily="18" charset="0"/>
                  </a:rPr>
                  <a:t>$n\le15$</a:t>
                </a:r>
                <a:r>
                  <a:rPr sz="2400" b="0">
                    <a:solidFill>
                      <a:srgbClr val="111827"/>
                    </a:solidFill>
                    <a:latin typeface="Arial"/>
                  </a:rPr>
                  <a:t>. If the sum of the coefficients of the remaining terms in the expansion is </a:t>
                </a:r>
                <a:r>
                  <a:rPr lang="en-IN" sz="2400">
                    <a:solidFill>
                      <a:srgbClr val="111827"/>
                    </a:solidFill>
                    <a:latin typeface="Cambria Math" panose="02040503050406030204" pitchFamily="18" charset="0"/>
                  </a:rPr>
                  <a:t>$649$</a:t>
                </a:r>
                <a:r>
                  <a:rPr sz="2400" b="0">
                    <a:solidFill>
                      <a:srgbClr val="111827"/>
                    </a:solidFill>
                    <a:latin typeface="Arial"/>
                  </a:rPr>
                  <a:t> and the coefficient of </a:t>
                </a:r>
                <a:r>
                  <a:rPr lang="en-IN" sz="2400">
                    <a:solidFill>
                      <a:srgbClr val="111827"/>
                    </a:solidFill>
                    <a:latin typeface="Cambria Math" panose="02040503050406030204" pitchFamily="18" charset="0"/>
                  </a:rPr>
                  <a:t>$x^{-n}$</a:t>
                </a:r>
                <a:r>
                  <a:rPr sz="2400" b="0">
                    <a:solidFill>
                      <a:srgbClr val="111827"/>
                    </a:solidFill>
                    <a:latin typeface="Arial"/>
                  </a:rPr>
                  <a:t> is </a:t>
                </a:r>
                <a:r>
                  <a:rPr lang="en-IN" sz="2400">
                    <a:solidFill>
                      <a:srgbClr val="111827"/>
                    </a:solidFill>
                    <a:latin typeface="Cambria Math" panose="02040503050406030204" pitchFamily="18" charset="0"/>
                  </a:rPr>
                  <a:t>$\lambda\alpha$</a:t>
                </a:r>
                <a:r>
                  <a:rPr sz="2400" b="0">
                    <a:solidFill>
                      <a:srgbClr val="111827"/>
                    </a:solidFill>
                    <a:latin typeface="Arial"/>
                  </a:rPr>
                  <a:t>, then </a:t>
                </a:r>
                <a:r>
                  <a:rPr lang="en-IN" sz="2400">
                    <a:solidFill>
                      <a:srgbClr val="111827"/>
                    </a:solidFill>
                    <a:latin typeface="Cambria Math" panose="02040503050406030204" pitchFamily="18" charset="0"/>
                  </a:rPr>
                  <a:t>$\lambda$</a:t>
                </a:r>
                <a:r>
                  <a:rPr sz="2400" b="0">
                    <a:solidFill>
                      <a:srgbClr val="111827"/>
                    </a:solidFill>
                    <a:latin typeface="Arial"/>
                  </a:rPr>
                  <a:t> is equal to ______ .</a:t>
                </a:r>
                <a:endParaRPr sz="2400">
                  <a:solidFill>
                    <a:srgbClr val="111827"/>
                  </a:solidFill>
                </a:endParaRPr>
              </a:p>
            </p:txBody>
          </p:sp>
        </mc:Fallback>
      </mc:AlternateContent>
      <p:sp>
        <p:nvSpPr>
          <p:cNvPr id="5" name="Rectangle 4"/>
          <p:cNvSpPr/>
          <p:nvPr/>
        </p:nvSpPr>
        <p:spPr>
          <a:xfrm>
            <a:off x="731520" y="3998467"/>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Constant term, sum of coefficients and a particular term of a binomial expansion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Sum of all coefficients is </a:t>
                </a:r>
                <a14:m>
                  <m:oMath xmlns:m="http://schemas.openxmlformats.org/officeDocument/2006/math">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𝑛</m:t>
                        </m:r>
                      </m:sup>
                    </m:sSup>
                  </m:oMath>
                </a14:m>
                <a:r>
                  <a:rPr sz="2400" b="0">
                    <a:solidFill>
                      <a:srgbClr val="78350F"/>
                    </a:solidFill>
                    <a:latin typeface="Arial"/>
                  </a:rPr>
                  <a:t>, so </a:t>
                </a:r>
                <a14:m>
                  <m:oMath xmlns:m="http://schemas.openxmlformats.org/officeDocument/2006/math">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𝑛</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α</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649</m:t>
                    </m:r>
                  </m:oMath>
                </a14:m>
                <a:r>
                  <a:rPr sz="2400" b="0">
                    <a:solidFill>
                      <a:srgbClr val="78350F"/>
                    </a:solidFill>
                    <a:latin typeface="Arial"/>
                  </a:rPr>
                  <a:t> pins down </a:t>
                </a:r>
                <a14:m>
                  <m:oMath xmlns:m="http://schemas.openxmlformats.org/officeDocument/2006/math">
                    <m:r>
                      <a:rPr lang="en-IN" sz="2400" i="1">
                        <a:solidFill>
                          <a:srgbClr val="78350F"/>
                        </a:solidFill>
                        <a:latin typeface="Cambria Math" panose="02040503050406030204" pitchFamily="18" charset="0"/>
                      </a:rPr>
                      <m:t>𝑛</m:t>
                    </m:r>
                  </m:oMath>
                </a14:m>
                <a:r>
                  <a:rPr sz="2400" b="0">
                    <a:solidFill>
                      <a:srgbClr val="78350F"/>
                    </a:solidFill>
                    <a:latin typeface="Arial"/>
                  </a:rPr>
                  <a:t>; then compare the </a:t>
                </a:r>
                <a14:m>
                  <m:oMath xmlns:m="http://schemas.openxmlformats.org/officeDocument/2006/math">
                    <m:sSup>
                      <m:e>
                        <m:r>
                          <a:rPr lang="en-IN" sz="2400" i="1">
                            <a:solidFill>
                              <a:srgbClr val="78350F"/>
                            </a:solidFill>
                            <a:latin typeface="Cambria Math" panose="02040503050406030204" pitchFamily="18" charset="0"/>
                          </a:rPr>
                          <m:t>𝑥</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sup>
                    </m:sSup>
                  </m:oMath>
                </a14:m>
                <a:r>
                  <a:rPr sz="2400" b="0">
                    <a:solidFill>
                      <a:srgbClr val="78350F"/>
                    </a:solidFill>
                    <a:latin typeface="Arial"/>
                  </a:rPr>
                  <a:t> and constant coefficients.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Sum of all coefficients is </a:t>
                </a:r>
                <a:r>
                  <a:rPr lang="en-IN" sz="2400">
                    <a:solidFill>
                      <a:srgbClr val="78350F"/>
                    </a:solidFill>
                    <a:latin typeface="Cambria Math" panose="02040503050406030204" pitchFamily="18" charset="0"/>
                  </a:rPr>
                  <a:t>$(-5)^n$</a:t>
                </a:r>
                <a:r>
                  <a:rPr sz="2400" b="0">
                    <a:solidFill>
                      <a:srgbClr val="78350F"/>
                    </a:solidFill>
                    <a:latin typeface="Arial"/>
                  </a:rPr>
                  <a:t>, so </a:t>
                </a:r>
                <a:r>
                  <a:rPr lang="en-IN" sz="2400">
                    <a:solidFill>
                      <a:srgbClr val="78350F"/>
                    </a:solidFill>
                    <a:latin typeface="Cambria Math" panose="02040503050406030204" pitchFamily="18" charset="0"/>
                  </a:rPr>
                  <a:t>$(-5)^n-\alpha=649$</a:t>
                </a:r>
                <a:r>
                  <a:rPr sz="2400" b="0">
                    <a:solidFill>
                      <a:srgbClr val="78350F"/>
                    </a:solidFill>
                    <a:latin typeface="Arial"/>
                  </a:rPr>
                  <a:t> pins down </a:t>
                </a:r>
                <a:r>
                  <a:rPr lang="en-IN" sz="2400">
                    <a:solidFill>
                      <a:srgbClr val="78350F"/>
                    </a:solidFill>
                    <a:latin typeface="Cambria Math" panose="02040503050406030204" pitchFamily="18" charset="0"/>
                  </a:rPr>
                  <a:t>$n$</a:t>
                </a:r>
                <a:r>
                  <a:rPr sz="2400" b="0">
                    <a:solidFill>
                      <a:srgbClr val="78350F"/>
                    </a:solidFill>
                    <a:latin typeface="Arial"/>
                  </a:rPr>
                  <a:t>; then compare the </a:t>
                </a:r>
                <a:r>
                  <a:rPr lang="en-IN" sz="2400">
                    <a:solidFill>
                      <a:srgbClr val="78350F"/>
                    </a:solidFill>
                    <a:latin typeface="Cambria Math" panose="02040503050406030204" pitchFamily="18" charset="0"/>
                  </a:rPr>
                  <a:t>$x^{-n}$</a:t>
                </a:r>
                <a:r>
                  <a:rPr sz="2400" b="0">
                    <a:solidFill>
                      <a:srgbClr val="78350F"/>
                    </a:solidFill>
                    <a:latin typeface="Arial"/>
                  </a:rPr>
                  <a:t> and constant coefficients.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general term is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𝑘</m:t>
                        </m:r>
                      </m:sub>
                    </m:sSub>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e>
                    </m:rad>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𝑘</m:t>
                        </m:r>
                      </m:sup>
                    </m:sSup>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e>
                        </m:d>
                      </m:e>
                      <m:sup>
                        <m:r>
                          <a:rPr lang="en-IN" sz="2400" i="1">
                            <a:solidFill>
                              <a:srgbClr val="111827"/>
                            </a:solidFill>
                            <a:latin typeface="Cambria Math" panose="02040503050406030204" pitchFamily="18" charset="0"/>
                          </a:rPr>
                          <m:t>𝑘</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𝑘</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𝑘</m:t>
                        </m:r>
                      </m:sup>
                    </m:sSup>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𝑥</m:t>
                        </m:r>
                      </m:e>
                      <m: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2</m:t>
                            </m:r>
                          </m:den>
                        </m:f>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constant term needs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is a multiple of 4 and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sum of the coefficients of all terms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removing the constant term gives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649</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general term is </a:t>
                </a:r>
                <a:r>
                  <a:rPr lang="en-IN" sz="2400">
                    <a:solidFill>
                      <a:srgbClr val="111827"/>
                    </a:solidFill>
                    <a:latin typeface="Cambria Math" panose="02040503050406030204" pitchFamily="18" charset="0"/>
                  </a:rPr>
                  <a:t>$T_{k+1}={}^nC_k\,(\sqrt x)^{n-k}(-6)^k\left(x^{-3/2}\right)^k={}^nC_k(-6)^k\,x^{\frac{n-4k}{2}}$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constant term needs </a:t>
                </a:r>
                <a:r>
                  <a:rPr lang="en-IN" sz="2400">
                    <a:solidFill>
                      <a:srgbClr val="111827"/>
                    </a:solidFill>
                    <a:latin typeface="Cambria Math" panose="02040503050406030204" pitchFamily="18" charset="0"/>
                  </a:rPr>
                  <a:t>$\frac{n-k}{2}-\frac{3k}{2}=0$</a:t>
                </a:r>
                <a:r>
                  <a:rPr sz="2400" b="0">
                    <a:solidFill>
                      <a:srgbClr val="111827"/>
                    </a:solidFill>
                    <a:latin typeface="Arial"/>
                  </a:rPr>
                  <a:t>, i.e. </a:t>
                </a:r>
                <a:r>
                  <a:rPr lang="en-IN" sz="2400">
                    <a:solidFill>
                      <a:srgbClr val="111827"/>
                    </a:solidFill>
                    <a:latin typeface="Cambria Math" panose="02040503050406030204" pitchFamily="18" charset="0"/>
                  </a:rPr>
                  <a:t>$n-4k=0$</a:t>
                </a:r>
                <a:r>
                  <a:rPr sz="2400" b="0">
                    <a:solidFill>
                      <a:srgbClr val="111827"/>
                    </a:solidFill>
                    <a:latin typeface="Arial"/>
                  </a:rPr>
                  <a:t>, so </a:t>
                </a:r>
                <a:r>
                  <a:rPr lang="en-IN" sz="2400">
                    <a:solidFill>
                      <a:srgbClr val="111827"/>
                    </a:solidFill>
                    <a:latin typeface="Cambria Math" panose="02040503050406030204" pitchFamily="18" charset="0"/>
                  </a:rPr>
                  <a:t>$n$</a:t>
                </a:r>
                <a:r>
                  <a:rPr sz="2400" b="0">
                    <a:solidFill>
                      <a:srgbClr val="111827"/>
                    </a:solidFill>
                    <a:latin typeface="Arial"/>
                  </a:rPr>
                  <a:t> is a multiple of 4 and </a:t>
                </a:r>
                <a:r>
                  <a:rPr lang="en-IN" sz="2400">
                    <a:solidFill>
                      <a:srgbClr val="111827"/>
                    </a:solidFill>
                    <a:latin typeface="Cambria Math" panose="02040503050406030204" pitchFamily="18" charset="0"/>
                  </a:rPr>
                  <a:t>$k=\frac n4$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$\alpha={}^nC_{n/4}(-6)^{n/4}$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sum of the coefficients of all terms is </a:t>
                </a:r>
                <a:r>
                  <a:rPr lang="en-IN" sz="2400">
                    <a:solidFill>
                      <a:srgbClr val="111827"/>
                    </a:solidFill>
                    <a:latin typeface="Cambria Math" panose="02040503050406030204" pitchFamily="18" charset="0"/>
                  </a:rPr>
                  <a:t>$(1-6)^n=(-5)^n$</a:t>
                </a:r>
                <a:r>
                  <a:rPr sz="2400" b="0">
                    <a:solidFill>
                      <a:srgbClr val="111827"/>
                    </a:solidFill>
                    <a:latin typeface="Arial"/>
                  </a:rPr>
                  <a:t>; removing the constant term gives </a:t>
                </a:r>
                <a:r>
                  <a:rPr lang="en-IN" sz="2400">
                    <a:solidFill>
                      <a:srgbClr val="111827"/>
                    </a:solidFill>
                    <a:latin typeface="Cambria Math" panose="02040503050406030204" pitchFamily="18" charset="0"/>
                  </a:rPr>
                  <a:t>$(-5)^n-{}^nC_{n/4}(-6)^{n/4}=649$</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389617</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244188145</m:t>
                    </m:r>
                  </m:oMath>
                </a14:m>
                <a:r>
                  <a:rPr sz="2400" b="0">
                    <a:solidFill>
                      <a:srgbClr val="111827"/>
                    </a:solidFill>
                    <a:latin typeface="Arial"/>
                  </a:rPr>
                  <a:t>, neither is </a:t>
                </a:r>
                <a14:m>
                  <m:oMath xmlns:m="http://schemas.openxmlformats.org/officeDocument/2006/math">
                    <m:r>
                      <a:rPr lang="en-IN" sz="2400" i="1">
                        <a:solidFill>
                          <a:srgbClr val="111827"/>
                        </a:solidFill>
                        <a:latin typeface="Cambria Math" panose="02040503050406030204" pitchFamily="18" charset="0"/>
                      </a:rPr>
                      <m:t>649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works: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649</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coefficient of </a:t>
                </a:r>
                <a14:m>
                  <m:oMath xmlns:m="http://schemas.openxmlformats.org/officeDocument/2006/math">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p>
                    </m:sSup>
                  </m:oMath>
                </a14:m>
                <a:r>
                  <a:rPr sz="2400" b="0">
                    <a:solidFill>
                      <a:srgbClr val="111827"/>
                    </a:solidFill>
                    <a:latin typeface="Arial"/>
                  </a:rPr>
                  <a:t> in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den>
                            </m:f>
                          </m:e>
                        </m:d>
                      </m:e>
                      <m:sup>
                        <m:r>
                          <a:rPr lang="en-IN" sz="2400" i="1">
                            <a:solidFill>
                              <a:srgbClr val="111827"/>
                            </a:solidFill>
                            <a:latin typeface="Cambria Math" panose="02040503050406030204" pitchFamily="18" charset="0"/>
                          </a:rPr>
                          <m:t>4</m:t>
                        </m:r>
                      </m:sup>
                    </m:sSup>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It is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864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864</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$n\le15$</a:t>
                </a:r>
                <a:r>
                  <a:rPr sz="2400" b="0">
                    <a:solidFill>
                      <a:srgbClr val="111827"/>
                    </a:solidFill>
                    <a:latin typeface="Arial"/>
                  </a:rPr>
                  <a:t> and </a:t>
                </a:r>
                <a:r>
                  <a:rPr lang="en-IN" sz="2400">
                    <a:solidFill>
                      <a:srgbClr val="111827"/>
                    </a:solidFill>
                    <a:latin typeface="Cambria Math" panose="02040503050406030204" pitchFamily="18" charset="0"/>
                  </a:rPr>
                  <a:t>$4\mid n$</a:t>
                </a:r>
                <a:r>
                  <a:rPr sz="2400" b="0">
                    <a:solidFill>
                      <a:srgbClr val="111827"/>
                    </a:solidFill>
                    <a:latin typeface="Arial"/>
                  </a:rPr>
                  <a:t>, </a:t>
                </a:r>
                <a:r>
                  <a:rPr lang="en-IN" sz="2400">
                    <a:solidFill>
                      <a:srgbClr val="111827"/>
                    </a:solidFill>
                    <a:latin typeface="Cambria Math" panose="02040503050406030204" pitchFamily="18" charset="0"/>
                  </a:rPr>
                  <a:t>$n\in\{4,8,12\}$</a:t>
                </a:r>
                <a:r>
                  <a:rPr sz="2400" b="0">
                    <a:solidFill>
                      <a:srgbClr val="111827"/>
                    </a:solidFill>
                    <a:latin typeface="Arial"/>
                  </a:rPr>
                  <a:t>: </a:t>
                </a:r>
                <a:r>
                  <a:rPr lang="en-IN" sz="2400">
                    <a:solidFill>
                      <a:srgbClr val="111827"/>
                    </a:solidFill>
                    <a:latin typeface="Cambria Math" panose="02040503050406030204" pitchFamily="18" charset="0"/>
                  </a:rPr>
                  <a:t>$n=8$</a:t>
                </a:r>
                <a:r>
                  <a:rPr sz="2400" b="0">
                    <a:solidFill>
                      <a:srgbClr val="111827"/>
                    </a:solidFill>
                    <a:latin typeface="Arial"/>
                  </a:rPr>
                  <a:t> gives </a:t>
                </a:r>
                <a:r>
                  <a:rPr lang="en-IN" sz="2400">
                    <a:solidFill>
                      <a:srgbClr val="111827"/>
                    </a:solidFill>
                    <a:latin typeface="Cambria Math" panose="02040503050406030204" pitchFamily="18" charset="0"/>
                  </a:rPr>
                  <a:t>$389617$</a:t>
                </a:r>
                <a:r>
                  <a:rPr sz="2400" b="0">
                    <a:solidFill>
                      <a:srgbClr val="111827"/>
                    </a:solidFill>
                    <a:latin typeface="Arial"/>
                  </a:rPr>
                  <a:t> and </a:t>
                </a:r>
                <a:r>
                  <a:rPr lang="en-IN" sz="2400">
                    <a:solidFill>
                      <a:srgbClr val="111827"/>
                    </a:solidFill>
                    <a:latin typeface="Cambria Math" panose="02040503050406030204" pitchFamily="18" charset="0"/>
                  </a:rPr>
                  <a:t>$n=12$</a:t>
                </a:r>
                <a:r>
                  <a:rPr sz="2400" b="0">
                    <a:solidFill>
                      <a:srgbClr val="111827"/>
                    </a:solidFill>
                    <a:latin typeface="Arial"/>
                  </a:rPr>
                  <a:t> gives </a:t>
                </a:r>
                <a:r>
                  <a:rPr lang="en-IN" sz="2400">
                    <a:solidFill>
                      <a:srgbClr val="111827"/>
                    </a:solidFill>
                    <a:latin typeface="Cambria Math" panose="02040503050406030204" pitchFamily="18" charset="0"/>
                  </a:rPr>
                  <a:t>$244188145$</a:t>
                </a:r>
                <a:r>
                  <a:rPr sz="2400" b="0">
                    <a:solidFill>
                      <a:srgbClr val="111827"/>
                    </a:solidFill>
                    <a:latin typeface="Arial"/>
                  </a:rPr>
                  <a:t>, neither is </a:t>
                </a:r>
                <a:r>
                  <a:rPr lang="en-IN" sz="2400">
                    <a:solidFill>
                      <a:srgbClr val="111827"/>
                    </a:solidFill>
                    <a:latin typeface="Cambria Math" panose="02040503050406030204" pitchFamily="18" charset="0"/>
                  </a:rPr>
                  <a:t>$649$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$n=4$</a:t>
                </a:r>
                <a:r>
                  <a:rPr sz="2400" b="0">
                    <a:solidFill>
                      <a:srgbClr val="111827"/>
                    </a:solidFill>
                    <a:latin typeface="Arial"/>
                  </a:rPr>
                  <a:t> works: </a:t>
                </a:r>
                <a:r>
                  <a:rPr lang="en-IN" sz="2400">
                    <a:solidFill>
                      <a:srgbClr val="111827"/>
                    </a:solidFill>
                    <a:latin typeface="Cambria Math" panose="02040503050406030204" pitchFamily="18" charset="0"/>
                  </a:rPr>
                  <a:t>$(-5)^4-{}^4C_1(-6)=625+24=649$</a:t>
                </a:r>
                <a:r>
                  <a:rPr sz="2400" b="0">
                    <a:solidFill>
                      <a:srgbClr val="111827"/>
                    </a:solidFill>
                    <a:latin typeface="Arial"/>
                  </a:rPr>
                  <a:t>. So </a:t>
                </a:r>
                <a:r>
                  <a:rPr lang="en-IN" sz="2400">
                    <a:solidFill>
                      <a:srgbClr val="111827"/>
                    </a:solidFill>
                    <a:latin typeface="Cambria Math" panose="02040503050406030204" pitchFamily="18" charset="0"/>
                  </a:rPr>
                  <a:t>$n=4$</a:t>
                </a:r>
                <a:r>
                  <a:rPr sz="2400" b="0">
                    <a:solidFill>
                      <a:srgbClr val="111827"/>
                    </a:solidFill>
                    <a:latin typeface="Arial"/>
                  </a:rPr>
                  <a:t>, </a:t>
                </a:r>
                <a:r>
                  <a:rPr lang="en-IN" sz="2400">
                    <a:solidFill>
                      <a:srgbClr val="111827"/>
                    </a:solidFill>
                    <a:latin typeface="Cambria Math" panose="02040503050406030204" pitchFamily="18" charset="0"/>
                  </a:rPr>
                  <a:t>$k=1$</a:t>
                </a:r>
                <a:r>
                  <a:rPr sz="2400" b="0">
                    <a:solidFill>
                      <a:srgbClr val="111827"/>
                    </a:solidFill>
                    <a:latin typeface="Arial"/>
                  </a:rPr>
                  <a:t> and </a:t>
                </a:r>
                <a:r>
                  <a:rPr lang="en-IN" sz="2400">
                    <a:solidFill>
                      <a:srgbClr val="111827"/>
                    </a:solidFill>
                    <a:latin typeface="Cambria Math" panose="02040503050406030204" pitchFamily="18" charset="0"/>
                  </a:rPr>
                  <a:t>$\alpha=-24$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coefficient of </a:t>
                </a:r>
                <a:r>
                  <a:rPr lang="en-IN" sz="2400">
                    <a:solidFill>
                      <a:srgbClr val="111827"/>
                    </a:solidFill>
                    <a:latin typeface="Cambria Math" panose="02040503050406030204" pitchFamily="18" charset="0"/>
                  </a:rPr>
                  <a:t>$x^{-4}$</a:t>
                </a:r>
                <a:r>
                  <a:rPr sz="2400" b="0">
                    <a:solidFill>
                      <a:srgbClr val="111827"/>
                    </a:solidFill>
                    <a:latin typeface="Arial"/>
                  </a:rPr>
                  <a:t> in </a:t>
                </a:r>
                <a:r>
                  <a:rPr lang="en-IN" sz="2400">
                    <a:solidFill>
                      <a:srgbClr val="111827"/>
                    </a:solidFill>
                    <a:latin typeface="Cambria Math" panose="02040503050406030204" pitchFamily="18" charset="0"/>
                  </a:rPr>
                  <a:t>$\left(\sqrt x-\frac{6}{x^{3/2}}\right)^4$</a:t>
                </a:r>
                <a:r>
                  <a:rPr sz="2400" b="0">
                    <a:solidFill>
                      <a:srgbClr val="111827"/>
                    </a:solidFill>
                    <a:latin typeface="Arial"/>
                  </a:rPr>
                  <a:t>: </a:t>
                </a:r>
                <a:r>
                  <a:rPr lang="en-IN" sz="2400">
                    <a:solidFill>
                      <a:srgbClr val="111827"/>
                    </a:solidFill>
                    <a:latin typeface="Cambria Math" panose="02040503050406030204" pitchFamily="18" charset="0"/>
                  </a:rPr>
                  <a:t>$\frac{4-4k}{2}=-4$</a:t>
                </a:r>
                <a:r>
                  <a:rPr sz="2400" b="0">
                    <a:solidFill>
                      <a:srgbClr val="111827"/>
                    </a:solidFill>
                    <a:latin typeface="Arial"/>
                  </a:rPr>
                  <a:t> gives </a:t>
                </a:r>
                <a:r>
                  <a:rPr lang="en-IN" sz="2400">
                    <a:solidFill>
                      <a:srgbClr val="111827"/>
                    </a:solidFill>
                    <a:latin typeface="Cambria Math" panose="02040503050406030204" pitchFamily="18" charset="0"/>
                  </a:rPr>
                  <a:t>$k=3$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It is </a:t>
                </a:r>
                <a:r>
                  <a:rPr lang="en-IN" sz="2400">
                    <a:solidFill>
                      <a:srgbClr val="111827"/>
                    </a:solidFill>
                    <a:latin typeface="Cambria Math" panose="02040503050406030204" pitchFamily="18" charset="0"/>
                  </a:rPr>
                  <a:t>${}^4C_3(-6)^3=4(-216)=-864$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$\lambda=\frac{-864}{-24}=36$</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36</a:t>
            </a:r>
            <a:endParaRPr sz="2800">
              <a:solidFill>
                <a:srgbClr val="15803D"/>
              </a:solidFill>
            </a:endParaRP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Compare the two terms through symmetry </a:t>
                </a:r>
                <a14:m>
                  <m:oMath xmlns:m="http://schemas.openxmlformats.org/officeDocument/2006/math">
                    <m:sSup>
                      <m:e>
                        <m:r>
                          <a:rPr lang="en-IN" sz="2400" i="1">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4</m:t>
                        </m:r>
                      </m:sup>
                    </m:sSup>
                    <m:sSub>
                      <m:e>
                        <m:r>
                          <a:rPr lang="en-IN" sz="2400" i="1">
                            <a:solidFill>
                              <a:srgbClr val="78350F"/>
                            </a:solidFill>
                            <a:latin typeface="Cambria Math" panose="02040503050406030204" pitchFamily="18" charset="0"/>
                          </a:rPr>
                          <m:t>𝐶</m:t>
                        </m:r>
                      </m:e>
                      <m:sub>
                        <m:r>
                          <a:rPr lang="en-IN" sz="2400" i="1">
                            <a:solidFill>
                              <a:srgbClr val="78350F"/>
                            </a:solidFill>
                            <a:latin typeface="Cambria Math" panose="02040503050406030204" pitchFamily="18" charset="0"/>
                          </a:rPr>
                          <m:t>3</m:t>
                        </m:r>
                      </m:sub>
                    </m:sSub>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4</m:t>
                        </m:r>
                      </m:sup>
                    </m:sSup>
                    <m:sSub>
                      <m:e>
                        <m:r>
                          <a:rPr lang="en-IN" sz="2400" i="1">
                            <a:solidFill>
                              <a:srgbClr val="78350F"/>
                            </a:solidFill>
                            <a:latin typeface="Cambria Math" panose="02040503050406030204" pitchFamily="18" charset="0"/>
                          </a:rPr>
                          <m:t>𝐶</m:t>
                        </m:r>
                      </m:e>
                      <m:sub>
                        <m:r>
                          <a:rPr lang="en-IN" sz="2400" i="1">
                            <a:solidFill>
                              <a:srgbClr val="78350F"/>
                            </a:solidFill>
                            <a:latin typeface="Cambria Math" panose="02040503050406030204" pitchFamily="18" charset="0"/>
                          </a:rPr>
                          <m:t>1</m:t>
                        </m:r>
                      </m:sub>
                    </m:sSub>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λ</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4</m:t>
                            </m:r>
                          </m:sup>
                        </m:sSup>
                        <m:sSub>
                          <m:e>
                            <m:r>
                              <a:rPr lang="en-IN" sz="2400" i="1">
                                <a:solidFill>
                                  <a:srgbClr val="78350F"/>
                                </a:solidFill>
                                <a:latin typeface="Cambria Math" panose="02040503050406030204" pitchFamily="18" charset="0"/>
                              </a:rPr>
                              <m:t>𝐶</m:t>
                            </m:r>
                          </m:e>
                          <m:sub>
                            <m:r>
                              <a:rPr lang="en-IN" sz="2400" i="1">
                                <a:solidFill>
                                  <a:srgbClr val="78350F"/>
                                </a:solidFill>
                                <a:latin typeface="Cambria Math" panose="02040503050406030204" pitchFamily="18" charset="0"/>
                              </a:rPr>
                              <m:t>3</m:t>
                            </m:r>
                          </m:sub>
                        </m:sSub>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3</m:t>
                            </m:r>
                          </m:sup>
                        </m:sSup>
                      </m:num>
                      <m:den>
                        <m:sSup>
                          <m:e>
                            <m:r>
                              <a:rPr lang="en-IN" sz="2400" i="1">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4</m:t>
                            </m:r>
                          </m:sup>
                        </m:sSup>
                        <m:sSub>
                          <m:e>
                            <m:r>
                              <a:rPr lang="en-IN" sz="2400" i="1">
                                <a:solidFill>
                                  <a:srgbClr val="78350F"/>
                                </a:solidFill>
                                <a:latin typeface="Cambria Math" panose="02040503050406030204" pitchFamily="18" charset="0"/>
                              </a:rPr>
                              <m:t>𝐶</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r>
                          <m:rPr>
                            <m:sty m:val="p"/>
                          </m:rPr>
                          <a:rPr lang="en-IN" sz="2400">
                            <a:solidFill>
                              <a:srgbClr val="78350F"/>
                            </a:solidFill>
                            <a:latin typeface="Cambria Math" panose="02040503050406030204" pitchFamily="18" charset="0"/>
                          </a:rPr>
                          <m:t>)</m:t>
                        </m:r>
                      </m:den>
                    </m:f>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Compare the two terms through symmetry </a:t>
                </a:r>
                <a:r>
                  <a:rPr lang="en-IN" sz="2400">
                    <a:solidFill>
                      <a:srgbClr val="78350F"/>
                    </a:solidFill>
                    <a:latin typeface="Cambria Math" panose="02040503050406030204" pitchFamily="18" charset="0"/>
                  </a:rPr>
                  <a:t>${}^4C_3={}^4C_1$</a:t>
                </a:r>
                <a:r>
                  <a:rPr sz="2400" b="0">
                    <a:solidFill>
                      <a:srgbClr val="78350F"/>
                    </a:solidFill>
                    <a:latin typeface="Arial"/>
                  </a:rPr>
                  <a:t>: </a:t>
                </a:r>
                <a:r>
                  <a:rPr lang="en-IN" sz="2400">
                    <a:solidFill>
                      <a:srgbClr val="78350F"/>
                    </a:solidFill>
                    <a:latin typeface="Cambria Math" panose="02040503050406030204" pitchFamily="18" charset="0"/>
                  </a:rPr>
                  <a:t>$\lambda=\frac{{}^4C_3(-6)^3}{{}^4C_1(-6)}=(-6)^2$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(found from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649</m:t>
                    </m:r>
                  </m:oMath>
                </a14:m>
                <a:r>
                  <a:rPr sz="2400" b="0">
                    <a:solidFill>
                      <a:srgbClr val="111827"/>
                    </a:solidFill>
                    <a:latin typeface="Arial"/>
                  </a:rPr>
                  <a:t>) the term with </a:t>
                </a:r>
                <a14:m>
                  <m:oMath xmlns:m="http://schemas.openxmlformats.org/officeDocument/2006/math">
                    <m:sSup>
                      <m:e>
                        <m:r>
                          <a:rPr lang="en-IN" sz="2400" i="1">
                            <a:solidFill>
                              <a:srgbClr val="111827"/>
                            </a:solidFill>
                            <a:latin typeface="Cambria Math" panose="02040503050406030204" pitchFamily="18" charset="0"/>
                          </a:rPr>
                          <m:t>𝑥</m:t>
                        </m:r>
                      </m:e>
                      <m: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2</m:t>
                            </m:r>
                          </m:den>
                        </m:f>
                      </m:sup>
                    </m:sSup>
                  </m:oMath>
                </a14:m>
                <a:r>
                  <a:rPr sz="2400" b="0">
                    <a:solidFill>
                      <a:srgbClr val="111827"/>
                    </a:solidFill>
                    <a:latin typeface="Arial"/>
                  </a:rPr>
                  <a:t> has coefficient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𝑘</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𝑘</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Constant term: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term in </a:t>
                </a:r>
                <a14:m>
                  <m:oMath xmlns:m="http://schemas.openxmlformats.org/officeDocument/2006/math">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the ratio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num>
                      <m:den>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m:t>
                            </m:r>
                          </m:sup>
                        </m:sSup>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 without computing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 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864</m:t>
                    </m:r>
                  </m:oMath>
                </a14:m>
                <a:r>
                  <a:rPr sz="2400" b="0">
                    <a:solidFill>
                      <a:srgbClr val="111827"/>
                    </a:solidFill>
                    <a:latin typeface="Arial"/>
                  </a:rPr>
                  <a:t> separately.</a:t>
                </a:r>
                <a:endParaRPr sz="2400">
                  <a:solidFill>
                    <a:srgbClr val="111827"/>
                  </a:solidFill>
                </a:endParaRPr>
              </a:p>
            </p:txBody>
          </p:sp>
        </mc:Choice>
        <mc:Fallback>
          <p:sp>
            <p:nvSpPr>
              <p:cNvPr id="6" name="Rectangle 5"/>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$n=4$</a:t>
                </a:r>
                <a:r>
                  <a:rPr sz="2400" b="0">
                    <a:solidFill>
                      <a:srgbClr val="111827"/>
                    </a:solidFill>
                    <a:latin typeface="Arial"/>
                  </a:rPr>
                  <a:t> (found from </a:t>
                </a:r>
                <a:r>
                  <a:rPr lang="en-IN" sz="2400">
                    <a:solidFill>
                      <a:srgbClr val="111827"/>
                    </a:solidFill>
                    <a:latin typeface="Cambria Math" panose="02040503050406030204" pitchFamily="18" charset="0"/>
                  </a:rPr>
                  <a:t>$(-5)^n-\alpha=649$</a:t>
                </a:r>
                <a:r>
                  <a:rPr sz="2400" b="0">
                    <a:solidFill>
                      <a:srgbClr val="111827"/>
                    </a:solidFill>
                    <a:latin typeface="Arial"/>
                  </a:rPr>
                  <a:t>) the term with </a:t>
                </a:r>
                <a:r>
                  <a:rPr lang="en-IN" sz="2400">
                    <a:solidFill>
                      <a:srgbClr val="111827"/>
                    </a:solidFill>
                    <a:latin typeface="Cambria Math" panose="02040503050406030204" pitchFamily="18" charset="0"/>
                  </a:rPr>
                  <a:t>$x^{\frac{4-4k}{2}}$</a:t>
                </a:r>
                <a:r>
                  <a:rPr sz="2400" b="0">
                    <a:solidFill>
                      <a:srgbClr val="111827"/>
                    </a:solidFill>
                    <a:latin typeface="Arial"/>
                  </a:rPr>
                  <a:t> has coefficient </a:t>
                </a:r>
                <a:r>
                  <a:rPr lang="en-IN" sz="2400">
                    <a:solidFill>
                      <a:srgbClr val="111827"/>
                    </a:solidFill>
                    <a:latin typeface="Cambria Math" panose="02040503050406030204" pitchFamily="18" charset="0"/>
                  </a:rPr>
                  <a:t>${}^4C_k(-6)^k$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Constant term: </a:t>
                </a:r>
                <a:r>
                  <a:rPr lang="en-IN" sz="2400">
                    <a:solidFill>
                      <a:srgbClr val="111827"/>
                    </a:solidFill>
                    <a:latin typeface="Cambria Math" panose="02040503050406030204" pitchFamily="18" charset="0"/>
                  </a:rPr>
                  <a:t>$k=1$</a:t>
                </a:r>
                <a:r>
                  <a:rPr sz="2400" b="0">
                    <a:solidFill>
                      <a:srgbClr val="111827"/>
                    </a:solidFill>
                    <a:latin typeface="Arial"/>
                  </a:rPr>
                  <a:t>; term in </a:t>
                </a:r>
                <a:r>
                  <a:rPr lang="en-IN" sz="2400">
                    <a:solidFill>
                      <a:srgbClr val="111827"/>
                    </a:solidFill>
                    <a:latin typeface="Cambria Math" panose="02040503050406030204" pitchFamily="18" charset="0"/>
                  </a:rPr>
                  <a:t>$x^{-4}$</a:t>
                </a:r>
                <a:r>
                  <a:rPr sz="2400" b="0">
                    <a:solidFill>
                      <a:srgbClr val="111827"/>
                    </a:solidFill>
                    <a:latin typeface="Arial"/>
                  </a:rPr>
                  <a:t>: </a:t>
                </a:r>
                <a:r>
                  <a:rPr lang="en-IN" sz="2400">
                    <a:solidFill>
                      <a:srgbClr val="111827"/>
                    </a:solidFill>
                    <a:latin typeface="Cambria Math" panose="02040503050406030204" pitchFamily="18" charset="0"/>
                  </a:rPr>
                  <a:t>$k=3$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${}^4C_3={}^4C_1=4$</a:t>
                </a:r>
                <a:r>
                  <a:rPr sz="2400" b="0">
                    <a:solidFill>
                      <a:srgbClr val="111827"/>
                    </a:solidFill>
                    <a:latin typeface="Arial"/>
                  </a:rPr>
                  <a:t>, the ratio </a:t>
                </a:r>
                <a:r>
                  <a:rPr lang="en-IN" sz="2400">
                    <a:solidFill>
                      <a:srgbClr val="111827"/>
                    </a:solidFill>
                    <a:latin typeface="Cambria Math" panose="02040503050406030204" pitchFamily="18" charset="0"/>
                  </a:rPr>
                  <a:t>$\lambda=\frac{(-6)^3}{(-6)^1}=(-6)^2$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$\lambda=36$</a:t>
                </a:r>
                <a:r>
                  <a:rPr sz="2400" b="0">
                    <a:solidFill>
                      <a:srgbClr val="111827"/>
                    </a:solidFill>
                    <a:latin typeface="Arial"/>
                  </a:rPr>
                  <a:t> without computing </a:t>
                </a:r>
                <a:r>
                  <a:rPr lang="en-IN" sz="2400">
                    <a:solidFill>
                      <a:srgbClr val="111827"/>
                    </a:solidFill>
                    <a:latin typeface="Cambria Math" panose="02040503050406030204" pitchFamily="18" charset="0"/>
                  </a:rPr>
                  <a:t>$\alpha=-24$</a:t>
                </a:r>
                <a:r>
                  <a:rPr sz="2400" b="0">
                    <a:solidFill>
                      <a:srgbClr val="111827"/>
                    </a:solidFill>
                    <a:latin typeface="Arial"/>
                  </a:rPr>
                  <a:t> or </a:t>
                </a:r>
                <a:r>
                  <a:rPr lang="en-IN" sz="2400">
                    <a:solidFill>
                      <a:srgbClr val="111827"/>
                    </a:solidFill>
                    <a:latin typeface="Cambria Math" panose="02040503050406030204" pitchFamily="18" charset="0"/>
                  </a:rPr>
                  <a:t>$-864$</a:t>
                </a:r>
                <a:r>
                  <a:rPr sz="2400" b="0">
                    <a:solidFill>
                      <a:srgbClr val="111827"/>
                    </a:solidFill>
                    <a:latin typeface="Arial"/>
                  </a:rPr>
                  <a:t> separately.</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36</a:t>
            </a:r>
            <a:endParaRPr sz="2800">
              <a:solidFill>
                <a:srgbClr val="15803D"/>
              </a:solidFill>
            </a:endParaRP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Sum of all coefficients of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den>
                            </m:f>
                          </m:e>
                        </m:d>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it is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'Sum of the remaining coefficients'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(𝑟𝑒𝑚𝑜𝑣𝑒𝑑 𝑡𝑒𝑟𝑚)</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Term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and term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have equal binomial coefficients, so their coefficient ratio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𝑝</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sup>
                    </m:sSup>
                  </m:oMath>
                </a14:m>
                <a:r>
                  <a:rPr sz="2400" b="0">
                    <a:solidFill>
                      <a:srgbClr val="111827"/>
                    </a:solidFill>
                    <a:latin typeface="Arial"/>
                  </a:rPr>
                  <a:t>-type, free of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𝑘</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Constant term of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𝑝</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exists iff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𝑛</m:t>
                    </m:r>
                  </m:oMath>
                </a14:m>
                <a:r>
                  <a:rPr sz="2400" b="0">
                    <a:solidFill>
                      <a:srgbClr val="111827"/>
                    </a:solidFill>
                    <a:latin typeface="Arial"/>
                  </a:rPr>
                  <a:t>; here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Use size to prune: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grows far faster than the single term, so only small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can give </a:t>
                </a:r>
                <a14:m>
                  <m:oMath xmlns:m="http://schemas.openxmlformats.org/officeDocument/2006/math">
                    <m:r>
                      <a:rPr lang="en-IN" sz="2400" i="1">
                        <a:solidFill>
                          <a:srgbClr val="111827"/>
                        </a:solidFill>
                        <a:latin typeface="Cambria Math" panose="02040503050406030204" pitchFamily="18" charset="0"/>
                      </a:rPr>
                      <m:t>649</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Sum of all coefficients of </a:t>
                </a:r>
                <a:r>
                  <a:rPr lang="en-IN" sz="2400">
                    <a:solidFill>
                      <a:srgbClr val="111827"/>
                    </a:solidFill>
                    <a:latin typeface="Cambria Math" panose="02040503050406030204" pitchFamily="18" charset="0"/>
                  </a:rPr>
                  <a:t>$f(x)$</a:t>
                </a:r>
                <a:r>
                  <a:rPr sz="2400" b="0">
                    <a:solidFill>
                      <a:srgbClr val="111827"/>
                    </a:solidFill>
                    <a:latin typeface="Arial"/>
                  </a:rPr>
                  <a:t> is </a:t>
                </a:r>
                <a:r>
                  <a:rPr lang="en-IN" sz="2400">
                    <a:solidFill>
                      <a:srgbClr val="111827"/>
                    </a:solidFill>
                    <a:latin typeface="Cambria Math" panose="02040503050406030204" pitchFamily="18" charset="0"/>
                  </a:rPr>
                  <a:t>$f(1)$</a:t>
                </a:r>
                <a:r>
                  <a:rPr sz="2400" b="0">
                    <a:solidFill>
                      <a:srgbClr val="111827"/>
                    </a:solidFill>
                    <a:latin typeface="Arial"/>
                  </a:rPr>
                  <a:t>; for </a:t>
                </a:r>
                <a:r>
                  <a:rPr lang="en-IN" sz="2400">
                    <a:solidFill>
                      <a:srgbClr val="111827"/>
                    </a:solidFill>
                    <a:latin typeface="Cambria Math" panose="02040503050406030204" pitchFamily="18" charset="0"/>
                  </a:rPr>
                  <a:t>$\left(\sqrt x-\frac{6}{x^{3/2}}\right)^n$</a:t>
                </a:r>
                <a:r>
                  <a:rPr sz="2400" b="0">
                    <a:solidFill>
                      <a:srgbClr val="111827"/>
                    </a:solidFill>
                    <a:latin typeface="Arial"/>
                  </a:rPr>
                  <a:t> it is </a:t>
                </a:r>
                <a:r>
                  <a:rPr lang="en-IN" sz="2400">
                    <a:solidFill>
                      <a:srgbClr val="111827"/>
                    </a:solidFill>
                    <a:latin typeface="Cambria Math" panose="02040503050406030204" pitchFamily="18" charset="0"/>
                  </a:rPr>
                  <a:t>$(-5)^n$</a:t>
                </a:r>
                <a:r>
                  <a:rPr sz="2400" b="0">
                    <a:solidFill>
                      <a:srgbClr val="111827"/>
                    </a:solidFill>
                    <a:latin typeface="Arial"/>
                  </a:rPr>
                  <a:t>. 'Sum of the remaining coefficients' </a:t>
                </a:r>
                <a:r>
                  <a:rPr lang="en-IN" sz="2400">
                    <a:solidFill>
                      <a:srgbClr val="111827"/>
                    </a:solidFill>
                    <a:latin typeface="Cambria Math" panose="02040503050406030204" pitchFamily="18" charset="0"/>
                  </a:rPr>
                  <a:t>$=f(1)-\text{(removed term)}$</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Term </a:t>
                </a:r>
                <a:r>
                  <a:rPr lang="en-IN" sz="2400">
                    <a:solidFill>
                      <a:srgbClr val="111827"/>
                    </a:solidFill>
                    <a:latin typeface="Cambria Math" panose="02040503050406030204" pitchFamily="18" charset="0"/>
                  </a:rPr>
                  <a:t>$k$</a:t>
                </a:r>
                <a:r>
                  <a:rPr sz="2400" b="0">
                    <a:solidFill>
                      <a:srgbClr val="111827"/>
                    </a:solidFill>
                    <a:latin typeface="Arial"/>
                  </a:rPr>
                  <a:t> and term </a:t>
                </a:r>
                <a:r>
                  <a:rPr lang="en-IN" sz="2400">
                    <a:solidFill>
                      <a:srgbClr val="111827"/>
                    </a:solidFill>
                    <a:latin typeface="Cambria Math" panose="02040503050406030204" pitchFamily="18" charset="0"/>
                  </a:rPr>
                  <a:t>$n-k$</a:t>
                </a:r>
                <a:r>
                  <a:rPr sz="2400" b="0">
                    <a:solidFill>
                      <a:srgbClr val="111827"/>
                    </a:solidFill>
                    <a:latin typeface="Arial"/>
                  </a:rPr>
                  <a:t> have equal binomial coefficients, so their coefficient ratio in </a:t>
                </a:r>
                <a:r>
                  <a:rPr lang="en-IN" sz="2400">
                    <a:solidFill>
                      <a:srgbClr val="111827"/>
                    </a:solidFill>
                    <a:latin typeface="Cambria Math" panose="02040503050406030204" pitchFamily="18" charset="0"/>
                  </a:rPr>
                  <a:t>$(ax^p+bx^{-q})^n$</a:t>
                </a:r>
                <a:r>
                  <a:rPr sz="2400" b="0">
                    <a:solidFill>
                      <a:srgbClr val="111827"/>
                    </a:solidFill>
                    <a:latin typeface="Arial"/>
                  </a:rPr>
                  <a:t> is </a:t>
                </a:r>
                <a:r>
                  <a:rPr lang="en-IN" sz="2400">
                    <a:solidFill>
                      <a:srgbClr val="111827"/>
                    </a:solidFill>
                    <a:latin typeface="Cambria Math" panose="02040503050406030204" pitchFamily="18" charset="0"/>
                  </a:rPr>
                  <a:t>$(a/b)^{n-2k}$</a:t>
                </a:r>
                <a:r>
                  <a:rPr sz="2400" b="0">
                    <a:solidFill>
                      <a:srgbClr val="111827"/>
                    </a:solidFill>
                    <a:latin typeface="Arial"/>
                  </a:rPr>
                  <a:t>-type, free of </a:t>
                </a:r>
                <a:r>
                  <a:rPr lang="en-IN" sz="2400">
                    <a:solidFill>
                      <a:srgbClr val="111827"/>
                    </a:solidFill>
                    <a:latin typeface="Cambria Math" panose="02040503050406030204" pitchFamily="18" charset="0"/>
                  </a:rPr>
                  <a:t>$\binom nk$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Constant term of </a:t>
                </a:r>
                <a:r>
                  <a:rPr lang="en-IN" sz="2400">
                    <a:solidFill>
                      <a:srgbClr val="111827"/>
                    </a:solidFill>
                    <a:latin typeface="Cambria Math" panose="02040503050406030204" pitchFamily="18" charset="0"/>
                  </a:rPr>
                  <a:t>$(x^p+c\,x^{-q})^n$</a:t>
                </a:r>
                <a:r>
                  <a:rPr sz="2400" b="0">
                    <a:solidFill>
                      <a:srgbClr val="111827"/>
                    </a:solidFill>
                    <a:latin typeface="Arial"/>
                  </a:rPr>
                  <a:t> exists iff </a:t>
                </a:r>
                <a:r>
                  <a:rPr lang="en-IN" sz="2400">
                    <a:solidFill>
                      <a:srgbClr val="111827"/>
                    </a:solidFill>
                    <a:latin typeface="Cambria Math" panose="02040503050406030204" pitchFamily="18" charset="0"/>
                  </a:rPr>
                  <a:t>$(p+q)\mid pn$</a:t>
                </a:r>
                <a:r>
                  <a:rPr sz="2400" b="0">
                    <a:solidFill>
                      <a:srgbClr val="111827"/>
                    </a:solidFill>
                    <a:latin typeface="Arial"/>
                  </a:rPr>
                  <a:t>; here </a:t>
                </a:r>
                <a:r>
                  <a:rPr lang="en-IN" sz="2400">
                    <a:solidFill>
                      <a:srgbClr val="111827"/>
                    </a:solidFill>
                    <a:latin typeface="Cambria Math" panose="02040503050406030204" pitchFamily="18" charset="0"/>
                  </a:rPr>
                  <a:t>$(1/2,-3/2)$</a:t>
                </a:r>
                <a:r>
                  <a:rPr sz="2400" b="0">
                    <a:solidFill>
                      <a:srgbClr val="111827"/>
                    </a:solidFill>
                    <a:latin typeface="Arial"/>
                  </a:rPr>
                  <a:t> gives </a:t>
                </a:r>
                <a:r>
                  <a:rPr lang="en-IN" sz="2400">
                    <a:solidFill>
                      <a:srgbClr val="111827"/>
                    </a:solidFill>
                    <a:latin typeface="Cambria Math" panose="02040503050406030204" pitchFamily="18" charset="0"/>
                  </a:rPr>
                  <a:t>$4\mid 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Use size to prune: </a:t>
                </a:r>
                <a:r>
                  <a:rPr lang="en-IN" sz="2400">
                    <a:solidFill>
                      <a:srgbClr val="111827"/>
                    </a:solidFill>
                    <a:latin typeface="Cambria Math" panose="02040503050406030204" pitchFamily="18" charset="0"/>
                  </a:rPr>
                  <a:t>$|(-5)^n|$</a:t>
                </a:r>
                <a:r>
                  <a:rPr sz="2400" b="0">
                    <a:solidFill>
                      <a:srgbClr val="111827"/>
                    </a:solidFill>
                    <a:latin typeface="Arial"/>
                  </a:rPr>
                  <a:t> grows far faster than the single term, so only small </a:t>
                </a:r>
                <a:r>
                  <a:rPr lang="en-IN" sz="2400">
                    <a:solidFill>
                      <a:srgbClr val="111827"/>
                    </a:solidFill>
                    <a:latin typeface="Cambria Math" panose="02040503050406030204" pitchFamily="18" charset="0"/>
                  </a:rPr>
                  <a:t>$n$</a:t>
                </a:r>
                <a:r>
                  <a:rPr sz="2400" b="0">
                    <a:solidFill>
                      <a:srgbClr val="111827"/>
                    </a:solidFill>
                    <a:latin typeface="Arial"/>
                  </a:rPr>
                  <a:t> can give </a:t>
                </a:r>
                <a:r>
                  <a:rPr lang="en-IN" sz="2400">
                    <a:solidFill>
                      <a:srgbClr val="111827"/>
                    </a:solidFill>
                    <a:latin typeface="Cambria Math" panose="02040503050406030204" pitchFamily="18" charset="0"/>
                  </a:rPr>
                  <a:t>$649$</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remainder, when </a:t>
                </a:r>
                <a14:m>
                  <m:oMath xmlns:m="http://schemas.openxmlformats.org/officeDocument/2006/math">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103</m:t>
                        </m:r>
                      </m:sup>
                    </m:sSup>
                  </m:oMath>
                </a14:m>
                <a:r>
                  <a:rPr sz="2400" b="0">
                    <a:solidFill>
                      <a:srgbClr val="111827"/>
                    </a:solidFill>
                    <a:latin typeface="Arial"/>
                  </a:rPr>
                  <a:t> is divided by 17, is ______ .</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remainder, when </a:t>
                </a:r>
                <a:r>
                  <a:rPr lang="en-IN" sz="2400">
                    <a:solidFill>
                      <a:srgbClr val="111827"/>
                    </a:solidFill>
                    <a:latin typeface="Cambria Math" panose="02040503050406030204" pitchFamily="18" charset="0"/>
                  </a:rPr>
                  <a:t>$7^{103}$</a:t>
                </a:r>
                <a:r>
                  <a:rPr sz="2400" b="0">
                    <a:solidFill>
                      <a:srgbClr val="111827"/>
                    </a:solidFill>
                    <a:latin typeface="Arial"/>
                  </a:rPr>
                  <a:t> is divided by 17, is ______ .</a:t>
                </a:r>
                <a:endParaRPr sz="2400">
                  <a:solidFill>
                    <a:srgbClr val="111827"/>
                  </a:solidFill>
                </a:endParaRPr>
              </a:p>
            </p:txBody>
          </p:sp>
        </mc:Fallback>
      </mc:AlternateContent>
      <p:sp>
        <p:nvSpPr>
          <p:cNvPr id="5" name="Rectangle 4"/>
          <p:cNvSpPr/>
          <p:nvPr/>
        </p:nvSpPr>
        <p:spPr>
          <a:xfrm>
            <a:off x="731520" y="324612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Remainder of a power on division by a prime (modular arithmetic)</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Keep squaring modulo 17 until </a:t>
                </a:r>
                <a14:m>
                  <m:oMath xmlns:m="http://schemas.openxmlformats.org/officeDocument/2006/math">
                    <m:sSup>
                      <m:e>
                        <m:r>
                          <a:rPr lang="en-IN" sz="2400" i="1">
                            <a:solidFill>
                              <a:srgbClr val="78350F"/>
                            </a:solidFill>
                            <a:latin typeface="Cambria Math" panose="02040503050406030204" pitchFamily="18" charset="0"/>
                          </a:rPr>
                          <m:t>7</m:t>
                        </m:r>
                      </m:e>
                      <m:sup>
                        <m:r>
                          <a:rPr lang="en-IN" sz="2400" i="1">
                            <a:solidFill>
                              <a:srgbClr val="78350F"/>
                            </a:solidFill>
                            <a:latin typeface="Cambria Math" panose="02040503050406030204" pitchFamily="18" charset="0"/>
                          </a:rPr>
                          <m:t>8</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hence </a:t>
                </a:r>
                <a14:m>
                  <m:oMath xmlns:m="http://schemas.openxmlformats.org/officeDocument/2006/math">
                    <m:sSup>
                      <m:e>
                        <m:r>
                          <a:rPr lang="en-IN" sz="2400" i="1">
                            <a:solidFill>
                              <a:srgbClr val="78350F"/>
                            </a:solidFill>
                            <a:latin typeface="Cambria Math" panose="02040503050406030204" pitchFamily="18" charset="0"/>
                          </a:rPr>
                          <m:t>7</m:t>
                        </m:r>
                      </m:e>
                      <m:sup>
                        <m:r>
                          <a:rPr lang="en-IN" sz="2400" i="1">
                            <a:solidFill>
                              <a:srgbClr val="78350F"/>
                            </a:solidFill>
                            <a:latin typeface="Cambria Math" panose="02040503050406030204" pitchFamily="18" charset="0"/>
                          </a:rPr>
                          <m:t>16</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and the exponent reduces mod 16.</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Keep squaring modulo 17 until </a:t>
                </a:r>
                <a:r>
                  <a:rPr lang="en-IN" sz="2400">
                    <a:solidFill>
                      <a:srgbClr val="78350F"/>
                    </a:solidFill>
                    <a:latin typeface="Cambria Math" panose="02040503050406030204" pitchFamily="18" charset="0"/>
                  </a:rPr>
                  <a:t>$7^{8}\equiv-1$</a:t>
                </a:r>
                <a:r>
                  <a:rPr sz="2400" b="0">
                    <a:solidFill>
                      <a:srgbClr val="78350F"/>
                    </a:solidFill>
                    <a:latin typeface="Arial"/>
                  </a:rPr>
                  <a:t>, hence </a:t>
                </a:r>
                <a:r>
                  <a:rPr lang="en-IN" sz="2400">
                    <a:solidFill>
                      <a:srgbClr val="78350F"/>
                    </a:solidFill>
                    <a:latin typeface="Cambria Math" panose="02040503050406030204" pitchFamily="18" charset="0"/>
                  </a:rPr>
                  <a:t>$7^{16}\equiv1$</a:t>
                </a:r>
                <a:r>
                  <a:rPr sz="2400" b="0">
                    <a:solidFill>
                      <a:srgbClr val="78350F"/>
                    </a:solidFill>
                    <a:latin typeface="Arial"/>
                  </a:rPr>
                  <a:t> and the exponent reduces mod 16.</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We want </a:t>
                </a:r>
                <a14:m>
                  <m:oMath xmlns:m="http://schemas.openxmlformats.org/officeDocument/2006/math">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103</m:t>
                        </m:r>
                      </m:sup>
                    </m:sSup>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17</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2</m:t>
                                </m:r>
                              </m:sup>
                            </m:sSup>
                          </m:e>
                        </m:d>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8</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We want </a:t>
                </a:r>
                <a:r>
                  <a:rPr lang="en-IN" sz="2400">
                    <a:solidFill>
                      <a:srgbClr val="111827"/>
                    </a:solidFill>
                    <a:latin typeface="Cambria Math" panose="02040503050406030204" pitchFamily="18" charset="0"/>
                  </a:rPr>
                  <a:t>$7^{103}\bmod 17$</a:t>
                </a:r>
                <a:r>
                  <a:rPr sz="2400" b="0">
                    <a:solidFill>
                      <a:srgbClr val="111827"/>
                    </a:solidFill>
                    <a:latin typeface="Arial"/>
                  </a:rPr>
                  <a:t>. </a:t>
                </a:r>
                <a:r>
                  <a:rPr lang="en-IN" sz="2400">
                    <a:solidFill>
                      <a:srgbClr val="111827"/>
                    </a:solidFill>
                    <a:latin typeface="Cambria Math" panose="02040503050406030204" pitchFamily="18" charset="0"/>
                  </a:rPr>
                  <a:t>$7\equiv7\pmod{17}$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$7^2=49\equiv-2\pmod{17}$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$7^6=\left(7^2\right)^3\equiv(-2)^3=-8\pmod{17}$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$7^8=7^6\cdot7^2\equiv(-8)(-2)=16\equiv-1\pmod{17}$</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16</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8</m:t>
                                </m:r>
                              </m:sup>
                            </m:sSup>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103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103</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16</m:t>
                                </m:r>
                              </m:sup>
                            </m:sSup>
                          </m:e>
                        </m:d>
                      </m:e>
                      <m:sup>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7</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7</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103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Remainder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$7^{16}=\left(7^8\right)^2\equiv1\pmod{17}$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$103=6\cdot16+7$</a:t>
                </a:r>
                <a:r>
                  <a:rPr sz="2400" b="0">
                    <a:solidFill>
                      <a:srgbClr val="111827"/>
                    </a:solidFill>
                    <a:latin typeface="Arial"/>
                  </a:rPr>
                  <a:t>, so </a:t>
                </a:r>
                <a:r>
                  <a:rPr lang="en-IN" sz="2400">
                    <a:solidFill>
                      <a:srgbClr val="111827"/>
                    </a:solidFill>
                    <a:latin typeface="Cambria Math" panose="02040503050406030204" pitchFamily="18" charset="0"/>
                  </a:rPr>
                  <a:t>$7^{103}=\left(7^{16}\right)^6\cdot7^7\equiv7^7=7^6\cdot7\equiv-56\pmod{17}$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$-56\equiv-56+68=12$</a:t>
                </a:r>
                <a:r>
                  <a:rPr sz="2400" b="0">
                    <a:solidFill>
                      <a:srgbClr val="111827"/>
                    </a:solidFill>
                    <a:latin typeface="Arial"/>
                  </a:rPr>
                  <a:t>, so </a:t>
                </a:r>
                <a:r>
                  <a:rPr lang="en-IN" sz="2400">
                    <a:solidFill>
                      <a:srgbClr val="111827"/>
                    </a:solidFill>
                    <a:latin typeface="Cambria Math" panose="02040503050406030204" pitchFamily="18" charset="0"/>
                  </a:rPr>
                  <a:t>$7^{103}\equiv12\pmod{17}$</a:t>
                </a:r>
                <a:r>
                  <a:rPr sz="2400" b="0">
                    <a:solidFill>
                      <a:srgbClr val="111827"/>
                    </a:solidFill>
                    <a:latin typeface="Arial"/>
                  </a:rPr>
                  <a:t>. Remainder </a:t>
                </a:r>
                <a:r>
                  <a:rPr lang="en-IN" sz="2400">
                    <a:solidFill>
                      <a:srgbClr val="111827"/>
                    </a:solidFill>
                    <a:latin typeface="Cambria Math" panose="02040503050406030204" pitchFamily="18" charset="0"/>
                  </a:rPr>
                  <a:t>$=12$</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12</a:t>
            </a:r>
            <a:endParaRPr sz="2800">
              <a:solidFill>
                <a:srgbClr val="15803D"/>
              </a:solidFill>
            </a:endParaRP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a negative exponent: </a:t>
                </a:r>
                <a14:m>
                  <m:oMath xmlns:m="http://schemas.openxmlformats.org/officeDocument/2006/math">
                    <m:sSup>
                      <m:e>
                        <m:r>
                          <a:rPr lang="en-IN" sz="2400" i="1">
                            <a:solidFill>
                              <a:srgbClr val="78350F"/>
                            </a:solidFill>
                            <a:latin typeface="Cambria Math" panose="02040503050406030204" pitchFamily="18" charset="0"/>
                          </a:rPr>
                          <m:t>7</m:t>
                        </m:r>
                      </m:e>
                      <m:sup>
                        <m:r>
                          <a:rPr lang="en-IN" sz="2400" i="1">
                            <a:solidFill>
                              <a:srgbClr val="78350F"/>
                            </a:solidFill>
                            <a:latin typeface="Cambria Math" panose="02040503050406030204" pitchFamily="18" charset="0"/>
                          </a:rPr>
                          <m:t>112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so </a:t>
                </a:r>
                <a14:m>
                  <m:oMath xmlns:m="http://schemas.openxmlformats.org/officeDocument/2006/math">
                    <m:sSup>
                      <m:e>
                        <m:r>
                          <a:rPr lang="en-IN" sz="2400" i="1">
                            <a:solidFill>
                              <a:srgbClr val="78350F"/>
                            </a:solidFill>
                            <a:latin typeface="Cambria Math" panose="02040503050406030204" pitchFamily="18" charset="0"/>
                          </a:rPr>
                          <m:t>7</m:t>
                        </m:r>
                      </m:e>
                      <m:sup>
                        <m:r>
                          <a:rPr lang="en-IN" sz="2400" i="1">
                            <a:solidFill>
                              <a:srgbClr val="78350F"/>
                            </a:solidFill>
                            <a:latin typeface="Cambria Math" panose="02040503050406030204" pitchFamily="18" charset="0"/>
                          </a:rPr>
                          <m:t>103</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7</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9</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5</m:t>
                        </m:r>
                      </m:e>
                      <m:sup>
                        <m:r>
                          <a:rPr lang="en-IN" sz="2400" i="1">
                            <a:solidFill>
                              <a:srgbClr val="78350F"/>
                            </a:solidFill>
                            <a:latin typeface="Cambria Math" panose="02040503050406030204" pitchFamily="18" charset="0"/>
                          </a:rPr>
                          <m:t>9</m:t>
                        </m:r>
                      </m:sup>
                    </m:sSup>
                  </m:oMath>
                </a14:m>
                <a:r>
                  <a:rPr sz="2400" b="0">
                    <a:solidFill>
                      <a:srgbClr val="78350F"/>
                    </a:solidFill>
                    <a:latin typeface="Arial"/>
                  </a:rPr>
                  <a:t>, with </a:t>
                </a:r>
                <a14:m>
                  <m:oMath xmlns:m="http://schemas.openxmlformats.org/officeDocument/2006/math">
                    <m:sSup>
                      <m:e>
                        <m:r>
                          <a:rPr lang="en-IN" sz="2400" i="1">
                            <a:solidFill>
                              <a:srgbClr val="78350F"/>
                            </a:solidFill>
                            <a:latin typeface="Cambria Math" panose="02040503050406030204" pitchFamily="18" charset="0"/>
                          </a:rPr>
                          <m:t>7</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a negative exponent: </a:t>
                </a:r>
                <a:r>
                  <a:rPr lang="en-IN" sz="2400">
                    <a:solidFill>
                      <a:srgbClr val="78350F"/>
                    </a:solidFill>
                    <a:latin typeface="Cambria Math" panose="02040503050406030204" pitchFamily="18" charset="0"/>
                  </a:rPr>
                  <a:t>$7^{112}\equiv1$</a:t>
                </a:r>
                <a:r>
                  <a:rPr sz="2400" b="0">
                    <a:solidFill>
                      <a:srgbClr val="78350F"/>
                    </a:solidFill>
                    <a:latin typeface="Arial"/>
                  </a:rPr>
                  <a:t> so </a:t>
                </a:r>
                <a:r>
                  <a:rPr lang="en-IN" sz="2400">
                    <a:solidFill>
                      <a:srgbClr val="78350F"/>
                    </a:solidFill>
                    <a:latin typeface="Cambria Math" panose="02040503050406030204" pitchFamily="18" charset="0"/>
                  </a:rPr>
                  <a:t>$7^{103}\equiv7^{-9}=5^{9}$</a:t>
                </a:r>
                <a:r>
                  <a:rPr sz="2400" b="0">
                    <a:solidFill>
                      <a:srgbClr val="78350F"/>
                    </a:solidFill>
                    <a:latin typeface="Arial"/>
                  </a:rPr>
                  <a:t>, with </a:t>
                </a:r>
                <a:r>
                  <a:rPr lang="en-IN" sz="2400">
                    <a:solidFill>
                      <a:srgbClr val="78350F"/>
                    </a:solidFill>
                    <a:latin typeface="Cambria Math" panose="02040503050406030204" pitchFamily="18" charset="0"/>
                  </a:rPr>
                  <a:t>$7^{-1}\equiv5$</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By Fermat, </a:t>
                </a:r>
                <a14:m>
                  <m:oMath xmlns:m="http://schemas.openxmlformats.org/officeDocument/2006/math">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16</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112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112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103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112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7</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e>
                        </m:d>
                      </m:e>
                      <m:sup>
                        <m:r>
                          <a:rPr lang="en-IN" sz="2400" i="1">
                            <a:solidFill>
                              <a:srgbClr val="111827"/>
                            </a:solidFill>
                            <a:latin typeface="Cambria Math" panose="02040503050406030204" pitchFamily="18" charset="0"/>
                          </a:rPr>
                          <m:t>9</m:t>
                        </m:r>
                      </m:sup>
                    </m:sSup>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7</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8</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9</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8</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Remainder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By Fermat, </a:t>
                </a:r>
                <a:r>
                  <a:rPr lang="en-IN" sz="2400">
                    <a:solidFill>
                      <a:srgbClr val="111827"/>
                    </a:solidFill>
                    <a:latin typeface="Cambria Math" panose="02040503050406030204" pitchFamily="18" charset="0"/>
                  </a:rPr>
                  <a:t>$7^{16}\equiv1\pmod{17}$</a:t>
                </a:r>
                <a:r>
                  <a:rPr sz="2400" b="0">
                    <a:solidFill>
                      <a:srgbClr val="111827"/>
                    </a:solidFill>
                    <a:latin typeface="Arial"/>
                  </a:rPr>
                  <a:t>, and </a:t>
                </a:r>
                <a:r>
                  <a:rPr lang="en-IN" sz="2400">
                    <a:solidFill>
                      <a:srgbClr val="111827"/>
                    </a:solidFill>
                    <a:latin typeface="Cambria Math" panose="02040503050406030204" pitchFamily="18" charset="0"/>
                  </a:rPr>
                  <a:t>$112=7\cdot16$</a:t>
                </a:r>
                <a:r>
                  <a:rPr sz="2400" b="0">
                    <a:solidFill>
                      <a:srgbClr val="111827"/>
                    </a:solidFill>
                    <a:latin typeface="Arial"/>
                  </a:rPr>
                  <a:t>, so </a:t>
                </a:r>
                <a:r>
                  <a:rPr lang="en-IN" sz="2400">
                    <a:solidFill>
                      <a:srgbClr val="111827"/>
                    </a:solidFill>
                    <a:latin typeface="Cambria Math" panose="02040503050406030204" pitchFamily="18" charset="0"/>
                  </a:rPr>
                  <a:t>$7^{112}\equiv1$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$7^{103}=7^{112-9}\equiv\left(7^{-1}\right)^{9}\pmod{17}$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$7\cdot5=35=34+1\equiv1$</a:t>
                </a:r>
                <a:r>
                  <a:rPr sz="2400" b="0">
                    <a:solidFill>
                      <a:srgbClr val="111827"/>
                    </a:solidFill>
                    <a:latin typeface="Arial"/>
                  </a:rPr>
                  <a:t>, so </a:t>
                </a:r>
                <a:r>
                  <a:rPr lang="en-IN" sz="2400">
                    <a:solidFill>
                      <a:srgbClr val="111827"/>
                    </a:solidFill>
                    <a:latin typeface="Cambria Math" panose="02040503050406030204" pitchFamily="18" charset="0"/>
                  </a:rPr>
                  <a:t>$7^{-1}\equiv5$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$5^2=25\equiv8$</a:t>
                </a:r>
                <a:r>
                  <a:rPr sz="2400" b="0">
                    <a:solidFill>
                      <a:srgbClr val="111827"/>
                    </a:solidFill>
                    <a:latin typeface="Arial"/>
                  </a:rPr>
                  <a:t>, </a:t>
                </a:r>
                <a:r>
                  <a:rPr lang="en-IN" sz="2400">
                    <a:solidFill>
                      <a:srgbClr val="111827"/>
                    </a:solidFill>
                    <a:latin typeface="Cambria Math" panose="02040503050406030204" pitchFamily="18" charset="0"/>
                  </a:rPr>
                  <a:t>$5^4\equiv64\equiv13\equiv-4$</a:t>
                </a:r>
                <a:r>
                  <a:rPr sz="2400" b="0">
                    <a:solidFill>
                      <a:srgbClr val="111827"/>
                    </a:solidFill>
                    <a:latin typeface="Arial"/>
                  </a:rPr>
                  <a:t>, </a:t>
                </a:r>
                <a:r>
                  <a:rPr lang="en-IN" sz="2400">
                    <a:solidFill>
                      <a:srgbClr val="111827"/>
                    </a:solidFill>
                    <a:latin typeface="Cambria Math" panose="02040503050406030204" pitchFamily="18" charset="0"/>
                  </a:rPr>
                  <a:t>$5^8\equiv16\equiv-1$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$5^9=5^8\cdot5\equiv-5\equiv12$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Remainder </a:t>
                </a:r>
                <a:r>
                  <a:rPr lang="en-IN" sz="2400">
                    <a:solidFill>
                      <a:srgbClr val="111827"/>
                    </a:solidFill>
                    <a:latin typeface="Cambria Math" panose="02040503050406030204" pitchFamily="18" charset="0"/>
                  </a:rPr>
                  <a:t>$=12$</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12</a:t>
            </a:r>
            <a:endParaRPr sz="2800">
              <a:solidFill>
                <a:srgbClr val="15803D"/>
              </a:solidFill>
            </a:endParaRP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𝑘</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finding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a quick route to the order of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power just below a multiple of the period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use negative exponents: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𝑎</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e>
                        </m:d>
                      </m:e>
                      <m:sup>
                        <m:r>
                          <a:rPr lang="en-IN" sz="2400" i="1">
                            <a:solidFill>
                              <a:srgbClr val="111827"/>
                            </a:solidFill>
                            <a:latin typeface="Cambria Math" panose="02040503050406030204" pitchFamily="18" charset="0"/>
                          </a:rPr>
                          <m:t>𝑟</m:t>
                        </m:r>
                      </m:sup>
                    </m:sSup>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small.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103</m:t>
                        </m:r>
                      </m:sup>
                    </m:sSup>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by direct computation.</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$a^{k}\equiv-1\pmod p$</a:t>
                </a:r>
                <a:r>
                  <a:rPr sz="2400" b="0">
                    <a:solidFill>
                      <a:srgbClr val="111827"/>
                    </a:solidFill>
                    <a:latin typeface="Arial"/>
                  </a:rPr>
                  <a:t> then </a:t>
                </a:r>
                <a:r>
                  <a:rPr lang="en-IN" sz="2400">
                    <a:solidFill>
                      <a:srgbClr val="111827"/>
                    </a:solidFill>
                    <a:latin typeface="Cambria Math" panose="02040503050406030204" pitchFamily="18" charset="0"/>
                  </a:rPr>
                  <a:t>$a^{2k}\equiv1$</a:t>
                </a:r>
                <a:r>
                  <a:rPr sz="2400" b="0">
                    <a:solidFill>
                      <a:srgbClr val="111827"/>
                    </a:solidFill>
                    <a:latin typeface="Arial"/>
                  </a:rPr>
                  <a:t>: finding </a:t>
                </a:r>
                <a:r>
                  <a:rPr lang="en-IN" sz="2400">
                    <a:solidFill>
                      <a:srgbClr val="111827"/>
                    </a:solidFill>
                    <a:latin typeface="Cambria Math" panose="02040503050406030204" pitchFamily="18" charset="0"/>
                  </a:rPr>
                  <a:t>$-1$</a:t>
                </a:r>
                <a:r>
                  <a:rPr sz="2400" b="0">
                    <a:solidFill>
                      <a:srgbClr val="111827"/>
                    </a:solidFill>
                    <a:latin typeface="Arial"/>
                  </a:rPr>
                  <a:t> is a quick route to the order of </a:t>
                </a:r>
                <a:r>
                  <a:rPr lang="en-IN" sz="2400">
                    <a:solidFill>
                      <a:srgbClr val="111827"/>
                    </a:solidFill>
                    <a:latin typeface="Cambria Math" panose="02040503050406030204" pitchFamily="18" charset="0"/>
                  </a:rPr>
                  <a: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power just below a multiple of the period </a:t>
                </a:r>
                <a:r>
                  <a:rPr lang="en-IN" sz="2400">
                    <a:solidFill>
                      <a:srgbClr val="111827"/>
                    </a:solidFill>
                    <a:latin typeface="Cambria Math" panose="02040503050406030204" pitchFamily="18" charset="0"/>
                  </a:rPr>
                  <a:t>$p-1$</a:t>
                </a:r>
                <a:r>
                  <a:rPr sz="2400" b="0">
                    <a:solidFill>
                      <a:srgbClr val="111827"/>
                    </a:solidFill>
                    <a:latin typeface="Arial"/>
                  </a:rPr>
                  <a:t>, use negative exponents: </a:t>
                </a:r>
                <a:r>
                  <a:rPr lang="en-IN" sz="2400">
                    <a:solidFill>
                      <a:srgbClr val="111827"/>
                    </a:solidFill>
                    <a:latin typeface="Cambria Math" panose="02040503050406030204" pitchFamily="18" charset="0"/>
                  </a:rPr>
                  <a:t>$a^{N(p-1)-r}\equiv\left(a^{-1}\right)^{r}$</a:t>
                </a:r>
                <a:r>
                  <a:rPr sz="2400" b="0">
                    <a:solidFill>
                      <a:srgbClr val="111827"/>
                    </a:solidFill>
                    <a:latin typeface="Arial"/>
                  </a:rPr>
                  <a:t> with </a:t>
                </a:r>
                <a:r>
                  <a:rPr lang="en-IN" sz="2400">
                    <a:solidFill>
                      <a:srgbClr val="111827"/>
                    </a:solidFill>
                    <a:latin typeface="Cambria Math" panose="02040503050406030204" pitchFamily="18" charset="0"/>
                  </a:rPr>
                  <a:t>$r$</a:t>
                </a:r>
                <a:r>
                  <a:rPr sz="2400" b="0">
                    <a:solidFill>
                      <a:srgbClr val="111827"/>
                    </a:solidFill>
                    <a:latin typeface="Arial"/>
                  </a:rPr>
                  <a:t> small.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$7^{103}\bmod 17=12$</a:t>
                </a:r>
                <a:r>
                  <a:rPr sz="2400" b="0">
                    <a:solidFill>
                      <a:srgbClr val="111827"/>
                    </a:solidFill>
                    <a:latin typeface="Arial"/>
                  </a:rPr>
                  <a:t> by direct computation.</a:t>
                </a:r>
                <a:endParaRPr sz="2400">
                  <a:solidFill>
                    <a:srgbClr val="111827"/>
                  </a:solidFill>
                </a:endParaRPr>
              </a:p>
            </p:txBody>
          </p:sp>
        </mc:Fallback>
      </mc:AlternateContent>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elements in the set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a:rPr lang="en-IN" sz="2400" i="1">
                        <a:solidFill>
                          <a:srgbClr val="111827"/>
                        </a:solidFill>
                        <a:latin typeface="Cambria Math" panose="02040503050406030204" pitchFamily="18" charset="0"/>
                      </a:rPr>
                      <m:t> </m:t>
                    </m:r>
                    <m:r>
                      <m:rPr>
                        <m:nor/>
                      </m:rPr>
                      <a:rPr lang="en-IN" sz="2400" i="1">
                        <a:solidFill>
                          <a:srgbClr val="111827"/>
                        </a:solidFill>
                        <a:latin typeface="Cambria Math" panose="02040503050406030204" pitchFamily="18" charset="0"/>
                      </a:rPr>
                      <m:t>𝑎𝑛𝑑</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 </m:t>
                    </m:r>
                    <m:r>
                      <m:rPr>
                        <m:nor/>
                      </m:rPr>
                      <a:rPr lang="en-IN" sz="2400" i="1">
                        <a:solidFill>
                          <a:srgbClr val="111827"/>
                        </a:solidFill>
                        <a:latin typeface="Cambria Math" panose="02040503050406030204" pitchFamily="18" charset="0"/>
                      </a:rPr>
                      <m:t>𝑖𝑠 𝑎 𝑚𝑢𝑙𝑡𝑖𝑝𝑙𝑒 𝑜𝑓</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______ .</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elements in the set </a:t>
                </a:r>
                <a:r>
                  <a:rPr lang="en-IN" sz="2400">
                    <a:solidFill>
                      <a:srgbClr val="111827"/>
                    </a:solidFill>
                    <a:latin typeface="Cambria Math" panose="02040503050406030204" pitchFamily="18" charset="0"/>
                  </a:rPr>
                  <a:t>$\{n\in\mathbb{N}:10\le n\le100\ \text{and}\ 3^{n}-3\ \text{is a multiple of}\ 7\}$</a:t>
                </a:r>
                <a:r>
                  <a:rPr sz="2400" b="0">
                    <a:solidFill>
                      <a:srgbClr val="111827"/>
                    </a:solidFill>
                    <a:latin typeface="Arial"/>
                  </a:rPr>
                  <a:t> is ______ .</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24612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Divisibility of </a:t>
                </a:r>
                <a14:m>
                  <m:oMath xmlns:m="http://schemas.openxmlformats.org/officeDocument/2006/math">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by 7 and counting integers (modular arithmetic)</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Choice>
        <mc:Fallback>
          <p:sp>
            <p:nvSpPr>
              <p:cNvPr id="5" name="Rectangle 4"/>
              <p:cNvSpPr/>
              <p:nvPr/>
            </p:nvSpPr>
            <p:spPr>
              <a:xfrm>
                <a:off x="731520" y="324612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Divisibility of </a:t>
                </a:r>
                <a:r>
                  <a:rPr lang="en-IN" sz="2400">
                    <a:solidFill>
                      <a:srgbClr val="111827"/>
                    </a:solidFill>
                    <a:latin typeface="Cambria Math" panose="02040503050406030204" pitchFamily="18" charset="0"/>
                  </a:rPr>
                  <a:t>$3^n-3$</a:t>
                </a:r>
                <a:r>
                  <a:rPr sz="2400" b="0">
                    <a:solidFill>
                      <a:srgbClr val="111827"/>
                    </a:solidFill>
                    <a:latin typeface="Arial"/>
                  </a:rPr>
                  <a:t> by 7 and counting integers (modular arithmetic)</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Fallback>
      </mc:AlternateContent>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3</m:t>
                    </m:r>
                  </m:oMath>
                </a14:m>
                <a:r>
                  <a:rPr sz="2400" b="0">
                    <a:solidFill>
                      <a:srgbClr val="78350F"/>
                    </a:solidFill>
                    <a:latin typeface="Arial"/>
                  </a:rPr>
                  <a:t> has order </a:t>
                </a:r>
                <a14:m>
                  <m:oMath xmlns:m="http://schemas.openxmlformats.org/officeDocument/2006/math">
                    <m:r>
                      <a:rPr lang="en-IN" sz="2400" i="1">
                        <a:solidFill>
                          <a:srgbClr val="78350F"/>
                        </a:solidFill>
                        <a:latin typeface="Cambria Math" panose="02040503050406030204" pitchFamily="18" charset="0"/>
                      </a:rPr>
                      <m:t>6</m:t>
                    </m:r>
                  </m:oMath>
                </a14:m>
                <a:r>
                  <a:rPr sz="2400" b="0">
                    <a:solidFill>
                      <a:srgbClr val="78350F"/>
                    </a:solidFill>
                    <a:latin typeface="Arial"/>
                  </a:rPr>
                  <a:t> modulo </a:t>
                </a:r>
                <a14:m>
                  <m:oMath xmlns:m="http://schemas.openxmlformats.org/officeDocument/2006/math">
                    <m:r>
                      <a:rPr lang="en-IN" sz="2400" i="1">
                        <a:solidFill>
                          <a:srgbClr val="78350F"/>
                        </a:solidFill>
                        <a:latin typeface="Cambria Math" panose="02040503050406030204" pitchFamily="18" charset="0"/>
                      </a:rPr>
                      <m:t>7</m:t>
                    </m:r>
                  </m:oMath>
                </a14:m>
                <a:r>
                  <a:rPr sz="2400" b="0">
                    <a:solidFill>
                      <a:srgbClr val="78350F"/>
                    </a:solidFill>
                    <a:latin typeface="Arial"/>
                  </a:rPr>
                  <a:t>, so </a:t>
                </a:r>
                <a14:m>
                  <m:oMath xmlns:m="http://schemas.openxmlformats.org/officeDocument/2006/math">
                    <m:sSup>
                      <m:e>
                        <m:r>
                          <a:rPr lang="en-IN" sz="2400" i="1">
                            <a:solidFill>
                              <a:srgbClr val="78350F"/>
                            </a:solidFill>
                            <a:latin typeface="Cambria Math" panose="02040503050406030204" pitchFamily="18" charset="0"/>
                          </a:rPr>
                          <m:t>3</m:t>
                        </m:r>
                      </m:e>
                      <m:sup>
                        <m:r>
                          <a:rPr lang="en-IN" sz="2400" i="1">
                            <a:solidFill>
                              <a:srgbClr val="78350F"/>
                            </a:solidFill>
                            <a:latin typeface="Cambria Math" panose="02040503050406030204" pitchFamily="18" charset="0"/>
                          </a:rPr>
                          <m:t>𝑛</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oMath>
                </a14:m>
                <a:r>
                  <a:rPr sz="2400" b="0">
                    <a:solidFill>
                      <a:srgbClr val="78350F"/>
                    </a:solidFill>
                    <a:latin typeface="Arial"/>
                  </a:rPr>
                  <a:t> exactly when </a:t>
                </a:r>
                <a14:m>
                  <m:oMath xmlns:m="http://schemas.openxmlformats.org/officeDocument/2006/math">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a:rPr lang="en-IN" sz="2400" i="1">
                        <a:solidFill>
                          <a:srgbClr val="78350F"/>
                        </a:solidFill>
                        <a:latin typeface="Cambria Math" panose="02040503050406030204" pitchFamily="18" charset="0"/>
                      </a:rPr>
                      <m:t> </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mod</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6</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$3$</a:t>
                </a:r>
                <a:r>
                  <a:rPr sz="2400" b="0">
                    <a:solidFill>
                      <a:srgbClr val="78350F"/>
                    </a:solidFill>
                    <a:latin typeface="Arial"/>
                  </a:rPr>
                  <a:t> has order </a:t>
                </a:r>
                <a:r>
                  <a:rPr lang="en-IN" sz="2400">
                    <a:solidFill>
                      <a:srgbClr val="78350F"/>
                    </a:solidFill>
                    <a:latin typeface="Cambria Math" panose="02040503050406030204" pitchFamily="18" charset="0"/>
                  </a:rPr>
                  <a:t>$6$</a:t>
                </a:r>
                <a:r>
                  <a:rPr sz="2400" b="0">
                    <a:solidFill>
                      <a:srgbClr val="78350F"/>
                    </a:solidFill>
                    <a:latin typeface="Arial"/>
                  </a:rPr>
                  <a:t> modulo </a:t>
                </a:r>
                <a:r>
                  <a:rPr lang="en-IN" sz="2400">
                    <a:solidFill>
                      <a:srgbClr val="78350F"/>
                    </a:solidFill>
                    <a:latin typeface="Cambria Math" panose="02040503050406030204" pitchFamily="18" charset="0"/>
                  </a:rPr>
                  <a:t>$7$</a:t>
                </a:r>
                <a:r>
                  <a:rPr sz="2400" b="0">
                    <a:solidFill>
                      <a:srgbClr val="78350F"/>
                    </a:solidFill>
                    <a:latin typeface="Arial"/>
                  </a:rPr>
                  <a:t>, so </a:t>
                </a:r>
                <a:r>
                  <a:rPr lang="en-IN" sz="2400">
                    <a:solidFill>
                      <a:srgbClr val="78350F"/>
                    </a:solidFill>
                    <a:latin typeface="Cambria Math" panose="02040503050406030204" pitchFamily="18" charset="0"/>
                  </a:rPr>
                  <a:t>$3^n\equiv3$</a:t>
                </a:r>
                <a:r>
                  <a:rPr sz="2400" b="0">
                    <a:solidFill>
                      <a:srgbClr val="78350F"/>
                    </a:solidFill>
                    <a:latin typeface="Arial"/>
                  </a:rPr>
                  <a:t> exactly when </a:t>
                </a:r>
                <a:r>
                  <a:rPr lang="en-IN" sz="2400">
                    <a:solidFill>
                      <a:srgbClr val="78350F"/>
                    </a:solidFill>
                    <a:latin typeface="Cambria Math" panose="02040503050406030204" pitchFamily="18" charset="0"/>
                  </a:rPr>
                  <a:t>$n\equiv1\pmod6$</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Here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is a multiple of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i.e. </a:t>
                </a:r>
                <a14:m>
                  <m:oMath xmlns:m="http://schemas.openxmlformats.org/officeDocument/2006/math">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Powers of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modulo 7 are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then repeat with period 6.</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exactly when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97</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Here </a:t>
                </a:r>
                <a:r>
                  <a:rPr lang="en-IN" sz="2400">
                    <a:solidFill>
                      <a:srgbClr val="111827"/>
                    </a:solidFill>
                    <a:latin typeface="Cambria Math" panose="02040503050406030204" pitchFamily="18" charset="0"/>
                  </a:rPr>
                  <a:t>$n\in[10,100]$</a:t>
                </a:r>
                <a:r>
                  <a:rPr sz="2400" b="0">
                    <a:solidFill>
                      <a:srgbClr val="111827"/>
                    </a:solidFill>
                    <a:latin typeface="Arial"/>
                  </a:rPr>
                  <a:t> and </a:t>
                </a:r>
                <a:r>
                  <a:rPr lang="en-IN" sz="2400">
                    <a:solidFill>
                      <a:srgbClr val="111827"/>
                    </a:solidFill>
                    <a:latin typeface="Cambria Math" panose="02040503050406030204" pitchFamily="18" charset="0"/>
                  </a:rPr>
                  <a:t>$3^n-3$</a:t>
                </a:r>
                <a:r>
                  <a:rPr sz="2400" b="0">
                    <a:solidFill>
                      <a:srgbClr val="111827"/>
                    </a:solidFill>
                    <a:latin typeface="Arial"/>
                  </a:rPr>
                  <a:t> is a multiple of </a:t>
                </a:r>
                <a:r>
                  <a:rPr lang="en-IN" sz="2400">
                    <a:solidFill>
                      <a:srgbClr val="111827"/>
                    </a:solidFill>
                    <a:latin typeface="Cambria Math" panose="02040503050406030204" pitchFamily="18" charset="0"/>
                  </a:rPr>
                  <a:t>$7$</a:t>
                </a:r>
                <a:r>
                  <a:rPr sz="2400" b="0">
                    <a:solidFill>
                      <a:srgbClr val="111827"/>
                    </a:solidFill>
                    <a:latin typeface="Arial"/>
                  </a:rPr>
                  <a:t>, i.e. </a:t>
                </a:r>
                <a:r>
                  <a:rPr lang="en-IN" sz="2400">
                    <a:solidFill>
                      <a:srgbClr val="111827"/>
                    </a:solidFill>
                    <a:latin typeface="Cambria Math" panose="02040503050406030204" pitchFamily="18" charset="0"/>
                  </a:rPr>
                  <a:t>$3^n=7\lambda+3$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Powers of </a:t>
                </a:r>
                <a:r>
                  <a:rPr lang="en-IN" sz="2400">
                    <a:solidFill>
                      <a:srgbClr val="111827"/>
                    </a:solidFill>
                    <a:latin typeface="Cambria Math" panose="02040503050406030204" pitchFamily="18" charset="0"/>
                  </a:rPr>
                  <a:t>$3$</a:t>
                </a:r>
                <a:r>
                  <a:rPr sz="2400" b="0">
                    <a:solidFill>
                      <a:srgbClr val="111827"/>
                    </a:solidFill>
                    <a:latin typeface="Arial"/>
                  </a:rPr>
                  <a:t> modulo 7 are </a:t>
                </a:r>
                <a:r>
                  <a:rPr lang="en-IN" sz="2400">
                    <a:solidFill>
                      <a:srgbClr val="111827"/>
                    </a:solidFill>
                    <a:latin typeface="Cambria Math" panose="02040503050406030204" pitchFamily="18" charset="0"/>
                  </a:rPr>
                  <a:t>$3,2,6,4,5,1$</a:t>
                </a:r>
                <a:r>
                  <a:rPr sz="2400" b="0">
                    <a:solidFill>
                      <a:srgbClr val="111827"/>
                    </a:solidFill>
                    <a:latin typeface="Arial"/>
                  </a:rPr>
                  <a:t> for </a:t>
                </a:r>
                <a:r>
                  <a:rPr lang="en-IN" sz="2400">
                    <a:solidFill>
                      <a:srgbClr val="111827"/>
                    </a:solidFill>
                    <a:latin typeface="Cambria Math" panose="02040503050406030204" pitchFamily="18" charset="0"/>
                  </a:rPr>
                  <a:t>$n=1,\dots,6$</a:t>
                </a:r>
                <a:r>
                  <a:rPr sz="2400" b="0">
                    <a:solidFill>
                      <a:srgbClr val="111827"/>
                    </a:solidFill>
                    <a:latin typeface="Arial"/>
                  </a:rPr>
                  <a:t>, then repeat with period 6.</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$3^n\equiv3\pmod 7$</a:t>
                </a:r>
                <a:r>
                  <a:rPr sz="2400" b="0">
                    <a:solidFill>
                      <a:srgbClr val="111827"/>
                    </a:solidFill>
                    <a:latin typeface="Arial"/>
                  </a:rPr>
                  <a:t> exactly when </a:t>
                </a:r>
                <a:r>
                  <a:rPr lang="en-IN" sz="2400">
                    <a:solidFill>
                      <a:srgbClr val="111827"/>
                    </a:solidFill>
                    <a:latin typeface="Cambria Math" panose="02040503050406030204" pitchFamily="18" charset="0"/>
                  </a:rPr>
                  <a:t>$n\equiv1\pmod 6$</a:t>
                </a:r>
                <a:r>
                  <a:rPr sz="2400" b="0">
                    <a:solidFill>
                      <a:srgbClr val="111827"/>
                    </a:solidFill>
                    <a:latin typeface="Arial"/>
                  </a:rPr>
                  <a:t>: </a:t>
                </a:r>
                <a:r>
                  <a:rPr lang="en-IN" sz="2400">
                    <a:solidFill>
                      <a:srgbClr val="111827"/>
                    </a:solidFill>
                    <a:latin typeface="Cambria Math" panose="02040503050406030204" pitchFamily="18" charset="0"/>
                  </a:rPr>
                  <a:t>$n=1,7,13,19,25,\dots,97$</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Those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are </a:t>
                </a:r>
                <a14:m>
                  <m:oMath xmlns:m="http://schemas.openxmlformats.org/officeDocument/2006/math">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97</m:t>
                    </m:r>
                  </m:oMath>
                </a14:m>
                <a:r>
                  <a:rPr sz="2400" b="0">
                    <a:solidFill>
                      <a:srgbClr val="111827"/>
                    </a:solidFill>
                    <a:latin typeface="Arial"/>
                  </a:rPr>
                  <a:t> (the values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are below 10).</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number of terms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Those in </a:t>
                </a:r>
                <a:r>
                  <a:rPr lang="en-IN" sz="2400">
                    <a:solidFill>
                      <a:srgbClr val="111827"/>
                    </a:solidFill>
                    <a:latin typeface="Cambria Math" panose="02040503050406030204" pitchFamily="18" charset="0"/>
                  </a:rPr>
                  <a:t>$[10,100]$</a:t>
                </a:r>
                <a:r>
                  <a:rPr sz="2400" b="0">
                    <a:solidFill>
                      <a:srgbClr val="111827"/>
                    </a:solidFill>
                    <a:latin typeface="Arial"/>
                  </a:rPr>
                  <a:t> are </a:t>
                </a:r>
                <a:r>
                  <a:rPr lang="en-IN" sz="2400">
                    <a:solidFill>
                      <a:srgbClr val="111827"/>
                    </a:solidFill>
                    <a:latin typeface="Cambria Math" panose="02040503050406030204" pitchFamily="18" charset="0"/>
                  </a:rPr>
                  <a:t>$13,19,25,\dots,97$</a:t>
                </a:r>
                <a:r>
                  <a:rPr sz="2400" b="0">
                    <a:solidFill>
                      <a:srgbClr val="111827"/>
                    </a:solidFill>
                    <a:latin typeface="Arial"/>
                  </a:rPr>
                  <a:t> (the values </a:t>
                </a:r>
                <a:r>
                  <a:rPr lang="en-IN" sz="2400">
                    <a:solidFill>
                      <a:srgbClr val="111827"/>
                    </a:solidFill>
                    <a:latin typeface="Cambria Math" panose="02040503050406030204" pitchFamily="18" charset="0"/>
                  </a:rPr>
                  <a:t>$1$</a:t>
                </a:r>
                <a:r>
                  <a:rPr sz="2400" b="0">
                    <a:solidFill>
                      <a:srgbClr val="111827"/>
                    </a:solidFill>
                    <a:latin typeface="Arial"/>
                  </a:rPr>
                  <a:t> and </a:t>
                </a:r>
                <a:r>
                  <a:rPr lang="en-IN" sz="2400">
                    <a:solidFill>
                      <a:srgbClr val="111827"/>
                    </a:solidFill>
                    <a:latin typeface="Cambria Math" panose="02040503050406030204" pitchFamily="18" charset="0"/>
                  </a:rPr>
                  <a:t>$7$</a:t>
                </a:r>
                <a:r>
                  <a:rPr sz="2400" b="0">
                    <a:solidFill>
                      <a:srgbClr val="111827"/>
                    </a:solidFill>
                    <a:latin typeface="Arial"/>
                  </a:rPr>
                  <a:t> are below 10).</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number of terms is </a:t>
                </a:r>
                <a:r>
                  <a:rPr lang="en-IN" sz="2400">
                    <a:solidFill>
                      <a:srgbClr val="111827"/>
                    </a:solidFill>
                    <a:latin typeface="Cambria Math" panose="02040503050406030204" pitchFamily="18" charset="0"/>
                  </a:rPr>
                  <a:t>$\frac{97-13}{6}+1=15$</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15</a:t>
            </a:r>
            <a:endParaRPr sz="2800">
              <a:solidFill>
                <a:srgbClr val="15803D"/>
              </a:solidFill>
            </a:endParaRP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powers of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modulo a prime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are periodic with period equal to the order of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 divisor of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Powers of 3 mod 7: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(3 is a primitive root).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𝑚</m:t>
                        </m:r>
                      </m:sup>
                    </m:sSup>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sSub>
                      <m:e>
                        <m:r>
                          <m:rPr>
                            <m:nor/>
                          </m:rPr>
                          <a:rPr lang="en-IN" sz="2400" i="1">
                            <a:solidFill>
                              <a:srgbClr val="111827"/>
                            </a:solidFill>
                            <a:latin typeface="Cambria Math" panose="02040503050406030204" pitchFamily="18" charset="0"/>
                          </a:rPr>
                          <m:t>𝑜𝑟𝑑</m:t>
                        </m:r>
                      </m:e>
                      <m:sub>
                        <m:r>
                          <a:rPr lang="en-IN" sz="2400" i="1">
                            <a:solidFill>
                              <a:srgbClr val="111827"/>
                            </a:solidFill>
                            <a:latin typeface="Cambria Math" panose="02040503050406030204" pitchFamily="18" charset="0"/>
                          </a:rPr>
                          <m:t>𝑝</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so counting solutions in a range is counting an arithmetic progression.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terms of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𝑙</m:t>
                    </m:r>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𝑙</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𝑑</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clip the progression to the stated range first.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powers of </a:t>
                </a:r>
                <a:r>
                  <a:rPr lang="en-IN" sz="2400">
                    <a:solidFill>
                      <a:srgbClr val="111827"/>
                    </a:solidFill>
                    <a:latin typeface="Cambria Math" panose="02040503050406030204" pitchFamily="18" charset="0"/>
                  </a:rPr>
                  <a:t>$a$</a:t>
                </a:r>
                <a:r>
                  <a:rPr sz="2400" b="0">
                    <a:solidFill>
                      <a:srgbClr val="111827"/>
                    </a:solidFill>
                    <a:latin typeface="Arial"/>
                  </a:rPr>
                  <a:t> modulo a prime </a:t>
                </a:r>
                <a:r>
                  <a:rPr lang="en-IN" sz="2400">
                    <a:solidFill>
                      <a:srgbClr val="111827"/>
                    </a:solidFill>
                    <a:latin typeface="Cambria Math" panose="02040503050406030204" pitchFamily="18" charset="0"/>
                  </a:rPr>
                  <a:t>$p$</a:t>
                </a:r>
                <a:r>
                  <a:rPr sz="2400" b="0">
                    <a:solidFill>
                      <a:srgbClr val="111827"/>
                    </a:solidFill>
                    <a:latin typeface="Arial"/>
                  </a:rPr>
                  <a:t> are periodic with period equal to the order of </a:t>
                </a:r>
                <a:r>
                  <a:rPr lang="en-IN" sz="2400">
                    <a:solidFill>
                      <a:srgbClr val="111827"/>
                    </a:solidFill>
                    <a:latin typeface="Cambria Math" panose="02040503050406030204" pitchFamily="18" charset="0"/>
                  </a:rPr>
                  <a:t>$a$</a:t>
                </a:r>
                <a:r>
                  <a:rPr sz="2400" b="0">
                    <a:solidFill>
                      <a:srgbClr val="111827"/>
                    </a:solidFill>
                    <a:latin typeface="Arial"/>
                  </a:rPr>
                  <a:t> (a divisor of </a:t>
                </a:r>
                <a:r>
                  <a:rPr lang="en-IN" sz="2400">
                    <a:solidFill>
                      <a:srgbClr val="111827"/>
                    </a:solidFill>
                    <a:latin typeface="Cambria Math" panose="02040503050406030204" pitchFamily="18" charset="0"/>
                  </a:rPr>
                  <a:t>$p-1$</a:t>
                </a:r>
                <a:r>
                  <a:rPr sz="2400" b="0">
                    <a:solidFill>
                      <a:srgbClr val="111827"/>
                    </a:solidFill>
                    <a:latin typeface="Arial"/>
                  </a:rPr>
                  <a:t>). Powers of 3 mod 7: </a:t>
                </a:r>
                <a:r>
                  <a:rPr lang="en-IN" sz="2400">
                    <a:solidFill>
                      <a:srgbClr val="111827"/>
                    </a:solidFill>
                    <a:latin typeface="Cambria Math" panose="02040503050406030204" pitchFamily="18" charset="0"/>
                  </a:rPr>
                  <a:t>$3,2,6,4,5,1$</a:t>
                </a:r>
                <a:r>
                  <a:rPr sz="2400" b="0">
                    <a:solidFill>
                      <a:srgbClr val="111827"/>
                    </a:solidFill>
                    <a:latin typeface="Arial"/>
                  </a:rPr>
                  <a:t> (3 is a primitive root).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$a^n\equiv a^m\pmod p\iff n\equiv m\pmod{\text{ord}_p(a)}$</a:t>
                </a:r>
                <a:r>
                  <a:rPr sz="2400" b="0">
                    <a:solidFill>
                      <a:srgbClr val="111827"/>
                    </a:solidFill>
                    <a:latin typeface="Arial"/>
                  </a:rPr>
                  <a:t> for </a:t>
                </a:r>
                <a:r>
                  <a:rPr lang="en-IN" sz="2400">
                    <a:solidFill>
                      <a:srgbClr val="111827"/>
                    </a:solidFill>
                    <a:latin typeface="Cambria Math" panose="02040503050406030204" pitchFamily="18" charset="0"/>
                  </a:rPr>
                  <a:t>$p\nmid a$</a:t>
                </a:r>
                <a:r>
                  <a:rPr sz="2400" b="0">
                    <a:solidFill>
                      <a:srgbClr val="111827"/>
                    </a:solidFill>
                    <a:latin typeface="Arial"/>
                  </a:rPr>
                  <a:t>, so counting solutions in a range is counting an arithmetic progression.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terms of </a:t>
                </a:r>
                <a:r>
                  <a:rPr lang="en-IN" sz="2400">
                    <a:solidFill>
                      <a:srgbClr val="111827"/>
                    </a:solidFill>
                    <a:latin typeface="Cambria Math" panose="02040503050406030204" pitchFamily="18" charset="0"/>
                  </a:rPr>
                  <a:t>$a,a+d,\dots,l$</a:t>
                </a:r>
                <a:r>
                  <a:rPr sz="2400" b="0">
                    <a:solidFill>
                      <a:srgbClr val="111827"/>
                    </a:solidFill>
                    <a:latin typeface="Arial"/>
                  </a:rPr>
                  <a:t> is </a:t>
                </a:r>
                <a:r>
                  <a:rPr lang="en-IN" sz="2400">
                    <a:solidFill>
                      <a:srgbClr val="111827"/>
                    </a:solidFill>
                    <a:latin typeface="Cambria Math" panose="02040503050406030204" pitchFamily="18" charset="0"/>
                  </a:rPr>
                  <a:t>$\frac{l-a}{d}+1$</a:t>
                </a:r>
                <a:r>
                  <a:rPr sz="2400" b="0">
                    <a:solidFill>
                      <a:srgbClr val="111827"/>
                    </a:solidFill>
                    <a:latin typeface="Arial"/>
                  </a:rPr>
                  <a:t>; clip the progression to the stated range first.</a:t>
                </a:r>
                <a:endParaRPr sz="2400">
                  <a:solidFill>
                    <a:srgbClr val="111827"/>
                  </a:solidFill>
                </a:endParaRPr>
              </a:p>
            </p:txBody>
          </p:sp>
        </mc:Fallback>
      </mc:AlternateContent>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2</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Q08 – Q20</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marks each (JEE Advanced default; no marks printed in the paper)</a:t>
            </a:r>
            <a:endParaRPr sz="2800">
              <a:solidFill>
                <a:srgbClr val="FFFFFF"/>
              </a:solidFill>
            </a:endParaRP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18135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𝑧</m:t>
                    </m:r>
                  </m:oMath>
                </a14:m>
                <a:r>
                  <a:rPr sz="2400" b="0">
                    <a:solidFill>
                      <a:srgbClr val="111827"/>
                    </a:solidFill>
                    <a:latin typeface="Arial"/>
                  </a:rPr>
                  <a:t> be a complex number such that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If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𝑧</m:t>
                        </m:r>
                      </m:num>
                      <m:den>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𝑧</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then the maximum distance of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from the circle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(B)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(C)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2</m:t>
                    </m:r>
                  </m:oMath>
                </a14:m>
                <a:endParaRPr sz="2400">
                  <a:solidFill>
                    <a:srgbClr val="111827"/>
                  </a:solidFill>
                </a:endParaRPr>
              </a:p>
            </p:txBody>
          </p:sp>
        </mc:Choice>
        <mc:Fallback>
          <p:sp>
            <p:nvSpPr>
              <p:cNvPr id="4" name="Rounded Rectangle 3"/>
              <p:cNvSpPr/>
              <p:nvPr/>
            </p:nvSpPr>
            <p:spPr>
              <a:xfrm>
                <a:off x="731520" y="1280160"/>
                <a:ext cx="10725912" cy="218135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$z$</a:t>
                </a:r>
                <a:r>
                  <a:rPr sz="2400" b="0">
                    <a:solidFill>
                      <a:srgbClr val="111827"/>
                    </a:solidFill>
                    <a:latin typeface="Arial"/>
                  </a:rPr>
                  <a:t> be a complex number such that </a:t>
                </a:r>
                <a:r>
                  <a:rPr lang="en-IN" sz="2400">
                    <a:solidFill>
                      <a:srgbClr val="111827"/>
                    </a:solidFill>
                    <a:latin typeface="Cambria Math" panose="02040503050406030204" pitchFamily="18" charset="0"/>
                  </a:rPr>
                  <a:t>$|z|=1$</a:t>
                </a:r>
                <a:r>
                  <a:rPr sz="2400" b="0">
                    <a:solidFill>
                      <a:srgbClr val="111827"/>
                    </a:solidFill>
                    <a:latin typeface="Arial"/>
                  </a:rPr>
                  <a:t>. If </a:t>
                </a:r>
                <a:r>
                  <a:rPr lang="en-IN" sz="2400">
                    <a:solidFill>
                      <a:srgbClr val="111827"/>
                    </a:solidFill>
                    <a:latin typeface="Cambria Math" panose="02040503050406030204" pitchFamily="18" charset="0"/>
                  </a:rPr>
                  <a:t>$\frac{2+k^{2}z}{k+\bar z}=kz$</a:t>
                </a:r>
                <a:r>
                  <a:rPr sz="2400" b="0">
                    <a:solidFill>
                      <a:srgbClr val="111827"/>
                    </a:solidFill>
                    <a:latin typeface="Arial"/>
                  </a:rPr>
                  <a:t>, </a:t>
                </a:r>
                <a:r>
                  <a:rPr lang="en-IN" sz="2400">
                    <a:solidFill>
                      <a:srgbClr val="111827"/>
                    </a:solidFill>
                    <a:latin typeface="Cambria Math" panose="02040503050406030204" pitchFamily="18" charset="0"/>
                  </a:rPr>
                  <a:t>$k\in\mathbb{R}$</a:t>
                </a:r>
                <a:r>
                  <a:rPr sz="2400" b="0">
                    <a:solidFill>
                      <a:srgbClr val="111827"/>
                    </a:solidFill>
                    <a:latin typeface="Arial"/>
                  </a:rPr>
                  <a:t>, then the maximum distance of </a:t>
                </a:r>
                <a:r>
                  <a:rPr lang="en-IN" sz="2400">
                    <a:solidFill>
                      <a:srgbClr val="111827"/>
                    </a:solidFill>
                    <a:latin typeface="Cambria Math" panose="02040503050406030204" pitchFamily="18" charset="0"/>
                  </a:rPr>
                  <a:t>$k+ik^{2}$</a:t>
                </a:r>
                <a:r>
                  <a:rPr sz="2400" b="0">
                    <a:solidFill>
                      <a:srgbClr val="111827"/>
                    </a:solidFill>
                    <a:latin typeface="Arial"/>
                  </a:rPr>
                  <a:t> from the circle </a:t>
                </a:r>
                <a:r>
                  <a:rPr lang="en-IN" sz="2400">
                    <a:solidFill>
                      <a:srgbClr val="111827"/>
                    </a:solidFill>
                    <a:latin typeface="Cambria Math" panose="02040503050406030204" pitchFamily="18" charset="0"/>
                  </a:rPr>
                  <a:t>$|z-(1+2i)|=1$</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$3$</a:t>
                </a:r>
                <a:r>
                  <a:rPr sz="2400" b="0">
                    <a:solidFill>
                      <a:srgbClr val="111827"/>
                    </a:solidFill>
                    <a:latin typeface="Arial"/>
                  </a:rPr>
                  <a:t>   (B) </a:t>
                </a:r>
                <a:r>
                  <a:rPr lang="en-IN" sz="2400">
                    <a:solidFill>
                      <a:srgbClr val="111827"/>
                    </a:solidFill>
                    <a:latin typeface="Cambria Math" panose="02040503050406030204" pitchFamily="18" charset="0"/>
                  </a:rPr>
                  <a:t>$\sqrt3+1$</a:t>
                </a:r>
                <a:r>
                  <a:rPr sz="2400" b="0">
                    <a:solidFill>
                      <a:srgbClr val="111827"/>
                    </a:solidFill>
                    <a:latin typeface="Arial"/>
                  </a:rPr>
                  <a:t>   (C) </a:t>
                </a:r>
                <a:r>
                  <a:rPr lang="en-IN" sz="2400">
                    <a:solidFill>
                      <a:srgbClr val="111827"/>
                    </a:solidFill>
                    <a:latin typeface="Cambria Math" panose="02040503050406030204" pitchFamily="18" charset="0"/>
                  </a:rPr>
                  <a:t>$\sqrt5+1$</a:t>
                </a:r>
                <a:r>
                  <a:rPr sz="2400" b="0">
                    <a:solidFill>
                      <a:srgbClr val="111827"/>
                    </a:solidFill>
                    <a:latin typeface="Arial"/>
                  </a:rPr>
                  <a:t>   (D) </a:t>
                </a:r>
                <a:r>
                  <a:rPr lang="en-IN" sz="2400">
                    <a:solidFill>
                      <a:srgbClr val="111827"/>
                    </a:solidFill>
                    <a:latin typeface="Cambria Math" panose="02040503050406030204" pitchFamily="18" charset="0"/>
                  </a:rPr>
                  <a:t>$2$</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690111"/>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Complex numbers with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 real parameter, Maximum distance of a point from a circle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Choice>
        <mc:Fallback>
          <p:sp>
            <p:nvSpPr>
              <p:cNvPr id="5" name="Rectangle 4"/>
              <p:cNvSpPr/>
              <p:nvPr/>
            </p:nvSpPr>
            <p:spPr>
              <a:xfrm>
                <a:off x="731520" y="3690111"/>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Complex numbers with </a:t>
                </a:r>
                <a:r>
                  <a:rPr lang="en-IN" sz="2400">
                    <a:solidFill>
                      <a:srgbClr val="111827"/>
                    </a:solidFill>
                    <a:latin typeface="Cambria Math" panose="02040503050406030204" pitchFamily="18" charset="0"/>
                  </a:rPr>
                  <a:t>$|z|=1$</a:t>
                </a:r>
                <a:r>
                  <a:rPr sz="2400" b="0">
                    <a:solidFill>
                      <a:srgbClr val="111827"/>
                    </a:solidFill>
                    <a:latin typeface="Arial"/>
                  </a:rPr>
                  <a:t> and a real parameter, Maximum distance of a point from a circle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Fallback>
      </mc:AlternateContent>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Clearing the denominator and using </a:t>
                </a:r>
                <a14:m>
                  <m:oMath xmlns:m="http://schemas.openxmlformats.org/officeDocument/2006/math">
                    <m:r>
                      <a:rPr lang="en-IN" sz="2400" i="1">
                        <a:solidFill>
                          <a:srgbClr val="78350F"/>
                        </a:solidFill>
                        <a:latin typeface="Cambria Math" panose="02040503050406030204" pitchFamily="18" charset="0"/>
                      </a:rPr>
                      <m:t>𝑧</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𝑧</m:t>
                        </m:r>
                      </m:e>
                    </m:acc>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𝑧</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gives </a:t>
                </a:r>
                <a14:m>
                  <m:oMath xmlns:m="http://schemas.openxmlformats.org/officeDocument/2006/math">
                    <m:r>
                      <a:rPr lang="en-IN" sz="2400" i="1">
                        <a:solidFill>
                          <a:srgbClr val="78350F"/>
                        </a:solidFill>
                        <a:latin typeface="Cambria Math" panose="02040503050406030204" pitchFamily="18" charset="0"/>
                      </a:rPr>
                      <m:t>𝑘</m:t>
                    </m:r>
                  </m:oMath>
                </a14:m>
                <a:r>
                  <a:rPr sz="2400" b="0">
                    <a:solidFill>
                      <a:srgbClr val="78350F"/>
                    </a:solidFill>
                    <a:latin typeface="Arial"/>
                  </a:rPr>
                  <a:t> at once; then use farthest point </a:t>
                </a:r>
                <a14:m>
                  <m:oMath xmlns:m="http://schemas.openxmlformats.org/officeDocument/2006/math">
                    <m:r>
                      <m:rPr>
                        <m:sty m:val="p"/>
                      </m:rPr>
                      <a:rPr lang="en-IN" sz="2400">
                        <a:solidFill>
                          <a:srgbClr val="78350F"/>
                        </a:solidFill>
                        <a:latin typeface="Cambria Math" panose="02040503050406030204" pitchFamily="18" charset="0"/>
                      </a:rPr>
                      <m:t>=</m:t>
                    </m:r>
                  </m:oMath>
                </a14:m>
                <a:r>
                  <a:rPr sz="2400" b="0">
                    <a:solidFill>
                      <a:srgbClr val="78350F"/>
                    </a:solidFill>
                    <a:latin typeface="Arial"/>
                  </a:rPr>
                  <a:t> distance to centre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𝑟</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Clearing the denominator and using </a:t>
                </a:r>
                <a:r>
                  <a:rPr lang="en-IN" sz="2400">
                    <a:solidFill>
                      <a:srgbClr val="78350F"/>
                    </a:solidFill>
                    <a:latin typeface="Cambria Math" panose="02040503050406030204" pitchFamily="18" charset="0"/>
                  </a:rPr>
                  <a:t>$z\bar z=|z|^2=1$</a:t>
                </a:r>
                <a:r>
                  <a:rPr sz="2400" b="0">
                    <a:solidFill>
                      <a:srgbClr val="78350F"/>
                    </a:solidFill>
                    <a:latin typeface="Arial"/>
                  </a:rPr>
                  <a:t> gives </a:t>
                </a:r>
                <a:r>
                  <a:rPr lang="en-IN" sz="2400">
                    <a:solidFill>
                      <a:srgbClr val="78350F"/>
                    </a:solidFill>
                    <a:latin typeface="Cambria Math" panose="02040503050406030204" pitchFamily="18" charset="0"/>
                  </a:rPr>
                  <a:t>$k$</a:t>
                </a:r>
                <a:r>
                  <a:rPr sz="2400" b="0">
                    <a:solidFill>
                      <a:srgbClr val="78350F"/>
                    </a:solidFill>
                    <a:latin typeface="Arial"/>
                  </a:rPr>
                  <a:t> at once; then use farthest point </a:t>
                </a:r>
                <a:r>
                  <a:rPr lang="en-IN" sz="2400">
                    <a:solidFill>
                      <a:srgbClr val="78350F"/>
                    </a:solidFill>
                    <a:latin typeface="Cambria Math" panose="02040503050406030204" pitchFamily="18" charset="0"/>
                  </a:rPr>
                  <a:t>$=$</a:t>
                </a:r>
                <a:r>
                  <a:rPr sz="2400" b="0">
                    <a:solidFill>
                      <a:srgbClr val="78350F"/>
                    </a:solidFill>
                    <a:latin typeface="Arial"/>
                  </a:rPr>
                  <a:t> distance to centre </a:t>
                </a:r>
                <a:r>
                  <a:rPr lang="en-IN" sz="2400">
                    <a:solidFill>
                      <a:srgbClr val="78350F"/>
                    </a:solidFill>
                    <a:latin typeface="Cambria Math" panose="02040503050406030204" pitchFamily="18" charset="0"/>
                  </a:rPr>
                  <a:t>$+\,r$</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Cross-multiplying: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𝑧</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and with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this gives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point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circle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has centre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radius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Cross-multiplying: </a:t>
                </a:r>
                <a:r>
                  <a:rPr lang="en-IN" sz="2400">
                    <a:solidFill>
                      <a:srgbClr val="111827"/>
                    </a:solidFill>
                    <a:latin typeface="Cambria Math" panose="02040503050406030204" pitchFamily="18" charset="0"/>
                  </a:rPr>
                  <a:t>$2+k^2z=kz(k+\bar z)=k^2z+k\,z\bar z=k^2z+k|z|^2$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$2=k|z|^2$</a:t>
                </a:r>
                <a:r>
                  <a:rPr sz="2400" b="0">
                    <a:solidFill>
                      <a:srgbClr val="111827"/>
                    </a:solidFill>
                    <a:latin typeface="Arial"/>
                  </a:rPr>
                  <a:t>, and with </a:t>
                </a:r>
                <a:r>
                  <a:rPr lang="en-IN" sz="2400">
                    <a:solidFill>
                      <a:srgbClr val="111827"/>
                    </a:solidFill>
                    <a:latin typeface="Cambria Math" panose="02040503050406030204" pitchFamily="18" charset="0"/>
                  </a:rPr>
                  <a:t>$|z|=1$</a:t>
                </a:r>
                <a:r>
                  <a:rPr sz="2400" b="0">
                    <a:solidFill>
                      <a:srgbClr val="111827"/>
                    </a:solidFill>
                    <a:latin typeface="Arial"/>
                  </a:rPr>
                  <a:t> this gives </a:t>
                </a:r>
                <a:r>
                  <a:rPr lang="en-IN" sz="2400">
                    <a:solidFill>
                      <a:srgbClr val="111827"/>
                    </a:solidFill>
                    <a:latin typeface="Cambria Math" panose="02040503050406030204" pitchFamily="18" charset="0"/>
                  </a:rPr>
                  <a:t>$k=2$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point </a:t>
                </a:r>
                <a:r>
                  <a:rPr lang="en-IN" sz="2400">
                    <a:solidFill>
                      <a:srgbClr val="111827"/>
                    </a:solidFill>
                    <a:latin typeface="Cambria Math" panose="02040503050406030204" pitchFamily="18" charset="0"/>
                  </a:rPr>
                  <a:t>$k+ik^2$</a:t>
                </a:r>
                <a:r>
                  <a:rPr sz="2400" b="0">
                    <a:solidFill>
                      <a:srgbClr val="111827"/>
                    </a:solidFill>
                    <a:latin typeface="Arial"/>
                  </a:rPr>
                  <a:t> is </a:t>
                </a:r>
                <a:r>
                  <a:rPr lang="en-IN" sz="2400">
                    <a:solidFill>
                      <a:srgbClr val="111827"/>
                    </a:solidFill>
                    <a:latin typeface="Cambria Math" panose="02040503050406030204" pitchFamily="18" charset="0"/>
                  </a:rPr>
                  <a:t>$P(2,4)$</a:t>
                </a:r>
                <a:r>
                  <a:rPr sz="2400" b="0">
                    <a:solidFill>
                      <a:srgbClr val="111827"/>
                    </a:solidFill>
                    <a:latin typeface="Arial"/>
                  </a:rPr>
                  <a:t>; the circle </a:t>
                </a:r>
                <a:r>
                  <a:rPr lang="en-IN" sz="2400">
                    <a:solidFill>
                      <a:srgbClr val="111827"/>
                    </a:solidFill>
                    <a:latin typeface="Cambria Math" panose="02040503050406030204" pitchFamily="18" charset="0"/>
                  </a:rPr>
                  <a:t>$|z-(1+2i)|=1$</a:t>
                </a:r>
                <a:r>
                  <a:rPr sz="2400" b="0">
                    <a:solidFill>
                      <a:srgbClr val="111827"/>
                    </a:solidFill>
                    <a:latin typeface="Arial"/>
                  </a:rPr>
                  <a:t> has centre </a:t>
                </a:r>
                <a:r>
                  <a:rPr lang="en-IN" sz="2400">
                    <a:solidFill>
                      <a:srgbClr val="111827"/>
                    </a:solidFill>
                    <a:latin typeface="Cambria Math" panose="02040503050406030204" pitchFamily="18" charset="0"/>
                  </a:rPr>
                  <a:t>$C(1,2)$</a:t>
                </a:r>
                <a:r>
                  <a:rPr sz="2400" b="0">
                    <a:solidFill>
                      <a:srgbClr val="111827"/>
                    </a:solidFill>
                    <a:latin typeface="Arial"/>
                  </a:rPr>
                  <a:t> and radius </a:t>
                </a:r>
                <a:r>
                  <a:rPr lang="en-IN" sz="2400">
                    <a:solidFill>
                      <a:srgbClr val="111827"/>
                    </a:solidFill>
                    <a:latin typeface="Cambria Math" panose="02040503050406030204" pitchFamily="18" charset="0"/>
                  </a:rPr>
                  <a:t>$r=1$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lies outside the circle, since </a:t>
                </a:r>
                <a14:m>
                  <m:oMath xmlns:m="http://schemas.openxmlformats.org/officeDocument/2006/math">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maximum distance from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to a point of the circle is </a:t>
                </a:r>
                <a14:m>
                  <m:oMath xmlns:m="http://schemas.openxmlformats.org/officeDocument/2006/math">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oMath>
                </a14:m>
                <a:r>
                  <a:rPr sz="2400" b="0">
                    <a:solidFill>
                      <a:srgbClr val="111827"/>
                    </a:solidFill>
                    <a:latin typeface="Arial"/>
                  </a:rPr>
                  <a:t> (the point on ray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𝐶</m:t>
                    </m:r>
                  </m:oMath>
                </a14:m>
                <a:r>
                  <a:rPr sz="2400" b="0">
                    <a:solidFill>
                      <a:srgbClr val="111827"/>
                    </a:solidFill>
                    <a:latin typeface="Arial"/>
                  </a:rPr>
                  <a:t> extended beyond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Maximum distance </a:t>
                </a:r>
                <a14:m>
                  <m:oMath xmlns:m="http://schemas.openxmlformats.org/officeDocument/2006/math">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a:t>
                </a:r>
                <a:r>
                  <a:rPr sz="2400" b="0">
                    <a:solidFill>
                      <a:srgbClr val="111827"/>
                    </a:solidFill>
                    <a:latin typeface="Arial"/>
                  </a:rPr>
                  <a:t> lies outside the circle, since </a:t>
                </a:r>
                <a:r>
                  <a:rPr lang="en-IN" sz="2400">
                    <a:solidFill>
                      <a:srgbClr val="111827"/>
                    </a:solidFill>
                    <a:latin typeface="Cambria Math" panose="02040503050406030204" pitchFamily="18" charset="0"/>
                  </a:rPr>
                  <a:t>$CP=\sqrt{1+4}=\sqrt5&gt;1$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maximum distance from </a:t>
                </a:r>
                <a:r>
                  <a:rPr lang="en-IN" sz="2400">
                    <a:solidFill>
                      <a:srgbClr val="111827"/>
                    </a:solidFill>
                    <a:latin typeface="Cambria Math" panose="02040503050406030204" pitchFamily="18" charset="0"/>
                  </a:rPr>
                  <a:t>$P$</a:t>
                </a:r>
                <a:r>
                  <a:rPr sz="2400" b="0">
                    <a:solidFill>
                      <a:srgbClr val="111827"/>
                    </a:solidFill>
                    <a:latin typeface="Arial"/>
                  </a:rPr>
                  <a:t> to a point of the circle is </a:t>
                </a:r>
                <a:r>
                  <a:rPr lang="en-IN" sz="2400">
                    <a:solidFill>
                      <a:srgbClr val="111827"/>
                    </a:solidFill>
                    <a:latin typeface="Cambria Math" panose="02040503050406030204" pitchFamily="18" charset="0"/>
                  </a:rPr>
                  <a:t>$CP+r$</a:t>
                </a:r>
                <a:r>
                  <a:rPr sz="2400" b="0">
                    <a:solidFill>
                      <a:srgbClr val="111827"/>
                    </a:solidFill>
                    <a:latin typeface="Arial"/>
                  </a:rPr>
                  <a:t> (the point on ray </a:t>
                </a:r>
                <a:r>
                  <a:rPr lang="en-IN" sz="2400">
                    <a:solidFill>
                      <a:srgbClr val="111827"/>
                    </a:solidFill>
                    <a:latin typeface="Cambria Math" panose="02040503050406030204" pitchFamily="18" charset="0"/>
                  </a:rPr>
                  <a:t>$PC$</a:t>
                </a:r>
                <a:r>
                  <a:rPr sz="2400" b="0">
                    <a:solidFill>
                      <a:srgbClr val="111827"/>
                    </a:solidFill>
                    <a:latin typeface="Arial"/>
                  </a:rPr>
                  <a:t> extended beyond </a:t>
                </a:r>
                <a:r>
                  <a:rPr lang="en-IN" sz="2400">
                    <a:solidFill>
                      <a:srgbClr val="111827"/>
                    </a:solidFill>
                    <a:latin typeface="Cambria Math" panose="02040503050406030204" pitchFamily="18" charset="0"/>
                  </a:rPr>
                  <a:t>$C$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Maximum distance </a:t>
                </a:r>
                <a:r>
                  <a:rPr lang="en-IN" sz="2400">
                    <a:solidFill>
                      <a:srgbClr val="111827"/>
                    </a:solidFill>
                    <a:latin typeface="Cambria Math" panose="02040503050406030204" pitchFamily="18" charset="0"/>
                  </a:rPr>
                  <a:t>$=\sqrt5+1$</a:t>
                </a:r>
                <a:r>
                  <a:rPr sz="2400" b="0">
                    <a:solidFill>
                      <a:srgbClr val="111827"/>
                    </a:solidFill>
                    <a:latin typeface="Arial"/>
                  </a:rPr>
                  <a:t>,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5</m:t>
                        </m:r>
                      </m:e>
                    </m:rad>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$\sqrt5+1$</a:t>
                </a:r>
                <a:endParaRPr sz="2800">
                  <a:solidFill>
                    <a:srgbClr val="15803D"/>
                  </a:solidFill>
                </a:endParaRPr>
              </a:p>
            </p:txBody>
          </p:sp>
        </mc:Fallback>
      </mc:AlternateContent>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On the unit circle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𝑧</m:t>
                        </m:r>
                      </m:e>
                    </m:acc>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𝑧</m:t>
                    </m:r>
                  </m:oMath>
                </a14:m>
                <a:r>
                  <a:rPr sz="2400" b="0">
                    <a:solidFill>
                      <a:srgbClr val="78350F"/>
                    </a:solidFill>
                    <a:latin typeface="Arial"/>
                  </a:rPr>
                  <a:t>, which turns the equation into </a:t>
                </a:r>
                <a14:m>
                  <m:oMath xmlns:m="http://schemas.openxmlformats.org/officeDocument/2006/math">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𝑧</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𝑘</m:t>
                    </m:r>
                    <m:r>
                      <a:rPr lang="en-IN" sz="2400" i="1">
                        <a:solidFill>
                          <a:srgbClr val="78350F"/>
                        </a:solidFill>
                        <a:latin typeface="Cambria Math" panose="02040503050406030204" pitchFamily="18" charset="0"/>
                      </a:rPr>
                      <m:t>𝑧</m:t>
                    </m:r>
                  </m:oMath>
                </a14:m>
                <a:r>
                  <a:rPr sz="2400" b="0">
                    <a:solidFill>
                      <a:srgbClr val="78350F"/>
                    </a:solidFill>
                    <a:latin typeface="Arial"/>
                  </a:rPr>
                  <a:t> and gives </a:t>
                </a:r>
                <a14:m>
                  <m:oMath xmlns:m="http://schemas.openxmlformats.org/officeDocument/2006/math">
                    <m:r>
                      <a:rPr lang="en-IN" sz="2400" i="1">
                        <a:solidFill>
                          <a:srgbClr val="78350F"/>
                        </a:solidFill>
                        <a:latin typeface="Cambria Math" panose="02040503050406030204" pitchFamily="18" charset="0"/>
                      </a:rPr>
                      <m:t>𝑘</m:t>
                    </m:r>
                  </m:oMath>
                </a14:m>
                <a:r>
                  <a:rPr sz="2400" b="0">
                    <a:solidFill>
                      <a:srgbClr val="78350F"/>
                    </a:solidFill>
                    <a:latin typeface="Arial"/>
                  </a:rPr>
                  <a:t> immediately.</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On the unit circle </a:t>
                </a:r>
                <a:r>
                  <a:rPr lang="en-IN" sz="2400">
                    <a:solidFill>
                      <a:srgbClr val="78350F"/>
                    </a:solidFill>
                    <a:latin typeface="Cambria Math" panose="02040503050406030204" pitchFamily="18" charset="0"/>
                  </a:rPr>
                  <a:t>$\bar z=1/z$</a:t>
                </a:r>
                <a:r>
                  <a:rPr sz="2400" b="0">
                    <a:solidFill>
                      <a:srgbClr val="78350F"/>
                    </a:solidFill>
                    <a:latin typeface="Arial"/>
                  </a:rPr>
                  <a:t>, which turns the equation into </a:t>
                </a:r>
                <a:r>
                  <a:rPr lang="en-IN" sz="2400">
                    <a:solidFill>
                      <a:srgbClr val="78350F"/>
                    </a:solidFill>
                    <a:latin typeface="Cambria Math" panose="02040503050406030204" pitchFamily="18" charset="0"/>
                  </a:rPr>
                  <a:t>$2z=kz$</a:t>
                </a:r>
                <a:r>
                  <a:rPr sz="2400" b="0">
                    <a:solidFill>
                      <a:srgbClr val="78350F"/>
                    </a:solidFill>
                    <a:latin typeface="Arial"/>
                  </a:rPr>
                  <a:t> and gives </a:t>
                </a:r>
                <a:r>
                  <a:rPr lang="en-IN" sz="2400">
                    <a:solidFill>
                      <a:srgbClr val="78350F"/>
                    </a:solidFill>
                    <a:latin typeface="Cambria Math" panose="02040503050406030204" pitchFamily="18" charset="0"/>
                  </a:rPr>
                  <a:t>$k$</a:t>
                </a:r>
                <a:r>
                  <a:rPr sz="2400" b="0">
                    <a:solidFill>
                      <a:srgbClr val="78350F"/>
                    </a:solidFill>
                    <a:latin typeface="Arial"/>
                  </a:rPr>
                  <a:t> immediately.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𝑧</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𝑧</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equation becomes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𝑧</m:t>
                        </m:r>
                      </m:num>
                      <m:den>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𝑧</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𝑧</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𝑧</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𝑧</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𝑧</m:t>
                    </m:r>
                  </m:oMath>
                </a14:m>
                <a:r>
                  <a:rPr sz="2400" b="0">
                    <a:solidFill>
                      <a:srgbClr val="111827"/>
                    </a:solidFill>
                    <a:latin typeface="Arial"/>
                  </a:rPr>
                  <a:t> and, as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$|z|=1$</a:t>
                </a:r>
                <a:r>
                  <a:rPr sz="2400" b="0">
                    <a:solidFill>
                      <a:srgbClr val="111827"/>
                    </a:solidFill>
                    <a:latin typeface="Arial"/>
                  </a:rPr>
                  <a:t>, </a:t>
                </a:r>
                <a:r>
                  <a:rPr lang="en-IN" sz="2400">
                    <a:solidFill>
                      <a:srgbClr val="111827"/>
                    </a:solidFill>
                    <a:latin typeface="Cambria Math" panose="02040503050406030204" pitchFamily="18" charset="0"/>
                  </a:rPr>
                  <a:t>$\bar z=\frac1z$</a:t>
                </a:r>
                <a:r>
                  <a:rPr sz="2400" b="0">
                    <a:solidFill>
                      <a:srgbClr val="111827"/>
                    </a:solidFill>
                    <a:latin typeface="Arial"/>
                  </a:rPr>
                  <a:t>, so </a:t>
                </a:r>
                <a:r>
                  <a:rPr lang="en-IN" sz="2400">
                    <a:solidFill>
                      <a:srgbClr val="111827"/>
                    </a:solidFill>
                    <a:latin typeface="Cambria Math" panose="02040503050406030204" pitchFamily="18" charset="0"/>
                  </a:rPr>
                  <a:t>$k+\bar z=\frac{kz+1}{z}$</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equation becomes </a:t>
                </a:r>
                <a:r>
                  <a:rPr lang="en-IN" sz="2400">
                    <a:solidFill>
                      <a:srgbClr val="111827"/>
                    </a:solidFill>
                    <a:latin typeface="Cambria Math" panose="02040503050406030204" pitchFamily="18" charset="0"/>
                  </a:rPr>
                  <a:t>$\frac{(2+k^2z)\,z}{kz+1}=kz$</a:t>
                </a:r>
                <a:r>
                  <a:rPr sz="2400" b="0">
                    <a:solidFill>
                      <a:srgbClr val="111827"/>
                    </a:solidFill>
                    <a:latin typeface="Arial"/>
                  </a:rPr>
                  <a:t>, i.e. </a:t>
                </a:r>
                <a:r>
                  <a:rPr lang="en-IN" sz="2400">
                    <a:solidFill>
                      <a:srgbClr val="111827"/>
                    </a:solidFill>
                    <a:latin typeface="Cambria Math" panose="02040503050406030204" pitchFamily="18" charset="0"/>
                  </a:rPr>
                  <a:t>$2z+k^2z^2=kz(kz+1)=k^2z^2+kz$</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$2z=kz$</a:t>
                </a:r>
                <a:r>
                  <a:rPr sz="2400" b="0">
                    <a:solidFill>
                      <a:srgbClr val="111827"/>
                    </a:solidFill>
                    <a:latin typeface="Arial"/>
                  </a:rPr>
                  <a:t> and, as </a:t>
                </a:r>
                <a:r>
                  <a:rPr lang="en-IN" sz="2400">
                    <a:solidFill>
                      <a:srgbClr val="111827"/>
                    </a:solidFill>
                    <a:latin typeface="Cambria Math" panose="02040503050406030204" pitchFamily="18" charset="0"/>
                  </a:rPr>
                  <a:t>$z\neq0$</a:t>
                </a:r>
                <a:r>
                  <a:rPr sz="2400" b="0">
                    <a:solidFill>
                      <a:srgbClr val="111827"/>
                    </a:solidFill>
                    <a:latin typeface="Arial"/>
                  </a:rPr>
                  <a:t>, </a:t>
                </a:r>
                <a:r>
                  <a:rPr lang="en-IN" sz="2400">
                    <a:solidFill>
                      <a:srgbClr val="111827"/>
                    </a:solidFill>
                    <a:latin typeface="Cambria Math" panose="02040503050406030204" pitchFamily="18" charset="0"/>
                  </a:rPr>
                  <a:t>$k=2$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point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the centre of the circle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the distance to the centre is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the triangle inequality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𝑤</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𝑤</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𝑤</m:t>
                    </m:r>
                  </m:oMath>
                </a14:m>
                <a:r>
                  <a:rPr sz="2400" b="0">
                    <a:solidFill>
                      <a:srgbClr val="111827"/>
                    </a:solidFill>
                    <a:latin typeface="Arial"/>
                  </a:rPr>
                  <a:t> on the circle, with equality on the line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𝐶</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Maximum distance </a:t>
                </a:r>
                <a14:m>
                  <m:oMath xmlns:m="http://schemas.openxmlformats.org/officeDocument/2006/math">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point is </a:t>
                </a:r>
                <a:r>
                  <a:rPr lang="en-IN" sz="2400">
                    <a:solidFill>
                      <a:srgbClr val="111827"/>
                    </a:solidFill>
                    <a:latin typeface="Cambria Math" panose="02040503050406030204" pitchFamily="18" charset="0"/>
                  </a:rPr>
                  <a:t>$(k,k^2)=(2,4)$</a:t>
                </a:r>
                <a:r>
                  <a:rPr sz="2400" b="0">
                    <a:solidFill>
                      <a:srgbClr val="111827"/>
                    </a:solidFill>
                    <a:latin typeface="Arial"/>
                  </a:rPr>
                  <a:t> and the centre of the circle is </a:t>
                </a:r>
                <a:r>
                  <a:rPr lang="en-IN" sz="2400">
                    <a:solidFill>
                      <a:srgbClr val="111827"/>
                    </a:solidFill>
                    <a:latin typeface="Cambria Math" panose="02040503050406030204" pitchFamily="18" charset="0"/>
                  </a:rPr>
                  <a:t>$(1,2)$</a:t>
                </a:r>
                <a:r>
                  <a:rPr sz="2400" b="0">
                    <a:solidFill>
                      <a:srgbClr val="111827"/>
                    </a:solidFill>
                    <a:latin typeface="Arial"/>
                  </a:rPr>
                  <a:t>, so the distance to the centre is </a:t>
                </a:r>
                <a:r>
                  <a:rPr lang="en-IN" sz="2400">
                    <a:solidFill>
                      <a:srgbClr val="111827"/>
                    </a:solidFill>
                    <a:latin typeface="Cambria Math" panose="02040503050406030204" pitchFamily="18" charset="0"/>
                  </a:rPr>
                  <a:t>$\sqrt5$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the triangle inequality </a:t>
                </a:r>
                <a:r>
                  <a:rPr lang="en-IN" sz="2400">
                    <a:solidFill>
                      <a:srgbClr val="111827"/>
                    </a:solidFill>
                    <a:latin typeface="Cambria Math" panose="02040503050406030204" pitchFamily="18" charset="0"/>
                  </a:rPr>
                  <a:t>$|P-w|\le|P-C|+|C-w|=\sqrt5+1$</a:t>
                </a:r>
                <a:r>
                  <a:rPr sz="2400" b="0">
                    <a:solidFill>
                      <a:srgbClr val="111827"/>
                    </a:solidFill>
                    <a:latin typeface="Arial"/>
                  </a:rPr>
                  <a:t> for </a:t>
                </a:r>
                <a:r>
                  <a:rPr lang="en-IN" sz="2400">
                    <a:solidFill>
                      <a:srgbClr val="111827"/>
                    </a:solidFill>
                    <a:latin typeface="Cambria Math" panose="02040503050406030204" pitchFamily="18" charset="0"/>
                  </a:rPr>
                  <a:t>$w$</a:t>
                </a:r>
                <a:r>
                  <a:rPr sz="2400" b="0">
                    <a:solidFill>
                      <a:srgbClr val="111827"/>
                    </a:solidFill>
                    <a:latin typeface="Arial"/>
                  </a:rPr>
                  <a:t> on the circle, with equality on the line </a:t>
                </a:r>
                <a:r>
                  <a:rPr lang="en-IN" sz="2400">
                    <a:solidFill>
                      <a:srgbClr val="111827"/>
                    </a:solidFill>
                    <a:latin typeface="Cambria Math" panose="02040503050406030204" pitchFamily="18" charset="0"/>
                  </a:rPr>
                  <a:t>$PC$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Maximum distance </a:t>
                </a:r>
                <a:r>
                  <a:rPr lang="en-IN" sz="2400">
                    <a:solidFill>
                      <a:srgbClr val="111827"/>
                    </a:solidFill>
                    <a:latin typeface="Cambria Math" panose="02040503050406030204" pitchFamily="18" charset="0"/>
                  </a:rPr>
                  <a:t>$=\sqrt5+1$</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5</m:t>
                        </m:r>
                      </m:e>
                    </m:rad>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$\sqrt5+1$</a:t>
                </a:r>
                <a:endParaRPr sz="2800">
                  <a:solidFill>
                    <a:srgbClr val="15803D"/>
                  </a:solidFill>
                </a:endParaRPr>
              </a:p>
            </p:txBody>
          </p:sp>
        </mc:Fallback>
      </mc:AlternateContent>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𝑧</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𝑧</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oMath>
                </a14:m>
                <a:r>
                  <a:rPr sz="2400" b="0">
                    <a:solidFill>
                      <a:srgbClr val="111827"/>
                    </a:solidFill>
                    <a:latin typeface="Arial"/>
                  </a:rPr>
                  <a:t> can be eliminated from any equation.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Maximum distance from an external or internal point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to a circle (centre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radius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oMath>
                </a14:m>
                <a:r>
                  <a:rPr sz="2400" b="0">
                    <a:solidFill>
                      <a:srgbClr val="111827"/>
                    </a:solidFill>
                    <a:latin typeface="Arial"/>
                  </a:rPr>
                  <a:t>; the minimum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Real parameters in a complex equation: compare coefficients of </a:t>
                </a:r>
                <a14:m>
                  <m:oMath xmlns:m="http://schemas.openxmlformats.org/officeDocument/2006/math">
                    <m:r>
                      <a:rPr lang="en-IN" sz="2400" i="1">
                        <a:solidFill>
                          <a:srgbClr val="111827"/>
                        </a:solidFill>
                        <a:latin typeface="Cambria Math" panose="02040503050406030204" pitchFamily="18" charset="0"/>
                      </a:rPr>
                      <m:t>𝑧</m:t>
                    </m:r>
                  </m:oMath>
                </a14:m>
                <a:r>
                  <a:rPr sz="2400" b="0">
                    <a:solidFill>
                      <a:srgbClr val="111827"/>
                    </a:solidFill>
                    <a:latin typeface="Arial"/>
                  </a:rPr>
                  <a:t> (here </a:t>
                </a:r>
                <a14:m>
                  <m:oMath xmlns:m="http://schemas.openxmlformats.org/officeDocument/2006/math">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𝑧</m:t>
                    </m:r>
                  </m:oMath>
                </a14:m>
                <a:r>
                  <a:rPr sz="2400" b="0">
                    <a:solidFill>
                      <a:srgbClr val="111827"/>
                    </a:solidFill>
                    <a:latin typeface="Arial"/>
                  </a:rPr>
                  <a:t> cancels) to read off the parameter.</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$|z|=1$</a:t>
                </a:r>
                <a:r>
                  <a:rPr sz="2400" b="0">
                    <a:solidFill>
                      <a:srgbClr val="111827"/>
                    </a:solidFill>
                    <a:latin typeface="Arial"/>
                  </a:rPr>
                  <a:t>: </a:t>
                </a:r>
                <a:r>
                  <a:rPr lang="en-IN" sz="2400">
                    <a:solidFill>
                      <a:srgbClr val="111827"/>
                    </a:solidFill>
                    <a:latin typeface="Cambria Math" panose="02040503050406030204" pitchFamily="18" charset="0"/>
                  </a:rPr>
                  <a:t>$\bar z=\frac1z$</a:t>
                </a:r>
                <a:r>
                  <a:rPr sz="2400" b="0">
                    <a:solidFill>
                      <a:srgbClr val="111827"/>
                    </a:solidFill>
                    <a:latin typeface="Arial"/>
                  </a:rPr>
                  <a:t>, </a:t>
                </a:r>
                <a:r>
                  <a:rPr lang="en-IN" sz="2400">
                    <a:solidFill>
                      <a:srgbClr val="111827"/>
                    </a:solidFill>
                    <a:latin typeface="Cambria Math" panose="02040503050406030204" pitchFamily="18" charset="0"/>
                  </a:rPr>
                  <a:t>$z\bar z=1$</a:t>
                </a:r>
                <a:r>
                  <a:rPr sz="2400" b="0">
                    <a:solidFill>
                      <a:srgbClr val="111827"/>
                    </a:solidFill>
                    <a:latin typeface="Arial"/>
                  </a:rPr>
                  <a:t>, and </a:t>
                </a:r>
                <a:r>
                  <a:rPr lang="en-IN" sz="2400">
                    <a:solidFill>
                      <a:srgbClr val="111827"/>
                    </a:solidFill>
                    <a:latin typeface="Cambria Math" panose="02040503050406030204" pitchFamily="18" charset="0"/>
                  </a:rPr>
                  <a:t>$\bar z$</a:t>
                </a:r>
                <a:r>
                  <a:rPr sz="2400" b="0">
                    <a:solidFill>
                      <a:srgbClr val="111827"/>
                    </a:solidFill>
                    <a:latin typeface="Arial"/>
                  </a:rPr>
                  <a:t> can be eliminated from any equation.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Maximum distance from an external or internal point </a:t>
                </a:r>
                <a:r>
                  <a:rPr lang="en-IN" sz="2400">
                    <a:solidFill>
                      <a:srgbClr val="111827"/>
                    </a:solidFill>
                    <a:latin typeface="Cambria Math" panose="02040503050406030204" pitchFamily="18" charset="0"/>
                  </a:rPr>
                  <a:t>$P$</a:t>
                </a:r>
                <a:r>
                  <a:rPr sz="2400" b="0">
                    <a:solidFill>
                      <a:srgbClr val="111827"/>
                    </a:solidFill>
                    <a:latin typeface="Arial"/>
                  </a:rPr>
                  <a:t> to a circle (centre </a:t>
                </a:r>
                <a:r>
                  <a:rPr lang="en-IN" sz="2400">
                    <a:solidFill>
                      <a:srgbClr val="111827"/>
                    </a:solidFill>
                    <a:latin typeface="Cambria Math" panose="02040503050406030204" pitchFamily="18" charset="0"/>
                  </a:rPr>
                  <a:t>$C$</a:t>
                </a:r>
                <a:r>
                  <a:rPr sz="2400" b="0">
                    <a:solidFill>
                      <a:srgbClr val="111827"/>
                    </a:solidFill>
                    <a:latin typeface="Arial"/>
                  </a:rPr>
                  <a:t>, radius </a:t>
                </a:r>
                <a:r>
                  <a:rPr lang="en-IN" sz="2400">
                    <a:solidFill>
                      <a:srgbClr val="111827"/>
                    </a:solidFill>
                    <a:latin typeface="Cambria Math" panose="02040503050406030204" pitchFamily="18" charset="0"/>
                  </a:rPr>
                  <a:t>$r$</a:t>
                </a:r>
                <a:r>
                  <a:rPr sz="2400" b="0">
                    <a:solidFill>
                      <a:srgbClr val="111827"/>
                    </a:solidFill>
                    <a:latin typeface="Arial"/>
                  </a:rPr>
                  <a:t>) is </a:t>
                </a:r>
                <a:r>
                  <a:rPr lang="en-IN" sz="2400">
                    <a:solidFill>
                      <a:srgbClr val="111827"/>
                    </a:solidFill>
                    <a:latin typeface="Cambria Math" panose="02040503050406030204" pitchFamily="18" charset="0"/>
                  </a:rPr>
                  <a:t>$PC+r$</a:t>
                </a:r>
                <a:r>
                  <a:rPr sz="2400" b="0">
                    <a:solidFill>
                      <a:srgbClr val="111827"/>
                    </a:solidFill>
                    <a:latin typeface="Arial"/>
                  </a:rPr>
                  <a:t>; the minimum is </a:t>
                </a:r>
                <a:r>
                  <a:rPr lang="en-IN" sz="2400">
                    <a:solidFill>
                      <a:srgbClr val="111827"/>
                    </a:solidFill>
                    <a:latin typeface="Cambria Math" panose="02040503050406030204" pitchFamily="18" charset="0"/>
                  </a:rPr>
                  <a:t>$|PC-r|$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Real parameters in a complex equation: compare coefficients of </a:t>
                </a:r>
                <a:r>
                  <a:rPr lang="en-IN" sz="2400">
                    <a:solidFill>
                      <a:srgbClr val="111827"/>
                    </a:solidFill>
                    <a:latin typeface="Cambria Math" panose="02040503050406030204" pitchFamily="18" charset="0"/>
                  </a:rPr>
                  <a:t>$z$</a:t>
                </a:r>
                <a:r>
                  <a:rPr sz="2400" b="0">
                    <a:solidFill>
                      <a:srgbClr val="111827"/>
                    </a:solidFill>
                    <a:latin typeface="Arial"/>
                  </a:rPr>
                  <a:t> (here </a:t>
                </a:r>
                <a:r>
                  <a:rPr lang="en-IN" sz="2400">
                    <a:solidFill>
                      <a:srgbClr val="111827"/>
                    </a:solidFill>
                    <a:latin typeface="Cambria Math" panose="02040503050406030204" pitchFamily="18" charset="0"/>
                  </a:rPr>
                  <a:t>$k^2z$</a:t>
                </a:r>
                <a:r>
                  <a:rPr sz="2400" b="0">
                    <a:solidFill>
                      <a:srgbClr val="111827"/>
                    </a:solidFill>
                    <a:latin typeface="Arial"/>
                  </a:rPr>
                  <a:t> cancels) to read off the parameter.</a:t>
                </a:r>
                <a:endParaRPr sz="2400">
                  <a:solidFill>
                    <a:srgbClr val="111827"/>
                  </a:solidFill>
                </a:endParaRPr>
              </a:p>
            </p:txBody>
          </p:sp>
        </mc:Fallback>
      </mc:AlternateContent>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80949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C</m:t>
                    </m:r>
                  </m:oMath>
                </a14:m>
                <a:r>
                  <a:rPr sz="2400" b="0">
                    <a:solidFill>
                      <a:srgbClr val="111827"/>
                    </a:solidFill>
                    <a:latin typeface="Arial"/>
                  </a:rPr>
                  <a:t> be such that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𝑧</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𝑖</m:t>
                        </m:r>
                      </m:num>
                      <m:den>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𝑖</m:t>
                    </m:r>
                  </m:oMath>
                </a14:m>
                <a:r>
                  <a:rPr sz="2400" b="0">
                    <a:solidFill>
                      <a:srgbClr val="111827"/>
                    </a:solidFill>
                    <a:latin typeface="Arial"/>
                  </a:rPr>
                  <a:t>. Then the sum of all possible values of </a:t>
                </a:r>
                <a14:m>
                  <m:oMath xmlns:m="http://schemas.openxmlformats.org/officeDocument/2006/math">
                    <m:sSup>
                      <m:e>
                        <m:r>
                          <a:rPr lang="en-IN" sz="2400" i="1">
                            <a:solidFill>
                              <a:srgbClr val="111827"/>
                            </a:solidFill>
                            <a:latin typeface="Cambria Math" panose="02040503050406030204" pitchFamily="18" charset="0"/>
                          </a:rPr>
                          <m:t>𝑧</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𝑖</m:t>
                    </m:r>
                  </m:oMath>
                </a14:m>
                <a:r>
                  <a:rPr sz="2400" b="0">
                    <a:solidFill>
                      <a:srgbClr val="111827"/>
                    </a:solidFill>
                    <a:latin typeface="Arial"/>
                  </a:rPr>
                  <a:t>   (B)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𝑖</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𝑖</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𝑖</m:t>
                    </m:r>
                  </m:oMath>
                </a14:m>
                <a:endParaRPr sz="2400">
                  <a:solidFill>
                    <a:srgbClr val="111827"/>
                  </a:solidFill>
                </a:endParaRPr>
              </a:p>
            </p:txBody>
          </p:sp>
        </mc:Choice>
        <mc:Fallback>
          <p:sp>
            <p:nvSpPr>
              <p:cNvPr id="4" name="Rounded Rectangle 3"/>
              <p:cNvSpPr/>
              <p:nvPr/>
            </p:nvSpPr>
            <p:spPr>
              <a:xfrm>
                <a:off x="731520" y="1280160"/>
                <a:ext cx="10725912" cy="180949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$z\in\mathbb{C}$</a:t>
                </a:r>
                <a:r>
                  <a:rPr sz="2400" b="0">
                    <a:solidFill>
                      <a:srgbClr val="111827"/>
                    </a:solidFill>
                    <a:latin typeface="Arial"/>
                  </a:rPr>
                  <a:t> be such that </a:t>
                </a:r>
                <a:r>
                  <a:rPr lang="en-IN" sz="2400">
                    <a:solidFill>
                      <a:srgbClr val="111827"/>
                    </a:solidFill>
                    <a:latin typeface="Cambria Math" panose="02040503050406030204" pitchFamily="18" charset="0"/>
                  </a:rPr>
                  <a:t>$\frac{z^{2}+3i}{z-2+i}=2+3i$</a:t>
                </a:r>
                <a:r>
                  <a:rPr sz="2400" b="0">
                    <a:solidFill>
                      <a:srgbClr val="111827"/>
                    </a:solidFill>
                    <a:latin typeface="Arial"/>
                  </a:rPr>
                  <a:t>. Then the sum of all possible values of </a:t>
                </a:r>
                <a:r>
                  <a:rPr lang="en-IN" sz="2400">
                    <a:solidFill>
                      <a:srgbClr val="111827"/>
                    </a:solidFill>
                    <a:latin typeface="Cambria Math" panose="02040503050406030204" pitchFamily="18" charset="0"/>
                  </a:rPr>
                  <a:t>$z^{2}$</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$-19+2i$</a:t>
                </a:r>
                <a:r>
                  <a:rPr sz="2400" b="0">
                    <a:solidFill>
                      <a:srgbClr val="111827"/>
                    </a:solidFill>
                    <a:latin typeface="Arial"/>
                  </a:rPr>
                  <a:t>   (B) </a:t>
                </a:r>
                <a:r>
                  <a:rPr lang="en-IN" sz="2400">
                    <a:solidFill>
                      <a:srgbClr val="111827"/>
                    </a:solidFill>
                    <a:latin typeface="Cambria Math" panose="02040503050406030204" pitchFamily="18" charset="0"/>
                  </a:rPr>
                  <a:t>$-19-2i$</a:t>
                </a:r>
                <a:r>
                  <a:rPr sz="2400" b="0">
                    <a:solidFill>
                      <a:srgbClr val="111827"/>
                    </a:solidFill>
                    <a:latin typeface="Arial"/>
                  </a:rPr>
                  <a:t>   (C) </a:t>
                </a:r>
                <a:r>
                  <a:rPr lang="en-IN" sz="2400">
                    <a:solidFill>
                      <a:srgbClr val="111827"/>
                    </a:solidFill>
                    <a:latin typeface="Cambria Math" panose="02040503050406030204" pitchFamily="18" charset="0"/>
                  </a:rPr>
                  <a:t>$19-2i$</a:t>
                </a:r>
                <a:r>
                  <a:rPr sz="2400" b="0">
                    <a:solidFill>
                      <a:srgbClr val="111827"/>
                    </a:solidFill>
                    <a:latin typeface="Arial"/>
                  </a:rPr>
                  <a:t>   (D) </a:t>
                </a:r>
                <a:r>
                  <a:rPr lang="en-IN" sz="2400">
                    <a:solidFill>
                      <a:srgbClr val="111827"/>
                    </a:solidFill>
                    <a:latin typeface="Cambria Math" panose="02040503050406030204" pitchFamily="18" charset="0"/>
                  </a:rPr>
                  <a:t>$19+2i$</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318255"/>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Quadratic equation in </a:t>
                </a:r>
                <a14:m>
                  <m:oMath xmlns:m="http://schemas.openxmlformats.org/officeDocument/2006/math">
                    <m:r>
                      <a:rPr lang="en-IN" sz="2400" i="1">
                        <a:solidFill>
                          <a:srgbClr val="111827"/>
                        </a:solidFill>
                        <a:latin typeface="Cambria Math" panose="02040503050406030204" pitchFamily="18" charset="0"/>
                      </a:rPr>
                      <m:t>𝑧</m:t>
                    </m:r>
                  </m:oMath>
                </a14:m>
                <a:r>
                  <a:rPr sz="2400" b="0">
                    <a:solidFill>
                      <a:srgbClr val="111827"/>
                    </a:solidFill>
                    <a:latin typeface="Arial"/>
                  </a:rPr>
                  <a:t> with complex coefficients and sum of squares of roots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Choice>
        <mc:Fallback>
          <p:sp>
            <p:nvSpPr>
              <p:cNvPr id="5" name="Rectangle 4"/>
              <p:cNvSpPr/>
              <p:nvPr/>
            </p:nvSpPr>
            <p:spPr>
              <a:xfrm>
                <a:off x="731520" y="3318255"/>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Quadratic equation in </a:t>
                </a:r>
                <a:r>
                  <a:rPr lang="en-IN" sz="2400">
                    <a:solidFill>
                      <a:srgbClr val="111827"/>
                    </a:solidFill>
                    <a:latin typeface="Cambria Math" panose="02040503050406030204" pitchFamily="18" charset="0"/>
                  </a:rPr>
                  <a:t>$z$</a:t>
                </a:r>
                <a:r>
                  <a:rPr sz="2400" b="0">
                    <a:solidFill>
                      <a:srgbClr val="111827"/>
                    </a:solidFill>
                    <a:latin typeface="Arial"/>
                  </a:rPr>
                  <a:t> with complex coefficients and sum of squares of roots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Fallback>
      </mc:AlternateContent>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Clear the denominator to get a quadratic in </a:t>
                </a:r>
                <a14:m>
                  <m:oMath xmlns:m="http://schemas.openxmlformats.org/officeDocument/2006/math">
                    <m:r>
                      <a:rPr lang="en-IN" sz="2400" i="1">
                        <a:solidFill>
                          <a:srgbClr val="78350F"/>
                        </a:solidFill>
                        <a:latin typeface="Cambria Math" panose="02040503050406030204" pitchFamily="18" charset="0"/>
                      </a:rPr>
                      <m:t>𝑧</m:t>
                    </m:r>
                  </m:oMath>
                </a14:m>
                <a:r>
                  <a:rPr sz="2400" b="0">
                    <a:solidFill>
                      <a:srgbClr val="78350F"/>
                    </a:solidFill>
                    <a:latin typeface="Arial"/>
                  </a:rPr>
                  <a:t>, then </a:t>
                </a:r>
                <a14:m>
                  <m:oMath xmlns:m="http://schemas.openxmlformats.org/officeDocument/2006/math">
                    <m:sSubSup>
                      <m:e>
                        <m:r>
                          <a:rPr lang="en-IN" sz="2400" i="1">
                            <a:solidFill>
                              <a:srgbClr val="78350F"/>
                            </a:solidFill>
                            <a:latin typeface="Cambria Math" panose="02040503050406030204" pitchFamily="18" charset="0"/>
                          </a:rPr>
                          <m:t>𝑧</m:t>
                        </m:r>
                      </m:e>
                      <m:sub>
                        <m:r>
                          <a:rPr lang="en-IN" sz="2400" i="1">
                            <a:solidFill>
                              <a:srgbClr val="78350F"/>
                            </a:solidFill>
                            <a:latin typeface="Cambria Math" panose="02040503050406030204" pitchFamily="18" charset="0"/>
                          </a:rPr>
                          <m:t>1</m:t>
                        </m:r>
                      </m:sub>
                      <m:sup>
                        <m:r>
                          <a:rPr lang="en-IN" sz="2400" i="1">
                            <a:solidFill>
                              <a:srgbClr val="78350F"/>
                            </a:solidFill>
                            <a:latin typeface="Cambria Math" panose="02040503050406030204" pitchFamily="18" charset="0"/>
                          </a:rPr>
                          <m:t>2</m:t>
                        </m:r>
                      </m:sup>
                    </m:sSubSup>
                    <m:r>
                      <m:rPr>
                        <m:sty m:val="p"/>
                      </m:rPr>
                      <a:rPr lang="en-IN" sz="2400">
                        <a:solidFill>
                          <a:srgbClr val="78350F"/>
                        </a:solidFill>
                        <a:latin typeface="Cambria Math" panose="02040503050406030204" pitchFamily="18" charset="0"/>
                      </a:rPr>
                      <m:t>+</m:t>
                    </m:r>
                    <m:sSubSup>
                      <m:e>
                        <m:r>
                          <a:rPr lang="en-IN" sz="2400" i="1">
                            <a:solidFill>
                              <a:srgbClr val="78350F"/>
                            </a:solidFill>
                            <a:latin typeface="Cambria Math" panose="02040503050406030204" pitchFamily="18" charset="0"/>
                          </a:rPr>
                          <m:t>𝑧</m:t>
                        </m:r>
                      </m:e>
                      <m:sub>
                        <m:r>
                          <a:rPr lang="en-IN" sz="2400" i="1">
                            <a:solidFill>
                              <a:srgbClr val="78350F"/>
                            </a:solidFill>
                            <a:latin typeface="Cambria Math" panose="02040503050406030204" pitchFamily="18" charset="0"/>
                          </a:rPr>
                          <m:t>2</m:t>
                        </m:r>
                      </m:sub>
                      <m:sup>
                        <m:r>
                          <a:rPr lang="en-IN" sz="2400" i="1">
                            <a:solidFill>
                              <a:srgbClr val="78350F"/>
                            </a:solidFill>
                            <a:latin typeface="Cambria Math" panose="02040503050406030204" pitchFamily="18" charset="0"/>
                          </a:rPr>
                          <m:t>2</m:t>
                        </m:r>
                      </m:sup>
                    </m:sSub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𝑧</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𝑧</m:t>
                        </m:r>
                      </m:e>
                      <m:sub>
                        <m:r>
                          <a:rPr lang="en-IN" sz="2400" i="1">
                            <a:solidFill>
                              <a:srgbClr val="78350F"/>
                            </a:solidFill>
                            <a:latin typeface="Cambria Math" panose="02040503050406030204" pitchFamily="18" charset="0"/>
                          </a:rPr>
                          <m:t>2</m:t>
                        </m:r>
                      </m:sub>
                    </m:sSub>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sSub>
                      <m:e>
                        <m:r>
                          <a:rPr lang="en-IN" sz="2400" i="1">
                            <a:solidFill>
                              <a:srgbClr val="78350F"/>
                            </a:solidFill>
                            <a:latin typeface="Cambria Math" panose="02040503050406030204" pitchFamily="18" charset="0"/>
                          </a:rPr>
                          <m:t>𝑧</m:t>
                        </m:r>
                      </m:e>
                      <m:sub>
                        <m:r>
                          <a:rPr lang="en-IN" sz="2400" i="1">
                            <a:solidFill>
                              <a:srgbClr val="78350F"/>
                            </a:solidFill>
                            <a:latin typeface="Cambria Math" panose="02040503050406030204" pitchFamily="18" charset="0"/>
                          </a:rPr>
                          <m:t>1</m:t>
                        </m:r>
                      </m:sub>
                    </m:sSub>
                    <m:sSub>
                      <m:e>
                        <m:r>
                          <a:rPr lang="en-IN" sz="2400" i="1">
                            <a:solidFill>
                              <a:srgbClr val="78350F"/>
                            </a:solidFill>
                            <a:latin typeface="Cambria Math" panose="02040503050406030204" pitchFamily="18" charset="0"/>
                          </a:rPr>
                          <m:t>𝑧</m:t>
                        </m:r>
                      </m:e>
                      <m:sub>
                        <m:r>
                          <a:rPr lang="en-IN" sz="2400" i="1">
                            <a:solidFill>
                              <a:srgbClr val="78350F"/>
                            </a:solidFill>
                            <a:latin typeface="Cambria Math" panose="02040503050406030204" pitchFamily="18" charset="0"/>
                          </a:rPr>
                          <m:t>2</m:t>
                        </m:r>
                      </m:sub>
                    </m:sSub>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Clear the denominator to get a quadratic in </a:t>
                </a:r>
                <a:r>
                  <a:rPr lang="en-IN" sz="2400">
                    <a:solidFill>
                      <a:srgbClr val="78350F"/>
                    </a:solidFill>
                    <a:latin typeface="Cambria Math" panose="02040503050406030204" pitchFamily="18" charset="0"/>
                  </a:rPr>
                  <a:t>$z$</a:t>
                </a:r>
                <a:r>
                  <a:rPr sz="2400" b="0">
                    <a:solidFill>
                      <a:srgbClr val="78350F"/>
                    </a:solidFill>
                    <a:latin typeface="Arial"/>
                  </a:rPr>
                  <a:t>, then </a:t>
                </a:r>
                <a:r>
                  <a:rPr lang="en-IN" sz="2400">
                    <a:solidFill>
                      <a:srgbClr val="78350F"/>
                    </a:solidFill>
                    <a:latin typeface="Cambria Math" panose="02040503050406030204" pitchFamily="18" charset="0"/>
                  </a:rPr>
                  <a:t>$z_1^2+z_2^2=(z_1+z_2)^2-2z_1z_2$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Clearing the denominator: </a:t>
                </a:r>
                <a14:m>
                  <m:oMath xmlns:m="http://schemas.openxmlformats.org/officeDocument/2006/math">
                    <m:sSup>
                      <m:e>
                        <m:r>
                          <a:rPr lang="en-IN" sz="2400" i="1">
                            <a:solidFill>
                              <a:srgbClr val="111827"/>
                            </a:solidFill>
                            <a:latin typeface="Cambria Math" panose="02040503050406030204" pitchFamily="18" charset="0"/>
                          </a:rPr>
                          <m:t>𝑧</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p>
                      <m:e>
                        <m:r>
                          <a:rPr lang="en-IN" sz="2400" i="1">
                            <a:solidFill>
                              <a:srgbClr val="111827"/>
                            </a:solidFill>
                            <a:latin typeface="Cambria Math" panose="02040503050406030204" pitchFamily="18" charset="0"/>
                          </a:rPr>
                          <m:t>𝑧</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 quadratic with roots </a:t>
                </a:r>
                <a14:m>
                  <m:oMath xmlns:m="http://schemas.openxmlformats.org/officeDocument/2006/math">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roots </a:t>
                </a:r>
                <a14:m>
                  <m:oMath xmlns:m="http://schemas.openxmlformats.org/officeDocument/2006/math">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𝑖</m:t>
                    </m:r>
                  </m:oMath>
                </a14:m>
                <a:r>
                  <a:rPr sz="2400" b="0">
                    <a:solidFill>
                      <a:srgbClr val="111827"/>
                    </a:solidFill>
                    <a:latin typeface="Arial"/>
                  </a:rPr>
                  <a:t> and product </a:t>
                </a:r>
                <a14:m>
                  <m:oMath xmlns:m="http://schemas.openxmlformats.org/officeDocument/2006/math">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𝑖</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Sup>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2</m:t>
                        </m:r>
                      </m:sub>
                    </m:sSub>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𝑖</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Clearing the denominator: </a:t>
                </a:r>
                <a:r>
                  <a:rPr lang="en-IN" sz="2400">
                    <a:solidFill>
                      <a:srgbClr val="111827"/>
                    </a:solidFill>
                    <a:latin typeface="Cambria Math" panose="02040503050406030204" pitchFamily="18" charset="0"/>
                  </a:rPr>
                  <a:t>$z^2+3i=(2+3i)(z-2+i)=z(2+3i)-(7+4i)$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$z^2-z(2+3i)+7+7i=0$</a:t>
                </a:r>
                <a:r>
                  <a:rPr sz="2400" b="0">
                    <a:solidFill>
                      <a:srgbClr val="111827"/>
                    </a:solidFill>
                    <a:latin typeface="Arial"/>
                  </a:rPr>
                  <a:t>, a quadratic with roots </a:t>
                </a:r>
                <a:r>
                  <a:rPr lang="en-IN" sz="2400">
                    <a:solidFill>
                      <a:srgbClr val="111827"/>
                    </a:solidFill>
                    <a:latin typeface="Cambria Math" panose="02040503050406030204" pitchFamily="18" charset="0"/>
                  </a:rPr>
                  <a:t>$z_1,z_2$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roots </a:t>
                </a:r>
                <a:r>
                  <a:rPr lang="en-IN" sz="2400">
                    <a:solidFill>
                      <a:srgbClr val="111827"/>
                    </a:solidFill>
                    <a:latin typeface="Cambria Math" panose="02040503050406030204" pitchFamily="18" charset="0"/>
                  </a:rPr>
                  <a:t>$z_1+z_2=2+3i$</a:t>
                </a:r>
                <a:r>
                  <a:rPr sz="2400" b="0">
                    <a:solidFill>
                      <a:srgbClr val="111827"/>
                    </a:solidFill>
                    <a:latin typeface="Arial"/>
                  </a:rPr>
                  <a:t> and product </a:t>
                </a:r>
                <a:r>
                  <a:rPr lang="en-IN" sz="2400">
                    <a:solidFill>
                      <a:srgbClr val="111827"/>
                    </a:solidFill>
                    <a:latin typeface="Cambria Math" panose="02040503050406030204" pitchFamily="18" charset="0"/>
                  </a:rPr>
                  <a:t>$z_1z_2=7+7i$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$z_1^2+z_2^2=(z_1+z_2)^2-2z_1z_2=(2+3i)^2-2(7+7i)$</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𝑖</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a:rPr lang="en-IN" sz="2400" i="1">
                        <a:solidFill>
                          <a:srgbClr val="111827"/>
                        </a:solidFill>
                        <a:latin typeface="Cambria Math" panose="02040503050406030204" pitchFamily="18" charset="0"/>
                      </a:rPr>
                      <m:t>𝑖</m:t>
                    </m:r>
                  </m:oMath>
                </a14:m>
                <a:r>
                  <a:rPr sz="2400" b="0">
                    <a:solidFill>
                      <a:srgbClr val="111827"/>
                    </a:solidFill>
                    <a:latin typeface="Arial"/>
                  </a:rPr>
                  <a:t>, so </a:t>
                </a:r>
                <a14:m>
                  <m:oMath xmlns:m="http://schemas.openxmlformats.org/officeDocument/2006/math">
                    <m:sSubSup>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𝑖</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Neither root equals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oMath>
                </a14:m>
                <a:r>
                  <a:rPr sz="2400" b="0">
                    <a:solidFill>
                      <a:srgbClr val="111827"/>
                    </a:solidFill>
                    <a:latin typeface="Arial"/>
                  </a:rPr>
                  <a:t> the quadratic has value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both are valid.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required sum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𝑖</m:t>
                    </m:r>
                  </m:oMath>
                </a14:m>
                <a:r>
                  <a:rPr sz="2400" b="0">
                    <a:solidFill>
                      <a:srgbClr val="111827"/>
                    </a:solidFill>
                    <a:latin typeface="Arial"/>
                  </a:rPr>
                  <a:t>,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$(2+3i)^2=4+12i-9=-5+12i$</a:t>
                </a:r>
                <a:r>
                  <a:rPr sz="2400" b="0">
                    <a:solidFill>
                      <a:srgbClr val="111827"/>
                    </a:solidFill>
                    <a:latin typeface="Arial"/>
                  </a:rPr>
                  <a:t>, so </a:t>
                </a:r>
                <a:r>
                  <a:rPr lang="en-IN" sz="2400">
                    <a:solidFill>
                      <a:srgbClr val="111827"/>
                    </a:solidFill>
                    <a:latin typeface="Cambria Math" panose="02040503050406030204" pitchFamily="18" charset="0"/>
                  </a:rPr>
                  <a:t>$z_1^2+z_2^2=-5+12i-14-14i=-19-2i$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Neither root equals </a:t>
                </a:r>
                <a:r>
                  <a:rPr lang="en-IN" sz="2400">
                    <a:solidFill>
                      <a:srgbClr val="111827"/>
                    </a:solidFill>
                    <a:latin typeface="Cambria Math" panose="02040503050406030204" pitchFamily="18" charset="0"/>
                  </a:rPr>
                  <a:t>$2-i$</a:t>
                </a:r>
                <a:r>
                  <a:rPr sz="2400" b="0">
                    <a:solidFill>
                      <a:srgbClr val="111827"/>
                    </a:solidFill>
                    <a:latin typeface="Arial"/>
                  </a:rPr>
                  <a:t> (at </a:t>
                </a:r>
                <a:r>
                  <a:rPr lang="en-IN" sz="2400">
                    <a:solidFill>
                      <a:srgbClr val="111827"/>
                    </a:solidFill>
                    <a:latin typeface="Cambria Math" panose="02040503050406030204" pitchFamily="18" charset="0"/>
                  </a:rPr>
                  <a:t>$z=2-i$</a:t>
                </a:r>
                <a:r>
                  <a:rPr sz="2400" b="0">
                    <a:solidFill>
                      <a:srgbClr val="111827"/>
                    </a:solidFill>
                    <a:latin typeface="Arial"/>
                  </a:rPr>
                  <a:t> the quadratic has value </a:t>
                </a:r>
                <a:r>
                  <a:rPr lang="en-IN" sz="2400">
                    <a:solidFill>
                      <a:srgbClr val="111827"/>
                    </a:solidFill>
                    <a:latin typeface="Cambria Math" panose="02040503050406030204" pitchFamily="18" charset="0"/>
                  </a:rPr>
                  <a:t>$3-i\neq0$</a:t>
                </a:r>
                <a:r>
                  <a:rPr sz="2400" b="0">
                    <a:solidFill>
                      <a:srgbClr val="111827"/>
                    </a:solidFill>
                    <a:latin typeface="Arial"/>
                  </a:rPr>
                  <a:t>), so both are valid.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required sum is </a:t>
                </a:r>
                <a:r>
                  <a:rPr lang="en-IN" sz="2400">
                    <a:solidFill>
                      <a:srgbClr val="111827"/>
                    </a:solidFill>
                    <a:latin typeface="Cambria Math" panose="02040503050406030204" pitchFamily="18" charset="0"/>
                  </a:rPr>
                  <a:t>$-19-2i$</a:t>
                </a:r>
                <a:r>
                  <a:rPr sz="2400" b="0">
                    <a:solidFill>
                      <a:srgbClr val="111827"/>
                    </a:solidFill>
                    <a:latin typeface="Arial"/>
                  </a:rPr>
                  <a:t>, option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19</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r>
                      <a:rPr lang="en-IN" sz="2800" i="1">
                        <a:solidFill>
                          <a:srgbClr val="15803D"/>
                        </a:solidFill>
                        <a:latin typeface="Cambria Math" panose="02040503050406030204" pitchFamily="18" charset="0"/>
                      </a:rPr>
                      <m:t>𝑖</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$-19-2i$</a:t>
                </a:r>
                <a:endParaRPr sz="2800">
                  <a:solidFill>
                    <a:srgbClr val="15803D"/>
                  </a:solidFill>
                </a:endParaRPr>
              </a:p>
            </p:txBody>
          </p:sp>
        </mc:Fallback>
      </mc:AlternateContent>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Each root satisfies </a:t>
                </a:r>
                <a14:m>
                  <m:oMath xmlns:m="http://schemas.openxmlformats.org/officeDocument/2006/math">
                    <m:sSup>
                      <m:e>
                        <m:r>
                          <a:rPr lang="en-IN" sz="2400" i="1">
                            <a:solidFill>
                              <a:srgbClr val="78350F"/>
                            </a:solidFill>
                            <a:latin typeface="Cambria Math" panose="02040503050406030204" pitchFamily="18" charset="0"/>
                          </a:rPr>
                          <m:t>𝑧</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𝑖</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𝑧</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7</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7</m:t>
                    </m:r>
                    <m:r>
                      <a:rPr lang="en-IN" sz="2400" i="1">
                        <a:solidFill>
                          <a:srgbClr val="78350F"/>
                        </a:solidFill>
                        <a:latin typeface="Cambria Math" panose="02040503050406030204" pitchFamily="18" charset="0"/>
                      </a:rPr>
                      <m:t>𝑖</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add this over the two roots instead of squaring the sum.</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Each root satisfies </a:t>
                </a:r>
                <a:r>
                  <a:rPr lang="en-IN" sz="2400">
                    <a:solidFill>
                      <a:srgbClr val="78350F"/>
                    </a:solidFill>
                    <a:latin typeface="Cambria Math" panose="02040503050406030204" pitchFamily="18" charset="0"/>
                  </a:rPr>
                  <a:t>$z^2=(2+3i)z-(7+7i)$</a:t>
                </a:r>
                <a:r>
                  <a:rPr sz="2400" b="0">
                    <a:solidFill>
                      <a:srgbClr val="78350F"/>
                    </a:solidFill>
                    <a:latin typeface="Arial"/>
                  </a:rPr>
                  <a:t>; add this over the two roots instead of squaring the sum.</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a:t>
                </a:r>
                <a14:m>
                  <m:oMath xmlns:m="http://schemas.openxmlformats.org/officeDocument/2006/math">
                    <m:sSup>
                      <m:e>
                        <m:r>
                          <a:rPr lang="en-IN" sz="2400" i="1">
                            <a:solidFill>
                              <a:srgbClr val="111827"/>
                            </a:solidFill>
                            <a:latin typeface="Cambria Math" panose="02040503050406030204" pitchFamily="18" charset="0"/>
                          </a:rPr>
                          <m:t>𝑧</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every root obeys </a:t>
                </a:r>
                <a14:m>
                  <m:oMath xmlns:m="http://schemas.openxmlformats.org/officeDocument/2006/math">
                    <m:sSup>
                      <m:e>
                        <m:r>
                          <a:rPr lang="en-IN" sz="2400" i="1">
                            <a:solidFill>
                              <a:srgbClr val="111827"/>
                            </a:solidFill>
                            <a:latin typeface="Cambria Math" panose="02040503050406030204" pitchFamily="18" charset="0"/>
                          </a:rPr>
                          <m:t>𝑧</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 the relation for </a:t>
                </a:r>
                <a14:m>
                  <m:oMath xmlns:m="http://schemas.openxmlformats.org/officeDocument/2006/math">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t>
                </a:r>
                <a14:m>
                  <m:oMath xmlns:m="http://schemas.openxmlformats.org/officeDocument/2006/math">
                    <m:sSubSup>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a:t>
                </a:r>
                <a:r>
                  <a:rPr lang="en-IN" sz="2400">
                    <a:solidFill>
                      <a:srgbClr val="111827"/>
                    </a:solidFill>
                    <a:latin typeface="Cambria Math" panose="02040503050406030204" pitchFamily="18" charset="0"/>
                  </a:rPr>
                  <a:t>$z^2-(2+3i)z+(7+7i)=0$</a:t>
                </a:r>
                <a:r>
                  <a:rPr sz="2400" b="0">
                    <a:solidFill>
                      <a:srgbClr val="111827"/>
                    </a:solidFill>
                    <a:latin typeface="Arial"/>
                  </a:rPr>
                  <a:t>, every root obeys </a:t>
                </a:r>
                <a:r>
                  <a:rPr lang="en-IN" sz="2400">
                    <a:solidFill>
                      <a:srgbClr val="111827"/>
                    </a:solidFill>
                    <a:latin typeface="Cambria Math" panose="02040503050406030204" pitchFamily="18" charset="0"/>
                  </a:rPr>
                  <a:t>$z^2=(2+3i)z-(7+7i)$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 the relation for </a:t>
                </a:r>
                <a:r>
                  <a:rPr lang="en-IN" sz="2400">
                    <a:solidFill>
                      <a:srgbClr val="111827"/>
                    </a:solidFill>
                    <a:latin typeface="Cambria Math" panose="02040503050406030204" pitchFamily="18" charset="0"/>
                  </a:rPr>
                  <a:t>$z_1$</a:t>
                </a:r>
                <a:r>
                  <a:rPr sz="2400" b="0">
                    <a:solidFill>
                      <a:srgbClr val="111827"/>
                    </a:solidFill>
                    <a:latin typeface="Arial"/>
                  </a:rPr>
                  <a:t> and </a:t>
                </a:r>
                <a:r>
                  <a:rPr lang="en-IN" sz="2400">
                    <a:solidFill>
                      <a:srgbClr val="111827"/>
                    </a:solidFill>
                    <a:latin typeface="Cambria Math" panose="02040503050406030204" pitchFamily="18" charset="0"/>
                  </a:rPr>
                  <a:t>$z_2$</a:t>
                </a:r>
                <a:r>
                  <a:rPr sz="2400" b="0">
                    <a:solidFill>
                      <a:srgbClr val="111827"/>
                    </a:solidFill>
                    <a:latin typeface="Arial"/>
                  </a:rPr>
                  <a:t>: </a:t>
                </a:r>
                <a:r>
                  <a:rPr lang="en-IN" sz="2400">
                    <a:solidFill>
                      <a:srgbClr val="111827"/>
                    </a:solidFill>
                    <a:latin typeface="Cambria Math" panose="02040503050406030204" pitchFamily="18" charset="0"/>
                  </a:rPr>
                  <a:t>$z_1^2+z_2^2=(2+3i)(z_1+z_2)-2(7+7i)$</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Substituting </a:t>
                </a:r>
                <a14:m>
                  <m:oMath xmlns:m="http://schemas.openxmlformats.org/officeDocument/2006/math">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𝑖</m:t>
                    </m:r>
                  </m:oMath>
                </a14:m>
                <a:r>
                  <a:rPr sz="2400" b="0">
                    <a:solidFill>
                      <a:srgbClr val="111827"/>
                    </a:solidFill>
                    <a:latin typeface="Arial"/>
                  </a:rPr>
                  <a:t>: </a:t>
                </a:r>
                <a14:m>
                  <m:oMath xmlns:m="http://schemas.openxmlformats.org/officeDocument/2006/math">
                    <m:sSubSup>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𝑖</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a:rPr lang="en-IN" sz="2400" i="1">
                        <a:solidFill>
                          <a:srgbClr val="111827"/>
                        </a:solidFill>
                        <a:latin typeface="Cambria Math" panose="02040503050406030204" pitchFamily="18" charset="0"/>
                      </a:rPr>
                      <m:t>𝑖</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𝑖</m:t>
                    </m:r>
                  </m:oMath>
                </a14:m>
                <a:r>
                  <a:rPr sz="2400" b="0">
                    <a:solidFill>
                      <a:srgbClr val="111827"/>
                    </a:solidFill>
                    <a:latin typeface="Arial"/>
                  </a:rPr>
                  <a:t>, the same answer, with no </a:t>
                </a:r>
                <a14:m>
                  <m:oMath xmlns:m="http://schemas.openxmlformats.org/officeDocument/2006/math">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computation needed beyond the constant term.</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Substituting </a:t>
                </a:r>
                <a:r>
                  <a:rPr lang="en-IN" sz="2400">
                    <a:solidFill>
                      <a:srgbClr val="111827"/>
                    </a:solidFill>
                    <a:latin typeface="Cambria Math" panose="02040503050406030204" pitchFamily="18" charset="0"/>
                  </a:rPr>
                  <a:t>$z_1+z_2=2+3i$</a:t>
                </a:r>
                <a:r>
                  <a:rPr sz="2400" b="0">
                    <a:solidFill>
                      <a:srgbClr val="111827"/>
                    </a:solidFill>
                    <a:latin typeface="Arial"/>
                  </a:rPr>
                  <a:t>: </a:t>
                </a:r>
                <a:r>
                  <a:rPr lang="en-IN" sz="2400">
                    <a:solidFill>
                      <a:srgbClr val="111827"/>
                    </a:solidFill>
                    <a:latin typeface="Cambria Math" panose="02040503050406030204" pitchFamily="18" charset="0"/>
                  </a:rPr>
                  <a:t>$z_1^2+z_2^2=(2+3i)^2-14-14i=(-5+12i)-14-14i$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$=-19-2i$</a:t>
                </a:r>
                <a:r>
                  <a:rPr sz="2400" b="0">
                    <a:solidFill>
                      <a:srgbClr val="111827"/>
                    </a:solidFill>
                    <a:latin typeface="Arial"/>
                  </a:rPr>
                  <a:t>, the same answer, with no </a:t>
                </a:r>
                <a:r>
                  <a:rPr lang="en-IN" sz="2400">
                    <a:solidFill>
                      <a:srgbClr val="111827"/>
                    </a:solidFill>
                    <a:latin typeface="Cambria Math" panose="02040503050406030204" pitchFamily="18" charset="0"/>
                  </a:rPr>
                  <a:t>$z_1z_2$</a:t>
                </a:r>
                <a:r>
                  <a:rPr sz="2400" b="0">
                    <a:solidFill>
                      <a:srgbClr val="111827"/>
                    </a:solidFill>
                    <a:latin typeface="Arial"/>
                  </a:rPr>
                  <a:t> computation needed beyond the constant term.</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19</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r>
                      <a:rPr lang="en-IN" sz="2800" i="1">
                        <a:solidFill>
                          <a:srgbClr val="15803D"/>
                        </a:solidFill>
                        <a:latin typeface="Cambria Math" panose="02040503050406030204" pitchFamily="18" charset="0"/>
                      </a:rPr>
                      <m:t>𝑖</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$-19-2i$</a:t>
                </a:r>
                <a:endParaRPr sz="2800">
                  <a:solidFill>
                    <a:srgbClr val="15803D"/>
                  </a:solidFill>
                </a:endParaRPr>
              </a:p>
            </p:txBody>
          </p:sp>
        </mc:Fallback>
      </mc:AlternateContent>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𝑧</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sSubSup>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num>
                      <m:den>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this holds for complex coefficients too.</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Vieta's formulas need no real-ness: a quadratic over </a:t>
                </a:r>
                <a14:m>
                  <m:oMath xmlns:m="http://schemas.openxmlformats.org/officeDocument/2006/math">
                    <m:r>
                      <m:rPr>
                        <m:scr m:val="double-struck"/>
                        <m:sty m:val="p"/>
                      </m:rPr>
                      <a:rPr lang="en-IN" sz="2400">
                        <a:solidFill>
                          <a:srgbClr val="111827"/>
                        </a:solidFill>
                        <a:latin typeface="Cambria Math" panose="02040503050406030204" pitchFamily="18" charset="0"/>
                      </a:rPr>
                      <m:t>C</m:t>
                    </m:r>
                  </m:oMath>
                </a14:m>
                <a:r>
                  <a:rPr sz="2400" b="0">
                    <a:solidFill>
                      <a:srgbClr val="111827"/>
                    </a:solidFill>
                    <a:latin typeface="Arial"/>
                  </a:rPr>
                  <a:t> always has two roots (with multiplicity) with sum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product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exclude values that make the original denominator zero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oMath>
                </a14:m>
                <a:r>
                  <a:rPr sz="2400" b="0">
                    <a:solidFill>
                      <a:srgbClr val="111827"/>
                    </a:solidFill>
                    <a:latin typeface="Arial"/>
                  </a:rPr>
                  <a:t> here).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$az^2+bz+c=0$</a:t>
                </a:r>
                <a:r>
                  <a:rPr sz="2400" b="0">
                    <a:solidFill>
                      <a:srgbClr val="111827"/>
                    </a:solidFill>
                    <a:latin typeface="Arial"/>
                  </a:rPr>
                  <a:t>: </a:t>
                </a:r>
                <a:r>
                  <a:rPr lang="en-IN" sz="2400">
                    <a:solidFill>
                      <a:srgbClr val="111827"/>
                    </a:solidFill>
                    <a:latin typeface="Cambria Math" panose="02040503050406030204" pitchFamily="18" charset="0"/>
                  </a:rPr>
                  <a:t>$z_1^2+z_2^2=\frac{b^2-2ac}{a^2}$</a:t>
                </a:r>
                <a:r>
                  <a:rPr sz="2400" b="0">
                    <a:solidFill>
                      <a:srgbClr val="111827"/>
                    </a:solidFill>
                    <a:latin typeface="Arial"/>
                  </a:rPr>
                  <a:t>; this holds for complex coefficients too.</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Vieta's formulas need no real-ness: a quadratic over </a:t>
                </a:r>
                <a:r>
                  <a:rPr lang="en-IN" sz="2400">
                    <a:solidFill>
                      <a:srgbClr val="111827"/>
                    </a:solidFill>
                    <a:latin typeface="Cambria Math" panose="02040503050406030204" pitchFamily="18" charset="0"/>
                  </a:rPr>
                  <a:t>$\mathbb{C}$</a:t>
                </a:r>
                <a:r>
                  <a:rPr sz="2400" b="0">
                    <a:solidFill>
                      <a:srgbClr val="111827"/>
                    </a:solidFill>
                    <a:latin typeface="Arial"/>
                  </a:rPr>
                  <a:t> always has two roots (with multiplicity) with sum </a:t>
                </a:r>
                <a:r>
                  <a:rPr lang="en-IN" sz="2400">
                    <a:solidFill>
                      <a:srgbClr val="111827"/>
                    </a:solidFill>
                    <a:latin typeface="Cambria Math" panose="02040503050406030204" pitchFamily="18" charset="0"/>
                  </a:rPr>
                  <a:t>$-b/a$</a:t>
                </a:r>
                <a:r>
                  <a:rPr sz="2400" b="0">
                    <a:solidFill>
                      <a:srgbClr val="111827"/>
                    </a:solidFill>
                    <a:latin typeface="Arial"/>
                  </a:rPr>
                  <a:t>, product </a:t>
                </a:r>
                <a:r>
                  <a:rPr lang="en-IN" sz="2400">
                    <a:solidFill>
                      <a:srgbClr val="111827"/>
                    </a:solidFill>
                    <a:latin typeface="Cambria Math" panose="02040503050406030204" pitchFamily="18" charset="0"/>
                  </a:rPr>
                  <a:t>$c/a$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exclude values that make the original denominator zero (</a:t>
                </a:r>
                <a:r>
                  <a:rPr lang="en-IN" sz="2400">
                    <a:solidFill>
                      <a:srgbClr val="111827"/>
                    </a:solidFill>
                    <a:latin typeface="Cambria Math" panose="02040503050406030204" pitchFamily="18" charset="0"/>
                  </a:rPr>
                  <a:t>$z=2-i$</a:t>
                </a:r>
                <a:r>
                  <a:rPr sz="2400" b="0">
                    <a:solidFill>
                      <a:srgbClr val="111827"/>
                    </a:solidFill>
                    <a:latin typeface="Arial"/>
                  </a:rPr>
                  <a:t> here).</a:t>
                </a:r>
                <a:endParaRPr sz="2400">
                  <a:solidFill>
                    <a:srgbClr val="111827"/>
                  </a:solidFill>
                </a:endParaRPr>
              </a:p>
            </p:txBody>
          </p:sp>
        </mc:Fallback>
      </mc:AlternateContent>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C</m:t>
                    </m:r>
                  </m:oMath>
                </a14:m>
                <a:r>
                  <a:rPr sz="2400" b="0">
                    <a:solidFill>
                      <a:srgbClr val="111827"/>
                    </a:solidFill>
                    <a:latin typeface="Arial"/>
                  </a:rPr>
                  <a:t> are the vertices of an equilateral triangle, whose centroid is </a:t>
                </a:r>
                <a14:m>
                  <m:oMath xmlns:m="http://schemas.openxmlformats.org/officeDocument/2006/math">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0</m:t>
                        </m:r>
                      </m:sub>
                    </m:sSub>
                  </m:oMath>
                </a14:m>
                <a:r>
                  <a:rPr sz="2400" b="0">
                    <a:solidFill>
                      <a:srgbClr val="111827"/>
                    </a:solidFill>
                    <a:latin typeface="Arial"/>
                  </a:rPr>
                  <a:t>, then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3</m:t>
                        </m:r>
                      </m:sup>
                      <m:e>
                        <m:r>
                          <m:rPr>
                            <m:sty m:val="p"/>
                          </m:rPr>
                          <a:rPr lang="en-IN" sz="2400">
                            <a:solidFill>
                              <a:srgbClr val="111827"/>
                            </a:solidFill>
                            <a:latin typeface="Cambria Math" panose="02040503050406030204" pitchFamily="18" charset="0"/>
                          </a:rPr>
                          <m:t>(</m:t>
                        </m:r>
                      </m:e>
                    </m:nary>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𝑘</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0</m:t>
                        </m:r>
                      </m:sub>
                    </m:sSub>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𝑖</m:t>
                    </m:r>
                  </m:oMath>
                </a14:m>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$z_1,z_2,z_3\in\mathbb{C}$</a:t>
                </a:r>
                <a:r>
                  <a:rPr sz="2400" b="0">
                    <a:solidFill>
                      <a:srgbClr val="111827"/>
                    </a:solidFill>
                    <a:latin typeface="Arial"/>
                  </a:rPr>
                  <a:t> are the vertices of an equilateral triangle, whose centroid is </a:t>
                </a:r>
                <a:r>
                  <a:rPr lang="en-IN" sz="2400">
                    <a:solidFill>
                      <a:srgbClr val="111827"/>
                    </a:solidFill>
                    <a:latin typeface="Cambria Math" panose="02040503050406030204" pitchFamily="18" charset="0"/>
                  </a:rPr>
                  <a:t>$z_0$</a:t>
                </a:r>
                <a:r>
                  <a:rPr sz="2400" b="0">
                    <a:solidFill>
                      <a:srgbClr val="111827"/>
                    </a:solidFill>
                    <a:latin typeface="Arial"/>
                  </a:rPr>
                  <a:t>, then </a:t>
                </a:r>
                <a:r>
                  <a:rPr lang="en-IN" sz="2400">
                    <a:solidFill>
                      <a:srgbClr val="111827"/>
                    </a:solidFill>
                    <a:latin typeface="Cambria Math" panose="02040503050406030204" pitchFamily="18" charset="0"/>
                  </a:rPr>
                  <a:t>$\sum_{k=1}^{3}(z_k-z_0)^2$</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$-i$</a:t>
                </a:r>
                <a:r>
                  <a:rPr sz="2400" b="0">
                    <a:solidFill>
                      <a:srgbClr val="111827"/>
                    </a:solidFill>
                    <a:latin typeface="Arial"/>
                  </a:rPr>
                  <a:t>   (B) </a:t>
                </a:r>
                <a:r>
                  <a:rPr lang="en-IN" sz="2400">
                    <a:solidFill>
                      <a:srgbClr val="111827"/>
                    </a:solidFill>
                    <a:latin typeface="Cambria Math" panose="02040503050406030204" pitchFamily="18" charset="0"/>
                  </a:rPr>
                  <a:t>$1$</a:t>
                </a:r>
                <a:r>
                  <a:rPr sz="2400" b="0">
                    <a:solidFill>
                      <a:srgbClr val="111827"/>
                    </a:solidFill>
                    <a:latin typeface="Arial"/>
                  </a:rPr>
                  <a:t>   (C) </a:t>
                </a:r>
                <a:r>
                  <a:rPr lang="en-IN" sz="2400">
                    <a:solidFill>
                      <a:srgbClr val="111827"/>
                    </a:solidFill>
                    <a:latin typeface="Cambria Math" panose="02040503050406030204" pitchFamily="18" charset="0"/>
                  </a:rPr>
                  <a:t>$0$</a:t>
                </a:r>
                <a:r>
                  <a:rPr sz="2400" b="0">
                    <a:solidFill>
                      <a:srgbClr val="111827"/>
                    </a:solidFill>
                    <a:latin typeface="Arial"/>
                  </a:rPr>
                  <a:t>   (D) </a:t>
                </a:r>
                <a:r>
                  <a:rPr lang="en-IN" sz="2400">
                    <a:solidFill>
                      <a:srgbClr val="111827"/>
                    </a:solidFill>
                    <a:latin typeface="Cambria Math" panose="02040503050406030204" pitchFamily="18" charset="0"/>
                  </a:rPr>
                  <a:t>$i$</a:t>
                </a:r>
                <a:endParaRPr sz="2400">
                  <a:solidFill>
                    <a:srgbClr val="111827"/>
                  </a:solidFill>
                </a:endParaRPr>
              </a:p>
            </p:txBody>
          </p:sp>
        </mc:Fallback>
      </mc:AlternateContent>
      <p:sp>
        <p:nvSpPr>
          <p:cNvPr id="5" name="Rectangle 4"/>
          <p:cNvSpPr/>
          <p:nvPr/>
        </p:nvSpPr>
        <p:spPr>
          <a:xfrm>
            <a:off x="731520" y="3580383"/>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Equilateral triangle in the complex plane and its centroid</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For an equilateral triangle </a:t>
                </a:r>
                <a14:m>
                  <m:oMath xmlns:m="http://schemas.openxmlformats.org/officeDocument/2006/math">
                    <m:sSubSup>
                      <m:e>
                        <m:r>
                          <a:rPr lang="en-IN" sz="2400" i="1">
                            <a:solidFill>
                              <a:srgbClr val="78350F"/>
                            </a:solidFill>
                            <a:latin typeface="Cambria Math" panose="02040503050406030204" pitchFamily="18" charset="0"/>
                          </a:rPr>
                          <m:t>𝑧</m:t>
                        </m:r>
                      </m:e>
                      <m:sub>
                        <m:r>
                          <a:rPr lang="en-IN" sz="2400" i="1">
                            <a:solidFill>
                              <a:srgbClr val="78350F"/>
                            </a:solidFill>
                            <a:latin typeface="Cambria Math" panose="02040503050406030204" pitchFamily="18" charset="0"/>
                          </a:rPr>
                          <m:t>1</m:t>
                        </m:r>
                      </m:sub>
                      <m:sup>
                        <m:r>
                          <a:rPr lang="en-IN" sz="2400" i="1">
                            <a:solidFill>
                              <a:srgbClr val="78350F"/>
                            </a:solidFill>
                            <a:latin typeface="Cambria Math" panose="02040503050406030204" pitchFamily="18" charset="0"/>
                          </a:rPr>
                          <m:t>2</m:t>
                        </m:r>
                      </m:sup>
                    </m:sSubSup>
                    <m:r>
                      <m:rPr>
                        <m:sty m:val="p"/>
                      </m:rPr>
                      <a:rPr lang="en-IN" sz="2400">
                        <a:solidFill>
                          <a:srgbClr val="78350F"/>
                        </a:solidFill>
                        <a:latin typeface="Cambria Math" panose="02040503050406030204" pitchFamily="18" charset="0"/>
                      </a:rPr>
                      <m:t>+</m:t>
                    </m:r>
                    <m:sSubSup>
                      <m:e>
                        <m:r>
                          <a:rPr lang="en-IN" sz="2400" i="1">
                            <a:solidFill>
                              <a:srgbClr val="78350F"/>
                            </a:solidFill>
                            <a:latin typeface="Cambria Math" panose="02040503050406030204" pitchFamily="18" charset="0"/>
                          </a:rPr>
                          <m:t>𝑧</m:t>
                        </m:r>
                      </m:e>
                      <m:sub>
                        <m:r>
                          <a:rPr lang="en-IN" sz="2400" i="1">
                            <a:solidFill>
                              <a:srgbClr val="78350F"/>
                            </a:solidFill>
                            <a:latin typeface="Cambria Math" panose="02040503050406030204" pitchFamily="18" charset="0"/>
                          </a:rPr>
                          <m:t>2</m:t>
                        </m:r>
                      </m:sub>
                      <m:sup>
                        <m:r>
                          <a:rPr lang="en-IN" sz="2400" i="1">
                            <a:solidFill>
                              <a:srgbClr val="78350F"/>
                            </a:solidFill>
                            <a:latin typeface="Cambria Math" panose="02040503050406030204" pitchFamily="18" charset="0"/>
                          </a:rPr>
                          <m:t>2</m:t>
                        </m:r>
                      </m:sup>
                    </m:sSubSup>
                    <m:r>
                      <m:rPr>
                        <m:sty m:val="p"/>
                      </m:rPr>
                      <a:rPr lang="en-IN" sz="2400">
                        <a:solidFill>
                          <a:srgbClr val="78350F"/>
                        </a:solidFill>
                        <a:latin typeface="Cambria Math" panose="02040503050406030204" pitchFamily="18" charset="0"/>
                      </a:rPr>
                      <m:t>+</m:t>
                    </m:r>
                    <m:sSubSup>
                      <m:e>
                        <m:r>
                          <a:rPr lang="en-IN" sz="2400" i="1">
                            <a:solidFill>
                              <a:srgbClr val="78350F"/>
                            </a:solidFill>
                            <a:latin typeface="Cambria Math" panose="02040503050406030204" pitchFamily="18" charset="0"/>
                          </a:rPr>
                          <m:t>𝑧</m:t>
                        </m:r>
                      </m:e>
                      <m:sub>
                        <m:r>
                          <a:rPr lang="en-IN" sz="2400" i="1">
                            <a:solidFill>
                              <a:srgbClr val="78350F"/>
                            </a:solidFill>
                            <a:latin typeface="Cambria Math" panose="02040503050406030204" pitchFamily="18" charset="0"/>
                          </a:rPr>
                          <m:t>3</m:t>
                        </m:r>
                      </m:sub>
                      <m:sup>
                        <m:r>
                          <a:rPr lang="en-IN" sz="2400" i="1">
                            <a:solidFill>
                              <a:srgbClr val="78350F"/>
                            </a:solidFill>
                            <a:latin typeface="Cambria Math" panose="02040503050406030204" pitchFamily="18" charset="0"/>
                          </a:rPr>
                          <m:t>2</m:t>
                        </m:r>
                      </m:sup>
                    </m:sSubSup>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𝑧</m:t>
                        </m:r>
                      </m:e>
                      <m:sub>
                        <m:r>
                          <a:rPr lang="en-IN" sz="2400" i="1">
                            <a:solidFill>
                              <a:srgbClr val="78350F"/>
                            </a:solidFill>
                            <a:latin typeface="Cambria Math" panose="02040503050406030204" pitchFamily="18" charset="0"/>
                          </a:rPr>
                          <m:t>1</m:t>
                        </m:r>
                      </m:sub>
                    </m:sSub>
                    <m:sSub>
                      <m:e>
                        <m:r>
                          <a:rPr lang="en-IN" sz="2400" i="1">
                            <a:solidFill>
                              <a:srgbClr val="78350F"/>
                            </a:solidFill>
                            <a:latin typeface="Cambria Math" panose="02040503050406030204" pitchFamily="18" charset="0"/>
                          </a:rPr>
                          <m:t>𝑧</m:t>
                        </m:r>
                      </m:e>
                      <m:sub>
                        <m:r>
                          <a:rPr lang="en-IN" sz="2400" i="1">
                            <a:solidFill>
                              <a:srgbClr val="78350F"/>
                            </a:solidFill>
                            <a:latin typeface="Cambria Math" panose="02040503050406030204" pitchFamily="18" charset="0"/>
                          </a:rPr>
                          <m:t>2</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𝑧</m:t>
                        </m:r>
                      </m:e>
                      <m:sub>
                        <m:r>
                          <a:rPr lang="en-IN" sz="2400" i="1">
                            <a:solidFill>
                              <a:srgbClr val="78350F"/>
                            </a:solidFill>
                            <a:latin typeface="Cambria Math" panose="02040503050406030204" pitchFamily="18" charset="0"/>
                          </a:rPr>
                          <m:t>2</m:t>
                        </m:r>
                      </m:sub>
                    </m:sSub>
                    <m:sSub>
                      <m:e>
                        <m:r>
                          <a:rPr lang="en-IN" sz="2400" i="1">
                            <a:solidFill>
                              <a:srgbClr val="78350F"/>
                            </a:solidFill>
                            <a:latin typeface="Cambria Math" panose="02040503050406030204" pitchFamily="18" charset="0"/>
                          </a:rPr>
                          <m:t>𝑧</m:t>
                        </m:r>
                      </m:e>
                      <m:sub>
                        <m:r>
                          <a:rPr lang="en-IN" sz="2400" i="1">
                            <a:solidFill>
                              <a:srgbClr val="78350F"/>
                            </a:solidFill>
                            <a:latin typeface="Cambria Math" panose="02040503050406030204" pitchFamily="18" charset="0"/>
                          </a:rPr>
                          <m:t>3</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𝑧</m:t>
                        </m:r>
                      </m:e>
                      <m:sub>
                        <m:r>
                          <a:rPr lang="en-IN" sz="2400" i="1">
                            <a:solidFill>
                              <a:srgbClr val="78350F"/>
                            </a:solidFill>
                            <a:latin typeface="Cambria Math" panose="02040503050406030204" pitchFamily="18" charset="0"/>
                          </a:rPr>
                          <m:t>3</m:t>
                        </m:r>
                      </m:sub>
                    </m:sSub>
                    <m:sSub>
                      <m:e>
                        <m:r>
                          <a:rPr lang="en-IN" sz="2400" i="1">
                            <a:solidFill>
                              <a:srgbClr val="78350F"/>
                            </a:solidFill>
                            <a:latin typeface="Cambria Math" panose="02040503050406030204" pitchFamily="18" charset="0"/>
                          </a:rPr>
                          <m:t>𝑧</m:t>
                        </m:r>
                      </m:e>
                      <m:sub>
                        <m:r>
                          <a:rPr lang="en-IN" sz="2400" i="1">
                            <a:solidFill>
                              <a:srgbClr val="78350F"/>
                            </a:solidFill>
                            <a:latin typeface="Cambria Math" panose="02040503050406030204" pitchFamily="18" charset="0"/>
                          </a:rPr>
                          <m:t>1</m:t>
                        </m:r>
                      </m:sub>
                    </m:sSub>
                  </m:oMath>
                </a14:m>
                <a:r>
                  <a:rPr sz="2400" b="0">
                    <a:solidFill>
                      <a:srgbClr val="78350F"/>
                    </a:solidFill>
                    <a:latin typeface="Arial"/>
                  </a:rPr>
                  <a:t>, so </a:t>
                </a:r>
                <a14:m>
                  <m:oMath xmlns:m="http://schemas.openxmlformats.org/officeDocument/2006/math">
                    <m:r>
                      <m:rPr>
                        <m:sty m:val="p"/>
                      </m:rPr>
                      <a:rPr lang="en-IN" sz="2400">
                        <a:solidFill>
                          <a:srgbClr val="78350F"/>
                        </a:solidFill>
                        <a:latin typeface="Cambria Math" panose="02040503050406030204" pitchFamily="18" charset="0"/>
                      </a:rPr>
                      <m:t>∑</m:t>
                    </m:r>
                    <m:sSubSup>
                      <m:e>
                        <m:r>
                          <a:rPr lang="en-IN" sz="2400" i="1">
                            <a:solidFill>
                              <a:srgbClr val="78350F"/>
                            </a:solidFill>
                            <a:latin typeface="Cambria Math" panose="02040503050406030204" pitchFamily="18" charset="0"/>
                          </a:rPr>
                          <m:t>𝑧</m:t>
                        </m:r>
                      </m:e>
                      <m:sub>
                        <m:r>
                          <a:rPr lang="en-IN" sz="2400" i="1">
                            <a:solidFill>
                              <a:srgbClr val="78350F"/>
                            </a:solidFill>
                            <a:latin typeface="Cambria Math" panose="02040503050406030204" pitchFamily="18" charset="0"/>
                          </a:rPr>
                          <m:t>𝑘</m:t>
                        </m:r>
                      </m:sub>
                      <m:sup>
                        <m:r>
                          <a:rPr lang="en-IN" sz="2400" i="1">
                            <a:solidFill>
                              <a:srgbClr val="78350F"/>
                            </a:solidFill>
                            <a:latin typeface="Cambria Math" panose="02040503050406030204" pitchFamily="18" charset="0"/>
                          </a:rPr>
                          <m:t>2</m:t>
                        </m:r>
                      </m:sup>
                    </m:sSub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sSubSup>
                      <m:e>
                        <m:r>
                          <a:rPr lang="en-IN" sz="2400" i="1">
                            <a:solidFill>
                              <a:srgbClr val="78350F"/>
                            </a:solidFill>
                            <a:latin typeface="Cambria Math" panose="02040503050406030204" pitchFamily="18" charset="0"/>
                          </a:rPr>
                          <m:t>𝑧</m:t>
                        </m:r>
                      </m:e>
                      <m:sub>
                        <m:r>
                          <a:rPr lang="en-IN" sz="2400" i="1">
                            <a:solidFill>
                              <a:srgbClr val="78350F"/>
                            </a:solidFill>
                            <a:latin typeface="Cambria Math" panose="02040503050406030204" pitchFamily="18" charset="0"/>
                          </a:rPr>
                          <m:t>0</m:t>
                        </m:r>
                      </m:sub>
                      <m:sup>
                        <m:r>
                          <a:rPr lang="en-IN" sz="2400" i="1">
                            <a:solidFill>
                              <a:srgbClr val="78350F"/>
                            </a:solidFill>
                            <a:latin typeface="Cambria Math" panose="02040503050406030204" pitchFamily="18" charset="0"/>
                          </a:rPr>
                          <m:t>2</m:t>
                        </m:r>
                      </m:sup>
                    </m:sSub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For an equilateral triangle </a:t>
                </a:r>
                <a:r>
                  <a:rPr lang="en-IN" sz="2400">
                    <a:solidFill>
                      <a:srgbClr val="78350F"/>
                    </a:solidFill>
                    <a:latin typeface="Cambria Math" panose="02040503050406030204" pitchFamily="18" charset="0"/>
                  </a:rPr>
                  <a:t>$z_1^2+z_2^2+z_3^2=z_1z_2+z_2z_3+z_3z_1$</a:t>
                </a:r>
                <a:r>
                  <a:rPr sz="2400" b="0">
                    <a:solidFill>
                      <a:srgbClr val="78350F"/>
                    </a:solidFill>
                    <a:latin typeface="Arial"/>
                  </a:rPr>
                  <a:t>, so </a:t>
                </a:r>
                <a:r>
                  <a:rPr lang="en-IN" sz="2400">
                    <a:solidFill>
                      <a:srgbClr val="78350F"/>
                    </a:solidFill>
                    <a:latin typeface="Cambria Math" panose="02040503050406030204" pitchFamily="18" charset="0"/>
                  </a:rPr>
                  <a:t>$\sum z_k^2=3z_0^2$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centroid gives </a:t>
                </a:r>
                <a14:m>
                  <m:oMath xmlns:m="http://schemas.openxmlformats.org/officeDocument/2006/math">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0</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Square it: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3</m:t>
                        </m:r>
                      </m:sub>
                    </m:sSub>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sSubSup>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2</m:t>
                        </m:r>
                      </m:sup>
                    </m:sSubSup>
                  </m:oMath>
                </a14:m>
                <a:r>
                  <a:rPr sz="2400" b="0">
                    <a:solidFill>
                      <a:srgbClr val="111827"/>
                    </a:solidFill>
                    <a:latin typeface="Arial"/>
                  </a:rPr>
                  <a:t>, i.e. </a:t>
                </a:r>
                <a14:m>
                  <m:oMath xmlns:m="http://schemas.openxmlformats.org/officeDocument/2006/math">
                    <m:sSubSup>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3</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2</m:t>
                        </m:r>
                      </m:sub>
                    </m:sSub>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3</m:t>
                        </m:r>
                      </m:sub>
                    </m:sSub>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sSubSup>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2</m:t>
                        </m:r>
                      </m:sup>
                    </m:sSub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an equilateral triangle </a:t>
                </a:r>
                <a14:m>
                  <m:oMath xmlns:m="http://schemas.openxmlformats.org/officeDocument/2006/math">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2</m:t>
                        </m:r>
                      </m:sub>
                    </m:sSub>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3</m:t>
                        </m:r>
                      </m:sub>
                    </m:sSub>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3</m:t>
                        </m:r>
                      </m:sub>
                      <m:sup>
                        <m:r>
                          <a:rPr lang="en-IN" sz="2400" i="1">
                            <a:solidFill>
                              <a:srgbClr val="111827"/>
                            </a:solidFill>
                            <a:latin typeface="Cambria Math" panose="02040503050406030204" pitchFamily="18" charset="0"/>
                          </a:rPr>
                          <m:t>2</m:t>
                        </m:r>
                      </m:sup>
                    </m:sSubSup>
                  </m:oMath>
                </a14:m>
                <a:r>
                  <a:rPr sz="2400" b="0">
                    <a:solidFill>
                      <a:srgbClr val="111827"/>
                    </a:solidFill>
                    <a:latin typeface="Arial"/>
                  </a:rPr>
                  <a:t>, so this becomes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3</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sSubSup>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2</m:t>
                        </m:r>
                      </m:sup>
                    </m:sSub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centroid gives </a:t>
                </a:r>
                <a:r>
                  <a:rPr lang="en-IN" sz="2400">
                    <a:solidFill>
                      <a:srgbClr val="111827"/>
                    </a:solidFill>
                    <a:latin typeface="Cambria Math" panose="02040503050406030204" pitchFamily="18" charset="0"/>
                  </a:rPr>
                  <a:t>$z_1+z_2+z_3=3z_0$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Square it: </a:t>
                </a:r>
                <a:r>
                  <a:rPr lang="en-IN" sz="2400">
                    <a:solidFill>
                      <a:srgbClr val="111827"/>
                    </a:solidFill>
                    <a:latin typeface="Cambria Math" panose="02040503050406030204" pitchFamily="18" charset="0"/>
                  </a:rPr>
                  <a:t>$(z_1+z_2+z_3)^2=9z_0^2$</a:t>
                </a:r>
                <a:r>
                  <a:rPr sz="2400" b="0">
                    <a:solidFill>
                      <a:srgbClr val="111827"/>
                    </a:solidFill>
                    <a:latin typeface="Arial"/>
                  </a:rPr>
                  <a:t>, i.e. </a:t>
                </a:r>
                <a:r>
                  <a:rPr lang="en-IN" sz="2400">
                    <a:solidFill>
                      <a:srgbClr val="111827"/>
                    </a:solidFill>
                    <a:latin typeface="Cambria Math" panose="02040503050406030204" pitchFamily="18" charset="0"/>
                  </a:rPr>
                  <a:t>$z_1^2+z_2^2+z_3^2+2(z_1z_2+z_2z_3+z_3z_1)=9z_0^2$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an equilateral triangle </a:t>
                </a:r>
                <a:r>
                  <a:rPr lang="en-IN" sz="2400">
                    <a:solidFill>
                      <a:srgbClr val="111827"/>
                    </a:solidFill>
                    <a:latin typeface="Cambria Math" panose="02040503050406030204" pitchFamily="18" charset="0"/>
                  </a:rPr>
                  <a:t>$z_1z_2+z_2z_3+z_3z_1=z_1^2+z_2^2+z_3^2$</a:t>
                </a:r>
                <a:r>
                  <a:rPr sz="2400" b="0">
                    <a:solidFill>
                      <a:srgbClr val="111827"/>
                    </a:solidFill>
                    <a:latin typeface="Arial"/>
                  </a:rPr>
                  <a:t>, so this becomes </a:t>
                </a:r>
                <a:r>
                  <a:rPr lang="en-IN" sz="2400">
                    <a:solidFill>
                      <a:srgbClr val="111827"/>
                    </a:solidFill>
                    <a:latin typeface="Cambria Math" panose="02040503050406030204" pitchFamily="18" charset="0"/>
                  </a:rPr>
                  <a:t>$3(z_1^2+z_2^2+z_3^2)=9z_0^2$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sSubSup>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3</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bSup>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2</m:t>
                        </m:r>
                      </m:sup>
                    </m:sSub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𝑘</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0</m:t>
                        </m:r>
                      </m:sub>
                    </m:sSub>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3</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bSup>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0</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bSup>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bSup>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bSup>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bSup>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$z_1^2+z_2^2+z_3^2=3z_0^2$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$\sum(z_k-z_0)^2=(z_1^2+z_2^2+z_3^2)+3z_0^2-2(z_1+z_2+z_3)z_0$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$=3z_0^2+3z_0^2-2(3z_0)z_0=6z_0^2-6z_0^2=0$</a:t>
                </a:r>
                <a:r>
                  <a:rPr sz="2400" b="0">
                    <a:solidFill>
                      <a:srgbClr val="111827"/>
                    </a:solidFill>
                    <a:latin typeface="Arial"/>
                  </a:rPr>
                  <a:t>,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r>
                      <a:rPr lang="en-IN" sz="2800" i="1">
                        <a:solidFill>
                          <a:srgbClr val="15803D"/>
                        </a:solidFill>
                        <a:latin typeface="Cambria Math" panose="02040503050406030204" pitchFamily="18" charset="0"/>
                      </a:rPr>
                      <m:t>0</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$0$</a:t>
                </a:r>
                <a:endParaRPr sz="2800">
                  <a:solidFill>
                    <a:srgbClr val="15803D"/>
                  </a:solidFill>
                </a:endParaRPr>
              </a:p>
            </p:txBody>
          </p:sp>
        </mc:Fallback>
      </mc:AlternateContent>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Place the centroid at the origin: the vertices are </a:t>
                </a:r>
                <a14:m>
                  <m:oMath xmlns:m="http://schemas.openxmlformats.org/officeDocument/2006/math">
                    <m:r>
                      <a:rPr lang="en-IN" sz="2400" i="1">
                        <a:solidFill>
                          <a:srgbClr val="78350F"/>
                        </a:solidFill>
                        <a:latin typeface="Cambria Math" panose="02040503050406030204" pitchFamily="18" charset="0"/>
                      </a:rPr>
                      <m:t>𝑧</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ω</m:t>
                    </m:r>
                    <m:r>
                      <a:rPr lang="en-IN" sz="2400" i="1">
                        <a:solidFill>
                          <a:srgbClr val="78350F"/>
                        </a:solidFill>
                        <a:latin typeface="Cambria Math" panose="02040503050406030204" pitchFamily="18" charset="0"/>
                      </a:rPr>
                      <m:t>𝑧</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 </m:t>
                    </m:r>
                    <m:sSup>
                      <m:e>
                        <m:r>
                          <a:rPr lang="en-IN" sz="2400" i="1">
                            <a:solidFill>
                              <a:srgbClr val="78350F"/>
                            </a:solidFill>
                            <a:latin typeface="Cambria Math" panose="02040503050406030204" pitchFamily="18" charset="0"/>
                          </a:rPr>
                          <m:t>ω</m:t>
                        </m:r>
                      </m:e>
                      <m:sup>
                        <m:r>
                          <a:rPr lang="en-IN" sz="2400" i="1">
                            <a:solidFill>
                              <a:srgbClr val="78350F"/>
                            </a:solidFill>
                            <a:latin typeface="Cambria Math" panose="02040503050406030204" pitchFamily="18" charset="0"/>
                          </a:rPr>
                          <m:t>2</m:t>
                        </m:r>
                      </m:sup>
                    </m:sSup>
                    <m:r>
                      <a:rPr lang="en-IN" sz="2400" i="1">
                        <a:solidFill>
                          <a:srgbClr val="78350F"/>
                        </a:solidFill>
                        <a:latin typeface="Cambria Math" panose="02040503050406030204" pitchFamily="18" charset="0"/>
                      </a:rPr>
                      <m:t>𝑧</m:t>
                    </m:r>
                  </m:oMath>
                </a14:m>
                <a:r>
                  <a:rPr sz="2400" b="0">
                    <a:solidFill>
                      <a:srgbClr val="78350F"/>
                    </a:solidFill>
                    <a:latin typeface="Arial"/>
                  </a:rPr>
                  <a:t>, so the sum is </a:t>
                </a:r>
                <a14:m>
                  <m:oMath xmlns:m="http://schemas.openxmlformats.org/officeDocument/2006/math">
                    <m:sSup>
                      <m:e>
                        <m:r>
                          <a:rPr lang="en-IN" sz="2400" i="1">
                            <a:solidFill>
                              <a:srgbClr val="78350F"/>
                            </a:solidFill>
                            <a:latin typeface="Cambria Math" panose="02040503050406030204" pitchFamily="18" charset="0"/>
                          </a:rPr>
                          <m:t>𝑧</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ω</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ω</m:t>
                        </m:r>
                      </m:e>
                      <m:sup>
                        <m:r>
                          <a:rPr lang="en-IN" sz="2400" i="1">
                            <a:solidFill>
                              <a:srgbClr val="78350F"/>
                            </a:solidFill>
                            <a:latin typeface="Cambria Math" panose="02040503050406030204" pitchFamily="18" charset="0"/>
                          </a:rPr>
                          <m:t>4</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Place the centroid at the origin: the vertices are </a:t>
                </a:r>
                <a:r>
                  <a:rPr lang="en-IN" sz="2400">
                    <a:solidFill>
                      <a:srgbClr val="78350F"/>
                    </a:solidFill>
                    <a:latin typeface="Cambria Math" panose="02040503050406030204" pitchFamily="18" charset="0"/>
                  </a:rPr>
                  <a:t>$z,\ \omega z,\ \omega^2z$</a:t>
                </a:r>
                <a:r>
                  <a:rPr sz="2400" b="0">
                    <a:solidFill>
                      <a:srgbClr val="78350F"/>
                    </a:solidFill>
                    <a:latin typeface="Arial"/>
                  </a:rPr>
                  <a:t>, so the sum is </a:t>
                </a:r>
                <a:r>
                  <a:rPr lang="en-IN" sz="2400">
                    <a:solidFill>
                      <a:srgbClr val="78350F"/>
                    </a:solidFill>
                    <a:latin typeface="Cambria Math" panose="02040503050406030204" pitchFamily="18" charset="0"/>
                  </a:rPr>
                  <a:t>$z^2(1+\omega^2+\omega^4)=0$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𝑤</m:t>
                        </m:r>
                      </m:e>
                      <m:sub>
                        <m:r>
                          <a:rPr lang="en-IN" sz="2400" i="1">
                            <a:solidFill>
                              <a:srgbClr val="111827"/>
                            </a:solidFill>
                            <a:latin typeface="Cambria Math" panose="02040503050406030204" pitchFamily="18" charset="0"/>
                          </a:rPr>
                          <m:t>𝑘</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𝑘</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0</m:t>
                        </m:r>
                      </m:sub>
                    </m:sSub>
                  </m:oMath>
                </a14:m>
                <a:r>
                  <a:rPr sz="2400" b="0">
                    <a:solidFill>
                      <a:srgbClr val="111827"/>
                    </a:solidFill>
                    <a:latin typeface="Arial"/>
                  </a:rPr>
                  <a:t>; these are the vertices of the same triangle with centroid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 equilateral triangle centred at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has vertices that are rotations of one another by </a:t>
                </a:r>
                <a14:m>
                  <m:oMath xmlns:m="http://schemas.openxmlformats.org/officeDocument/2006/math">
                    <m:sSup>
                      <m:e>
                        <m:r>
                          <a:rPr lang="en-IN" sz="2400" i="1">
                            <a:solidFill>
                              <a:srgbClr val="111827"/>
                            </a:solidFill>
                            <a:latin typeface="Cambria Math" panose="02040503050406030204" pitchFamily="18" charset="0"/>
                          </a:rPr>
                          <m:t>120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𝑤</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𝑤</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𝑤</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ω</m:t>
                    </m:r>
                    <m:r>
                      <a:rPr lang="en-IN" sz="2400" i="1">
                        <a:solidFill>
                          <a:srgbClr val="111827"/>
                        </a:solidFill>
                        <a:latin typeface="Cambria Math" panose="02040503050406030204" pitchFamily="18" charset="0"/>
                      </a:rPr>
                      <m:t>𝑤</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𝑤</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𝑤</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ω</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oMath>
                </a14:m>
                <a:r>
                  <a:rPr sz="2400" b="0">
                    <a:solidFill>
                      <a:srgbClr val="111827"/>
                    </a:solidFill>
                    <a:latin typeface="Arial"/>
                  </a:rPr>
                  <a:t> (or the reverse orientation).</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𝑤</m:t>
                        </m:r>
                      </m:e>
                      <m:sub>
                        <m:r>
                          <a:rPr lang="en-IN" sz="2400" i="1">
                            <a:solidFill>
                              <a:srgbClr val="111827"/>
                            </a:solidFill>
                            <a:latin typeface="Cambria Math" panose="02040503050406030204" pitchFamily="18" charset="0"/>
                          </a:rPr>
                          <m:t>𝑘</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𝑤</m:t>
                        </m:r>
                      </m:e>
                      <m:sup>
                        <m:r>
                          <a:rPr lang="en-IN" sz="2400" i="1">
                            <a:solidFill>
                              <a:srgbClr val="111827"/>
                            </a:solidFill>
                            <a:latin typeface="Cambria Math" panose="02040503050406030204" pitchFamily="18" charset="0"/>
                          </a:rPr>
                          <m:t>2</m:t>
                        </m:r>
                      </m:sup>
                    </m:sSup>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4</m:t>
                            </m:r>
                          </m:sup>
                        </m:sSup>
                      </m:e>
                    </m:d>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𝑤</m:t>
                        </m:r>
                      </m:e>
                      <m:sup>
                        <m:r>
                          <a:rPr lang="en-IN" sz="2400" i="1">
                            <a:solidFill>
                              <a:srgbClr val="111827"/>
                            </a:solidFill>
                            <a:latin typeface="Cambria Math" panose="02040503050406030204" pitchFamily="18" charset="0"/>
                          </a:rPr>
                          <m:t>2</m:t>
                        </m:r>
                      </m:sup>
                    </m:sSup>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ω</m:t>
                        </m:r>
                      </m:e>
                    </m:d>
                  </m:oMath>
                </a14:m>
                <a:r>
                  <a:rPr sz="2400" b="0">
                    <a:solidFill>
                      <a:srgbClr val="111827"/>
                    </a:solidFill>
                    <a:latin typeface="Arial"/>
                  </a:rPr>
                  <a:t> since </a:t>
                </a:r>
                <a14:m>
                  <m:oMath xmlns:m="http://schemas.openxmlformats.org/officeDocument/2006/math">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ω</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 sum is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$w_k=z_k-z_0$</a:t>
                </a:r>
                <a:r>
                  <a:rPr sz="2400" b="0">
                    <a:solidFill>
                      <a:srgbClr val="111827"/>
                    </a:solidFill>
                    <a:latin typeface="Arial"/>
                  </a:rPr>
                  <a:t>; these are the vertices of the same triangle with centroid </a:t>
                </a:r>
                <a:r>
                  <a:rPr lang="en-IN" sz="2400">
                    <a:solidFill>
                      <a:srgbClr val="111827"/>
                    </a:solidFill>
                    <a:latin typeface="Cambria Math" panose="02040503050406030204" pitchFamily="18" charset="0"/>
                  </a:rPr>
                  <a: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 equilateral triangle centred at </a:t>
                </a:r>
                <a:r>
                  <a:rPr lang="en-IN" sz="2400">
                    <a:solidFill>
                      <a:srgbClr val="111827"/>
                    </a:solidFill>
                    <a:latin typeface="Cambria Math" panose="02040503050406030204" pitchFamily="18" charset="0"/>
                  </a:rPr>
                  <a:t>$0$</a:t>
                </a:r>
                <a:r>
                  <a:rPr sz="2400" b="0">
                    <a:solidFill>
                      <a:srgbClr val="111827"/>
                    </a:solidFill>
                    <a:latin typeface="Arial"/>
                  </a:rPr>
                  <a:t> has vertices that are rotations of one another by </a:t>
                </a:r>
                <a:r>
                  <a:rPr lang="en-IN" sz="2400">
                    <a:solidFill>
                      <a:srgbClr val="111827"/>
                    </a:solidFill>
                    <a:latin typeface="Cambria Math" panose="02040503050406030204" pitchFamily="18" charset="0"/>
                  </a:rPr>
                  <a:t>$120^\circ$</a:t>
                </a:r>
                <a:r>
                  <a:rPr sz="2400" b="0">
                    <a:solidFill>
                      <a:srgbClr val="111827"/>
                    </a:solidFill>
                    <a:latin typeface="Arial"/>
                  </a:rPr>
                  <a:t>: </a:t>
                </a:r>
                <a:r>
                  <a:rPr lang="en-IN" sz="2400">
                    <a:solidFill>
                      <a:srgbClr val="111827"/>
                    </a:solidFill>
                    <a:latin typeface="Cambria Math" panose="02040503050406030204" pitchFamily="18" charset="0"/>
                  </a:rPr>
                  <a:t>$w_1=w,\ w_2=\omega w,\ w_3=\omega^2w$</a:t>
                </a:r>
                <a:r>
                  <a:rPr sz="2400" b="0">
                    <a:solidFill>
                      <a:srgbClr val="111827"/>
                    </a:solidFill>
                    <a:latin typeface="Arial"/>
                  </a:rPr>
                  <a:t> with </a:t>
                </a:r>
                <a:r>
                  <a:rPr lang="en-IN" sz="2400">
                    <a:solidFill>
                      <a:srgbClr val="111827"/>
                    </a:solidFill>
                    <a:latin typeface="Cambria Math" panose="02040503050406030204" pitchFamily="18" charset="0"/>
                  </a:rPr>
                  <a:t>$\omega=e^{2\pi i/3}$</a:t>
                </a:r>
                <a:r>
                  <a:rPr sz="2400" b="0">
                    <a:solidFill>
                      <a:srgbClr val="111827"/>
                    </a:solidFill>
                    <a:latin typeface="Arial"/>
                  </a:rPr>
                  <a:t> (or the reverse orientation).</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 w_k^2=w^2\left(1+\omega^2+\omega^4\right)=w^2\left(1+\omega^2+\omega\right)$</a:t>
                </a:r>
                <a:r>
                  <a:rPr sz="2400" b="0">
                    <a:solidFill>
                      <a:srgbClr val="111827"/>
                    </a:solidFill>
                    <a:latin typeface="Arial"/>
                  </a:rPr>
                  <a:t> since </a:t>
                </a:r>
                <a:r>
                  <a:rPr lang="en-IN" sz="2400">
                    <a:solidFill>
                      <a:srgbClr val="111827"/>
                    </a:solidFill>
                    <a:latin typeface="Cambria Math" panose="02040503050406030204" pitchFamily="18" charset="0"/>
                  </a:rPr>
                  <a:t>$\omega^3=1$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As </a:t>
                </a:r>
                <a:r>
                  <a:rPr lang="en-IN" sz="2400">
                    <a:solidFill>
                      <a:srgbClr val="111827"/>
                    </a:solidFill>
                    <a:latin typeface="Cambria Math" panose="02040503050406030204" pitchFamily="18" charset="0"/>
                  </a:rPr>
                  <a:t>$1+\omega+\omega^2=0$</a:t>
                </a:r>
                <a:r>
                  <a:rPr sz="2400" b="0">
                    <a:solidFill>
                      <a:srgbClr val="111827"/>
                    </a:solidFill>
                    <a:latin typeface="Arial"/>
                  </a:rPr>
                  <a:t>, the sum is </a:t>
                </a:r>
                <a:r>
                  <a:rPr lang="en-IN" sz="2400">
                    <a:solidFill>
                      <a:srgbClr val="111827"/>
                    </a:solidFill>
                    <a:latin typeface="Cambria Math" panose="02040503050406030204" pitchFamily="18" charset="0"/>
                  </a:rPr>
                  <a:t>$0$</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r>
                      <a:rPr lang="en-IN" sz="2800" i="1">
                        <a:solidFill>
                          <a:srgbClr val="15803D"/>
                        </a:solidFill>
                        <a:latin typeface="Cambria Math" panose="02040503050406030204" pitchFamily="18" charset="0"/>
                      </a:rPr>
                      <m:t>0</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$0$</a:t>
                </a:r>
                <a:endParaRPr sz="2800">
                  <a:solidFill>
                    <a:srgbClr val="15803D"/>
                  </a:solidFill>
                </a:endParaRPr>
              </a:p>
            </p:txBody>
          </p:sp>
        </mc:Fallback>
      </mc:AlternateContent>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form an equilateral triangle </a:t>
                </a:r>
                <a14:m>
                  <m:oMath xmlns:m="http://schemas.openxmlformats.org/officeDocument/2006/math">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3</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2</m:t>
                        </m:r>
                      </m:sub>
                    </m:sSub>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3</m:t>
                        </m:r>
                      </m:sub>
                    </m:sSub>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(equivalently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forms, or </a:t>
                </a:r>
                <a14:m>
                  <m:oMath xmlns:m="http://schemas.openxmlformats.org/officeDocument/2006/math">
                    <m:r>
                      <a:rPr lang="en-IN" sz="2400" i="1">
                        <a:solidFill>
                          <a:srgbClr val="111827"/>
                        </a:solidFill>
                        <a:latin typeface="Cambria Math" panose="02040503050406030204" pitchFamily="18" charset="0"/>
                      </a:rPr>
                      <m:t>ω</m:t>
                    </m:r>
                  </m:oMath>
                </a14:m>
                <a:r>
                  <a:rPr sz="2400" b="0">
                    <a:solidFill>
                      <a:srgbClr val="111827"/>
                    </a:solidFill>
                    <a:latin typeface="Arial"/>
                  </a:rPr>
                  <a:t>-rotation relation).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centroid is </a:t>
                </a:r>
                <a14:m>
                  <m:oMath xmlns:m="http://schemas.openxmlformats.org/officeDocument/2006/math">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3</m:t>
                            </m:r>
                          </m:sub>
                        </m:sSub>
                      </m:num>
                      <m:den>
                        <m:r>
                          <a:rPr lang="en-IN" sz="2400" i="1">
                            <a:solidFill>
                              <a:srgbClr val="111827"/>
                            </a:solidFill>
                            <a:latin typeface="Cambria Math" panose="02040503050406030204" pitchFamily="18" charset="0"/>
                          </a:rPr>
                          <m:t>3</m:t>
                        </m:r>
                      </m:den>
                    </m:f>
                  </m:oMath>
                </a14:m>
                <a:r>
                  <a:rPr sz="2400" b="0">
                    <a:solidFill>
                      <a:srgbClr val="111827"/>
                    </a:solidFill>
                    <a:latin typeface="Arial"/>
                  </a:rPr>
                  <a:t>; relative to it an equilateral triangle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𝑤</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ω</m:t>
                    </m:r>
                    <m:r>
                      <a:rPr lang="en-IN" sz="2400" i="1">
                        <a:solidFill>
                          <a:srgbClr val="111827"/>
                        </a:solidFill>
                        <a:latin typeface="Cambria Math" panose="02040503050406030204" pitchFamily="18" charset="0"/>
                      </a:rPr>
                      <m:t>𝑤</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𝑤</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𝑘</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0</m:t>
                        </m:r>
                      </m:sub>
                    </m:sSub>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𝑚</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whenever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vertices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ω</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(centroid 0):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$z_1,z_2,z_3$</a:t>
                </a:r>
                <a:r>
                  <a:rPr sz="2400" b="0">
                    <a:solidFill>
                      <a:srgbClr val="111827"/>
                    </a:solidFill>
                    <a:latin typeface="Arial"/>
                  </a:rPr>
                  <a:t> form an equilateral triangle </a:t>
                </a:r>
                <a:r>
                  <a:rPr lang="en-IN" sz="2400">
                    <a:solidFill>
                      <a:srgbClr val="111827"/>
                    </a:solidFill>
                    <a:latin typeface="Cambria Math" panose="02040503050406030204" pitchFamily="18" charset="0"/>
                  </a:rPr>
                  <a:t>$\iff z_1^2+z_2^2+z_3^2=z_1z_2+z_2z_3+z_3z_1$</a:t>
                </a:r>
                <a:r>
                  <a:rPr sz="2400" b="0">
                    <a:solidFill>
                      <a:srgbClr val="111827"/>
                    </a:solidFill>
                    <a:latin typeface="Arial"/>
                  </a:rPr>
                  <a:t> (equivalently </a:t>
                </a:r>
                <a:r>
                  <a:rPr lang="en-IN" sz="2400">
                    <a:solidFill>
                      <a:srgbClr val="111827"/>
                    </a:solidFill>
                    <a:latin typeface="Cambria Math" panose="02040503050406030204" pitchFamily="18" charset="0"/>
                  </a:rPr>
                  <a:t>$\sum\frac1{z-\ldots}$</a:t>
                </a:r>
                <a:r>
                  <a:rPr sz="2400" b="0">
                    <a:solidFill>
                      <a:srgbClr val="111827"/>
                    </a:solidFill>
                    <a:latin typeface="Arial"/>
                  </a:rPr>
                  <a:t> forms, or </a:t>
                </a:r>
                <a:r>
                  <a:rPr lang="en-IN" sz="2400">
                    <a:solidFill>
                      <a:srgbClr val="111827"/>
                    </a:solidFill>
                    <a:latin typeface="Cambria Math" panose="02040503050406030204" pitchFamily="18" charset="0"/>
                  </a:rPr>
                  <a:t>$\omega$</a:t>
                </a:r>
                <a:r>
                  <a:rPr sz="2400" b="0">
                    <a:solidFill>
                      <a:srgbClr val="111827"/>
                    </a:solidFill>
                    <a:latin typeface="Arial"/>
                  </a:rPr>
                  <a:t>-rotation relation).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centroid is </a:t>
                </a:r>
                <a:r>
                  <a:rPr lang="en-IN" sz="2400">
                    <a:solidFill>
                      <a:srgbClr val="111827"/>
                    </a:solidFill>
                    <a:latin typeface="Cambria Math" panose="02040503050406030204" pitchFamily="18" charset="0"/>
                  </a:rPr>
                  <a:t>$\frac{z_1+z_2+z_3}{3}$</a:t>
                </a:r>
                <a:r>
                  <a:rPr sz="2400" b="0">
                    <a:solidFill>
                      <a:srgbClr val="111827"/>
                    </a:solidFill>
                    <a:latin typeface="Arial"/>
                  </a:rPr>
                  <a:t>; relative to it an equilateral triangle is </a:t>
                </a:r>
                <a:r>
                  <a:rPr lang="en-IN" sz="2400">
                    <a:solidFill>
                      <a:srgbClr val="111827"/>
                    </a:solidFill>
                    <a:latin typeface="Cambria Math" panose="02040503050406030204" pitchFamily="18" charset="0"/>
                  </a:rPr>
                  <a:t>$\{w,\omega w,\omega^2w\}$</a:t>
                </a:r>
                <a:r>
                  <a:rPr sz="2400" b="0">
                    <a:solidFill>
                      <a:srgbClr val="111827"/>
                    </a:solidFill>
                    <a:latin typeface="Arial"/>
                  </a:rPr>
                  <a:t>, so </a:t>
                </a:r>
                <a:r>
                  <a:rPr lang="en-IN" sz="2400">
                    <a:solidFill>
                      <a:srgbClr val="111827"/>
                    </a:solidFill>
                    <a:latin typeface="Cambria Math" panose="02040503050406030204" pitchFamily="18" charset="0"/>
                  </a:rPr>
                  <a:t>$\sum(z_k-z_0)^m=0$</a:t>
                </a:r>
                <a:r>
                  <a:rPr sz="2400" b="0">
                    <a:solidFill>
                      <a:srgbClr val="111827"/>
                    </a:solidFill>
                    <a:latin typeface="Arial"/>
                  </a:rPr>
                  <a:t> whenever </a:t>
                </a:r>
                <a:r>
                  <a:rPr lang="en-IN" sz="2400">
                    <a:solidFill>
                      <a:srgbClr val="111827"/>
                    </a:solidFill>
                    <a:latin typeface="Cambria Math" panose="02040503050406030204" pitchFamily="18" charset="0"/>
                  </a:rPr>
                  <a:t>$3\nmid m$</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vertices </a:t>
                </a:r>
                <a:r>
                  <a:rPr lang="en-IN" sz="2400">
                    <a:solidFill>
                      <a:srgbClr val="111827"/>
                    </a:solidFill>
                    <a:latin typeface="Cambria Math" panose="02040503050406030204" pitchFamily="18" charset="0"/>
                  </a:rPr>
                  <a:t>$1,\omega,\omega^2$</a:t>
                </a:r>
                <a:r>
                  <a:rPr sz="2400" b="0">
                    <a:solidFill>
                      <a:srgbClr val="111827"/>
                    </a:solidFill>
                    <a:latin typeface="Arial"/>
                  </a:rPr>
                  <a:t> (centroid 0): </a:t>
                </a:r>
                <a:r>
                  <a:rPr lang="en-IN" sz="2400">
                    <a:solidFill>
                      <a:srgbClr val="111827"/>
                    </a:solidFill>
                    <a:latin typeface="Cambria Math" panose="02040503050406030204" pitchFamily="18" charset="0"/>
                  </a:rPr>
                  <a:t>$1+\omega^2+\omega^4=0$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product of </a:t>
                </a:r>
                <a14:m>
                  <m:oMath xmlns:m="http://schemas.openxmlformats.org/officeDocument/2006/math">
                    <m:sSub>
                      <m:e>
                        <m:r>
                          <a:rPr lang="en-IN" sz="2400" i="1">
                            <a:solidFill>
                              <a:srgbClr val="111827"/>
                            </a:solidFill>
                            <a:latin typeface="Cambria Math" panose="02040503050406030204" pitchFamily="18" charset="0"/>
                          </a:rPr>
                          <m:t>ω</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ω</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oMath>
                </a14:m>
                <a:r>
                  <a:rPr sz="2400" b="0">
                    <a:solidFill>
                      <a:srgbClr val="111827"/>
                    </a:solidFill>
                    <a:latin typeface="Arial"/>
                  </a:rPr>
                  <a:t> be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β</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rad>
                  </m:oMath>
                </a14:m>
                <a:r>
                  <a:rPr sz="2400" b="0">
                    <a:solidFill>
                      <a:srgbClr val="111827"/>
                    </a:solidFill>
                    <a:latin typeface="Arial"/>
                  </a:rPr>
                  <a:t>. Let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𝑞</m:t>
                    </m:r>
                  </m:oMath>
                </a14:m>
                <a:r>
                  <a:rPr sz="2400" b="0">
                    <a:solidFill>
                      <a:srgbClr val="111827"/>
                    </a:solidFill>
                    <a:latin typeface="Arial"/>
                  </a:rPr>
                  <a:t> be the maximum and the minimum values of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oMath>
                </a14:m>
                <a:r>
                  <a:rPr sz="2400" b="0">
                    <a:solidFill>
                      <a:srgbClr val="111827"/>
                    </a:solidFill>
                    <a:latin typeface="Arial"/>
                  </a:rPr>
                  <a:t> respectively. Then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160</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150</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140</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130</m:t>
                    </m:r>
                  </m:oMath>
                </a14:m>
                <a:endParaRPr sz="2400">
                  <a:solidFill>
                    <a:srgbClr val="111827"/>
                  </a:solidFill>
                </a:endParaRPr>
              </a:p>
            </p:txBody>
          </p:sp>
        </mc:Choice>
        <mc:Fallback>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product of </a:t>
                </a:r>
                <a:r>
                  <a:rPr lang="en-IN" sz="2400">
                    <a:solidFill>
                      <a:srgbClr val="111827"/>
                    </a:solidFill>
                    <a:latin typeface="Cambria Math" panose="02040503050406030204" pitchFamily="18" charset="0"/>
                  </a:rPr>
                  <a:t>$\omega_1=(8+i)\sin\theta+(7+4i)\cos\theta$</a:t>
                </a:r>
                <a:r>
                  <a:rPr sz="2400" b="0">
                    <a:solidFill>
                      <a:srgbClr val="111827"/>
                    </a:solidFill>
                    <a:latin typeface="Arial"/>
                  </a:rPr>
                  <a:t> and </a:t>
                </a:r>
                <a:r>
                  <a:rPr lang="en-IN" sz="2400">
                    <a:solidFill>
                      <a:srgbClr val="111827"/>
                    </a:solidFill>
                    <a:latin typeface="Cambria Math" panose="02040503050406030204" pitchFamily="18" charset="0"/>
                  </a:rPr>
                  <a:t>$\omega_2=(1+8i)\sin\theta+(4+7i)\cos\theta$</a:t>
                </a:r>
                <a:r>
                  <a:rPr sz="2400" b="0">
                    <a:solidFill>
                      <a:srgbClr val="111827"/>
                    </a:solidFill>
                    <a:latin typeface="Arial"/>
                  </a:rPr>
                  <a:t> be </a:t>
                </a:r>
                <a:r>
                  <a:rPr lang="en-IN" sz="2400">
                    <a:solidFill>
                      <a:srgbClr val="111827"/>
                    </a:solidFill>
                    <a:latin typeface="Cambria Math" panose="02040503050406030204" pitchFamily="18" charset="0"/>
                  </a:rPr>
                  <a:t>$\alpha+i\beta$</a:t>
                </a:r>
                <a:r>
                  <a:rPr sz="2400" b="0">
                    <a:solidFill>
                      <a:srgbClr val="111827"/>
                    </a:solidFill>
                    <a:latin typeface="Arial"/>
                  </a:rPr>
                  <a:t>, </a:t>
                </a:r>
                <a:r>
                  <a:rPr lang="en-IN" sz="2400">
                    <a:solidFill>
                      <a:srgbClr val="111827"/>
                    </a:solidFill>
                    <a:latin typeface="Cambria Math" panose="02040503050406030204" pitchFamily="18" charset="0"/>
                  </a:rPr>
                  <a:t>$i=\sqrt{-1}$</a:t>
                </a:r>
                <a:r>
                  <a:rPr sz="2400" b="0">
                    <a:solidFill>
                      <a:srgbClr val="111827"/>
                    </a:solidFill>
                    <a:latin typeface="Arial"/>
                  </a:rPr>
                  <a:t>. Let </a:t>
                </a:r>
                <a:r>
                  <a:rPr lang="en-IN" sz="2400">
                    <a:solidFill>
                      <a:srgbClr val="111827"/>
                    </a:solidFill>
                    <a:latin typeface="Cambria Math" panose="02040503050406030204" pitchFamily="18" charset="0"/>
                  </a:rPr>
                  <a:t>$p$</a:t>
                </a:r>
                <a:r>
                  <a:rPr sz="2400" b="0">
                    <a:solidFill>
                      <a:srgbClr val="111827"/>
                    </a:solidFill>
                    <a:latin typeface="Arial"/>
                  </a:rPr>
                  <a:t> and </a:t>
                </a:r>
                <a:r>
                  <a:rPr lang="en-IN" sz="2400">
                    <a:solidFill>
                      <a:srgbClr val="111827"/>
                    </a:solidFill>
                    <a:latin typeface="Cambria Math" panose="02040503050406030204" pitchFamily="18" charset="0"/>
                  </a:rPr>
                  <a:t>$q$</a:t>
                </a:r>
                <a:r>
                  <a:rPr sz="2400" b="0">
                    <a:solidFill>
                      <a:srgbClr val="111827"/>
                    </a:solidFill>
                    <a:latin typeface="Arial"/>
                  </a:rPr>
                  <a:t> be the maximum and the minimum values of </a:t>
                </a:r>
                <a:r>
                  <a:rPr lang="en-IN" sz="2400">
                    <a:solidFill>
                      <a:srgbClr val="111827"/>
                    </a:solidFill>
                    <a:latin typeface="Cambria Math" panose="02040503050406030204" pitchFamily="18" charset="0"/>
                  </a:rPr>
                  <a:t>$\alpha+\beta$</a:t>
                </a:r>
                <a:r>
                  <a:rPr sz="2400" b="0">
                    <a:solidFill>
                      <a:srgbClr val="111827"/>
                    </a:solidFill>
                    <a:latin typeface="Arial"/>
                  </a:rPr>
                  <a:t> respectively. Then </a:t>
                </a:r>
                <a:r>
                  <a:rPr lang="en-IN" sz="2400">
                    <a:solidFill>
                      <a:srgbClr val="111827"/>
                    </a:solidFill>
                    <a:latin typeface="Cambria Math" panose="02040503050406030204" pitchFamily="18" charset="0"/>
                  </a:rPr>
                  <a:t>$p+q$</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$160$</a:t>
                </a:r>
                <a:r>
                  <a:rPr sz="2400" b="0">
                    <a:solidFill>
                      <a:srgbClr val="111827"/>
                    </a:solidFill>
                    <a:latin typeface="Arial"/>
                  </a:rPr>
                  <a:t>   (B) </a:t>
                </a:r>
                <a:r>
                  <a:rPr lang="en-IN" sz="2400">
                    <a:solidFill>
                      <a:srgbClr val="111827"/>
                    </a:solidFill>
                    <a:latin typeface="Cambria Math" panose="02040503050406030204" pitchFamily="18" charset="0"/>
                  </a:rPr>
                  <a:t>$150$</a:t>
                </a:r>
                <a:r>
                  <a:rPr sz="2400" b="0">
                    <a:solidFill>
                      <a:srgbClr val="111827"/>
                    </a:solidFill>
                    <a:latin typeface="Arial"/>
                  </a:rPr>
                  <a:t>   (C) </a:t>
                </a:r>
                <a:r>
                  <a:rPr lang="en-IN" sz="2400">
                    <a:solidFill>
                      <a:srgbClr val="111827"/>
                    </a:solidFill>
                    <a:latin typeface="Cambria Math" panose="02040503050406030204" pitchFamily="18" charset="0"/>
                  </a:rPr>
                  <a:t>$140$</a:t>
                </a:r>
                <a:r>
                  <a:rPr sz="2400" b="0">
                    <a:solidFill>
                      <a:srgbClr val="111827"/>
                    </a:solidFill>
                    <a:latin typeface="Arial"/>
                  </a:rPr>
                  <a:t>   (D) </a:t>
                </a:r>
                <a:r>
                  <a:rPr lang="en-IN" sz="2400">
                    <a:solidFill>
                      <a:srgbClr val="111827"/>
                    </a:solidFill>
                    <a:latin typeface="Cambria Math" panose="02040503050406030204" pitchFamily="18" charset="0"/>
                  </a:rPr>
                  <a:t>$130$</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9522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Product of complex numbers, Range of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ℎ</m:t>
                    </m:r>
                    <m:r>
                      <a:rPr lang="en-IN" sz="2400" i="1">
                        <a:solidFill>
                          <a:srgbClr val="111827"/>
                        </a:solidFill>
                        <a:latin typeface="Cambria Math" panose="02040503050406030204" pitchFamily="18" charset="0"/>
                      </a:rPr>
                      <m:t>𝑒</m:t>
                    </m:r>
                    <m:r>
                      <a:rPr lang="en-IN" sz="2400" i="1">
                        <a:solidFill>
                          <a:srgbClr val="111827"/>
                        </a:solidFill>
                        <a:latin typeface="Cambria Math" panose="02040503050406030204" pitchFamily="18" charset="0"/>
                      </a:rPr>
                      <m:t>𝑡</m:t>
                    </m:r>
                    <m:r>
                      <a:rPr lang="en-IN" sz="2400" i="1">
                        <a:solidFill>
                          <a:srgbClr val="111827"/>
                        </a:solidFill>
                        <a:latin typeface="Cambria Math" panose="02040503050406030204" pitchFamily="18" charset="0"/>
                      </a:rPr>
                      <m:t>𝑎</m:t>
                    </m:r>
                  </m:oMath>
                </a14:m>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Choice>
        <mc:Fallback>
          <p:sp>
            <p:nvSpPr>
              <p:cNvPr id="5" name="Rectangle 4"/>
              <p:cNvSpPr/>
              <p:nvPr/>
            </p:nvSpPr>
            <p:spPr>
              <a:xfrm>
                <a:off x="731520" y="39522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Product of complex numbers, Range of </a:t>
                </a:r>
                <a:r>
                  <a:rPr lang="en-IN" sz="2400">
                    <a:solidFill>
                      <a:srgbClr val="111827"/>
                    </a:solidFill>
                    <a:latin typeface="Cambria Math" panose="02040503050406030204" pitchFamily="18" charset="0"/>
                  </a:rPr>
                  <a:t>$a+b\sin2	heta$</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Fallback>
      </mc:AlternateContent>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Multiply out; the real parts all vanish, leaving </a:t>
                </a:r>
                <a14:m>
                  <m:oMath xmlns:m="http://schemas.openxmlformats.org/officeDocument/2006/math">
                    <m:r>
                      <a:rPr lang="en-IN" sz="2400" i="1">
                        <a:solidFill>
                          <a:srgbClr val="78350F"/>
                        </a:solidFill>
                        <a:latin typeface="Cambria Math" panose="02040503050406030204" pitchFamily="18" charset="0"/>
                      </a:rPr>
                      <m:t>α</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β</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65</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60</m:t>
                    </m:r>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θ</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Multiply out; the real parts all vanish, leaving </a:t>
                </a:r>
                <a:r>
                  <a:rPr lang="en-IN" sz="2400">
                    <a:solidFill>
                      <a:srgbClr val="78350F"/>
                    </a:solidFill>
                    <a:latin typeface="Cambria Math" panose="02040503050406030204" pitchFamily="18" charset="0"/>
                  </a:rPr>
                  <a:t>$\alpha=0$</a:t>
                </a:r>
                <a:r>
                  <a:rPr sz="2400" b="0">
                    <a:solidFill>
                      <a:srgbClr val="78350F"/>
                    </a:solidFill>
                    <a:latin typeface="Arial"/>
                  </a:rPr>
                  <a:t> and </a:t>
                </a:r>
                <a:r>
                  <a:rPr lang="en-IN" sz="2400">
                    <a:solidFill>
                      <a:srgbClr val="78350F"/>
                    </a:solidFill>
                    <a:latin typeface="Cambria Math" panose="02040503050406030204" pitchFamily="18" charset="0"/>
                  </a:rPr>
                  <a:t>$\beta=65+60\sin2\theta$</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ω</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ω</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65</m:t>
                    </m:r>
                    <m:r>
                      <a:rPr lang="en-IN" sz="2400" i="1">
                        <a:solidFill>
                          <a:srgbClr val="111827"/>
                        </a:solidFill>
                        <a:latin typeface="Cambria Math" panose="02040503050406030204" pitchFamily="18" charset="0"/>
                      </a:rPr>
                      <m:t>𝑖</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a:rPr lang="en-IN" sz="2400" i="1">
                        <a:solidFill>
                          <a:srgbClr val="111827"/>
                        </a:solidFill>
                        <a:latin typeface="Cambria Math" panose="02040503050406030204" pitchFamily="18" charset="0"/>
                      </a:rPr>
                      <m:t>𝑖</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a:rPr lang="en-IN" sz="2400" i="1">
                        <a:solidFill>
                          <a:srgbClr val="111827"/>
                        </a:solidFill>
                        <a:latin typeface="Cambria Math" panose="02040503050406030204" pitchFamily="18" charset="0"/>
                      </a:rPr>
                      <m:t>𝑖</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65</m:t>
                    </m:r>
                    <m:r>
                      <a:rPr lang="en-IN" sz="2400" i="1">
                        <a:solidFill>
                          <a:srgbClr val="111827"/>
                        </a:solidFill>
                        <a:latin typeface="Cambria Math" panose="02040503050406030204" pitchFamily="18" charset="0"/>
                      </a:rPr>
                      <m:t>𝑖</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b>
                      <m:e>
                        <m:r>
                          <a:rPr lang="en-IN" sz="2400" i="1">
                            <a:solidFill>
                              <a:srgbClr val="111827"/>
                            </a:solidFill>
                            <a:latin typeface="Cambria Math" panose="02040503050406030204" pitchFamily="18" charset="0"/>
                          </a:rPr>
                          <m:t>ω</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ω</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65</m:t>
                    </m:r>
                    <m:r>
                      <a:rPr lang="en-IN" sz="2400" i="1">
                        <a:solidFill>
                          <a:srgbClr val="111827"/>
                        </a:solidFill>
                        <a:latin typeface="Cambria Math" panose="02040503050406030204" pitchFamily="18" charset="0"/>
                      </a:rPr>
                      <m:t>𝑖</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65</m:t>
                    </m:r>
                    <m:r>
                      <a:rPr lang="en-IN" sz="2400" i="1">
                        <a:solidFill>
                          <a:srgbClr val="111827"/>
                        </a:solidFill>
                        <a:latin typeface="Cambria Math" panose="02040503050406030204" pitchFamily="18" charset="0"/>
                      </a:rPr>
                      <m:t>𝑖</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$\omega_1\omega_2=(8+i)(1+8i)\sin^2\theta+(8+i)(4+7i)\sin\theta\cos\theta+(7+4i)(1+8i)\sin\theta\cos\theta+(7+4i)(4+7i)\cos^2\theta$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$(8+i)(1+8i)=65i$</a:t>
                </a:r>
                <a:r>
                  <a:rPr sz="2400" b="0">
                    <a:solidFill>
                      <a:srgbClr val="111827"/>
                    </a:solidFill>
                    <a:latin typeface="Arial"/>
                  </a:rPr>
                  <a:t>; </a:t>
                </a:r>
                <a:r>
                  <a:rPr lang="en-IN" sz="2400">
                    <a:solidFill>
                      <a:srgbClr val="111827"/>
                    </a:solidFill>
                    <a:latin typeface="Cambria Math" panose="02040503050406030204" pitchFamily="18" charset="0"/>
                  </a:rPr>
                  <a:t>$(8+i)(4+7i)=25+60i$</a:t>
                </a:r>
                <a:r>
                  <a:rPr sz="2400" b="0">
                    <a:solidFill>
                      <a:srgbClr val="111827"/>
                    </a:solidFill>
                    <a:latin typeface="Arial"/>
                  </a:rPr>
                  <a:t>; </a:t>
                </a:r>
                <a:r>
                  <a:rPr lang="en-IN" sz="2400">
                    <a:solidFill>
                      <a:srgbClr val="111827"/>
                    </a:solidFill>
                    <a:latin typeface="Cambria Math" panose="02040503050406030204" pitchFamily="18" charset="0"/>
                  </a:rPr>
                  <a:t>$(7+4i)(1+8i)=-25+60i$</a:t>
                </a:r>
                <a:r>
                  <a:rPr sz="2400" b="0">
                    <a:solidFill>
                      <a:srgbClr val="111827"/>
                    </a:solidFill>
                    <a:latin typeface="Arial"/>
                  </a:rPr>
                  <a:t>; </a:t>
                </a:r>
                <a:r>
                  <a:rPr lang="en-IN" sz="2400">
                    <a:solidFill>
                      <a:srgbClr val="111827"/>
                    </a:solidFill>
                    <a:latin typeface="Cambria Math" panose="02040503050406030204" pitchFamily="18" charset="0"/>
                  </a:rPr>
                  <a:t>$(7+4i)(4+7i)=65i$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$\omega_1\omega_2=65i\sin^2\theta+120i\sin\theta\cos\theta+65i\cos^2\theta$</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65</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θ</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θ</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oMath>
                </a14:m>
                <a:r>
                  <a:rPr sz="2400" b="0">
                    <a:solidFill>
                      <a:srgbClr val="111827"/>
                    </a:solidFill>
                    <a:latin typeface="Arial"/>
                  </a:rPr>
                  <a:t> ranges over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130</m:t>
                    </m:r>
                  </m:oMath>
                </a14:m>
                <a:r>
                  <a:rPr sz="2400" b="0">
                    <a:solidFill>
                      <a:srgbClr val="111827"/>
                    </a:solidFill>
                    <a:latin typeface="Arial"/>
                  </a:rPr>
                  <a:t>, option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$=65i+60i\sin2\theta$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$\alpha=0$</a:t>
                </a:r>
                <a:r>
                  <a:rPr sz="2400" b="0">
                    <a:solidFill>
                      <a:srgbClr val="111827"/>
                    </a:solidFill>
                    <a:latin typeface="Arial"/>
                  </a:rPr>
                  <a:t> and </a:t>
                </a:r>
                <a:r>
                  <a:rPr lang="en-IN" sz="2400">
                    <a:solidFill>
                      <a:srgbClr val="111827"/>
                    </a:solidFill>
                    <a:latin typeface="Cambria Math" panose="02040503050406030204" pitchFamily="18" charset="0"/>
                  </a:rPr>
                  <a:t>$\beta=65+60\sin2\theta$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$\alpha+\beta$</a:t>
                </a:r>
                <a:r>
                  <a:rPr sz="2400" b="0">
                    <a:solidFill>
                      <a:srgbClr val="111827"/>
                    </a:solidFill>
                    <a:latin typeface="Arial"/>
                  </a:rPr>
                  <a:t> ranges over </a:t>
                </a:r>
                <a:r>
                  <a:rPr lang="en-IN" sz="2400">
                    <a:solidFill>
                      <a:srgbClr val="111827"/>
                    </a:solidFill>
                    <a:latin typeface="Cambria Math" panose="02040503050406030204" pitchFamily="18" charset="0"/>
                  </a:rPr>
                  <a:t>$[5,125]$</a:t>
                </a:r>
                <a:r>
                  <a:rPr sz="2400" b="0">
                    <a:solidFill>
                      <a:srgbClr val="111827"/>
                    </a:solidFill>
                    <a:latin typeface="Arial"/>
                  </a:rPr>
                  <a:t>: </a:t>
                </a:r>
                <a:r>
                  <a:rPr lang="en-IN" sz="2400">
                    <a:solidFill>
                      <a:srgbClr val="111827"/>
                    </a:solidFill>
                    <a:latin typeface="Cambria Math" panose="02040503050406030204" pitchFamily="18" charset="0"/>
                  </a:rPr>
                  <a:t>$p=125$</a:t>
                </a:r>
                <a:r>
                  <a:rPr sz="2400" b="0">
                    <a:solidFill>
                      <a:srgbClr val="111827"/>
                    </a:solidFill>
                    <a:latin typeface="Arial"/>
                  </a:rPr>
                  <a:t>, </a:t>
                </a:r>
                <a:r>
                  <a:rPr lang="en-IN" sz="2400">
                    <a:solidFill>
                      <a:srgbClr val="111827"/>
                    </a:solidFill>
                    <a:latin typeface="Cambria Math" panose="02040503050406030204" pitchFamily="18" charset="0"/>
                  </a:rPr>
                  <a:t>$q=5$</a:t>
                </a:r>
                <a:r>
                  <a:rPr sz="2400" b="0">
                    <a:solidFill>
                      <a:srgbClr val="111827"/>
                    </a:solidFill>
                    <a:latin typeface="Arial"/>
                  </a:rPr>
                  <a:t>, so </a:t>
                </a:r>
                <a:r>
                  <a:rPr lang="en-IN" sz="2400">
                    <a:solidFill>
                      <a:srgbClr val="111827"/>
                    </a:solidFill>
                    <a:latin typeface="Cambria Math" panose="02040503050406030204" pitchFamily="18" charset="0"/>
                  </a:rPr>
                  <a:t>$p+q=130$</a:t>
                </a:r>
                <a:r>
                  <a:rPr sz="2400" b="0">
                    <a:solidFill>
                      <a:srgbClr val="111827"/>
                    </a:solidFill>
                    <a:latin typeface="Arial"/>
                  </a:rPr>
                  <a:t>, option (D).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r>
                      <a:rPr lang="en-IN" sz="2800" i="1">
                        <a:solidFill>
                          <a:srgbClr val="15803D"/>
                        </a:solidFill>
                        <a:latin typeface="Cambria Math" panose="02040503050406030204" pitchFamily="18" charset="0"/>
                      </a:rPr>
                      <m:t>130</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$130$</a:t>
                </a:r>
                <a:endParaRPr sz="2800">
                  <a:solidFill>
                    <a:srgbClr val="15803D"/>
                  </a:solidFill>
                </a:endParaRPr>
              </a:p>
            </p:txBody>
          </p:sp>
        </mc:Fallback>
      </mc:AlternateContent>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Note </a:t>
                </a:r>
                <a14:m>
                  <m:oMath xmlns:m="http://schemas.openxmlformats.org/officeDocument/2006/math">
                    <m:sSub>
                      <m:e>
                        <m:r>
                          <a:rPr lang="en-IN" sz="2400" i="1">
                            <a:solidFill>
                              <a:srgbClr val="78350F"/>
                            </a:solidFill>
                            <a:latin typeface="Cambria Math" panose="02040503050406030204" pitchFamily="18" charset="0"/>
                          </a:rPr>
                          <m:t>ω</m:t>
                        </m:r>
                      </m:e>
                      <m:sub>
                        <m:r>
                          <a:rPr lang="en-IN" sz="2400" i="1">
                            <a:solidFill>
                              <a:srgbClr val="78350F"/>
                            </a:solidFill>
                            <a:latin typeface="Cambria Math" panose="02040503050406030204" pitchFamily="18" charset="0"/>
                          </a:rPr>
                          <m:t>2</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𝑖</m:t>
                    </m:r>
                    <m:r>
                      <a:rPr lang="en-IN" sz="2400" i="1">
                        <a:solidFill>
                          <a:srgbClr val="78350F"/>
                        </a:solidFill>
                        <a:latin typeface="Cambria Math" panose="02040503050406030204" pitchFamily="18" charset="0"/>
                      </a:rPr>
                      <m:t> </m:t>
                    </m:r>
                    <m:bar>
                      <m:barPr>
                        <m:pos m:val="top"/>
                        <m:ctrlPr>
                          <a:rPr lang="en-IN" sz="2400" i="1">
                            <a:solidFill>
                              <a:srgbClr val="78350F"/>
                            </a:solidFill>
                            <a:latin typeface="Cambria Math" panose="02040503050406030204" pitchFamily="18" charset="0"/>
                          </a:rPr>
                        </m:ctrlPr>
                      </m:barPr>
                      <m:e>
                        <m:sSub>
                          <m:e>
                            <m:r>
                              <a:rPr lang="en-IN" sz="2400" i="1">
                                <a:solidFill>
                                  <a:srgbClr val="78350F"/>
                                </a:solidFill>
                                <a:latin typeface="Cambria Math" panose="02040503050406030204" pitchFamily="18" charset="0"/>
                              </a:rPr>
                              <m:t>ω</m:t>
                            </m:r>
                          </m:e>
                          <m:sub>
                            <m:r>
                              <a:rPr lang="en-IN" sz="2400" i="1">
                                <a:solidFill>
                                  <a:srgbClr val="78350F"/>
                                </a:solidFill>
                                <a:latin typeface="Cambria Math" panose="02040503050406030204" pitchFamily="18" charset="0"/>
                              </a:rPr>
                              <m:t>1</m:t>
                            </m:r>
                          </m:sub>
                        </m:sSub>
                      </m:e>
                    </m:bar>
                  </m:oMath>
                </a14:m>
                <a:r>
                  <a:rPr sz="2400" b="0">
                    <a:solidFill>
                      <a:srgbClr val="78350F"/>
                    </a:solidFill>
                    <a:latin typeface="Arial"/>
                  </a:rPr>
                  <a:t> for real </a:t>
                </a:r>
                <a14:m>
                  <m:oMath xmlns:m="http://schemas.openxmlformats.org/officeDocument/2006/math">
                    <m:r>
                      <a:rPr lang="en-IN" sz="2400" i="1">
                        <a:solidFill>
                          <a:srgbClr val="78350F"/>
                        </a:solidFill>
                        <a:latin typeface="Cambria Math" panose="02040503050406030204" pitchFamily="18" charset="0"/>
                      </a:rPr>
                      <m:t>θ</m:t>
                    </m:r>
                  </m:oMath>
                </a14:m>
                <a:r>
                  <a:rPr sz="2400" b="0">
                    <a:solidFill>
                      <a:srgbClr val="78350F"/>
                    </a:solidFill>
                    <a:latin typeface="Arial"/>
                  </a:rPr>
                  <a:t>, so the product is </a:t>
                </a:r>
                <a14:m>
                  <m:oMath xmlns:m="http://schemas.openxmlformats.org/officeDocument/2006/math">
                    <m:r>
                      <a:rPr lang="en-IN" sz="2400" i="1">
                        <a:solidFill>
                          <a:srgbClr val="78350F"/>
                        </a:solidFill>
                        <a:latin typeface="Cambria Math" panose="02040503050406030204" pitchFamily="18" charset="0"/>
                      </a:rPr>
                      <m:t>𝑖</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ω</m:t>
                        </m:r>
                      </m:e>
                      <m:sub>
                        <m:r>
                          <a:rPr lang="en-IN" sz="2400" i="1">
                            <a:solidFill>
                              <a:srgbClr val="78350F"/>
                            </a:solidFill>
                            <a:latin typeface="Cambria Math" panose="02040503050406030204" pitchFamily="18" charset="0"/>
                          </a:rPr>
                          <m:t>1</m:t>
                        </m:r>
                      </m:sub>
                    </m:sSub>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purely imaginary.</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Note </a:t>
                </a:r>
                <a:r>
                  <a:rPr lang="en-IN" sz="2400">
                    <a:solidFill>
                      <a:srgbClr val="78350F"/>
                    </a:solidFill>
                    <a:latin typeface="Cambria Math" panose="02040503050406030204" pitchFamily="18" charset="0"/>
                  </a:rPr>
                  <a:t>$\omega_2=i\,\overline{\omega_1}$</a:t>
                </a:r>
                <a:r>
                  <a:rPr sz="2400" b="0">
                    <a:solidFill>
                      <a:srgbClr val="78350F"/>
                    </a:solidFill>
                    <a:latin typeface="Arial"/>
                  </a:rPr>
                  <a:t> for real </a:t>
                </a:r>
                <a:r>
                  <a:rPr lang="en-IN" sz="2400">
                    <a:solidFill>
                      <a:srgbClr val="78350F"/>
                    </a:solidFill>
                    <a:latin typeface="Cambria Math" panose="02040503050406030204" pitchFamily="18" charset="0"/>
                  </a:rPr>
                  <a:t>$\theta$</a:t>
                </a:r>
                <a:r>
                  <a:rPr sz="2400" b="0">
                    <a:solidFill>
                      <a:srgbClr val="78350F"/>
                    </a:solidFill>
                    <a:latin typeface="Arial"/>
                  </a:rPr>
                  <a:t>, so the product is </a:t>
                </a:r>
                <a:r>
                  <a:rPr lang="en-IN" sz="2400">
                    <a:solidFill>
                      <a:srgbClr val="78350F"/>
                    </a:solidFill>
                    <a:latin typeface="Cambria Math" panose="02040503050406030204" pitchFamily="18" charset="0"/>
                  </a:rPr>
                  <a:t>$i|\omega_1|^2$</a:t>
                </a:r>
                <a:r>
                  <a:rPr sz="2400" b="0">
                    <a:solidFill>
                      <a:srgbClr val="78350F"/>
                    </a:solidFill>
                    <a:latin typeface="Arial"/>
                  </a:rPr>
                  <a:t>, purely imaginary.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sSub>
                      <m:e>
                        <m:r>
                          <a:rPr lang="en-IN" sz="2400" i="1">
                            <a:solidFill>
                              <a:srgbClr val="111827"/>
                            </a:solidFill>
                            <a:latin typeface="Cambria Math" panose="02040503050406030204" pitchFamily="18" charset="0"/>
                          </a:rPr>
                          <m:t>ω</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 </m:t>
                    </m:r>
                    <m:bar>
                      <m:barPr>
                        <m:pos m:val="top"/>
                        <m:ctrlPr>
                          <a:rPr lang="en-IN" sz="2400" i="1">
                            <a:solidFill>
                              <a:srgbClr val="111827"/>
                            </a:solidFill>
                            <a:latin typeface="Cambria Math" panose="02040503050406030204" pitchFamily="18" charset="0"/>
                          </a:rPr>
                        </m:ctrlPr>
                      </m:barPr>
                      <m:e>
                        <m:sSub>
                          <m:e>
                            <m:r>
                              <a:rPr lang="en-IN" sz="2400" i="1">
                                <a:solidFill>
                                  <a:srgbClr val="111827"/>
                                </a:solidFill>
                                <a:latin typeface="Cambria Math" panose="02040503050406030204" pitchFamily="18" charset="0"/>
                              </a:rPr>
                              <m:t>ω</m:t>
                            </m:r>
                          </m:e>
                          <m:sub>
                            <m:r>
                              <a:rPr lang="en-IN" sz="2400" i="1">
                                <a:solidFill>
                                  <a:srgbClr val="111827"/>
                                </a:solidFill>
                                <a:latin typeface="Cambria Math" panose="02040503050406030204" pitchFamily="18" charset="0"/>
                              </a:rPr>
                              <m:t>1</m:t>
                            </m:r>
                          </m:sub>
                        </m:sSub>
                      </m:e>
                    </m:bar>
                  </m:oMath>
                </a14:m>
                <a:r>
                  <a:rPr sz="2400" b="0">
                    <a:solidFill>
                      <a:srgbClr val="111827"/>
                    </a:solidFill>
                    <a:latin typeface="Arial"/>
                  </a:rPr>
                  <a:t> for real </a:t>
                </a:r>
                <a14:m>
                  <m:oMath xmlns:m="http://schemas.openxmlformats.org/officeDocument/2006/math">
                    <m:r>
                      <a:rPr lang="en-IN" sz="2400" i="1">
                        <a:solidFill>
                          <a:srgbClr val="111827"/>
                        </a:solidFill>
                        <a:latin typeface="Cambria Math" panose="02040503050406030204" pitchFamily="18" charset="0"/>
                      </a:rPr>
                      <m:t>θ</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sSub>
                      <m:e>
                        <m:r>
                          <a:rPr lang="en-IN" sz="2400" i="1">
                            <a:solidFill>
                              <a:srgbClr val="111827"/>
                            </a:solidFill>
                            <a:latin typeface="Cambria Math" panose="02040503050406030204" pitchFamily="18" charset="0"/>
                          </a:rPr>
                          <m:t>ω</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ω</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ω</m:t>
                        </m:r>
                      </m:e>
                      <m:sub>
                        <m:r>
                          <a:rPr lang="en-IN" sz="2400" i="1">
                            <a:solidFill>
                              <a:srgbClr val="111827"/>
                            </a:solidFill>
                            <a:latin typeface="Cambria Math" panose="02040503050406030204" pitchFamily="18" charset="0"/>
                          </a:rPr>
                          <m:t>1</m:t>
                        </m:r>
                      </m:sub>
                    </m:sSub>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ω</m:t>
                        </m:r>
                      </m:e>
                      <m:sub>
                        <m:r>
                          <a:rPr lang="en-IN" sz="2400" i="1">
                            <a:solidFill>
                              <a:srgbClr val="111827"/>
                            </a:solidFill>
                            <a:latin typeface="Cambria Math" panose="02040503050406030204" pitchFamily="18" charset="0"/>
                          </a:rPr>
                          <m:t>1</m:t>
                        </m:r>
                      </m:sub>
                    </m:sSub>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ω</m:t>
                        </m:r>
                      </m:e>
                      <m:sub>
                        <m:r>
                          <a:rPr lang="en-IN" sz="2400" i="1">
                            <a:solidFill>
                              <a:srgbClr val="111827"/>
                            </a:solidFill>
                            <a:latin typeface="Cambria Math" panose="02040503050406030204" pitchFamily="18" charset="0"/>
                          </a:rPr>
                          <m:t>1</m:t>
                        </m:r>
                      </m:sub>
                    </m:sSub>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𝑖</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e</m:t>
                    </m:r>
                    <m:r>
                      <a:rPr lang="en-IN" sz="2400" i="1">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bar>
                          <m:barPr>
                            <m:pos m:val="top"/>
                            <m:ctrlPr>
                              <a:rPr lang="en-IN" sz="2400" i="1">
                                <a:solidFill>
                                  <a:srgbClr val="111827"/>
                                </a:solidFill>
                                <a:latin typeface="Cambria Math" panose="02040503050406030204" pitchFamily="18" charset="0"/>
                              </a:rPr>
                            </m:ctrlPr>
                          </m:barP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e>
                        </m:bar>
                      </m:e>
                    </m:d>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$1+8i=i(8-i)$</a:t>
                </a:r>
                <a:r>
                  <a:rPr sz="2400" b="0">
                    <a:solidFill>
                      <a:srgbClr val="111827"/>
                    </a:solidFill>
                    <a:latin typeface="Arial"/>
                  </a:rPr>
                  <a:t> and </a:t>
                </a:r>
                <a:r>
                  <a:rPr lang="en-IN" sz="2400">
                    <a:solidFill>
                      <a:srgbClr val="111827"/>
                    </a:solidFill>
                    <a:latin typeface="Cambria Math" panose="02040503050406030204" pitchFamily="18" charset="0"/>
                  </a:rPr>
                  <a:t>$4+7i=i(7-4i)$</a:t>
                </a:r>
                <a:r>
                  <a:rPr sz="2400" b="0">
                    <a:solidFill>
                      <a:srgbClr val="111827"/>
                    </a:solidFill>
                    <a:latin typeface="Arial"/>
                  </a:rPr>
                  <a:t>, so </a:t>
                </a:r>
                <a:r>
                  <a:rPr lang="en-IN" sz="2400">
                    <a:solidFill>
                      <a:srgbClr val="111827"/>
                    </a:solidFill>
                    <a:latin typeface="Cambria Math" panose="02040503050406030204" pitchFamily="18" charset="0"/>
                  </a:rPr>
                  <a:t>$\omega_2=i\left[(8-i)\sin\theta+(7-4i)\cos\theta\right]=i\,\overline{\omega_1}$</a:t>
                </a:r>
                <a:r>
                  <a:rPr sz="2400" b="0">
                    <a:solidFill>
                      <a:srgbClr val="111827"/>
                    </a:solidFill>
                    <a:latin typeface="Arial"/>
                  </a:rPr>
                  <a:t> for real </a:t>
                </a:r>
                <a:r>
                  <a:rPr lang="en-IN" sz="2400">
                    <a:solidFill>
                      <a:srgbClr val="111827"/>
                    </a:solidFill>
                    <a:latin typeface="Cambria Math" panose="02040503050406030204" pitchFamily="18" charset="0"/>
                  </a:rPr>
                  <a:t>$\theta$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$\omega_1\omega_2=i|\omega_1|^2$</a:t>
                </a:r>
                <a:r>
                  <a:rPr sz="2400" b="0">
                    <a:solidFill>
                      <a:srgbClr val="111827"/>
                    </a:solidFill>
                    <a:latin typeface="Arial"/>
                  </a:rPr>
                  <a:t>, so </a:t>
                </a:r>
                <a:r>
                  <a:rPr lang="en-IN" sz="2400">
                    <a:solidFill>
                      <a:srgbClr val="111827"/>
                    </a:solidFill>
                    <a:latin typeface="Cambria Math" panose="02040503050406030204" pitchFamily="18" charset="0"/>
                  </a:rPr>
                  <a:t>$\alpha=0$</a:t>
                </a:r>
                <a:r>
                  <a:rPr sz="2400" b="0">
                    <a:solidFill>
                      <a:srgbClr val="111827"/>
                    </a:solidFill>
                    <a:latin typeface="Arial"/>
                  </a:rPr>
                  <a:t> and </a:t>
                </a:r>
                <a:r>
                  <a:rPr lang="en-IN" sz="2400">
                    <a:solidFill>
                      <a:srgbClr val="111827"/>
                    </a:solidFill>
                    <a:latin typeface="Cambria Math" panose="02040503050406030204" pitchFamily="18" charset="0"/>
                  </a:rPr>
                  <a:t>$\beta=|\omega_1|^2$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$|\omega_1|^2=|8+i|^2\sin^2\theta+|7+4i|^2\cos^2\theta+2\,\mathrm{Re}\!\left[(8+i)\overline{(7+4i)}\right]\sin\theta\cos\theta$</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a:rPr lang="en-IN" sz="2400" i="1">
                        <a:solidFill>
                          <a:srgbClr val="111827"/>
                        </a:solidFill>
                        <a:latin typeface="Cambria Math" panose="02040503050406030204" pitchFamily="18" charset="0"/>
                      </a:rPr>
                      <m:t>𝑖</m:t>
                    </m:r>
                  </m:oMath>
                </a14:m>
                <a:r>
                  <a:rPr sz="2400" b="0">
                    <a:solidFill>
                      <a:srgbClr val="111827"/>
                    </a:solidFill>
                    <a:latin typeface="Arial"/>
                  </a:rPr>
                  <a:t>, real part </a:t>
                </a:r>
                <a14:m>
                  <m:oMath xmlns:m="http://schemas.openxmlformats.org/officeDocument/2006/math">
                    <m:r>
                      <a:rPr lang="en-IN" sz="2400" i="1">
                        <a:solidFill>
                          <a:srgbClr val="111827"/>
                        </a:solidFill>
                        <a:latin typeface="Cambria Math" panose="02040503050406030204" pitchFamily="18" charset="0"/>
                      </a:rPr>
                      <m:t>60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θ</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$(8+i)(7-4i)=60-25i$</a:t>
                </a:r>
                <a:r>
                  <a:rPr sz="2400" b="0">
                    <a:solidFill>
                      <a:srgbClr val="111827"/>
                    </a:solidFill>
                    <a:latin typeface="Arial"/>
                  </a:rPr>
                  <a:t>, real part </a:t>
                </a:r>
                <a:r>
                  <a:rPr lang="en-IN" sz="2400">
                    <a:solidFill>
                      <a:srgbClr val="111827"/>
                    </a:solidFill>
                    <a:latin typeface="Cambria Math" panose="02040503050406030204" pitchFamily="18" charset="0"/>
                  </a:rPr>
                  <a:t>$60$</a:t>
                </a:r>
                <a:r>
                  <a:rPr sz="2400" b="0">
                    <a:solidFill>
                      <a:srgbClr val="111827"/>
                    </a:solidFill>
                    <a:latin typeface="Arial"/>
                  </a:rPr>
                  <a:t>, so </a:t>
                </a:r>
                <a:r>
                  <a:rPr lang="en-IN" sz="2400">
                    <a:solidFill>
                      <a:srgbClr val="111827"/>
                    </a:solidFill>
                    <a:latin typeface="Cambria Math" panose="02040503050406030204" pitchFamily="18" charset="0"/>
                  </a:rPr>
                  <a:t>$\beta=65+120\sin\theta\cos\theta=65+60\sin2\theta$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r>
                  <a:rPr lang="en-IN" sz="2400">
                    <a:solidFill>
                      <a:srgbClr val="111827"/>
                    </a:solidFill>
                    <a:latin typeface="Cambria Math" panose="02040503050406030204" pitchFamily="18" charset="0"/>
                  </a:rPr>
                  <a:t>$\alpha+\beta\in[5,125]$</a:t>
                </a:r>
                <a:r>
                  <a:rPr sz="2400" b="0">
                    <a:solidFill>
                      <a:srgbClr val="111827"/>
                    </a:solidFill>
                    <a:latin typeface="Arial"/>
                  </a:rPr>
                  <a:t> and </a:t>
                </a:r>
                <a:r>
                  <a:rPr lang="en-IN" sz="2400">
                    <a:solidFill>
                      <a:srgbClr val="111827"/>
                    </a:solidFill>
                    <a:latin typeface="Cambria Math" panose="02040503050406030204" pitchFamily="18" charset="0"/>
                  </a:rPr>
                  <a:t>$p+q=130$</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14:m>
                  <m:oMath xmlns:m="http://schemas.openxmlformats.org/officeDocument/2006/math">
                    <m:r>
                      <a:rPr lang="en-IN" sz="2800" i="1">
                        <a:solidFill>
                          <a:srgbClr val="15803D"/>
                        </a:solidFill>
                        <a:latin typeface="Cambria Math" panose="02040503050406030204" pitchFamily="18" charset="0"/>
                      </a:rPr>
                      <m:t>130</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r>
                  <a:rPr lang="en-IN" sz="2800">
                    <a:solidFill>
                      <a:srgbClr val="15803D"/>
                    </a:solidFill>
                    <a:latin typeface="Cambria Math" panose="02040503050406030204" pitchFamily="18" charset="0"/>
                  </a:rPr>
                  <a:t>$130$</a:t>
                </a:r>
                <a:endParaRPr sz="2800">
                  <a:solidFill>
                    <a:srgbClr val="15803D"/>
                  </a:solidFill>
                </a:endParaRPr>
              </a:p>
            </p:txBody>
          </p:sp>
        </mc:Fallback>
      </mc:AlternateContent>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sSub>
                      <m:e>
                        <m:r>
                          <a:rPr lang="en-IN" sz="2400" i="1">
                            <a:solidFill>
                              <a:srgbClr val="111827"/>
                            </a:solidFill>
                            <a:latin typeface="Cambria Math" panose="02040503050406030204" pitchFamily="18" charset="0"/>
                          </a:rPr>
                          <m:t>𝑤</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 </m:t>
                    </m:r>
                    <m:bar>
                      <m:barPr>
                        <m:pos m:val="top"/>
                        <m:ctrlPr>
                          <a:rPr lang="en-IN" sz="2400" i="1">
                            <a:solidFill>
                              <a:srgbClr val="111827"/>
                            </a:solidFill>
                            <a:latin typeface="Cambria Math" panose="02040503050406030204" pitchFamily="18" charset="0"/>
                          </a:rPr>
                        </m:ctrlPr>
                      </m:barPr>
                      <m:e>
                        <m:sSub>
                          <m:e>
                            <m:r>
                              <a:rPr lang="en-IN" sz="2400" i="1">
                                <a:solidFill>
                                  <a:srgbClr val="111827"/>
                                </a:solidFill>
                                <a:latin typeface="Cambria Math" panose="02040503050406030204" pitchFamily="18" charset="0"/>
                              </a:rPr>
                              <m:t>𝑤</m:t>
                            </m:r>
                          </m:e>
                          <m:sub>
                            <m:r>
                              <a:rPr lang="en-IN" sz="2400" i="1">
                                <a:solidFill>
                                  <a:srgbClr val="111827"/>
                                </a:solidFill>
                                <a:latin typeface="Cambria Math" panose="02040503050406030204" pitchFamily="18" charset="0"/>
                              </a:rPr>
                              <m:t>1</m:t>
                            </m:r>
                          </m:sub>
                        </m:sSub>
                      </m:e>
                    </m:ba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λ</m:t>
                    </m:r>
                    <m:bar>
                      <m:barPr>
                        <m:pos m:val="top"/>
                        <m:ctrlPr>
                          <a:rPr lang="en-IN" sz="2400" i="1">
                            <a:solidFill>
                              <a:srgbClr val="111827"/>
                            </a:solidFill>
                            <a:latin typeface="Cambria Math" panose="02040503050406030204" pitchFamily="18" charset="0"/>
                          </a:rPr>
                        </m:ctrlPr>
                      </m:barPr>
                      <m:e>
                        <m:sSub>
                          <m:e>
                            <m:r>
                              <a:rPr lang="en-IN" sz="2400" i="1">
                                <a:solidFill>
                                  <a:srgbClr val="111827"/>
                                </a:solidFill>
                                <a:latin typeface="Cambria Math" panose="02040503050406030204" pitchFamily="18" charset="0"/>
                              </a:rPr>
                              <m:t>𝑤</m:t>
                            </m:r>
                          </m:e>
                          <m:sub>
                            <m:r>
                              <a:rPr lang="en-IN" sz="2400" i="1">
                                <a:solidFill>
                                  <a:srgbClr val="111827"/>
                                </a:solidFill>
                                <a:latin typeface="Cambria Math" panose="02040503050406030204" pitchFamily="18" charset="0"/>
                              </a:rPr>
                              <m:t>1</m:t>
                            </m:r>
                          </m:sub>
                        </m:sSub>
                      </m:e>
                    </m:bar>
                  </m:oMath>
                </a14:m>
                <a:r>
                  <a:rPr sz="2400" b="0">
                    <a:solidFill>
                      <a:srgbClr val="111827"/>
                    </a:solidFill>
                    <a:latin typeface="Arial"/>
                  </a:rPr>
                  <a:t>) the product </a:t>
                </a:r>
                <a14:m>
                  <m:oMath xmlns:m="http://schemas.openxmlformats.org/officeDocument/2006/math">
                    <m:sSub>
                      <m:e>
                        <m:r>
                          <a:rPr lang="en-IN" sz="2400" i="1">
                            <a:solidFill>
                              <a:srgbClr val="111827"/>
                            </a:solidFill>
                            <a:latin typeface="Cambria Math" panose="02040503050406030204" pitchFamily="18" charset="0"/>
                          </a:rPr>
                          <m:t>𝑤</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𝑤</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𝑤</m:t>
                        </m:r>
                      </m:e>
                      <m:sub>
                        <m:r>
                          <a:rPr lang="en-IN" sz="2400" i="1">
                            <a:solidFill>
                              <a:srgbClr val="111827"/>
                            </a:solidFill>
                            <a:latin typeface="Cambria Math" panose="02040503050406030204" pitchFamily="18" charset="0"/>
                          </a:rPr>
                          <m:t>1</m:t>
                        </m:r>
                      </m:sub>
                    </m:sSub>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spotting conjugate structure avoids long multiplication.</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e</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oMath>
                </a14:m>
                <a:r>
                  <a:rPr sz="2400" b="0">
                    <a:solidFill>
                      <a:srgbClr val="111827"/>
                    </a:solidFill>
                    <a:latin typeface="Arial"/>
                  </a:rPr>
                  <a:t> for complex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and real </a:t>
                </a:r>
                <a14:m>
                  <m:oMath xmlns:m="http://schemas.openxmlformats.org/officeDocument/2006/math">
                    <m:r>
                      <a:rPr lang="en-IN" sz="2400" i="1">
                        <a:solidFill>
                          <a:srgbClr val="111827"/>
                        </a:solidFill>
                        <a:latin typeface="Cambria Math" panose="02040503050406030204" pitchFamily="18" charset="0"/>
                      </a:rPr>
                      <m:t>θ</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θ</m:t>
                    </m:r>
                  </m:oMath>
                </a14:m>
                <a:r>
                  <a:rPr sz="2400" b="0">
                    <a:solidFill>
                      <a:srgbClr val="111827"/>
                    </a:solidFill>
                    <a:latin typeface="Arial"/>
                  </a:rPr>
                  <a:t> has maximum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minimum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65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$w_2=i\,\overline{w_1}$</a:t>
                </a:r>
                <a:r>
                  <a:rPr sz="2400" b="0">
                    <a:solidFill>
                      <a:srgbClr val="111827"/>
                    </a:solidFill>
                    <a:latin typeface="Arial"/>
                  </a:rPr>
                  <a:t> (or </a:t>
                </a:r>
                <a:r>
                  <a:rPr lang="en-IN" sz="2400">
                    <a:solidFill>
                      <a:srgbClr val="111827"/>
                    </a:solidFill>
                    <a:latin typeface="Cambria Math" panose="02040503050406030204" pitchFamily="18" charset="0"/>
                  </a:rPr>
                  <a:t>$\lambda\overline{w_1}$</a:t>
                </a:r>
                <a:r>
                  <a:rPr sz="2400" b="0">
                    <a:solidFill>
                      <a:srgbClr val="111827"/>
                    </a:solidFill>
                    <a:latin typeface="Arial"/>
                  </a:rPr>
                  <a:t>) the product </a:t>
                </a:r>
                <a:r>
                  <a:rPr lang="en-IN" sz="2400">
                    <a:solidFill>
                      <a:srgbClr val="111827"/>
                    </a:solidFill>
                    <a:latin typeface="Cambria Math" panose="02040503050406030204" pitchFamily="18" charset="0"/>
                  </a:rPr>
                  <a:t>$w_1w_2=\lambda|w_1|^2$</a:t>
                </a:r>
                <a:r>
                  <a:rPr sz="2400" b="0">
                    <a:solidFill>
                      <a:srgbClr val="111827"/>
                    </a:solidFill>
                    <a:latin typeface="Arial"/>
                  </a:rPr>
                  <a:t>; spotting conjugate structure avoids long multiplication.</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$|A\sin\theta+B\cos\theta|^2=|A|^2\sin^2\theta+|B|^2\cos^2\theta+2\,\mathrm{Re}(A\bar B)\sin\theta\cos\theta$</a:t>
                </a:r>
                <a:r>
                  <a:rPr sz="2400" b="0">
                    <a:solidFill>
                      <a:srgbClr val="111827"/>
                    </a:solidFill>
                    <a:latin typeface="Arial"/>
                  </a:rPr>
                  <a:t> for complex </a:t>
                </a:r>
                <a:r>
                  <a:rPr lang="en-IN" sz="2400">
                    <a:solidFill>
                      <a:srgbClr val="111827"/>
                    </a:solidFill>
                    <a:latin typeface="Cambria Math" panose="02040503050406030204" pitchFamily="18" charset="0"/>
                  </a:rPr>
                  <a:t>$A,B$</a:t>
                </a:r>
                <a:r>
                  <a:rPr sz="2400" b="0">
                    <a:solidFill>
                      <a:srgbClr val="111827"/>
                    </a:solidFill>
                    <a:latin typeface="Arial"/>
                  </a:rPr>
                  <a:t> and real </a:t>
                </a:r>
                <a:r>
                  <a:rPr lang="en-IN" sz="2400">
                    <a:solidFill>
                      <a:srgbClr val="111827"/>
                    </a:solidFill>
                    <a:latin typeface="Cambria Math" panose="02040503050406030204" pitchFamily="18" charset="0"/>
                  </a:rPr>
                  <a:t>$\theta$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$a+b\sin2\theta$</a:t>
                </a:r>
                <a:r>
                  <a:rPr sz="2400" b="0">
                    <a:solidFill>
                      <a:srgbClr val="111827"/>
                    </a:solidFill>
                    <a:latin typeface="Arial"/>
                  </a:rPr>
                  <a:t> has maximum </a:t>
                </a:r>
                <a:r>
                  <a:rPr lang="en-IN" sz="2400">
                    <a:solidFill>
                      <a:srgbClr val="111827"/>
                    </a:solidFill>
                    <a:latin typeface="Cambria Math" panose="02040503050406030204" pitchFamily="18" charset="0"/>
                  </a:rPr>
                  <a:t>$a+|b|$</a:t>
                </a:r>
                <a:r>
                  <a:rPr sz="2400" b="0">
                    <a:solidFill>
                      <a:srgbClr val="111827"/>
                    </a:solidFill>
                    <a:latin typeface="Arial"/>
                  </a:rPr>
                  <a:t> and minimum </a:t>
                </a:r>
                <a:r>
                  <a:rPr lang="en-IN" sz="2400">
                    <a:solidFill>
                      <a:srgbClr val="111827"/>
                    </a:solidFill>
                    <a:latin typeface="Cambria Math" panose="02040503050406030204" pitchFamily="18" charset="0"/>
                  </a:rPr>
                  <a:t>$a-|b|$</a:t>
                </a:r>
                <a:r>
                  <a:rPr sz="2400" b="0">
                    <a:solidFill>
                      <a:srgbClr val="111827"/>
                    </a:solidFill>
                    <a:latin typeface="Arial"/>
                  </a:rPr>
                  <a:t>; here </a:t>
                </a:r>
                <a:r>
                  <a:rPr lang="en-IN" sz="2400">
                    <a:solidFill>
                      <a:srgbClr val="111827"/>
                    </a:solidFill>
                    <a:latin typeface="Cambria Math" panose="02040503050406030204" pitchFamily="18" charset="0"/>
                  </a:rPr>
                  <a:t>$65\pm60$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446785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Among the statements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(S1): The set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C</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nor/>
                          </m:rPr>
                          <a:rPr lang="en-IN" sz="2400" i="1">
                            <a:solidFill>
                              <a:srgbClr val="111827"/>
                            </a:solidFill>
                            <a:latin typeface="Cambria Math" panose="02040503050406030204" pitchFamily="18" charset="0"/>
                          </a:rPr>
                          <m:t>𝑎𝑛𝑑</m:t>
                        </m:r>
                        <m:r>
                          <a:rPr lang="en-IN" sz="2400" i="1">
                            <a:solidFill>
                              <a:srgbClr val="111827"/>
                            </a:solidFill>
                            <a:latin typeface="Cambria Math" panose="02040503050406030204" pitchFamily="18" charset="0"/>
                          </a:rPr>
                          <m:t> </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num>
                          <m:den>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den>
                        </m:f>
                        <m:r>
                          <a:rPr lang="en-IN" sz="2400" i="1">
                            <a:solidFill>
                              <a:srgbClr val="111827"/>
                            </a:solidFill>
                            <a:latin typeface="Cambria Math" panose="02040503050406030204" pitchFamily="18" charset="0"/>
                          </a:rPr>
                          <m:t> </m:t>
                        </m:r>
                        <m:r>
                          <m:rPr>
                            <m:nor/>
                          </m:rPr>
                          <a:rPr lang="en-IN" sz="2400" i="1">
                            <a:solidFill>
                              <a:srgbClr val="111827"/>
                            </a:solidFill>
                            <a:latin typeface="Cambria Math" panose="02040503050406030204" pitchFamily="18" charset="0"/>
                          </a:rPr>
                          <m:t>𝑖𝑠 𝑝𝑢𝑟𝑒𝑙𝑦 𝑟𝑒𝑎𝑙</m:t>
                        </m:r>
                      </m:e>
                    </m:d>
                  </m:oMath>
                </a14:m>
                <a:r>
                  <a:rPr sz="2400" b="0">
                    <a:solidFill>
                      <a:srgbClr val="111827"/>
                    </a:solidFill>
                    <a:latin typeface="Arial"/>
                  </a:rPr>
                  <a:t> contains exactly two elements, and</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(S2): The set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C</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nor/>
                          </m:rPr>
                          <a:rPr lang="en-IN" sz="2400" i="1">
                            <a:solidFill>
                              <a:srgbClr val="111827"/>
                            </a:solidFill>
                            <a:latin typeface="Cambria Math" panose="02040503050406030204" pitchFamily="18" charset="0"/>
                          </a:rPr>
                          <m:t>𝑎𝑛𝑑</m:t>
                        </m:r>
                        <m:r>
                          <a:rPr lang="en-IN" sz="2400" i="1">
                            <a:solidFill>
                              <a:srgbClr val="111827"/>
                            </a:solidFill>
                            <a:latin typeface="Cambria Math" panose="02040503050406030204" pitchFamily="18" charset="0"/>
                          </a:rPr>
                          <m:t> </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a:rPr lang="en-IN" sz="2400" i="1">
                            <a:solidFill>
                              <a:srgbClr val="111827"/>
                            </a:solidFill>
                            <a:latin typeface="Cambria Math" panose="02040503050406030204" pitchFamily="18" charset="0"/>
                          </a:rPr>
                          <m:t> </m:t>
                        </m:r>
                        <m:r>
                          <m:rPr>
                            <m:nor/>
                          </m:rPr>
                          <a:rPr lang="en-IN" sz="2400" i="1">
                            <a:solidFill>
                              <a:srgbClr val="111827"/>
                            </a:solidFill>
                            <a:latin typeface="Cambria Math" panose="02040503050406030204" pitchFamily="18" charset="0"/>
                          </a:rPr>
                          <m:t>𝑖𝑠 𝑝𝑢𝑟𝑒𝑙𝑦 𝑖𝑚𝑎𝑔𝑖𝑛𝑎𝑟𝑦</m:t>
                        </m:r>
                      </m:e>
                    </m:d>
                  </m:oMath>
                </a14:m>
                <a:r>
                  <a:rPr sz="2400" b="0">
                    <a:solidFill>
                      <a:srgbClr val="111827"/>
                    </a:solidFill>
                    <a:latin typeface="Arial"/>
                  </a:rPr>
                  <a:t> contains infinitely many elements.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both are incorrect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only (S2) is correct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only (S1) is correct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both are correct</a:t>
                </a:r>
                <a:endParaRPr sz="2400">
                  <a:solidFill>
                    <a:srgbClr val="111827"/>
                  </a:solidFill>
                </a:endParaRPr>
              </a:p>
            </p:txBody>
          </p:sp>
        </mc:Choice>
        <mc:Fallback>
          <p:sp>
            <p:nvSpPr>
              <p:cNvPr id="4" name="Rounded Rectangle 3"/>
              <p:cNvSpPr/>
              <p:nvPr/>
            </p:nvSpPr>
            <p:spPr>
              <a:xfrm>
                <a:off x="731520" y="1280160"/>
                <a:ext cx="10725912" cy="446785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Among the statements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(S1): The set </a:t>
                </a:r>
                <a:r>
                  <a:rPr lang="en-IN" sz="2400">
                    <a:solidFill>
                      <a:srgbClr val="111827"/>
                    </a:solidFill>
                    <a:latin typeface="Cambria Math" panose="02040503050406030204" pitchFamily="18" charset="0"/>
                  </a:rPr>
                  <a:t>$\left\{z\in\mathbb{C}-\{-i\}:|z|=1\ \text{and}\ \frac{z-i}{z+i}\ \text{is purely real}\right\}$</a:t>
                </a:r>
                <a:r>
                  <a:rPr sz="2400" b="0">
                    <a:solidFill>
                      <a:srgbClr val="111827"/>
                    </a:solidFill>
                    <a:latin typeface="Arial"/>
                  </a:rPr>
                  <a:t> contains exactly two elements, and</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(S2): The set </a:t>
                </a:r>
                <a:r>
                  <a:rPr lang="en-IN" sz="2400">
                    <a:solidFill>
                      <a:srgbClr val="111827"/>
                    </a:solidFill>
                    <a:latin typeface="Cambria Math" panose="02040503050406030204" pitchFamily="18" charset="0"/>
                  </a:rPr>
                  <a:t>$\left\{z\in\mathbb{C}-\{-1\}:|z|=1\ \text{and}\ \frac{z-1}{z+1}\ \text{is purely imaginary}\right\}$</a:t>
                </a:r>
                <a:r>
                  <a:rPr sz="2400" b="0">
                    <a:solidFill>
                      <a:srgbClr val="111827"/>
                    </a:solidFill>
                    <a:latin typeface="Arial"/>
                  </a:rPr>
                  <a:t> contains infinitely many elements.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both are incorrect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only (S2) is correct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only (S1) is correct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both are correct</a:t>
                </a:r>
                <a:endParaRPr sz="2400">
                  <a:solidFill>
                    <a:srgbClr val="111827"/>
                  </a:solidFill>
                </a:endParaRPr>
              </a:p>
            </p:txBody>
          </p:sp>
        </mc:Fallback>
      </mc:AlternateContent>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Möbius expressions of a point on the unit circle (real and purely imaginary values)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On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𝑧</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replace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𝑧</m:t>
                        </m:r>
                      </m:e>
                    </m:acc>
                  </m:oMath>
                </a14:m>
                <a:r>
                  <a:rPr sz="2400" b="0">
                    <a:solidFill>
                      <a:srgbClr val="78350F"/>
                    </a:solidFill>
                    <a:latin typeface="Arial"/>
                  </a:rPr>
                  <a:t> by </a:t>
                </a:r>
                <a14:m>
                  <m:oMath xmlns:m="http://schemas.openxmlformats.org/officeDocument/2006/math">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𝑧</m:t>
                    </m:r>
                  </m:oMath>
                </a14:m>
                <a:r>
                  <a:rPr sz="2400" b="0">
                    <a:solidFill>
                      <a:srgbClr val="78350F"/>
                    </a:solidFill>
                    <a:latin typeface="Arial"/>
                  </a:rPr>
                  <a:t>; the conjugate-equality test then reduces each statement to a one-line identity.</a:t>
                </a:r>
                <a:endParaRPr sz="2400">
                  <a:solidFill>
                    <a:srgbClr val="78350F"/>
                  </a:solidFill>
                </a:endParaRPr>
              </a:p>
            </p:txBody>
          </p:sp>
        </mc:Choice>
        <mc:Fallback>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On </a:t>
                </a:r>
                <a:r>
                  <a:rPr lang="en-IN" sz="2400">
                    <a:solidFill>
                      <a:srgbClr val="78350F"/>
                    </a:solidFill>
                    <a:latin typeface="Cambria Math" panose="02040503050406030204" pitchFamily="18" charset="0"/>
                  </a:rPr>
                  <a:t>$|z|=1$</a:t>
                </a:r>
                <a:r>
                  <a:rPr sz="2400" b="0">
                    <a:solidFill>
                      <a:srgbClr val="78350F"/>
                    </a:solidFill>
                    <a:latin typeface="Arial"/>
                  </a:rPr>
                  <a:t> replace </a:t>
                </a:r>
                <a:r>
                  <a:rPr lang="en-IN" sz="2400">
                    <a:solidFill>
                      <a:srgbClr val="78350F"/>
                    </a:solidFill>
                    <a:latin typeface="Cambria Math" panose="02040503050406030204" pitchFamily="18" charset="0"/>
                  </a:rPr>
                  <a:t>$\bar z$</a:t>
                </a:r>
                <a:r>
                  <a:rPr sz="2400" b="0">
                    <a:solidFill>
                      <a:srgbClr val="78350F"/>
                    </a:solidFill>
                    <a:latin typeface="Arial"/>
                  </a:rPr>
                  <a:t> by </a:t>
                </a:r>
                <a:r>
                  <a:rPr lang="en-IN" sz="2400">
                    <a:solidFill>
                      <a:srgbClr val="78350F"/>
                    </a:solidFill>
                    <a:latin typeface="Cambria Math" panose="02040503050406030204" pitchFamily="18" charset="0"/>
                  </a:rPr>
                  <a:t>$1/z$</a:t>
                </a:r>
                <a:r>
                  <a:rPr sz="2400" b="0">
                    <a:solidFill>
                      <a:srgbClr val="78350F"/>
                    </a:solidFill>
                    <a:latin typeface="Arial"/>
                  </a:rPr>
                  <a:t>; the conjugate-equality test then reduces each statement to a one-line identity.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S1: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num>
                      <m:den>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den>
                    </m:f>
                  </m:oMath>
                </a14:m>
                <a:r>
                  <a:rPr sz="2400" b="0">
                    <a:solidFill>
                      <a:srgbClr val="111827"/>
                    </a:solidFill>
                    <a:latin typeface="Arial"/>
                  </a:rPr>
                  <a:t> is real iff it equals its conjugate: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num>
                      <m:den>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num>
                      <m:den>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S1: </a:t>
                </a:r>
                <a:r>
                  <a:rPr lang="en-IN" sz="2400">
                    <a:solidFill>
                      <a:srgbClr val="111827"/>
                    </a:solidFill>
                    <a:latin typeface="Cambria Math" panose="02040503050406030204" pitchFamily="18" charset="0"/>
                  </a:rPr>
                  <a:t>$\frac{z-i}{z+i}$</a:t>
                </a:r>
                <a:r>
                  <a:rPr sz="2400" b="0">
                    <a:solidFill>
                      <a:srgbClr val="111827"/>
                    </a:solidFill>
                    <a:latin typeface="Arial"/>
                  </a:rPr>
                  <a:t> is real iff it equals its conjugate: </a:t>
                </a:r>
                <a:r>
                  <a:rPr lang="en-IN" sz="2400">
                    <a:solidFill>
                      <a:srgbClr val="111827"/>
                    </a:solidFill>
                    <a:latin typeface="Cambria Math" panose="02040503050406030204" pitchFamily="18" charset="0"/>
                  </a:rPr>
                  <a:t>$\frac{z-i}{z+i}=\frac{\bar z+i}{\bar z-i}$</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Cross-multiplying,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gives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m:rPr>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e</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this means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oMath>
                </a14:m>
                <a:r>
                  <a:rPr sz="2400" b="0">
                    <a:solidFill>
                      <a:srgbClr val="111827"/>
                    </a:solidFill>
                    <a:latin typeface="Arial"/>
                  </a:rPr>
                  <a:t> is excluded, so only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oMath>
                </a14:m>
                <a:r>
                  <a:rPr sz="2400" b="0">
                    <a:solidFill>
                      <a:srgbClr val="111827"/>
                    </a:solidFill>
                    <a:latin typeface="Arial"/>
                  </a:rPr>
                  <a:t> remains: one element, not two. S1 is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S2: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 is purely imaginary iff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Using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𝑧</m:t>
                        </m:r>
                      </m:den>
                    </m:f>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𝑧</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𝑧</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left side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for every </a:t>
                </a:r>
                <a14:m>
                  <m:oMath xmlns:m="http://schemas.openxmlformats.org/officeDocument/2006/math">
                    <m:r>
                      <a:rPr lang="en-IN" sz="2400" i="1">
                        <a:solidFill>
                          <a:srgbClr val="111827"/>
                        </a:solidFill>
                        <a:latin typeface="Cambria Math" panose="02040503050406030204" pitchFamily="18" charset="0"/>
                      </a:rPr>
                      <m:t>𝑧</m:t>
                    </m:r>
                  </m:oMath>
                </a14:m>
                <a:r>
                  <a:rPr sz="2400" b="0">
                    <a:solidFill>
                      <a:srgbClr val="111827"/>
                    </a:solidFill>
                    <a:latin typeface="Arial"/>
                  </a:rPr>
                  <a:t> on the unit circle,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Cross-multiplying, </a:t>
                </a:r>
                <a:r>
                  <a:rPr lang="en-IN" sz="2400">
                    <a:solidFill>
                      <a:srgbClr val="111827"/>
                    </a:solidFill>
                    <a:latin typeface="Cambria Math" panose="02040503050406030204" pitchFamily="18" charset="0"/>
                  </a:rPr>
                  <a:t>$(z-i)(\bar z-i)=(z+i)(\bar z+i)$</a:t>
                </a:r>
                <a:r>
                  <a:rPr sz="2400" b="0">
                    <a:solidFill>
                      <a:srgbClr val="111827"/>
                    </a:solidFill>
                    <a:latin typeface="Arial"/>
                  </a:rPr>
                  <a:t>, i.e. </a:t>
                </a:r>
                <a:r>
                  <a:rPr lang="en-IN" sz="2400">
                    <a:solidFill>
                      <a:srgbClr val="111827"/>
                    </a:solidFill>
                    <a:latin typeface="Cambria Math" panose="02040503050406030204" pitchFamily="18" charset="0"/>
                  </a:rPr>
                  <a:t>$|z|^2-i(z+\bar z)-1=|z|^2+i(z+\bar z)-1$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gives </a:t>
                </a:r>
                <a:r>
                  <a:rPr lang="en-IN" sz="2400">
                    <a:solidFill>
                      <a:srgbClr val="111827"/>
                    </a:solidFill>
                    <a:latin typeface="Cambria Math" panose="02040503050406030204" pitchFamily="18" charset="0"/>
                  </a:rPr>
                  <a:t>$z+\bar z=0$</a:t>
                </a:r>
                <a:r>
                  <a:rPr sz="2400" b="0">
                    <a:solidFill>
                      <a:srgbClr val="111827"/>
                    </a:solidFill>
                    <a:latin typeface="Arial"/>
                  </a:rPr>
                  <a:t>, i.e. </a:t>
                </a:r>
                <a:r>
                  <a:rPr lang="en-IN" sz="2400">
                    <a:solidFill>
                      <a:srgbClr val="111827"/>
                    </a:solidFill>
                    <a:latin typeface="Cambria Math" panose="02040503050406030204" pitchFamily="18" charset="0"/>
                  </a:rPr>
                  <a:t>$\mathrm{Re}\,z=0$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$|z|=1$</a:t>
                </a:r>
                <a:r>
                  <a:rPr sz="2400" b="0">
                    <a:solidFill>
                      <a:srgbClr val="111827"/>
                    </a:solidFill>
                    <a:latin typeface="Arial"/>
                  </a:rPr>
                  <a:t> this means </a:t>
                </a:r>
                <a:r>
                  <a:rPr lang="en-IN" sz="2400">
                    <a:solidFill>
                      <a:srgbClr val="111827"/>
                    </a:solidFill>
                    <a:latin typeface="Cambria Math" panose="02040503050406030204" pitchFamily="18" charset="0"/>
                  </a:rPr>
                  <a:t>$z=\pm i$</a:t>
                </a:r>
                <a:r>
                  <a:rPr sz="2400" b="0">
                    <a:solidFill>
                      <a:srgbClr val="111827"/>
                    </a:solidFill>
                    <a:latin typeface="Arial"/>
                  </a:rPr>
                  <a:t>; </a:t>
                </a:r>
                <a:r>
                  <a:rPr lang="en-IN" sz="2400">
                    <a:solidFill>
                      <a:srgbClr val="111827"/>
                    </a:solidFill>
                    <a:latin typeface="Cambria Math" panose="02040503050406030204" pitchFamily="18" charset="0"/>
                  </a:rPr>
                  <a:t>$z=-i$</a:t>
                </a:r>
                <a:r>
                  <a:rPr sz="2400" b="0">
                    <a:solidFill>
                      <a:srgbClr val="111827"/>
                    </a:solidFill>
                    <a:latin typeface="Arial"/>
                  </a:rPr>
                  <a:t> is excluded, so only </a:t>
                </a:r>
                <a:r>
                  <a:rPr lang="en-IN" sz="2400">
                    <a:solidFill>
                      <a:srgbClr val="111827"/>
                    </a:solidFill>
                    <a:latin typeface="Cambria Math" panose="02040503050406030204" pitchFamily="18" charset="0"/>
                  </a:rPr>
                  <a:t>$z=i$</a:t>
                </a:r>
                <a:r>
                  <a:rPr sz="2400" b="0">
                    <a:solidFill>
                      <a:srgbClr val="111827"/>
                    </a:solidFill>
                    <a:latin typeface="Arial"/>
                  </a:rPr>
                  <a:t> remains: one element, not two. S1 is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S2: </a:t>
                </a:r>
                <a:r>
                  <a:rPr lang="en-IN" sz="2400">
                    <a:solidFill>
                      <a:srgbClr val="111827"/>
                    </a:solidFill>
                    <a:latin typeface="Cambria Math" panose="02040503050406030204" pitchFamily="18" charset="0"/>
                  </a:rPr>
                  <a:t>$\frac{z-1}{z+1}$</a:t>
                </a:r>
                <a:r>
                  <a:rPr sz="2400" b="0">
                    <a:solidFill>
                      <a:srgbClr val="111827"/>
                    </a:solidFill>
                    <a:latin typeface="Arial"/>
                  </a:rPr>
                  <a:t> is purely imaginary iff </a:t>
                </a:r>
                <a:r>
                  <a:rPr lang="en-IN" sz="2400">
                    <a:solidFill>
                      <a:srgbClr val="111827"/>
                    </a:solidFill>
                    <a:latin typeface="Cambria Math" panose="02040503050406030204" pitchFamily="18" charset="0"/>
                  </a:rPr>
                  <a:t>$\frac{z-1}{z+1}+\frac{\bar z-1}{\bar z+1}=0$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Using </a:t>
                </a:r>
                <a:r>
                  <a:rPr lang="en-IN" sz="2400">
                    <a:solidFill>
                      <a:srgbClr val="111827"/>
                    </a:solidFill>
                    <a:latin typeface="Cambria Math" panose="02040503050406030204" pitchFamily="18" charset="0"/>
                  </a:rPr>
                  <a:t>$\bar z=\frac1z$</a:t>
                </a:r>
                <a:r>
                  <a:rPr sz="2400" b="0">
                    <a:solidFill>
                      <a:srgbClr val="111827"/>
                    </a:solidFill>
                    <a:latin typeface="Arial"/>
                  </a:rPr>
                  <a:t>: </a:t>
                </a:r>
                <a:r>
                  <a:rPr lang="en-IN" sz="2400">
                    <a:solidFill>
                      <a:srgbClr val="111827"/>
                    </a:solidFill>
                    <a:latin typeface="Cambria Math" panose="02040503050406030204" pitchFamily="18" charset="0"/>
                  </a:rPr>
                  <a:t>$\frac{\bar z-1}{\bar z+1}=\frac{\frac1z-1}{\frac1z+1}=\frac{1-z}{1+z}$</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left side is </a:t>
                </a:r>
                <a:r>
                  <a:rPr lang="en-IN" sz="2400">
                    <a:solidFill>
                      <a:srgbClr val="111827"/>
                    </a:solidFill>
                    <a:latin typeface="Cambria Math" panose="02040503050406030204" pitchFamily="18" charset="0"/>
                  </a:rPr>
                  <a:t>$\frac{z-1}{z+1}+\frac{1-z}{1+z}=0$</a:t>
                </a:r>
                <a:r>
                  <a:rPr sz="2400" b="0">
                    <a:solidFill>
                      <a:srgbClr val="111827"/>
                    </a:solidFill>
                    <a:latin typeface="Arial"/>
                  </a:rPr>
                  <a:t> for every </a:t>
                </a:r>
                <a:r>
                  <a:rPr lang="en-IN" sz="2400">
                    <a:solidFill>
                      <a:srgbClr val="111827"/>
                    </a:solidFill>
                    <a:latin typeface="Cambria Math" panose="02040503050406030204" pitchFamily="18" charset="0"/>
                  </a:rPr>
                  <a:t>$z$</a:t>
                </a:r>
                <a:r>
                  <a:rPr sz="2400" b="0">
                    <a:solidFill>
                      <a:srgbClr val="111827"/>
                    </a:solidFill>
                    <a:latin typeface="Arial"/>
                  </a:rPr>
                  <a:t> on the unit circle, </a:t>
                </a:r>
                <a:r>
                  <a:rPr lang="en-IN" sz="2400">
                    <a:solidFill>
                      <a:srgbClr val="111827"/>
                    </a:solidFill>
                    <a:latin typeface="Cambria Math" panose="02040503050406030204" pitchFamily="18" charset="0"/>
                  </a:rPr>
                  <a:t>$z\neq-1$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Hence S2 holds for all points of the circle (apart from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where the value is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infinitely many. S2 is correct,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Hence S2 holds for all points of the circle (apart from </a:t>
                </a:r>
                <a:r>
                  <a:rPr lang="en-IN" sz="2400">
                    <a:solidFill>
                      <a:srgbClr val="111827"/>
                    </a:solidFill>
                    <a:latin typeface="Cambria Math" panose="02040503050406030204" pitchFamily="18" charset="0"/>
                  </a:rPr>
                  <a:t>$-1$</a:t>
                </a:r>
                <a:r>
                  <a:rPr sz="2400" b="0">
                    <a:solidFill>
                      <a:srgbClr val="111827"/>
                    </a:solidFill>
                    <a:latin typeface="Arial"/>
                  </a:rPr>
                  <a:t>, and </a:t>
                </a:r>
                <a:r>
                  <a:rPr lang="en-IN" sz="2400">
                    <a:solidFill>
                      <a:srgbClr val="111827"/>
                    </a:solidFill>
                    <a:latin typeface="Cambria Math" panose="02040503050406030204" pitchFamily="18" charset="0"/>
                  </a:rPr>
                  <a:t>$z=1$</a:t>
                </a:r>
                <a:r>
                  <a:rPr sz="2400" b="0">
                    <a:solidFill>
                      <a:srgbClr val="111827"/>
                    </a:solidFill>
                    <a:latin typeface="Arial"/>
                  </a:rPr>
                  <a:t> where the value is </a:t>
                </a:r>
                <a:r>
                  <a:rPr lang="en-IN" sz="2400">
                    <a:solidFill>
                      <a:srgbClr val="111827"/>
                    </a:solidFill>
                    <a:latin typeface="Cambria Math" panose="02040503050406030204" pitchFamily="18" charset="0"/>
                  </a:rPr>
                  <a:t>$0$</a:t>
                </a:r>
                <a:r>
                  <a:rPr sz="2400" b="0">
                    <a:solidFill>
                      <a:srgbClr val="111827"/>
                    </a:solidFill>
                    <a:latin typeface="Arial"/>
                  </a:rPr>
                  <a:t>): infinitely many. S2 is correct, option (B).</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only (S2) is correct</a:t>
            </a:r>
            <a:endParaRPr sz="2800">
              <a:solidFill>
                <a:srgbClr val="15803D"/>
              </a:solidFill>
            </a:endParaRP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Write </a:t>
                </a:r>
                <a14:m>
                  <m:oMath xmlns:m="http://schemas.openxmlformats.org/officeDocument/2006/math">
                    <m:r>
                      <a:rPr lang="en-IN" sz="2400" i="1">
                        <a:solidFill>
                          <a:srgbClr val="78350F"/>
                        </a:solidFill>
                        <a:latin typeface="Cambria Math" panose="02040503050406030204" pitchFamily="18" charset="0"/>
                      </a:rPr>
                      <m:t>𝑧</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𝑒</m:t>
                        </m:r>
                      </m:e>
                      <m:sup>
                        <m:r>
                          <a:rPr lang="en-IN" sz="2400" i="1">
                            <a:solidFill>
                              <a:srgbClr val="78350F"/>
                            </a:solidFill>
                            <a:latin typeface="Cambria Math" panose="02040503050406030204" pitchFamily="18" charset="0"/>
                          </a:rPr>
                          <m:t>𝑖</m:t>
                        </m:r>
                        <m:r>
                          <a:rPr lang="en-IN" sz="2400" i="1">
                            <a:solidFill>
                              <a:srgbClr val="78350F"/>
                            </a:solidFill>
                            <a:latin typeface="Cambria Math" panose="02040503050406030204" pitchFamily="18" charset="0"/>
                          </a:rPr>
                          <m:t>θ</m:t>
                        </m:r>
                      </m:sup>
                    </m:sSup>
                  </m:oMath>
                </a14:m>
                <a:r>
                  <a:rPr sz="2400" b="0">
                    <a:solidFill>
                      <a:srgbClr val="78350F"/>
                    </a:solidFill>
                    <a:latin typeface="Arial"/>
                  </a:rPr>
                  <a:t>; half-angle formulas give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𝑧</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𝑧</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den>
                    </m:f>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𝑖</m:t>
                    </m:r>
                    <m:r>
                      <m:rPr>
                        <m:sty m:val="p"/>
                      </m:rPr>
                      <a:rPr lang="en-IN" sz="2400">
                        <a:solidFill>
                          <a:srgbClr val="78350F"/>
                        </a:solidFill>
                        <a:latin typeface="Cambria Math" panose="02040503050406030204" pitchFamily="18" charset="0"/>
                      </a:rPr>
                      <m:t>tan</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θ</m:t>
                        </m:r>
                      </m:num>
                      <m:den>
                        <m:r>
                          <a:rPr lang="en-IN" sz="2400" i="1">
                            <a:solidFill>
                              <a:srgbClr val="78350F"/>
                            </a:solidFill>
                            <a:latin typeface="Cambria Math" panose="02040503050406030204" pitchFamily="18" charset="0"/>
                          </a:rPr>
                          <m:t>2</m:t>
                        </m:r>
                      </m:den>
                    </m:f>
                  </m:oMath>
                </a14:m>
                <a:r>
                  <a:rPr sz="2400" b="0">
                    <a:solidFill>
                      <a:srgbClr val="78350F"/>
                    </a:solidFill>
                    <a:latin typeface="Arial"/>
                  </a:rPr>
                  <a:t> and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𝑧</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𝑖</m:t>
                        </m:r>
                      </m:num>
                      <m:den>
                        <m:r>
                          <a:rPr lang="en-IN" sz="2400" i="1">
                            <a:solidFill>
                              <a:srgbClr val="78350F"/>
                            </a:solidFill>
                            <a:latin typeface="Cambria Math" panose="02040503050406030204" pitchFamily="18" charset="0"/>
                          </a:rPr>
                          <m:t>𝑧</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𝑖</m:t>
                        </m:r>
                      </m:den>
                    </m:f>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𝑖</m:t>
                    </m:r>
                    <m:r>
                      <m:rPr>
                        <m:sty m:val="p"/>
                      </m:rPr>
                      <a:rPr lang="en-IN" sz="2400">
                        <a:solidFill>
                          <a:srgbClr val="78350F"/>
                        </a:solidFill>
                        <a:latin typeface="Cambria Math" panose="02040503050406030204" pitchFamily="18" charset="0"/>
                      </a:rPr>
                      <m:t>tan</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θ</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π</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num>
                      <m:den>
                        <m:r>
                          <a:rPr lang="en-IN" sz="2400" i="1">
                            <a:solidFill>
                              <a:srgbClr val="78350F"/>
                            </a:solidFill>
                            <a:latin typeface="Cambria Math" panose="02040503050406030204" pitchFamily="18" charset="0"/>
                          </a:rPr>
                          <m:t>2</m:t>
                        </m:r>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Write </a:t>
                </a:r>
                <a:r>
                  <a:rPr lang="en-IN" sz="2400">
                    <a:solidFill>
                      <a:srgbClr val="78350F"/>
                    </a:solidFill>
                    <a:latin typeface="Cambria Math" panose="02040503050406030204" pitchFamily="18" charset="0"/>
                  </a:rPr>
                  <a:t>$z=e^{i\theta}$</a:t>
                </a:r>
                <a:r>
                  <a:rPr sz="2400" b="0">
                    <a:solidFill>
                      <a:srgbClr val="78350F"/>
                    </a:solidFill>
                    <a:latin typeface="Arial"/>
                  </a:rPr>
                  <a:t>; half-angle formulas give </a:t>
                </a:r>
                <a:r>
                  <a:rPr lang="en-IN" sz="2400">
                    <a:solidFill>
                      <a:srgbClr val="78350F"/>
                    </a:solidFill>
                    <a:latin typeface="Cambria Math" panose="02040503050406030204" pitchFamily="18" charset="0"/>
                  </a:rPr>
                  <a:t>$\frac{z-1}{z+1}=i\tan\frac\theta2$</a:t>
                </a:r>
                <a:r>
                  <a:rPr sz="2400" b="0">
                    <a:solidFill>
                      <a:srgbClr val="78350F"/>
                    </a:solidFill>
                    <a:latin typeface="Arial"/>
                  </a:rPr>
                  <a:t> and </a:t>
                </a:r>
                <a:r>
                  <a:rPr lang="en-IN" sz="2400">
                    <a:solidFill>
                      <a:srgbClr val="78350F"/>
                    </a:solidFill>
                    <a:latin typeface="Cambria Math" panose="02040503050406030204" pitchFamily="18" charset="0"/>
                  </a:rPr>
                  <a:t>$\frac{z-i}{z+i}=i\tan\frac{\theta-\pi/2}{2}$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θ</m:t>
                        </m:r>
                      </m:sup>
                    </m:sSup>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θ</m:t>
                            </m:r>
                          </m:num>
                          <m:den>
                            <m:r>
                              <a:rPr lang="en-IN" sz="2400" i="1">
                                <a:solidFill>
                                  <a:srgbClr val="111827"/>
                                </a:solidFill>
                                <a:latin typeface="Cambria Math" panose="02040503050406030204" pitchFamily="18" charset="0"/>
                              </a:rPr>
                              <m:t>2</m:t>
                            </m:r>
                          </m:den>
                        </m:f>
                      </m:num>
                      <m:den>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θ</m:t>
                            </m:r>
                          </m:num>
                          <m:den>
                            <m:r>
                              <a:rPr lang="en-IN" sz="2400" i="1">
                                <a:solidFill>
                                  <a:srgbClr val="111827"/>
                                </a:solidFill>
                                <a:latin typeface="Cambria Math" panose="02040503050406030204" pitchFamily="18" charset="0"/>
                              </a:rPr>
                              <m:t>2</m:t>
                            </m:r>
                          </m:den>
                        </m:f>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θ</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is purely imaginary for every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oMath>
                </a14:m>
                <a:r>
                  <a:rPr sz="2400" b="0">
                    <a:solidFill>
                      <a:srgbClr val="111827"/>
                    </a:solidFill>
                    <a:latin typeface="Arial"/>
                  </a:rPr>
                  <a:t>, so S2 has infinitely many elements: correct.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Similarly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num>
                      <m:den>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den>
                    </m:f>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θ</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θ</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again purely imaginary.</a:t>
                </a:r>
                <a:endParaRPr sz="2400">
                  <a:solidFill>
                    <a:srgbClr val="111827"/>
                  </a:solidFill>
                </a:endParaRPr>
              </a:p>
            </p:txBody>
          </p:sp>
        </mc:Choice>
        <mc:Fallback>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$z=e^{i\theta}$</a:t>
                </a:r>
                <a:r>
                  <a:rPr sz="2400" b="0">
                    <a:solidFill>
                      <a:srgbClr val="111827"/>
                    </a:solidFill>
                    <a:latin typeface="Arial"/>
                  </a:rPr>
                  <a:t>: </a:t>
                </a:r>
                <a:r>
                  <a:rPr lang="en-IN" sz="2400">
                    <a:solidFill>
                      <a:srgbClr val="111827"/>
                    </a:solidFill>
                    <a:latin typeface="Cambria Math" panose="02040503050406030204" pitchFamily="18" charset="0"/>
                  </a:rPr>
                  <a:t>$\frac{z-1}{z+1}=\frac{e^{i\theta/2}\cdot2i\sin\frac\theta2}{e^{i\theta/2}\cdot2\cos\frac\theta2}=i\tan\frac\theta2$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is purely imaginary for every </a:t>
                </a:r>
                <a:r>
                  <a:rPr lang="en-IN" sz="2400">
                    <a:solidFill>
                      <a:srgbClr val="111827"/>
                    </a:solidFill>
                    <a:latin typeface="Cambria Math" panose="02040503050406030204" pitchFamily="18" charset="0"/>
                  </a:rPr>
                  <a:t>$\theta\ne\pi$</a:t>
                </a:r>
                <a:r>
                  <a:rPr sz="2400" b="0">
                    <a:solidFill>
                      <a:srgbClr val="111827"/>
                    </a:solidFill>
                    <a:latin typeface="Arial"/>
                  </a:rPr>
                  <a:t>, so S2 has infinitely many elements: correct.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Similarly </a:t>
                </a:r>
                <a:r>
                  <a:rPr lang="en-IN" sz="2400">
                    <a:solidFill>
                      <a:srgbClr val="111827"/>
                    </a:solidFill>
                    <a:latin typeface="Cambria Math" panose="02040503050406030204" pitchFamily="18" charset="0"/>
                  </a:rPr>
                  <a:t>$\frac{z-i}{z+i}$</a:t>
                </a:r>
                <a:r>
                  <a:rPr sz="2400" b="0">
                    <a:solidFill>
                      <a:srgbClr val="111827"/>
                    </a:solidFill>
                    <a:latin typeface="Arial"/>
                  </a:rPr>
                  <a:t> is </a:t>
                </a:r>
                <a:r>
                  <a:rPr lang="en-IN" sz="2400">
                    <a:solidFill>
                      <a:srgbClr val="111827"/>
                    </a:solidFill>
                    <a:latin typeface="Cambria Math" panose="02040503050406030204" pitchFamily="18" charset="0"/>
                  </a:rPr>
                  <a:t>$\frac{e^{i\theta}-e^{i\pi/2}}{e^{i\theta}+e^{i\pi/2}}=i\tan\frac{\theta-\pi/2}{2}$</a:t>
                </a:r>
                <a:r>
                  <a:rPr sz="2400" b="0">
                    <a:solidFill>
                      <a:srgbClr val="111827"/>
                    </a:solidFill>
                    <a:latin typeface="Arial"/>
                  </a:rPr>
                  <a:t>, again purely imaginary.</a:t>
                </a:r>
                <a:endParaRPr sz="2400">
                  <a:solidFill>
                    <a:srgbClr val="111827"/>
                  </a:solidFill>
                </a:endParaRPr>
              </a:p>
            </p:txBody>
          </p:sp>
        </mc:Fallback>
      </mc:AlternateContent>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It is real only when </a:t>
                </a:r>
                <a14:m>
                  <m:oMath xmlns:m="http://schemas.openxmlformats.org/officeDocument/2006/math">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oMath>
                </a14:m>
                <a:r>
                  <a:rPr sz="2400" b="0">
                    <a:solidFill>
                      <a:srgbClr val="111827"/>
                    </a:solidFill>
                    <a:latin typeface="Arial"/>
                  </a:rPr>
                  <a:t> (value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 single point. S1 has one element, so it is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Only S2 is correct: (B).</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It is real only when </a:t>
                </a:r>
                <a:r>
                  <a:rPr lang="en-IN" sz="2400">
                    <a:solidFill>
                      <a:srgbClr val="111827"/>
                    </a:solidFill>
                    <a:latin typeface="Cambria Math" panose="02040503050406030204" pitchFamily="18" charset="0"/>
                  </a:rPr>
                  <a:t>$\tan\frac{\theta-\pi/2}{2}=0$</a:t>
                </a:r>
                <a:r>
                  <a:rPr sz="2400" b="0">
                    <a:solidFill>
                      <a:srgbClr val="111827"/>
                    </a:solidFill>
                    <a:latin typeface="Arial"/>
                  </a:rPr>
                  <a:t>, i.e. </a:t>
                </a:r>
                <a:r>
                  <a:rPr lang="en-IN" sz="2400">
                    <a:solidFill>
                      <a:srgbClr val="111827"/>
                    </a:solidFill>
                    <a:latin typeface="Cambria Math" panose="02040503050406030204" pitchFamily="18" charset="0"/>
                  </a:rPr>
                  <a:t>$\theta=\frac\pi2$</a:t>
                </a:r>
                <a:r>
                  <a:rPr sz="2400" b="0">
                    <a:solidFill>
                      <a:srgbClr val="111827"/>
                    </a:solidFill>
                    <a:latin typeface="Arial"/>
                  </a:rPr>
                  <a:t>, </a:t>
                </a:r>
                <a:r>
                  <a:rPr lang="en-IN" sz="2400">
                    <a:solidFill>
                      <a:srgbClr val="111827"/>
                    </a:solidFill>
                    <a:latin typeface="Cambria Math" panose="02040503050406030204" pitchFamily="18" charset="0"/>
                  </a:rPr>
                  <a:t>$z=i$</a:t>
                </a:r>
                <a:r>
                  <a:rPr sz="2400" b="0">
                    <a:solidFill>
                      <a:srgbClr val="111827"/>
                    </a:solidFill>
                    <a:latin typeface="Arial"/>
                  </a:rPr>
                  <a:t> (value </a:t>
                </a:r>
                <a:r>
                  <a:rPr lang="en-IN" sz="2400">
                    <a:solidFill>
                      <a:srgbClr val="111827"/>
                    </a:solidFill>
                    <a:latin typeface="Cambria Math" panose="02040503050406030204" pitchFamily="18" charset="0"/>
                  </a:rPr>
                  <a:t>$0$</a:t>
                </a:r>
                <a:r>
                  <a:rPr sz="2400" b="0">
                    <a:solidFill>
                      <a:srgbClr val="111827"/>
                    </a:solidFill>
                    <a:latin typeface="Arial"/>
                  </a:rPr>
                  <a:t>): a single point. S1 has one element, so it is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Only S2 is correct: (B).</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only (S2) is correct</a:t>
            </a:r>
            <a:endParaRPr sz="2800">
              <a:solidFill>
                <a:srgbClr val="15803D"/>
              </a:solidFill>
            </a:endParaRP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unit complex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den>
                    </m:f>
                  </m:oMath>
                </a14:m>
                <a:r>
                  <a:rPr sz="2400" b="0">
                    <a:solidFill>
                      <a:srgbClr val="111827"/>
                    </a:solidFill>
                    <a:latin typeface="Arial"/>
                  </a:rPr>
                  <a:t> is purely imaginary (or 0): </a:t>
                </a:r>
                <a14:m>
                  <m:oMath xmlns:m="http://schemas.openxmlformats.org/officeDocument/2006/math">
                    <m:r>
                      <a:rPr lang="en-IN" sz="2400" i="1">
                        <a:solidFill>
                          <a:srgbClr val="111827"/>
                        </a:solidFill>
                        <a:latin typeface="Cambria Math" panose="02040503050406030204" pitchFamily="18" charset="0"/>
                      </a:rPr>
                      <m:t>𝑧</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are on the circle, 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arg</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arg</m:t>
                        </m:r>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Thales: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𝑧</m:t>
                    </m:r>
                  </m:oMath>
                </a14:m>
                <a:r>
                  <a:rPr sz="2400" b="0">
                    <a:solidFill>
                      <a:srgbClr val="111827"/>
                    </a:solidFill>
                    <a:latin typeface="Arial"/>
                  </a:rPr>
                  <a:t> subtended by diameter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a:r>
                <a14:m>
                  <m:oMath xmlns:m="http://schemas.openxmlformats.org/officeDocument/2006/math">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den>
                    </m:f>
                  </m:oMath>
                </a14:m>
                <a:r>
                  <a:rPr sz="2400" b="0">
                    <a:solidFill>
                      <a:srgbClr val="111827"/>
                    </a:solidFill>
                    <a:latin typeface="Arial"/>
                  </a:rPr>
                  <a:t> is purely imaginary for all </a:t>
                </a:r>
                <a14:m>
                  <m:oMath xmlns:m="http://schemas.openxmlformats.org/officeDocument/2006/math">
                    <m:r>
                      <a:rPr lang="en-IN" sz="2400" i="1">
                        <a:solidFill>
                          <a:srgbClr val="111827"/>
                        </a:solidFill>
                        <a:latin typeface="Cambria Math" panose="02040503050406030204" pitchFamily="18" charset="0"/>
                      </a:rPr>
                      <m:t>𝑧</m:t>
                    </m:r>
                  </m:oMath>
                </a14:m>
                <a:r>
                  <a:rPr sz="2400" b="0">
                    <a:solidFill>
                      <a:srgbClr val="111827"/>
                    </a:solidFill>
                    <a:latin typeface="Arial"/>
                  </a:rPr>
                  <a:t> on the circle.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Real test: </a:t>
                </a:r>
                <a14:m>
                  <m:oMath xmlns:m="http://schemas.openxmlformats.org/officeDocument/2006/math">
                    <m:r>
                      <a:rPr lang="en-IN" sz="2400" i="1">
                        <a:solidFill>
                          <a:srgbClr val="111827"/>
                        </a:solidFill>
                        <a:latin typeface="Cambria Math" panose="02040503050406030204" pitchFamily="18" charset="0"/>
                      </a:rPr>
                      <m:t>𝑤</m:t>
                    </m:r>
                  </m:oMath>
                </a14:m>
                <a:r>
                  <a:rPr sz="2400" b="0">
                    <a:solidFill>
                      <a:srgbClr val="111827"/>
                    </a:solidFill>
                    <a:latin typeface="Arial"/>
                  </a:rPr>
                  <a:t> real iff </a:t>
                </a:r>
                <a14:m>
                  <m:oMath xmlns:m="http://schemas.openxmlformats.org/officeDocument/2006/math">
                    <m:r>
                      <a:rPr lang="en-IN" sz="2400" i="1">
                        <a:solidFill>
                          <a:srgbClr val="111827"/>
                        </a:solidFill>
                        <a:latin typeface="Cambria Math" panose="02040503050406030204" pitchFamily="18" charset="0"/>
                      </a:rPr>
                      <m:t>𝑤</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oMath>
                </a14:m>
                <a:r>
                  <a:rPr sz="2400" b="0">
                    <a:solidFill>
                      <a:srgbClr val="111827"/>
                    </a:solidFill>
                    <a:latin typeface="Arial"/>
                  </a:rPr>
                  <a:t>; purely imaginary iff </a:t>
                </a:r>
                <a14:m>
                  <m:oMath xmlns:m="http://schemas.openxmlformats.org/officeDocument/2006/math">
                    <m:r>
                      <a:rPr lang="en-IN" sz="2400" i="1">
                        <a:solidFill>
                          <a:srgbClr val="111827"/>
                        </a:solidFill>
                        <a:latin typeface="Cambria Math" panose="02040503050406030204" pitchFamily="18" charset="0"/>
                      </a:rPr>
                      <m:t>𝑤</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𝑤</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is excluded).</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$|z|=1$</a:t>
                </a:r>
                <a:r>
                  <a:rPr sz="2400" b="0">
                    <a:solidFill>
                      <a:srgbClr val="111827"/>
                    </a:solidFill>
                    <a:latin typeface="Arial"/>
                  </a:rPr>
                  <a:t> and unit complex </a:t>
                </a:r>
                <a:r>
                  <a:rPr lang="en-IN" sz="2400">
                    <a:solidFill>
                      <a:srgbClr val="111827"/>
                    </a:solidFill>
                    <a:latin typeface="Cambria Math" panose="02040503050406030204" pitchFamily="18" charset="0"/>
                  </a:rPr>
                  <a:t>$a$</a:t>
                </a:r>
                <a:r>
                  <a:rPr sz="2400" b="0">
                    <a:solidFill>
                      <a:srgbClr val="111827"/>
                    </a:solidFill>
                    <a:latin typeface="Arial"/>
                  </a:rPr>
                  <a:t>, </a:t>
                </a:r>
                <a:r>
                  <a:rPr lang="en-IN" sz="2400">
                    <a:solidFill>
                      <a:srgbClr val="111827"/>
                    </a:solidFill>
                    <a:latin typeface="Cambria Math" panose="02040503050406030204" pitchFamily="18" charset="0"/>
                  </a:rPr>
                  <a:t>$\frac{z-a}{z+a}$</a:t>
                </a:r>
                <a:r>
                  <a:rPr sz="2400" b="0">
                    <a:solidFill>
                      <a:srgbClr val="111827"/>
                    </a:solidFill>
                    <a:latin typeface="Arial"/>
                  </a:rPr>
                  <a:t> is purely imaginary (or 0): </a:t>
                </a:r>
                <a:r>
                  <a:rPr lang="en-IN" sz="2400">
                    <a:solidFill>
                      <a:srgbClr val="111827"/>
                    </a:solidFill>
                    <a:latin typeface="Cambria Math" panose="02040503050406030204" pitchFamily="18" charset="0"/>
                  </a:rPr>
                  <a:t>$z$</a:t>
                </a:r>
                <a:r>
                  <a:rPr sz="2400" b="0">
                    <a:solidFill>
                      <a:srgbClr val="111827"/>
                    </a:solidFill>
                    <a:latin typeface="Arial"/>
                  </a:rPr>
                  <a:t> and </a:t>
                </a:r>
                <a:r>
                  <a:rPr lang="en-IN" sz="2400">
                    <a:solidFill>
                      <a:srgbClr val="111827"/>
                    </a:solidFill>
                    <a:latin typeface="Cambria Math" panose="02040503050406030204" pitchFamily="18" charset="0"/>
                  </a:rPr>
                  <a:t>$a$</a:t>
                </a:r>
                <a:r>
                  <a:rPr sz="2400" b="0">
                    <a:solidFill>
                      <a:srgbClr val="111827"/>
                    </a:solidFill>
                    <a:latin typeface="Arial"/>
                  </a:rPr>
                  <a:t> are on the circle, so </a:t>
                </a:r>
                <a:r>
                  <a:rPr lang="en-IN" sz="2400">
                    <a:solidFill>
                      <a:srgbClr val="111827"/>
                    </a:solidFill>
                    <a:latin typeface="Cambria Math" panose="02040503050406030204" pitchFamily="18" charset="0"/>
                  </a:rPr>
                  <a:t>$\frac{z-a}{z+a}=i\tan\frac{\arg z-\arg a}{2}$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Thales: </a:t>
                </a:r>
                <a:r>
                  <a:rPr lang="en-IN" sz="2400">
                    <a:solidFill>
                      <a:srgbClr val="111827"/>
                    </a:solidFill>
                    <a:latin typeface="Cambria Math" panose="02040503050406030204" pitchFamily="18" charset="0"/>
                  </a:rPr>
                  <a:t>$\angle$</a:t>
                </a:r>
                <a:r>
                  <a:rPr sz="2400" b="0">
                    <a:solidFill>
                      <a:srgbClr val="111827"/>
                    </a:solidFill>
                    <a:latin typeface="Arial"/>
                  </a:rPr>
                  <a:t> at </a:t>
                </a:r>
                <a:r>
                  <a:rPr lang="en-IN" sz="2400">
                    <a:solidFill>
                      <a:srgbClr val="111827"/>
                    </a:solidFill>
                    <a:latin typeface="Cambria Math" panose="02040503050406030204" pitchFamily="18" charset="0"/>
                  </a:rPr>
                  <a:t>$z$</a:t>
                </a:r>
                <a:r>
                  <a:rPr sz="2400" b="0">
                    <a:solidFill>
                      <a:srgbClr val="111827"/>
                    </a:solidFill>
                    <a:latin typeface="Arial"/>
                  </a:rPr>
                  <a:t> subtended by diameter </a:t>
                </a:r>
                <a:r>
                  <a:rPr lang="en-IN" sz="2400">
                    <a:solidFill>
                      <a:srgbClr val="111827"/>
                    </a:solidFill>
                    <a:latin typeface="Cambria Math" panose="02040503050406030204" pitchFamily="18" charset="0"/>
                  </a:rPr>
                  <a:t>$(a,-a)$</a:t>
                </a:r>
                <a:r>
                  <a:rPr sz="2400" b="0">
                    <a:solidFill>
                      <a:srgbClr val="111827"/>
                    </a:solidFill>
                    <a:latin typeface="Arial"/>
                  </a:rPr>
                  <a:t> is </a:t>
                </a:r>
                <a:r>
                  <a:rPr lang="en-IN" sz="2400">
                    <a:solidFill>
                      <a:srgbClr val="111827"/>
                    </a:solidFill>
                    <a:latin typeface="Cambria Math" panose="02040503050406030204" pitchFamily="18" charset="0"/>
                  </a:rPr>
                  <a:t>$90^\circ$</a:t>
                </a:r>
                <a:r>
                  <a:rPr sz="2400" b="0">
                    <a:solidFill>
                      <a:srgbClr val="111827"/>
                    </a:solidFill>
                    <a:latin typeface="Arial"/>
                  </a:rPr>
                  <a:t>, i.e. </a:t>
                </a:r>
                <a:r>
                  <a:rPr lang="en-IN" sz="2400">
                    <a:solidFill>
                      <a:srgbClr val="111827"/>
                    </a:solidFill>
                    <a:latin typeface="Cambria Math" panose="02040503050406030204" pitchFamily="18" charset="0"/>
                  </a:rPr>
                  <a:t>$\frac{z-a}{z+a}$</a:t>
                </a:r>
                <a:r>
                  <a:rPr sz="2400" b="0">
                    <a:solidFill>
                      <a:srgbClr val="111827"/>
                    </a:solidFill>
                    <a:latin typeface="Arial"/>
                  </a:rPr>
                  <a:t> is purely imaginary for all </a:t>
                </a:r>
                <a:r>
                  <a:rPr lang="en-IN" sz="2400">
                    <a:solidFill>
                      <a:srgbClr val="111827"/>
                    </a:solidFill>
                    <a:latin typeface="Cambria Math" panose="02040503050406030204" pitchFamily="18" charset="0"/>
                  </a:rPr>
                  <a:t>$z$</a:t>
                </a:r>
                <a:r>
                  <a:rPr sz="2400" b="0">
                    <a:solidFill>
                      <a:srgbClr val="111827"/>
                    </a:solidFill>
                    <a:latin typeface="Arial"/>
                  </a:rPr>
                  <a:t> on the circle.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Real test: </a:t>
                </a:r>
                <a:r>
                  <a:rPr lang="en-IN" sz="2400">
                    <a:solidFill>
                      <a:srgbClr val="111827"/>
                    </a:solidFill>
                    <a:latin typeface="Cambria Math" panose="02040503050406030204" pitchFamily="18" charset="0"/>
                  </a:rPr>
                  <a:t>$w$</a:t>
                </a:r>
                <a:r>
                  <a:rPr sz="2400" b="0">
                    <a:solidFill>
                      <a:srgbClr val="111827"/>
                    </a:solidFill>
                    <a:latin typeface="Arial"/>
                  </a:rPr>
                  <a:t> real iff </a:t>
                </a:r>
                <a:r>
                  <a:rPr lang="en-IN" sz="2400">
                    <a:solidFill>
                      <a:srgbClr val="111827"/>
                    </a:solidFill>
                    <a:latin typeface="Cambria Math" panose="02040503050406030204" pitchFamily="18" charset="0"/>
                  </a:rPr>
                  <a:t>$w=\bar w$</a:t>
                </a:r>
                <a:r>
                  <a:rPr sz="2400" b="0">
                    <a:solidFill>
                      <a:srgbClr val="111827"/>
                    </a:solidFill>
                    <a:latin typeface="Arial"/>
                  </a:rPr>
                  <a:t>; purely imaginary iff </a:t>
                </a:r>
                <a:r>
                  <a:rPr lang="en-IN" sz="2400">
                    <a:solidFill>
                      <a:srgbClr val="111827"/>
                    </a:solidFill>
                    <a:latin typeface="Cambria Math" panose="02040503050406030204" pitchFamily="18" charset="0"/>
                  </a:rPr>
                  <a:t>$w+\bar w=0$</a:t>
                </a:r>
                <a:r>
                  <a:rPr sz="2400" b="0">
                    <a:solidFill>
                      <a:srgbClr val="111827"/>
                    </a:solidFill>
                    <a:latin typeface="Arial"/>
                  </a:rPr>
                  <a:t> (and </a:t>
                </a:r>
                <a:r>
                  <a:rPr lang="en-IN" sz="2400">
                    <a:solidFill>
                      <a:srgbClr val="111827"/>
                    </a:solidFill>
                    <a:latin typeface="Cambria Math" panose="02040503050406030204" pitchFamily="18" charset="0"/>
                  </a:rPr>
                  <a:t>$w\ne0$</a:t>
                </a:r>
                <a:r>
                  <a:rPr sz="2400" b="0">
                    <a:solidFill>
                      <a:srgbClr val="111827"/>
                    </a:solidFill>
                    <a:latin typeface="Arial"/>
                  </a:rPr>
                  <a:t> if </a:t>
                </a:r>
                <a:r>
                  <a:rPr lang="en-IN" sz="2400">
                    <a:solidFill>
                      <a:srgbClr val="111827"/>
                    </a:solidFill>
                    <a:latin typeface="Cambria Math" panose="02040503050406030204" pitchFamily="18" charset="0"/>
                  </a:rPr>
                  <a:t>$0$</a:t>
                </a:r>
                <a:r>
                  <a:rPr sz="2400" b="0">
                    <a:solidFill>
                      <a:srgbClr val="111827"/>
                    </a:solidFill>
                    <a:latin typeface="Arial"/>
                  </a:rPr>
                  <a:t> is excluded).</a:t>
                </a:r>
                <a:endParaRPr sz="2400">
                  <a:solidFill>
                    <a:srgbClr val="111827"/>
                  </a:solidFill>
                </a:endParaRPr>
              </a:p>
            </p:txBody>
          </p:sp>
        </mc:Fallback>
      </mc:AlternateContent>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77266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locus of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C</m:t>
                    </m:r>
                  </m:oMath>
                </a14:m>
                <a:r>
                  <a:rPr sz="2400" b="0">
                    <a:solidFill>
                      <a:srgbClr val="111827"/>
                    </a:solidFill>
                    <a:latin typeface="Arial"/>
                  </a:rPr>
                  <a:t>, such that </a:t>
                </a:r>
                <a14:m>
                  <m:oMath xmlns:m="http://schemas.openxmlformats.org/officeDocument/2006/math">
                    <m:r>
                      <m:rPr>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e</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e</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is a circle of radius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and centre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num>
                      <m:den>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12   (B) 24   (C) 18   (D) 16</a:t>
                </a:r>
                <a:endParaRPr sz="2400">
                  <a:solidFill>
                    <a:srgbClr val="111827"/>
                  </a:solidFill>
                </a:endParaRPr>
              </a:p>
            </p:txBody>
          </p:sp>
        </mc:Choice>
        <mc:Fallback>
          <p:sp>
            <p:nvSpPr>
              <p:cNvPr id="4" name="Rounded Rectangle 3"/>
              <p:cNvSpPr/>
              <p:nvPr/>
            </p:nvSpPr>
            <p:spPr>
              <a:xfrm>
                <a:off x="731520" y="1280160"/>
                <a:ext cx="10725912" cy="277266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locus of </a:t>
                </a:r>
                <a:r>
                  <a:rPr lang="en-IN" sz="2400">
                    <a:solidFill>
                      <a:srgbClr val="111827"/>
                    </a:solidFill>
                    <a:latin typeface="Cambria Math" panose="02040503050406030204" pitchFamily="18" charset="0"/>
                  </a:rPr>
                  <a:t>$z\in\mathbb{C}$</a:t>
                </a:r>
                <a:r>
                  <a:rPr sz="2400" b="0">
                    <a:solidFill>
                      <a:srgbClr val="111827"/>
                    </a:solidFill>
                    <a:latin typeface="Arial"/>
                  </a:rPr>
                  <a:t>, such that </a:t>
                </a:r>
                <a:r>
                  <a:rPr lang="en-IN" sz="2400">
                    <a:solidFill>
                      <a:srgbClr val="111827"/>
                    </a:solidFill>
                    <a:latin typeface="Cambria Math" panose="02040503050406030204" pitchFamily="18" charset="0"/>
                  </a:rPr>
                  <a:t>$\mathrm{Re}\left(\frac{z-1}{2z+i}\right)+\mathrm{Re}\left(\frac{\bar z-1}{2\bar z-i}\right)=2$</a:t>
                </a:r>
                <a:r>
                  <a:rPr sz="2400" b="0">
                    <a:solidFill>
                      <a:srgbClr val="111827"/>
                    </a:solidFill>
                    <a:latin typeface="Arial"/>
                  </a:rPr>
                  <a:t>, is a circle of radius </a:t>
                </a:r>
                <a:r>
                  <a:rPr lang="en-IN" sz="2400">
                    <a:solidFill>
                      <a:srgbClr val="111827"/>
                    </a:solidFill>
                    <a:latin typeface="Cambria Math" panose="02040503050406030204" pitchFamily="18" charset="0"/>
                  </a:rPr>
                  <a:t>$r$</a:t>
                </a:r>
                <a:r>
                  <a:rPr sz="2400" b="0">
                    <a:solidFill>
                      <a:srgbClr val="111827"/>
                    </a:solidFill>
                    <a:latin typeface="Arial"/>
                  </a:rPr>
                  <a:t> and centre </a:t>
                </a:r>
                <a:r>
                  <a:rPr lang="en-IN" sz="2400">
                    <a:solidFill>
                      <a:srgbClr val="111827"/>
                    </a:solidFill>
                    <a:latin typeface="Cambria Math" panose="02040503050406030204" pitchFamily="18" charset="0"/>
                  </a:rPr>
                  <a:t>$(a,b)$</a:t>
                </a:r>
                <a:r>
                  <a:rPr sz="2400" b="0">
                    <a:solidFill>
                      <a:srgbClr val="111827"/>
                    </a:solidFill>
                    <a:latin typeface="Arial"/>
                  </a:rPr>
                  <a:t>, then </a:t>
                </a:r>
                <a:r>
                  <a:rPr lang="en-IN" sz="2400">
                    <a:solidFill>
                      <a:srgbClr val="111827"/>
                    </a:solidFill>
                    <a:latin typeface="Cambria Math" panose="02040503050406030204" pitchFamily="18" charset="0"/>
                  </a:rPr>
                  <a:t>$\frac{15ab}{r^2}$</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12   (B) 24   (C) 18   (D) 16</a:t>
                </a:r>
                <a:endParaRPr sz="2400">
                  <a:solidFill>
                    <a:srgbClr val="111827"/>
                  </a:solidFill>
                </a:endParaRPr>
              </a:p>
            </p:txBody>
          </p:sp>
        </mc:Fallback>
      </mc:AlternateContent>
      <p:sp>
        <p:nvSpPr>
          <p:cNvPr id="5" name="Rectangle 4"/>
          <p:cNvSpPr/>
          <p:nvPr/>
        </p:nvSpPr>
        <p:spPr>
          <a:xfrm>
            <a:off x="731520" y="4281424"/>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Locus of a complex number (circle) from a real-part condition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two terms are conjugates, so the condition is </a:t>
                </a:r>
                <a14:m>
                  <m:oMath xmlns:m="http://schemas.openxmlformats.org/officeDocument/2006/math">
                    <m:r>
                      <m:rPr>
                        <m:sty m:val="p"/>
                      </m:rPr>
                      <a:rPr lang="en-IN" sz="2400">
                        <a:solidFill>
                          <a:srgbClr val="78350F"/>
                        </a:solidFill>
                        <a:latin typeface="Cambria Math" panose="02040503050406030204" pitchFamily="18" charset="0"/>
                      </a:rPr>
                      <m:t>R</m:t>
                    </m:r>
                    <m:r>
                      <m:rPr>
                        <m:sty m:val="p"/>
                      </m:rPr>
                      <a:rPr lang="en-IN" sz="2400">
                        <a:solidFill>
                          <a:srgbClr val="78350F"/>
                        </a:solidFill>
                        <a:latin typeface="Cambria Math" panose="02040503050406030204" pitchFamily="18" charset="0"/>
                      </a:rPr>
                      <m:t>e</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𝑧</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𝑧</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𝑖</m:t>
                        </m:r>
                      </m:den>
                    </m:f>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put </a:t>
                </a:r>
                <a14:m>
                  <m:oMath xmlns:m="http://schemas.openxmlformats.org/officeDocument/2006/math">
                    <m:r>
                      <a:rPr lang="en-IN" sz="2400" i="1">
                        <a:solidFill>
                          <a:srgbClr val="78350F"/>
                        </a:solidFill>
                        <a:latin typeface="Cambria Math" panose="02040503050406030204" pitchFamily="18" charset="0"/>
                      </a:rPr>
                      <m:t>𝑧</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𝑖</m:t>
                    </m:r>
                    <m:r>
                      <a:rPr lang="en-IN" sz="2400" i="1">
                        <a:solidFill>
                          <a:srgbClr val="78350F"/>
                        </a:solidFill>
                        <a:latin typeface="Cambria Math" panose="02040503050406030204" pitchFamily="18" charset="0"/>
                      </a:rPr>
                      <m:t>𝑦</m:t>
                    </m:r>
                  </m:oMath>
                </a14:m>
                <a:r>
                  <a:rPr sz="2400" b="0">
                    <a:solidFill>
                      <a:srgbClr val="78350F"/>
                    </a:solidFill>
                    <a:latin typeface="Arial"/>
                  </a:rPr>
                  <a:t> and read off the circle.</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two terms are conjugates, so the condition is </a:t>
                </a:r>
                <a:r>
                  <a:rPr lang="en-IN" sz="2400">
                    <a:solidFill>
                      <a:srgbClr val="78350F"/>
                    </a:solidFill>
                    <a:latin typeface="Cambria Math" panose="02040503050406030204" pitchFamily="18" charset="0"/>
                  </a:rPr>
                  <a:t>$\mathrm{Re}\frac{z-1}{2z+i}=1$</a:t>
                </a:r>
                <a:r>
                  <a:rPr sz="2400" b="0">
                    <a:solidFill>
                      <a:srgbClr val="78350F"/>
                    </a:solidFill>
                    <a:latin typeface="Arial"/>
                  </a:rPr>
                  <a:t>; put </a:t>
                </a:r>
                <a:r>
                  <a:rPr lang="en-IN" sz="2400">
                    <a:solidFill>
                      <a:srgbClr val="78350F"/>
                    </a:solidFill>
                    <a:latin typeface="Cambria Math" panose="02040503050406030204" pitchFamily="18" charset="0"/>
                  </a:rPr>
                  <a:t>$z=x+iy$</a:t>
                </a:r>
                <a:r>
                  <a:rPr sz="2400" b="0">
                    <a:solidFill>
                      <a:srgbClr val="78350F"/>
                    </a:solidFill>
                    <a:latin typeface="Arial"/>
                  </a:rPr>
                  <a:t> and read off the circle.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den>
                    </m:f>
                  </m:oMath>
                </a14:m>
                <a:r>
                  <a:rPr sz="2400" b="0">
                    <a:solidFill>
                      <a:srgbClr val="111827"/>
                    </a:solidFill>
                    <a:latin typeface="Arial"/>
                  </a:rPr>
                  <a:t>; the second term is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e</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e</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e</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𝑦</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Multiply by the conjugate: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𝑦</m:t>
                            </m:r>
                          </m:e>
                        </m:d>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e>
                        </m:d>
                      </m:num>
                      <m:den>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e</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$c=\frac{z-1}{2z+i}$</a:t>
                </a:r>
                <a:r>
                  <a:rPr sz="2400" b="0">
                    <a:solidFill>
                      <a:srgbClr val="111827"/>
                    </a:solidFill>
                    <a:latin typeface="Arial"/>
                  </a:rPr>
                  <a:t>; the second term is </a:t>
                </a:r>
                <a:r>
                  <a:rPr lang="en-IN" sz="2400">
                    <a:solidFill>
                      <a:srgbClr val="111827"/>
                    </a:solidFill>
                    <a:latin typeface="Cambria Math" panose="02040503050406030204" pitchFamily="18" charset="0"/>
                  </a:rPr>
                  <a:t>$\bar c$</a:t>
                </a:r>
                <a:r>
                  <a:rPr sz="2400" b="0">
                    <a:solidFill>
                      <a:srgbClr val="111827"/>
                    </a:solidFill>
                    <a:latin typeface="Arial"/>
                  </a:rPr>
                  <a:t>, and </a:t>
                </a:r>
                <a:r>
                  <a:rPr lang="en-IN" sz="2400">
                    <a:solidFill>
                      <a:srgbClr val="111827"/>
                    </a:solidFill>
                    <a:latin typeface="Cambria Math" panose="02040503050406030204" pitchFamily="18" charset="0"/>
                  </a:rPr>
                  <a:t>$\mathrm{Re}(c)+\mathrm{Re}(\bar c)=2\,\mathrm{Re}(c)$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r>
                  <a:rPr lang="en-IN" sz="2400">
                    <a:solidFill>
                      <a:srgbClr val="111827"/>
                    </a:solidFill>
                    <a:latin typeface="Cambria Math" panose="02040503050406030204" pitchFamily="18" charset="0"/>
                  </a:rPr>
                  <a:t>$z=x+iy$</a:t>
                </a:r>
                <a:r>
                  <a:rPr sz="2400" b="0">
                    <a:solidFill>
                      <a:srgbClr val="111827"/>
                    </a:solidFill>
                    <a:latin typeface="Arial"/>
                  </a:rPr>
                  <a:t>: </a:t>
                </a:r>
                <a:r>
                  <a:rPr lang="en-IN" sz="2400">
                    <a:solidFill>
                      <a:srgbClr val="111827"/>
                    </a:solidFill>
                    <a:latin typeface="Cambria Math" panose="02040503050406030204" pitchFamily="18" charset="0"/>
                  </a:rPr>
                  <a:t>$c=\frac{x+iy-1}{2x+2iy+i}=\frac{(x-1)+iy}{2x+i(2y+1)}$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Multiply by the conjugate: </a:t>
                </a:r>
                <a:r>
                  <a:rPr lang="en-IN" sz="2400">
                    <a:solidFill>
                      <a:srgbClr val="111827"/>
                    </a:solidFill>
                    <a:latin typeface="Cambria Math" panose="02040503050406030204" pitchFamily="18" charset="0"/>
                  </a:rPr>
                  <a:t>$c=\frac{\left((x-1)+iy\right)\left(2x-i(2y+1)\right)}{4x^2+(2y+1)^2}$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$\mathrm{Re}(c)=\frac{2x(x-1)+y(2y+1)}{4x^2+(2y+1)^2}$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Given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e</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Centre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e>
                    </m:d>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16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16</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8</m:t>
                        </m:r>
                      </m:den>
                    </m:f>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num>
                      <m:den>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oMath>
                </a14:m>
                <a:r>
                  <a:rPr sz="2400" b="0">
                    <a:solidFill>
                      <a:srgbClr val="111827"/>
                    </a:solidFill>
                    <a:latin typeface="Arial"/>
                  </a:rPr>
                  <a:t>,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Given </a:t>
                </a:r>
                <a:r>
                  <a:rPr lang="en-IN" sz="2400">
                    <a:solidFill>
                      <a:srgbClr val="111827"/>
                    </a:solidFill>
                    <a:latin typeface="Cambria Math" panose="02040503050406030204" pitchFamily="18" charset="0"/>
                  </a:rPr>
                  <a:t>$2\,\mathrm{Re}(c)=2$</a:t>
                </a:r>
                <a:r>
                  <a:rPr sz="2400" b="0">
                    <a:solidFill>
                      <a:srgbClr val="111827"/>
                    </a:solidFill>
                    <a:latin typeface="Arial"/>
                  </a:rPr>
                  <a:t>: </a:t>
                </a:r>
                <a:r>
                  <a:rPr lang="en-IN" sz="2400">
                    <a:solidFill>
                      <a:srgbClr val="111827"/>
                    </a:solidFill>
                    <a:latin typeface="Cambria Math" panose="02040503050406030204" pitchFamily="18" charset="0"/>
                  </a:rPr>
                  <a:t>$\frac{2x^2-2x+2y^2+y}{4x^2+4y^2+4y+1}=1$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$2x^2-2x+2y^2+y=4x^2+4y^2+4y+1$</a:t>
                </a:r>
                <a:r>
                  <a:rPr sz="2400" b="0">
                    <a:solidFill>
                      <a:srgbClr val="111827"/>
                    </a:solidFill>
                    <a:latin typeface="Arial"/>
                  </a:rPr>
                  <a:t>, i.e. </a:t>
                </a:r>
                <a:r>
                  <a:rPr lang="en-IN" sz="2400">
                    <a:solidFill>
                      <a:srgbClr val="111827"/>
                    </a:solidFill>
                    <a:latin typeface="Cambria Math" panose="02040503050406030204" pitchFamily="18" charset="0"/>
                  </a:rPr>
                  <a:t>$x^2+y^2+x+\frac{3y}{2}+\frac12=0$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Centre </a:t>
                </a:r>
                <a:r>
                  <a:rPr lang="en-IN" sz="2400">
                    <a:solidFill>
                      <a:srgbClr val="111827"/>
                    </a:solidFill>
                    <a:latin typeface="Cambria Math" panose="02040503050406030204" pitchFamily="18" charset="0"/>
                  </a:rPr>
                  <a:t>$\left(-\frac12,-\frac34\right)$</a:t>
                </a:r>
                <a:r>
                  <a:rPr sz="2400" b="0">
                    <a:solidFill>
                      <a:srgbClr val="111827"/>
                    </a:solidFill>
                    <a:latin typeface="Arial"/>
                  </a:rPr>
                  <a:t>, and </a:t>
                </a:r>
                <a:r>
                  <a:rPr lang="en-IN" sz="2400">
                    <a:solidFill>
                      <a:srgbClr val="111827"/>
                    </a:solidFill>
                    <a:latin typeface="Cambria Math" panose="02040503050406030204" pitchFamily="18" charset="0"/>
                  </a:rPr>
                  <a:t>$r^2=\frac14+\frac9{16}-\frac12=\frac5{16}$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$ab=\frac12\cdot\frac34=\frac38$</a:t>
                </a:r>
                <a:r>
                  <a:rPr sz="2400" b="0">
                    <a:solidFill>
                      <a:srgbClr val="111827"/>
                    </a:solidFill>
                    <a:latin typeface="Arial"/>
                  </a:rPr>
                  <a:t>, so </a:t>
                </a:r>
                <a:r>
                  <a:rPr lang="en-IN" sz="2400">
                    <a:solidFill>
                      <a:srgbClr val="111827"/>
                    </a:solidFill>
                    <a:latin typeface="Cambria Math" panose="02040503050406030204" pitchFamily="18" charset="0"/>
                  </a:rPr>
                  <a:t>$\frac{15ab}{r^2}=15\cdot\frac38\cdot\frac{16}{5}=18$</a:t>
                </a:r>
                <a:r>
                  <a:rPr sz="2400" b="0">
                    <a:solidFill>
                      <a:srgbClr val="111827"/>
                    </a:solidFill>
                    <a:latin typeface="Arial"/>
                  </a:rPr>
                  <a:t>, option (C).</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18</a:t>
            </a:r>
            <a:endParaRPr sz="2800">
              <a:solidFill>
                <a:srgbClr val="15803D"/>
              </a:solidFill>
            </a:endParaRP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14:m>
                  <m:oMath xmlns:m="http://schemas.openxmlformats.org/officeDocument/2006/math">
                    <m:r>
                      <m:rPr>
                        <m:sty m:val="p"/>
                      </m:rPr>
                      <a:rPr lang="en-IN" sz="2400">
                        <a:solidFill>
                          <a:srgbClr val="78350F"/>
                        </a:solidFill>
                        <a:latin typeface="Cambria Math" panose="02040503050406030204" pitchFamily="18" charset="0"/>
                      </a:rPr>
                      <m:t>R</m:t>
                    </m:r>
                    <m:r>
                      <m:rPr>
                        <m:sty m:val="p"/>
                      </m:rPr>
                      <a:rPr lang="en-IN" sz="2400">
                        <a:solidFill>
                          <a:srgbClr val="78350F"/>
                        </a:solidFill>
                        <a:latin typeface="Cambria Math" panose="02040503050406030204" pitchFamily="18" charset="0"/>
                      </a:rPr>
                      <m:t>e</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means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this turns into an Apollonius circle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𝑧</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d>
                      <m:dPr>
                        <m:begChr m:val="|"/>
                        <m:sepChr m:val=""/>
                        <m:endChr m:val="|"/>
                        <m:grow/>
                        <m:ctrlPr>
                          <a:rPr lang="en-IN" sz="2400" i="1">
                            <a:solidFill>
                              <a:srgbClr val="78350F"/>
                            </a:solidFill>
                            <a:latin typeface="Cambria Math" panose="02040503050406030204" pitchFamily="18" charset="0"/>
                          </a:rPr>
                        </m:ctrlPr>
                      </m:dPr>
                      <m:e>
                        <m:r>
                          <a:rPr lang="en-IN" sz="2400" i="1">
                            <a:solidFill>
                              <a:srgbClr val="78350F"/>
                            </a:solidFill>
                            <a:latin typeface="Cambria Math" panose="02040503050406030204" pitchFamily="18" charset="0"/>
                          </a:rPr>
                          <m:t>𝑧</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𝑖</m:t>
                            </m:r>
                          </m:num>
                          <m:den>
                            <m:r>
                              <a:rPr lang="en-IN" sz="2400" i="1">
                                <a:solidFill>
                                  <a:srgbClr val="78350F"/>
                                </a:solidFill>
                                <a:latin typeface="Cambria Math" panose="02040503050406030204" pitchFamily="18" charset="0"/>
                              </a:rPr>
                              <m:t>3</m:t>
                            </m:r>
                          </m:den>
                        </m:f>
                      </m:e>
                    </m:d>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lang="en-IN" sz="2400">
                    <a:solidFill>
                      <a:srgbClr val="78350F"/>
                    </a:solidFill>
                    <a:latin typeface="Cambria Math" panose="02040503050406030204" pitchFamily="18" charset="0"/>
                  </a:rPr>
                  <a:t>$\mathrm{Re}\,c=1$</a:t>
                </a:r>
                <a:r>
                  <a:rPr sz="2400" b="0">
                    <a:solidFill>
                      <a:srgbClr val="78350F"/>
                    </a:solidFill>
                    <a:latin typeface="Arial"/>
                  </a:rPr>
                  <a:t> means </a:t>
                </a:r>
                <a:r>
                  <a:rPr lang="en-IN" sz="2400">
                    <a:solidFill>
                      <a:srgbClr val="78350F"/>
                    </a:solidFill>
                    <a:latin typeface="Cambria Math" panose="02040503050406030204" pitchFamily="18" charset="0"/>
                  </a:rPr>
                  <a:t>$|c|=|c-2|$</a:t>
                </a:r>
                <a:r>
                  <a:rPr sz="2400" b="0">
                    <a:solidFill>
                      <a:srgbClr val="78350F"/>
                    </a:solidFill>
                    <a:latin typeface="Arial"/>
                  </a:rPr>
                  <a:t>; this turns into an Apollonius circle </a:t>
                </a:r>
                <a:r>
                  <a:rPr lang="en-IN" sz="2400">
                    <a:solidFill>
                      <a:srgbClr val="78350F"/>
                    </a:solidFill>
                    <a:latin typeface="Cambria Math" panose="02040503050406030204" pitchFamily="18" charset="0"/>
                  </a:rPr>
                  <a:t>$|z-1|=3\left|z+\frac{1+2i}{3}\right|$</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den>
                    </m:f>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e</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is equidistant from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i.e.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𝑖</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den>
                    </m:f>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becomes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𝑖</m:t>
                            </m:r>
                          </m:num>
                          <m:den>
                            <m:r>
                              <a:rPr lang="en-IN" sz="2400" i="1">
                                <a:solidFill>
                                  <a:srgbClr val="111827"/>
                                </a:solidFill>
                                <a:latin typeface="Cambria Math" panose="02040503050406030204" pitchFamily="18" charset="0"/>
                              </a:rPr>
                              <m:t>3</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Thus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𝑖</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an Apollonius circle with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$c=\frac{z-1}{2z+i}$</a:t>
                </a:r>
                <a:r>
                  <a:rPr sz="2400" b="0">
                    <a:solidFill>
                      <a:srgbClr val="111827"/>
                    </a:solidFill>
                    <a:latin typeface="Arial"/>
                  </a:rPr>
                  <a:t>, </a:t>
                </a:r>
                <a:r>
                  <a:rPr lang="en-IN" sz="2400">
                    <a:solidFill>
                      <a:srgbClr val="111827"/>
                    </a:solidFill>
                    <a:latin typeface="Cambria Math" panose="02040503050406030204" pitchFamily="18" charset="0"/>
                  </a:rPr>
                  <a:t>$\mathrm{Re}\,c=1\iff c$</a:t>
                </a:r>
                <a:r>
                  <a:rPr sz="2400" b="0">
                    <a:solidFill>
                      <a:srgbClr val="111827"/>
                    </a:solidFill>
                    <a:latin typeface="Arial"/>
                  </a:rPr>
                  <a:t> is equidistant from </a:t>
                </a:r>
                <a:r>
                  <a:rPr lang="en-IN" sz="2400">
                    <a:solidFill>
                      <a:srgbClr val="111827"/>
                    </a:solidFill>
                    <a:latin typeface="Cambria Math" panose="02040503050406030204" pitchFamily="18" charset="0"/>
                  </a:rPr>
                  <a:t>$0$</a:t>
                </a:r>
                <a:r>
                  <a:rPr sz="2400" b="0">
                    <a:solidFill>
                      <a:srgbClr val="111827"/>
                    </a:solidFill>
                    <a:latin typeface="Arial"/>
                  </a:rPr>
                  <a:t> and </a:t>
                </a:r>
                <a:r>
                  <a:rPr lang="en-IN" sz="2400">
                    <a:solidFill>
                      <a:srgbClr val="111827"/>
                    </a:solidFill>
                    <a:latin typeface="Cambria Math" panose="02040503050406030204" pitchFamily="18" charset="0"/>
                  </a:rPr>
                  <a:t>$2$</a:t>
                </a:r>
                <a:r>
                  <a:rPr sz="2400" b="0">
                    <a:solidFill>
                      <a:srgbClr val="111827"/>
                    </a:solidFill>
                    <a:latin typeface="Arial"/>
                  </a:rPr>
                  <a:t>, i.e. </a:t>
                </a:r>
                <a:r>
                  <a:rPr lang="en-IN" sz="2400">
                    <a:solidFill>
                      <a:srgbClr val="111827"/>
                    </a:solidFill>
                    <a:latin typeface="Cambria Math" panose="02040503050406030204" pitchFamily="18" charset="0"/>
                  </a:rPr>
                  <a:t>$|c|=|c-2|$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$c-2=\frac{z-1-4z-2i}{2z+i}=\frac{-(3z+1+2i)}{2z+i}$</a:t>
                </a:r>
                <a:r>
                  <a:rPr sz="2400" b="0">
                    <a:solidFill>
                      <a:srgbClr val="111827"/>
                    </a:solidFill>
                    <a:latin typeface="Arial"/>
                  </a:rPr>
                  <a:t>, so </a:t>
                </a:r>
                <a:r>
                  <a:rPr lang="en-IN" sz="2400">
                    <a:solidFill>
                      <a:srgbClr val="111827"/>
                    </a:solidFill>
                    <a:latin typeface="Cambria Math" panose="02040503050406030204" pitchFamily="18" charset="0"/>
                  </a:rPr>
                  <a:t>$|c|=|c-2|$</a:t>
                </a:r>
                <a:r>
                  <a:rPr sz="2400" b="0">
                    <a:solidFill>
                      <a:srgbClr val="111827"/>
                    </a:solidFill>
                    <a:latin typeface="Arial"/>
                  </a:rPr>
                  <a:t> becomes </a:t>
                </a:r>
                <a:r>
                  <a:rPr lang="en-IN" sz="2400">
                    <a:solidFill>
                      <a:srgbClr val="111827"/>
                    </a:solidFill>
                    <a:latin typeface="Cambria Math" panose="02040503050406030204" pitchFamily="18" charset="0"/>
                  </a:rPr>
                  <a:t>$|z-1|=|3z+1+2i|=3\left|z+\frac{1+2i}{3}\right|$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Thus </a:t>
                </a:r>
                <a:r>
                  <a:rPr lang="en-IN" sz="2400">
                    <a:solidFill>
                      <a:srgbClr val="111827"/>
                    </a:solidFill>
                    <a:latin typeface="Cambria Math" panose="02040503050406030204" pitchFamily="18" charset="0"/>
                  </a:rPr>
                  <a:t>$|z-A|=3|z-B|$</a:t>
                </a:r>
                <a:r>
                  <a:rPr sz="2400" b="0">
                    <a:solidFill>
                      <a:srgbClr val="111827"/>
                    </a:solidFill>
                    <a:latin typeface="Arial"/>
                  </a:rPr>
                  <a:t> with </a:t>
                </a:r>
                <a:r>
                  <a:rPr lang="en-IN" sz="2400">
                    <a:solidFill>
                      <a:srgbClr val="111827"/>
                    </a:solidFill>
                    <a:latin typeface="Cambria Math" panose="02040503050406030204" pitchFamily="18" charset="0"/>
                  </a:rPr>
                  <a:t>$A=1$</a:t>
                </a:r>
                <a:r>
                  <a:rPr sz="2400" b="0">
                    <a:solidFill>
                      <a:srgbClr val="111827"/>
                    </a:solidFill>
                    <a:latin typeface="Arial"/>
                  </a:rPr>
                  <a:t>, </a:t>
                </a:r>
                <a:r>
                  <a:rPr lang="en-IN" sz="2400">
                    <a:solidFill>
                      <a:srgbClr val="111827"/>
                    </a:solidFill>
                    <a:latin typeface="Cambria Math" panose="02040503050406030204" pitchFamily="18" charset="0"/>
                  </a:rPr>
                  <a:t>$B=-\frac{1+2i}{3}$</a:t>
                </a:r>
                <a:r>
                  <a:rPr sz="2400" b="0">
                    <a:solidFill>
                      <a:srgbClr val="111827"/>
                    </a:solidFill>
                    <a:latin typeface="Arial"/>
                  </a:rPr>
                  <a:t>: an Apollonius circle with </a:t>
                </a:r>
                <a:r>
                  <a:rPr lang="en-IN" sz="2400">
                    <a:solidFill>
                      <a:srgbClr val="111827"/>
                    </a:solidFill>
                    <a:latin typeface="Cambria Math" panose="02040503050406030204" pitchFamily="18" charset="0"/>
                  </a:rPr>
                  <a:t>$k=3$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Centre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r>
                      <a:rPr lang="en-IN" sz="2400" i="1">
                        <a:solidFill>
                          <a:srgbClr val="111827"/>
                        </a:solidFill>
                        <a:latin typeface="Cambria Math" panose="02040503050406030204" pitchFamily="18" charset="0"/>
                      </a:rPr>
                      <m:t>𝑖</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Radius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3</m:t>
                            </m:r>
                          </m:den>
                        </m:f>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20</m:t>
                            </m:r>
                          </m:e>
                        </m:rad>
                      </m:num>
                      <m:den>
                        <m:r>
                          <a:rPr lang="en-IN" sz="2400" i="1">
                            <a:solidFill>
                              <a:srgbClr val="111827"/>
                            </a:solidFill>
                            <a:latin typeface="Cambria Math" panose="02040503050406030204" pitchFamily="18" charset="0"/>
                          </a:rPr>
                          <m:t>8</m:t>
                        </m:r>
                      </m:den>
                    </m:f>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m:t>
                        </m:r>
                      </m:num>
                      <m:den>
                        <m:r>
                          <a:rPr lang="en-IN" sz="2400" i="1">
                            <a:solidFill>
                              <a:srgbClr val="111827"/>
                            </a:solidFill>
                            <a:latin typeface="Cambria Math" panose="02040503050406030204" pitchFamily="18" charset="0"/>
                          </a:rPr>
                          <m:t>64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16</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num>
                      <m:den>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Centre </a:t>
                </a:r>
                <a:r>
                  <a:rPr lang="en-IN" sz="2400">
                    <a:solidFill>
                      <a:srgbClr val="111827"/>
                    </a:solidFill>
                    <a:latin typeface="Cambria Math" panose="02040503050406030204" pitchFamily="18" charset="0"/>
                  </a:rPr>
                  <a:t>$=\frac{A-k^2B}{1-k^2}=\frac{1+3(1+2i)}{-8}=-\frac12-\frac34i$</a:t>
                </a:r>
                <a:r>
                  <a:rPr sz="2400" b="0">
                    <a:solidFill>
                      <a:srgbClr val="111827"/>
                    </a:solidFill>
                    <a:latin typeface="Arial"/>
                  </a:rPr>
                  <a:t>, so </a:t>
                </a:r>
                <a:r>
                  <a:rPr lang="en-IN" sz="2400">
                    <a:solidFill>
                      <a:srgbClr val="111827"/>
                    </a:solidFill>
                    <a:latin typeface="Cambria Math" panose="02040503050406030204" pitchFamily="18" charset="0"/>
                  </a:rPr>
                  <a:t>$(a,b)=\left(-\frac12,-\frac34\right)$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Radius </a:t>
                </a:r>
                <a:r>
                  <a:rPr lang="en-IN" sz="2400">
                    <a:solidFill>
                      <a:srgbClr val="111827"/>
                    </a:solidFill>
                    <a:latin typeface="Cambria Math" panose="02040503050406030204" pitchFamily="18" charset="0"/>
                  </a:rPr>
                  <a:t>$=\frac{k|A-B|}{|k^2-1|}=\frac{3\cdot\frac{|4+2i|}{3}}{8}=\frac{\sqrt{20}}{8}$</a:t>
                </a:r>
                <a:r>
                  <a:rPr sz="2400" b="0">
                    <a:solidFill>
                      <a:srgbClr val="111827"/>
                    </a:solidFill>
                    <a:latin typeface="Arial"/>
                  </a:rPr>
                  <a:t>, so </a:t>
                </a:r>
                <a:r>
                  <a:rPr lang="en-IN" sz="2400">
                    <a:solidFill>
                      <a:srgbClr val="111827"/>
                    </a:solidFill>
                    <a:latin typeface="Cambria Math" panose="02040503050406030204" pitchFamily="18" charset="0"/>
                  </a:rPr>
                  <a:t>$r^2=\frac{20}{64}=\frac5{16}$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$\frac{15ab}{r^2}=15\cdot\frac38\cdot\frac{16}5=18$</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18</a:t>
            </a:r>
            <a:endParaRPr sz="2800">
              <a:solidFill>
                <a:srgbClr val="15803D"/>
              </a:solidFill>
            </a:endParaRP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e</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𝑤</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e</m:t>
                    </m:r>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e</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𝑤</m:t>
                    </m:r>
                  </m:oMath>
                </a14:m>
                <a:r>
                  <a:rPr sz="2400" b="0">
                    <a:solidFill>
                      <a:srgbClr val="111827"/>
                    </a:solidFill>
                    <a:latin typeface="Arial"/>
                  </a:rPr>
                  <a:t>: a sum of conjugate terms is just double the real part.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Apollonius: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a circle with centre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and radius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e</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use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 Möbius image of a line is a circle.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$\mathrm{Re}\,w+\mathrm{Re}\,\bar w=2\,\mathrm{Re}\,w$</a:t>
                </a:r>
                <a:r>
                  <a:rPr sz="2400" b="0">
                    <a:solidFill>
                      <a:srgbClr val="111827"/>
                    </a:solidFill>
                    <a:latin typeface="Arial"/>
                  </a:rPr>
                  <a:t>: a sum of conjugate terms is just double the real part.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Apollonius: </a:t>
                </a:r>
                <a:r>
                  <a:rPr lang="en-IN" sz="2400">
                    <a:solidFill>
                      <a:srgbClr val="111827"/>
                    </a:solidFill>
                    <a:latin typeface="Cambria Math" panose="02040503050406030204" pitchFamily="18" charset="0"/>
                  </a:rPr>
                  <a:t>$|z-A|=k|z-B|$</a:t>
                </a:r>
                <a:r>
                  <a:rPr sz="2400" b="0">
                    <a:solidFill>
                      <a:srgbClr val="111827"/>
                    </a:solidFill>
                    <a:latin typeface="Arial"/>
                  </a:rPr>
                  <a:t> (</a:t>
                </a:r>
                <a:r>
                  <a:rPr lang="en-IN" sz="2400">
                    <a:solidFill>
                      <a:srgbClr val="111827"/>
                    </a:solidFill>
                    <a:latin typeface="Cambria Math" panose="02040503050406030204" pitchFamily="18" charset="0"/>
                  </a:rPr>
                  <a:t>$k\ne1$</a:t>
                </a:r>
                <a:r>
                  <a:rPr sz="2400" b="0">
                    <a:solidFill>
                      <a:srgbClr val="111827"/>
                    </a:solidFill>
                    <a:latin typeface="Arial"/>
                  </a:rPr>
                  <a:t>) is a circle with centre </a:t>
                </a:r>
                <a:r>
                  <a:rPr lang="en-IN" sz="2400">
                    <a:solidFill>
                      <a:srgbClr val="111827"/>
                    </a:solidFill>
                    <a:latin typeface="Cambria Math" panose="02040503050406030204" pitchFamily="18" charset="0"/>
                  </a:rPr>
                  <a:t>$\frac{A-k^2B}{1-k^2}$</a:t>
                </a:r>
                <a:r>
                  <a:rPr sz="2400" b="0">
                    <a:solidFill>
                      <a:srgbClr val="111827"/>
                    </a:solidFill>
                    <a:latin typeface="Arial"/>
                  </a:rPr>
                  <a:t> and radius </a:t>
                </a:r>
                <a:r>
                  <a:rPr lang="en-IN" sz="2400">
                    <a:solidFill>
                      <a:srgbClr val="111827"/>
                    </a:solidFill>
                    <a:latin typeface="Cambria Math" panose="02040503050406030204" pitchFamily="18" charset="0"/>
                  </a:rPr>
                  <a:t>$\frac{k|A-B|}{|1-k^2|}$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$\mathrm{Re}\,c=\lambda\iff|c|^2-\ldots$</a:t>
                </a:r>
                <a:r>
                  <a:rPr sz="2400" b="0">
                    <a:solidFill>
                      <a:srgbClr val="111827"/>
                    </a:solidFill>
                    <a:latin typeface="Arial"/>
                  </a:rPr>
                  <a:t>: for </a:t>
                </a:r>
                <a:r>
                  <a:rPr lang="en-IN" sz="2400">
                    <a:solidFill>
                      <a:srgbClr val="111827"/>
                    </a:solidFill>
                    <a:latin typeface="Cambria Math" panose="02040503050406030204" pitchFamily="18" charset="0"/>
                  </a:rPr>
                  <a:t>$\lambda=1$</a:t>
                </a:r>
                <a:r>
                  <a:rPr sz="2400" b="0">
                    <a:solidFill>
                      <a:srgbClr val="111827"/>
                    </a:solidFill>
                    <a:latin typeface="Arial"/>
                  </a:rPr>
                  <a:t> use </a:t>
                </a:r>
                <a:r>
                  <a:rPr lang="en-IN" sz="2400">
                    <a:solidFill>
                      <a:srgbClr val="111827"/>
                    </a:solidFill>
                    <a:latin typeface="Cambria Math" panose="02040503050406030204" pitchFamily="18" charset="0"/>
                  </a:rPr>
                  <a:t>$|c|=|c-2|$</a:t>
                </a:r>
                <a:r>
                  <a:rPr sz="2400" b="0">
                    <a:solidFill>
                      <a:srgbClr val="111827"/>
                    </a:solidFill>
                    <a:latin typeface="Arial"/>
                  </a:rPr>
                  <a:t>; a Möbius image of a line is a circle.</a:t>
                </a:r>
                <a:endParaRPr sz="2400">
                  <a:solidFill>
                    <a:srgbClr val="111827"/>
                  </a:solidFill>
                </a:endParaRPr>
              </a:p>
            </p:txBody>
          </p:sp>
        </mc:Fallback>
      </mc:AlternateContent>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77266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be a solution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for some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4</m:t>
                              </m:r>
                            </m:e>
                            <m:e>
                              <m:r>
                                <a:rPr lang="en-IN" sz="2400" i="1">
                                  <a:solidFill>
                                    <a:srgbClr val="111827"/>
                                  </a:solidFill>
                                  <a:latin typeface="Cambria Math" panose="02040503050406030204" pitchFamily="18" charset="0"/>
                                </a:rPr>
                                <m:t>𝑎</m:t>
                              </m:r>
                            </m:e>
                            <m:e>
                              <m:r>
                                <a:rPr lang="en-IN" sz="2400" i="1">
                                  <a:solidFill>
                                    <a:srgbClr val="111827"/>
                                  </a:solidFill>
                                  <a:latin typeface="Cambria Math" panose="02040503050406030204" pitchFamily="18" charset="0"/>
                                </a:rPr>
                                <m:t>𝑏</m:t>
                              </m:r>
                            </m:e>
                          </m:mr>
                        </m:m>
                      </m:e>
                    </m:d>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16</m:t>
                              </m:r>
                            </m:e>
                            <m:e>
                              <m:r>
                                <a:rPr lang="en-IN" sz="2400" i="1">
                                  <a:solidFill>
                                    <a:srgbClr val="111827"/>
                                  </a:solidFill>
                                  <a:latin typeface="Cambria Math" panose="02040503050406030204" pitchFamily="18" charset="0"/>
                                </a:rPr>
                                <m:t>13</m:t>
                              </m:r>
                            </m:e>
                          </m:mr>
                          <m:m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2</m:t>
                              </m:r>
                            </m:e>
                          </m:mr>
                          <m:m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e>
                          </m:mr>
                        </m:m>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0</m:t>
                              </m:r>
                            </m:e>
                            <m:e>
                              <m:r>
                                <a:rPr lang="en-IN" sz="2400" i="1">
                                  <a:solidFill>
                                    <a:srgbClr val="111827"/>
                                  </a:solidFill>
                                  <a:latin typeface="Cambria Math" panose="02040503050406030204" pitchFamily="18" charset="0"/>
                                </a:rPr>
                                <m:t>0</m:t>
                              </m:r>
                            </m:e>
                            <m:e>
                              <m:r>
                                <a:rPr lang="en-IN" sz="2400" i="1">
                                  <a:solidFill>
                                    <a:srgbClr val="111827"/>
                                  </a:solidFill>
                                  <a:latin typeface="Cambria Math" panose="02040503050406030204" pitchFamily="18" charset="0"/>
                                </a:rPr>
                                <m:t>0</m:t>
                              </m:r>
                            </m:e>
                          </m:mr>
                        </m:m>
                      </m:e>
                    </m:d>
                  </m:oMath>
                </a14:m>
                <a:r>
                  <a:rPr sz="2400" b="0">
                    <a:solidFill>
                      <a:srgbClr val="111827"/>
                    </a:solidFill>
                    <a:latin typeface="Arial"/>
                  </a:rPr>
                  <a:t>. If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4</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𝑎</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𝑏</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8   (B) 7   (C) 3   (D) 11</a:t>
                </a:r>
                <a:endParaRPr sz="2400">
                  <a:solidFill>
                    <a:srgbClr val="111827"/>
                  </a:solidFill>
                </a:endParaRPr>
              </a:p>
            </p:txBody>
          </p:sp>
        </mc:Choice>
        <mc:Fallback>
          <p:sp>
            <p:nvSpPr>
              <p:cNvPr id="4" name="Rounded Rectangle 3"/>
              <p:cNvSpPr/>
              <p:nvPr/>
            </p:nvSpPr>
            <p:spPr>
              <a:xfrm>
                <a:off x="731520" y="1280160"/>
                <a:ext cx="10725912" cy="277266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$\alpha$</a:t>
                </a:r>
                <a:r>
                  <a:rPr sz="2400" b="0">
                    <a:solidFill>
                      <a:srgbClr val="111827"/>
                    </a:solidFill>
                    <a:latin typeface="Arial"/>
                  </a:rPr>
                  <a:t> be a solution of </a:t>
                </a:r>
                <a:r>
                  <a:rPr lang="en-IN" sz="2400">
                    <a:solidFill>
                      <a:srgbClr val="111827"/>
                    </a:solidFill>
                    <a:latin typeface="Cambria Math" panose="02040503050406030204" pitchFamily="18" charset="0"/>
                  </a:rPr>
                  <a:t>$x^2+x+1=0$</a:t>
                </a:r>
                <a:r>
                  <a:rPr sz="2400" b="0">
                    <a:solidFill>
                      <a:srgbClr val="111827"/>
                    </a:solidFill>
                    <a:latin typeface="Arial"/>
                  </a:rPr>
                  <a:t>, and for some </a:t>
                </a:r>
                <a:r>
                  <a:rPr lang="en-IN" sz="2400">
                    <a:solidFill>
                      <a:srgbClr val="111827"/>
                    </a:solidFill>
                    <a:latin typeface="Cambria Math" panose="02040503050406030204" pitchFamily="18" charset="0"/>
                  </a:rPr>
                  <a:t>$a$</a:t>
                </a:r>
                <a:r>
                  <a:rPr sz="2400" b="0">
                    <a:solidFill>
                      <a:srgbClr val="111827"/>
                    </a:solidFill>
                    <a:latin typeface="Arial"/>
                  </a:rPr>
                  <a:t> and </a:t>
                </a:r>
                <a:r>
                  <a:rPr lang="en-IN" sz="2400">
                    <a:solidFill>
                      <a:srgbClr val="111827"/>
                    </a:solidFill>
                    <a:latin typeface="Cambria Math" panose="02040503050406030204" pitchFamily="18" charset="0"/>
                  </a:rPr>
                  <a:t>$b\in\mathbb{R}$</a:t>
                </a:r>
                <a:r>
                  <a:rPr sz="2400" b="0">
                    <a:solidFill>
                      <a:srgbClr val="111827"/>
                    </a:solidFill>
                    <a:latin typeface="Arial"/>
                  </a:rPr>
                  <a:t>, </a:t>
                </a:r>
                <a:r>
                  <a:rPr lang="en-IN" sz="2400">
                    <a:solidFill>
                      <a:srgbClr val="111827"/>
                    </a:solidFill>
                    <a:latin typeface="Cambria Math" panose="02040503050406030204" pitchFamily="18" charset="0"/>
                  </a:rPr>
                  <a:t>$\begin{bmatrix}4&amp;a&amp;b\end{bmatrix}\begin{bmatrix}1&amp;16&amp;13\\-1&amp;-1&amp;2\\-2&amp;-14&amp;-8\end{bmatrix}=\begin{bmatrix}0&amp;0&amp;0\end{bmatrix}$</a:t>
                </a:r>
                <a:r>
                  <a:rPr sz="2400" b="0">
                    <a:solidFill>
                      <a:srgbClr val="111827"/>
                    </a:solidFill>
                    <a:latin typeface="Arial"/>
                  </a:rPr>
                  <a:t>. If </a:t>
                </a:r>
                <a:r>
                  <a:rPr lang="en-IN" sz="2400">
                    <a:solidFill>
                      <a:srgbClr val="111827"/>
                    </a:solidFill>
                    <a:latin typeface="Cambria Math" panose="02040503050406030204" pitchFamily="18" charset="0"/>
                  </a:rPr>
                  <a:t>$\frac4{\alpha^4}+\frac m{\alpha^a}+\frac n{\alpha^b}=3$</a:t>
                </a:r>
                <a:r>
                  <a:rPr sz="2400" b="0">
                    <a:solidFill>
                      <a:srgbClr val="111827"/>
                    </a:solidFill>
                    <a:latin typeface="Arial"/>
                  </a:rPr>
                  <a:t>, then </a:t>
                </a:r>
                <a:r>
                  <a:rPr lang="en-IN" sz="2400">
                    <a:solidFill>
                      <a:srgbClr val="111827"/>
                    </a:solidFill>
                    <a:latin typeface="Cambria Math" panose="02040503050406030204" pitchFamily="18" charset="0"/>
                  </a:rPr>
                  <a:t>$m+n$</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8   (B) 7   (C) 3   (D) 11</a:t>
                </a:r>
                <a:endParaRPr sz="2400">
                  <a:solidFill>
                    <a:srgbClr val="111827"/>
                  </a:solidFill>
                </a:endParaRPr>
              </a:p>
            </p:txBody>
          </p:sp>
        </mc:Fallback>
      </mc:AlternateContent>
      <p:sp>
        <p:nvSpPr>
          <p:cNvPr id="5" name="Rectangle 4"/>
          <p:cNvSpPr/>
          <p:nvPr/>
        </p:nvSpPr>
        <p:spPr>
          <a:xfrm>
            <a:off x="731520" y="4281424"/>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Cube roots of unity, Row-vector–matrix product giving a zero vector</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Each column of the matrix gives a linear equation for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oMath>
                </a14:m>
                <a:r>
                  <a:rPr sz="2400" b="0">
                    <a:solidFill>
                      <a:srgbClr val="78350F"/>
                    </a:solidFill>
                    <a:latin typeface="Arial"/>
                  </a:rPr>
                  <a:t>; then </a:t>
                </a:r>
                <a14:m>
                  <m:oMath xmlns:m="http://schemas.openxmlformats.org/officeDocument/2006/math">
                    <m:sSup>
                      <m:e>
                        <m:r>
                          <a:rPr lang="en-IN" sz="2400" i="1">
                            <a:solidFill>
                              <a:srgbClr val="78350F"/>
                            </a:solidFill>
                            <a:latin typeface="Cambria Math" panose="02040503050406030204" pitchFamily="18" charset="0"/>
                          </a:rPr>
                          <m:t>α</m:t>
                        </m:r>
                      </m:e>
                      <m:sup>
                        <m:r>
                          <a:rPr lang="en-IN" sz="2400" i="1">
                            <a:solidFill>
                              <a:srgbClr val="78350F"/>
                            </a:solidFill>
                            <a:latin typeface="Cambria Math" panose="02040503050406030204" pitchFamily="18" charset="0"/>
                          </a:rPr>
                          <m:t>3</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reduces the powers to </a:t>
                </a:r>
                <a14:m>
                  <m:oMath xmlns:m="http://schemas.openxmlformats.org/officeDocument/2006/math">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α</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α</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Each column of the matrix gives a linear equation for </a:t>
                </a:r>
                <a:r>
                  <a:rPr lang="en-IN" sz="2400">
                    <a:solidFill>
                      <a:srgbClr val="78350F"/>
                    </a:solidFill>
                    <a:latin typeface="Cambria Math" panose="02040503050406030204" pitchFamily="18" charset="0"/>
                  </a:rPr>
                  <a:t>$a,b$</a:t>
                </a:r>
                <a:r>
                  <a:rPr sz="2400" b="0">
                    <a:solidFill>
                      <a:srgbClr val="78350F"/>
                    </a:solidFill>
                    <a:latin typeface="Arial"/>
                  </a:rPr>
                  <a:t>; then </a:t>
                </a:r>
                <a:r>
                  <a:rPr lang="en-IN" sz="2400">
                    <a:solidFill>
                      <a:srgbClr val="78350F"/>
                    </a:solidFill>
                    <a:latin typeface="Cambria Math" panose="02040503050406030204" pitchFamily="18" charset="0"/>
                  </a:rPr>
                  <a:t>$\alpha^3=1$</a:t>
                </a:r>
                <a:r>
                  <a:rPr sz="2400" b="0">
                    <a:solidFill>
                      <a:srgbClr val="78350F"/>
                    </a:solidFill>
                    <a:latin typeface="Arial"/>
                  </a:rPr>
                  <a:t> reduces the powers to </a:t>
                </a:r>
                <a:r>
                  <a:rPr lang="en-IN" sz="2400">
                    <a:solidFill>
                      <a:srgbClr val="78350F"/>
                    </a:solidFill>
                    <a:latin typeface="Cambria Math" panose="02040503050406030204" pitchFamily="18" charset="0"/>
                  </a:rPr>
                  <a:t>$1,\alpha,\alpha^2$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Multiplying the row by each column: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64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Solving,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(check in the third: </a:t>
                </a:r>
                <a14:m>
                  <m:oMath xmlns:m="http://schemas.openxmlformats.org/officeDocument/2006/math">
                    <m:r>
                      <a:rPr lang="en-IN" sz="2400" i="1">
                        <a:solidFill>
                          <a:srgbClr val="111827"/>
                        </a:solidFill>
                        <a:latin typeface="Cambria Math" panose="02040503050406030204" pitchFamily="18" charset="0"/>
                      </a:rPr>
                      <m:t>52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Now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ω</m:t>
                    </m:r>
                  </m:oMath>
                </a14:m>
                <a:r>
                  <a:rPr sz="2400" b="0">
                    <a:solidFill>
                      <a:srgbClr val="111827"/>
                    </a:solidFill>
                    <a:latin typeface="Arial"/>
                  </a:rPr>
                  <a:t> is a non-real cube root of unity, so </a:t>
                </a:r>
                <a14:m>
                  <m:oMath xmlns:m="http://schemas.openxmlformats.org/officeDocument/2006/math">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ω</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4</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𝑎</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𝑏</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becomes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4</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sSup>
                          <m:e>
                            <m:r>
                              <a:rPr lang="en-IN" sz="2400" i="1">
                                <a:solidFill>
                                  <a:srgbClr val="111827"/>
                                </a:solidFill>
                                <a:latin typeface="Cambria Math" panose="02040503050406030204" pitchFamily="18" charset="0"/>
                              </a:rPr>
                              <m:t>ω</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5</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Multiplying the row by each column: </a:t>
                </a:r>
                <a:r>
                  <a:rPr lang="en-IN" sz="2400">
                    <a:solidFill>
                      <a:srgbClr val="111827"/>
                    </a:solidFill>
                    <a:latin typeface="Cambria Math" panose="02040503050406030204" pitchFamily="18" charset="0"/>
                  </a:rPr>
                  <a:t>$4-a-2b=0$</a:t>
                </a:r>
                <a:r>
                  <a:rPr sz="2400" b="0">
                    <a:solidFill>
                      <a:srgbClr val="111827"/>
                    </a:solidFill>
                    <a:latin typeface="Arial"/>
                  </a:rPr>
                  <a:t>, </a:t>
                </a:r>
                <a:r>
                  <a:rPr lang="en-IN" sz="2400">
                    <a:solidFill>
                      <a:srgbClr val="111827"/>
                    </a:solidFill>
                    <a:latin typeface="Cambria Math" panose="02040503050406030204" pitchFamily="18" charset="0"/>
                  </a:rPr>
                  <a:t>$64-a-14b=0$</a:t>
                </a:r>
                <a:r>
                  <a:rPr sz="2400" b="0">
                    <a:solidFill>
                      <a:srgbClr val="111827"/>
                    </a:solidFill>
                    <a:latin typeface="Arial"/>
                  </a:rPr>
                  <a:t>, </a:t>
                </a:r>
                <a:r>
                  <a:rPr lang="en-IN" sz="2400">
                    <a:solidFill>
                      <a:srgbClr val="111827"/>
                    </a:solidFill>
                    <a:latin typeface="Cambria Math" panose="02040503050406030204" pitchFamily="18" charset="0"/>
                  </a:rPr>
                  <a:t>$52+2a-8b=0$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Solving, </a:t>
                </a:r>
                <a:r>
                  <a:rPr lang="en-IN" sz="2400">
                    <a:solidFill>
                      <a:srgbClr val="111827"/>
                    </a:solidFill>
                    <a:latin typeface="Cambria Math" panose="02040503050406030204" pitchFamily="18" charset="0"/>
                  </a:rPr>
                  <a:t>$a=-6$</a:t>
                </a:r>
                <a:r>
                  <a:rPr sz="2400" b="0">
                    <a:solidFill>
                      <a:srgbClr val="111827"/>
                    </a:solidFill>
                    <a:latin typeface="Arial"/>
                  </a:rPr>
                  <a:t> and </a:t>
                </a:r>
                <a:r>
                  <a:rPr lang="en-IN" sz="2400">
                    <a:solidFill>
                      <a:srgbClr val="111827"/>
                    </a:solidFill>
                    <a:latin typeface="Cambria Math" panose="02040503050406030204" pitchFamily="18" charset="0"/>
                  </a:rPr>
                  <a:t>$b=5$</a:t>
                </a:r>
                <a:r>
                  <a:rPr sz="2400" b="0">
                    <a:solidFill>
                      <a:srgbClr val="111827"/>
                    </a:solidFill>
                    <a:latin typeface="Arial"/>
                  </a:rPr>
                  <a:t> (check in the third: </a:t>
                </a:r>
                <a:r>
                  <a:rPr lang="en-IN" sz="2400">
                    <a:solidFill>
                      <a:srgbClr val="111827"/>
                    </a:solidFill>
                    <a:latin typeface="Cambria Math" panose="02040503050406030204" pitchFamily="18" charset="0"/>
                  </a:rPr>
                  <a:t>$52-12-40=0$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Now </a:t>
                </a:r>
                <a:r>
                  <a:rPr lang="en-IN" sz="2400">
                    <a:solidFill>
                      <a:srgbClr val="111827"/>
                    </a:solidFill>
                    <a:latin typeface="Cambria Math" panose="02040503050406030204" pitchFamily="18" charset="0"/>
                  </a:rPr>
                  <a:t>$\alpha=\omega$</a:t>
                </a:r>
                <a:r>
                  <a:rPr sz="2400" b="0">
                    <a:solidFill>
                      <a:srgbClr val="111827"/>
                    </a:solidFill>
                    <a:latin typeface="Arial"/>
                  </a:rPr>
                  <a:t> is a non-real cube root of unity, so </a:t>
                </a:r>
                <a:r>
                  <a:rPr lang="en-IN" sz="2400">
                    <a:solidFill>
                      <a:srgbClr val="111827"/>
                    </a:solidFill>
                    <a:latin typeface="Cambria Math" panose="02040503050406030204" pitchFamily="18" charset="0"/>
                  </a:rPr>
                  <a:t>$\omega^3=1$</a:t>
                </a:r>
                <a:r>
                  <a:rPr sz="2400" b="0">
                    <a:solidFill>
                      <a:srgbClr val="111827"/>
                    </a:solidFill>
                    <a:latin typeface="Arial"/>
                  </a:rPr>
                  <a:t> and </a:t>
                </a:r>
                <a:r>
                  <a:rPr lang="en-IN" sz="2400">
                    <a:solidFill>
                      <a:srgbClr val="111827"/>
                    </a:solidFill>
                    <a:latin typeface="Cambria Math" panose="02040503050406030204" pitchFamily="18" charset="0"/>
                  </a:rPr>
                  <a:t>$1+\omega+\omega^2=0$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$\frac4{\alpha^4}+\frac m{\alpha^a}+\frac n{\alpha^b}=3$</a:t>
                </a:r>
                <a:r>
                  <a:rPr sz="2400" b="0">
                    <a:solidFill>
                      <a:srgbClr val="111827"/>
                    </a:solidFill>
                    <a:latin typeface="Arial"/>
                  </a:rPr>
                  <a:t> becomes </a:t>
                </a:r>
                <a:r>
                  <a:rPr lang="en-IN" sz="2400">
                    <a:solidFill>
                      <a:srgbClr val="111827"/>
                    </a:solidFill>
                    <a:latin typeface="Cambria Math" panose="02040503050406030204" pitchFamily="18" charset="0"/>
                  </a:rPr>
                  <a:t>$\frac4{\omega^4}+\frac m{\omega^{-6}}+\frac n{\omega^5}=3$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4</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ω</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ω</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5</m:t>
                            </m:r>
                          </m:sup>
                        </m:sSup>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ω</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ω</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ω</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Divide by 4: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4</m:t>
                            </m:r>
                          </m:den>
                        </m:f>
                      </m:e>
                    </m:d>
                    <m:r>
                      <a:rPr lang="en-IN" sz="2400" i="1">
                        <a:solidFill>
                          <a:srgbClr val="111827"/>
                        </a:solidFill>
                        <a:latin typeface="Cambria Math" panose="02040503050406030204" pitchFamily="18" charset="0"/>
                      </a:rPr>
                      <m:t>ω</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Using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ω</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that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ω</m:t>
                    </m:r>
                  </m:oMath>
                </a14:m>
                <a:r>
                  <a:rPr sz="2400" b="0">
                    <a:solidFill>
                      <a:srgbClr val="111827"/>
                    </a:solidFill>
                    <a:latin typeface="Arial"/>
                  </a:rPr>
                  <a:t> are independent over </a:t>
                </a:r>
                <a14:m>
                  <m:oMath xmlns:m="http://schemas.openxmlformats.org/officeDocument/2006/math">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option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$\frac4{\omega^4}=4\omega^{-1}=4\omega^2$</a:t>
                </a:r>
                <a:r>
                  <a:rPr sz="2400" b="0">
                    <a:solidFill>
                      <a:srgbClr val="111827"/>
                    </a:solidFill>
                    <a:latin typeface="Arial"/>
                  </a:rPr>
                  <a:t>, </a:t>
                </a:r>
                <a:r>
                  <a:rPr lang="en-IN" sz="2400">
                    <a:solidFill>
                      <a:srgbClr val="111827"/>
                    </a:solidFill>
                    <a:latin typeface="Cambria Math" panose="02040503050406030204" pitchFamily="18" charset="0"/>
                  </a:rPr>
                  <a:t>$\omega^{-6}=1$</a:t>
                </a:r>
                <a:r>
                  <a:rPr sz="2400" b="0">
                    <a:solidFill>
                      <a:srgbClr val="111827"/>
                    </a:solidFill>
                    <a:latin typeface="Arial"/>
                  </a:rPr>
                  <a:t>, </a:t>
                </a:r>
                <a:r>
                  <a:rPr lang="en-IN" sz="2400">
                    <a:solidFill>
                      <a:srgbClr val="111827"/>
                    </a:solidFill>
                    <a:latin typeface="Cambria Math" panose="02040503050406030204" pitchFamily="18" charset="0"/>
                  </a:rPr>
                  <a:t>$\frac1{\omega^5}=\omega^{-5}=\omega$</a:t>
                </a:r>
                <a:r>
                  <a:rPr sz="2400" b="0">
                    <a:solidFill>
                      <a:srgbClr val="111827"/>
                    </a:solidFill>
                    <a:latin typeface="Arial"/>
                  </a:rPr>
                  <a:t>, so </a:t>
                </a:r>
                <a:r>
                  <a:rPr lang="en-IN" sz="2400">
                    <a:solidFill>
                      <a:srgbClr val="111827"/>
                    </a:solidFill>
                    <a:latin typeface="Cambria Math" panose="02040503050406030204" pitchFamily="18" charset="0"/>
                  </a:rPr>
                  <a:t>$4\omega^2+m+n\omega=3$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Divide by 4: </a:t>
                </a:r>
                <a:r>
                  <a:rPr lang="en-IN" sz="2400">
                    <a:solidFill>
                      <a:srgbClr val="111827"/>
                    </a:solidFill>
                    <a:latin typeface="Cambria Math" panose="02040503050406030204" pitchFamily="18" charset="0"/>
                  </a:rPr>
                  <a:t>$\left(\frac{m-3}{4}\right)+\left(\frac n4\right)\omega+\omega^2=0$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Using </a:t>
                </a:r>
                <a:r>
                  <a:rPr lang="en-IN" sz="2400">
                    <a:solidFill>
                      <a:srgbClr val="111827"/>
                    </a:solidFill>
                    <a:latin typeface="Cambria Math" panose="02040503050406030204" pitchFamily="18" charset="0"/>
                  </a:rPr>
                  <a:t>$1+\omega+\omega^2=0$</a:t>
                </a:r>
                <a:r>
                  <a:rPr sz="2400" b="0">
                    <a:solidFill>
                      <a:srgbClr val="111827"/>
                    </a:solidFill>
                    <a:latin typeface="Arial"/>
                  </a:rPr>
                  <a:t> (and that </a:t>
                </a:r>
                <a:r>
                  <a:rPr lang="en-IN" sz="2400">
                    <a:solidFill>
                      <a:srgbClr val="111827"/>
                    </a:solidFill>
                    <a:latin typeface="Cambria Math" panose="02040503050406030204" pitchFamily="18" charset="0"/>
                  </a:rPr>
                  <a:t>$1,\omega$</a:t>
                </a:r>
                <a:r>
                  <a:rPr sz="2400" b="0">
                    <a:solidFill>
                      <a:srgbClr val="111827"/>
                    </a:solidFill>
                    <a:latin typeface="Arial"/>
                  </a:rPr>
                  <a:t> are independent over </a:t>
                </a:r>
                <a:r>
                  <a:rPr lang="en-IN" sz="2400">
                    <a:solidFill>
                      <a:srgbClr val="111827"/>
                    </a:solidFill>
                    <a:latin typeface="Cambria Math" panose="02040503050406030204" pitchFamily="18" charset="0"/>
                  </a:rPr>
                  <a:t>$\mathbb{R}$</a:t>
                </a:r>
                <a:r>
                  <a:rPr sz="2400" b="0">
                    <a:solidFill>
                      <a:srgbClr val="111827"/>
                    </a:solidFill>
                    <a:latin typeface="Arial"/>
                  </a:rPr>
                  <a:t>): </a:t>
                </a:r>
                <a:r>
                  <a:rPr lang="en-IN" sz="2400">
                    <a:solidFill>
                      <a:srgbClr val="111827"/>
                    </a:solidFill>
                    <a:latin typeface="Cambria Math" panose="02040503050406030204" pitchFamily="18" charset="0"/>
                  </a:rPr>
                  <a:t>$\frac{m-3}4=1$</a:t>
                </a:r>
                <a:r>
                  <a:rPr sz="2400" b="0">
                    <a:solidFill>
                      <a:srgbClr val="111827"/>
                    </a:solidFill>
                    <a:latin typeface="Arial"/>
                  </a:rPr>
                  <a:t> and </a:t>
                </a:r>
                <a:r>
                  <a:rPr lang="en-IN" sz="2400">
                    <a:solidFill>
                      <a:srgbClr val="111827"/>
                    </a:solidFill>
                    <a:latin typeface="Cambria Math" panose="02040503050406030204" pitchFamily="18" charset="0"/>
                  </a:rPr>
                  <a:t>$\frac n4=1$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$m=7$</a:t>
                </a:r>
                <a:r>
                  <a:rPr sz="2400" b="0">
                    <a:solidFill>
                      <a:srgbClr val="111827"/>
                    </a:solidFill>
                    <a:latin typeface="Arial"/>
                  </a:rPr>
                  <a:t>, </a:t>
                </a:r>
                <a:r>
                  <a:rPr lang="en-IN" sz="2400">
                    <a:solidFill>
                      <a:srgbClr val="111827"/>
                    </a:solidFill>
                    <a:latin typeface="Cambria Math" panose="02040503050406030204" pitchFamily="18" charset="0"/>
                  </a:rPr>
                  <a:t>$n=4$</a:t>
                </a:r>
                <a:r>
                  <a:rPr sz="2400" b="0">
                    <a:solidFill>
                      <a:srgbClr val="111827"/>
                    </a:solidFill>
                    <a:latin typeface="Arial"/>
                  </a:rPr>
                  <a:t> and </a:t>
                </a:r>
                <a:r>
                  <a:rPr lang="en-IN" sz="2400">
                    <a:solidFill>
                      <a:srgbClr val="111827"/>
                    </a:solidFill>
                    <a:latin typeface="Cambria Math" panose="02040503050406030204" pitchFamily="18" charset="0"/>
                  </a:rPr>
                  <a:t>$m+n=11$</a:t>
                </a:r>
                <a:r>
                  <a:rPr sz="2400" b="0">
                    <a:solidFill>
                      <a:srgbClr val="111827"/>
                    </a:solidFill>
                    <a:latin typeface="Arial"/>
                  </a:rPr>
                  <a:t>, option (D).</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11</a:t>
            </a:r>
            <a:endParaRPr sz="2800">
              <a:solidFill>
                <a:srgbClr val="15803D"/>
              </a:solidFill>
            </a:endParaRP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𝑘</m:t>
                        </m:r>
                      </m:sup>
                    </m:sSup>
                  </m:oMath>
                </a14:m>
                <a:r>
                  <a:rPr sz="2400" b="0">
                    <a:solidFill>
                      <a:srgbClr val="111827"/>
                    </a:solidFill>
                    <a:latin typeface="Arial"/>
                  </a:rPr>
                  <a:t> depends only on </a:t>
                </a:r>
                <a14:m>
                  <m:oMath xmlns:m="http://schemas.openxmlformats.org/officeDocument/2006/math">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oMath>
                </a14:m>
                <a:r>
                  <a:rPr sz="2400" b="0">
                    <a:solidFill>
                      <a:srgbClr val="111827"/>
                    </a:solidFill>
                    <a:latin typeface="Arial"/>
                  </a:rPr>
                  <a:t>, with </a:t>
                </a:r>
                <a14:m>
                  <m:oMath xmlns:m="http://schemas.openxmlformats.org/officeDocument/2006/math">
                    <m:sSup>
                      <m:e>
                        <m:r>
                          <a:rPr lang="en-IN" sz="2400" i="1">
                            <a:solidFill>
                              <a:srgbClr val="111827"/>
                            </a:solidFill>
                            <a:latin typeface="Cambria Math" panose="02040503050406030204" pitchFamily="18" charset="0"/>
                          </a:rPr>
                          <m:t>α</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a:rPr lang="en-IN" sz="2400" i="1">
                        <a:solidFill>
                          <a:srgbClr val="111827"/>
                        </a:solidFill>
                        <a:latin typeface="Cambria Math" panose="02040503050406030204" pitchFamily="18" charset="0"/>
                      </a:rPr>
                      <m:t>ω</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oMath>
                </a14:m>
                <a:r>
                  <a:rPr sz="2400" b="0">
                    <a:solidFill>
                      <a:srgbClr val="111827"/>
                    </a:solidFill>
                    <a:latin typeface="Arial"/>
                  </a:rPr>
                  <a:t> real then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ω</m:t>
                    </m:r>
                  </m:oMath>
                </a14:m>
                <a:r>
                  <a:rPr sz="2400" b="0">
                    <a:solidFill>
                      <a:srgbClr val="111827"/>
                    </a:solidFill>
                    <a:latin typeface="Arial"/>
                  </a:rPr>
                  <a:t> is non-real); with </a:t>
                </a:r>
                <a14:m>
                  <m:oMath xmlns:m="http://schemas.openxmlformats.org/officeDocument/2006/math">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ω</m:t>
                    </m:r>
                  </m:oMath>
                </a14:m>
                <a:r>
                  <a:rPr sz="2400" b="0">
                    <a:solidFill>
                      <a:srgbClr val="111827"/>
                    </a:solidFill>
                    <a:latin typeface="Arial"/>
                  </a:rPr>
                  <a:t>, reduce any combination to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a:rPr lang="en-IN" sz="2400" i="1">
                        <a:solidFill>
                          <a:srgbClr val="111827"/>
                        </a:solidFill>
                        <a:latin typeface="Cambria Math" panose="02040503050406030204" pitchFamily="18" charset="0"/>
                      </a:rPr>
                      <m:t>ω</m:t>
                    </m:r>
                  </m:oMath>
                </a14:m>
                <a:r>
                  <a:rPr sz="2400" b="0">
                    <a:solidFill>
                      <a:srgbClr val="111827"/>
                    </a:solidFill>
                    <a:latin typeface="Arial"/>
                  </a:rPr>
                  <a:t> first.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m:t>
                        </m:r>
                      </m:sub>
                    </m:sSub>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2</m:t>
                        </m:r>
                      </m:sub>
                    </m:sSub>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means the rows of </a:t>
                </a:r>
                <a14:m>
                  <m:oMath xmlns:m="http://schemas.openxmlformats.org/officeDocument/2006/math">
                    <m:r>
                      <a:rPr lang="en-IN" sz="2400" i="1">
                        <a:solidFill>
                          <a:srgbClr val="111827"/>
                        </a:solidFill>
                        <a:latin typeface="Cambria Math" panose="02040503050406030204" pitchFamily="18" charset="0"/>
                      </a:rPr>
                      <m:t>𝑀</m:t>
                    </m:r>
                  </m:oMath>
                </a14:m>
                <a:r>
                  <a:rPr sz="2400" b="0">
                    <a:solidFill>
                      <a:srgbClr val="111827"/>
                    </a:solidFill>
                    <a:latin typeface="Arial"/>
                  </a:rPr>
                  <a:t> are linearly dependent with weights </a:t>
                </a:r>
                <a14:m>
                  <m:oMath xmlns:m="http://schemas.openxmlformats.org/officeDocument/2006/math">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4</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$x^2+x+1=0\Rightarrow x^3=1$</a:t>
                </a:r>
                <a:r>
                  <a:rPr sz="2400" b="0">
                    <a:solidFill>
                      <a:srgbClr val="111827"/>
                    </a:solidFill>
                    <a:latin typeface="Arial"/>
                  </a:rPr>
                  <a:t>, so </a:t>
                </a:r>
                <a:r>
                  <a:rPr lang="en-IN" sz="2400">
                    <a:solidFill>
                      <a:srgbClr val="111827"/>
                    </a:solidFill>
                    <a:latin typeface="Cambria Math" panose="02040503050406030204" pitchFamily="18" charset="0"/>
                  </a:rPr>
                  <a:t>$\alpha^k$</a:t>
                </a:r>
                <a:r>
                  <a:rPr sz="2400" b="0">
                    <a:solidFill>
                      <a:srgbClr val="111827"/>
                    </a:solidFill>
                    <a:latin typeface="Arial"/>
                  </a:rPr>
                  <a:t> depends only on </a:t>
                </a:r>
                <a:r>
                  <a:rPr lang="en-IN" sz="2400">
                    <a:solidFill>
                      <a:srgbClr val="111827"/>
                    </a:solidFill>
                    <a:latin typeface="Cambria Math" panose="02040503050406030204" pitchFamily="18" charset="0"/>
                  </a:rPr>
                  <a:t>$k\bmod3$</a:t>
                </a:r>
                <a:r>
                  <a:rPr sz="2400" b="0">
                    <a:solidFill>
                      <a:srgbClr val="111827"/>
                    </a:solidFill>
                    <a:latin typeface="Arial"/>
                  </a:rPr>
                  <a:t>, with </a:t>
                </a:r>
                <a:r>
                  <a:rPr lang="en-IN" sz="2400">
                    <a:solidFill>
                      <a:srgbClr val="111827"/>
                    </a:solidFill>
                    <a:latin typeface="Cambria Math" panose="02040503050406030204" pitchFamily="18" charset="0"/>
                  </a:rPr>
                  <a:t>$\alpha^{-1}=\alpha^2$</a:t>
                </a:r>
                <a:r>
                  <a:rPr sz="2400" b="0">
                    <a:solidFill>
                      <a:srgbClr val="111827"/>
                    </a:solidFill>
                    <a:latin typeface="Arial"/>
                  </a:rPr>
                  <a:t> and </a:t>
                </a:r>
                <a:r>
                  <a:rPr lang="en-IN" sz="2400">
                    <a:solidFill>
                      <a:srgbClr val="111827"/>
                    </a:solidFill>
                    <a:latin typeface="Cambria Math" panose="02040503050406030204" pitchFamily="18" charset="0"/>
                  </a:rPr>
                  <a:t>$1+\alpha+\alpha^2=0$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$p+q\omega=0$</a:t>
                </a:r>
                <a:r>
                  <a:rPr sz="2400" b="0">
                    <a:solidFill>
                      <a:srgbClr val="111827"/>
                    </a:solidFill>
                    <a:latin typeface="Arial"/>
                  </a:rPr>
                  <a:t> with </a:t>
                </a:r>
                <a:r>
                  <a:rPr lang="en-IN" sz="2400">
                    <a:solidFill>
                      <a:srgbClr val="111827"/>
                    </a:solidFill>
                    <a:latin typeface="Cambria Math" panose="02040503050406030204" pitchFamily="18" charset="0"/>
                  </a:rPr>
                  <a:t>$p,q$</a:t>
                </a:r>
                <a:r>
                  <a:rPr sz="2400" b="0">
                    <a:solidFill>
                      <a:srgbClr val="111827"/>
                    </a:solidFill>
                    <a:latin typeface="Arial"/>
                  </a:rPr>
                  <a:t> real then </a:t>
                </a:r>
                <a:r>
                  <a:rPr lang="en-IN" sz="2400">
                    <a:solidFill>
                      <a:srgbClr val="111827"/>
                    </a:solidFill>
                    <a:latin typeface="Cambria Math" panose="02040503050406030204" pitchFamily="18" charset="0"/>
                  </a:rPr>
                  <a:t>$p=q=0$</a:t>
                </a:r>
                <a:r>
                  <a:rPr sz="2400" b="0">
                    <a:solidFill>
                      <a:srgbClr val="111827"/>
                    </a:solidFill>
                    <a:latin typeface="Arial"/>
                  </a:rPr>
                  <a:t> (</a:t>
                </a:r>
                <a:r>
                  <a:rPr lang="en-IN" sz="2400">
                    <a:solidFill>
                      <a:srgbClr val="111827"/>
                    </a:solidFill>
                    <a:latin typeface="Cambria Math" panose="02040503050406030204" pitchFamily="18" charset="0"/>
                  </a:rPr>
                  <a:t>$\omega$</a:t>
                </a:r>
                <a:r>
                  <a:rPr sz="2400" b="0">
                    <a:solidFill>
                      <a:srgbClr val="111827"/>
                    </a:solidFill>
                    <a:latin typeface="Arial"/>
                  </a:rPr>
                  <a:t> is non-real); with </a:t>
                </a:r>
                <a:r>
                  <a:rPr lang="en-IN" sz="2400">
                    <a:solidFill>
                      <a:srgbClr val="111827"/>
                    </a:solidFill>
                    <a:latin typeface="Cambria Math" panose="02040503050406030204" pitchFamily="18" charset="0"/>
                  </a:rPr>
                  <a:t>$\omega^2=-1-\omega$</a:t>
                </a:r>
                <a:r>
                  <a:rPr sz="2400" b="0">
                    <a:solidFill>
                      <a:srgbClr val="111827"/>
                    </a:solidFill>
                    <a:latin typeface="Arial"/>
                  </a:rPr>
                  <a:t>, reduce any combination to </a:t>
                </a:r>
                <a:r>
                  <a:rPr lang="en-IN" sz="2400">
                    <a:solidFill>
                      <a:srgbClr val="111827"/>
                    </a:solidFill>
                    <a:latin typeface="Cambria Math" panose="02040503050406030204" pitchFamily="18" charset="0"/>
                  </a:rPr>
                  <a:t>$p+q\omega$</a:t>
                </a:r>
                <a:r>
                  <a:rPr sz="2400" b="0">
                    <a:solidFill>
                      <a:srgbClr val="111827"/>
                    </a:solidFill>
                    <a:latin typeface="Arial"/>
                  </a:rPr>
                  <a:t> first.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$[c_1\ c_2\ c_3]M=0$</a:t>
                </a:r>
                <a:r>
                  <a:rPr sz="2400" b="0">
                    <a:solidFill>
                      <a:srgbClr val="111827"/>
                    </a:solidFill>
                    <a:latin typeface="Arial"/>
                  </a:rPr>
                  <a:t> means the rows of </a:t>
                </a:r>
                <a:r>
                  <a:rPr lang="en-IN" sz="2400">
                    <a:solidFill>
                      <a:srgbClr val="111827"/>
                    </a:solidFill>
                    <a:latin typeface="Cambria Math" panose="02040503050406030204" pitchFamily="18" charset="0"/>
                  </a:rPr>
                  <a:t>$M$</a:t>
                </a:r>
                <a:r>
                  <a:rPr sz="2400" b="0">
                    <a:solidFill>
                      <a:srgbClr val="111827"/>
                    </a:solidFill>
                    <a:latin typeface="Arial"/>
                  </a:rPr>
                  <a:t> are linearly dependent with weights </a:t>
                </a:r>
                <a:r>
                  <a:rPr lang="en-IN" sz="2400">
                    <a:solidFill>
                      <a:srgbClr val="111827"/>
                    </a:solidFill>
                    <a:latin typeface="Cambria Math" panose="02040503050406030204" pitchFamily="18" charset="0"/>
                  </a:rPr>
                  <a:t>$c_i$</a:t>
                </a:r>
                <a:r>
                  <a:rPr sz="2400" b="0">
                    <a:solidFill>
                      <a:srgbClr val="111827"/>
                    </a:solidFill>
                    <a:latin typeface="Arial"/>
                  </a:rPr>
                  <a:t>; here </a:t>
                </a:r>
                <a:r>
                  <a:rPr lang="en-IN" sz="2400">
                    <a:solidFill>
                      <a:srgbClr val="111827"/>
                    </a:solidFill>
                    <a:latin typeface="Cambria Math" panose="02040503050406030204" pitchFamily="18" charset="0"/>
                  </a:rPr>
                  <a:t>$4R_1-6R_2+5R_3=0$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77266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e</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num>
                              <m:den>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e>
                    </m:d>
                  </m:oMath>
                </a14:m>
                <a:r>
                  <a:rPr sz="2400" b="0">
                    <a:solidFill>
                      <a:srgbClr val="111827"/>
                    </a:solidFill>
                    <a:latin typeface="Arial"/>
                  </a:rPr>
                  <a:t>. Then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sub>
                      <m:sup>
                        <m:r>
                          <a:rPr lang="en-IN" sz="2400" i="1">
                            <a:solidFill>
                              <a:srgbClr val="111827"/>
                            </a:solidFill>
                            <a:latin typeface="Cambria Math" panose="02040503050406030204" pitchFamily="18" charset="0"/>
                          </a:rPr>
                          <m:t>​</m:t>
                        </m:r>
                      </m:sup>
                      <m:e>
                        <m:sSup>
                          <m:e>
                            <m:r>
                              <a:rPr lang="en-IN" sz="2400" i="1">
                                <a:solidFill>
                                  <a:srgbClr val="111827"/>
                                </a:solidFill>
                                <a:latin typeface="Cambria Math" panose="02040503050406030204" pitchFamily="18" charset="0"/>
                              </a:rPr>
                              <m:t>θ</m:t>
                            </m:r>
                          </m:e>
                          <m:sup>
                            <m:r>
                              <a:rPr lang="en-IN" sz="2400" i="1">
                                <a:solidFill>
                                  <a:srgbClr val="111827"/>
                                </a:solidFill>
                                <a:latin typeface="Cambria Math" panose="02040503050406030204" pitchFamily="18" charset="0"/>
                              </a:rPr>
                              <m:t>2</m:t>
                            </m:r>
                          </m:sup>
                        </m:sSup>
                      </m:e>
                    </m:nary>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6</m:t>
                    </m:r>
                    <m:sSup>
                      <m:e>
                        <m:r>
                          <a:rPr lang="en-IN" sz="2400" i="1">
                            <a:solidFill>
                              <a:srgbClr val="111827"/>
                            </a:solidFill>
                            <a:latin typeface="Cambria Math" panose="02040503050406030204" pitchFamily="18" charset="0"/>
                          </a:rPr>
                          <m:t>π</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8</m:t>
                    </m:r>
                    <m:sSup>
                      <m:e>
                        <m:r>
                          <a:rPr lang="en-IN" sz="2400" i="1">
                            <a:solidFill>
                              <a:srgbClr val="111827"/>
                            </a:solidFill>
                            <a:latin typeface="Cambria Math" panose="02040503050406030204" pitchFamily="18" charset="0"/>
                          </a:rPr>
                          <m:t>π</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27</m:t>
                        </m:r>
                      </m:num>
                      <m:den>
                        <m:r>
                          <a:rPr lang="en-IN" sz="2400" i="1">
                            <a:solidFill>
                              <a:srgbClr val="111827"/>
                            </a:solidFill>
                            <a:latin typeface="Cambria Math" panose="02040503050406030204" pitchFamily="18" charset="0"/>
                          </a:rPr>
                          <m:t>4</m:t>
                        </m:r>
                      </m:den>
                    </m:f>
                    <m:sSup>
                      <m:e>
                        <m:r>
                          <a:rPr lang="en-IN" sz="2400" i="1">
                            <a:solidFill>
                              <a:srgbClr val="111827"/>
                            </a:solidFill>
                            <a:latin typeface="Cambria Math" panose="02040503050406030204" pitchFamily="18" charset="0"/>
                          </a:rPr>
                          <m:t>π</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21</m:t>
                        </m:r>
                      </m:num>
                      <m:den>
                        <m:r>
                          <a:rPr lang="en-IN" sz="2400" i="1">
                            <a:solidFill>
                              <a:srgbClr val="111827"/>
                            </a:solidFill>
                            <a:latin typeface="Cambria Math" panose="02040503050406030204" pitchFamily="18" charset="0"/>
                          </a:rPr>
                          <m:t>4</m:t>
                        </m:r>
                      </m:den>
                    </m:f>
                    <m:sSup>
                      <m:e>
                        <m:r>
                          <a:rPr lang="en-IN" sz="2400" i="1">
                            <a:solidFill>
                              <a:srgbClr val="111827"/>
                            </a:solidFill>
                            <a:latin typeface="Cambria Math" panose="02040503050406030204" pitchFamily="18" charset="0"/>
                          </a:rPr>
                          <m:t>π</m:t>
                        </m:r>
                      </m:e>
                      <m:sup>
                        <m:r>
                          <a:rPr lang="en-IN" sz="2400" i="1">
                            <a:solidFill>
                              <a:srgbClr val="111827"/>
                            </a:solidFill>
                            <a:latin typeface="Cambria Math" panose="02040503050406030204" pitchFamily="18" charset="0"/>
                          </a:rPr>
                          <m:t>2</m:t>
                        </m:r>
                      </m:sup>
                    </m:sSup>
                  </m:oMath>
                </a14:m>
                <a:endParaRPr sz="2400">
                  <a:solidFill>
                    <a:srgbClr val="111827"/>
                  </a:solidFill>
                </a:endParaRPr>
              </a:p>
            </p:txBody>
          </p:sp>
        </mc:Choice>
        <mc:Fallback>
          <p:sp>
            <p:nvSpPr>
              <p:cNvPr id="4" name="Rounded Rectangle 3"/>
              <p:cNvSpPr/>
              <p:nvPr/>
            </p:nvSpPr>
            <p:spPr>
              <a:xfrm>
                <a:off x="731520" y="1280160"/>
                <a:ext cx="10725912" cy="277266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$A=\left\{\theta\in[0,2\pi]:1+10\,\mathrm{Re}\left(\frac{2\cos\theta+i\sin\theta}{\cos\theta-3i\sin\theta}\right)=0\right\}$</a:t>
                </a:r>
                <a:r>
                  <a:rPr sz="2400" b="0">
                    <a:solidFill>
                      <a:srgbClr val="111827"/>
                    </a:solidFill>
                    <a:latin typeface="Arial"/>
                  </a:rPr>
                  <a:t>. Then </a:t>
                </a:r>
                <a:r>
                  <a:rPr lang="en-IN" sz="2400">
                    <a:solidFill>
                      <a:srgbClr val="111827"/>
                    </a:solidFill>
                    <a:latin typeface="Cambria Math" panose="02040503050406030204" pitchFamily="18" charset="0"/>
                  </a:rPr>
                  <a:t>$\sum_{\theta\in A}\theta^{2}$</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$6\pi^2$</a:t>
                </a:r>
                <a:r>
                  <a:rPr sz="2400" b="0">
                    <a:solidFill>
                      <a:srgbClr val="111827"/>
                    </a:solidFill>
                    <a:latin typeface="Arial"/>
                  </a:rPr>
                  <a:t>   (B) </a:t>
                </a:r>
                <a:r>
                  <a:rPr lang="en-IN" sz="2400">
                    <a:solidFill>
                      <a:srgbClr val="111827"/>
                    </a:solidFill>
                    <a:latin typeface="Cambria Math" panose="02040503050406030204" pitchFamily="18" charset="0"/>
                  </a:rPr>
                  <a:t>$8\pi^2$</a:t>
                </a:r>
                <a:r>
                  <a:rPr sz="2400" b="0">
                    <a:solidFill>
                      <a:srgbClr val="111827"/>
                    </a:solidFill>
                    <a:latin typeface="Arial"/>
                  </a:rPr>
                  <a:t>   (C) </a:t>
                </a:r>
                <a:r>
                  <a:rPr lang="en-IN" sz="2400">
                    <a:solidFill>
                      <a:srgbClr val="111827"/>
                    </a:solidFill>
                    <a:latin typeface="Cambria Math" panose="02040503050406030204" pitchFamily="18" charset="0"/>
                  </a:rPr>
                  <a:t>$\frac{27}{4}\pi^2$</a:t>
                </a:r>
                <a:r>
                  <a:rPr sz="2400" b="0">
                    <a:solidFill>
                      <a:srgbClr val="111827"/>
                    </a:solidFill>
                    <a:latin typeface="Arial"/>
                  </a:rPr>
                  <a:t>   (D) </a:t>
                </a:r>
                <a:r>
                  <a:rPr lang="en-IN" sz="2400">
                    <a:solidFill>
                      <a:srgbClr val="111827"/>
                    </a:solidFill>
                    <a:latin typeface="Cambria Math" panose="02040503050406030204" pitchFamily="18" charset="0"/>
                  </a:rPr>
                  <a:t>$\frac{21}{4}\pi^2$</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4281423"/>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Real part of a complex fraction, Trigonometric equation </a:t>
                </a:r>
                <a14:m>
                  <m:oMath xmlns:m="http://schemas.openxmlformats.org/officeDocument/2006/math">
                    <m:sSup>
                      <m:e>
                        <m:r>
                          <m:rPr>
                            <m:sty m:val="p"/>
                          </m:rPr>
                          <a:rPr lang="en-IN" sz="2400">
                            <a:solidFill>
                              <a:srgbClr val="111827"/>
                            </a:solidFill>
                            <a:latin typeface="Cambria Math" panose="02040503050406030204" pitchFamily="18" charset="0"/>
                          </a:rPr>
                          <m:t>tan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oMath>
                </a14:m>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Choice>
        <mc:Fallback>
          <p:sp>
            <p:nvSpPr>
              <p:cNvPr id="5" name="Rectangle 4"/>
              <p:cNvSpPr/>
              <p:nvPr/>
            </p:nvSpPr>
            <p:spPr>
              <a:xfrm>
                <a:off x="731520" y="4281423"/>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Real part of a complex fraction, Trigonometric equation </a:t>
                </a:r>
                <a:r>
                  <a:rPr lang="en-IN" sz="2400">
                    <a:solidFill>
                      <a:srgbClr val="111827"/>
                    </a:solidFill>
                    <a:latin typeface="Cambria Math" panose="02040503050406030204" pitchFamily="18" charset="0"/>
                  </a:rPr>
                  <a:t>$\tan^2\theta=1$</a:t>
                </a:r>
                <a:r>
                  <a:rPr sz="2400" b="0">
                    <a:solidFill>
                      <a:srgbClr val="111827"/>
                    </a:solidFill>
                    <a:latin typeface="Arial"/>
                  </a:rPr>
                  <a:t> in </a:t>
                </a:r>
                <a:r>
                  <a:rPr lang="en-IN" sz="2400">
                    <a:solidFill>
                      <a:srgbClr val="111827"/>
                    </a:solidFill>
                    <a:latin typeface="Cambria Math" panose="02040503050406030204" pitchFamily="18" charset="0"/>
                  </a:rPr>
                  <a:t>$[0,2\pi]$</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Fallback>
      </mc:AlternateContent>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Rationalise to get the real part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2</m:t>
                        </m:r>
                        <m:sSup>
                          <m:e>
                            <m:r>
                              <m:rPr>
                                <m:sty m:val="p"/>
                              </m:rPr>
                              <a:rPr lang="en-IN" sz="2400">
                                <a:solidFill>
                                  <a:srgbClr val="78350F"/>
                                </a:solidFill>
                                <a:latin typeface="Cambria Math" panose="02040503050406030204" pitchFamily="18" charset="0"/>
                              </a:rPr>
                              <m:t>cos</m:t>
                            </m:r>
                          </m:e>
                          <m:sup>
                            <m:r>
                              <a:rPr lang="en-IN" sz="2400" i="1">
                                <a:solidFill>
                                  <a:srgbClr val="78350F"/>
                                </a:solidFill>
                                <a:latin typeface="Cambria Math" panose="02040503050406030204" pitchFamily="18" charset="0"/>
                              </a:rPr>
                              <m:t>2</m:t>
                            </m:r>
                          </m:sup>
                        </m:sSup>
                        <m:r>
                          <a:rPr lang="en-IN" sz="2400" i="1">
                            <a:solidFill>
                              <a:srgbClr val="78350F"/>
                            </a:solidFill>
                            <a:latin typeface="Cambria Math" panose="02040503050406030204" pitchFamily="18" charset="0"/>
                          </a:rPr>
                          <m:t>θ</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sSup>
                          <m:e>
                            <m:r>
                              <m:rPr>
                                <m:sty m:val="p"/>
                              </m:rPr>
                              <a:rPr lang="en-IN" sz="2400">
                                <a:solidFill>
                                  <a:srgbClr val="78350F"/>
                                </a:solidFill>
                                <a:latin typeface="Cambria Math" panose="02040503050406030204" pitchFamily="18" charset="0"/>
                              </a:rPr>
                              <m:t>sin</m:t>
                            </m:r>
                          </m:e>
                          <m:sup>
                            <m:r>
                              <a:rPr lang="en-IN" sz="2400" i="1">
                                <a:solidFill>
                                  <a:srgbClr val="78350F"/>
                                </a:solidFill>
                                <a:latin typeface="Cambria Math" panose="02040503050406030204" pitchFamily="18" charset="0"/>
                              </a:rPr>
                              <m:t>2</m:t>
                            </m:r>
                          </m:sup>
                        </m:sSup>
                        <m:r>
                          <a:rPr lang="en-IN" sz="2400" i="1">
                            <a:solidFill>
                              <a:srgbClr val="78350F"/>
                            </a:solidFill>
                            <a:latin typeface="Cambria Math" panose="02040503050406030204" pitchFamily="18" charset="0"/>
                          </a:rPr>
                          <m:t>θ</m:t>
                        </m:r>
                      </m:num>
                      <m:den>
                        <m:sSup>
                          <m:e>
                            <m:r>
                              <m:rPr>
                                <m:sty m:val="p"/>
                              </m:rPr>
                              <a:rPr lang="en-IN" sz="2400">
                                <a:solidFill>
                                  <a:srgbClr val="78350F"/>
                                </a:solidFill>
                                <a:latin typeface="Cambria Math" panose="02040503050406030204" pitchFamily="18" charset="0"/>
                              </a:rPr>
                              <m:t>cos</m:t>
                            </m:r>
                          </m:e>
                          <m:sup>
                            <m:r>
                              <a:rPr lang="en-IN" sz="2400" i="1">
                                <a:solidFill>
                                  <a:srgbClr val="78350F"/>
                                </a:solidFill>
                                <a:latin typeface="Cambria Math" panose="02040503050406030204" pitchFamily="18" charset="0"/>
                              </a:rPr>
                              <m:t>2</m:t>
                            </m:r>
                          </m:sup>
                        </m:sSup>
                        <m:r>
                          <a:rPr lang="en-IN" sz="2400" i="1">
                            <a:solidFill>
                              <a:srgbClr val="78350F"/>
                            </a:solidFill>
                            <a:latin typeface="Cambria Math" panose="02040503050406030204" pitchFamily="18" charset="0"/>
                          </a:rPr>
                          <m:t>θ</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9</m:t>
                        </m:r>
                        <m:sSup>
                          <m:e>
                            <m:r>
                              <m:rPr>
                                <m:sty m:val="p"/>
                              </m:rPr>
                              <a:rPr lang="en-IN" sz="2400">
                                <a:solidFill>
                                  <a:srgbClr val="78350F"/>
                                </a:solidFill>
                                <a:latin typeface="Cambria Math" panose="02040503050406030204" pitchFamily="18" charset="0"/>
                              </a:rPr>
                              <m:t>sin</m:t>
                            </m:r>
                          </m:e>
                          <m:sup>
                            <m:r>
                              <a:rPr lang="en-IN" sz="2400" i="1">
                                <a:solidFill>
                                  <a:srgbClr val="78350F"/>
                                </a:solidFill>
                                <a:latin typeface="Cambria Math" panose="02040503050406030204" pitchFamily="18" charset="0"/>
                              </a:rPr>
                              <m:t>2</m:t>
                            </m:r>
                          </m:sup>
                        </m:sSup>
                        <m:r>
                          <a:rPr lang="en-IN" sz="2400" i="1">
                            <a:solidFill>
                              <a:srgbClr val="78350F"/>
                            </a:solidFill>
                            <a:latin typeface="Cambria Math" panose="02040503050406030204" pitchFamily="18" charset="0"/>
                          </a:rPr>
                          <m:t>θ</m:t>
                        </m:r>
                      </m:den>
                    </m:f>
                  </m:oMath>
                </a14:m>
                <a:r>
                  <a:rPr sz="2400" b="0">
                    <a:solidFill>
                      <a:srgbClr val="78350F"/>
                    </a:solidFill>
                    <a:latin typeface="Arial"/>
                  </a:rPr>
                  <a:t>; the equation collapses to </a:t>
                </a:r>
                <a14:m>
                  <m:oMath xmlns:m="http://schemas.openxmlformats.org/officeDocument/2006/math">
                    <m:sSup>
                      <m:e>
                        <m:r>
                          <m:rPr>
                            <m:sty m:val="p"/>
                          </m:rPr>
                          <a:rPr lang="en-IN" sz="2400">
                            <a:solidFill>
                              <a:srgbClr val="78350F"/>
                            </a:solidFill>
                            <a:latin typeface="Cambria Math" panose="02040503050406030204" pitchFamily="18" charset="0"/>
                          </a:rPr>
                          <m:t>tan</m:t>
                        </m:r>
                      </m:e>
                      <m:sup>
                        <m:r>
                          <a:rPr lang="en-IN" sz="2400" i="1">
                            <a:solidFill>
                              <a:srgbClr val="78350F"/>
                            </a:solidFill>
                            <a:latin typeface="Cambria Math" panose="02040503050406030204" pitchFamily="18" charset="0"/>
                          </a:rPr>
                          <m:t>2</m:t>
                        </m:r>
                      </m:sup>
                    </m:sSup>
                    <m:r>
                      <a:rPr lang="en-IN" sz="2400" i="1">
                        <a:solidFill>
                          <a:srgbClr val="78350F"/>
                        </a:solidFill>
                        <a:latin typeface="Cambria Math" panose="02040503050406030204" pitchFamily="18" charset="0"/>
                      </a:rPr>
                      <m:t>θ</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Rationalise to get the real part </a:t>
                </a:r>
                <a:r>
                  <a:rPr lang="en-IN" sz="2400">
                    <a:solidFill>
                      <a:srgbClr val="78350F"/>
                    </a:solidFill>
                    <a:latin typeface="Cambria Math" panose="02040503050406030204" pitchFamily="18" charset="0"/>
                  </a:rPr>
                  <a:t>$\frac{2\cos^2\theta-3\sin^2\theta}{\cos^2\theta+9\sin^2\theta}$</a:t>
                </a:r>
                <a:r>
                  <a:rPr sz="2400" b="0">
                    <a:solidFill>
                      <a:srgbClr val="78350F"/>
                    </a:solidFill>
                    <a:latin typeface="Arial"/>
                  </a:rPr>
                  <a:t>; the equation collapses to </a:t>
                </a:r>
                <a:r>
                  <a:rPr lang="en-IN" sz="2400">
                    <a:solidFill>
                      <a:srgbClr val="78350F"/>
                    </a:solidFill>
                    <a:latin typeface="Cambria Math" panose="02040503050406030204" pitchFamily="18" charset="0"/>
                  </a:rPr>
                  <a:t>$\tan^2\theta=1$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Multiply numerator and denominator by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oMath>
                </a14:m>
                <a:r>
                  <a:rPr sz="2400" b="0">
                    <a:solidFill>
                      <a:srgbClr val="111827"/>
                    </a:solidFill>
                    <a:latin typeface="Arial"/>
                  </a:rPr>
                  <a:t>: the real part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num>
                      <m:den>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condition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num>
                          <m:den>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becomes </a:t>
                </a:r>
                <a14:m>
                  <m:oMath xmlns:m="http://schemas.openxmlformats.org/officeDocument/2006/math">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That is </a:t>
                </a:r>
                <a14:m>
                  <m:oMath xmlns:m="http://schemas.openxmlformats.org/officeDocument/2006/math">
                    <m:r>
                      <a:rPr lang="en-IN" sz="2400" i="1">
                        <a:solidFill>
                          <a:srgbClr val="111827"/>
                        </a:solidFill>
                        <a:latin typeface="Cambria Math" panose="02040503050406030204" pitchFamily="18" charset="0"/>
                      </a:rPr>
                      <m:t>21</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sSup>
                      <m:e>
                        <m:r>
                          <m:rPr>
                            <m:sty m:val="p"/>
                          </m:rPr>
                          <a:rPr lang="en-IN" sz="2400">
                            <a:solidFill>
                              <a:srgbClr val="111827"/>
                            </a:solidFill>
                            <a:latin typeface="Cambria Math" panose="02040503050406030204" pitchFamily="18" charset="0"/>
                          </a:rPr>
                          <m:t>tan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Multiply numerator and denominator by </a:t>
                </a:r>
                <a:r>
                  <a:rPr lang="en-IN" sz="2400">
                    <a:solidFill>
                      <a:srgbClr val="111827"/>
                    </a:solidFill>
                    <a:latin typeface="Cambria Math" panose="02040503050406030204" pitchFamily="18" charset="0"/>
                  </a:rPr>
                  <a:t>$\cos\theta+3i\sin\theta$</a:t>
                </a:r>
                <a:r>
                  <a:rPr sz="2400" b="0">
                    <a:solidFill>
                      <a:srgbClr val="111827"/>
                    </a:solidFill>
                    <a:latin typeface="Arial"/>
                  </a:rPr>
                  <a:t>: the real part is </a:t>
                </a:r>
                <a:r>
                  <a:rPr lang="en-IN" sz="2400">
                    <a:solidFill>
                      <a:srgbClr val="111827"/>
                    </a:solidFill>
                    <a:latin typeface="Cambria Math" panose="02040503050406030204" pitchFamily="18" charset="0"/>
                  </a:rPr>
                  <a:t>$\frac{2\cos^2\theta-3\sin^2\theta}{\cos^2\theta+9\sin^2\theta}$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condition </a:t>
                </a:r>
                <a:r>
                  <a:rPr lang="en-IN" sz="2400">
                    <a:solidFill>
                      <a:srgbClr val="111827"/>
                    </a:solidFill>
                    <a:latin typeface="Cambria Math" panose="02040503050406030204" pitchFamily="18" charset="0"/>
                  </a:rPr>
                  <a:t>$1+10\left(\frac{2\cos^2\theta-3\sin^2\theta}{\cos^2\theta+9\sin^2\theta}\right)=0$</a:t>
                </a:r>
                <a:r>
                  <a:rPr sz="2400" b="0">
                    <a:solidFill>
                      <a:srgbClr val="111827"/>
                    </a:solidFill>
                    <a:latin typeface="Arial"/>
                  </a:rPr>
                  <a:t> becomes </a:t>
                </a:r>
                <a:r>
                  <a:rPr lang="en-IN" sz="2400">
                    <a:solidFill>
                      <a:srgbClr val="111827"/>
                    </a:solidFill>
                    <a:latin typeface="Cambria Math" panose="02040503050406030204" pitchFamily="18" charset="0"/>
                  </a:rPr>
                  <a:t>$\cos^2\theta+9\sin^2\theta+20\cos^2\theta-30\sin^2\theta=0$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That is </a:t>
                </a:r>
                <a:r>
                  <a:rPr lang="en-IN" sz="2400">
                    <a:solidFill>
                      <a:srgbClr val="111827"/>
                    </a:solidFill>
                    <a:latin typeface="Cambria Math" panose="02040503050406030204" pitchFamily="18" charset="0"/>
                  </a:rPr>
                  <a:t>$21\cos^2\theta-21\sin^2\theta=0$</a:t>
                </a:r>
                <a:r>
                  <a:rPr sz="2400" b="0">
                    <a:solidFill>
                      <a:srgbClr val="111827"/>
                    </a:solidFill>
                    <a:latin typeface="Arial"/>
                  </a:rPr>
                  <a:t>, so </a:t>
                </a:r>
                <a:r>
                  <a:rPr lang="en-IN" sz="2400">
                    <a:solidFill>
                      <a:srgbClr val="111827"/>
                    </a:solidFill>
                    <a:latin typeface="Cambria Math" panose="02040503050406030204" pitchFamily="18" charset="0"/>
                  </a:rPr>
                  <a:t>$\tan^2\theta=1$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θ</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π</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16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sSup>
                          <m:e>
                            <m:r>
                              <a:rPr lang="en-IN" sz="2400" i="1">
                                <a:solidFill>
                                  <a:srgbClr val="111827"/>
                                </a:solidFill>
                                <a:latin typeface="Cambria Math" panose="02040503050406030204" pitchFamily="18" charset="0"/>
                              </a:rPr>
                              <m:t>π</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16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25</m:t>
                        </m:r>
                        <m:sSup>
                          <m:e>
                            <m:r>
                              <a:rPr lang="en-IN" sz="2400" i="1">
                                <a:solidFill>
                                  <a:srgbClr val="111827"/>
                                </a:solidFill>
                                <a:latin typeface="Cambria Math" panose="02040503050406030204" pitchFamily="18" charset="0"/>
                              </a:rPr>
                              <m:t>π</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16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49</m:t>
                        </m:r>
                        <m:sSup>
                          <m:e>
                            <m:r>
                              <a:rPr lang="en-IN" sz="2400" i="1">
                                <a:solidFill>
                                  <a:srgbClr val="111827"/>
                                </a:solidFill>
                                <a:latin typeface="Cambria Math" panose="02040503050406030204" pitchFamily="18" charset="0"/>
                              </a:rPr>
                              <m:t>π</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16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84</m:t>
                        </m:r>
                        <m:sSup>
                          <m:e>
                            <m:r>
                              <a:rPr lang="en-IN" sz="2400" i="1">
                                <a:solidFill>
                                  <a:srgbClr val="111827"/>
                                </a:solidFill>
                                <a:latin typeface="Cambria Math" panose="02040503050406030204" pitchFamily="18" charset="0"/>
                              </a:rPr>
                              <m:t>π</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16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21</m:t>
                        </m:r>
                        <m:sSup>
                          <m:e>
                            <m:r>
                              <a:rPr lang="en-IN" sz="2400" i="1">
                                <a:solidFill>
                                  <a:srgbClr val="111827"/>
                                </a:solidFill>
                                <a:latin typeface="Cambria Math" panose="02040503050406030204" pitchFamily="18" charset="0"/>
                              </a:rPr>
                              <m:t>π</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den>
                    </m:f>
                  </m:oMath>
                </a14:m>
                <a:r>
                  <a:rPr sz="2400" b="0">
                    <a:solidFill>
                      <a:srgbClr val="111827"/>
                    </a:solidFill>
                    <a:latin typeface="Arial"/>
                  </a:rPr>
                  <a:t>, option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t>
                </a:r>
                <a:r>
                  <a:rPr lang="en-IN" sz="2400">
                    <a:solidFill>
                      <a:srgbClr val="111827"/>
                    </a:solidFill>
                    <a:latin typeface="Cambria Math" panose="02040503050406030204" pitchFamily="18" charset="0"/>
                  </a:rPr>
                  <a:t>$[0,2\pi]$</a:t>
                </a:r>
                <a:r>
                  <a:rPr sz="2400" b="0">
                    <a:solidFill>
                      <a:srgbClr val="111827"/>
                    </a:solidFill>
                    <a:latin typeface="Arial"/>
                  </a:rPr>
                  <a:t>: </a:t>
                </a:r>
                <a:r>
                  <a:rPr lang="en-IN" sz="2400">
                    <a:solidFill>
                      <a:srgbClr val="111827"/>
                    </a:solidFill>
                    <a:latin typeface="Cambria Math" panose="02040503050406030204" pitchFamily="18" charset="0"/>
                  </a:rPr>
                  <a:t>$\theta=\frac\pi4,\frac{3\pi}4,\frac{5\pi}4,\frac{7\pi}4$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$\sum\theta^2=\frac{\pi^2}{16}+\frac{9\pi^2}{16}+\frac{25\pi^2}{16}+\frac{49\pi^2}{16}=\frac{84\pi^2}{16}=\frac{21\pi^2}{4}$</a:t>
                </a:r>
                <a:r>
                  <a:rPr sz="2400" b="0">
                    <a:solidFill>
                      <a:srgbClr val="111827"/>
                    </a:solidFill>
                    <a:latin typeface="Arial"/>
                  </a:rPr>
                  <a:t>, option (D).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21</m:t>
                        </m:r>
                      </m:num>
                      <m:den>
                        <m:r>
                          <a:rPr lang="en-IN" sz="2800" i="1">
                            <a:solidFill>
                              <a:srgbClr val="15803D"/>
                            </a:solidFill>
                            <a:latin typeface="Cambria Math" panose="02040503050406030204" pitchFamily="18" charset="0"/>
                          </a:rPr>
                          <m:t>4</m:t>
                        </m:r>
                      </m:den>
                    </m:f>
                    <m:sSup>
                      <m:e>
                        <m:r>
                          <a:rPr lang="en-IN" sz="2800" i="1">
                            <a:solidFill>
                              <a:srgbClr val="15803D"/>
                            </a:solidFill>
                            <a:latin typeface="Cambria Math" panose="02040503050406030204" pitchFamily="18" charset="0"/>
                          </a:rPr>
                          <m:t>π</m:t>
                        </m:r>
                      </m:e>
                      <m:sup>
                        <m:r>
                          <a:rPr lang="en-IN" sz="2800" i="1">
                            <a:solidFill>
                              <a:srgbClr val="15803D"/>
                            </a:solidFill>
                            <a:latin typeface="Cambria Math" panose="02040503050406030204" pitchFamily="18" charset="0"/>
                          </a:rPr>
                          <m:t>2</m:t>
                        </m:r>
                      </m:sup>
                    </m:sSup>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$\frac{21}{4}\pi^2$</a:t>
                </a:r>
                <a:endParaRPr sz="2800">
                  <a:solidFill>
                    <a:srgbClr val="15803D"/>
                  </a:solidFill>
                </a:endParaRPr>
              </a:p>
            </p:txBody>
          </p:sp>
        </mc:Fallback>
      </mc:AlternateContent>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Divide by </a:t>
                </a:r>
                <a14:m>
                  <m:oMath xmlns:m="http://schemas.openxmlformats.org/officeDocument/2006/math">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θ</m:t>
                    </m:r>
                  </m:oMath>
                </a14:m>
                <a:r>
                  <a:rPr sz="2400" b="0">
                    <a:solidFill>
                      <a:srgbClr val="78350F"/>
                    </a:solidFill>
                    <a:latin typeface="Arial"/>
                  </a:rPr>
                  <a:t> to work with </a:t>
                </a:r>
                <a14:m>
                  <m:oMath xmlns:m="http://schemas.openxmlformats.org/officeDocument/2006/math">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tan</m:t>
                    </m:r>
                    <m:r>
                      <a:rPr lang="en-IN" sz="2400" i="1">
                        <a:solidFill>
                          <a:srgbClr val="78350F"/>
                        </a:solidFill>
                        <a:latin typeface="Cambria Math" panose="02040503050406030204" pitchFamily="18" charset="0"/>
                      </a:rPr>
                      <m:t>θ</m:t>
                    </m:r>
                  </m:oMath>
                </a14:m>
                <a:r>
                  <a:rPr sz="2400" b="0">
                    <a:solidFill>
                      <a:srgbClr val="78350F"/>
                    </a:solidFill>
                    <a:latin typeface="Arial"/>
                  </a:rPr>
                  <a:t>, and sum the squares of odd multiples of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π</m:t>
                        </m:r>
                      </m:num>
                      <m:den>
                        <m:r>
                          <a:rPr lang="en-IN" sz="2400" i="1">
                            <a:solidFill>
                              <a:srgbClr val="78350F"/>
                            </a:solidFill>
                            <a:latin typeface="Cambria Math" panose="02040503050406030204" pitchFamily="18" charset="0"/>
                          </a:rPr>
                          <m:t>4</m:t>
                        </m:r>
                      </m:den>
                    </m:f>
                  </m:oMath>
                </a14:m>
                <a:r>
                  <a:rPr sz="2400" b="0">
                    <a:solidFill>
                      <a:srgbClr val="78350F"/>
                    </a:solidFill>
                    <a:latin typeface="Arial"/>
                  </a:rPr>
                  <a:t> with </a:t>
                </a:r>
                <a14:m>
                  <m:oMath xmlns:m="http://schemas.openxmlformats.org/officeDocument/2006/math">
                    <m:nary>
                      <m:naryPr>
                        <m:chr m:val="∑"/>
                        <m:limLoc m:val="undOvr"/>
                        <m:subHide m:val="off"/>
                        <m:supHide m:val="off"/>
                        <m:ctrlPr>
                          <a:rPr lang="en-IN" sz="2400" i="1">
                            <a:solidFill>
                              <a:srgbClr val="78350F"/>
                            </a:solidFill>
                            <a:latin typeface="Cambria Math" panose="02040503050406030204" pitchFamily="18" charset="0"/>
                          </a:rPr>
                        </m:ctrlPr>
                      </m:naryPr>
                      <m:sub>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b>
                      <m:sup>
                        <m:r>
                          <a:rPr lang="en-IN" sz="2400" i="1">
                            <a:solidFill>
                              <a:srgbClr val="78350F"/>
                            </a:solidFill>
                            <a:latin typeface="Cambria Math" panose="02040503050406030204" pitchFamily="18" charset="0"/>
                          </a:rPr>
                          <m:t>𝑛</m:t>
                        </m:r>
                      </m:sup>
                      <m:e>
                        <m:r>
                          <m:rPr>
                            <m:sty m:val="p"/>
                          </m:rPr>
                          <a:rPr lang="en-IN" sz="2400">
                            <a:solidFill>
                              <a:srgbClr val="78350F"/>
                            </a:solidFill>
                            <a:latin typeface="Cambria Math" panose="02040503050406030204" pitchFamily="18" charset="0"/>
                          </a:rPr>
                          <m:t>(</m:t>
                        </m:r>
                      </m:e>
                    </m:nary>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sSup>
                          <m:e>
                            <m:r>
                              <a:rPr lang="en-IN" sz="2400" i="1">
                                <a:solidFill>
                                  <a:srgbClr val="78350F"/>
                                </a:solidFill>
                                <a:latin typeface="Cambria Math" panose="02040503050406030204" pitchFamily="18" charset="0"/>
                              </a:rPr>
                              <m:t>𝑛</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num>
                      <m:den>
                        <m:r>
                          <a:rPr lang="en-IN" sz="2400" i="1">
                            <a:solidFill>
                              <a:srgbClr val="78350F"/>
                            </a:solidFill>
                            <a:latin typeface="Cambria Math" panose="02040503050406030204" pitchFamily="18" charset="0"/>
                          </a:rPr>
                          <m:t>3</m:t>
                        </m:r>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Divide by </a:t>
                </a:r>
                <a:r>
                  <a:rPr lang="en-IN" sz="2400">
                    <a:solidFill>
                      <a:srgbClr val="78350F"/>
                    </a:solidFill>
                    <a:latin typeface="Cambria Math" panose="02040503050406030204" pitchFamily="18" charset="0"/>
                  </a:rPr>
                  <a:t>$\cos\theta$</a:t>
                </a:r>
                <a:r>
                  <a:rPr sz="2400" b="0">
                    <a:solidFill>
                      <a:srgbClr val="78350F"/>
                    </a:solidFill>
                    <a:latin typeface="Arial"/>
                  </a:rPr>
                  <a:t> to work with </a:t>
                </a:r>
                <a:r>
                  <a:rPr lang="en-IN" sz="2400">
                    <a:solidFill>
                      <a:srgbClr val="78350F"/>
                    </a:solidFill>
                    <a:latin typeface="Cambria Math" panose="02040503050406030204" pitchFamily="18" charset="0"/>
                  </a:rPr>
                  <a:t>$t=\tan\theta$</a:t>
                </a:r>
                <a:r>
                  <a:rPr sz="2400" b="0">
                    <a:solidFill>
                      <a:srgbClr val="78350F"/>
                    </a:solidFill>
                    <a:latin typeface="Arial"/>
                  </a:rPr>
                  <a:t>, and sum the squares of odd multiples of </a:t>
                </a:r>
                <a:r>
                  <a:rPr lang="en-IN" sz="2400">
                    <a:solidFill>
                      <a:srgbClr val="78350F"/>
                    </a:solidFill>
                    <a:latin typeface="Cambria Math" panose="02040503050406030204" pitchFamily="18" charset="0"/>
                  </a:rPr>
                  <a:t>$\frac\pi4$</a:t>
                </a:r>
                <a:r>
                  <a:rPr sz="2400" b="0">
                    <a:solidFill>
                      <a:srgbClr val="78350F"/>
                    </a:solidFill>
                    <a:latin typeface="Arial"/>
                  </a:rPr>
                  <a:t> with </a:t>
                </a:r>
                <a:r>
                  <a:rPr lang="en-IN" sz="2400">
                    <a:solidFill>
                      <a:srgbClr val="78350F"/>
                    </a:solidFill>
                    <a:latin typeface="Cambria Math" panose="02040503050406030204" pitchFamily="18" charset="0"/>
                  </a:rPr>
                  <a:t>$\sum_{k=1}^n(2k-1)^2=\frac{n(4n^2-1)}3$</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Divide numerator and denominator by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needed, else denominator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oMath>
                </a14:m>
                <a:r>
                  <a:rPr sz="2400" b="0">
                    <a:solidFill>
                      <a:srgbClr val="111827"/>
                    </a:solidFill>
                    <a:latin typeface="Arial"/>
                  </a:rPr>
                  <a:t> and the real part is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10</m:t>
                        </m:r>
                      </m:den>
                    </m:f>
                  </m:oMath>
                </a14:m>
                <a:r>
                  <a:rPr sz="2400" b="0">
                    <a:solidFill>
                      <a:srgbClr val="111827"/>
                    </a:solidFill>
                    <a:latin typeface="Arial"/>
                  </a:rPr>
                  <a:t>): the fraction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𝑡</m:t>
                        </m:r>
                      </m:den>
                    </m:f>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θ</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has real part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Divide numerator and denominator by </a:t>
                </a:r>
                <a:r>
                  <a:rPr lang="en-IN" sz="2400">
                    <a:solidFill>
                      <a:srgbClr val="111827"/>
                    </a:solidFill>
                    <a:latin typeface="Cambria Math" panose="02040503050406030204" pitchFamily="18" charset="0"/>
                  </a:rPr>
                  <a:t>$\cos\theta$</a:t>
                </a:r>
                <a:r>
                  <a:rPr sz="2400" b="0">
                    <a:solidFill>
                      <a:srgbClr val="111827"/>
                    </a:solidFill>
                    <a:latin typeface="Arial"/>
                  </a:rPr>
                  <a:t> (</a:t>
                </a:r>
                <a:r>
                  <a:rPr lang="en-IN" sz="2400">
                    <a:solidFill>
                      <a:srgbClr val="111827"/>
                    </a:solidFill>
                    <a:latin typeface="Cambria Math" panose="02040503050406030204" pitchFamily="18" charset="0"/>
                  </a:rPr>
                  <a:t>$\cos\theta\neq0$</a:t>
                </a:r>
                <a:r>
                  <a:rPr sz="2400" b="0">
                    <a:solidFill>
                      <a:srgbClr val="111827"/>
                    </a:solidFill>
                    <a:latin typeface="Arial"/>
                  </a:rPr>
                  <a:t> is needed, else denominator is </a:t>
                </a:r>
                <a:r>
                  <a:rPr lang="en-IN" sz="2400">
                    <a:solidFill>
                      <a:srgbClr val="111827"/>
                    </a:solidFill>
                    <a:latin typeface="Cambria Math" panose="02040503050406030204" pitchFamily="18" charset="0"/>
                  </a:rPr>
                  <a:t>$-3i\sin\theta$</a:t>
                </a:r>
                <a:r>
                  <a:rPr sz="2400" b="0">
                    <a:solidFill>
                      <a:srgbClr val="111827"/>
                    </a:solidFill>
                    <a:latin typeface="Arial"/>
                  </a:rPr>
                  <a:t> and the real part is </a:t>
                </a:r>
                <a:r>
                  <a:rPr lang="en-IN" sz="2400">
                    <a:solidFill>
                      <a:srgbClr val="111827"/>
                    </a:solidFill>
                    <a:latin typeface="Cambria Math" panose="02040503050406030204" pitchFamily="18" charset="0"/>
                  </a:rPr>
                  <a:t>$0\ne-\frac1{10}$</a:t>
                </a:r>
                <a:r>
                  <a:rPr sz="2400" b="0">
                    <a:solidFill>
                      <a:srgbClr val="111827"/>
                    </a:solidFill>
                    <a:latin typeface="Arial"/>
                  </a:rPr>
                  <a:t>): the fraction is </a:t>
                </a:r>
                <a:r>
                  <a:rPr lang="en-IN" sz="2400">
                    <a:solidFill>
                      <a:srgbClr val="111827"/>
                    </a:solidFill>
                    <a:latin typeface="Cambria Math" panose="02040503050406030204" pitchFamily="18" charset="0"/>
                  </a:rPr>
                  <a:t>$\frac{2+it}{1-3it}$</a:t>
                </a:r>
                <a:r>
                  <a:rPr sz="2400" b="0">
                    <a:solidFill>
                      <a:srgbClr val="111827"/>
                    </a:solidFill>
                    <a:latin typeface="Arial"/>
                  </a:rPr>
                  <a:t> with </a:t>
                </a:r>
                <a:r>
                  <a:rPr lang="en-IN" sz="2400">
                    <a:solidFill>
                      <a:srgbClr val="111827"/>
                    </a:solidFill>
                    <a:latin typeface="Cambria Math" panose="02040503050406030204" pitchFamily="18" charset="0"/>
                  </a:rPr>
                  <a:t>$t=\tan\theta$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$\frac{2+it}{1-3it}=\frac{(2+it)(1+3it)}{1+9t^2}$</a:t>
                </a:r>
                <a:r>
                  <a:rPr sz="2400" b="0">
                    <a:solidFill>
                      <a:srgbClr val="111827"/>
                    </a:solidFill>
                    <a:latin typeface="Arial"/>
                  </a:rPr>
                  <a:t> has real part </a:t>
                </a:r>
                <a:r>
                  <a:rPr lang="en-IN" sz="2400">
                    <a:solidFill>
                      <a:srgbClr val="111827"/>
                    </a:solidFill>
                    <a:latin typeface="Cambria Math" panose="02040503050406030204" pitchFamily="18" charset="0"/>
                  </a:rPr>
                  <a:t>$\frac{2-3t^2}{1+9t^2}$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$1+10\cdot\frac{2-3t^2}{1+9t^2}=0\Rightarrow 1+9t^2+20-30t^2=0\Rightarrow t^2=1$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θ</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π</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16</m:t>
                        </m:r>
                      </m:den>
                    </m:f>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4</m:t>
                        </m:r>
                      </m:sup>
                      <m:e>
                        <m:r>
                          <m:rPr>
                            <m:sty m:val="p"/>
                          </m:rPr>
                          <a:rPr lang="en-IN" sz="2400">
                            <a:solidFill>
                              <a:srgbClr val="111827"/>
                            </a:solidFill>
                            <a:latin typeface="Cambria Math" panose="02040503050406030204" pitchFamily="18" charset="0"/>
                          </a:rPr>
                          <m:t>(</m:t>
                        </m:r>
                      </m:e>
                    </m:nary>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π</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16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63</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84</m:t>
                        </m:r>
                        <m:sSup>
                          <m:e>
                            <m:r>
                              <a:rPr lang="en-IN" sz="2400" i="1">
                                <a:solidFill>
                                  <a:srgbClr val="111827"/>
                                </a:solidFill>
                                <a:latin typeface="Cambria Math" panose="02040503050406030204" pitchFamily="18" charset="0"/>
                              </a:rPr>
                              <m:t>π</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16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21</m:t>
                        </m:r>
                        <m:sSup>
                          <m:e>
                            <m:r>
                              <a:rPr lang="en-IN" sz="2400" i="1">
                                <a:solidFill>
                                  <a:srgbClr val="111827"/>
                                </a:solidFill>
                                <a:latin typeface="Cambria Math" panose="02040503050406030204" pitchFamily="18" charset="0"/>
                              </a:rPr>
                              <m:t>π</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$\theta=(2k-1)\frac\pi4$</a:t>
                </a:r>
                <a:r>
                  <a:rPr sz="2400" b="0">
                    <a:solidFill>
                      <a:srgbClr val="111827"/>
                    </a:solidFill>
                    <a:latin typeface="Arial"/>
                  </a:rPr>
                  <a:t>, </a:t>
                </a:r>
                <a:r>
                  <a:rPr lang="en-IN" sz="2400">
                    <a:solidFill>
                      <a:srgbClr val="111827"/>
                    </a:solidFill>
                    <a:latin typeface="Cambria Math" panose="02040503050406030204" pitchFamily="18" charset="0"/>
                  </a:rPr>
                  <a:t>$k=1,2,3,4$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$\sum\theta^2=\frac{\pi^2}{16}\sum_{k=1}^4(2k-1)^2=\frac{\pi^2}{16}\cdot\frac{4\cdot63}{3}=\frac{84\pi^2}{16}=\frac{21\pi^2}{4}$</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21</m:t>
                        </m:r>
                      </m:num>
                      <m:den>
                        <m:r>
                          <a:rPr lang="en-IN" sz="2800" i="1">
                            <a:solidFill>
                              <a:srgbClr val="15803D"/>
                            </a:solidFill>
                            <a:latin typeface="Cambria Math" panose="02040503050406030204" pitchFamily="18" charset="0"/>
                          </a:rPr>
                          <m:t>4</m:t>
                        </m:r>
                      </m:den>
                    </m:f>
                    <m:sSup>
                      <m:e>
                        <m:r>
                          <a:rPr lang="en-IN" sz="2800" i="1">
                            <a:solidFill>
                              <a:srgbClr val="15803D"/>
                            </a:solidFill>
                            <a:latin typeface="Cambria Math" panose="02040503050406030204" pitchFamily="18" charset="0"/>
                          </a:rPr>
                          <m:t>π</m:t>
                        </m:r>
                      </m:e>
                      <m:sup>
                        <m:r>
                          <a:rPr lang="en-IN" sz="2800" i="1">
                            <a:solidFill>
                              <a:srgbClr val="15803D"/>
                            </a:solidFill>
                            <a:latin typeface="Cambria Math" panose="02040503050406030204" pitchFamily="18" charset="0"/>
                          </a:rPr>
                          <m:t>2</m:t>
                        </m:r>
                      </m:sup>
                    </m:sSup>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r>
                  <a:rPr lang="en-IN" sz="2800">
                    <a:solidFill>
                      <a:srgbClr val="15803D"/>
                    </a:solidFill>
                    <a:latin typeface="Cambria Math" panose="02040503050406030204" pitchFamily="18" charset="0"/>
                  </a:rPr>
                  <a:t>$\frac{21}{4}\pi^2$</a:t>
                </a:r>
                <a:endParaRPr sz="2800">
                  <a:solidFill>
                    <a:srgbClr val="15803D"/>
                  </a:solidFill>
                </a:endParaRPr>
              </a:p>
            </p:txBody>
          </p:sp>
        </mc:Fallback>
      </mc:AlternateContent>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e</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𝑑</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𝑑</m:t>
                        </m:r>
                      </m:num>
                      <m:den>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oMath>
                </a14:m>
                <a:r>
                  <a:rPr sz="2400" b="0">
                    <a:solidFill>
                      <a:srgbClr val="111827"/>
                    </a:solidFill>
                    <a:latin typeface="Arial"/>
                  </a:rPr>
                  <a:t> this gives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num>
                      <m:den>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ratio expressions in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oMath>
                </a14:m>
                <a:r>
                  <a:rPr sz="2400" b="0">
                    <a:solidFill>
                      <a:srgbClr val="111827"/>
                    </a:solidFill>
                    <a:latin typeface="Arial"/>
                  </a:rPr>
                  <a:t> of equal degree, divide by </a:t>
                </a:r>
                <a14:m>
                  <m:oMath xmlns:m="http://schemas.openxmlformats.org/officeDocument/2006/math">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𝑛</m:t>
                        </m:r>
                      </m:sup>
                    </m:sSup>
                    <m:r>
                      <a:rPr lang="en-IN" sz="2400" i="1">
                        <a:solidFill>
                          <a:srgbClr val="111827"/>
                        </a:solidFill>
                        <a:latin typeface="Cambria Math" panose="02040503050406030204" pitchFamily="18" charset="0"/>
                      </a:rPr>
                      <m:t>θ</m:t>
                    </m:r>
                  </m:oMath>
                </a14:m>
                <a:r>
                  <a:rPr sz="2400" b="0">
                    <a:solidFill>
                      <a:srgbClr val="111827"/>
                    </a:solidFill>
                    <a:latin typeface="Arial"/>
                  </a:rPr>
                  <a:t> and use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θ</m:t>
                    </m:r>
                  </m:oMath>
                </a14:m>
                <a:r>
                  <a:rPr sz="2400" b="0">
                    <a:solidFill>
                      <a:srgbClr val="111827"/>
                    </a:solidFill>
                    <a:latin typeface="Arial"/>
                  </a:rPr>
                  <a:t> (after checking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separately).</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𝑛</m:t>
                        </m:r>
                      </m:sup>
                      <m:e>
                        <m:r>
                          <m:rPr>
                            <m:sty m:val="p"/>
                          </m:rPr>
                          <a:rPr lang="en-IN" sz="2400">
                            <a:solidFill>
                              <a:srgbClr val="111827"/>
                            </a:solidFill>
                            <a:latin typeface="Cambria Math" panose="02040503050406030204" pitchFamily="18" charset="0"/>
                          </a:rPr>
                          <m:t>(</m:t>
                        </m:r>
                      </m:e>
                    </m:nary>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check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84</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$\mathrm{Re}\frac{a+ib}{c+id}=\frac{ac+bd}{c^2+d^2}$</a:t>
                </a:r>
                <a:r>
                  <a:rPr sz="2400" b="0">
                    <a:solidFill>
                      <a:srgbClr val="111827"/>
                    </a:solidFill>
                    <a:latin typeface="Arial"/>
                  </a:rPr>
                  <a:t>; with </a:t>
                </a:r>
                <a:r>
                  <a:rPr lang="en-IN" sz="2400">
                    <a:solidFill>
                      <a:srgbClr val="111827"/>
                    </a:solidFill>
                    <a:latin typeface="Cambria Math" panose="02040503050406030204" pitchFamily="18" charset="0"/>
                  </a:rPr>
                  <a:t>$a=2\cos\theta,\ b=\sin\theta,\ c=\cos\theta,\ d=-3\sin\theta$</a:t>
                </a:r>
                <a:r>
                  <a:rPr sz="2400" b="0">
                    <a:solidFill>
                      <a:srgbClr val="111827"/>
                    </a:solidFill>
                    <a:latin typeface="Arial"/>
                  </a:rPr>
                  <a:t> this gives </a:t>
                </a:r>
                <a:r>
                  <a:rPr lang="en-IN" sz="2400">
                    <a:solidFill>
                      <a:srgbClr val="111827"/>
                    </a:solidFill>
                    <a:latin typeface="Cambria Math" panose="02040503050406030204" pitchFamily="18" charset="0"/>
                  </a:rPr>
                  <a:t>$\frac{2\cos^2\theta-3\sin^2\theta}{\cos^2\theta+9\sin^2\theta}$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ratio expressions in </a:t>
                </a:r>
                <a:r>
                  <a:rPr lang="en-IN" sz="2400">
                    <a:solidFill>
                      <a:srgbClr val="111827"/>
                    </a:solidFill>
                    <a:latin typeface="Cambria Math" panose="02040503050406030204" pitchFamily="18" charset="0"/>
                  </a:rPr>
                  <a:t>$\cos\theta,\sin\theta$</a:t>
                </a:r>
                <a:r>
                  <a:rPr sz="2400" b="0">
                    <a:solidFill>
                      <a:srgbClr val="111827"/>
                    </a:solidFill>
                    <a:latin typeface="Arial"/>
                  </a:rPr>
                  <a:t> of equal degree, divide by </a:t>
                </a:r>
                <a:r>
                  <a:rPr lang="en-IN" sz="2400">
                    <a:solidFill>
                      <a:srgbClr val="111827"/>
                    </a:solidFill>
                    <a:latin typeface="Cambria Math" panose="02040503050406030204" pitchFamily="18" charset="0"/>
                  </a:rPr>
                  <a:t>$\cos^n\theta$</a:t>
                </a:r>
                <a:r>
                  <a:rPr sz="2400" b="0">
                    <a:solidFill>
                      <a:srgbClr val="111827"/>
                    </a:solidFill>
                    <a:latin typeface="Arial"/>
                  </a:rPr>
                  <a:t> and use </a:t>
                </a:r>
                <a:r>
                  <a:rPr lang="en-IN" sz="2400">
                    <a:solidFill>
                      <a:srgbClr val="111827"/>
                    </a:solidFill>
                    <a:latin typeface="Cambria Math" panose="02040503050406030204" pitchFamily="18" charset="0"/>
                  </a:rPr>
                  <a:t>$t=\tan\theta$</a:t>
                </a:r>
                <a:r>
                  <a:rPr sz="2400" b="0">
                    <a:solidFill>
                      <a:srgbClr val="111827"/>
                    </a:solidFill>
                    <a:latin typeface="Arial"/>
                  </a:rPr>
                  <a:t> (after checking </a:t>
                </a:r>
                <a:r>
                  <a:rPr lang="en-IN" sz="2400">
                    <a:solidFill>
                      <a:srgbClr val="111827"/>
                    </a:solidFill>
                    <a:latin typeface="Cambria Math" panose="02040503050406030204" pitchFamily="18" charset="0"/>
                  </a:rPr>
                  <a:t>$\cos\theta=0$</a:t>
                </a:r>
                <a:r>
                  <a:rPr sz="2400" b="0">
                    <a:solidFill>
                      <a:srgbClr val="111827"/>
                    </a:solidFill>
                    <a:latin typeface="Arial"/>
                  </a:rPr>
                  <a:t> separately).</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$\sum_{k=1}^{n}(2k-1)^2=\frac{n(2n-1)(2n+1)}{3}$</a:t>
                </a:r>
                <a:r>
                  <a:rPr sz="2400" b="0">
                    <a:solidFill>
                      <a:srgbClr val="111827"/>
                    </a:solidFill>
                    <a:latin typeface="Arial"/>
                  </a:rPr>
                  <a:t>; check </a:t>
                </a:r>
                <a:r>
                  <a:rPr lang="en-IN" sz="2400">
                    <a:solidFill>
                      <a:srgbClr val="111827"/>
                    </a:solidFill>
                    <a:latin typeface="Cambria Math" panose="02040503050406030204" pitchFamily="18" charset="0"/>
                  </a:rPr>
                  <a:t>$n=4$</a:t>
                </a:r>
                <a:r>
                  <a:rPr sz="2400" b="0">
                    <a:solidFill>
                      <a:srgbClr val="111827"/>
                    </a:solidFill>
                    <a:latin typeface="Arial"/>
                  </a:rPr>
                  <a:t>: </a:t>
                </a:r>
                <a:r>
                  <a:rPr lang="en-IN" sz="2400">
                    <a:solidFill>
                      <a:srgbClr val="111827"/>
                    </a:solidFill>
                    <a:latin typeface="Cambria Math" panose="02040503050406030204" pitchFamily="18" charset="0"/>
                  </a:rPr>
                  <a:t>$1+9+25+49=84$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be three complex numbers on the circle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with </a:t>
                </a:r>
                <a14:m>
                  <m:oMath xmlns:m="http://schemas.openxmlformats.org/officeDocument/2006/math">
                    <m:r>
                      <m:rPr>
                        <m:sty m:val="p"/>
                      </m:rPr>
                      <a:rPr lang="en-IN" sz="2400">
                        <a:solidFill>
                          <a:srgbClr val="111827"/>
                        </a:solidFill>
                        <a:latin typeface="Cambria Math" panose="02040503050406030204" pitchFamily="18" charset="0"/>
                      </a:rPr>
                      <m:t>arg</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arg</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arg</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If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Sub>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2</m:t>
                                </m:r>
                              </m:sub>
                            </m:sSub>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3</m:t>
                                </m:r>
                              </m:sub>
                            </m:sSub>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e>
                              <m:sub>
                                <m:r>
                                  <a:rPr lang="en-IN" sz="2400" i="1">
                                    <a:solidFill>
                                      <a:srgbClr val="111827"/>
                                    </a:solidFill>
                                    <a:latin typeface="Cambria Math" panose="02040503050406030204" pitchFamily="18" charset="0"/>
                                  </a:rPr>
                                  <m:t>1</m:t>
                                </m:r>
                              </m:sub>
                            </m:sSub>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Z</m:t>
                    </m:r>
                  </m:oMath>
                </a14:m>
                <a:r>
                  <a:rPr sz="2400" b="0">
                    <a:solidFill>
                      <a:srgbClr val="111827"/>
                    </a:solidFill>
                    <a:latin typeface="Arial"/>
                  </a:rPr>
                  <a:t>, then the value of </a:t>
                </a:r>
                <a14:m>
                  <m:oMath xmlns:m="http://schemas.openxmlformats.org/officeDocument/2006/math">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31   (B) 24   (C) 29   (D) 41</a:t>
                </a:r>
                <a:endParaRPr sz="2400">
                  <a:solidFill>
                    <a:srgbClr val="111827"/>
                  </a:solidFill>
                </a:endParaRPr>
              </a:p>
            </p:txBody>
          </p:sp>
        </mc:Choice>
        <mc:Fallback>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$z_1,z_2$</a:t>
                </a:r>
                <a:r>
                  <a:rPr sz="2400" b="0">
                    <a:solidFill>
                      <a:srgbClr val="111827"/>
                    </a:solidFill>
                    <a:latin typeface="Arial"/>
                  </a:rPr>
                  <a:t> and </a:t>
                </a:r>
                <a:r>
                  <a:rPr lang="en-IN" sz="2400">
                    <a:solidFill>
                      <a:srgbClr val="111827"/>
                    </a:solidFill>
                    <a:latin typeface="Cambria Math" panose="02040503050406030204" pitchFamily="18" charset="0"/>
                  </a:rPr>
                  <a:t>$z_3$</a:t>
                </a:r>
                <a:r>
                  <a:rPr sz="2400" b="0">
                    <a:solidFill>
                      <a:srgbClr val="111827"/>
                    </a:solidFill>
                    <a:latin typeface="Arial"/>
                  </a:rPr>
                  <a:t> be three complex numbers on the circle </a:t>
                </a:r>
                <a:r>
                  <a:rPr lang="en-IN" sz="2400">
                    <a:solidFill>
                      <a:srgbClr val="111827"/>
                    </a:solidFill>
                    <a:latin typeface="Cambria Math" panose="02040503050406030204" pitchFamily="18" charset="0"/>
                  </a:rPr>
                  <a:t>$|z|=1$</a:t>
                </a:r>
                <a:r>
                  <a:rPr sz="2400" b="0">
                    <a:solidFill>
                      <a:srgbClr val="111827"/>
                    </a:solidFill>
                    <a:latin typeface="Arial"/>
                  </a:rPr>
                  <a:t> with </a:t>
                </a:r>
                <a:r>
                  <a:rPr lang="en-IN" sz="2400">
                    <a:solidFill>
                      <a:srgbClr val="111827"/>
                    </a:solidFill>
                    <a:latin typeface="Cambria Math" panose="02040503050406030204" pitchFamily="18" charset="0"/>
                  </a:rPr>
                  <a:t>$\arg(z_1)=-\frac\pi4$</a:t>
                </a:r>
                <a:r>
                  <a:rPr sz="2400" b="0">
                    <a:solidFill>
                      <a:srgbClr val="111827"/>
                    </a:solidFill>
                    <a:latin typeface="Arial"/>
                  </a:rPr>
                  <a:t>, </a:t>
                </a:r>
                <a:r>
                  <a:rPr lang="en-IN" sz="2400">
                    <a:solidFill>
                      <a:srgbClr val="111827"/>
                    </a:solidFill>
                    <a:latin typeface="Cambria Math" panose="02040503050406030204" pitchFamily="18" charset="0"/>
                  </a:rPr>
                  <a:t>$\arg(z_2)=0$</a:t>
                </a:r>
                <a:r>
                  <a:rPr sz="2400" b="0">
                    <a:solidFill>
                      <a:srgbClr val="111827"/>
                    </a:solidFill>
                    <a:latin typeface="Arial"/>
                  </a:rPr>
                  <a:t> and </a:t>
                </a:r>
                <a:r>
                  <a:rPr lang="en-IN" sz="2400">
                    <a:solidFill>
                      <a:srgbClr val="111827"/>
                    </a:solidFill>
                    <a:latin typeface="Cambria Math" panose="02040503050406030204" pitchFamily="18" charset="0"/>
                  </a:rPr>
                  <a:t>$\arg(z_3)=\frac\pi4$</a:t>
                </a:r>
                <a:r>
                  <a:rPr sz="2400" b="0">
                    <a:solidFill>
                      <a:srgbClr val="111827"/>
                    </a:solidFill>
                    <a:latin typeface="Arial"/>
                  </a:rPr>
                  <a:t>. If </a:t>
                </a:r>
                <a:r>
                  <a:rPr lang="en-IN" sz="2400">
                    <a:solidFill>
                      <a:srgbClr val="111827"/>
                    </a:solidFill>
                    <a:latin typeface="Cambria Math" panose="02040503050406030204" pitchFamily="18" charset="0"/>
                  </a:rPr>
                  <a:t>$\left|z_1\bar z_2+z_2\bar z_3+z_3\bar z_1\right|^2=\alpha+\beta\sqrt2$</a:t>
                </a:r>
                <a:r>
                  <a:rPr sz="2400" b="0">
                    <a:solidFill>
                      <a:srgbClr val="111827"/>
                    </a:solidFill>
                    <a:latin typeface="Arial"/>
                  </a:rPr>
                  <a:t>, </a:t>
                </a:r>
                <a:r>
                  <a:rPr lang="en-IN" sz="2400">
                    <a:solidFill>
                      <a:srgbClr val="111827"/>
                    </a:solidFill>
                    <a:latin typeface="Cambria Math" panose="02040503050406030204" pitchFamily="18" charset="0"/>
                  </a:rPr>
                  <a:t>$\alpha,\beta\in\mathbb{Z}$</a:t>
                </a:r>
                <a:r>
                  <a:rPr sz="2400" b="0">
                    <a:solidFill>
                      <a:srgbClr val="111827"/>
                    </a:solidFill>
                    <a:latin typeface="Arial"/>
                  </a:rPr>
                  <a:t>, then the value of </a:t>
                </a:r>
                <a:r>
                  <a:rPr lang="en-IN" sz="2400">
                    <a:solidFill>
                      <a:srgbClr val="111827"/>
                    </a:solidFill>
                    <a:latin typeface="Cambria Math" panose="02040503050406030204" pitchFamily="18" charset="0"/>
                  </a:rPr>
                  <a:t>$\alpha^2+\beta^2$</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31   (B) 24   (C) 29   (D) 41</a:t>
                </a:r>
                <a:endParaRPr sz="2400">
                  <a:solidFill>
                    <a:srgbClr val="111827"/>
                  </a:solidFill>
                </a:endParaRPr>
              </a:p>
            </p:txBody>
          </p:sp>
        </mc:Fallback>
      </mc:AlternateContent>
      <p:sp>
        <p:nvSpPr>
          <p:cNvPr id="5" name="Rectangle 4"/>
          <p:cNvSpPr/>
          <p:nvPr/>
        </p:nvSpPr>
        <p:spPr>
          <a:xfrm>
            <a:off x="731520" y="4171695"/>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Modulus and argument of unit complex numbers (Euler form)</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Write </a:t>
                </a:r>
                <a14:m>
                  <m:oMath xmlns:m="http://schemas.openxmlformats.org/officeDocument/2006/math">
                    <m:sSub>
                      <m:e>
                        <m:r>
                          <a:rPr lang="en-IN" sz="2400" i="1">
                            <a:solidFill>
                              <a:srgbClr val="78350F"/>
                            </a:solidFill>
                            <a:latin typeface="Cambria Math" panose="02040503050406030204" pitchFamily="18" charset="0"/>
                          </a:rPr>
                          <m:t>𝑧</m:t>
                        </m:r>
                      </m:e>
                      <m:sub>
                        <m:r>
                          <a:rPr lang="en-IN" sz="2400" i="1">
                            <a:solidFill>
                              <a:srgbClr val="78350F"/>
                            </a:solidFill>
                            <a:latin typeface="Cambria Math" panose="02040503050406030204" pitchFamily="18" charset="0"/>
                          </a:rPr>
                          <m:t>𝑘</m:t>
                        </m:r>
                      </m:sub>
                    </m:sSub>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𝑒</m:t>
                        </m:r>
                      </m:e>
                      <m:sup>
                        <m:r>
                          <a:rPr lang="en-IN" sz="2400" i="1">
                            <a:solidFill>
                              <a:srgbClr val="78350F"/>
                            </a:solidFill>
                            <a:latin typeface="Cambria Math" panose="02040503050406030204" pitchFamily="18" charset="0"/>
                          </a:rPr>
                          <m:t>𝑖</m:t>
                        </m:r>
                        <m:sSub>
                          <m:e>
                            <m:r>
                              <a:rPr lang="en-IN" sz="2400" i="1">
                                <a:solidFill>
                                  <a:srgbClr val="78350F"/>
                                </a:solidFill>
                                <a:latin typeface="Cambria Math" panose="02040503050406030204" pitchFamily="18" charset="0"/>
                              </a:rPr>
                              <m:t>θ</m:t>
                            </m:r>
                          </m:e>
                          <m:sub>
                            <m:r>
                              <a:rPr lang="en-IN" sz="2400" i="1">
                                <a:solidFill>
                                  <a:srgbClr val="78350F"/>
                                </a:solidFill>
                                <a:latin typeface="Cambria Math" panose="02040503050406030204" pitchFamily="18" charset="0"/>
                              </a:rPr>
                              <m:t>𝑘</m:t>
                            </m:r>
                          </m:sub>
                        </m:sSub>
                      </m:sup>
                    </m:sSup>
                  </m:oMath>
                </a14:m>
                <a:r>
                  <a:rPr sz="2400" b="0">
                    <a:solidFill>
                      <a:srgbClr val="78350F"/>
                    </a:solidFill>
                    <a:latin typeface="Arial"/>
                  </a:rPr>
                  <a:t>; each </a:t>
                </a:r>
                <a14:m>
                  <m:oMath xmlns:m="http://schemas.openxmlformats.org/officeDocument/2006/math">
                    <m:sSub>
                      <m:e>
                        <m:r>
                          <a:rPr lang="en-IN" sz="2400" i="1">
                            <a:solidFill>
                              <a:srgbClr val="78350F"/>
                            </a:solidFill>
                            <a:latin typeface="Cambria Math" panose="02040503050406030204" pitchFamily="18" charset="0"/>
                          </a:rPr>
                          <m:t>𝑧</m:t>
                        </m:r>
                      </m:e>
                      <m:sub>
                        <m:r>
                          <a:rPr lang="en-IN" sz="2400" i="1">
                            <a:solidFill>
                              <a:srgbClr val="78350F"/>
                            </a:solidFill>
                            <a:latin typeface="Cambria Math" panose="02040503050406030204" pitchFamily="18" charset="0"/>
                          </a:rPr>
                          <m:t>𝑖</m:t>
                        </m:r>
                      </m:sub>
                    </m:sSub>
                    <m:sSub>
                      <m:e>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𝑧</m:t>
                            </m:r>
                          </m:e>
                        </m:acc>
                      </m:e>
                      <m:sub>
                        <m:r>
                          <a:rPr lang="en-IN" sz="2400" i="1">
                            <a:solidFill>
                              <a:srgbClr val="78350F"/>
                            </a:solidFill>
                            <a:latin typeface="Cambria Math" panose="02040503050406030204" pitchFamily="18" charset="0"/>
                          </a:rPr>
                          <m:t>𝑗</m:t>
                        </m:r>
                      </m:sub>
                    </m:sSub>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𝑒</m:t>
                        </m:r>
                      </m:e>
                      <m:sup>
                        <m:r>
                          <a:rPr lang="en-IN" sz="2400" i="1">
                            <a:solidFill>
                              <a:srgbClr val="78350F"/>
                            </a:solidFill>
                            <a:latin typeface="Cambria Math" panose="02040503050406030204" pitchFamily="18" charset="0"/>
                          </a:rPr>
                          <m:t>𝑖</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θ</m:t>
                            </m:r>
                          </m:e>
                          <m:sub>
                            <m:r>
                              <a:rPr lang="en-IN" sz="2400" i="1">
                                <a:solidFill>
                                  <a:srgbClr val="78350F"/>
                                </a:solidFill>
                                <a:latin typeface="Cambria Math" panose="02040503050406030204" pitchFamily="18" charset="0"/>
                              </a:rPr>
                              <m:t>𝑖</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θ</m:t>
                            </m:r>
                          </m:e>
                          <m:sub>
                            <m:r>
                              <a:rPr lang="en-IN" sz="2400" i="1">
                                <a:solidFill>
                                  <a:srgbClr val="78350F"/>
                                </a:solidFill>
                                <a:latin typeface="Cambria Math" panose="02040503050406030204" pitchFamily="18" charset="0"/>
                              </a:rPr>
                              <m:t>𝑗</m:t>
                            </m:r>
                          </m:sub>
                        </m:sSub>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is a unit vector, so the sum is easy.</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Write </a:t>
                </a:r>
                <a:r>
                  <a:rPr lang="en-IN" sz="2400">
                    <a:solidFill>
                      <a:srgbClr val="78350F"/>
                    </a:solidFill>
                    <a:latin typeface="Cambria Math" panose="02040503050406030204" pitchFamily="18" charset="0"/>
                  </a:rPr>
                  <a:t>$z_k=e^{i\theta_k}$</a:t>
                </a:r>
                <a:r>
                  <a:rPr sz="2400" b="0">
                    <a:solidFill>
                      <a:srgbClr val="78350F"/>
                    </a:solidFill>
                    <a:latin typeface="Arial"/>
                  </a:rPr>
                  <a:t>; each </a:t>
                </a:r>
                <a:r>
                  <a:rPr lang="en-IN" sz="2400">
                    <a:solidFill>
                      <a:srgbClr val="78350F"/>
                    </a:solidFill>
                    <a:latin typeface="Cambria Math" panose="02040503050406030204" pitchFamily="18" charset="0"/>
                  </a:rPr>
                  <a:t>$z_i\bar z_j=e^{i(\theta_i-\theta_j)}$</a:t>
                </a:r>
                <a:r>
                  <a:rPr sz="2400" b="0">
                    <a:solidFill>
                      <a:srgbClr val="78350F"/>
                    </a:solidFill>
                    <a:latin typeface="Arial"/>
                  </a:rPr>
                  <a:t> is a unit vector, so the sum is easy.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p>
                    </m:sSup>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Sub>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p>
                    </m:sSup>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2</m:t>
                        </m:r>
                      </m:sub>
                    </m:sSub>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p>
                    </m:sSup>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3</m:t>
                        </m:r>
                      </m:sub>
                    </m:sSub>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p>
                    </m:sSup>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sum is </a:t>
                </a:r>
                <a14:m>
                  <m:oMath xmlns:m="http://schemas.openxmlformats.org/officeDocument/2006/math">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giving </a:t>
                </a:r>
                <a14:m>
                  <m:oMath xmlns:m="http://schemas.openxmlformats.org/officeDocument/2006/math">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29</m:t>
                    </m:r>
                  </m:oMath>
                </a14:m>
                <a:r>
                  <a:rPr sz="2400" b="0">
                    <a:solidFill>
                      <a:srgbClr val="111827"/>
                    </a:solidFill>
                    <a:latin typeface="Arial"/>
                  </a:rPr>
                  <a:t>, option (C).</a:t>
                </a:r>
                <a:endParaRPr sz="2400">
                  <a:solidFill>
                    <a:srgbClr val="111827"/>
                  </a:solidFill>
                </a:endParaRPr>
              </a:p>
            </p:txBody>
          </p:sp>
        </mc:Choice>
        <mc:Fallback>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$z_1=e^{-i\pi/4}$</a:t>
                </a:r>
                <a:r>
                  <a:rPr sz="2400" b="0">
                    <a:solidFill>
                      <a:srgbClr val="111827"/>
                    </a:solidFill>
                    <a:latin typeface="Arial"/>
                  </a:rPr>
                  <a:t>, </a:t>
                </a:r>
                <a:r>
                  <a:rPr lang="en-IN" sz="2400">
                    <a:solidFill>
                      <a:srgbClr val="111827"/>
                    </a:solidFill>
                    <a:latin typeface="Cambria Math" panose="02040503050406030204" pitchFamily="18" charset="0"/>
                  </a:rPr>
                  <a:t>$z_2=1$</a:t>
                </a:r>
                <a:r>
                  <a:rPr sz="2400" b="0">
                    <a:solidFill>
                      <a:srgbClr val="111827"/>
                    </a:solidFill>
                    <a:latin typeface="Arial"/>
                  </a:rPr>
                  <a:t>, </a:t>
                </a:r>
                <a:r>
                  <a:rPr lang="en-IN" sz="2400">
                    <a:solidFill>
                      <a:srgbClr val="111827"/>
                    </a:solidFill>
                    <a:latin typeface="Cambria Math" panose="02040503050406030204" pitchFamily="18" charset="0"/>
                  </a:rPr>
                  <a:t>$z_3=e^{i\pi/4}$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$z_1\bar z_2=e^{-i\pi/4}$</a:t>
                </a:r>
                <a:r>
                  <a:rPr sz="2400" b="0">
                    <a:solidFill>
                      <a:srgbClr val="111827"/>
                    </a:solidFill>
                    <a:latin typeface="Arial"/>
                  </a:rPr>
                  <a:t>, </a:t>
                </a:r>
                <a:r>
                  <a:rPr lang="en-IN" sz="2400">
                    <a:solidFill>
                      <a:srgbClr val="111827"/>
                    </a:solidFill>
                    <a:latin typeface="Cambria Math" panose="02040503050406030204" pitchFamily="18" charset="0"/>
                  </a:rPr>
                  <a:t>$z_2\bar z_3=e^{-i\pi/4}$</a:t>
                </a:r>
                <a:r>
                  <a:rPr sz="2400" b="0">
                    <a:solidFill>
                      <a:srgbClr val="111827"/>
                    </a:solidFill>
                    <a:latin typeface="Arial"/>
                  </a:rPr>
                  <a:t>, </a:t>
                </a:r>
                <a:r>
                  <a:rPr lang="en-IN" sz="2400">
                    <a:solidFill>
                      <a:srgbClr val="111827"/>
                    </a:solidFill>
                    <a:latin typeface="Cambria Math" panose="02040503050406030204" pitchFamily="18" charset="0"/>
                  </a:rPr>
                  <a:t>$z_3\bar z_1=e^{i\pi/4}e^{i\pi/4}=e^{i\pi/2}=i$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sum is </a:t>
                </a:r>
                <a:r>
                  <a:rPr lang="en-IN" sz="2400">
                    <a:solidFill>
                      <a:srgbClr val="111827"/>
                    </a:solidFill>
                    <a:latin typeface="Cambria Math" panose="02040503050406030204" pitchFamily="18" charset="0"/>
                  </a:rPr>
                  <a:t>$2e^{-i\pi/4}+i=\sqrt2-\sqrt2\,i+i=\sqrt2+(1-\sqrt2)i$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$|\cdot|^2=(\sqrt2)^2+(1-\sqrt2)^2=2+1+2-2\sqrt2=5-2\sqrt2$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$\alpha=5$</a:t>
                </a:r>
                <a:r>
                  <a:rPr sz="2400" b="0">
                    <a:solidFill>
                      <a:srgbClr val="111827"/>
                    </a:solidFill>
                    <a:latin typeface="Arial"/>
                  </a:rPr>
                  <a:t> and </a:t>
                </a:r>
                <a:r>
                  <a:rPr lang="en-IN" sz="2400">
                    <a:solidFill>
                      <a:srgbClr val="111827"/>
                    </a:solidFill>
                    <a:latin typeface="Cambria Math" panose="02040503050406030204" pitchFamily="18" charset="0"/>
                  </a:rPr>
                  <a:t>$\beta=-2$</a:t>
                </a:r>
                <a:r>
                  <a:rPr sz="2400" b="0">
                    <a:solidFill>
                      <a:srgbClr val="111827"/>
                    </a:solidFill>
                    <a:latin typeface="Arial"/>
                  </a:rPr>
                  <a:t>, giving </a:t>
                </a:r>
                <a:r>
                  <a:rPr lang="en-IN" sz="2400">
                    <a:solidFill>
                      <a:srgbClr val="111827"/>
                    </a:solidFill>
                    <a:latin typeface="Cambria Math" panose="02040503050406030204" pitchFamily="18" charset="0"/>
                  </a:rPr>
                  <a:t>$\alpha^2+\beta^2=25+4=29$</a:t>
                </a:r>
                <a:r>
                  <a:rPr sz="2400" b="0">
                    <a:solidFill>
                      <a:srgbClr val="111827"/>
                    </a:solidFill>
                    <a:latin typeface="Arial"/>
                  </a:rPr>
                  <a:t>, option (C).</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29</a:t>
            </a:r>
            <a:endParaRPr sz="2800">
              <a:solidFill>
                <a:srgbClr val="15803D"/>
              </a:solidFill>
            </a:endParaRP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For unit vectors </a:t>
                </a:r>
                <a14:m>
                  <m:oMath xmlns:m="http://schemas.openxmlformats.org/officeDocument/2006/math">
                    <m:sSub>
                      <m:e>
                        <m:r>
                          <a:rPr lang="en-IN" sz="2400" i="1">
                            <a:solidFill>
                              <a:srgbClr val="78350F"/>
                            </a:solidFill>
                            <a:latin typeface="Cambria Math" panose="02040503050406030204" pitchFamily="18" charset="0"/>
                          </a:rPr>
                          <m:t>𝑢</m:t>
                        </m:r>
                      </m:e>
                      <m:sub>
                        <m:r>
                          <a:rPr lang="en-IN" sz="2400" i="1">
                            <a:solidFill>
                              <a:srgbClr val="78350F"/>
                            </a:solidFill>
                            <a:latin typeface="Cambria Math" panose="02040503050406030204" pitchFamily="18" charset="0"/>
                          </a:rPr>
                          <m:t>𝑘</m:t>
                        </m:r>
                      </m:sub>
                    </m:sSub>
                  </m:oMath>
                </a14:m>
                <a:r>
                  <a:rPr sz="2400" b="0">
                    <a:solidFill>
                      <a:srgbClr val="78350F"/>
                    </a:solidFill>
                    <a:latin typeface="Arial"/>
                  </a:rPr>
                  <a:t>, </a:t>
                </a:r>
                <a14:m>
                  <m:oMath xmlns:m="http://schemas.openxmlformats.org/officeDocument/2006/math">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𝑢</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𝑢</m:t>
                        </m:r>
                      </m:e>
                      <m:sub>
                        <m:r>
                          <a:rPr lang="en-IN" sz="2400" i="1">
                            <a:solidFill>
                              <a:srgbClr val="78350F"/>
                            </a:solidFill>
                            <a:latin typeface="Cambria Math" panose="02040503050406030204" pitchFamily="18" charset="0"/>
                          </a:rPr>
                          <m:t>2</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𝑢</m:t>
                        </m:r>
                      </m:e>
                      <m:sub>
                        <m:r>
                          <a:rPr lang="en-IN" sz="2400" i="1">
                            <a:solidFill>
                              <a:srgbClr val="78350F"/>
                            </a:solidFill>
                            <a:latin typeface="Cambria Math" panose="02040503050406030204" pitchFamily="18" charset="0"/>
                          </a:rPr>
                          <m:t>3</m:t>
                        </m:r>
                      </m:sub>
                    </m:sSub>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cos</m:t>
                    </m:r>
                    <m:r>
                      <m:rPr>
                        <m:sty m:val="p"/>
                      </m:rPr>
                      <a:rPr lang="en-IN" sz="2400">
                        <a:solidFill>
                          <a:srgbClr val="78350F"/>
                        </a:solidFill>
                        <a:latin typeface="Cambria Math" panose="02040503050406030204" pitchFamily="18" charset="0"/>
                      </a:rPr>
                      <m:t>(</m:t>
                    </m:r>
                    <m:r>
                      <m:rPr>
                        <m:nor/>
                      </m:rPr>
                      <a:rPr lang="en-IN" sz="2400" i="1">
                        <a:solidFill>
                          <a:srgbClr val="78350F"/>
                        </a:solidFill>
                        <a:latin typeface="Cambria Math" panose="02040503050406030204" pitchFamily="18" charset="0"/>
                      </a:rPr>
                      <m:t>𝑎𝑛𝑔𝑙𝑒 𝑏𝑒𝑡𝑤𝑒𝑒𝑛 𝑝𝑎𝑖𝑟𝑠</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For unit vectors </a:t>
                </a:r>
                <a:r>
                  <a:rPr lang="en-IN" sz="2400">
                    <a:solidFill>
                      <a:srgbClr val="78350F"/>
                    </a:solidFill>
                    <a:latin typeface="Cambria Math" panose="02040503050406030204" pitchFamily="18" charset="0"/>
                  </a:rPr>
                  <a:t>$u_k$</a:t>
                </a:r>
                <a:r>
                  <a:rPr sz="2400" b="0">
                    <a:solidFill>
                      <a:srgbClr val="78350F"/>
                    </a:solidFill>
                    <a:latin typeface="Arial"/>
                  </a:rPr>
                  <a:t>, </a:t>
                </a:r>
                <a:r>
                  <a:rPr lang="en-IN" sz="2400">
                    <a:solidFill>
                      <a:srgbClr val="78350F"/>
                    </a:solidFill>
                    <a:latin typeface="Cambria Math" panose="02040503050406030204" pitchFamily="18" charset="0"/>
                  </a:rPr>
                  <a:t>$|u_1+u_2+u_3|^2=3+2\sum\cos(\text{angle between pairs})$</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three terms are unit vectors at angles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unit complex numbers </a:t>
                </a:r>
                <a14:m>
                  <m:oMath xmlns:m="http://schemas.openxmlformats.org/officeDocument/2006/math">
                    <m:sSub>
                      <m:e>
                        <m:r>
                          <a:rPr lang="en-IN" sz="2400" i="1">
                            <a:solidFill>
                              <a:srgbClr val="111827"/>
                            </a:solidFill>
                            <a:latin typeface="Cambria Math" panose="02040503050406030204" pitchFamily="18" charset="0"/>
                          </a:rPr>
                          <m:t>𝑢</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𝑢</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𝑢</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𝑢</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𝑢</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𝑢</m:t>
                        </m:r>
                      </m:e>
                      <m:sub>
                        <m:r>
                          <a:rPr lang="en-IN" sz="2400" i="1">
                            <a:solidFill>
                              <a:srgbClr val="111827"/>
                            </a:solidFill>
                            <a:latin typeface="Cambria Math" panose="02040503050406030204" pitchFamily="18" charset="0"/>
                          </a:rPr>
                          <m:t>3</m:t>
                        </m:r>
                      </m:sub>
                    </m:sSub>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cos</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ϕ</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ϕ</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ϕ</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ϕ</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ϕ</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ϕ</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e>
                    </m:d>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three terms are unit vectors at angles </a:t>
                </a:r>
                <a:r>
                  <a:rPr lang="en-IN" sz="2400">
                    <a:solidFill>
                      <a:srgbClr val="111827"/>
                    </a:solidFill>
                    <a:latin typeface="Cambria Math" panose="02040503050406030204" pitchFamily="18" charset="0"/>
                  </a:rPr>
                  <a:t>$-\frac\pi4,\ -\frac\pi4,\ \frac\pi2$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unit complex numbers </a:t>
                </a:r>
                <a:r>
                  <a:rPr lang="en-IN" sz="2400">
                    <a:solidFill>
                      <a:srgbClr val="111827"/>
                    </a:solidFill>
                    <a:latin typeface="Cambria Math" panose="02040503050406030204" pitchFamily="18" charset="0"/>
                  </a:rPr>
                  <a:t>$u_1,u_2,u_3$</a:t>
                </a:r>
                <a:r>
                  <a:rPr sz="2400" b="0">
                    <a:solidFill>
                      <a:srgbClr val="111827"/>
                    </a:solidFill>
                    <a:latin typeface="Arial"/>
                  </a:rPr>
                  <a:t>: </a:t>
                </a:r>
                <a:r>
                  <a:rPr lang="en-IN" sz="2400">
                    <a:solidFill>
                      <a:srgbClr val="111827"/>
                    </a:solidFill>
                    <a:latin typeface="Cambria Math" panose="02040503050406030204" pitchFamily="18" charset="0"/>
                  </a:rPr>
                  <a:t>$|u_1+u_2+u_3|^2=3+2\left[\cos(\phi_1-\phi_2)+\cos(\phi_2-\phi_3)+\cos(\phi_3-\phi_1)\right]$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angle differences are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(in absolute value), with cosines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29</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angle differences are </a:t>
                </a:r>
                <a:r>
                  <a:rPr lang="en-IN" sz="2400">
                    <a:solidFill>
                      <a:srgbClr val="111827"/>
                    </a:solidFill>
                    <a:latin typeface="Cambria Math" panose="02040503050406030204" pitchFamily="18" charset="0"/>
                  </a:rPr>
                  <a:t>$0,\ \frac{3\pi}4,\ \frac{3\pi}4$</a:t>
                </a:r>
                <a:r>
                  <a:rPr sz="2400" b="0">
                    <a:solidFill>
                      <a:srgbClr val="111827"/>
                    </a:solidFill>
                    <a:latin typeface="Arial"/>
                  </a:rPr>
                  <a:t> (in absolute value), with cosines </a:t>
                </a:r>
                <a:r>
                  <a:rPr lang="en-IN" sz="2400">
                    <a:solidFill>
                      <a:srgbClr val="111827"/>
                    </a:solidFill>
                    <a:latin typeface="Cambria Math" panose="02040503050406030204" pitchFamily="18" charset="0"/>
                  </a:rPr>
                  <a:t>$1,\ -\frac{\sqrt2}2,\ -\frac{\sqrt2}2$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$|S|^2=3+2\left(1-\sqrt2\right)=5-2\sqrt2$</a:t>
                </a:r>
                <a:r>
                  <a:rPr sz="2400" b="0">
                    <a:solidFill>
                      <a:srgbClr val="111827"/>
                    </a:solidFill>
                    <a:latin typeface="Arial"/>
                  </a:rPr>
                  <a:t>, so </a:t>
                </a:r>
                <a:r>
                  <a:rPr lang="en-IN" sz="2400">
                    <a:solidFill>
                      <a:srgbClr val="111827"/>
                    </a:solidFill>
                    <a:latin typeface="Cambria Math" panose="02040503050406030204" pitchFamily="18" charset="0"/>
                  </a:rPr>
                  <a:t>$\alpha=5,\ \beta=-2$</a:t>
                </a:r>
                <a:r>
                  <a:rPr sz="2400" b="0">
                    <a:solidFill>
                      <a:srgbClr val="111827"/>
                    </a:solidFill>
                    <a:latin typeface="Arial"/>
                  </a:rPr>
                  <a:t> and </a:t>
                </a:r>
                <a:r>
                  <a:rPr lang="en-IN" sz="2400">
                    <a:solidFill>
                      <a:srgbClr val="111827"/>
                    </a:solidFill>
                    <a:latin typeface="Cambria Math" panose="02040503050406030204" pitchFamily="18" charset="0"/>
                  </a:rPr>
                  <a:t>$\alpha^2+\beta^2=29$</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29</a:t>
            </a:r>
            <a:endParaRPr sz="2800">
              <a:solidFill>
                <a:srgbClr val="15803D"/>
              </a:solidFill>
            </a:endParaRP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𝑖</m:t>
                        </m:r>
                      </m:sub>
                    </m:sSub>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e>
                      <m:sub>
                        <m:r>
                          <a:rPr lang="en-IN" sz="2400" i="1">
                            <a:solidFill>
                              <a:srgbClr val="111827"/>
                            </a:solidFill>
                            <a:latin typeface="Cambria Math" panose="02040503050406030204" pitchFamily="18" charset="0"/>
                          </a:rPr>
                          <m:t>𝑗</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θ</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θ</m:t>
                            </m:r>
                          </m:e>
                          <m:sub>
                            <m:r>
                              <a:rPr lang="en-IN" sz="2400" i="1">
                                <a:solidFill>
                                  <a:srgbClr val="111827"/>
                                </a:solidFill>
                                <a:latin typeface="Cambria Math" panose="02040503050406030204" pitchFamily="18" charset="0"/>
                              </a:rPr>
                              <m:t>𝑗</m:t>
                            </m:r>
                          </m:sub>
                        </m:sSub>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such cyclic sums depend only on the angle differences, so rotating all </a:t>
                </a:r>
                <a14:m>
                  <m:oMath xmlns:m="http://schemas.openxmlformats.org/officeDocument/2006/math">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𝑘</m:t>
                        </m:r>
                      </m:sub>
                    </m:sSub>
                  </m:oMath>
                </a14:m>
                <a:r>
                  <a:rPr sz="2400" b="0">
                    <a:solidFill>
                      <a:srgbClr val="111827"/>
                    </a:solidFill>
                    <a:latin typeface="Arial"/>
                  </a:rPr>
                  <a:t> by a common angle leaves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𝑖</m:t>
                        </m:r>
                      </m:sub>
                    </m:sSub>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e>
                      <m:sub>
                        <m:r>
                          <a:rPr lang="en-IN" sz="2400" i="1">
                            <a:solidFill>
                              <a:srgbClr val="111827"/>
                            </a:solidFill>
                            <a:latin typeface="Cambria Math" panose="02040503050406030204" pitchFamily="18" charset="0"/>
                          </a:rPr>
                          <m:t>𝑗</m:t>
                        </m:r>
                      </m:sub>
                    </m:sSub>
                  </m:oMath>
                </a14:m>
                <a:r>
                  <a:rPr sz="2400" b="0">
                    <a:solidFill>
                      <a:srgbClr val="111827"/>
                    </a:solidFill>
                    <a:latin typeface="Arial"/>
                  </a:rPr>
                  <a:t> unchanged.</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𝑢</m:t>
                                </m:r>
                              </m:e>
                              <m:sub>
                                <m:r>
                                  <a:rPr lang="en-IN" sz="2400" i="1">
                                    <a:solidFill>
                                      <a:srgbClr val="111827"/>
                                    </a:solidFill>
                                    <a:latin typeface="Cambria Math" panose="02040503050406030204" pitchFamily="18" charset="0"/>
                                  </a:rPr>
                                  <m:t>𝑘</m:t>
                                </m:r>
                              </m:sub>
                            </m:sSub>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𝑘</m:t>
                        </m:r>
                      </m:sub>
                      <m:sup>
                        <m:r>
                          <a:rPr lang="en-IN" sz="2400" i="1">
                            <a:solidFill>
                              <a:srgbClr val="111827"/>
                            </a:solidFill>
                            <a:latin typeface="Cambria Math" panose="02040503050406030204" pitchFamily="18" charset="0"/>
                          </a:rPr>
                          <m:t>​</m:t>
                        </m:r>
                      </m:sup>
                      <m:e>
                        <m:r>
                          <m:rPr>
                            <m:sty m:val="p"/>
                          </m:rPr>
                          <a:rPr lang="en-IN" sz="2400">
                            <a:solidFill>
                              <a:srgbClr val="111827"/>
                            </a:solidFill>
                            <a:latin typeface="Cambria Math" panose="02040503050406030204" pitchFamily="18" charset="0"/>
                          </a:rPr>
                          <m:t>cos</m:t>
                        </m:r>
                      </m:e>
                    </m:nary>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ϕ</m:t>
                        </m:r>
                      </m:e>
                      <m:sub>
                        <m:r>
                          <a:rPr lang="en-IN" sz="2400" i="1">
                            <a:solidFill>
                              <a:srgbClr val="111827"/>
                            </a:solidFill>
                            <a:latin typeface="Cambria Math" panose="02040503050406030204" pitchFamily="18" charset="0"/>
                          </a:rPr>
                          <m:t>𝑗</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ϕ</m:t>
                        </m:r>
                      </m:e>
                      <m:sub>
                        <m:r>
                          <a:rPr lang="en-IN" sz="2400" i="1">
                            <a:solidFill>
                              <a:srgbClr val="111827"/>
                            </a:solidFill>
                            <a:latin typeface="Cambria Math" panose="02040503050406030204" pitchFamily="18" charset="0"/>
                          </a:rPr>
                          <m:t>𝑘</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unit complex </a:t>
                </a:r>
                <a14:m>
                  <m:oMath xmlns:m="http://schemas.openxmlformats.org/officeDocument/2006/math">
                    <m:sSub>
                      <m:e>
                        <m:r>
                          <a:rPr lang="en-IN" sz="2400" i="1">
                            <a:solidFill>
                              <a:srgbClr val="111827"/>
                            </a:solidFill>
                            <a:latin typeface="Cambria Math" panose="02040503050406030204" pitchFamily="18" charset="0"/>
                          </a:rPr>
                          <m:t>𝑢</m:t>
                        </m:r>
                      </m:e>
                      <m:sub>
                        <m:r>
                          <a:rPr lang="en-IN" sz="2400" i="1">
                            <a:solidFill>
                              <a:srgbClr val="111827"/>
                            </a:solidFill>
                            <a:latin typeface="Cambria Math" panose="02040503050406030204" pitchFamily="18" charset="0"/>
                          </a:rPr>
                          <m:t>𝑘</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is the value, match rational and irrational parts (with the correct signs):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means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$|z|=1$</a:t>
                </a:r>
                <a:r>
                  <a:rPr sz="2400" b="0">
                    <a:solidFill>
                      <a:srgbClr val="111827"/>
                    </a:solidFill>
                    <a:latin typeface="Arial"/>
                  </a:rPr>
                  <a:t>, </a:t>
                </a:r>
                <a:r>
                  <a:rPr lang="en-IN" sz="2400">
                    <a:solidFill>
                      <a:srgbClr val="111827"/>
                    </a:solidFill>
                    <a:latin typeface="Cambria Math" panose="02040503050406030204" pitchFamily="18" charset="0"/>
                  </a:rPr>
                  <a:t>$z_i\bar z_j=e^{i(\theta_i-\theta_j)}$</a:t>
                </a:r>
                <a:r>
                  <a:rPr sz="2400" b="0">
                    <a:solidFill>
                      <a:srgbClr val="111827"/>
                    </a:solidFill>
                    <a:latin typeface="Arial"/>
                  </a:rPr>
                  <a:t>: such cyclic sums depend only on the angle differences, so rotating all </a:t>
                </a:r>
                <a:r>
                  <a:rPr lang="en-IN" sz="2400">
                    <a:solidFill>
                      <a:srgbClr val="111827"/>
                    </a:solidFill>
                    <a:latin typeface="Cambria Math" panose="02040503050406030204" pitchFamily="18" charset="0"/>
                  </a:rPr>
                  <a:t>$z_k$</a:t>
                </a:r>
                <a:r>
                  <a:rPr sz="2400" b="0">
                    <a:solidFill>
                      <a:srgbClr val="111827"/>
                    </a:solidFill>
                    <a:latin typeface="Arial"/>
                  </a:rPr>
                  <a:t> by a common angle leaves </a:t>
                </a:r>
                <a:r>
                  <a:rPr lang="en-IN" sz="2400">
                    <a:solidFill>
                      <a:srgbClr val="111827"/>
                    </a:solidFill>
                    <a:latin typeface="Cambria Math" panose="02040503050406030204" pitchFamily="18" charset="0"/>
                  </a:rPr>
                  <a:t>$\sum z_i\bar z_j$</a:t>
                </a:r>
                <a:r>
                  <a:rPr sz="2400" b="0">
                    <a:solidFill>
                      <a:srgbClr val="111827"/>
                    </a:solidFill>
                    <a:latin typeface="Arial"/>
                  </a:rPr>
                  <a:t> unchanged.</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$\left|\sum u_k\right|^2=n+2\sum_{j&lt;k}\cos(\phi_j-\phi_k)$</a:t>
                </a:r>
                <a:r>
                  <a:rPr sz="2400" b="0">
                    <a:solidFill>
                      <a:srgbClr val="111827"/>
                    </a:solidFill>
                    <a:latin typeface="Arial"/>
                  </a:rPr>
                  <a:t> for unit complex </a:t>
                </a:r>
                <a:r>
                  <a:rPr lang="en-IN" sz="2400">
                    <a:solidFill>
                      <a:srgbClr val="111827"/>
                    </a:solidFill>
                    <a:latin typeface="Cambria Math" panose="02040503050406030204" pitchFamily="18" charset="0"/>
                  </a:rPr>
                  <a:t>$u_k$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$\alpha+\beta\sqrt2$</a:t>
                </a:r>
                <a:r>
                  <a:rPr sz="2400" b="0">
                    <a:solidFill>
                      <a:srgbClr val="111827"/>
                    </a:solidFill>
                    <a:latin typeface="Arial"/>
                  </a:rPr>
                  <a:t> is the value, match rational and irrational parts (with the correct signs): </a:t>
                </a:r>
                <a:r>
                  <a:rPr lang="en-IN" sz="2400">
                    <a:solidFill>
                      <a:srgbClr val="111827"/>
                    </a:solidFill>
                    <a:latin typeface="Cambria Math" panose="02040503050406030204" pitchFamily="18" charset="0"/>
                  </a:rPr>
                  <a:t>$5-2\sqrt2$</a:t>
                </a:r>
                <a:r>
                  <a:rPr sz="2400" b="0">
                    <a:solidFill>
                      <a:srgbClr val="111827"/>
                    </a:solidFill>
                    <a:latin typeface="Arial"/>
                  </a:rPr>
                  <a:t> means </a:t>
                </a:r>
                <a:r>
                  <a:rPr lang="en-IN" sz="2400">
                    <a:solidFill>
                      <a:srgbClr val="111827"/>
                    </a:solidFill>
                    <a:latin typeface="Cambria Math" panose="02040503050406030204" pitchFamily="18" charset="0"/>
                  </a:rPr>
                  <a:t>$\beta=-2$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curve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C</m:t>
                    </m:r>
                  </m:oMath>
                </a14:m>
                <a:r>
                  <a:rPr sz="2400" b="0">
                    <a:solidFill>
                      <a:srgbClr val="111827"/>
                    </a:solidFill>
                    <a:latin typeface="Arial"/>
                  </a:rPr>
                  <a:t>, divide the region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into two parts of areas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β</m:t>
                    </m:r>
                  </m:oMath>
                </a14:m>
                <a:r>
                  <a:rPr sz="2400" b="0">
                    <a:solidFill>
                      <a:srgbClr val="111827"/>
                    </a:solidFill>
                    <a:latin typeface="Arial"/>
                  </a:rPr>
                  <a:t>. Then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endParaRPr sz="2400">
                  <a:solidFill>
                    <a:srgbClr val="111827"/>
                  </a:solidFill>
                </a:endParaRPr>
              </a:p>
            </p:txBody>
          </p:sp>
        </mc:Choice>
        <mc:Fallback>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curve </a:t>
                </a:r>
                <a:r>
                  <a:rPr lang="en-IN" sz="2400">
                    <a:solidFill>
                      <a:srgbClr val="111827"/>
                    </a:solidFill>
                    <a:latin typeface="Cambria Math" panose="02040503050406030204" pitchFamily="18" charset="0"/>
                  </a:rPr>
                  <a:t>$z(1+i)+\bar z(1-i)=4$</a:t>
                </a:r>
                <a:r>
                  <a:rPr sz="2400" b="0">
                    <a:solidFill>
                      <a:srgbClr val="111827"/>
                    </a:solidFill>
                    <a:latin typeface="Arial"/>
                  </a:rPr>
                  <a:t>, </a:t>
                </a:r>
                <a:r>
                  <a:rPr lang="en-IN" sz="2400">
                    <a:solidFill>
                      <a:srgbClr val="111827"/>
                    </a:solidFill>
                    <a:latin typeface="Cambria Math" panose="02040503050406030204" pitchFamily="18" charset="0"/>
                  </a:rPr>
                  <a:t>$z\in\mathbb{C}$</a:t>
                </a:r>
                <a:r>
                  <a:rPr sz="2400" b="0">
                    <a:solidFill>
                      <a:srgbClr val="111827"/>
                    </a:solidFill>
                    <a:latin typeface="Arial"/>
                  </a:rPr>
                  <a:t>, divide the region </a:t>
                </a:r>
                <a:r>
                  <a:rPr lang="en-IN" sz="2400">
                    <a:solidFill>
                      <a:srgbClr val="111827"/>
                    </a:solidFill>
                    <a:latin typeface="Cambria Math" panose="02040503050406030204" pitchFamily="18" charset="0"/>
                  </a:rPr>
                  <a:t>$|z-3|\le1$</a:t>
                </a:r>
                <a:r>
                  <a:rPr sz="2400" b="0">
                    <a:solidFill>
                      <a:srgbClr val="111827"/>
                    </a:solidFill>
                    <a:latin typeface="Arial"/>
                  </a:rPr>
                  <a:t> into two parts of areas </a:t>
                </a:r>
                <a:r>
                  <a:rPr lang="en-IN" sz="2400">
                    <a:solidFill>
                      <a:srgbClr val="111827"/>
                    </a:solidFill>
                    <a:latin typeface="Cambria Math" panose="02040503050406030204" pitchFamily="18" charset="0"/>
                  </a:rPr>
                  <a:t>$\alpha$</a:t>
                </a:r>
                <a:r>
                  <a:rPr sz="2400" b="0">
                    <a:solidFill>
                      <a:srgbClr val="111827"/>
                    </a:solidFill>
                    <a:latin typeface="Arial"/>
                  </a:rPr>
                  <a:t> and </a:t>
                </a:r>
                <a:r>
                  <a:rPr lang="en-IN" sz="2400">
                    <a:solidFill>
                      <a:srgbClr val="111827"/>
                    </a:solidFill>
                    <a:latin typeface="Cambria Math" panose="02040503050406030204" pitchFamily="18" charset="0"/>
                  </a:rPr>
                  <a:t>$\beta$</a:t>
                </a:r>
                <a:r>
                  <a:rPr sz="2400" b="0">
                    <a:solidFill>
                      <a:srgbClr val="111827"/>
                    </a:solidFill>
                    <a:latin typeface="Arial"/>
                  </a:rPr>
                  <a:t>. Then </a:t>
                </a:r>
                <a:r>
                  <a:rPr lang="en-IN" sz="2400">
                    <a:solidFill>
                      <a:srgbClr val="111827"/>
                    </a:solidFill>
                    <a:latin typeface="Cambria Math" panose="02040503050406030204" pitchFamily="18" charset="0"/>
                  </a:rPr>
                  <a:t>$|\alpha-\beta|$</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$1+\frac\pi2$</a:t>
                </a:r>
                <a:r>
                  <a:rPr sz="2400" b="0">
                    <a:solidFill>
                      <a:srgbClr val="111827"/>
                    </a:solidFill>
                    <a:latin typeface="Arial"/>
                  </a:rPr>
                  <a:t>   (B) </a:t>
                </a:r>
                <a:r>
                  <a:rPr lang="en-IN" sz="2400">
                    <a:solidFill>
                      <a:srgbClr val="111827"/>
                    </a:solidFill>
                    <a:latin typeface="Cambria Math" panose="02040503050406030204" pitchFamily="18" charset="0"/>
                  </a:rPr>
                  <a:t>$1+\frac\pi6$</a:t>
                </a:r>
                <a:r>
                  <a:rPr sz="2400" b="0">
                    <a:solidFill>
                      <a:srgbClr val="111827"/>
                    </a:solidFill>
                    <a:latin typeface="Arial"/>
                  </a:rPr>
                  <a:t>   (C) </a:t>
                </a:r>
                <a:r>
                  <a:rPr lang="en-IN" sz="2400">
                    <a:solidFill>
                      <a:srgbClr val="111827"/>
                    </a:solidFill>
                    <a:latin typeface="Cambria Math" panose="02040503050406030204" pitchFamily="18" charset="0"/>
                  </a:rPr>
                  <a:t>$1+\frac\pi3$</a:t>
                </a:r>
                <a:r>
                  <a:rPr sz="2400" b="0">
                    <a:solidFill>
                      <a:srgbClr val="111827"/>
                    </a:solidFill>
                    <a:latin typeface="Arial"/>
                  </a:rPr>
                  <a:t>   (D) </a:t>
                </a:r>
                <a:r>
                  <a:rPr lang="en-IN" sz="2400">
                    <a:solidFill>
                      <a:srgbClr val="111827"/>
                    </a:solidFill>
                    <a:latin typeface="Cambria Math" panose="02040503050406030204" pitchFamily="18" charset="0"/>
                  </a:rPr>
                  <a:t>$1+\frac\pi4$</a:t>
                </a:r>
                <a:endParaRPr sz="2400">
                  <a:solidFill>
                    <a:srgbClr val="111827"/>
                  </a:solidFill>
                </a:endParaRPr>
              </a:p>
            </p:txBody>
          </p:sp>
        </mc:Fallback>
      </mc:AlternateContent>
      <p:sp>
        <p:nvSpPr>
          <p:cNvPr id="5" name="Rectangle 4"/>
          <p:cNvSpPr/>
          <p:nvPr/>
        </p:nvSpPr>
        <p:spPr>
          <a:xfrm>
            <a:off x="731520" y="4171695"/>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Locus of a line in complex form, Area of a circular segment</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curve is the line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which cuts the unit disc centred at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in a chord subtending </a:t>
                </a:r>
                <a14:m>
                  <m:oMath xmlns:m="http://schemas.openxmlformats.org/officeDocument/2006/math">
                    <m:sSup>
                      <m:e>
                        <m:r>
                          <a:rPr lang="en-IN" sz="2400" i="1">
                            <a:solidFill>
                              <a:srgbClr val="78350F"/>
                            </a:solidFill>
                            <a:latin typeface="Cambria Math" panose="02040503050406030204" pitchFamily="18" charset="0"/>
                          </a:rPr>
                          <m:t>90</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at the centre.</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curve is the line </a:t>
                </a:r>
                <a:r>
                  <a:rPr lang="en-IN" sz="2400">
                    <a:solidFill>
                      <a:srgbClr val="78350F"/>
                    </a:solidFill>
                    <a:latin typeface="Cambria Math" panose="02040503050406030204" pitchFamily="18" charset="0"/>
                  </a:rPr>
                  <a:t>$x-y=2$</a:t>
                </a:r>
                <a:r>
                  <a:rPr sz="2400" b="0">
                    <a:solidFill>
                      <a:srgbClr val="78350F"/>
                    </a:solidFill>
                    <a:latin typeface="Arial"/>
                  </a:rPr>
                  <a:t>, which cuts the unit disc centred at </a:t>
                </a:r>
                <a:r>
                  <a:rPr lang="en-IN" sz="2400">
                    <a:solidFill>
                      <a:srgbClr val="78350F"/>
                    </a:solidFill>
                    <a:latin typeface="Cambria Math" panose="02040503050406030204" pitchFamily="18" charset="0"/>
                  </a:rPr>
                  <a:t>$(3,0)$</a:t>
                </a:r>
                <a:r>
                  <a:rPr sz="2400" b="0">
                    <a:solidFill>
                      <a:srgbClr val="78350F"/>
                    </a:solidFill>
                    <a:latin typeface="Arial"/>
                  </a:rPr>
                  <a:t> in a chord subtending </a:t>
                </a:r>
                <a:r>
                  <a:rPr lang="en-IN" sz="2400">
                    <a:solidFill>
                      <a:srgbClr val="78350F"/>
                    </a:solidFill>
                    <a:latin typeface="Cambria Math" panose="02040503050406030204" pitchFamily="18" charset="0"/>
                  </a:rPr>
                  <a:t>$90^\circ$</a:t>
                </a:r>
                <a:r>
                  <a:rPr sz="2400" b="0">
                    <a:solidFill>
                      <a:srgbClr val="78350F"/>
                    </a:solidFill>
                    <a:latin typeface="Arial"/>
                  </a:rPr>
                  <a:t> at the centre.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Put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𝑦</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Expanding: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that is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the disc with centre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radius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line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meets the circle at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(both satisfy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lie on the circle).</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Put </a:t>
                </a:r>
                <a:r>
                  <a:rPr lang="en-IN" sz="2400">
                    <a:solidFill>
                      <a:srgbClr val="111827"/>
                    </a:solidFill>
                    <a:latin typeface="Cambria Math" panose="02040503050406030204" pitchFamily="18" charset="0"/>
                  </a:rPr>
                  <a:t>$z=x+iy$</a:t>
                </a:r>
                <a:r>
                  <a:rPr sz="2400" b="0">
                    <a:solidFill>
                      <a:srgbClr val="111827"/>
                    </a:solidFill>
                    <a:latin typeface="Arial"/>
                  </a:rPr>
                  <a:t>: </a:t>
                </a:r>
                <a:r>
                  <a:rPr lang="en-IN" sz="2400">
                    <a:solidFill>
                      <a:srgbClr val="111827"/>
                    </a:solidFill>
                    <a:latin typeface="Cambria Math" panose="02040503050406030204" pitchFamily="18" charset="0"/>
                  </a:rPr>
                  <a:t>$(x+iy)(1+i)+(x-iy)(1-i)=4$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Expanding: </a:t>
                </a:r>
                <a:r>
                  <a:rPr lang="en-IN" sz="2400">
                    <a:solidFill>
                      <a:srgbClr val="111827"/>
                    </a:solidFill>
                    <a:latin typeface="Cambria Math" panose="02040503050406030204" pitchFamily="18" charset="0"/>
                  </a:rPr>
                  <a:t>$x-y+iy+ix+x-ix-iy-y=4$</a:t>
                </a:r>
                <a:r>
                  <a:rPr sz="2400" b="0">
                    <a:solidFill>
                      <a:srgbClr val="111827"/>
                    </a:solidFill>
                    <a:latin typeface="Arial"/>
                  </a:rPr>
                  <a:t>... that is </a:t>
                </a:r>
                <a:r>
                  <a:rPr lang="en-IN" sz="2400">
                    <a:solidFill>
                      <a:srgbClr val="111827"/>
                    </a:solidFill>
                    <a:latin typeface="Cambria Math" panose="02040503050406030204" pitchFamily="18" charset="0"/>
                  </a:rPr>
                  <a:t>$2x-2y=4$</a:t>
                </a:r>
                <a:r>
                  <a:rPr sz="2400" b="0">
                    <a:solidFill>
                      <a:srgbClr val="111827"/>
                    </a:solidFill>
                    <a:latin typeface="Arial"/>
                  </a:rPr>
                  <a:t>, so </a:t>
                </a:r>
                <a:r>
                  <a:rPr lang="en-IN" sz="2400">
                    <a:solidFill>
                      <a:srgbClr val="111827"/>
                    </a:solidFill>
                    <a:latin typeface="Cambria Math" panose="02040503050406030204" pitchFamily="18" charset="0"/>
                  </a:rPr>
                  <a:t>$x-y=2$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$|z-3|\le1$</a:t>
                </a:r>
                <a:r>
                  <a:rPr sz="2400" b="0">
                    <a:solidFill>
                      <a:srgbClr val="111827"/>
                    </a:solidFill>
                    <a:latin typeface="Arial"/>
                  </a:rPr>
                  <a:t> is the disc with centre </a:t>
                </a:r>
                <a:r>
                  <a:rPr lang="en-IN" sz="2400">
                    <a:solidFill>
                      <a:srgbClr val="111827"/>
                    </a:solidFill>
                    <a:latin typeface="Cambria Math" panose="02040503050406030204" pitchFamily="18" charset="0"/>
                  </a:rPr>
                  <a:t>$C(3,0)$</a:t>
                </a:r>
                <a:r>
                  <a:rPr sz="2400" b="0">
                    <a:solidFill>
                      <a:srgbClr val="111827"/>
                    </a:solidFill>
                    <a:latin typeface="Arial"/>
                  </a:rPr>
                  <a:t> and radius </a:t>
                </a:r>
                <a:r>
                  <a:rPr lang="en-IN" sz="2400">
                    <a:solidFill>
                      <a:srgbClr val="111827"/>
                    </a:solidFill>
                    <a:latin typeface="Cambria Math" panose="02040503050406030204" pitchFamily="18" charset="0"/>
                  </a:rPr>
                  <a: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line </a:t>
                </a:r>
                <a:r>
                  <a:rPr lang="en-IN" sz="2400">
                    <a:solidFill>
                      <a:srgbClr val="111827"/>
                    </a:solidFill>
                    <a:latin typeface="Cambria Math" panose="02040503050406030204" pitchFamily="18" charset="0"/>
                  </a:rPr>
                  <a:t>$x-y=2$</a:t>
                </a:r>
                <a:r>
                  <a:rPr sz="2400" b="0">
                    <a:solidFill>
                      <a:srgbClr val="111827"/>
                    </a:solidFill>
                    <a:latin typeface="Arial"/>
                  </a:rPr>
                  <a:t> meets the circle at </a:t>
                </a:r>
                <a:r>
                  <a:rPr lang="en-IN" sz="2400">
                    <a:solidFill>
                      <a:srgbClr val="111827"/>
                    </a:solidFill>
                    <a:latin typeface="Cambria Math" panose="02040503050406030204" pitchFamily="18" charset="0"/>
                  </a:rPr>
                  <a:t>$A(2,0)$</a:t>
                </a:r>
                <a:r>
                  <a:rPr sz="2400" b="0">
                    <a:solidFill>
                      <a:srgbClr val="111827"/>
                    </a:solidFill>
                    <a:latin typeface="Arial"/>
                  </a:rPr>
                  <a:t> and </a:t>
                </a:r>
                <a:r>
                  <a:rPr lang="en-IN" sz="2400">
                    <a:solidFill>
                      <a:srgbClr val="111827"/>
                    </a:solidFill>
                    <a:latin typeface="Cambria Math" panose="02040503050406030204" pitchFamily="18" charset="0"/>
                  </a:rPr>
                  <a:t>$B(3,1)$</a:t>
                </a:r>
                <a:r>
                  <a:rPr sz="2400" b="0">
                    <a:solidFill>
                      <a:srgbClr val="111827"/>
                    </a:solidFill>
                    <a:latin typeface="Arial"/>
                  </a:rPr>
                  <a:t> (both satisfy </a:t>
                </a:r>
                <a:r>
                  <a:rPr lang="en-IN" sz="2400">
                    <a:solidFill>
                      <a:srgbClr val="111827"/>
                    </a:solidFill>
                    <a:latin typeface="Cambria Math" panose="02040503050406030204" pitchFamily="18" charset="0"/>
                  </a:rPr>
                  <a:t>$x-y=2$</a:t>
                </a:r>
                <a:r>
                  <a:rPr sz="2400" b="0">
                    <a:solidFill>
                      <a:srgbClr val="111827"/>
                    </a:solidFill>
                    <a:latin typeface="Arial"/>
                  </a:rPr>
                  <a:t> and lie on the circle).</a:t>
                </a:r>
                <a:endParaRPr sz="2400">
                  <a:solidFill>
                    <a:srgbClr val="111827"/>
                  </a:solidFill>
                </a:endParaRPr>
              </a:p>
            </p:txBody>
          </p:sp>
        </mc:Fallback>
      </mc:AlternateContent>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smaller part is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area of sector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area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since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option (A).</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$\alpha+\beta=\pi r^2=\pi$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smaller part is </a:t>
                </a:r>
                <a:r>
                  <a:rPr lang="en-IN" sz="2400">
                    <a:solidFill>
                      <a:srgbClr val="111827"/>
                    </a:solidFill>
                    <a:latin typeface="Cambria Math" panose="02040503050406030204" pitchFamily="18" charset="0"/>
                  </a:rPr>
                  <a:t>$\alpha=$</a:t>
                </a:r>
                <a:r>
                  <a:rPr sz="2400" b="0">
                    <a:solidFill>
                      <a:srgbClr val="111827"/>
                    </a:solidFill>
                    <a:latin typeface="Arial"/>
                  </a:rPr>
                  <a:t> area of sector </a:t>
                </a:r>
                <a:r>
                  <a:rPr lang="en-IN" sz="2400">
                    <a:solidFill>
                      <a:srgbClr val="111827"/>
                    </a:solidFill>
                    <a:latin typeface="Cambria Math" panose="02040503050406030204" pitchFamily="18" charset="0"/>
                  </a:rPr>
                  <a:t>$-$</a:t>
                </a:r>
                <a:r>
                  <a:rPr sz="2400" b="0">
                    <a:solidFill>
                      <a:srgbClr val="111827"/>
                    </a:solidFill>
                    <a:latin typeface="Arial"/>
                  </a:rPr>
                  <a:t> area of </a:t>
                </a:r>
                <a:r>
                  <a:rPr lang="en-IN" sz="2400">
                    <a:solidFill>
                      <a:srgbClr val="111827"/>
                    </a:solidFill>
                    <a:latin typeface="Cambria Math" panose="02040503050406030204" pitchFamily="18" charset="0"/>
                  </a:rPr>
                  <a:t>$\triangle ACB=\frac{\pi(1)^2}{4}-\frac12\cdot1\cdot1=\frac\pi4-\frac12$</a:t>
                </a:r>
                <a:r>
                  <a:rPr sz="2400" b="0">
                    <a:solidFill>
                      <a:srgbClr val="111827"/>
                    </a:solidFill>
                    <a:latin typeface="Arial"/>
                  </a:rPr>
                  <a:t>, since </a:t>
                </a:r>
                <a:r>
                  <a:rPr lang="en-IN" sz="2400">
                    <a:solidFill>
                      <a:srgbClr val="111827"/>
                    </a:solidFill>
                    <a:latin typeface="Cambria Math" panose="02040503050406030204" pitchFamily="18" charset="0"/>
                  </a:rPr>
                  <a:t>$\angle ACB=90^\circ$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$\beta=\pi-\alpha$</a:t>
                </a:r>
                <a:r>
                  <a:rPr sz="2400" b="0">
                    <a:solidFill>
                      <a:srgbClr val="111827"/>
                    </a:solidFill>
                    <a:latin typeface="Arial"/>
                  </a:rPr>
                  <a:t>, so </a:t>
                </a:r>
                <a:r>
                  <a:rPr lang="en-IN" sz="2400">
                    <a:solidFill>
                      <a:srgbClr val="111827"/>
                    </a:solidFill>
                    <a:latin typeface="Cambria Math" panose="02040503050406030204" pitchFamily="18" charset="0"/>
                  </a:rPr>
                  <a:t>$|\alpha-\beta|=|2\alpha-\pi|=\left|\frac\pi2-1-\pi\right|=\left|-1-\frac\pi2\right|$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$|\alpha-\beta|=1+\frac\pi2$</a:t>
                </a:r>
                <a:r>
                  <a:rPr sz="2400" b="0">
                    <a:solidFill>
                      <a:srgbClr val="111827"/>
                    </a:solidFill>
                    <a:latin typeface="Arial"/>
                  </a:rPr>
                  <a:t>, option (A).</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14:m>
                  <m:oMath xmlns:m="http://schemas.openxmlformats.org/officeDocument/2006/math">
                    <m:r>
                      <a:rPr lang="en-IN" sz="2800" i="1">
                        <a:solidFill>
                          <a:srgbClr val="15803D"/>
                        </a:solidFill>
                        <a:latin typeface="Cambria Math" panose="02040503050406030204" pitchFamily="18" charset="0"/>
                      </a:rPr>
                      <m:t>1</m:t>
                    </m:r>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π</m:t>
                        </m:r>
                      </m:num>
                      <m:den>
                        <m:r>
                          <a:rPr lang="en-IN" sz="2800" i="1">
                            <a:solidFill>
                              <a:srgbClr val="15803D"/>
                            </a:solidFill>
                            <a:latin typeface="Cambria Math" panose="02040503050406030204" pitchFamily="18" charset="0"/>
                          </a:rPr>
                          <m:t>2</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r>
                  <a:rPr lang="en-IN" sz="2800">
                    <a:solidFill>
                      <a:srgbClr val="15803D"/>
                    </a:solidFill>
                    <a:latin typeface="Cambria Math" panose="02040503050406030204" pitchFamily="18" charset="0"/>
                  </a:rPr>
                  <a:t>$1+\frac\pi2$</a:t>
                </a:r>
                <a:endParaRPr sz="2800">
                  <a:solidFill>
                    <a:srgbClr val="15803D"/>
                  </a:solidFill>
                </a:endParaRPr>
              </a:p>
            </p:txBody>
          </p:sp>
        </mc:Fallback>
      </mc:AlternateContent>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Compare with the diameter parallel to the chord: the difference of the two parts is twice the strip between them, found by integration.</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chord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is at distance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oMath>
                </a14:m>
                <a:r>
                  <a:rPr sz="2400" b="0">
                    <a:solidFill>
                      <a:srgbClr val="111827"/>
                    </a:solidFill>
                    <a:latin typeface="Arial"/>
                  </a:rPr>
                  <a:t> from the centre.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diameter parallel to it halves the disc, each half having area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smaller part is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oMath>
                </a14:m>
                <a:r>
                  <a:rPr sz="2400" b="0">
                    <a:solidFill>
                      <a:srgbClr val="111827"/>
                    </a:solidFill>
                    <a:latin typeface="Arial"/>
                  </a:rPr>
                  <a:t> and the larger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is the area of the strip between the diameter and the chord.</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chord </a:t>
                </a:r>
                <a:r>
                  <a:rPr lang="en-IN" sz="2400">
                    <a:solidFill>
                      <a:srgbClr val="111827"/>
                    </a:solidFill>
                    <a:latin typeface="Cambria Math" panose="02040503050406030204" pitchFamily="18" charset="0"/>
                  </a:rPr>
                  <a:t>$x-y=2$</a:t>
                </a:r>
                <a:r>
                  <a:rPr sz="2400" b="0">
                    <a:solidFill>
                      <a:srgbClr val="111827"/>
                    </a:solidFill>
                    <a:latin typeface="Arial"/>
                  </a:rPr>
                  <a:t> is at distance </a:t>
                </a:r>
                <a:r>
                  <a:rPr lang="en-IN" sz="2400">
                    <a:solidFill>
                      <a:srgbClr val="111827"/>
                    </a:solidFill>
                    <a:latin typeface="Cambria Math" panose="02040503050406030204" pitchFamily="18" charset="0"/>
                  </a:rPr>
                  <a:t>$d=\frac{|3-0-2|}{\sqrt2}=\frac1{\sqrt2}$</a:t>
                </a:r>
                <a:r>
                  <a:rPr sz="2400" b="0">
                    <a:solidFill>
                      <a:srgbClr val="111827"/>
                    </a:solidFill>
                    <a:latin typeface="Arial"/>
                  </a:rPr>
                  <a:t> from the centre.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diameter parallel to it halves the disc, each half having area </a:t>
                </a:r>
                <a:r>
                  <a:rPr lang="en-IN" sz="2400">
                    <a:solidFill>
                      <a:srgbClr val="111827"/>
                    </a:solidFill>
                    <a:latin typeface="Cambria Math" panose="02040503050406030204" pitchFamily="18" charset="0"/>
                  </a:rPr>
                  <a:t>$\frac\pi2$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smaller part is </a:t>
                </a:r>
                <a:r>
                  <a:rPr lang="en-IN" sz="2400">
                    <a:solidFill>
                      <a:srgbClr val="111827"/>
                    </a:solidFill>
                    <a:latin typeface="Cambria Math" panose="02040503050406030204" pitchFamily="18" charset="0"/>
                  </a:rPr>
                  <a:t>$\alpha=\frac\pi2-S$</a:t>
                </a:r>
                <a:r>
                  <a:rPr sz="2400" b="0">
                    <a:solidFill>
                      <a:srgbClr val="111827"/>
                    </a:solidFill>
                    <a:latin typeface="Arial"/>
                  </a:rPr>
                  <a:t> and the larger </a:t>
                </a:r>
                <a:r>
                  <a:rPr lang="en-IN" sz="2400">
                    <a:solidFill>
                      <a:srgbClr val="111827"/>
                    </a:solidFill>
                    <a:latin typeface="Cambria Math" panose="02040503050406030204" pitchFamily="18" charset="0"/>
                  </a:rPr>
                  <a:t>$\beta=\frac\pi2+S$</a:t>
                </a:r>
                <a:r>
                  <a:rPr sz="2400" b="0">
                    <a:solidFill>
                      <a:srgbClr val="111827"/>
                    </a:solidFill>
                    <a:latin typeface="Arial"/>
                  </a:rPr>
                  <a:t>, where </a:t>
                </a:r>
                <a:r>
                  <a:rPr lang="en-IN" sz="2400">
                    <a:solidFill>
                      <a:srgbClr val="111827"/>
                    </a:solidFill>
                    <a:latin typeface="Cambria Math" panose="02040503050406030204" pitchFamily="18" charset="0"/>
                  </a:rPr>
                  <a:t>$S$</a:t>
                </a:r>
                <a:r>
                  <a:rPr sz="2400" b="0">
                    <a:solidFill>
                      <a:srgbClr val="111827"/>
                    </a:solidFill>
                    <a:latin typeface="Arial"/>
                  </a:rPr>
                  <a:t> is the area of the strip between the diameter and the chord.</a:t>
                </a:r>
                <a:endParaRPr sz="2400">
                  <a:solidFill>
                    <a:srgbClr val="111827"/>
                  </a:solidFill>
                </a:endParaRPr>
              </a:p>
            </p:txBody>
          </p:sp>
        </mc:Fallback>
      </mc:AlternateContent>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Width </a:t>
                </a:r>
                <a14:m>
                  <m:oMath xmlns:m="http://schemas.openxmlformats.org/officeDocument/2006/math">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e>
                    </m:rad>
                  </m:oMath>
                </a14:m>
                <a:r>
                  <a:rPr sz="2400" b="0">
                    <a:solidFill>
                      <a:srgbClr val="111827"/>
                    </a:solidFill>
                    <a:latin typeface="Arial"/>
                  </a:rPr>
                  <a:t> at distance </a:t>
                </a:r>
                <a14:m>
                  <m:oMath xmlns:m="http://schemas.openxmlformats.org/officeDocument/2006/math">
                    <m:r>
                      <a:rPr lang="en-IN" sz="2400" i="1">
                        <a:solidFill>
                          <a:srgbClr val="111827"/>
                        </a:solidFill>
                        <a:latin typeface="Cambria Math" panose="02040503050406030204" pitchFamily="18" charset="0"/>
                      </a:rPr>
                      <m:t>𝑡</m:t>
                    </m:r>
                  </m:oMath>
                </a14:m>
                <a:r>
                  <a:rPr sz="2400" b="0">
                    <a:solidFill>
                      <a:srgbClr val="111827"/>
                    </a:solidFill>
                    <a:latin typeface="Arial"/>
                  </a:rPr>
                  <a:t> from the diameter, so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𝑑</m:t>
                        </m:r>
                      </m:sup>
                      <m:e>
                        <m:r>
                          <a:rPr lang="en-IN" sz="2400" i="1">
                            <a:solidFill>
                              <a:srgbClr val="111827"/>
                            </a:solidFill>
                            <a:latin typeface="Cambria Math" panose="02040503050406030204" pitchFamily="18" charset="0"/>
                          </a:rPr>
                          <m:t>2</m:t>
                        </m:r>
                      </m:e>
                    </m:nary>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e>
                    </m:ra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𝑑</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Width </a:t>
                </a:r>
                <a:r>
                  <a:rPr lang="en-IN" sz="2400">
                    <a:solidFill>
                      <a:srgbClr val="111827"/>
                    </a:solidFill>
                    <a:latin typeface="Cambria Math" panose="02040503050406030204" pitchFamily="18" charset="0"/>
                  </a:rPr>
                  <a:t>$2\sqrt{1-t^2}$</a:t>
                </a:r>
                <a:r>
                  <a:rPr sz="2400" b="0">
                    <a:solidFill>
                      <a:srgbClr val="111827"/>
                    </a:solidFill>
                    <a:latin typeface="Arial"/>
                  </a:rPr>
                  <a:t> at distance </a:t>
                </a:r>
                <a:r>
                  <a:rPr lang="en-IN" sz="2400">
                    <a:solidFill>
                      <a:srgbClr val="111827"/>
                    </a:solidFill>
                    <a:latin typeface="Cambria Math" panose="02040503050406030204" pitchFamily="18" charset="0"/>
                  </a:rPr>
                  <a:t>$t$</a:t>
                </a:r>
                <a:r>
                  <a:rPr sz="2400" b="0">
                    <a:solidFill>
                      <a:srgbClr val="111827"/>
                    </a:solidFill>
                    <a:latin typeface="Arial"/>
                  </a:rPr>
                  <a:t> from the diameter, so </a:t>
                </a:r>
                <a:r>
                  <a:rPr lang="en-IN" sz="2400">
                    <a:solidFill>
                      <a:srgbClr val="111827"/>
                    </a:solidFill>
                    <a:latin typeface="Cambria Math" panose="02040503050406030204" pitchFamily="18" charset="0"/>
                  </a:rPr>
                  <a:t>$S=\int_0^{d}2\sqrt{1-t^2}\,dt=d\sqrt{1-d^2}+\sin^{-1}d$</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$d=\frac1{\sqrt2}$</a:t>
                </a:r>
                <a:r>
                  <a:rPr sz="2400" b="0">
                    <a:solidFill>
                      <a:srgbClr val="111827"/>
                    </a:solidFill>
                    <a:latin typeface="Arial"/>
                  </a:rPr>
                  <a:t>: </a:t>
                </a:r>
                <a:r>
                  <a:rPr lang="en-IN" sz="2400">
                    <a:solidFill>
                      <a:srgbClr val="111827"/>
                    </a:solidFill>
                    <a:latin typeface="Cambria Math" panose="02040503050406030204" pitchFamily="18" charset="0"/>
                  </a:rPr>
                  <a:t>$S=\frac1{\sqrt2}\cdot\frac1{\sqrt2}+\frac\pi4=\frac12+\frac\pi4$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$|\alpha-\beta|=2S=1+\frac\pi2$</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14:m>
                  <m:oMath xmlns:m="http://schemas.openxmlformats.org/officeDocument/2006/math">
                    <m:r>
                      <a:rPr lang="en-IN" sz="2800" i="1">
                        <a:solidFill>
                          <a:srgbClr val="15803D"/>
                        </a:solidFill>
                        <a:latin typeface="Cambria Math" panose="02040503050406030204" pitchFamily="18" charset="0"/>
                      </a:rPr>
                      <m:t>1</m:t>
                    </m:r>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π</m:t>
                        </m:r>
                      </m:num>
                      <m:den>
                        <m:r>
                          <a:rPr lang="en-IN" sz="2800" i="1">
                            <a:solidFill>
                              <a:srgbClr val="15803D"/>
                            </a:solidFill>
                            <a:latin typeface="Cambria Math" panose="02040503050406030204" pitchFamily="18" charset="0"/>
                          </a:rPr>
                          <m:t>2</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r>
                  <a:rPr lang="en-IN" sz="2800">
                    <a:solidFill>
                      <a:srgbClr val="15803D"/>
                    </a:solidFill>
                    <a:latin typeface="Cambria Math" panose="02040503050406030204" pitchFamily="18" charset="0"/>
                  </a:rPr>
                  <a:t>$1+\frac\pi2$</a:t>
                </a:r>
                <a:endParaRPr sz="2800">
                  <a:solidFill>
                    <a:srgbClr val="15803D"/>
                  </a:solidFill>
                </a:endParaRPr>
              </a:p>
            </p:txBody>
          </p:sp>
        </mc:Fallback>
      </mc:AlternateContent>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bar>
                      <m:barPr>
                        <m:pos m:val="top"/>
                        <m:ctrlPr>
                          <a:rPr lang="en-IN" sz="2400" i="1">
                            <a:solidFill>
                              <a:srgbClr val="111827"/>
                            </a:solidFill>
                            <a:latin typeface="Cambria Math" panose="02040503050406030204" pitchFamily="18" charset="0"/>
                          </a:rPr>
                        </m:ctrlPr>
                      </m:barPr>
                      <m:e>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e>
                    </m:ba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e</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e>
                    </m:d>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e</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is a straight line; in general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𝑐</m:t>
                    </m:r>
                  </m:oMath>
                </a14:m>
                <a:r>
                  <a:rPr sz="2400" b="0">
                    <a:solidFill>
                      <a:srgbClr val="111827"/>
                    </a:solidFill>
                    <a:latin typeface="Arial"/>
                  </a:rPr>
                  <a:t> is a line with normal direction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Segment area for central angle </a:t>
                </a:r>
                <a14:m>
                  <m:oMath xmlns:m="http://schemas.openxmlformats.org/officeDocument/2006/math">
                    <m:r>
                      <a:rPr lang="en-IN" sz="2400" i="1">
                        <a:solidFill>
                          <a:srgbClr val="111827"/>
                        </a:solidFill>
                        <a:latin typeface="Cambria Math" panose="02040503050406030204" pitchFamily="18" charset="0"/>
                      </a:rPr>
                      <m:t>φ</m:t>
                    </m:r>
                  </m:oMath>
                </a14:m>
                <a:r>
                  <a:rPr sz="2400" b="0">
                    <a:solidFill>
                      <a:srgbClr val="111827"/>
                    </a:solidFill>
                    <a:latin typeface="Arial"/>
                  </a:rPr>
                  <a:t> and radius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φ</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φ</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gives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Difference of the two parts cut by a chord at distance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from the centre (radius 1): </a:t>
                </a:r>
                <a14:m>
                  <m:oMath xmlns:m="http://schemas.openxmlformats.org/officeDocument/2006/math">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𝑑</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𝑑</m:t>
                        </m:r>
                      </m:e>
                    </m:d>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$z(1+i)+\overline{z(1+i)}=2\,\mathrm{Re}\left[z(1+i)\right]$</a:t>
                </a:r>
                <a:r>
                  <a:rPr sz="2400" b="0">
                    <a:solidFill>
                      <a:srgbClr val="111827"/>
                    </a:solidFill>
                    <a:latin typeface="Arial"/>
                  </a:rPr>
                  <a:t>, so </a:t>
                </a:r>
                <a:r>
                  <a:rPr lang="en-IN" sz="2400">
                    <a:solidFill>
                      <a:srgbClr val="111827"/>
                    </a:solidFill>
                    <a:latin typeface="Cambria Math" panose="02040503050406030204" pitchFamily="18" charset="0"/>
                  </a:rPr>
                  <a:t>$\mathrm{Re}[z(a+ib)]=c$</a:t>
                </a:r>
                <a:r>
                  <a:rPr sz="2400" b="0">
                    <a:solidFill>
                      <a:srgbClr val="111827"/>
                    </a:solidFill>
                    <a:latin typeface="Arial"/>
                  </a:rPr>
                  <a:t> is a straight line; in general </a:t>
                </a:r>
                <a:r>
                  <a:rPr lang="en-IN" sz="2400">
                    <a:solidFill>
                      <a:srgbClr val="111827"/>
                    </a:solidFill>
                    <a:latin typeface="Cambria Math" panose="02040503050406030204" pitchFamily="18" charset="0"/>
                  </a:rPr>
                  <a:t>$\bar az+a\bar z=2c$</a:t>
                </a:r>
                <a:r>
                  <a:rPr sz="2400" b="0">
                    <a:solidFill>
                      <a:srgbClr val="111827"/>
                    </a:solidFill>
                    <a:latin typeface="Arial"/>
                  </a:rPr>
                  <a:t> is a line with normal direction </a:t>
                </a:r>
                <a:r>
                  <a:rPr lang="en-IN" sz="2400">
                    <a:solidFill>
                      <a:srgbClr val="111827"/>
                    </a:solidFill>
                    <a:latin typeface="Cambria Math" panose="02040503050406030204" pitchFamily="18" charset="0"/>
                  </a:rPr>
                  <a: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Segment area for central angle </a:t>
                </a:r>
                <a:r>
                  <a:rPr lang="en-IN" sz="2400">
                    <a:solidFill>
                      <a:srgbClr val="111827"/>
                    </a:solidFill>
                    <a:latin typeface="Cambria Math" panose="02040503050406030204" pitchFamily="18" charset="0"/>
                  </a:rPr>
                  <a:t>$\varphi$</a:t>
                </a:r>
                <a:r>
                  <a:rPr sz="2400" b="0">
                    <a:solidFill>
                      <a:srgbClr val="111827"/>
                    </a:solidFill>
                    <a:latin typeface="Arial"/>
                  </a:rPr>
                  <a:t> and radius </a:t>
                </a:r>
                <a:r>
                  <a:rPr lang="en-IN" sz="2400">
                    <a:solidFill>
                      <a:srgbClr val="111827"/>
                    </a:solidFill>
                    <a:latin typeface="Cambria Math" panose="02040503050406030204" pitchFamily="18" charset="0"/>
                  </a:rPr>
                  <a:t>$r$</a:t>
                </a:r>
                <a:r>
                  <a:rPr sz="2400" b="0">
                    <a:solidFill>
                      <a:srgbClr val="111827"/>
                    </a:solidFill>
                    <a:latin typeface="Arial"/>
                  </a:rPr>
                  <a:t>: </a:t>
                </a:r>
                <a:r>
                  <a:rPr lang="en-IN" sz="2400">
                    <a:solidFill>
                      <a:srgbClr val="111827"/>
                    </a:solidFill>
                    <a:latin typeface="Cambria Math" panose="02040503050406030204" pitchFamily="18" charset="0"/>
                  </a:rPr>
                  <a:t>$\frac{r^2}{2}(\varphi-\sin\varphi)$</a:t>
                </a:r>
                <a:r>
                  <a:rPr sz="2400" b="0">
                    <a:solidFill>
                      <a:srgbClr val="111827"/>
                    </a:solidFill>
                    <a:latin typeface="Arial"/>
                  </a:rPr>
                  <a:t>; here </a:t>
                </a:r>
                <a:r>
                  <a:rPr lang="en-IN" sz="2400">
                    <a:solidFill>
                      <a:srgbClr val="111827"/>
                    </a:solidFill>
                    <a:latin typeface="Cambria Math" panose="02040503050406030204" pitchFamily="18" charset="0"/>
                  </a:rPr>
                  <a:t>$\varphi=\frac\pi2$</a:t>
                </a:r>
                <a:r>
                  <a:rPr sz="2400" b="0">
                    <a:solidFill>
                      <a:srgbClr val="111827"/>
                    </a:solidFill>
                    <a:latin typeface="Arial"/>
                  </a:rPr>
                  <a:t> gives </a:t>
                </a:r>
                <a:r>
                  <a:rPr lang="en-IN" sz="2400">
                    <a:solidFill>
                      <a:srgbClr val="111827"/>
                    </a:solidFill>
                    <a:latin typeface="Cambria Math" panose="02040503050406030204" pitchFamily="18" charset="0"/>
                  </a:rPr>
                  <a:t>$\frac12\left(\frac\pi2-1\right)$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Difference of the two parts cut by a chord at distance </a:t>
                </a:r>
                <a:r>
                  <a:rPr lang="en-IN" sz="2400">
                    <a:solidFill>
                      <a:srgbClr val="111827"/>
                    </a:solidFill>
                    <a:latin typeface="Cambria Math" panose="02040503050406030204" pitchFamily="18" charset="0"/>
                  </a:rPr>
                  <a:t>$d$</a:t>
                </a:r>
                <a:r>
                  <a:rPr sz="2400" b="0">
                    <a:solidFill>
                      <a:srgbClr val="111827"/>
                    </a:solidFill>
                    <a:latin typeface="Arial"/>
                  </a:rPr>
                  <a:t> from the centre (radius 1): </a:t>
                </a:r>
                <a:r>
                  <a:rPr lang="en-IN" sz="2400">
                    <a:solidFill>
                      <a:srgbClr val="111827"/>
                    </a:solidFill>
                    <a:latin typeface="Cambria Math" panose="02040503050406030204" pitchFamily="18" charset="0"/>
                  </a:rPr>
                  <a:t>$2\left(d\sqrt{1-d^2}+\sin^{-1}d\right)$</a:t>
                </a:r>
                <a:r>
                  <a:rPr sz="2400" b="0">
                    <a:solidFill>
                      <a:srgbClr val="111827"/>
                    </a:solidFill>
                    <a:latin typeface="Arial"/>
                  </a:rPr>
                  <a:t>; at </a:t>
                </a:r>
                <a:r>
                  <a:rPr lang="en-IN" sz="2400">
                    <a:solidFill>
                      <a:srgbClr val="111827"/>
                    </a:solidFill>
                    <a:latin typeface="Cambria Math" panose="02040503050406030204" pitchFamily="18" charset="0"/>
                  </a:rPr>
                  <a:t>$d=\frac1{\sqrt2}$</a:t>
                </a:r>
                <a:r>
                  <a:rPr sz="2400" b="0">
                    <a:solidFill>
                      <a:srgbClr val="111827"/>
                    </a:solidFill>
                    <a:latin typeface="Arial"/>
                  </a:rPr>
                  <a:t>: </a:t>
                </a:r>
                <a:r>
                  <a:rPr lang="en-IN" sz="2400">
                    <a:solidFill>
                      <a:srgbClr val="111827"/>
                    </a:solidFill>
                    <a:latin typeface="Cambria Math" panose="02040503050406030204" pitchFamily="18" charset="0"/>
                  </a:rPr>
                  <a:t>$1+\frac\pi2$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14452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num>
                          <m:den>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C</m:t>
                    </m:r>
                  </m:oMath>
                </a14:m>
                <a:r>
                  <a:rPr sz="2400" b="0">
                    <a:solidFill>
                      <a:srgbClr val="111827"/>
                    </a:solidFill>
                    <a:latin typeface="Arial"/>
                  </a:rPr>
                  <a:t>, be the equation of a circle with centre at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If the area of the triangle, whose vertices are at the points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11</m:t>
                    </m:r>
                  </m:oMath>
                </a14:m>
                <a:r>
                  <a:rPr sz="2400" b="0">
                    <a:solidFill>
                      <a:srgbClr val="111827"/>
                    </a:solidFill>
                    <a:latin typeface="Arial"/>
                  </a:rPr>
                  <a:t> square units, then </a:t>
                </a:r>
                <a14:m>
                  <m:oMath xmlns:m="http://schemas.openxmlformats.org/officeDocument/2006/math">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equals: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50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121</m:t>
                        </m:r>
                      </m:num>
                      <m:den>
                        <m:r>
                          <a:rPr lang="en-IN" sz="2400" i="1">
                            <a:solidFill>
                              <a:srgbClr val="111827"/>
                            </a:solidFill>
                            <a:latin typeface="Cambria Math" panose="02040503050406030204" pitchFamily="18" charset="0"/>
                          </a:rPr>
                          <m:t>25</m:t>
                        </m:r>
                      </m:den>
                    </m:f>
                  </m:oMath>
                </a14:m>
                <a:r>
                  <a:rPr sz="2400" b="0">
                    <a:solidFill>
                      <a:srgbClr val="111827"/>
                    </a:solidFill>
                    <a:latin typeface="Arial"/>
                  </a:rPr>
                  <a:t>   (C) 100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81</m:t>
                        </m:r>
                      </m:num>
                      <m:den>
                        <m:r>
                          <a:rPr lang="en-IN" sz="2400" i="1">
                            <a:solidFill>
                              <a:srgbClr val="111827"/>
                            </a:solidFill>
                            <a:latin typeface="Cambria Math" panose="02040503050406030204" pitchFamily="18" charset="0"/>
                          </a:rPr>
                          <m:t>25</m:t>
                        </m:r>
                      </m:den>
                    </m:f>
                  </m:oMath>
                </a14:m>
                <a:endParaRPr sz="2400">
                  <a:solidFill>
                    <a:srgbClr val="111827"/>
                  </a:solidFill>
                </a:endParaRPr>
              </a:p>
            </p:txBody>
          </p:sp>
        </mc:Choice>
        <mc:Fallback>
          <p:sp>
            <p:nvSpPr>
              <p:cNvPr id="4" name="Rounded Rectangle 3"/>
              <p:cNvSpPr/>
              <p:nvPr/>
            </p:nvSpPr>
            <p:spPr>
              <a:xfrm>
                <a:off x="731520" y="1280160"/>
                <a:ext cx="10725912" cy="314452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$\left|\frac{\bar z-i}{2\bar z+i}\right|=\frac13$</a:t>
                </a:r>
                <a:r>
                  <a:rPr sz="2400" b="0">
                    <a:solidFill>
                      <a:srgbClr val="111827"/>
                    </a:solidFill>
                    <a:latin typeface="Arial"/>
                  </a:rPr>
                  <a:t>, </a:t>
                </a:r>
                <a:r>
                  <a:rPr lang="en-IN" sz="2400">
                    <a:solidFill>
                      <a:srgbClr val="111827"/>
                    </a:solidFill>
                    <a:latin typeface="Cambria Math" panose="02040503050406030204" pitchFamily="18" charset="0"/>
                  </a:rPr>
                  <a:t>$z\in\mathbb{C}$</a:t>
                </a:r>
                <a:r>
                  <a:rPr sz="2400" b="0">
                    <a:solidFill>
                      <a:srgbClr val="111827"/>
                    </a:solidFill>
                    <a:latin typeface="Arial"/>
                  </a:rPr>
                  <a:t>, be the equation of a circle with centre at </a:t>
                </a:r>
                <a:r>
                  <a:rPr lang="en-IN" sz="2400">
                    <a:solidFill>
                      <a:srgbClr val="111827"/>
                    </a:solidFill>
                    <a:latin typeface="Cambria Math" panose="02040503050406030204" pitchFamily="18" charset="0"/>
                  </a:rPr>
                  <a:t>$C$</a:t>
                </a:r>
                <a:r>
                  <a:rPr sz="2400" b="0">
                    <a:solidFill>
                      <a:srgbClr val="111827"/>
                    </a:solidFill>
                    <a:latin typeface="Arial"/>
                  </a:rPr>
                  <a:t>. If the area of the triangle, whose vertices are at the points </a:t>
                </a:r>
                <a:r>
                  <a:rPr lang="en-IN" sz="2400">
                    <a:solidFill>
                      <a:srgbClr val="111827"/>
                    </a:solidFill>
                    <a:latin typeface="Cambria Math" panose="02040503050406030204" pitchFamily="18" charset="0"/>
                  </a:rPr>
                  <a:t>$(0,0)$</a:t>
                </a:r>
                <a:r>
                  <a:rPr sz="2400" b="0">
                    <a:solidFill>
                      <a:srgbClr val="111827"/>
                    </a:solidFill>
                    <a:latin typeface="Arial"/>
                  </a:rPr>
                  <a:t>, </a:t>
                </a:r>
                <a:r>
                  <a:rPr lang="en-IN" sz="2400">
                    <a:solidFill>
                      <a:srgbClr val="111827"/>
                    </a:solidFill>
                    <a:latin typeface="Cambria Math" panose="02040503050406030204" pitchFamily="18" charset="0"/>
                  </a:rPr>
                  <a:t>$C$</a:t>
                </a:r>
                <a:r>
                  <a:rPr sz="2400" b="0">
                    <a:solidFill>
                      <a:srgbClr val="111827"/>
                    </a:solidFill>
                    <a:latin typeface="Arial"/>
                  </a:rPr>
                  <a:t> and </a:t>
                </a:r>
                <a:r>
                  <a:rPr lang="en-IN" sz="2400">
                    <a:solidFill>
                      <a:srgbClr val="111827"/>
                    </a:solidFill>
                    <a:latin typeface="Cambria Math" panose="02040503050406030204" pitchFamily="18" charset="0"/>
                  </a:rPr>
                  <a:t>$(\alpha,0)$</a:t>
                </a:r>
                <a:r>
                  <a:rPr sz="2400" b="0">
                    <a:solidFill>
                      <a:srgbClr val="111827"/>
                    </a:solidFill>
                    <a:latin typeface="Arial"/>
                  </a:rPr>
                  <a:t> is </a:t>
                </a:r>
                <a:r>
                  <a:rPr lang="en-IN" sz="2400">
                    <a:solidFill>
                      <a:srgbClr val="111827"/>
                    </a:solidFill>
                    <a:latin typeface="Cambria Math" panose="02040503050406030204" pitchFamily="18" charset="0"/>
                  </a:rPr>
                  <a:t>$11$</a:t>
                </a:r>
                <a:r>
                  <a:rPr sz="2400" b="0">
                    <a:solidFill>
                      <a:srgbClr val="111827"/>
                    </a:solidFill>
                    <a:latin typeface="Arial"/>
                  </a:rPr>
                  <a:t> square units, then </a:t>
                </a:r>
                <a:r>
                  <a:rPr lang="en-IN" sz="2400">
                    <a:solidFill>
                      <a:srgbClr val="111827"/>
                    </a:solidFill>
                    <a:latin typeface="Cambria Math" panose="02040503050406030204" pitchFamily="18" charset="0"/>
                  </a:rPr>
                  <a:t>$\alpha^2$</a:t>
                </a:r>
                <a:r>
                  <a:rPr sz="2400" b="0">
                    <a:solidFill>
                      <a:srgbClr val="111827"/>
                    </a:solidFill>
                    <a:latin typeface="Arial"/>
                  </a:rPr>
                  <a:t> equals: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50   (B) </a:t>
                </a:r>
                <a:r>
                  <a:rPr lang="en-IN" sz="2400">
                    <a:solidFill>
                      <a:srgbClr val="111827"/>
                    </a:solidFill>
                    <a:latin typeface="Cambria Math" panose="02040503050406030204" pitchFamily="18" charset="0"/>
                  </a:rPr>
                  <a:t>$\frac{121}{25}$</a:t>
                </a:r>
                <a:r>
                  <a:rPr sz="2400" b="0">
                    <a:solidFill>
                      <a:srgbClr val="111827"/>
                    </a:solidFill>
                    <a:latin typeface="Arial"/>
                  </a:rPr>
                  <a:t>   (C) 100   (D) </a:t>
                </a:r>
                <a:r>
                  <a:rPr lang="en-IN" sz="2400">
                    <a:solidFill>
                      <a:srgbClr val="111827"/>
                    </a:solidFill>
                    <a:latin typeface="Cambria Math" panose="02040503050406030204" pitchFamily="18" charset="0"/>
                  </a:rPr>
                  <a:t>$\frac{81}{25}$</a:t>
                </a:r>
                <a:endParaRPr sz="2400">
                  <a:solidFill>
                    <a:srgbClr val="111827"/>
                  </a:solidFill>
                </a:endParaRPr>
              </a:p>
            </p:txBody>
          </p:sp>
        </mc:Fallback>
      </mc:AlternateContent>
      <p:sp>
        <p:nvSpPr>
          <p:cNvPr id="5" name="Rectangle 4"/>
          <p:cNvSpPr/>
          <p:nvPr/>
        </p:nvSpPr>
        <p:spPr>
          <a:xfrm>
            <a:off x="731520" y="465328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Locus of a complex number (circle from a modulus ratio), Area of a triangle (coordinate geometry)</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Square the modulus condition to get the circle </a:t>
                </a:r>
                <a14:m>
                  <m:oMath xmlns:m="http://schemas.openxmlformats.org/officeDocument/2006/math">
                    <m:r>
                      <a:rPr lang="en-IN" sz="2400" i="1">
                        <a:solidFill>
                          <a:srgbClr val="78350F"/>
                        </a:solidFill>
                        <a:latin typeface="Cambria Math" panose="02040503050406030204" pitchFamily="18" charset="0"/>
                      </a:rPr>
                      <m:t>5</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sSup>
                      <m:e>
                        <m:r>
                          <a:rPr lang="en-IN" sz="2400" i="1">
                            <a:solidFill>
                              <a:srgbClr val="78350F"/>
                            </a:solidFill>
                            <a:latin typeface="Cambria Math" panose="02040503050406030204" pitchFamily="18" charset="0"/>
                          </a:rPr>
                          <m:t>𝑦</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22</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8</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and read off </a:t>
                </a:r>
                <a14:m>
                  <m:oMath xmlns:m="http://schemas.openxmlformats.org/officeDocument/2006/math">
                    <m:r>
                      <a:rPr lang="en-IN" sz="2400" i="1">
                        <a:solidFill>
                          <a:srgbClr val="78350F"/>
                        </a:solidFill>
                        <a:latin typeface="Cambria Math" panose="02040503050406030204" pitchFamily="18" charset="0"/>
                      </a:rPr>
                      <m:t>𝐶</m:t>
                    </m:r>
                    <m:d>
                      <m:dPr>
                        <m:begChr m:val="("/>
                        <m:sepChr m:val=""/>
                        <m:endChr m:val=")"/>
                        <m:grow/>
                        <m:ctrlPr>
                          <a:rPr lang="en-IN" sz="2400" i="1">
                            <a:solidFill>
                              <a:srgbClr val="78350F"/>
                            </a:solidFill>
                            <a:latin typeface="Cambria Math" panose="02040503050406030204" pitchFamily="18" charset="0"/>
                          </a:rPr>
                        </m:ctrlPr>
                      </m:dPr>
                      <m:e>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11</m:t>
                            </m:r>
                          </m:num>
                          <m:den>
                            <m:r>
                              <a:rPr lang="en-IN" sz="2400" i="1">
                                <a:solidFill>
                                  <a:srgbClr val="78350F"/>
                                </a:solidFill>
                                <a:latin typeface="Cambria Math" panose="02040503050406030204" pitchFamily="18" charset="0"/>
                              </a:rPr>
                              <m:t>5</m:t>
                            </m:r>
                          </m:den>
                        </m:f>
                      </m:e>
                    </m:d>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Square the modulus condition to get the circle </a:t>
                </a:r>
                <a:r>
                  <a:rPr lang="en-IN" sz="2400">
                    <a:solidFill>
                      <a:srgbClr val="78350F"/>
                    </a:solidFill>
                    <a:latin typeface="Cambria Math" panose="02040503050406030204" pitchFamily="18" charset="0"/>
                  </a:rPr>
                  <a:t>$5x^2+5y^2+22y+8=0$</a:t>
                </a:r>
                <a:r>
                  <a:rPr sz="2400" b="0">
                    <a:solidFill>
                      <a:srgbClr val="78350F"/>
                    </a:solidFill>
                    <a:latin typeface="Arial"/>
                  </a:rPr>
                  <a:t> and read off </a:t>
                </a:r>
                <a:r>
                  <a:rPr lang="en-IN" sz="2400">
                    <a:solidFill>
                      <a:srgbClr val="78350F"/>
                    </a:solidFill>
                    <a:latin typeface="Cambria Math" panose="02040503050406030204" pitchFamily="18" charset="0"/>
                  </a:rPr>
                  <a:t>$C\left(0,-\frac{11}5\right)$</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𝑦</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Squaring: </a:t>
                </a:r>
                <a14:m>
                  <m:oMath xmlns:m="http://schemas.openxmlformats.org/officeDocument/2006/math">
                    <m:r>
                      <a:rPr lang="en-IN" sz="2400" i="1">
                        <a:solidFill>
                          <a:srgbClr val="111827"/>
                        </a:solidFill>
                        <a:latin typeface="Cambria Math" panose="02040503050406030204" pitchFamily="18" charset="0"/>
                      </a:rPr>
                      <m:t>9</m:t>
                    </m:r>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9</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That is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22</m:t>
                        </m:r>
                      </m:num>
                      <m:den>
                        <m:r>
                          <a:rPr lang="en-IN" sz="2400" i="1">
                            <a:solidFill>
                              <a:srgbClr val="111827"/>
                            </a:solidFill>
                            <a:latin typeface="Cambria Math" panose="02040503050406030204" pitchFamily="18" charset="0"/>
                          </a:rPr>
                          <m:t>5</m:t>
                        </m:r>
                      </m:den>
                    </m:f>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with centre </a:t>
                </a:r>
                <a14:m>
                  <m:oMath xmlns:m="http://schemas.openxmlformats.org/officeDocument/2006/math">
                    <m:r>
                      <a:rPr lang="en-IN" sz="2400" i="1">
                        <a:solidFill>
                          <a:srgbClr val="111827"/>
                        </a:solidFill>
                        <a:latin typeface="Cambria Math" panose="02040503050406030204" pitchFamily="18" charset="0"/>
                      </a:rPr>
                      <m:t>𝐶</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5</m:t>
                            </m:r>
                          </m:den>
                        </m:f>
                      </m:e>
                    </m: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$z=x+iy$</a:t>
                </a:r>
                <a:r>
                  <a:rPr sz="2400" b="0">
                    <a:solidFill>
                      <a:srgbClr val="111827"/>
                    </a:solidFill>
                    <a:latin typeface="Arial"/>
                  </a:rPr>
                  <a:t>: </a:t>
                </a:r>
                <a:r>
                  <a:rPr lang="en-IN" sz="2400">
                    <a:solidFill>
                      <a:srgbClr val="111827"/>
                    </a:solidFill>
                    <a:latin typeface="Cambria Math" panose="02040503050406030204" pitchFamily="18" charset="0"/>
                  </a:rPr>
                  <a:t>$3|x-iy-i|=|2(x-iy)+i|$</a:t>
                </a:r>
                <a:r>
                  <a:rPr sz="2400" b="0">
                    <a:solidFill>
                      <a:srgbClr val="111827"/>
                    </a:solidFill>
                    <a:latin typeface="Arial"/>
                  </a:rPr>
                  <a:t>, i.e. </a:t>
                </a:r>
                <a:r>
                  <a:rPr lang="en-IN" sz="2400">
                    <a:solidFill>
                      <a:srgbClr val="111827"/>
                    </a:solidFill>
                    <a:latin typeface="Cambria Math" panose="02040503050406030204" pitchFamily="18" charset="0"/>
                  </a:rPr>
                  <a:t>$3|x-i(y+1)|=|2x+i(1-2y)|$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Squaring: </a:t>
                </a:r>
                <a:r>
                  <a:rPr lang="en-IN" sz="2400">
                    <a:solidFill>
                      <a:srgbClr val="111827"/>
                    </a:solidFill>
                    <a:latin typeface="Cambria Math" panose="02040503050406030204" pitchFamily="18" charset="0"/>
                  </a:rPr>
                  <a:t>$9\left(x^2+(y+1)^2\right)=4x^2+(1-2y)^2$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$9x^2+9y^2+18y+9=4x^2+4y^2-4y+1$</a:t>
                </a:r>
                <a:r>
                  <a:rPr sz="2400" b="0">
                    <a:solidFill>
                      <a:srgbClr val="111827"/>
                    </a:solidFill>
                    <a:latin typeface="Arial"/>
                  </a:rPr>
                  <a:t>, so </a:t>
                </a:r>
                <a:r>
                  <a:rPr lang="en-IN" sz="2400">
                    <a:solidFill>
                      <a:srgbClr val="111827"/>
                    </a:solidFill>
                    <a:latin typeface="Cambria Math" panose="02040503050406030204" pitchFamily="18" charset="0"/>
                  </a:rPr>
                  <a:t>$5x^2+5y^2+22y+8=0$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That is </a:t>
                </a:r>
                <a:r>
                  <a:rPr lang="en-IN" sz="2400">
                    <a:solidFill>
                      <a:srgbClr val="111827"/>
                    </a:solidFill>
                    <a:latin typeface="Cambria Math" panose="02040503050406030204" pitchFamily="18" charset="0"/>
                  </a:rPr>
                  <a:t>$x^2+y^2+\frac{22}5y+\frac85=0$</a:t>
                </a:r>
                <a:r>
                  <a:rPr sz="2400" b="0">
                    <a:solidFill>
                      <a:srgbClr val="111827"/>
                    </a:solidFill>
                    <a:latin typeface="Arial"/>
                  </a:rPr>
                  <a:t>, with centre </a:t>
                </a:r>
                <a:r>
                  <a:rPr lang="en-IN" sz="2400">
                    <a:solidFill>
                      <a:srgbClr val="111827"/>
                    </a:solidFill>
                    <a:latin typeface="Cambria Math" panose="02040503050406030204" pitchFamily="18" charset="0"/>
                  </a:rPr>
                  <a:t>$C\left(0,-\frac{11}5\right)$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Area of the triangle with vertices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5</m:t>
                            </m:r>
                          </m:den>
                        </m:f>
                      </m:e>
                    </m:d>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0</m:t>
                              </m:r>
                            </m:e>
                            <m:e>
                              <m:r>
                                <a:rPr lang="en-IN" sz="2400" i="1">
                                  <a:solidFill>
                                    <a:srgbClr val="111827"/>
                                  </a:solidFill>
                                  <a:latin typeface="Cambria Math" panose="02040503050406030204" pitchFamily="18" charset="0"/>
                                </a:rPr>
                                <m:t>0</m:t>
                              </m:r>
                            </m:e>
                            <m:e>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0</m:t>
                              </m:r>
                            </m:e>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5</m:t>
                                  </m:r>
                                </m:den>
                              </m:f>
                            </m:e>
                            <m:e>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α</m:t>
                              </m:r>
                            </m:e>
                            <m:e>
                              <m:r>
                                <a:rPr lang="en-IN" sz="2400" i="1">
                                  <a:solidFill>
                                    <a:srgbClr val="111827"/>
                                  </a:solidFill>
                                  <a:latin typeface="Cambria Math" panose="02040503050406030204" pitchFamily="18" charset="0"/>
                                </a:rPr>
                                <m:t>0</m:t>
                              </m:r>
                            </m:e>
                            <m:e>
                              <m:r>
                                <a:rPr lang="en-IN" sz="2400" i="1">
                                  <a:solidFill>
                                    <a:srgbClr val="111827"/>
                                  </a:solidFill>
                                  <a:latin typeface="Cambria Math" panose="02040503050406030204" pitchFamily="18" charset="0"/>
                                </a:rPr>
                                <m:t>1</m:t>
                              </m:r>
                            </m:e>
                          </m:mr>
                        </m:m>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r>
                              <a:rPr lang="en-IN" sz="2400" i="1">
                                <a:solidFill>
                                  <a:srgbClr val="111827"/>
                                </a:solidFill>
                                <a:latin typeface="Cambria Math" panose="02040503050406030204" pitchFamily="18" charset="0"/>
                              </a:rPr>
                              <m:t>α</m:t>
                            </m:r>
                          </m:num>
                          <m:den>
                            <m:r>
                              <a:rPr lang="en-IN" sz="2400" i="1">
                                <a:solidFill>
                                  <a:srgbClr val="111827"/>
                                </a:solidFill>
                                <a:latin typeface="Cambria Math" panose="02040503050406030204" pitchFamily="18" charset="0"/>
                              </a:rPr>
                              <m:t>5</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oMath>
                </a14:m>
                <a:r>
                  <a:rPr sz="2400" b="0">
                    <a:solidFill>
                      <a:srgbClr val="111827"/>
                    </a:solidFill>
                    <a:latin typeface="Arial"/>
                  </a:rPr>
                  <a:t>, i.e.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α</m:t>
                            </m:r>
                          </m:num>
                          <m:den>
                            <m:r>
                              <a:rPr lang="en-IN" sz="2400" i="1">
                                <a:solidFill>
                                  <a:srgbClr val="111827"/>
                                </a:solidFill>
                                <a:latin typeface="Cambria Math" panose="02040503050406030204" pitchFamily="18" charset="0"/>
                              </a:rPr>
                              <m:t>5</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oMath>
                </a14:m>
                <a:r>
                  <a:rPr sz="2400" b="0">
                    <a:solidFill>
                      <a:srgbClr val="111827"/>
                    </a:solidFill>
                    <a:latin typeface="Arial"/>
                  </a:rPr>
                  <a:t>,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Area of the triangle with vertices </a:t>
                </a:r>
                <a:r>
                  <a:rPr lang="en-IN" sz="2400">
                    <a:solidFill>
                      <a:srgbClr val="111827"/>
                    </a:solidFill>
                    <a:latin typeface="Cambria Math" panose="02040503050406030204" pitchFamily="18" charset="0"/>
                  </a:rPr>
                  <a:t>$(0,0)$</a:t>
                </a:r>
                <a:r>
                  <a:rPr sz="2400" b="0">
                    <a:solidFill>
                      <a:srgbClr val="111827"/>
                    </a:solidFill>
                    <a:latin typeface="Arial"/>
                  </a:rPr>
                  <a:t>, </a:t>
                </a:r>
                <a:r>
                  <a:rPr lang="en-IN" sz="2400">
                    <a:solidFill>
                      <a:srgbClr val="111827"/>
                    </a:solidFill>
                    <a:latin typeface="Cambria Math" panose="02040503050406030204" pitchFamily="18" charset="0"/>
                  </a:rPr>
                  <a:t>$\left(0,-\frac{11}5\right)$</a:t>
                </a:r>
                <a:r>
                  <a:rPr sz="2400" b="0">
                    <a:solidFill>
                      <a:srgbClr val="111827"/>
                    </a:solidFill>
                    <a:latin typeface="Arial"/>
                  </a:rPr>
                  <a:t>, </a:t>
                </a:r>
                <a:r>
                  <a:rPr lang="en-IN" sz="2400">
                    <a:solidFill>
                      <a:srgbClr val="111827"/>
                    </a:solidFill>
                    <a:latin typeface="Cambria Math" panose="02040503050406030204" pitchFamily="18" charset="0"/>
                  </a:rPr>
                  <a:t>$(\alpha,0)$</a:t>
                </a:r>
                <a:r>
                  <a:rPr sz="2400" b="0">
                    <a:solidFill>
                      <a:srgbClr val="111827"/>
                    </a:solidFill>
                    <a:latin typeface="Arial"/>
                  </a:rPr>
                  <a:t>: </a:t>
                </a:r>
                <a:r>
                  <a:rPr lang="en-IN" sz="2400">
                    <a:solidFill>
                      <a:srgbClr val="111827"/>
                    </a:solidFill>
                    <a:latin typeface="Cambria Math" panose="02040503050406030204" pitchFamily="18" charset="0"/>
                  </a:rPr>
                  <a:t>$\frac12\left|\begin{matrix}0&amp;0&amp;1\\0&amp;-\frac{11}5&amp;1\\\alpha&amp;0&amp;1\end{matrix}\right|=11$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$\left|\frac{11\alpha}5\right|=22$</a:t>
                </a:r>
                <a:r>
                  <a:rPr sz="2400" b="0">
                    <a:solidFill>
                      <a:srgbClr val="111827"/>
                    </a:solidFill>
                    <a:latin typeface="Arial"/>
                  </a:rPr>
                  <a:t>, i.e. </a:t>
                </a:r>
                <a:r>
                  <a:rPr lang="en-IN" sz="2400">
                    <a:solidFill>
                      <a:srgbClr val="111827"/>
                    </a:solidFill>
                    <a:latin typeface="Cambria Math" panose="02040503050406030204" pitchFamily="18" charset="0"/>
                  </a:rPr>
                  <a:t>$\left|\frac\alpha5\right|=2$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$|\alpha|=10$</a:t>
                </a:r>
                <a:r>
                  <a:rPr sz="2400" b="0">
                    <a:solidFill>
                      <a:srgbClr val="111827"/>
                    </a:solidFill>
                    <a:latin typeface="Arial"/>
                  </a:rPr>
                  <a:t>, so </a:t>
                </a:r>
                <a:r>
                  <a:rPr lang="en-IN" sz="2400">
                    <a:solidFill>
                      <a:srgbClr val="111827"/>
                    </a:solidFill>
                    <a:latin typeface="Cambria Math" panose="02040503050406030204" pitchFamily="18" charset="0"/>
                  </a:rPr>
                  <a:t>$\alpha^2=100$</a:t>
                </a:r>
                <a:r>
                  <a:rPr sz="2400" b="0">
                    <a:solidFill>
                      <a:srgbClr val="111827"/>
                    </a:solidFill>
                    <a:latin typeface="Arial"/>
                  </a:rPr>
                  <a:t>, option (C).</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100</a:t>
            </a:r>
            <a:endParaRPr sz="2800">
              <a:solidFill>
                <a:srgbClr val="15803D"/>
              </a:solidFill>
            </a:endParaRP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Conjugation preserves modulus, so the condition is the Apollonius circle </a:t>
                </a:r>
                <a14:m>
                  <m:oMath xmlns:m="http://schemas.openxmlformats.org/officeDocument/2006/math">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𝑧</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𝑖</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d>
                      <m:dPr>
                        <m:begChr m:val="|"/>
                        <m:sepChr m:val=""/>
                        <m:endChr m:val="|"/>
                        <m:grow/>
                        <m:ctrlPr>
                          <a:rPr lang="en-IN" sz="2400" i="1">
                            <a:solidFill>
                              <a:srgbClr val="78350F"/>
                            </a:solidFill>
                            <a:latin typeface="Cambria Math" panose="02040503050406030204" pitchFamily="18" charset="0"/>
                          </a:rPr>
                        </m:ctrlPr>
                      </m:dPr>
                      <m:e>
                        <m:r>
                          <a:rPr lang="en-IN" sz="2400" i="1">
                            <a:solidFill>
                              <a:srgbClr val="78350F"/>
                            </a:solidFill>
                            <a:latin typeface="Cambria Math" panose="02040503050406030204" pitchFamily="18" charset="0"/>
                          </a:rPr>
                          <m:t>𝑧</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𝑖</m:t>
                            </m:r>
                          </m:num>
                          <m:den>
                            <m:r>
                              <a:rPr lang="en-IN" sz="2400" i="1">
                                <a:solidFill>
                                  <a:srgbClr val="78350F"/>
                                </a:solidFill>
                                <a:latin typeface="Cambria Math" panose="02040503050406030204" pitchFamily="18" charset="0"/>
                              </a:rPr>
                              <m:t>2</m:t>
                            </m:r>
                          </m:den>
                        </m:f>
                      </m:e>
                    </m:d>
                  </m:oMath>
                </a14:m>
                <a:r>
                  <a:rPr sz="2400" b="0">
                    <a:solidFill>
                      <a:srgbClr val="78350F"/>
                    </a:solidFill>
                    <a:latin typeface="Arial"/>
                  </a:rPr>
                  <a:t>, whose centre has a formula.</a:t>
                </a:r>
                <a:endParaRPr sz="2400">
                  <a:solidFill>
                    <a:srgbClr val="78350F"/>
                  </a:solidFill>
                </a:endParaRPr>
              </a:p>
            </p:txBody>
          </p:sp>
        </mc:Choice>
        <mc:Fallback>
          <p:sp>
            <p:nvSpPr>
              <p:cNvPr id="5" name="Rounded Rectangle 4"/>
              <p:cNvSpPr/>
              <p:nvPr/>
            </p:nvSpPr>
            <p:spPr>
              <a:xfrm>
                <a:off x="731520" y="1280160"/>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Conjugation preserves modulus, so the condition is the Apollonius circle </a:t>
                </a:r>
                <a:r>
                  <a:rPr lang="en-IN" sz="2400">
                    <a:solidFill>
                      <a:srgbClr val="78350F"/>
                    </a:solidFill>
                    <a:latin typeface="Cambria Math" panose="02040503050406030204" pitchFamily="18" charset="0"/>
                  </a:rPr>
                  <a:t>$3|z+i|=2\left|z-\frac i2\right|$</a:t>
                </a:r>
                <a:r>
                  <a:rPr sz="2400" b="0">
                    <a:solidFill>
                      <a:srgbClr val="78350F"/>
                    </a:solidFill>
                    <a:latin typeface="Arial"/>
                  </a:rPr>
                  <a:t>, whose centre has a formula.</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3008375"/>
                <a:ext cx="10725912" cy="36667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bar>
                      <m:barPr>
                        <m:pos m:val="top"/>
                        <m:ctrlPr>
                          <a:rPr lang="en-IN" sz="2400" i="1">
                            <a:solidFill>
                              <a:srgbClr val="111827"/>
                            </a:solidFill>
                            <a:latin typeface="Cambria Math" panose="02040503050406030204" pitchFamily="18" charset="0"/>
                          </a:rPr>
                        </m:ctrlPr>
                      </m:barPr>
                      <m:e>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e>
                    </m:ba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bar>
                      <m:barPr>
                        <m:pos m:val="top"/>
                        <m:ctrlPr>
                          <a:rPr lang="en-IN" sz="2400" i="1">
                            <a:solidFill>
                              <a:srgbClr val="111827"/>
                            </a:solidFill>
                            <a:latin typeface="Cambria Math" panose="02040503050406030204" pitchFamily="18" charset="0"/>
                          </a:rPr>
                        </m:ctrlPr>
                      </m:barPr>
                      <m:e>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e>
                    </m:ba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𝑖</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i.e.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𝑖</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Centre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𝑖</m:t>
                            </m:r>
                          </m:num>
                          <m:den>
                            <m:r>
                              <a:rPr lang="en-IN" sz="2400" i="1">
                                <a:solidFill>
                                  <a:srgbClr val="111827"/>
                                </a:solidFill>
                                <a:latin typeface="Cambria Math" panose="02040503050406030204" pitchFamily="18" charset="0"/>
                              </a:rPr>
                              <m:t>2</m:t>
                            </m:r>
                          </m:den>
                        </m:f>
                      </m:num>
                      <m:den>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9</m:t>
                            </m:r>
                          </m:den>
                        </m:f>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r>
                              <a:rPr lang="en-IN" sz="2400" i="1">
                                <a:solidFill>
                                  <a:srgbClr val="111827"/>
                                </a:solidFill>
                                <a:latin typeface="Cambria Math" panose="02040503050406030204" pitchFamily="18" charset="0"/>
                              </a:rPr>
                              <m:t>𝑖</m:t>
                            </m:r>
                          </m:num>
                          <m:den>
                            <m:r>
                              <a:rPr lang="en-IN" sz="2400" i="1">
                                <a:solidFill>
                                  <a:srgbClr val="111827"/>
                                </a:solidFill>
                                <a:latin typeface="Cambria Math" panose="02040503050406030204" pitchFamily="18" charset="0"/>
                              </a:rPr>
                              <m:t>9</m:t>
                            </m:r>
                          </m:den>
                        </m:f>
                      </m:num>
                      <m:den>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9</m:t>
                            </m:r>
                          </m:den>
                        </m:f>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5</m:t>
                        </m:r>
                      </m:den>
                    </m:f>
                    <m:r>
                      <a:rPr lang="en-IN" sz="2400" i="1">
                        <a:solidFill>
                          <a:srgbClr val="111827"/>
                        </a:solidFill>
                        <a:latin typeface="Cambria Math" panose="02040503050406030204" pitchFamily="18" charset="0"/>
                      </a:rPr>
                      <m:t>𝑖</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𝐶</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5</m:t>
                            </m:r>
                          </m:den>
                        </m:f>
                      </m:e>
                    </m:d>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3008375"/>
                <a:ext cx="10725912" cy="36667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$|\bar z-i|=|\overline{z+i}|=|z+i|$</a:t>
                </a:r>
                <a:r>
                  <a:rPr sz="2400" b="0">
                    <a:solidFill>
                      <a:srgbClr val="111827"/>
                    </a:solidFill>
                    <a:latin typeface="Arial"/>
                  </a:rPr>
                  <a:t> and </a:t>
                </a:r>
                <a:r>
                  <a:rPr lang="en-IN" sz="2400">
                    <a:solidFill>
                      <a:srgbClr val="111827"/>
                    </a:solidFill>
                    <a:latin typeface="Cambria Math" panose="02040503050406030204" pitchFamily="18" charset="0"/>
                  </a:rPr>
                  <a:t>$|2\bar z+i|=|\overline{2z-i}|=|2z-i|=2\left|z-\frac i2\right|$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$\frac{|z+i|}{2|z-i/2|}=\frac13$</a:t>
                </a:r>
                <a:r>
                  <a:rPr sz="2400" b="0">
                    <a:solidFill>
                      <a:srgbClr val="111827"/>
                    </a:solidFill>
                    <a:latin typeface="Arial"/>
                  </a:rPr>
                  <a:t>, i.e. </a:t>
                </a:r>
                <a:r>
                  <a:rPr lang="en-IN" sz="2400">
                    <a:solidFill>
                      <a:srgbClr val="111827"/>
                    </a:solidFill>
                    <a:latin typeface="Cambria Math" panose="02040503050406030204" pitchFamily="18" charset="0"/>
                  </a:rPr>
                  <a:t>$|z-A|=k|z-B|$</a:t>
                </a:r>
                <a:r>
                  <a:rPr sz="2400" b="0">
                    <a:solidFill>
                      <a:srgbClr val="111827"/>
                    </a:solidFill>
                    <a:latin typeface="Arial"/>
                  </a:rPr>
                  <a:t> with </a:t>
                </a:r>
                <a:r>
                  <a:rPr lang="en-IN" sz="2400">
                    <a:solidFill>
                      <a:srgbClr val="111827"/>
                    </a:solidFill>
                    <a:latin typeface="Cambria Math" panose="02040503050406030204" pitchFamily="18" charset="0"/>
                  </a:rPr>
                  <a:t>$A=-i$</a:t>
                </a:r>
                <a:r>
                  <a:rPr sz="2400" b="0">
                    <a:solidFill>
                      <a:srgbClr val="111827"/>
                    </a:solidFill>
                    <a:latin typeface="Arial"/>
                  </a:rPr>
                  <a:t>, </a:t>
                </a:r>
                <a:r>
                  <a:rPr lang="en-IN" sz="2400">
                    <a:solidFill>
                      <a:srgbClr val="111827"/>
                    </a:solidFill>
                    <a:latin typeface="Cambria Math" panose="02040503050406030204" pitchFamily="18" charset="0"/>
                  </a:rPr>
                  <a:t>$B=\frac i2$</a:t>
                </a:r>
                <a:r>
                  <a:rPr sz="2400" b="0">
                    <a:solidFill>
                      <a:srgbClr val="111827"/>
                    </a:solidFill>
                    <a:latin typeface="Arial"/>
                  </a:rPr>
                  <a:t>, </a:t>
                </a:r>
                <a:r>
                  <a:rPr lang="en-IN" sz="2400">
                    <a:solidFill>
                      <a:srgbClr val="111827"/>
                    </a:solidFill>
                    <a:latin typeface="Cambria Math" panose="02040503050406030204" pitchFamily="18" charset="0"/>
                  </a:rPr>
                  <a:t>$k=\frac23$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Centre </a:t>
                </a:r>
                <a:r>
                  <a:rPr lang="en-IN" sz="2400">
                    <a:solidFill>
                      <a:srgbClr val="111827"/>
                    </a:solidFill>
                    <a:latin typeface="Cambria Math" panose="02040503050406030204" pitchFamily="18" charset="0"/>
                  </a:rPr>
                  <a:t>$=\frac{A-k^2B}{1-k^2}=\frac{-i-\frac49\cdot\frac i2}{\frac59}=\frac{-\frac{11i}9}{\frac59}=-\frac{11}5i$</a:t>
                </a:r>
                <a:r>
                  <a:rPr sz="2400" b="0">
                    <a:solidFill>
                      <a:srgbClr val="111827"/>
                    </a:solidFill>
                    <a:latin typeface="Arial"/>
                  </a:rPr>
                  <a:t>, so </a:t>
                </a:r>
                <a:r>
                  <a:rPr lang="en-IN" sz="2400">
                    <a:solidFill>
                      <a:srgbClr val="111827"/>
                    </a:solidFill>
                    <a:latin typeface="Cambria Math" panose="02040503050406030204" pitchFamily="18" charset="0"/>
                  </a:rPr>
                  <a:t>$C\left(0,-\frac{11}5\right)$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Triangle with base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on the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-axis and height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Triangle with base </a:t>
                </a:r>
                <a:r>
                  <a:rPr lang="en-IN" sz="2400">
                    <a:solidFill>
                      <a:srgbClr val="111827"/>
                    </a:solidFill>
                    <a:latin typeface="Cambria Math" panose="02040503050406030204" pitchFamily="18" charset="0"/>
                  </a:rPr>
                  <a:t>$|\alpha|$</a:t>
                </a:r>
                <a:r>
                  <a:rPr sz="2400" b="0">
                    <a:solidFill>
                      <a:srgbClr val="111827"/>
                    </a:solidFill>
                    <a:latin typeface="Arial"/>
                  </a:rPr>
                  <a:t> on the </a:t>
                </a:r>
                <a:r>
                  <a:rPr lang="en-IN" sz="2400">
                    <a:solidFill>
                      <a:srgbClr val="111827"/>
                    </a:solidFill>
                    <a:latin typeface="Cambria Math" panose="02040503050406030204" pitchFamily="18" charset="0"/>
                  </a:rPr>
                  <a:t>$x$</a:t>
                </a:r>
                <a:r>
                  <a:rPr sz="2400" b="0">
                    <a:solidFill>
                      <a:srgbClr val="111827"/>
                    </a:solidFill>
                    <a:latin typeface="Arial"/>
                  </a:rPr>
                  <a:t>-axis and height </a:t>
                </a:r>
                <a:r>
                  <a:rPr lang="en-IN" sz="2400">
                    <a:solidFill>
                      <a:srgbClr val="111827"/>
                    </a:solidFill>
                    <a:latin typeface="Cambria Math" panose="02040503050406030204" pitchFamily="18" charset="0"/>
                  </a:rPr>
                  <a:t>$\frac{11}5$</a:t>
                </a:r>
                <a:r>
                  <a:rPr sz="2400" b="0">
                    <a:solidFill>
                      <a:srgbClr val="111827"/>
                    </a:solidFill>
                    <a:latin typeface="Arial"/>
                  </a:rPr>
                  <a:t>: </a:t>
                </a:r>
                <a:r>
                  <a:rPr lang="en-IN" sz="2400">
                    <a:solidFill>
                      <a:srgbClr val="111827"/>
                    </a:solidFill>
                    <a:latin typeface="Cambria Math" panose="02040503050406030204" pitchFamily="18" charset="0"/>
                  </a:rPr>
                  <a:t>$\frac12\cdot|\alpha|\cdot\frac{11}5=11$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$|\alpha|=10$</a:t>
                </a:r>
                <a:r>
                  <a:rPr sz="2400" b="0">
                    <a:solidFill>
                      <a:srgbClr val="111827"/>
                    </a:solidFill>
                    <a:latin typeface="Arial"/>
                  </a:rPr>
                  <a:t>, so </a:t>
                </a:r>
                <a:r>
                  <a:rPr lang="en-IN" sz="2400">
                    <a:solidFill>
                      <a:srgbClr val="111827"/>
                    </a:solidFill>
                    <a:latin typeface="Cambria Math" panose="02040503050406030204" pitchFamily="18" charset="0"/>
                  </a:rPr>
                  <a:t>$\alpha^2=100$</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100</a:t>
            </a:r>
            <a:endParaRPr sz="2800">
              <a:solidFill>
                <a:srgbClr val="15803D"/>
              </a:solidFill>
            </a:endParaRP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𝑤</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num>
                          <m:den>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num>
                          <m:den>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den>
                        </m:f>
                      </m:e>
                    </m:d>
                  </m:oMath>
                </a14:m>
                <a:r>
                  <a:rPr sz="2400" b="0">
                    <a:solidFill>
                      <a:srgbClr val="111827"/>
                    </a:solidFill>
                    <a:latin typeface="Arial"/>
                  </a:rPr>
                  <a:t>: conjugating inside a modulus ratio only conjugates the fixed points.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a circle with centre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the centre lies on line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Triangle with a vertex at the origin, one on an axis: area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𝑏𝑎𝑠𝑒</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ℎ𝑒𝑖𝑔ℎ𝑡</m:t>
                    </m:r>
                  </m:oMath>
                </a14:m>
                <a:r>
                  <a:rPr sz="2400" b="0">
                    <a:solidFill>
                      <a:srgbClr val="111827"/>
                    </a:solidFill>
                    <a:latin typeface="Arial"/>
                  </a:rPr>
                  <a:t> — no determinant needed.</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$|\bar w|=|w|$</a:t>
                </a:r>
                <a:r>
                  <a:rPr sz="2400" b="0">
                    <a:solidFill>
                      <a:srgbClr val="111827"/>
                    </a:solidFill>
                    <a:latin typeface="Arial"/>
                  </a:rPr>
                  <a:t>, so </a:t>
                </a:r>
                <a:r>
                  <a:rPr lang="en-IN" sz="2400">
                    <a:solidFill>
                      <a:srgbClr val="111827"/>
                    </a:solidFill>
                    <a:latin typeface="Cambria Math" panose="02040503050406030204" pitchFamily="18" charset="0"/>
                  </a:rPr>
                  <a:t>$\left|\frac{\bar z-a}{\bar z-b}\right|=\left|\frac{z-\bar a}{z-\bar b}\right|$</a:t>
                </a:r>
                <a:r>
                  <a:rPr sz="2400" b="0">
                    <a:solidFill>
                      <a:srgbClr val="111827"/>
                    </a:solidFill>
                    <a:latin typeface="Arial"/>
                  </a:rPr>
                  <a:t>: conjugating inside a modulus ratio only conjugates the fixed points.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$\left|\frac{z-A}{z-B}\right|=k\ne1$</a:t>
                </a:r>
                <a:r>
                  <a:rPr sz="2400" b="0">
                    <a:solidFill>
                      <a:srgbClr val="111827"/>
                    </a:solidFill>
                    <a:latin typeface="Arial"/>
                  </a:rPr>
                  <a:t> is a circle with centre </a:t>
                </a:r>
                <a:r>
                  <a:rPr lang="en-IN" sz="2400">
                    <a:solidFill>
                      <a:srgbClr val="111827"/>
                    </a:solidFill>
                    <a:latin typeface="Cambria Math" panose="02040503050406030204" pitchFamily="18" charset="0"/>
                  </a:rPr>
                  <a:t>$\frac{A-k^2B}{1-k^2}$</a:t>
                </a:r>
                <a:r>
                  <a:rPr sz="2400" b="0">
                    <a:solidFill>
                      <a:srgbClr val="111827"/>
                    </a:solidFill>
                    <a:latin typeface="Arial"/>
                  </a:rPr>
                  <a:t>; the centre lies on line </a:t>
                </a:r>
                <a:r>
                  <a:rPr lang="en-IN" sz="2400">
                    <a:solidFill>
                      <a:srgbClr val="111827"/>
                    </a:solidFill>
                    <a:latin typeface="Cambria Math" panose="02040503050406030204" pitchFamily="18" charset="0"/>
                  </a:rPr>
                  <a:t>$AB$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Triangle with a vertex at the origin, one on an axis: area </a:t>
                </a:r>
                <a:r>
                  <a:rPr lang="en-IN" sz="2400">
                    <a:solidFill>
                      <a:srgbClr val="111827"/>
                    </a:solidFill>
                    <a:latin typeface="Cambria Math" panose="02040503050406030204" pitchFamily="18" charset="0"/>
                  </a:rPr>
                  <a:t>$=\frac12\cdot\text{base}\cdot\text{height}$</a:t>
                </a:r>
                <a:r>
                  <a:rPr sz="2400" b="0">
                    <a:solidFill>
                      <a:srgbClr val="111827"/>
                    </a:solidFill>
                    <a:latin typeface="Arial"/>
                  </a:rPr>
                  <a:t> — no determinant needed.</a:t>
                </a:r>
                <a:endParaRPr sz="2400">
                  <a:solidFill>
                    <a:srgbClr val="111827"/>
                  </a:solidFill>
                </a:endParaRPr>
              </a:p>
            </p:txBody>
          </p:sp>
        </mc:Fallback>
      </mc:AlternateContent>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9192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complex numbers </a:t>
                </a:r>
                <a14:m>
                  <m:oMath xmlns:m="http://schemas.openxmlformats.org/officeDocument/2006/math">
                    <m:r>
                      <a:rPr lang="en-IN" sz="2400" i="1">
                        <a:solidFill>
                          <a:srgbClr val="111827"/>
                        </a:solidFill>
                        <a:latin typeface="Cambria Math" panose="02040503050406030204" pitchFamily="18" charset="0"/>
                      </a:rPr>
                      <m:t>𝑧</m:t>
                    </m:r>
                  </m:oMath>
                </a14:m>
                <a:r>
                  <a:rPr sz="2400" b="0">
                    <a:solidFill>
                      <a:srgbClr val="111827"/>
                    </a:solidFill>
                    <a:latin typeface="Arial"/>
                  </a:rPr>
                  <a:t>, satisfying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𝑧</m:t>
                            </m:r>
                          </m:num>
                          <m:den>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num>
                          <m:den>
                            <m:r>
                              <a:rPr lang="en-IN" sz="2400" i="1">
                                <a:solidFill>
                                  <a:srgbClr val="111827"/>
                                </a:solidFill>
                                <a:latin typeface="Cambria Math" panose="02040503050406030204" pitchFamily="18" charset="0"/>
                              </a:rPr>
                              <m:t>𝑧</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6   (B) 4   (C) 10   (D) 8</a:t>
                </a:r>
                <a:endParaRPr sz="2400">
                  <a:solidFill>
                    <a:srgbClr val="111827"/>
                  </a:solidFill>
                </a:endParaRPr>
              </a:p>
            </p:txBody>
          </p:sp>
        </mc:Choice>
        <mc:Fallback>
          <p:sp>
            <p:nvSpPr>
              <p:cNvPr id="4" name="Rounded Rectangle 3"/>
              <p:cNvSpPr/>
              <p:nvPr/>
            </p:nvSpPr>
            <p:spPr>
              <a:xfrm>
                <a:off x="731520" y="1280160"/>
                <a:ext cx="10725912" cy="19192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complex numbers </a:t>
                </a:r>
                <a:r>
                  <a:rPr lang="en-IN" sz="2400">
                    <a:solidFill>
                      <a:srgbClr val="111827"/>
                    </a:solidFill>
                    <a:latin typeface="Cambria Math" panose="02040503050406030204" pitchFamily="18" charset="0"/>
                  </a:rPr>
                  <a:t>$z$</a:t>
                </a:r>
                <a:r>
                  <a:rPr sz="2400" b="0">
                    <a:solidFill>
                      <a:srgbClr val="111827"/>
                    </a:solidFill>
                    <a:latin typeface="Arial"/>
                  </a:rPr>
                  <a:t>, satisfying </a:t>
                </a:r>
                <a:r>
                  <a:rPr lang="en-IN" sz="2400">
                    <a:solidFill>
                      <a:srgbClr val="111827"/>
                    </a:solidFill>
                    <a:latin typeface="Cambria Math" panose="02040503050406030204" pitchFamily="18" charset="0"/>
                  </a:rPr>
                  <a:t>$|z|=1$</a:t>
                </a:r>
                <a:r>
                  <a:rPr sz="2400" b="0">
                    <a:solidFill>
                      <a:srgbClr val="111827"/>
                    </a:solidFill>
                    <a:latin typeface="Arial"/>
                  </a:rPr>
                  <a:t> and </a:t>
                </a:r>
                <a:r>
                  <a:rPr lang="en-IN" sz="2400">
                    <a:solidFill>
                      <a:srgbClr val="111827"/>
                    </a:solidFill>
                    <a:latin typeface="Cambria Math" panose="02040503050406030204" pitchFamily="18" charset="0"/>
                  </a:rPr>
                  <a:t>$\left|\frac z{\bar z}+\frac{\bar z}{z}\right|=1$</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6   (B) 4   (C) 10   (D) 8</a:t>
                </a:r>
                <a:endParaRPr sz="2400">
                  <a:solidFill>
                    <a:srgbClr val="111827"/>
                  </a:solidFill>
                </a:endParaRPr>
              </a:p>
            </p:txBody>
          </p:sp>
        </mc:Fallback>
      </mc:AlternateContent>
      <p:sp>
        <p:nvSpPr>
          <p:cNvPr id="5" name="Rectangle 4"/>
          <p:cNvSpPr/>
          <p:nvPr/>
        </p:nvSpPr>
        <p:spPr>
          <a:xfrm>
            <a:off x="731520" y="3427984"/>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Complex numbers on the unit circle and a modulus equation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On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𝑧</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put </a:t>
                </a:r>
                <a14:m>
                  <m:oMath xmlns:m="http://schemas.openxmlformats.org/officeDocument/2006/math">
                    <m:r>
                      <a:rPr lang="en-IN" sz="2400" i="1">
                        <a:solidFill>
                          <a:srgbClr val="78350F"/>
                        </a:solidFill>
                        <a:latin typeface="Cambria Math" panose="02040503050406030204" pitchFamily="18" charset="0"/>
                      </a:rPr>
                      <m:t>𝑧</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𝑒</m:t>
                        </m:r>
                      </m:e>
                      <m:sup>
                        <m:r>
                          <a:rPr lang="en-IN" sz="2400" i="1">
                            <a:solidFill>
                              <a:srgbClr val="78350F"/>
                            </a:solidFill>
                            <a:latin typeface="Cambria Math" panose="02040503050406030204" pitchFamily="18" charset="0"/>
                          </a:rPr>
                          <m:t>𝑖</m:t>
                        </m:r>
                        <m:r>
                          <a:rPr lang="en-IN" sz="2400" i="1">
                            <a:solidFill>
                              <a:srgbClr val="78350F"/>
                            </a:solidFill>
                            <a:latin typeface="Cambria Math" panose="02040503050406030204" pitchFamily="18" charset="0"/>
                          </a:rPr>
                          <m:t>θ</m:t>
                        </m:r>
                      </m:sup>
                    </m:sSup>
                  </m:oMath>
                </a14:m>
                <a:r>
                  <a:rPr sz="2400" b="0">
                    <a:solidFill>
                      <a:srgbClr val="78350F"/>
                    </a:solidFill>
                    <a:latin typeface="Arial"/>
                  </a:rPr>
                  <a:t>; then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𝑧</m:t>
                        </m:r>
                      </m:num>
                      <m:den>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𝑧</m:t>
                            </m:r>
                          </m:e>
                        </m:acc>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𝑧</m:t>
                            </m:r>
                          </m:e>
                        </m:acc>
                      </m:num>
                      <m:den>
                        <m:r>
                          <a:rPr lang="en-IN" sz="2400" i="1">
                            <a:solidFill>
                              <a:srgbClr val="78350F"/>
                            </a:solidFill>
                            <a:latin typeface="Cambria Math" panose="02040503050406030204" pitchFamily="18" charset="0"/>
                          </a:rPr>
                          <m:t>𝑧</m:t>
                        </m:r>
                      </m:den>
                    </m:f>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θ</m:t>
                    </m:r>
                  </m:oMath>
                </a14:m>
                <a:r>
                  <a:rPr sz="2400" b="0">
                    <a:solidFill>
                      <a:srgbClr val="78350F"/>
                    </a:solidFill>
                    <a:latin typeface="Arial"/>
                  </a:rPr>
                  <a:t>, so the equation is </a:t>
                </a:r>
                <a14:m>
                  <m:oMath xmlns:m="http://schemas.openxmlformats.org/officeDocument/2006/math">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θ</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2</m:t>
                        </m:r>
                      </m:den>
                    </m:f>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On </a:t>
                </a:r>
                <a:r>
                  <a:rPr lang="en-IN" sz="2400">
                    <a:solidFill>
                      <a:srgbClr val="78350F"/>
                    </a:solidFill>
                    <a:latin typeface="Cambria Math" panose="02040503050406030204" pitchFamily="18" charset="0"/>
                  </a:rPr>
                  <a:t>$|z|=1$</a:t>
                </a:r>
                <a:r>
                  <a:rPr sz="2400" b="0">
                    <a:solidFill>
                      <a:srgbClr val="78350F"/>
                    </a:solidFill>
                    <a:latin typeface="Arial"/>
                  </a:rPr>
                  <a:t> put </a:t>
                </a:r>
                <a:r>
                  <a:rPr lang="en-IN" sz="2400">
                    <a:solidFill>
                      <a:srgbClr val="78350F"/>
                    </a:solidFill>
                    <a:latin typeface="Cambria Math" panose="02040503050406030204" pitchFamily="18" charset="0"/>
                  </a:rPr>
                  <a:t>$z=e^{i\theta}$</a:t>
                </a:r>
                <a:r>
                  <a:rPr sz="2400" b="0">
                    <a:solidFill>
                      <a:srgbClr val="78350F"/>
                    </a:solidFill>
                    <a:latin typeface="Arial"/>
                  </a:rPr>
                  <a:t>; then </a:t>
                </a:r>
                <a:r>
                  <a:rPr lang="en-IN" sz="2400">
                    <a:solidFill>
                      <a:srgbClr val="78350F"/>
                    </a:solidFill>
                    <a:latin typeface="Cambria Math" panose="02040503050406030204" pitchFamily="18" charset="0"/>
                  </a:rPr>
                  <a:t>$\frac z{\bar z}+\frac{\bar z}z=2\cos2\theta$</a:t>
                </a:r>
                <a:r>
                  <a:rPr sz="2400" b="0">
                    <a:solidFill>
                      <a:srgbClr val="78350F"/>
                    </a:solidFill>
                    <a:latin typeface="Arial"/>
                  </a:rPr>
                  <a:t>, so the equation is </a:t>
                </a:r>
                <a:r>
                  <a:rPr lang="en-IN" sz="2400">
                    <a:solidFill>
                      <a:srgbClr val="78350F"/>
                    </a:solidFill>
                    <a:latin typeface="Cambria Math" panose="02040503050406030204" pitchFamily="18" charset="0"/>
                  </a:rPr>
                  <a:t>$|\cos2\theta|=\frac12$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θ</m:t>
                        </m:r>
                      </m:sup>
                    </m:sSup>
                  </m:oMath>
                </a14:m>
                <a:r>
                  <a:rPr sz="2400" b="0">
                    <a:solidFill>
                      <a:srgbClr val="111827"/>
                    </a:solidFill>
                    <a:latin typeface="Arial"/>
                  </a:rPr>
                  <a:t>, so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θ</m:t>
                        </m:r>
                      </m:sup>
                    </m:sSup>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𝑧</m:t>
                        </m:r>
                      </m:num>
                      <m:den>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θ</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condition becomes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θ</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θ</m:t>
                            </m:r>
                          </m:sup>
                        </m:sSup>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$z=e^{i\theta}$</a:t>
                </a:r>
                <a:r>
                  <a:rPr sz="2400" b="0">
                    <a:solidFill>
                      <a:srgbClr val="111827"/>
                    </a:solidFill>
                    <a:latin typeface="Arial"/>
                  </a:rPr>
                  <a:t>, so </a:t>
                </a:r>
                <a:r>
                  <a:rPr lang="en-IN" sz="2400">
                    <a:solidFill>
                      <a:srgbClr val="111827"/>
                    </a:solidFill>
                    <a:latin typeface="Cambria Math" panose="02040503050406030204" pitchFamily="18" charset="0"/>
                  </a:rPr>
                  <a:t>$\bar z=e^{-i\theta}$</a:t>
                </a:r>
                <a:r>
                  <a:rPr sz="2400" b="0">
                    <a:solidFill>
                      <a:srgbClr val="111827"/>
                    </a:solidFill>
                    <a:latin typeface="Arial"/>
                  </a:rPr>
                  <a:t> and </a:t>
                </a:r>
                <a:r>
                  <a:rPr lang="en-IN" sz="2400">
                    <a:solidFill>
                      <a:srgbClr val="111827"/>
                    </a:solidFill>
                    <a:latin typeface="Cambria Math" panose="02040503050406030204" pitchFamily="18" charset="0"/>
                  </a:rPr>
                  <a:t>$\frac z{\bar z}=e^{2i\theta}$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condition becomes </a:t>
                </a:r>
                <a:r>
                  <a:rPr lang="en-IN" sz="2400">
                    <a:solidFill>
                      <a:srgbClr val="111827"/>
                    </a:solidFill>
                    <a:latin typeface="Cambria Math" panose="02040503050406030204" pitchFamily="18" charset="0"/>
                  </a:rPr>
                  <a:t>$\left|e^{2i\theta}+e^{-2i\theta}\right|=1$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$|\cos2\theta+i\sin2\theta+\cos2\theta-i\sin2\theta|=|2\cos2\theta|=1$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i.e.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has 4 solutions and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has 4 solutions.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solutions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option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$|\cos2\theta|=\frac12$</a:t>
                </a:r>
                <a:r>
                  <a:rPr sz="2400" b="0">
                    <a:solidFill>
                      <a:srgbClr val="111827"/>
                    </a:solidFill>
                    <a:latin typeface="Arial"/>
                  </a:rPr>
                  <a:t>, i.e. </a:t>
                </a:r>
                <a:r>
                  <a:rPr lang="en-IN" sz="2400">
                    <a:solidFill>
                      <a:srgbClr val="111827"/>
                    </a:solidFill>
                    <a:latin typeface="Cambria Math" panose="02040503050406030204" pitchFamily="18" charset="0"/>
                  </a:rPr>
                  <a:t>$\cos2\theta=\pm\frac12$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$\theta\in[0,2\pi)$</a:t>
                </a:r>
                <a:r>
                  <a:rPr sz="2400" b="0">
                    <a:solidFill>
                      <a:srgbClr val="111827"/>
                    </a:solidFill>
                    <a:latin typeface="Arial"/>
                  </a:rPr>
                  <a:t>, </a:t>
                </a:r>
                <a:r>
                  <a:rPr lang="en-IN" sz="2400">
                    <a:solidFill>
                      <a:srgbClr val="111827"/>
                    </a:solidFill>
                    <a:latin typeface="Cambria Math" panose="02040503050406030204" pitchFamily="18" charset="0"/>
                  </a:rPr>
                  <a:t>$2\theta\in[0,4\pi)$</a:t>
                </a:r>
                <a:r>
                  <a:rPr sz="2400" b="0">
                    <a:solidFill>
                      <a:srgbClr val="111827"/>
                    </a:solidFill>
                    <a:latin typeface="Arial"/>
                  </a:rPr>
                  <a:t>: </a:t>
                </a:r>
                <a:r>
                  <a:rPr lang="en-IN" sz="2400">
                    <a:solidFill>
                      <a:srgbClr val="111827"/>
                    </a:solidFill>
                    <a:latin typeface="Cambria Math" panose="02040503050406030204" pitchFamily="18" charset="0"/>
                  </a:rPr>
                  <a:t>$\cos2\theta=\frac12$</a:t>
                </a:r>
                <a:r>
                  <a:rPr sz="2400" b="0">
                    <a:solidFill>
                      <a:srgbClr val="111827"/>
                    </a:solidFill>
                    <a:latin typeface="Arial"/>
                  </a:rPr>
                  <a:t> has 4 solutions and </a:t>
                </a:r>
                <a:r>
                  <a:rPr lang="en-IN" sz="2400">
                    <a:solidFill>
                      <a:srgbClr val="111827"/>
                    </a:solidFill>
                    <a:latin typeface="Cambria Math" panose="02040503050406030204" pitchFamily="18" charset="0"/>
                  </a:rPr>
                  <a:t>$\cos2\theta=-\frac12$</a:t>
                </a:r>
                <a:r>
                  <a:rPr sz="2400" b="0">
                    <a:solidFill>
                      <a:srgbClr val="111827"/>
                    </a:solidFill>
                    <a:latin typeface="Arial"/>
                  </a:rPr>
                  <a:t> has 4 solutions.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solutions </a:t>
                </a:r>
                <a:r>
                  <a:rPr lang="en-IN" sz="2400">
                    <a:solidFill>
                      <a:srgbClr val="111827"/>
                    </a:solidFill>
                    <a:latin typeface="Cambria Math" panose="02040503050406030204" pitchFamily="18" charset="0"/>
                  </a:rPr>
                  <a:t>$=8$</a:t>
                </a:r>
                <a:r>
                  <a:rPr sz="2400" b="0">
                    <a:solidFill>
                      <a:srgbClr val="111827"/>
                    </a:solidFill>
                    <a:latin typeface="Arial"/>
                  </a:rPr>
                  <a:t>, option (D).</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8</a:t>
            </a:r>
            <a:endParaRPr sz="2800">
              <a:solidFill>
                <a:srgbClr val="15803D"/>
              </a:solidFill>
            </a:endParaRP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Set </a:t>
                </a:r>
                <a14:m>
                  <m:oMath xmlns:m="http://schemas.openxmlformats.org/officeDocument/2006/math">
                    <m:r>
                      <a:rPr lang="en-IN" sz="2400" i="1">
                        <a:solidFill>
                          <a:srgbClr val="78350F"/>
                        </a:solidFill>
                        <a:latin typeface="Cambria Math" panose="02040503050406030204" pitchFamily="18" charset="0"/>
                      </a:rPr>
                      <m:t>𝑤</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𝑧</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(unit modulus):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𝑤</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𝑤</m:t>
                        </m:r>
                      </m:den>
                    </m:f>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gives a quadratic with 4 roots of </a:t>
                </a:r>
                <a14:m>
                  <m:oMath xmlns:m="http://schemas.openxmlformats.org/officeDocument/2006/math">
                    <m:r>
                      <a:rPr lang="en-IN" sz="2400" i="1">
                        <a:solidFill>
                          <a:srgbClr val="78350F"/>
                        </a:solidFill>
                        <a:latin typeface="Cambria Math" panose="02040503050406030204" pitchFamily="18" charset="0"/>
                      </a:rPr>
                      <m:t>𝑤</m:t>
                    </m:r>
                  </m:oMath>
                </a14:m>
                <a:r>
                  <a:rPr sz="2400" b="0">
                    <a:solidFill>
                      <a:srgbClr val="78350F"/>
                    </a:solidFill>
                    <a:latin typeface="Arial"/>
                  </a:rPr>
                  <a:t>, each with two square roots </a:t>
                </a:r>
                <a14:m>
                  <m:oMath xmlns:m="http://schemas.openxmlformats.org/officeDocument/2006/math">
                    <m:r>
                      <a:rPr lang="en-IN" sz="2400" i="1">
                        <a:solidFill>
                          <a:srgbClr val="78350F"/>
                        </a:solidFill>
                        <a:latin typeface="Cambria Math" panose="02040503050406030204" pitchFamily="18" charset="0"/>
                      </a:rPr>
                      <m:t>𝑧</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Set </a:t>
                </a:r>
                <a:r>
                  <a:rPr lang="en-IN" sz="2400">
                    <a:solidFill>
                      <a:srgbClr val="78350F"/>
                    </a:solidFill>
                    <a:latin typeface="Cambria Math" panose="02040503050406030204" pitchFamily="18" charset="0"/>
                  </a:rPr>
                  <a:t>$w=z^2$</a:t>
                </a:r>
                <a:r>
                  <a:rPr sz="2400" b="0">
                    <a:solidFill>
                      <a:srgbClr val="78350F"/>
                    </a:solidFill>
                    <a:latin typeface="Arial"/>
                  </a:rPr>
                  <a:t> (unit modulus): </a:t>
                </a:r>
                <a:r>
                  <a:rPr lang="en-IN" sz="2400">
                    <a:solidFill>
                      <a:srgbClr val="78350F"/>
                    </a:solidFill>
                    <a:latin typeface="Cambria Math" panose="02040503050406030204" pitchFamily="18" charset="0"/>
                  </a:rPr>
                  <a:t>$|w+\frac1w|=1$</a:t>
                </a:r>
                <a:r>
                  <a:rPr sz="2400" b="0">
                    <a:solidFill>
                      <a:srgbClr val="78350F"/>
                    </a:solidFill>
                    <a:latin typeface="Arial"/>
                  </a:rPr>
                  <a:t> gives a quadratic with 4 roots of </a:t>
                </a:r>
                <a:r>
                  <a:rPr lang="en-IN" sz="2400">
                    <a:solidFill>
                      <a:srgbClr val="78350F"/>
                    </a:solidFill>
                    <a:latin typeface="Cambria Math" panose="02040503050406030204" pitchFamily="18" charset="0"/>
                  </a:rPr>
                  <a:t>$w$</a:t>
                </a:r>
                <a:r>
                  <a:rPr sz="2400" b="0">
                    <a:solidFill>
                      <a:srgbClr val="78350F"/>
                    </a:solidFill>
                    <a:latin typeface="Arial"/>
                  </a:rPr>
                  <a:t>, each with two square roots </a:t>
                </a:r>
                <a:r>
                  <a:rPr lang="en-IN" sz="2400">
                    <a:solidFill>
                      <a:srgbClr val="78350F"/>
                    </a:solidFill>
                    <a:latin typeface="Cambria Math" panose="02040503050406030204" pitchFamily="18" charset="0"/>
                  </a:rPr>
                  <a:t>$z$</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𝑧</m:t>
                        </m:r>
                      </m:den>
                    </m:f>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𝑧</m:t>
                        </m:r>
                      </m:num>
                      <m:den>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𝑧</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𝑤</m:t>
                    </m:r>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num>
                      <m:den>
                        <m:r>
                          <a:rPr lang="en-IN" sz="2400" i="1">
                            <a:solidFill>
                              <a:srgbClr val="111827"/>
                            </a:solidFill>
                            <a:latin typeface="Cambria Math" panose="02040503050406030204" pitchFamily="18" charset="0"/>
                          </a:rPr>
                          <m:t>𝑧</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𝑤</m:t>
                        </m:r>
                      </m:den>
                    </m:f>
                  </m:oMath>
                </a14:m>
                <a:r>
                  <a:rPr sz="2400" b="0">
                    <a:solidFill>
                      <a:srgbClr val="111827"/>
                    </a:solidFill>
                    <a:latin typeface="Arial"/>
                  </a:rPr>
                  <a:t>, with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𝑤</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𝑤</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𝑤</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θ</m:t>
                    </m:r>
                  </m:oMath>
                </a14:m>
                <a:r>
                  <a:rPr sz="2400" b="0">
                    <a:solidFill>
                      <a:srgbClr val="111827"/>
                    </a:solidFill>
                    <a:latin typeface="Arial"/>
                  </a:rPr>
                  <a:t> is real, so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𝑤</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𝑤</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means </a:t>
                </a:r>
                <a14:m>
                  <m:oMath xmlns:m="http://schemas.openxmlformats.org/officeDocument/2006/math">
                    <m:r>
                      <a:rPr lang="en-IN" sz="2400" i="1">
                        <a:solidFill>
                          <a:srgbClr val="111827"/>
                        </a:solidFill>
                        <a:latin typeface="Cambria Math" panose="02040503050406030204" pitchFamily="18" charset="0"/>
                      </a:rPr>
                      <m:t>𝑤</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𝑤</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𝑤</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𝑤</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𝑤</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𝑤</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𝑤</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𝑤</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oMath>
                </a14:m>
                <a:r>
                  <a:rPr sz="2400" b="0">
                    <a:solidFill>
                      <a:srgbClr val="111827"/>
                    </a:solidFill>
                    <a:latin typeface="Arial"/>
                  </a:rPr>
                  <a:t>: four distinct values of </a:t>
                </a:r>
                <a14:m>
                  <m:oMath xmlns:m="http://schemas.openxmlformats.org/officeDocument/2006/math">
                    <m:r>
                      <a:rPr lang="en-IN" sz="2400" i="1">
                        <a:solidFill>
                          <a:srgbClr val="111827"/>
                        </a:solidFill>
                        <a:latin typeface="Cambria Math" panose="02040503050406030204" pitchFamily="18" charset="0"/>
                      </a:rPr>
                      <m:t>𝑤</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$|z|=1$</a:t>
                </a:r>
                <a:r>
                  <a:rPr sz="2400" b="0">
                    <a:solidFill>
                      <a:srgbClr val="111827"/>
                    </a:solidFill>
                    <a:latin typeface="Arial"/>
                  </a:rPr>
                  <a:t>, </a:t>
                </a:r>
                <a:r>
                  <a:rPr lang="en-IN" sz="2400">
                    <a:solidFill>
                      <a:srgbClr val="111827"/>
                    </a:solidFill>
                    <a:latin typeface="Cambria Math" panose="02040503050406030204" pitchFamily="18" charset="0"/>
                  </a:rPr>
                  <a:t>$\bar z=\frac1z$</a:t>
                </a:r>
                <a:r>
                  <a:rPr sz="2400" b="0">
                    <a:solidFill>
                      <a:srgbClr val="111827"/>
                    </a:solidFill>
                    <a:latin typeface="Arial"/>
                  </a:rPr>
                  <a:t>, so </a:t>
                </a:r>
                <a:r>
                  <a:rPr lang="en-IN" sz="2400">
                    <a:solidFill>
                      <a:srgbClr val="111827"/>
                    </a:solidFill>
                    <a:latin typeface="Cambria Math" panose="02040503050406030204" pitchFamily="18" charset="0"/>
                  </a:rPr>
                  <a:t>$\frac z{\bar z}=z^2=w$</a:t>
                </a:r>
                <a:r>
                  <a:rPr sz="2400" b="0">
                    <a:solidFill>
                      <a:srgbClr val="111827"/>
                    </a:solidFill>
                    <a:latin typeface="Arial"/>
                  </a:rPr>
                  <a:t> and </a:t>
                </a:r>
                <a:r>
                  <a:rPr lang="en-IN" sz="2400">
                    <a:solidFill>
                      <a:srgbClr val="111827"/>
                    </a:solidFill>
                    <a:latin typeface="Cambria Math" panose="02040503050406030204" pitchFamily="18" charset="0"/>
                  </a:rPr>
                  <a:t>$\frac{\bar z}z=\frac1w$</a:t>
                </a:r>
                <a:r>
                  <a:rPr sz="2400" b="0">
                    <a:solidFill>
                      <a:srgbClr val="111827"/>
                    </a:solidFill>
                    <a:latin typeface="Arial"/>
                  </a:rPr>
                  <a:t>, with </a:t>
                </a:r>
                <a:r>
                  <a:rPr lang="en-IN" sz="2400">
                    <a:solidFill>
                      <a:srgbClr val="111827"/>
                    </a:solidFill>
                    <a:latin typeface="Cambria Math" panose="02040503050406030204" pitchFamily="18" charset="0"/>
                  </a:rPr>
                  <a:t>$|w|=1$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$w+\frac1w=2\cos2\theta$</a:t>
                </a:r>
                <a:r>
                  <a:rPr sz="2400" b="0">
                    <a:solidFill>
                      <a:srgbClr val="111827"/>
                    </a:solidFill>
                    <a:latin typeface="Arial"/>
                  </a:rPr>
                  <a:t> is real, so </a:t>
                </a:r>
                <a:r>
                  <a:rPr lang="en-IN" sz="2400">
                    <a:solidFill>
                      <a:srgbClr val="111827"/>
                    </a:solidFill>
                    <a:latin typeface="Cambria Math" panose="02040503050406030204" pitchFamily="18" charset="0"/>
                  </a:rPr>
                  <a:t>$\left|w+\frac1w\right|=1$</a:t>
                </a:r>
                <a:r>
                  <a:rPr sz="2400" b="0">
                    <a:solidFill>
                      <a:srgbClr val="111827"/>
                    </a:solidFill>
                    <a:latin typeface="Arial"/>
                  </a:rPr>
                  <a:t> means </a:t>
                </a:r>
                <a:r>
                  <a:rPr lang="en-IN" sz="2400">
                    <a:solidFill>
                      <a:srgbClr val="111827"/>
                    </a:solidFill>
                    <a:latin typeface="Cambria Math" panose="02040503050406030204" pitchFamily="18" charset="0"/>
                  </a:rPr>
                  <a:t>$w+\frac1w=\pm1$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$w^2-w+1=0$</a:t>
                </a:r>
                <a:r>
                  <a:rPr sz="2400" b="0">
                    <a:solidFill>
                      <a:srgbClr val="111827"/>
                    </a:solidFill>
                    <a:latin typeface="Arial"/>
                  </a:rPr>
                  <a:t> gives </a:t>
                </a:r>
                <a:r>
                  <a:rPr lang="en-IN" sz="2400">
                    <a:solidFill>
                      <a:srgbClr val="111827"/>
                    </a:solidFill>
                    <a:latin typeface="Cambria Math" panose="02040503050406030204" pitchFamily="18" charset="0"/>
                  </a:rPr>
                  <a:t>$w=e^{\pm i\pi/3}$</a:t>
                </a:r>
                <a:r>
                  <a:rPr sz="2400" b="0">
                    <a:solidFill>
                      <a:srgbClr val="111827"/>
                    </a:solidFill>
                    <a:latin typeface="Arial"/>
                  </a:rPr>
                  <a:t>; </a:t>
                </a:r>
                <a:r>
                  <a:rPr lang="en-IN" sz="2400">
                    <a:solidFill>
                      <a:srgbClr val="111827"/>
                    </a:solidFill>
                    <a:latin typeface="Cambria Math" panose="02040503050406030204" pitchFamily="18" charset="0"/>
                  </a:rPr>
                  <a:t>$w^2+w+1=0$</a:t>
                </a:r>
                <a:r>
                  <a:rPr sz="2400" b="0">
                    <a:solidFill>
                      <a:srgbClr val="111827"/>
                    </a:solidFill>
                    <a:latin typeface="Arial"/>
                  </a:rPr>
                  <a:t> gives </a:t>
                </a:r>
                <a:r>
                  <a:rPr lang="en-IN" sz="2400">
                    <a:solidFill>
                      <a:srgbClr val="111827"/>
                    </a:solidFill>
                    <a:latin typeface="Cambria Math" panose="02040503050406030204" pitchFamily="18" charset="0"/>
                  </a:rPr>
                  <a:t>$w=e^{\pm2i\pi/3}$</a:t>
                </a:r>
                <a:r>
                  <a:rPr sz="2400" b="0">
                    <a:solidFill>
                      <a:srgbClr val="111827"/>
                    </a:solidFill>
                    <a:latin typeface="Arial"/>
                  </a:rPr>
                  <a:t>: four distinct values of </a:t>
                </a:r>
                <a:r>
                  <a:rPr lang="en-IN" sz="2400">
                    <a:solidFill>
                      <a:srgbClr val="111827"/>
                    </a:solidFill>
                    <a:latin typeface="Cambria Math" panose="02040503050406030204" pitchFamily="18" charset="0"/>
                  </a:rPr>
                  <a:t>$w$</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Each </a:t>
                </a:r>
                <a14:m>
                  <m:oMath xmlns:m="http://schemas.openxmlformats.org/officeDocument/2006/math">
                    <m:r>
                      <a:rPr lang="en-IN" sz="2400" i="1">
                        <a:solidFill>
                          <a:srgbClr val="111827"/>
                        </a:solidFill>
                        <a:latin typeface="Cambria Math" panose="02040503050406030204" pitchFamily="18" charset="0"/>
                      </a:rPr>
                      <m:t>𝑤</m:t>
                    </m:r>
                  </m:oMath>
                </a14:m>
                <a:r>
                  <a:rPr sz="2400" b="0">
                    <a:solidFill>
                      <a:srgbClr val="111827"/>
                    </a:solidFill>
                    <a:latin typeface="Arial"/>
                  </a:rPr>
                  <a:t> with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𝑤</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has exactly two square roots </a:t>
                </a:r>
                <a14:m>
                  <m:oMath xmlns:m="http://schemas.openxmlformats.org/officeDocument/2006/math">
                    <m:r>
                      <a:rPr lang="en-IN" sz="2400" i="1">
                        <a:solidFill>
                          <a:srgbClr val="111827"/>
                        </a:solidFill>
                        <a:latin typeface="Cambria Math" panose="02040503050406030204" pitchFamily="18" charset="0"/>
                      </a:rPr>
                      <m:t>𝑧</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values of </a:t>
                </a:r>
                <a14:m>
                  <m:oMath xmlns:m="http://schemas.openxmlformats.org/officeDocument/2006/math">
                    <m:r>
                      <a:rPr lang="en-IN" sz="2400" i="1">
                        <a:solidFill>
                          <a:srgbClr val="111827"/>
                        </a:solidFill>
                        <a:latin typeface="Cambria Math" panose="02040503050406030204" pitchFamily="18" charset="0"/>
                      </a:rPr>
                      <m:t>𝑧</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Each </a:t>
                </a:r>
                <a:r>
                  <a:rPr lang="en-IN" sz="2400">
                    <a:solidFill>
                      <a:srgbClr val="111827"/>
                    </a:solidFill>
                    <a:latin typeface="Cambria Math" panose="02040503050406030204" pitchFamily="18" charset="0"/>
                  </a:rPr>
                  <a:t>$w$</a:t>
                </a:r>
                <a:r>
                  <a:rPr sz="2400" b="0">
                    <a:solidFill>
                      <a:srgbClr val="111827"/>
                    </a:solidFill>
                    <a:latin typeface="Arial"/>
                  </a:rPr>
                  <a:t> with </a:t>
                </a:r>
                <a:r>
                  <a:rPr lang="en-IN" sz="2400">
                    <a:solidFill>
                      <a:srgbClr val="111827"/>
                    </a:solidFill>
                    <a:latin typeface="Cambria Math" panose="02040503050406030204" pitchFamily="18" charset="0"/>
                  </a:rPr>
                  <a:t>$|w|=1$</a:t>
                </a:r>
                <a:r>
                  <a:rPr sz="2400" b="0">
                    <a:solidFill>
                      <a:srgbClr val="111827"/>
                    </a:solidFill>
                    <a:latin typeface="Arial"/>
                  </a:rPr>
                  <a:t> has exactly two square roots </a:t>
                </a:r>
                <a:r>
                  <a:rPr lang="en-IN" sz="2400">
                    <a:solidFill>
                      <a:srgbClr val="111827"/>
                    </a:solidFill>
                    <a:latin typeface="Cambria Math" panose="02040503050406030204" pitchFamily="18" charset="0"/>
                  </a:rPr>
                  <a:t>$z$</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$=4\times2=8$</a:t>
                </a:r>
                <a:r>
                  <a:rPr sz="2400" b="0">
                    <a:solidFill>
                      <a:srgbClr val="111827"/>
                    </a:solidFill>
                    <a:latin typeface="Arial"/>
                  </a:rPr>
                  <a:t> values of </a:t>
                </a:r>
                <a:r>
                  <a:rPr lang="en-IN" sz="2400">
                    <a:solidFill>
                      <a:srgbClr val="111827"/>
                    </a:solidFill>
                    <a:latin typeface="Cambria Math" panose="02040503050406030204" pitchFamily="18" charset="0"/>
                  </a:rPr>
                  <a:t>$z$</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8</a:t>
            </a:r>
            <a:endParaRPr sz="2800">
              <a:solidFill>
                <a:srgbClr val="15803D"/>
              </a:solidFill>
            </a:endParaRP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𝑧</m:t>
                        </m:r>
                      </m:num>
                      <m:den>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𝑧</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𝑧</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𝑧</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θ</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 has exactly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oMath>
                </a14:m>
                <a:r>
                  <a:rPr sz="2400" b="0">
                    <a:solidFill>
                      <a:srgbClr val="111827"/>
                    </a:solidFill>
                    <a:latin typeface="Arial"/>
                  </a:rPr>
                  <a:t> solutions for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gives 4 for each of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Counting trick: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𝑧</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-to-</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on the unit circle, so the number of </a:t>
                </a:r>
                <a14:m>
                  <m:oMath xmlns:m="http://schemas.openxmlformats.org/officeDocument/2006/math">
                    <m:r>
                      <a:rPr lang="en-IN" sz="2400" i="1">
                        <a:solidFill>
                          <a:srgbClr val="111827"/>
                        </a:solidFill>
                        <a:latin typeface="Cambria Math" panose="02040503050406030204" pitchFamily="18" charset="0"/>
                      </a:rPr>
                      <m:t>𝑧</m:t>
                    </m:r>
                  </m:oMath>
                </a14:m>
                <a:r>
                  <a:rPr sz="2400" b="0">
                    <a:solidFill>
                      <a:srgbClr val="111827"/>
                    </a:solidFill>
                    <a:latin typeface="Arial"/>
                  </a:rPr>
                  <a:t> is twice the number of </a:t>
                </a:r>
                <a14:m>
                  <m:oMath xmlns:m="http://schemas.openxmlformats.org/officeDocument/2006/math">
                    <m:r>
                      <a:rPr lang="en-IN" sz="2400" i="1">
                        <a:solidFill>
                          <a:srgbClr val="111827"/>
                        </a:solidFill>
                        <a:latin typeface="Cambria Math" panose="02040503050406030204" pitchFamily="18" charset="0"/>
                      </a:rPr>
                      <m:t>𝑤</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𝑧</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$|z|=1$</a:t>
                </a:r>
                <a:r>
                  <a:rPr sz="2400" b="0">
                    <a:solidFill>
                      <a:srgbClr val="111827"/>
                    </a:solidFill>
                    <a:latin typeface="Arial"/>
                  </a:rPr>
                  <a:t>: </a:t>
                </a:r>
                <a:r>
                  <a:rPr lang="en-IN" sz="2400">
                    <a:solidFill>
                      <a:srgbClr val="111827"/>
                    </a:solidFill>
                    <a:latin typeface="Cambria Math" panose="02040503050406030204" pitchFamily="18" charset="0"/>
                  </a:rPr>
                  <a:t>$\frac z{\bar z}=z^2$</a:t>
                </a:r>
                <a:r>
                  <a:rPr sz="2400" b="0">
                    <a:solidFill>
                      <a:srgbClr val="111827"/>
                    </a:solidFill>
                    <a:latin typeface="Arial"/>
                  </a:rPr>
                  <a:t>, </a:t>
                </a:r>
                <a:r>
                  <a:rPr lang="en-IN" sz="2400">
                    <a:solidFill>
                      <a:srgbClr val="111827"/>
                    </a:solidFill>
                    <a:latin typeface="Cambria Math" panose="02040503050406030204" pitchFamily="18" charset="0"/>
                  </a:rPr>
                  <a:t>$z+\bar z=2\cos\theta$</a:t>
                </a:r>
                <a:r>
                  <a:rPr sz="2400" b="0">
                    <a:solidFill>
                      <a:srgbClr val="111827"/>
                    </a:solidFill>
                    <a:latin typeface="Arial"/>
                  </a:rPr>
                  <a:t>, </a:t>
                </a:r>
                <a:r>
                  <a:rPr lang="en-IN" sz="2400">
                    <a:solidFill>
                      <a:srgbClr val="111827"/>
                    </a:solidFill>
                    <a:latin typeface="Cambria Math" panose="02040503050406030204" pitchFamily="18" charset="0"/>
                  </a:rPr>
                  <a:t>$z^n+z^{-n}=2\cos n\theta$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$\cos k\theta=c$</a:t>
                </a:r>
                <a:r>
                  <a:rPr sz="2400" b="0">
                    <a:solidFill>
                      <a:srgbClr val="111827"/>
                    </a:solidFill>
                    <a:latin typeface="Arial"/>
                  </a:rPr>
                  <a:t> (</a:t>
                </a:r>
                <a:r>
                  <a:rPr lang="en-IN" sz="2400">
                    <a:solidFill>
                      <a:srgbClr val="111827"/>
                    </a:solidFill>
                    <a:latin typeface="Cambria Math" panose="02040503050406030204" pitchFamily="18" charset="0"/>
                  </a:rPr>
                  <a:t>$|c|&lt;1$</a:t>
                </a:r>
                <a:r>
                  <a:rPr sz="2400" b="0">
                    <a:solidFill>
                      <a:srgbClr val="111827"/>
                    </a:solidFill>
                    <a:latin typeface="Arial"/>
                  </a:rPr>
                  <a:t>) has exactly </a:t>
                </a:r>
                <a:r>
                  <a:rPr lang="en-IN" sz="2400">
                    <a:solidFill>
                      <a:srgbClr val="111827"/>
                    </a:solidFill>
                    <a:latin typeface="Cambria Math" panose="02040503050406030204" pitchFamily="18" charset="0"/>
                  </a:rPr>
                  <a:t>$2k$</a:t>
                </a:r>
                <a:r>
                  <a:rPr sz="2400" b="0">
                    <a:solidFill>
                      <a:srgbClr val="111827"/>
                    </a:solidFill>
                    <a:latin typeface="Arial"/>
                  </a:rPr>
                  <a:t> solutions for </a:t>
                </a:r>
                <a:r>
                  <a:rPr lang="en-IN" sz="2400">
                    <a:solidFill>
                      <a:srgbClr val="111827"/>
                    </a:solidFill>
                    <a:latin typeface="Cambria Math" panose="02040503050406030204" pitchFamily="18" charset="0"/>
                  </a:rPr>
                  <a:t>$\theta\in[0,2\pi)$</a:t>
                </a:r>
                <a:r>
                  <a:rPr sz="2400" b="0">
                    <a:solidFill>
                      <a:srgbClr val="111827"/>
                    </a:solidFill>
                    <a:latin typeface="Arial"/>
                  </a:rPr>
                  <a:t>; here </a:t>
                </a:r>
                <a:r>
                  <a:rPr lang="en-IN" sz="2400">
                    <a:solidFill>
                      <a:srgbClr val="111827"/>
                    </a:solidFill>
                    <a:latin typeface="Cambria Math" panose="02040503050406030204" pitchFamily="18" charset="0"/>
                  </a:rPr>
                  <a:t>$k=2$</a:t>
                </a:r>
                <a:r>
                  <a:rPr sz="2400" b="0">
                    <a:solidFill>
                      <a:srgbClr val="111827"/>
                    </a:solidFill>
                    <a:latin typeface="Arial"/>
                  </a:rPr>
                  <a:t> gives 4 for each of </a:t>
                </a:r>
                <a:r>
                  <a:rPr lang="en-IN" sz="2400">
                    <a:solidFill>
                      <a:srgbClr val="111827"/>
                    </a:solidFill>
                    <a:latin typeface="Cambria Math" panose="02040503050406030204" pitchFamily="18" charset="0"/>
                  </a:rPr>
                  <a:t>$\pm\frac12$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Counting trick: </a:t>
                </a:r>
                <a:r>
                  <a:rPr lang="en-IN" sz="2400">
                    <a:solidFill>
                      <a:srgbClr val="111827"/>
                    </a:solidFill>
                    <a:latin typeface="Cambria Math" panose="02040503050406030204" pitchFamily="18" charset="0"/>
                  </a:rPr>
                  <a:t>$z\mapsto z^2$</a:t>
                </a:r>
                <a:r>
                  <a:rPr sz="2400" b="0">
                    <a:solidFill>
                      <a:srgbClr val="111827"/>
                    </a:solidFill>
                    <a:latin typeface="Arial"/>
                  </a:rPr>
                  <a:t> is </a:t>
                </a:r>
                <a:r>
                  <a:rPr lang="en-IN" sz="2400">
                    <a:solidFill>
                      <a:srgbClr val="111827"/>
                    </a:solidFill>
                    <a:latin typeface="Cambria Math" panose="02040503050406030204" pitchFamily="18" charset="0"/>
                  </a:rPr>
                  <a:t>$2$</a:t>
                </a:r>
                <a:r>
                  <a:rPr sz="2400" b="0">
                    <a:solidFill>
                      <a:srgbClr val="111827"/>
                    </a:solidFill>
                    <a:latin typeface="Arial"/>
                  </a:rPr>
                  <a:t>-to-</a:t>
                </a:r>
                <a:r>
                  <a:rPr lang="en-IN" sz="2400">
                    <a:solidFill>
                      <a:srgbClr val="111827"/>
                    </a:solidFill>
                    <a:latin typeface="Cambria Math" panose="02040503050406030204" pitchFamily="18" charset="0"/>
                  </a:rPr>
                  <a:t>$1$</a:t>
                </a:r>
                <a:r>
                  <a:rPr sz="2400" b="0">
                    <a:solidFill>
                      <a:srgbClr val="111827"/>
                    </a:solidFill>
                    <a:latin typeface="Arial"/>
                  </a:rPr>
                  <a:t> on the unit circle, so the number of </a:t>
                </a:r>
                <a:r>
                  <a:rPr lang="en-IN" sz="2400">
                    <a:solidFill>
                      <a:srgbClr val="111827"/>
                    </a:solidFill>
                    <a:latin typeface="Cambria Math" panose="02040503050406030204" pitchFamily="18" charset="0"/>
                  </a:rPr>
                  <a:t>$z$</a:t>
                </a:r>
                <a:r>
                  <a:rPr sz="2400" b="0">
                    <a:solidFill>
                      <a:srgbClr val="111827"/>
                    </a:solidFill>
                    <a:latin typeface="Arial"/>
                  </a:rPr>
                  <a:t> is twice the number of </a:t>
                </a:r>
                <a:r>
                  <a:rPr lang="en-IN" sz="2400">
                    <a:solidFill>
                      <a:srgbClr val="111827"/>
                    </a:solidFill>
                    <a:latin typeface="Cambria Math" panose="02040503050406030204" pitchFamily="18" charset="0"/>
                  </a:rPr>
                  <a:t>$w=z^2$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2910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β</m:t>
                    </m:r>
                  </m:oMath>
                </a14:m>
                <a:r>
                  <a:rPr sz="2400" b="0">
                    <a:solidFill>
                      <a:srgbClr val="111827"/>
                    </a:solidFill>
                    <a:latin typeface="Arial"/>
                  </a:rPr>
                  <a:t> are the roots of the equation </a:t>
                </a:r>
                <a14:m>
                  <m:oMath xmlns:m="http://schemas.openxmlformats.org/officeDocument/2006/math">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𝑧</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rad>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e</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19</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19</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11</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11</m:t>
                                </m:r>
                              </m:sup>
                            </m:sSup>
                          </m:num>
                          <m:den>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15</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15</m:t>
                                </m:r>
                              </m:sup>
                            </m:sSup>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I</m:t>
                    </m:r>
                    <m:r>
                      <m:rPr>
                        <m:sty m:val="p"/>
                      </m:rPr>
                      <a:rPr lang="en-IN" sz="2400">
                        <a:solidFill>
                          <a:srgbClr val="111827"/>
                        </a:solidFill>
                        <a:latin typeface="Cambria Math" panose="02040503050406030204" pitchFamily="18" charset="0"/>
                      </a:rPr>
                      <m:t>m</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19</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19</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11</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11</m:t>
                                </m:r>
                              </m:sup>
                            </m:sSup>
                          </m:num>
                          <m:den>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15</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15</m:t>
                                </m:r>
                              </m:sup>
                            </m:sSup>
                          </m:den>
                        </m:f>
                      </m:e>
                    </m:d>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398   (B) 409   (C) 441   (D) 312</a:t>
                </a:r>
                <a:endParaRPr sz="2400">
                  <a:solidFill>
                    <a:srgbClr val="111827"/>
                  </a:solidFill>
                </a:endParaRPr>
              </a:p>
            </p:txBody>
          </p:sp>
        </mc:Choice>
        <mc:Fallback>
          <p:sp>
            <p:nvSpPr>
              <p:cNvPr id="4" name="Rounded Rectangle 3"/>
              <p:cNvSpPr/>
              <p:nvPr/>
            </p:nvSpPr>
            <p:spPr>
              <a:xfrm>
                <a:off x="731520" y="1280160"/>
                <a:ext cx="10725912" cy="22910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$\alpha$</a:t>
                </a:r>
                <a:r>
                  <a:rPr sz="2400" b="0">
                    <a:solidFill>
                      <a:srgbClr val="111827"/>
                    </a:solidFill>
                    <a:latin typeface="Arial"/>
                  </a:rPr>
                  <a:t> and </a:t>
                </a:r>
                <a:r>
                  <a:rPr lang="en-IN" sz="2400">
                    <a:solidFill>
                      <a:srgbClr val="111827"/>
                    </a:solidFill>
                    <a:latin typeface="Cambria Math" panose="02040503050406030204" pitchFamily="18" charset="0"/>
                  </a:rPr>
                  <a:t>$\beta$</a:t>
                </a:r>
                <a:r>
                  <a:rPr sz="2400" b="0">
                    <a:solidFill>
                      <a:srgbClr val="111827"/>
                    </a:solidFill>
                    <a:latin typeface="Arial"/>
                  </a:rPr>
                  <a:t> are the roots of the equation </a:t>
                </a:r>
                <a:r>
                  <a:rPr lang="en-IN" sz="2400">
                    <a:solidFill>
                      <a:srgbClr val="111827"/>
                    </a:solidFill>
                    <a:latin typeface="Cambria Math" panose="02040503050406030204" pitchFamily="18" charset="0"/>
                  </a:rPr>
                  <a:t>$2z^2-3z-2i=0$</a:t>
                </a:r>
                <a:r>
                  <a:rPr sz="2400" b="0">
                    <a:solidFill>
                      <a:srgbClr val="111827"/>
                    </a:solidFill>
                    <a:latin typeface="Arial"/>
                  </a:rPr>
                  <a:t>, where </a:t>
                </a:r>
                <a:r>
                  <a:rPr lang="en-IN" sz="2400">
                    <a:solidFill>
                      <a:srgbClr val="111827"/>
                    </a:solidFill>
                    <a:latin typeface="Cambria Math" panose="02040503050406030204" pitchFamily="18" charset="0"/>
                  </a:rPr>
                  <a:t>$i=\sqrt{-1}$</a:t>
                </a:r>
                <a:r>
                  <a:rPr sz="2400" b="0">
                    <a:solidFill>
                      <a:srgbClr val="111827"/>
                    </a:solidFill>
                    <a:latin typeface="Arial"/>
                  </a:rPr>
                  <a:t>, then </a:t>
                </a:r>
                <a:r>
                  <a:rPr lang="en-IN" sz="2400">
                    <a:solidFill>
                      <a:srgbClr val="111827"/>
                    </a:solidFill>
                    <a:latin typeface="Cambria Math" panose="02040503050406030204" pitchFamily="18" charset="0"/>
                  </a:rPr>
                  <a:t>$16\cdot\mathrm{Re}\left(\frac{\alpha^{19}+\beta^{19}+\alpha^{11}+\beta^{11}}{\alpha^{15}+\beta^{15}}\right)\cdot\mathrm{Im}\left(\frac{\alpha^{19}+\beta^{19}+\alpha^{11}+\beta^{11}}{\alpha^{15}+\beta^{15}}\right)$</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398   (B) 409   (C) 441   (D) 312</a:t>
                </a:r>
                <a:endParaRPr sz="2400">
                  <a:solidFill>
                    <a:srgbClr val="111827"/>
                  </a:solidFill>
                </a:endParaRPr>
              </a:p>
            </p:txBody>
          </p:sp>
        </mc:Fallback>
      </mc:AlternateContent>
      <p:sp>
        <p:nvSpPr>
          <p:cNvPr id="5" name="Rectangle 4"/>
          <p:cNvSpPr/>
          <p:nvPr/>
        </p:nvSpPr>
        <p:spPr>
          <a:xfrm>
            <a:off x="731520" y="37998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Roots of a quadratic with complex coefficients and symmetric functions of roots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Each root satisfies </a:t>
                </a:r>
                <a14:m>
                  <m:oMath xmlns:m="http://schemas.openxmlformats.org/officeDocument/2006/math">
                    <m:r>
                      <a:rPr lang="en-IN" sz="2400" i="1">
                        <a:solidFill>
                          <a:srgbClr val="78350F"/>
                        </a:solidFill>
                        <a:latin typeface="Cambria Math" panose="02040503050406030204" pitchFamily="18" charset="0"/>
                      </a:rPr>
                      <m:t>α</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𝑖</m:t>
                        </m:r>
                      </m:num>
                      <m:den>
                        <m:r>
                          <a:rPr lang="en-IN" sz="2400" i="1">
                            <a:solidFill>
                              <a:srgbClr val="78350F"/>
                            </a:solidFill>
                            <a:latin typeface="Cambria Math" panose="02040503050406030204" pitchFamily="18" charset="0"/>
                          </a:rPr>
                          <m:t>α</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3</m:t>
                        </m:r>
                      </m:num>
                      <m:den>
                        <m:r>
                          <a:rPr lang="en-IN" sz="2400" i="1">
                            <a:solidFill>
                              <a:srgbClr val="78350F"/>
                            </a:solidFill>
                            <a:latin typeface="Cambria Math" panose="02040503050406030204" pitchFamily="18" charset="0"/>
                          </a:rPr>
                          <m:t>2</m:t>
                        </m:r>
                      </m:den>
                    </m:f>
                  </m:oMath>
                </a14:m>
                <a:r>
                  <a:rPr sz="2400" b="0">
                    <a:solidFill>
                      <a:srgbClr val="78350F"/>
                    </a:solidFill>
                    <a:latin typeface="Arial"/>
                  </a:rPr>
                  <a:t>, which yields </a:t>
                </a:r>
                <a14:m>
                  <m:oMath xmlns:m="http://schemas.openxmlformats.org/officeDocument/2006/math">
                    <m:sSup>
                      <m:e>
                        <m:r>
                          <a:rPr lang="en-IN" sz="2400" i="1">
                            <a:solidFill>
                              <a:srgbClr val="78350F"/>
                            </a:solidFill>
                            <a:latin typeface="Cambria Math" panose="02040503050406030204" pitchFamily="18" charset="0"/>
                          </a:rPr>
                          <m:t>α</m:t>
                        </m:r>
                      </m:e>
                      <m:sup>
                        <m:r>
                          <a:rPr lang="en-IN" sz="2400" i="1">
                            <a:solidFill>
                              <a:srgbClr val="78350F"/>
                            </a:solidFill>
                            <a:latin typeface="Cambria Math" panose="02040503050406030204" pitchFamily="18" charset="0"/>
                          </a:rPr>
                          <m:t>4</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α</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sup>
                    </m:sSup>
                  </m:oMath>
                </a14:m>
                <a:r>
                  <a:rPr sz="2400" b="0">
                    <a:solidFill>
                      <a:srgbClr val="78350F"/>
                    </a:solidFill>
                    <a:latin typeface="Arial"/>
                  </a:rPr>
                  <a:t>, and the ratio factors as </a:t>
                </a:r>
                <a14:m>
                  <m:oMath xmlns:m="http://schemas.openxmlformats.org/officeDocument/2006/math">
                    <m:sSup>
                      <m:e>
                        <m:r>
                          <a:rPr lang="en-IN" sz="2400" i="1">
                            <a:solidFill>
                              <a:srgbClr val="78350F"/>
                            </a:solidFill>
                            <a:latin typeface="Cambria Math" panose="02040503050406030204" pitchFamily="18" charset="0"/>
                          </a:rPr>
                          <m:t>α</m:t>
                        </m:r>
                      </m:e>
                      <m:sup>
                        <m:r>
                          <a:rPr lang="en-IN" sz="2400" i="1">
                            <a:solidFill>
                              <a:srgbClr val="78350F"/>
                            </a:solidFill>
                            <a:latin typeface="Cambria Math" panose="02040503050406030204" pitchFamily="18" charset="0"/>
                          </a:rPr>
                          <m:t>4</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α</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Each root satisfies </a:t>
                </a:r>
                <a:r>
                  <a:rPr lang="en-IN" sz="2400">
                    <a:solidFill>
                      <a:srgbClr val="78350F"/>
                    </a:solidFill>
                    <a:latin typeface="Cambria Math" panose="02040503050406030204" pitchFamily="18" charset="0"/>
                  </a:rPr>
                  <a:t>$\alpha-\frac i\alpha=\frac32$</a:t>
                </a:r>
                <a:r>
                  <a:rPr sz="2400" b="0">
                    <a:solidFill>
                      <a:srgbClr val="78350F"/>
                    </a:solidFill>
                    <a:latin typeface="Arial"/>
                  </a:rPr>
                  <a:t>, which yields </a:t>
                </a:r>
                <a:r>
                  <a:rPr lang="en-IN" sz="2400">
                    <a:solidFill>
                      <a:srgbClr val="78350F"/>
                    </a:solidFill>
                    <a:latin typeface="Cambria Math" panose="02040503050406030204" pitchFamily="18" charset="0"/>
                  </a:rPr>
                  <a:t>$\alpha^4+\alpha^{-4}$</a:t>
                </a:r>
                <a:r>
                  <a:rPr sz="2400" b="0">
                    <a:solidFill>
                      <a:srgbClr val="78350F"/>
                    </a:solidFill>
                    <a:latin typeface="Arial"/>
                  </a:rPr>
                  <a:t>, and the ratio factors as </a:t>
                </a:r>
                <a:r>
                  <a:rPr lang="en-IN" sz="2400">
                    <a:solidFill>
                      <a:srgbClr val="78350F"/>
                    </a:solidFill>
                    <a:latin typeface="Cambria Math" panose="02040503050406030204" pitchFamily="18" charset="0"/>
                  </a:rPr>
                  <a:t>$\alpha^{4}+\alpha^{-4}$</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is a root of </a:t>
                </a:r>
                <a14:m>
                  <m:oMath xmlns:m="http://schemas.openxmlformats.org/officeDocument/2006/math">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𝑧</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α</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Dividing by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𝑖</m:t>
                        </m:r>
                      </m:num>
                      <m:den>
                        <m:r>
                          <a:rPr lang="en-IN" sz="2400" i="1">
                            <a:solidFill>
                              <a:srgbClr val="111827"/>
                            </a:solidFill>
                            <a:latin typeface="Cambria Math" panose="02040503050406030204" pitchFamily="18" charset="0"/>
                          </a:rPr>
                          <m:t>α</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Squaring: </a:t>
                </a:r>
                <a14:m>
                  <m:oMath xmlns:m="http://schemas.openxmlformats.org/officeDocument/2006/math">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𝑖</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Squaring again: </a:t>
                </a:r>
                <a14:m>
                  <m:oMath xmlns:m="http://schemas.openxmlformats.org/officeDocument/2006/math">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4</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81</m:t>
                        </m:r>
                      </m:num>
                      <m:den>
                        <m:r>
                          <a:rPr lang="en-IN" sz="2400" i="1">
                            <a:solidFill>
                              <a:srgbClr val="111827"/>
                            </a:solidFill>
                            <a:latin typeface="Cambria Math" panose="02040503050406030204" pitchFamily="18" charset="0"/>
                          </a:rPr>
                          <m:t>16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𝑖</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4</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num>
                      <m:den>
                        <m:r>
                          <a:rPr lang="en-IN" sz="2400" i="1">
                            <a:solidFill>
                              <a:srgbClr val="111827"/>
                            </a:solidFill>
                            <a:latin typeface="Cambria Math" panose="02040503050406030204" pitchFamily="18" charset="0"/>
                          </a:rPr>
                          <m:t>16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49</m:t>
                        </m:r>
                      </m:num>
                      <m:den>
                        <m:r>
                          <a:rPr lang="en-IN" sz="2400" i="1">
                            <a:solidFill>
                              <a:srgbClr val="111827"/>
                            </a:solidFill>
                            <a:latin typeface="Cambria Math" panose="02040503050406030204" pitchFamily="18" charset="0"/>
                          </a:rPr>
                          <m:t>16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𝑖</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a:t>
                </a:r>
                <a:r>
                  <a:rPr sz="2400" b="0">
                    <a:solidFill>
                      <a:srgbClr val="111827"/>
                    </a:solidFill>
                    <a:latin typeface="Arial"/>
                  </a:rPr>
                  <a:t> is a root of </a:t>
                </a:r>
                <a:r>
                  <a:rPr lang="en-IN" sz="2400">
                    <a:solidFill>
                      <a:srgbClr val="111827"/>
                    </a:solidFill>
                    <a:latin typeface="Cambria Math" panose="02040503050406030204" pitchFamily="18" charset="0"/>
                  </a:rPr>
                  <a:t>$2z^2-3z-2i=0$</a:t>
                </a:r>
                <a:r>
                  <a:rPr sz="2400" b="0">
                    <a:solidFill>
                      <a:srgbClr val="111827"/>
                    </a:solidFill>
                    <a:latin typeface="Arial"/>
                  </a:rPr>
                  <a:t>, so </a:t>
                </a:r>
                <a:r>
                  <a:rPr lang="en-IN" sz="2400">
                    <a:solidFill>
                      <a:srgbClr val="111827"/>
                    </a:solidFill>
                    <a:latin typeface="Cambria Math" panose="02040503050406030204" pitchFamily="18" charset="0"/>
                  </a:rPr>
                  <a:t>$2\alpha^2-3\alpha-2i=0$</a:t>
                </a:r>
                <a:r>
                  <a:rPr sz="2400" b="0">
                    <a:solidFill>
                      <a:srgbClr val="111827"/>
                    </a:solidFill>
                    <a:latin typeface="Arial"/>
                  </a:rPr>
                  <a:t>, i.e. </a:t>
                </a:r>
                <a:r>
                  <a:rPr lang="en-IN" sz="2400">
                    <a:solidFill>
                      <a:srgbClr val="111827"/>
                    </a:solidFill>
                    <a:latin typeface="Cambria Math" panose="02040503050406030204" pitchFamily="18" charset="0"/>
                  </a:rPr>
                  <a:t>$2\alpha^2-2i=3\alpha$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Dividing by </a:t>
                </a:r>
                <a:r>
                  <a:rPr lang="en-IN" sz="2400">
                    <a:solidFill>
                      <a:srgbClr val="111827"/>
                    </a:solidFill>
                    <a:latin typeface="Cambria Math" panose="02040503050406030204" pitchFamily="18" charset="0"/>
                  </a:rPr>
                  <a:t>$2\alpha$</a:t>
                </a:r>
                <a:r>
                  <a:rPr sz="2400" b="0">
                    <a:solidFill>
                      <a:srgbClr val="111827"/>
                    </a:solidFill>
                    <a:latin typeface="Arial"/>
                  </a:rPr>
                  <a:t>: </a:t>
                </a:r>
                <a:r>
                  <a:rPr lang="en-IN" sz="2400">
                    <a:solidFill>
                      <a:srgbClr val="111827"/>
                    </a:solidFill>
                    <a:latin typeface="Cambria Math" panose="02040503050406030204" pitchFamily="18" charset="0"/>
                  </a:rPr>
                  <a:t>$\alpha-\frac i\alpha=\frac32$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Squaring: </a:t>
                </a:r>
                <a:r>
                  <a:rPr lang="en-IN" sz="2400">
                    <a:solidFill>
                      <a:srgbClr val="111827"/>
                    </a:solidFill>
                    <a:latin typeface="Cambria Math" panose="02040503050406030204" pitchFamily="18" charset="0"/>
                  </a:rPr>
                  <a:t>$\alpha^2-2i-\frac1{\alpha^2}=\frac94$</a:t>
                </a:r>
                <a:r>
                  <a:rPr sz="2400" b="0">
                    <a:solidFill>
                      <a:srgbClr val="111827"/>
                    </a:solidFill>
                    <a:latin typeface="Arial"/>
                  </a:rPr>
                  <a:t>, so </a:t>
                </a:r>
                <a:r>
                  <a:rPr lang="en-IN" sz="2400">
                    <a:solidFill>
                      <a:srgbClr val="111827"/>
                    </a:solidFill>
                    <a:latin typeface="Cambria Math" panose="02040503050406030204" pitchFamily="18" charset="0"/>
                  </a:rPr>
                  <a:t>$\alpha^2-\frac1{\alpha^2}=\frac94+2i$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Squaring again: </a:t>
                </a:r>
                <a:r>
                  <a:rPr lang="en-IN" sz="2400">
                    <a:solidFill>
                      <a:srgbClr val="111827"/>
                    </a:solidFill>
                    <a:latin typeface="Cambria Math" panose="02040503050406030204" pitchFamily="18" charset="0"/>
                  </a:rPr>
                  <a:t>$\alpha^4+\frac1{\alpha^4}-2=\frac{81}{16}-4+9i$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$\alpha^4+\frac1{\alpha^4}=\frac{81-32}{16}+9i=\frac{49}{16}+9i$</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Similarly </a:t>
                </a:r>
                <a14:m>
                  <m:oMath xmlns:m="http://schemas.openxmlformats.org/officeDocument/2006/math">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4</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49</m:t>
                        </m:r>
                      </m:num>
                      <m:den>
                        <m:r>
                          <a:rPr lang="en-IN" sz="2400" i="1">
                            <a:solidFill>
                              <a:srgbClr val="111827"/>
                            </a:solidFill>
                            <a:latin typeface="Cambria Math" panose="02040503050406030204" pitchFamily="18" charset="0"/>
                          </a:rPr>
                          <m:t>16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𝑖</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Now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19</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19</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11</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11</m:t>
                            </m:r>
                          </m:sup>
                        </m:sSup>
                      </m:num>
                      <m:den>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15</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15</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15</m:t>
                            </m:r>
                          </m:sup>
                        </m:sSup>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4</m:t>
                                    </m:r>
                                  </m:sup>
                                </m:sSup>
                              </m:den>
                            </m:f>
                          </m:e>
                        </m:d>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15</m:t>
                            </m:r>
                          </m:sup>
                        </m:sSup>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4</m:t>
                                    </m:r>
                                  </m:sup>
                                </m:sSup>
                              </m:den>
                            </m:f>
                          </m:e>
                        </m:d>
                      </m:num>
                      <m:den>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15</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15</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49</m:t>
                                </m:r>
                              </m:num>
                              <m:den>
                                <m:r>
                                  <a:rPr lang="en-IN" sz="2400" i="1">
                                    <a:solidFill>
                                      <a:srgbClr val="111827"/>
                                    </a:solidFill>
                                    <a:latin typeface="Cambria Math" panose="02040503050406030204" pitchFamily="18" charset="0"/>
                                  </a:rPr>
                                  <m:t>16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𝑖</m:t>
                            </m:r>
                          </m:e>
                        </m:d>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15</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15</m:t>
                                </m:r>
                              </m:sup>
                            </m:sSup>
                          </m:e>
                        </m:d>
                      </m:num>
                      <m:den>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15</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15</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49</m:t>
                        </m:r>
                      </m:num>
                      <m:den>
                        <m:r>
                          <a:rPr lang="en-IN" sz="2400" i="1">
                            <a:solidFill>
                              <a:srgbClr val="111827"/>
                            </a:solidFill>
                            <a:latin typeface="Cambria Math" panose="02040503050406030204" pitchFamily="18" charset="0"/>
                          </a:rPr>
                          <m:t>16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𝑖</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required value is </a:t>
                </a:r>
                <a14:m>
                  <m:oMath xmlns:m="http://schemas.openxmlformats.org/officeDocument/2006/math">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49</m:t>
                        </m:r>
                      </m:num>
                      <m:den>
                        <m:r>
                          <a:rPr lang="en-IN" sz="2400" i="1">
                            <a:solidFill>
                              <a:srgbClr val="111827"/>
                            </a:solidFill>
                            <a:latin typeface="Cambria Math" panose="02040503050406030204" pitchFamily="18" charset="0"/>
                          </a:rPr>
                          <m:t>16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441</m:t>
                    </m:r>
                  </m:oMath>
                </a14:m>
                <a:r>
                  <a:rPr sz="2400" b="0">
                    <a:solidFill>
                      <a:srgbClr val="111827"/>
                    </a:solidFill>
                    <a:latin typeface="Arial"/>
                  </a:rPr>
                  <a:t>,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Similarly </a:t>
                </a:r>
                <a:r>
                  <a:rPr lang="en-IN" sz="2400">
                    <a:solidFill>
                      <a:srgbClr val="111827"/>
                    </a:solidFill>
                    <a:latin typeface="Cambria Math" panose="02040503050406030204" pitchFamily="18" charset="0"/>
                  </a:rPr>
                  <a:t>$\beta^4+\frac1{\beta^4}=\frac{49}{16}+9i$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Now </a:t>
                </a:r>
                <a:r>
                  <a:rPr lang="en-IN" sz="2400">
                    <a:solidFill>
                      <a:srgbClr val="111827"/>
                    </a:solidFill>
                    <a:latin typeface="Cambria Math" panose="02040503050406030204" pitchFamily="18" charset="0"/>
                  </a:rPr>
                  <a:t>$\frac{\alpha^{19}+\beta^{19}+\alpha^{11}+\beta^{11}}{\alpha^{15}+\beta^{15}}=\frac{\alpha^{15}\left(\alpha^4+\frac1{\alpha^4}\right)+\beta^{15}\left(\beta^4+\frac1{\beta^4}\right)}{\alpha^{15}+\beta^{15}}$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$=\frac{\left(\frac{49}{16}+9i\right)\left(\alpha^{15}+\beta^{15}\right)}{\alpha^{15}+\beta^{15}}=\frac{49}{16}+9i$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required value is </a:t>
                </a:r>
                <a:r>
                  <a:rPr lang="en-IN" sz="2400">
                    <a:solidFill>
                      <a:srgbClr val="111827"/>
                    </a:solidFill>
                    <a:latin typeface="Cambria Math" panose="02040503050406030204" pitchFamily="18" charset="0"/>
                  </a:rPr>
                  <a:t>$16\cdot\frac{49}{16}\cdot9=441$</a:t>
                </a:r>
                <a:r>
                  <a:rPr sz="2400" b="0">
                    <a:solidFill>
                      <a:srgbClr val="111827"/>
                    </a:solidFill>
                    <a:latin typeface="Arial"/>
                  </a:rPr>
                  <a:t>, option (C).</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441</a:t>
            </a:r>
            <a:endParaRPr sz="2800">
              <a:solidFill>
                <a:srgbClr val="15803D"/>
              </a:solidFill>
            </a:endParaRP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Since </a:t>
                </a:r>
                <a14:m>
                  <m:oMath xmlns:m="http://schemas.openxmlformats.org/officeDocument/2006/math">
                    <m:r>
                      <a:rPr lang="en-IN" sz="2400" i="1">
                        <a:solidFill>
                          <a:srgbClr val="78350F"/>
                        </a:solidFill>
                        <a:latin typeface="Cambria Math" panose="02040503050406030204" pitchFamily="18" charset="0"/>
                      </a:rPr>
                      <m:t>α</m:t>
                    </m:r>
                    <m:r>
                      <a:rPr lang="en-IN" sz="2400" i="1">
                        <a:solidFill>
                          <a:srgbClr val="78350F"/>
                        </a:solidFill>
                        <a:latin typeface="Cambria Math" panose="02040503050406030204" pitchFamily="18" charset="0"/>
                      </a:rPr>
                      <m:t>β</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𝑖</m:t>
                    </m:r>
                  </m:oMath>
                </a14:m>
                <a:r>
                  <a:rPr sz="2400" b="0">
                    <a:solidFill>
                      <a:srgbClr val="78350F"/>
                    </a:solidFill>
                    <a:latin typeface="Arial"/>
                  </a:rPr>
                  <a:t> we have </a:t>
                </a:r>
                <a14:m>
                  <m:oMath xmlns:m="http://schemas.openxmlformats.org/officeDocument/2006/math">
                    <m:sSup>
                      <m:e>
                        <m:r>
                          <a:rPr lang="en-IN" sz="2400" i="1">
                            <a:solidFill>
                              <a:srgbClr val="78350F"/>
                            </a:solidFill>
                            <a:latin typeface="Cambria Math" panose="02040503050406030204" pitchFamily="18" charset="0"/>
                          </a:rPr>
                          <m:t>β</m:t>
                        </m:r>
                      </m:e>
                      <m:sup>
                        <m:r>
                          <a:rPr lang="en-IN" sz="2400" i="1">
                            <a:solidFill>
                              <a:srgbClr val="78350F"/>
                            </a:solidFill>
                            <a:latin typeface="Cambria Math" panose="02040503050406030204" pitchFamily="18" charset="0"/>
                          </a:rPr>
                          <m:t>4</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α</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sup>
                    </m:sSup>
                  </m:oMath>
                </a14:m>
                <a:r>
                  <a:rPr sz="2400" b="0">
                    <a:solidFill>
                      <a:srgbClr val="78350F"/>
                    </a:solidFill>
                    <a:latin typeface="Arial"/>
                  </a:rPr>
                  <a:t>, so the ratio equals </a:t>
                </a:r>
                <a14:m>
                  <m:oMath xmlns:m="http://schemas.openxmlformats.org/officeDocument/2006/math">
                    <m:sSup>
                      <m:e>
                        <m:r>
                          <a:rPr lang="en-IN" sz="2400" i="1">
                            <a:solidFill>
                              <a:srgbClr val="78350F"/>
                            </a:solidFill>
                            <a:latin typeface="Cambria Math" panose="02040503050406030204" pitchFamily="18" charset="0"/>
                          </a:rPr>
                          <m:t>α</m:t>
                        </m:r>
                      </m:e>
                      <m:sup>
                        <m:r>
                          <a:rPr lang="en-IN" sz="2400" i="1">
                            <a:solidFill>
                              <a:srgbClr val="78350F"/>
                            </a:solidFill>
                            <a:latin typeface="Cambria Math" panose="02040503050406030204" pitchFamily="18" charset="0"/>
                          </a:rPr>
                          <m:t>4</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β</m:t>
                        </m:r>
                      </m:e>
                      <m:sup>
                        <m:r>
                          <a:rPr lang="en-IN" sz="2400" i="1">
                            <a:solidFill>
                              <a:srgbClr val="78350F"/>
                            </a:solidFill>
                            <a:latin typeface="Cambria Math" panose="02040503050406030204" pitchFamily="18" charset="0"/>
                          </a:rPr>
                          <m:t>4</m:t>
                        </m:r>
                      </m:sup>
                    </m:sSup>
                  </m:oMath>
                </a14:m>
                <a:r>
                  <a:rPr sz="2400" b="0">
                    <a:solidFill>
                      <a:srgbClr val="78350F"/>
                    </a:solidFill>
                    <a:latin typeface="Arial"/>
                  </a:rPr>
                  <a:t>, found by Newton's identities.</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Since </a:t>
                </a:r>
                <a:r>
                  <a:rPr lang="en-IN" sz="2400">
                    <a:solidFill>
                      <a:srgbClr val="78350F"/>
                    </a:solidFill>
                    <a:latin typeface="Cambria Math" panose="02040503050406030204" pitchFamily="18" charset="0"/>
                  </a:rPr>
                  <a:t>$\alpha\beta=-i$</a:t>
                </a:r>
                <a:r>
                  <a:rPr sz="2400" b="0">
                    <a:solidFill>
                      <a:srgbClr val="78350F"/>
                    </a:solidFill>
                    <a:latin typeface="Arial"/>
                  </a:rPr>
                  <a:t> we have </a:t>
                </a:r>
                <a:r>
                  <a:rPr lang="en-IN" sz="2400">
                    <a:solidFill>
                      <a:srgbClr val="78350F"/>
                    </a:solidFill>
                    <a:latin typeface="Cambria Math" panose="02040503050406030204" pitchFamily="18" charset="0"/>
                  </a:rPr>
                  <a:t>$\beta^4=\alpha^{-4}$</a:t>
                </a:r>
                <a:r>
                  <a:rPr sz="2400" b="0">
                    <a:solidFill>
                      <a:srgbClr val="78350F"/>
                    </a:solidFill>
                    <a:latin typeface="Arial"/>
                  </a:rPr>
                  <a:t>, so the ratio equals </a:t>
                </a:r>
                <a:r>
                  <a:rPr lang="en-IN" sz="2400">
                    <a:solidFill>
                      <a:srgbClr val="78350F"/>
                    </a:solidFill>
                    <a:latin typeface="Cambria Math" panose="02040503050406030204" pitchFamily="18" charset="0"/>
                  </a:rPr>
                  <a:t>$\alpha^4+\beta^4$</a:t>
                </a:r>
                <a:r>
                  <a:rPr sz="2400" b="0">
                    <a:solidFill>
                      <a:srgbClr val="78350F"/>
                    </a:solidFill>
                    <a:latin typeface="Arial"/>
                  </a:rPr>
                  <a:t>, found by Newton's identities.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𝑧</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num>
                      <m:den>
                        <m:r>
                          <a:rPr lang="en-IN" sz="2400" i="1">
                            <a:solidFill>
                              <a:srgbClr val="111827"/>
                            </a:solidFill>
                            <a:latin typeface="Cambria Math" panose="02040503050406030204" pitchFamily="18" charset="0"/>
                          </a:rPr>
                          <m:t>α</m:t>
                        </m:r>
                      </m:den>
                    </m:f>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num>
                      <m:den>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4</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4</m:t>
                            </m:r>
                          </m:sup>
                        </m:sSup>
                      </m:den>
                    </m:f>
                  </m:oMath>
                </a14:m>
                <a:r>
                  <a:rPr sz="2400" b="0">
                    <a:solidFill>
                      <a:srgbClr val="111827"/>
                    </a:solidFill>
                    <a:latin typeface="Arial"/>
                  </a:rPr>
                  <a:t> and also </a:t>
                </a:r>
                <a14:m>
                  <m:oMath xmlns:m="http://schemas.openxmlformats.org/officeDocument/2006/math">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4</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19</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11</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15</m:t>
                        </m:r>
                      </m:sup>
                    </m:sSup>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4</m:t>
                            </m:r>
                          </m:sup>
                        </m:sSup>
                      </m:e>
                    </m:d>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19</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11</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15</m:t>
                        </m:r>
                      </m:sup>
                    </m:sSup>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4</m:t>
                            </m:r>
                          </m:sup>
                        </m:sSup>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fraction equals </a:t>
                </a:r>
                <a14:m>
                  <m:oMath xmlns:m="http://schemas.openxmlformats.org/officeDocument/2006/math">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4</m:t>
                        </m:r>
                      </m:sup>
                    </m:sSup>
                  </m:oMath>
                </a14:m>
                <a:r>
                  <a:rPr sz="2400" b="0">
                    <a:solidFill>
                      <a:srgbClr val="111827"/>
                    </a:solidFill>
                    <a:latin typeface="Arial"/>
                  </a:rPr>
                  <a:t> (valid while </a:t>
                </a:r>
                <a14:m>
                  <m:oMath xmlns:m="http://schemas.openxmlformats.org/officeDocument/2006/math">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15</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15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$2z^2-3z-2i=0$</a:t>
                </a:r>
                <a:r>
                  <a:rPr sz="2400" b="0">
                    <a:solidFill>
                      <a:srgbClr val="111827"/>
                    </a:solidFill>
                    <a:latin typeface="Arial"/>
                  </a:rPr>
                  <a:t>: </a:t>
                </a:r>
                <a:r>
                  <a:rPr lang="en-IN" sz="2400">
                    <a:solidFill>
                      <a:srgbClr val="111827"/>
                    </a:solidFill>
                    <a:latin typeface="Cambria Math" panose="02040503050406030204" pitchFamily="18" charset="0"/>
                  </a:rPr>
                  <a:t>$\alpha+\beta=\frac32$</a:t>
                </a:r>
                <a:r>
                  <a:rPr sz="2400" b="0">
                    <a:solidFill>
                      <a:srgbClr val="111827"/>
                    </a:solidFill>
                    <a:latin typeface="Arial"/>
                  </a:rPr>
                  <a:t> and </a:t>
                </a:r>
                <a:r>
                  <a:rPr lang="en-IN" sz="2400">
                    <a:solidFill>
                      <a:srgbClr val="111827"/>
                    </a:solidFill>
                    <a:latin typeface="Cambria Math" panose="02040503050406030204" pitchFamily="18" charset="0"/>
                  </a:rPr>
                  <a:t>$\alpha\beta=-i$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$\beta=\frac{-i}{\alpha}$</a:t>
                </a:r>
                <a:r>
                  <a:rPr sz="2400" b="0">
                    <a:solidFill>
                      <a:srgbClr val="111827"/>
                    </a:solidFill>
                    <a:latin typeface="Arial"/>
                  </a:rPr>
                  <a:t>, so </a:t>
                </a:r>
                <a:r>
                  <a:rPr lang="en-IN" sz="2400">
                    <a:solidFill>
                      <a:srgbClr val="111827"/>
                    </a:solidFill>
                    <a:latin typeface="Cambria Math" panose="02040503050406030204" pitchFamily="18" charset="0"/>
                  </a:rPr>
                  <a:t>$\beta^4=\frac{(-i)^4}{\alpha^4}=\frac1{\alpha^4}$</a:t>
                </a:r>
                <a:r>
                  <a:rPr sz="2400" b="0">
                    <a:solidFill>
                      <a:srgbClr val="111827"/>
                    </a:solidFill>
                    <a:latin typeface="Arial"/>
                  </a:rPr>
                  <a:t> and also </a:t>
                </a:r>
                <a:r>
                  <a:rPr lang="en-IN" sz="2400">
                    <a:solidFill>
                      <a:srgbClr val="111827"/>
                    </a:solidFill>
                    <a:latin typeface="Cambria Math" panose="02040503050406030204" pitchFamily="18" charset="0"/>
                  </a:rPr>
                  <a:t>$\alpha^4=\frac1{\beta^4}$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$\alpha^{19}+\alpha^{11}=\alpha^{15}\left(\alpha^4+\beta^4\right)$</a:t>
                </a:r>
                <a:r>
                  <a:rPr sz="2400" b="0">
                    <a:solidFill>
                      <a:srgbClr val="111827"/>
                    </a:solidFill>
                    <a:latin typeface="Arial"/>
                  </a:rPr>
                  <a:t> and </a:t>
                </a:r>
                <a:r>
                  <a:rPr lang="en-IN" sz="2400">
                    <a:solidFill>
                      <a:srgbClr val="111827"/>
                    </a:solidFill>
                    <a:latin typeface="Cambria Math" panose="02040503050406030204" pitchFamily="18" charset="0"/>
                  </a:rPr>
                  <a:t>$\beta^{19}+\beta^{11}=\beta^{15}\left(\beta^4+\alpha^4\right)$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fraction equals </a:t>
                </a:r>
                <a:r>
                  <a:rPr lang="en-IN" sz="2400">
                    <a:solidFill>
                      <a:srgbClr val="111827"/>
                    </a:solidFill>
                    <a:latin typeface="Cambria Math" panose="02040503050406030204" pitchFamily="18" charset="0"/>
                  </a:rPr>
                  <a:t>$\alpha^4+\beta^4$</a:t>
                </a:r>
                <a:r>
                  <a:rPr sz="2400" b="0">
                    <a:solidFill>
                      <a:srgbClr val="111827"/>
                    </a:solidFill>
                    <a:latin typeface="Arial"/>
                  </a:rPr>
                  <a:t> (valid while </a:t>
                </a:r>
                <a:r>
                  <a:rPr lang="en-IN" sz="2400">
                    <a:solidFill>
                      <a:srgbClr val="111827"/>
                    </a:solidFill>
                    <a:latin typeface="Cambria Math" panose="02040503050406030204" pitchFamily="18" charset="0"/>
                  </a:rPr>
                  <a:t>$\alpha^{15}+\beta^{15}\ne0$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𝑖</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2</m:t>
                                </m:r>
                              </m:sup>
                            </m:sSup>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β</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81</m:t>
                            </m:r>
                          </m:num>
                          <m:den>
                            <m:r>
                              <a:rPr lang="en-IN" sz="2400" i="1">
                                <a:solidFill>
                                  <a:srgbClr val="111827"/>
                                </a:solidFill>
                                <a:latin typeface="Cambria Math" panose="02040503050406030204" pitchFamily="18" charset="0"/>
                              </a:rPr>
                              <m:t>16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𝑖</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49</m:t>
                        </m:r>
                      </m:num>
                      <m:den>
                        <m:r>
                          <a:rPr lang="en-IN" sz="2400" i="1">
                            <a:solidFill>
                              <a:srgbClr val="111827"/>
                            </a:solidFill>
                            <a:latin typeface="Cambria Math" panose="02040503050406030204" pitchFamily="18" charset="0"/>
                          </a:rPr>
                          <m:t>16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𝑖</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49</m:t>
                        </m:r>
                      </m:num>
                      <m:den>
                        <m:r>
                          <a:rPr lang="en-IN" sz="2400" i="1">
                            <a:solidFill>
                              <a:srgbClr val="111827"/>
                            </a:solidFill>
                            <a:latin typeface="Cambria Math" panose="02040503050406030204" pitchFamily="18" charset="0"/>
                          </a:rPr>
                          <m:t>16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441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$\alpha^2+\beta^2=(\alpha+\beta)^2-2\alpha\beta=\frac94+2i$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$\alpha^4+\beta^4=\left(\alpha^2+\beta^2\right)^2-2(\alpha\beta)^2=\left(\frac{81}{16}-4+9i\right)-2(-1)=\frac{49}{16}+9i$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$16\cdot\frac{49}{16}\cdot9=441$</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441</a:t>
            </a:r>
            <a:endParaRPr sz="2800">
              <a:solidFill>
                <a:srgbClr val="15803D"/>
              </a:solidFill>
            </a:endParaRP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with </a:t>
                </a:r>
                <a14:m>
                  <m:oMath xmlns:m="http://schemas.openxmlformats.org/officeDocument/2006/math">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oMath>
                </a14:m>
                <a:r>
                  <a:rPr sz="2400" b="0">
                    <a:solidFill>
                      <a:srgbClr val="111827"/>
                    </a:solidFill>
                    <a:latin typeface="Arial"/>
                  </a:rPr>
                  <a:t>), then </a:t>
                </a:r>
                <a14:m>
                  <m:oMath xmlns:m="http://schemas.openxmlformats.org/officeDocument/2006/math">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α</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p>
                    </m:sSup>
                  </m:oMath>
                </a14:m>
                <a:r>
                  <a:rPr sz="2400" b="0">
                    <a:solidFill>
                      <a:srgbClr val="111827"/>
                    </a:solidFill>
                    <a:latin typeface="Arial"/>
                  </a:rPr>
                  <a:t>: powers </a:t>
                </a:r>
                <a14:m>
                  <m:oMath xmlns:m="http://schemas.openxmlformats.org/officeDocument/2006/math">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p>
                    </m:sSup>
                  </m:oMath>
                </a14:m>
                <a:r>
                  <a:rPr sz="2400" b="0">
                    <a:solidFill>
                      <a:srgbClr val="111827"/>
                    </a:solidFill>
                    <a:latin typeface="Arial"/>
                  </a:rPr>
                  <a:t> can be grouped as </a:t>
                </a:r>
                <a14:m>
                  <m:oMath xmlns:m="http://schemas.openxmlformats.org/officeDocument/2006/math">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𝑘</m:t>
                        </m:r>
                      </m:sup>
                    </m:sSup>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α</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p>
                        </m:sSup>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Newton's sums for a quadratic: </a:t>
                </a:r>
                <a14:m>
                  <m:oMath xmlns:m="http://schemas.openxmlformats.org/officeDocument/2006/math">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𝑠</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𝑒</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β</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ratio </a:t>
                </a:r>
                <a14:m>
                  <m:oMath xmlns:m="http://schemas.openxmlformats.org/officeDocument/2006/math">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α</m:t>
                            </m:r>
                          </m:sub>
                        </m:sSub>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β</m:t>
                            </m:r>
                          </m:sub>
                        </m:sSub>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den>
                    </m:f>
                  </m:oMath>
                </a14:m>
                <a:r>
                  <a:rPr sz="2400" b="0">
                    <a:solidFill>
                      <a:srgbClr val="111827"/>
                    </a:solidFill>
                    <a:latin typeface="Arial"/>
                  </a:rPr>
                  <a:t> with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α</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β</m:t>
                        </m:r>
                      </m:sub>
                    </m:sSub>
                  </m:oMath>
                </a14:m>
                <a:r>
                  <a:rPr sz="2400" b="0">
                    <a:solidFill>
                      <a:srgbClr val="111827"/>
                    </a:solidFill>
                    <a:latin typeface="Arial"/>
                  </a:rPr>
                  <a:t> collapses to the common value; check the denominator is non-zero (here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15</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15</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$\alpha\beta=c$</a:t>
                </a:r>
                <a:r>
                  <a:rPr sz="2400" b="0">
                    <a:solidFill>
                      <a:srgbClr val="111827"/>
                    </a:solidFill>
                    <a:latin typeface="Arial"/>
                  </a:rPr>
                  <a:t> with </a:t>
                </a:r>
                <a:r>
                  <a:rPr lang="en-IN" sz="2400">
                    <a:solidFill>
                      <a:srgbClr val="111827"/>
                    </a:solidFill>
                    <a:latin typeface="Cambria Math" panose="02040503050406030204" pitchFamily="18" charset="0"/>
                  </a:rPr>
                  <a:t>$c^4=1$</a:t>
                </a:r>
                <a:r>
                  <a:rPr sz="2400" b="0">
                    <a:solidFill>
                      <a:srgbClr val="111827"/>
                    </a:solidFill>
                    <a:latin typeface="Arial"/>
                  </a:rPr>
                  <a:t> (here </a:t>
                </a:r>
                <a:r>
                  <a:rPr lang="en-IN" sz="2400">
                    <a:solidFill>
                      <a:srgbClr val="111827"/>
                    </a:solidFill>
                    <a:latin typeface="Cambria Math" panose="02040503050406030204" pitchFamily="18" charset="0"/>
                  </a:rPr>
                  <a:t>$c=-i$</a:t>
                </a:r>
                <a:r>
                  <a:rPr sz="2400" b="0">
                    <a:solidFill>
                      <a:srgbClr val="111827"/>
                    </a:solidFill>
                    <a:latin typeface="Arial"/>
                  </a:rPr>
                  <a:t>), then </a:t>
                </a:r>
                <a:r>
                  <a:rPr lang="en-IN" sz="2400">
                    <a:solidFill>
                      <a:srgbClr val="111827"/>
                    </a:solidFill>
                    <a:latin typeface="Cambria Math" panose="02040503050406030204" pitchFamily="18" charset="0"/>
                  </a:rPr>
                  <a:t>$\beta^4=\alpha^{-4}$</a:t>
                </a:r>
                <a:r>
                  <a:rPr sz="2400" b="0">
                    <a:solidFill>
                      <a:srgbClr val="111827"/>
                    </a:solidFill>
                    <a:latin typeface="Arial"/>
                  </a:rPr>
                  <a:t>: powers </a:t>
                </a:r>
                <a:r>
                  <a:rPr lang="en-IN" sz="2400">
                    <a:solidFill>
                      <a:srgbClr val="111827"/>
                    </a:solidFill>
                    <a:latin typeface="Cambria Math" panose="02040503050406030204" pitchFamily="18" charset="0"/>
                  </a:rPr>
                  <a:t>$\alpha^{k+4}+\alpha^{k-4}$</a:t>
                </a:r>
                <a:r>
                  <a:rPr sz="2400" b="0">
                    <a:solidFill>
                      <a:srgbClr val="111827"/>
                    </a:solidFill>
                    <a:latin typeface="Arial"/>
                  </a:rPr>
                  <a:t> can be grouped as </a:t>
                </a:r>
                <a:r>
                  <a:rPr lang="en-IN" sz="2400">
                    <a:solidFill>
                      <a:srgbClr val="111827"/>
                    </a:solidFill>
                    <a:latin typeface="Cambria Math" panose="02040503050406030204" pitchFamily="18" charset="0"/>
                  </a:rPr>
                  <a:t>$\alpha^k\left(\alpha^4+\alpha^{-4}\right)$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Newton's sums for a quadratic: </a:t>
                </a:r>
                <a:r>
                  <a:rPr lang="en-IN" sz="2400">
                    <a:solidFill>
                      <a:srgbClr val="111827"/>
                    </a:solidFill>
                    <a:latin typeface="Cambria Math" panose="02040503050406030204" pitchFamily="18" charset="0"/>
                  </a:rPr>
                  <a:t>$p_1=s$</a:t>
                </a:r>
                <a:r>
                  <a:rPr sz="2400" b="0">
                    <a:solidFill>
                      <a:srgbClr val="111827"/>
                    </a:solidFill>
                    <a:latin typeface="Arial"/>
                  </a:rPr>
                  <a:t>, </a:t>
                </a:r>
                <a:r>
                  <a:rPr lang="en-IN" sz="2400">
                    <a:solidFill>
                      <a:srgbClr val="111827"/>
                    </a:solidFill>
                    <a:latin typeface="Cambria Math" panose="02040503050406030204" pitchFamily="18" charset="0"/>
                  </a:rPr>
                  <a:t>$p_2=s^2-2e$</a:t>
                </a:r>
                <a:r>
                  <a:rPr sz="2400" b="0">
                    <a:solidFill>
                      <a:srgbClr val="111827"/>
                    </a:solidFill>
                    <a:latin typeface="Arial"/>
                  </a:rPr>
                  <a:t>, </a:t>
                </a:r>
                <a:r>
                  <a:rPr lang="en-IN" sz="2400">
                    <a:solidFill>
                      <a:srgbClr val="111827"/>
                    </a:solidFill>
                    <a:latin typeface="Cambria Math" panose="02040503050406030204" pitchFamily="18" charset="0"/>
                  </a:rPr>
                  <a:t>$p_4=p_2^2-2e^2$</a:t>
                </a:r>
                <a:r>
                  <a:rPr sz="2400" b="0">
                    <a:solidFill>
                      <a:srgbClr val="111827"/>
                    </a:solidFill>
                    <a:latin typeface="Arial"/>
                  </a:rPr>
                  <a:t> where </a:t>
                </a:r>
                <a:r>
                  <a:rPr lang="en-IN" sz="2400">
                    <a:solidFill>
                      <a:srgbClr val="111827"/>
                    </a:solidFill>
                    <a:latin typeface="Cambria Math" panose="02040503050406030204" pitchFamily="18" charset="0"/>
                  </a:rPr>
                  <a:t>$s=\alpha+\beta$</a:t>
                </a:r>
                <a:r>
                  <a:rPr sz="2400" b="0">
                    <a:solidFill>
                      <a:srgbClr val="111827"/>
                    </a:solidFill>
                    <a:latin typeface="Arial"/>
                  </a:rPr>
                  <a:t>, </a:t>
                </a:r>
                <a:r>
                  <a:rPr lang="en-IN" sz="2400">
                    <a:solidFill>
                      <a:srgbClr val="111827"/>
                    </a:solidFill>
                    <a:latin typeface="Cambria Math" panose="02040503050406030204" pitchFamily="18" charset="0"/>
                  </a:rPr>
                  <a:t>$e=\alpha\beta$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ratio </a:t>
                </a:r>
                <a:r>
                  <a:rPr lang="en-IN" sz="2400">
                    <a:solidFill>
                      <a:srgbClr val="111827"/>
                    </a:solidFill>
                    <a:latin typeface="Cambria Math" panose="02040503050406030204" pitchFamily="18" charset="0"/>
                  </a:rPr>
                  <a:t>$\frac{x_\alpha A+x_\beta B}{A+B}$</a:t>
                </a:r>
                <a:r>
                  <a:rPr sz="2400" b="0">
                    <a:solidFill>
                      <a:srgbClr val="111827"/>
                    </a:solidFill>
                    <a:latin typeface="Arial"/>
                  </a:rPr>
                  <a:t> with </a:t>
                </a:r>
                <a:r>
                  <a:rPr lang="en-IN" sz="2400">
                    <a:solidFill>
                      <a:srgbClr val="111827"/>
                    </a:solidFill>
                    <a:latin typeface="Cambria Math" panose="02040503050406030204" pitchFamily="18" charset="0"/>
                  </a:rPr>
                  <a:t>$x_\alpha=x_\beta$</a:t>
                </a:r>
                <a:r>
                  <a:rPr sz="2400" b="0">
                    <a:solidFill>
                      <a:srgbClr val="111827"/>
                    </a:solidFill>
                    <a:latin typeface="Arial"/>
                  </a:rPr>
                  <a:t> collapses to the common value; check the denominator is non-zero (here </a:t>
                </a:r>
                <a:r>
                  <a:rPr lang="en-IN" sz="2400">
                    <a:solidFill>
                      <a:srgbClr val="111827"/>
                    </a:solidFill>
                    <a:latin typeface="Cambria Math" panose="02040503050406030204" pitchFamily="18" charset="0"/>
                  </a:rPr>
                  <a:t>$|\alpha^{15}+\beta^{15}|\ne0$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(1/4)</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01</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02</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03</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04</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05</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bl>
          </a:graphicData>
        </a:graphic>
      </p:graphicFrame>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(2/4)</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06</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07</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08</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09</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10</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(3/4)</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11</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12</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13</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14</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15</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(4/4)</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16</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17</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18</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19</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20</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bl>
          </a:graphicData>
        </a:graphic>
      </p:graphicFrame>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a:t>
            </a:r>
            <a:endParaRPr sz="3200">
              <a:solidFill>
                <a:srgbClr val="FFFFFF"/>
              </a:solidFill>
            </a:endParaRPr>
          </a:p>
        </p:txBody>
      </p:sp>
      <p:sp>
        <p:nvSpPr>
          <p:cNvPr id="3" name="Rounded Rectangle 2"/>
          <p:cNvSpPr/>
          <p:nvPr/>
        </p:nvSpPr>
        <p:spPr>
          <a:xfrm>
            <a:off x="731520" y="1417320"/>
            <a:ext cx="4754880" cy="329184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37160" bIns="73152"/>
          <a:lstStyle>
            <a:lvl1pPr>
              <a:defRPr sz="3000">
                <a:solidFill>
                  <a:srgbClr val="0B1F3A"/>
                </a:solidFill>
              </a:defRPr>
            </a:lvl1pPr>
          </a:lstStyle>
          <a:p>
            <a:pPr algn="ctr">
              <a:defRPr sz="3000">
                <a:solidFill>
                  <a:srgbClr val="0B1F3A"/>
                </a:solidFill>
              </a:defRPr>
            </a:pPr>
            <a:r>
              <a:rPr sz="3000" b="1">
                <a:solidFill>
                  <a:srgbClr val="0B1F3A"/>
                </a:solidFill>
                <a:latin typeface="Arial"/>
              </a:rPr>
              <a:t>Difficulty Index</a:t>
            </a:r>
            <a:endParaRPr sz="3000">
              <a:solidFill>
                <a:srgbClr val="0B1F3A"/>
              </a:solidFill>
            </a:endParaRPr>
          </a:p>
          <a:p>
            <a:pPr algn="ctr">
              <a:defRPr sz="3000">
                <a:solidFill>
                  <a:srgbClr val="0B1F3A"/>
                </a:solidFill>
              </a:defRPr>
            </a:pPr>
            <a:r>
              <a:rPr sz="8800" b="1">
                <a:solidFill>
                  <a:srgbClr val="0B1F3A"/>
                </a:solidFill>
                <a:latin typeface="Arial"/>
              </a:rPr>
              <a:t>2.30</a:t>
            </a:r>
            <a:endParaRPr sz="3000">
              <a:solidFill>
                <a:srgbClr val="0B1F3A"/>
              </a:solidFill>
            </a:endParaRPr>
          </a:p>
          <a:p>
            <a:pPr algn="ctr">
              <a:defRPr sz="3000">
                <a:solidFill>
                  <a:srgbClr val="0B1F3A"/>
                </a:solidFill>
              </a:defRPr>
            </a:pPr>
            <a:r>
              <a:rPr sz="2400" b="0">
                <a:solidFill>
                  <a:srgbClr val="0B1F3A"/>
                </a:solidFill>
                <a:latin typeface="Arial"/>
              </a:rPr>
              <a:t>out of 5</a:t>
            </a:r>
            <a:endParaRPr sz="3000">
              <a:solidFill>
                <a:srgbClr val="0B1F3A"/>
              </a:solidFill>
            </a:endParaRPr>
          </a:p>
        </p:txBody>
      </p:sp>
      <p:sp>
        <p:nvSpPr>
          <p:cNvPr id="4" name="Rectangle 3"/>
          <p:cNvSpPr/>
          <p:nvPr/>
        </p:nvSpPr>
        <p:spPr>
          <a:xfrm>
            <a:off x="5852160" y="1417320"/>
            <a:ext cx="5605272" cy="603504"/>
          </a:xfrm>
          <a:prstGeom prst="rect">
            <a:avLst/>
          </a:prstGeom>
          <a:solidFill>
            <a:srgbClr val="93C47D"/>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JEE Main or easier:  1 question</a:t>
            </a:r>
            <a:endParaRPr sz="2400">
              <a:solidFill>
                <a:srgbClr val="111827"/>
              </a:solidFill>
            </a:endParaRPr>
          </a:p>
        </p:txBody>
      </p:sp>
      <p:sp>
        <p:nvSpPr>
          <p:cNvPr id="5" name="Rectangle 4"/>
          <p:cNvSpPr/>
          <p:nvPr/>
        </p:nvSpPr>
        <p:spPr>
          <a:xfrm>
            <a:off x="5852160" y="2093976"/>
            <a:ext cx="5605272" cy="603504"/>
          </a:xfrm>
          <a:prstGeom prst="rect">
            <a:avLst/>
          </a:prstGeom>
          <a:solidFill>
            <a:srgbClr val="FFD966"/>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Below average:  12 questions</a:t>
            </a:r>
            <a:endParaRPr sz="2400">
              <a:solidFill>
                <a:srgbClr val="111827"/>
              </a:solidFill>
            </a:endParaRPr>
          </a:p>
        </p:txBody>
      </p:sp>
      <p:sp>
        <p:nvSpPr>
          <p:cNvPr id="6" name="Rectangle 5"/>
          <p:cNvSpPr/>
          <p:nvPr/>
        </p:nvSpPr>
        <p:spPr>
          <a:xfrm>
            <a:off x="5852160" y="2770632"/>
            <a:ext cx="5605272" cy="603504"/>
          </a:xfrm>
          <a:prstGeom prst="rect">
            <a:avLst/>
          </a:prstGeom>
          <a:solidFill>
            <a:srgbClr val="F6B26B"/>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Average Advanced:  7 questions</a:t>
            </a:r>
            <a:endParaRPr sz="2400">
              <a:solidFill>
                <a:srgbClr val="111827"/>
              </a:solidFill>
            </a:endParaRPr>
          </a:p>
        </p:txBody>
      </p:sp>
      <p:sp>
        <p:nvSpPr>
          <p:cNvPr id="7" name="Rectangle 6"/>
          <p:cNvSpPr/>
          <p:nvPr/>
        </p:nvSpPr>
        <p:spPr>
          <a:xfrm>
            <a:off x="5852160" y="3447288"/>
            <a:ext cx="5605272" cy="603504"/>
          </a:xfrm>
          <a:prstGeom prst="rect">
            <a:avLst/>
          </a:prstGeom>
          <a:solidFill>
            <a:srgbClr val="E88080"/>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Above average:  0 questions</a:t>
            </a:r>
            <a:endParaRPr sz="2400">
              <a:solidFill>
                <a:srgbClr val="111827"/>
              </a:solidFill>
            </a:endParaRPr>
          </a:p>
        </p:txBody>
      </p:sp>
      <p:sp>
        <p:nvSpPr>
          <p:cNvPr id="8" name="Rectangle 7"/>
          <p:cNvSpPr/>
          <p:nvPr/>
        </p:nvSpPr>
        <p:spPr>
          <a:xfrm>
            <a:off x="5852160" y="4123944"/>
            <a:ext cx="5605272" cy="603504"/>
          </a:xfrm>
          <a:prstGeom prst="rect">
            <a:avLst/>
          </a:prstGeom>
          <a:solidFill>
            <a:srgbClr val="CC4125"/>
          </a:solidFill>
          <a:ln w="19050">
            <a:solidFill>
              <a:srgbClr val="6B7280"/>
            </a:solidFill>
          </a:ln>
          <a:effectLst/>
        </p:spPr>
        <p:style>
          <a:lnRef idx="1">
            <a:schemeClr val="accent1"/>
          </a:lnRef>
          <a:fillRef idx="3">
            <a:schemeClr val="accent1"/>
          </a:fillRef>
          <a:effectRef idx="2">
            <a:schemeClr val="accent1"/>
          </a:effectRef>
          <a:fontRef idx="minor">
            <a:srgbClr val="FFFFFF"/>
          </a:fontRef>
        </p:style>
        <p:txBody>
          <a:bodyPr rtlCol="0" anchor="ctr" wrap="square" lIns="228600" rIns="228600" tIns="18288" bIns="73152"/>
          <a:lstStyle>
            <a:lvl1pPr>
              <a:defRPr sz="2400">
                <a:solidFill>
                  <a:srgbClr val="FFFFFF"/>
                </a:solidFill>
              </a:defRPr>
            </a:lvl1pPr>
          </a:lstStyle>
          <a:p>
            <a:pPr algn="l">
              <a:defRPr sz="2400">
                <a:solidFill>
                  <a:srgbClr val="FFFFFF"/>
                </a:solidFill>
              </a:defRPr>
            </a:pPr>
            <a:r>
              <a:rPr sz="2400" b="1">
                <a:solidFill>
                  <a:srgbClr val="FFFFFF"/>
                </a:solidFill>
                <a:latin typeface="Arial"/>
              </a:rPr>
              <a:t>Very difficult:  0 questions</a:t>
            </a:r>
            <a:endParaRPr sz="2400">
              <a:solidFill>
                <a:srgbClr val="FFFFFF"/>
              </a:solidFill>
            </a:endParaRPr>
          </a:p>
        </p:txBody>
      </p:sp>
      <p:sp>
        <p:nvSpPr>
          <p:cNvPr id="9" name="Rectangle 8"/>
          <p:cNvSpPr/>
          <p:nvPr/>
        </p:nvSpPr>
        <p:spPr>
          <a:xfrm>
            <a:off x="731520" y="5029200"/>
            <a:ext cx="10725912" cy="1097280"/>
          </a:xfrm>
          <a:prstGeom prst="rect">
            <a:avLst/>
          </a:prstGeom>
          <a:solidFill>
            <a:srgbClr val="FFFFFF"/>
          </a:solidFill>
          <a:ln w="19050">
            <a:no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ctr">
              <a:defRPr sz="2400">
                <a:solidFill>
                  <a:srgbClr val="111827"/>
                </a:solidFill>
              </a:defRPr>
            </a:pPr>
            <a:r>
              <a:rPr sz="2400" b="0">
                <a:solidFill>
                  <a:srgbClr val="111827"/>
                </a:solidFill>
                <a:latin typeface="Arial"/>
              </a:rPr>
              <a:t>Total: 20 questions, 80 marks.  Index = Σ(marks × level) ÷ Σ marks, on the 0-5 scale.</a:t>
            </a:r>
            <a:endParaRPr sz="2400">
              <a:solidFill>
                <a:srgbClr val="111827"/>
              </a:solidFill>
            </a:endParaRP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Difficulty Profile of the Paper</a:t>
            </a:r>
            <a:endParaRPr sz="3200">
              <a:solidFill>
                <a:srgbClr val="FFFFFF"/>
              </a:solidFill>
            </a:endParaRPr>
          </a:p>
        </p:txBody>
      </p:sp>
      <p:graphicFrame>
        <p:nvGraphicFramePr>
          <p:cNvPr id="3" name="Chart 2"/>
          <p:cNvGraphicFramePr>
            <a:graphicFrameLocks noGrp="1"/>
          </p:cNvGraphicFramePr>
          <p:nvPr/>
        </p:nvGraphicFramePr>
        <p:xfrm>
          <a:off x="457200" y="1280160"/>
          <a:ext cx="11274552" cy="5349240"/>
        </p:xfrm>
        <a:graphic>
          <a:graphicData uri="http://schemas.openxmlformats.org/drawingml/2006/chart">
            <c:chart xmlns:c="http://schemas.openxmlformats.org/drawingml/2006/chart" r:id="rId2"/>
          </a:graphicData>
        </a:graphic>
      </p:graphicFrame>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Comparison with JEE Advanced Papers</a:t>
            </a:r>
            <a:endParaRPr sz="3200">
              <a:solidFill>
                <a:srgbClr val="FFFFFF"/>
              </a:solidFill>
            </a:endParaRPr>
          </a:p>
        </p:txBody>
      </p:sp>
      <p:graphicFrame>
        <p:nvGraphicFramePr>
          <p:cNvPr id="3" name="Table 2"/>
          <p:cNvGraphicFramePr>
            <a:graphicFrameLocks noGrp="1"/>
          </p:cNvGraphicFramePr>
          <p:nvPr/>
        </p:nvGraphicFramePr>
        <p:xfrm>
          <a:off x="1661007" y="1371600"/>
          <a:ext cx="8869680" cy="4526280"/>
        </p:xfrm>
        <a:graphic>
          <a:graphicData uri="http://schemas.openxmlformats.org/drawingml/2006/table">
            <a:tbl>
              <a:tblPr firstRow="1" bandRow="1">
                <a:tableStyleId>{5C22544A-7EE6-4342-B048-85BDC9FD1C3A}</a:tableStyleId>
              </a:tblPr>
              <a:tblGrid>
                <a:gridCol w="5760720"/>
                <a:gridCol w="3108960"/>
              </a:tblGrid>
              <a:tr h="685800">
                <a:tc>
                  <a:txBody>
                    <a:bodyPr/>
                    <a:lstStyle/>
                    <a:p>
                      <a:pPr algn="ctr"/>
                      <a:r>
                        <a:rPr sz="2600" b="1">
                          <a:solidFill>
                            <a:srgbClr val="FFFFFF"/>
                          </a:solidFill>
                          <a:latin typeface="Arial"/>
                        </a:rPr>
                        <a:t>Paper</a:t>
                      </a:r>
                    </a:p>
                  </a:txBody>
                  <a:tcPr anchor="ctr" marL="137160" marR="137160">
                    <a:solidFill>
                      <a:srgbClr val="0B1F3A"/>
                    </a:solidFill>
                  </a:tcPr>
                </a:tc>
                <a:tc>
                  <a:txBody>
                    <a:bodyPr/>
                    <a:lstStyle/>
                    <a:p>
                      <a:pPr algn="ctr"/>
                      <a:r>
                        <a:rPr sz="2600" b="1">
                          <a:solidFill>
                            <a:srgbClr val="FFFFFF"/>
                          </a:solidFill>
                          <a:latin typeface="Arial"/>
                        </a:rPr>
                        <a:t>Difficulty Index</a:t>
                      </a:r>
                    </a:p>
                  </a:txBody>
                  <a:tcPr anchor="ctr" marL="137160" marR="137160">
                    <a:solidFill>
                      <a:srgbClr val="0B1F3A"/>
                    </a:solidFill>
                  </a:tcPr>
                </a:tc>
              </a:tr>
              <a:tr h="640080">
                <a:tc>
                  <a:txBody>
                    <a:bodyPr/>
                    <a:lstStyle/>
                    <a:p>
                      <a:pPr algn="l"/>
                      <a:r>
                        <a:rPr sz="2600" b="0">
                          <a:solidFill>
                            <a:srgbClr val="111827"/>
                          </a:solidFill>
                          <a:latin typeface="Arial"/>
                        </a:rPr>
                        <a:t>JEE Advanced 2021</a:t>
                      </a:r>
                    </a:p>
                  </a:txBody>
                  <a:tcPr anchor="ctr" marL="137160" marR="137160">
                    <a:solidFill>
                      <a:srgbClr val="FFFFFF"/>
                    </a:solidFill>
                  </a:tcPr>
                </a:tc>
                <a:tc>
                  <a:txBody>
                    <a:bodyPr/>
                    <a:lstStyle/>
                    <a:p>
                      <a:pPr algn="ctr"/>
                      <a:r>
                        <a:rPr sz="2600" b="1">
                          <a:solidFill>
                            <a:srgbClr val="111827"/>
                          </a:solidFill>
                          <a:latin typeface="Arial"/>
                        </a:rPr>
                        <a:t>2.76</a:t>
                      </a:r>
                    </a:p>
                  </a:txBody>
                  <a:tcPr anchor="ctr" marL="137160" marR="137160">
                    <a:solidFill>
                      <a:srgbClr val="FFFFFF"/>
                    </a:solidFill>
                  </a:tcPr>
                </a:tc>
              </a:tr>
              <a:tr h="640080">
                <a:tc>
                  <a:txBody>
                    <a:bodyPr/>
                    <a:lstStyle/>
                    <a:p>
                      <a:pPr algn="l"/>
                      <a:r>
                        <a:rPr sz="2600" b="0">
                          <a:solidFill>
                            <a:srgbClr val="111827"/>
                          </a:solidFill>
                          <a:latin typeface="Arial"/>
                        </a:rPr>
                        <a:t>JEE Advanced 2023</a:t>
                      </a:r>
                    </a:p>
                  </a:txBody>
                  <a:tcPr anchor="ctr" marL="137160" marR="137160">
                    <a:solidFill>
                      <a:srgbClr val="FFFFFF"/>
                    </a:solidFill>
                  </a:tcPr>
                </a:tc>
                <a:tc>
                  <a:txBody>
                    <a:bodyPr/>
                    <a:lstStyle/>
                    <a:p>
                      <a:pPr algn="ctr"/>
                      <a:r>
                        <a:rPr sz="2600" b="1">
                          <a:solidFill>
                            <a:srgbClr val="111827"/>
                          </a:solidFill>
                          <a:latin typeface="Arial"/>
                        </a:rPr>
                        <a:t>3.19</a:t>
                      </a:r>
                    </a:p>
                  </a:txBody>
                  <a:tcPr anchor="ctr" marL="137160" marR="137160">
                    <a:solidFill>
                      <a:srgbClr val="FFFFFF"/>
                    </a:solidFill>
                  </a:tcPr>
                </a:tc>
              </a:tr>
              <a:tr h="640080">
                <a:tc>
                  <a:txBody>
                    <a:bodyPr/>
                    <a:lstStyle/>
                    <a:p>
                      <a:pPr algn="l"/>
                      <a:r>
                        <a:rPr sz="2600" b="0">
                          <a:solidFill>
                            <a:srgbClr val="111827"/>
                          </a:solidFill>
                          <a:latin typeface="Arial"/>
                        </a:rPr>
                        <a:t>JEE Advanced 2024</a:t>
                      </a:r>
                    </a:p>
                  </a:txBody>
                  <a:tcPr anchor="ctr" marL="137160" marR="137160">
                    <a:solidFill>
                      <a:srgbClr val="FFFFFF"/>
                    </a:solidFill>
                  </a:tcPr>
                </a:tc>
                <a:tc>
                  <a:txBody>
                    <a:bodyPr/>
                    <a:lstStyle/>
                    <a:p>
                      <a:pPr algn="ctr"/>
                      <a:r>
                        <a:rPr sz="2600" b="1">
                          <a:solidFill>
                            <a:srgbClr val="111827"/>
                          </a:solidFill>
                          <a:latin typeface="Arial"/>
                        </a:rPr>
                        <a:t>2.59</a:t>
                      </a:r>
                    </a:p>
                  </a:txBody>
                  <a:tcPr anchor="ctr" marL="137160" marR="137160">
                    <a:solidFill>
                      <a:srgbClr val="FFFFFF"/>
                    </a:solidFill>
                  </a:tcPr>
                </a:tc>
              </a:tr>
              <a:tr h="640080">
                <a:tc>
                  <a:txBody>
                    <a:bodyPr/>
                    <a:lstStyle/>
                    <a:p>
                      <a:pPr algn="l"/>
                      <a:r>
                        <a:rPr sz="2600" b="0">
                          <a:solidFill>
                            <a:srgbClr val="111827"/>
                          </a:solidFill>
                          <a:latin typeface="Arial"/>
                        </a:rPr>
                        <a:t>JEE Advanced 2025</a:t>
                      </a:r>
                    </a:p>
                  </a:txBody>
                  <a:tcPr anchor="ctr" marL="137160" marR="137160">
                    <a:solidFill>
                      <a:srgbClr val="FFFFFF"/>
                    </a:solidFill>
                  </a:tcPr>
                </a:tc>
                <a:tc>
                  <a:txBody>
                    <a:bodyPr/>
                    <a:lstStyle/>
                    <a:p>
                      <a:pPr algn="ctr"/>
                      <a:r>
                        <a:rPr sz="2600" b="1">
                          <a:solidFill>
                            <a:srgbClr val="111827"/>
                          </a:solidFill>
                          <a:latin typeface="Arial"/>
                        </a:rPr>
                        <a:t>3.21</a:t>
                      </a:r>
                    </a:p>
                  </a:txBody>
                  <a:tcPr anchor="ctr" marL="137160" marR="137160">
                    <a:solidFill>
                      <a:srgbClr val="FFFFFF"/>
                    </a:solidFill>
                  </a:tcPr>
                </a:tc>
              </a:tr>
              <a:tr h="640080">
                <a:tc>
                  <a:txBody>
                    <a:bodyPr/>
                    <a:lstStyle/>
                    <a:p>
                      <a:pPr algn="l"/>
                      <a:r>
                        <a:rPr sz="2600" b="0">
                          <a:solidFill>
                            <a:srgbClr val="111827"/>
                          </a:solidFill>
                          <a:latin typeface="Arial"/>
                        </a:rPr>
                        <a:t>JEE Advanced 2026</a:t>
                      </a:r>
                    </a:p>
                  </a:txBody>
                  <a:tcPr anchor="ctr" marL="137160" marR="137160">
                    <a:solidFill>
                      <a:srgbClr val="FFFFFF"/>
                    </a:solidFill>
                  </a:tcPr>
                </a:tc>
                <a:tc>
                  <a:txBody>
                    <a:bodyPr/>
                    <a:lstStyle/>
                    <a:p>
                      <a:pPr algn="ctr"/>
                      <a:r>
                        <a:rPr sz="2600" b="1">
                          <a:solidFill>
                            <a:srgbClr val="111827"/>
                          </a:solidFill>
                          <a:latin typeface="Arial"/>
                        </a:rPr>
                        <a:t>3.02</a:t>
                      </a:r>
                    </a:p>
                  </a:txBody>
                  <a:tcPr anchor="ctr" marL="137160" marR="137160">
                    <a:solidFill>
                      <a:srgbClr val="FFFFFF"/>
                    </a:solidFill>
                  </a:tcPr>
                </a:tc>
              </a:tr>
              <a:tr h="640080">
                <a:tc>
                  <a:txBody>
                    <a:bodyPr/>
                    <a:lstStyle/>
                    <a:p>
                      <a:pPr algn="l"/>
                      <a:r>
                        <a:rPr sz="2600" b="1">
                          <a:solidFill>
                            <a:srgbClr val="0B1F3A"/>
                          </a:solidFill>
                          <a:latin typeface="Arial"/>
                        </a:rPr>
                        <a:t>JEE Main Question Bank – Algebra 16 Binomial Theorem and Complex Numbers (Q301–Q320) · detailed solutions</a:t>
                      </a:r>
                    </a:p>
                  </a:txBody>
                  <a:tcPr anchor="ctr" marL="137160" marR="137160">
                    <a:solidFill>
                      <a:srgbClr val="E0ECFF"/>
                    </a:solidFill>
                  </a:tcPr>
                </a:tc>
                <a:tc>
                  <a:txBody>
                    <a:bodyPr/>
                    <a:lstStyle/>
                    <a:p>
                      <a:pPr algn="ctr"/>
                      <a:r>
                        <a:rPr sz="2600" b="1">
                          <a:solidFill>
                            <a:srgbClr val="0B1F3A"/>
                          </a:solidFill>
                          <a:latin typeface="Arial"/>
                        </a:rPr>
                        <a:t>2.30</a:t>
                      </a:r>
                    </a:p>
                  </a:txBody>
                  <a:tcPr anchor="ctr" marL="137160" marR="137160">
                    <a:solidFill>
                      <a:srgbClr val="E0ECFF"/>
                    </a:solidFill>
                  </a:tcPr>
                </a:tc>
              </a:tr>
            </a:tbl>
          </a:graphicData>
        </a:graphic>
      </p:graphicFrame>
      <p:sp>
        <p:nvSpPr>
          <p:cNvPr id="4" name="TextBox 3"/>
          <p:cNvSpPr txBox="1"/>
          <p:nvPr/>
        </p:nvSpPr>
        <p:spPr>
          <a:xfrm>
            <a:off x="731520" y="6080759"/>
            <a:ext cx="10725912" cy="457200"/>
          </a:xfrm>
          <a:prstGeom prst="rect">
            <a:avLst/>
          </a:prstGeom>
          <a:noFill/>
        </p:spPr>
        <p:txBody>
          <a:bodyPr wrap="none">
            <a:spAutoFit/>
          </a:bodyPr>
          <a:lstStyle>
            <a:lvl1pPr>
              <a:defRPr sz="2000">
                <a:solidFill>
                  <a:srgbClr val="111827"/>
                </a:solidFill>
              </a:defRPr>
            </a:lvl1pPr>
          </a:lstStyle>
          <a:p>
            <a:pPr algn="ctr">
              <a:defRPr sz="2000">
                <a:solidFill>
                  <a:srgbClr val="111827"/>
                </a:solidFill>
              </a:defRPr>
            </a:pPr>
            <a:r>
              <a:rPr sz="2000" b="0">
                <a:solidFill>
                  <a:srgbClr val="111827"/>
                </a:solidFill>
                <a:latin typeface="Arial"/>
              </a:rPr>
              <a:t>Marks-weighted difficulty index on the 0-5 scale</a:t>
            </a:r>
            <a:endParaRPr sz="2000">
              <a:solidFill>
                <a:srgbClr val="111827"/>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