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  <p:sldId id="360" r:id="rId112"/>
    <p:sldId id="361" r:id="rId113"/>
    <p:sldId id="362" r:id="rId114"/>
    <p:sldId id="363" r:id="rId115"/>
    <p:sldId id="364" r:id="rId116"/>
    <p:sldId id="365" r:id="rId117"/>
    <p:sldId id="366" r:id="rId118"/>
    <p:sldId id="367" r:id="rId119"/>
    <p:sldId id="368" r:id="rId120"/>
    <p:sldId id="369" r:id="rId121"/>
    <p:sldId id="370" r:id="rId122"/>
    <p:sldId id="371" r:id="rId123"/>
    <p:sldId id="372" r:id="rId124"/>
    <p:sldId id="373" r:id="rId125"/>
    <p:sldId id="374" r:id="rId126"/>
    <p:sldId id="375" r:id="rId127"/>
    <p:sldId id="376" r:id="rId128"/>
    <p:sldId id="377" r:id="rId129"/>
    <p:sldId id="378" r:id="rId130"/>
    <p:sldId id="379" r:id="rId131"/>
    <p:sldId id="380" r:id="rId1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Relationship Id="rId109" Type="http://schemas.openxmlformats.org/officeDocument/2006/relationships/slide" Target="slides/slide102.xml"/><Relationship Id="rId110" Type="http://schemas.openxmlformats.org/officeDocument/2006/relationships/slide" Target="slides/slide103.xml"/><Relationship Id="rId111" Type="http://schemas.openxmlformats.org/officeDocument/2006/relationships/slide" Target="slides/slide104.xml"/><Relationship Id="rId112" Type="http://schemas.openxmlformats.org/officeDocument/2006/relationships/slide" Target="slides/slide105.xml"/><Relationship Id="rId113" Type="http://schemas.openxmlformats.org/officeDocument/2006/relationships/slide" Target="slides/slide106.xml"/><Relationship Id="rId114" Type="http://schemas.openxmlformats.org/officeDocument/2006/relationships/slide" Target="slides/slide107.xml"/><Relationship Id="rId115" Type="http://schemas.openxmlformats.org/officeDocument/2006/relationships/slide" Target="slides/slide108.xml"/><Relationship Id="rId116" Type="http://schemas.openxmlformats.org/officeDocument/2006/relationships/slide" Target="slides/slide109.xml"/><Relationship Id="rId117" Type="http://schemas.openxmlformats.org/officeDocument/2006/relationships/slide" Target="slides/slide110.xml"/><Relationship Id="rId118" Type="http://schemas.openxmlformats.org/officeDocument/2006/relationships/slide" Target="slides/slide111.xml"/><Relationship Id="rId119" Type="http://schemas.openxmlformats.org/officeDocument/2006/relationships/slide" Target="slides/slide112.xml"/><Relationship Id="rId120" Type="http://schemas.openxmlformats.org/officeDocument/2006/relationships/slide" Target="slides/slide113.xml"/><Relationship Id="rId121" Type="http://schemas.openxmlformats.org/officeDocument/2006/relationships/slide" Target="slides/slide114.xml"/><Relationship Id="rId122" Type="http://schemas.openxmlformats.org/officeDocument/2006/relationships/slide" Target="slides/slide115.xml"/><Relationship Id="rId123" Type="http://schemas.openxmlformats.org/officeDocument/2006/relationships/slide" Target="slides/slide116.xml"/><Relationship Id="rId124" Type="http://schemas.openxmlformats.org/officeDocument/2006/relationships/slide" Target="slides/slide117.xml"/><Relationship Id="rId125" Type="http://schemas.openxmlformats.org/officeDocument/2006/relationships/slide" Target="slides/slide118.xml"/><Relationship Id="rId126" Type="http://schemas.openxmlformats.org/officeDocument/2006/relationships/slide" Target="slides/slide119.xml"/><Relationship Id="rId127" Type="http://schemas.openxmlformats.org/officeDocument/2006/relationships/slide" Target="slides/slide120.xml"/><Relationship Id="rId128" Type="http://schemas.openxmlformats.org/officeDocument/2006/relationships/slide" Target="slides/slide121.xml"/><Relationship Id="rId129" Type="http://schemas.openxmlformats.org/officeDocument/2006/relationships/slide" Target="slides/slide122.xml"/><Relationship Id="rId130" Type="http://schemas.openxmlformats.org/officeDocument/2006/relationships/slide" Target="slides/slide123.xml"/><Relationship Id="rId131" Type="http://schemas.openxmlformats.org/officeDocument/2006/relationships/slide" Target="slides/slide124.xml"/><Relationship Id="rId132" Type="http://schemas.openxmlformats.org/officeDocument/2006/relationships/slide" Target="slides/slide12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Level</c:v>
                </c:pt>
              </c:strCache>
            </c:strRef>
          </c:tx>
          <c:dPt>
            <c:idx val="0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2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3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4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5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6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7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8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9"/>
            <c:spPr>
              <a:solidFill>
                <a:srgbClr val="E88080"/>
              </a:solidFill>
              <a:ln w="9525">
                <a:solidFill>
                  <a:srgbClr val="111827"/>
                </a:solidFill>
              </a:ln>
            </c:spPr>
          </c:dPt>
          <c:dPt>
            <c:idx val="10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1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2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3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4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5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6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7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8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9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cat>
            <c:strRef>
              <c:f>Sheet1!$A$2:$A$21</c:f>
              <c:strCache>
                <c:ptCount val="20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  <c:pt idx="4">
                  <c:v>Q5</c:v>
                </c:pt>
                <c:pt idx="5">
                  <c:v>Q6</c:v>
                </c:pt>
                <c:pt idx="6">
                  <c:v>Q7</c:v>
                </c:pt>
                <c:pt idx="7">
                  <c:v>Q8</c:v>
                </c:pt>
                <c:pt idx="8">
                  <c:v>Q9</c:v>
                </c:pt>
                <c:pt idx="9">
                  <c:v>Q10</c:v>
                </c:pt>
                <c:pt idx="10">
                  <c:v>Q11</c:v>
                </c:pt>
                <c:pt idx="11">
                  <c:v>Q12</c:v>
                </c:pt>
                <c:pt idx="12">
                  <c:v>Q13</c:v>
                </c:pt>
                <c:pt idx="13">
                  <c:v>Q14</c:v>
                </c:pt>
                <c:pt idx="14">
                  <c:v>Q15</c:v>
                </c:pt>
                <c:pt idx="15">
                  <c:v>Q16</c:v>
                </c:pt>
                <c:pt idx="16">
                  <c:v>Q17</c:v>
                </c:pt>
                <c:pt idx="17">
                  <c:v>Q18</c:v>
                </c:pt>
                <c:pt idx="18">
                  <c:v>Q19</c:v>
                </c:pt>
                <c:pt idx="19">
                  <c:v>Q20</c:v>
                </c:pt>
              </c:strCache>
            </c: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2.0</c:v>
                </c:pt>
                <c:pt idx="1">
                  <c:v>1.0</c:v>
                </c:pt>
                <c:pt idx="2">
                  <c:v>1.0</c:v>
                </c:pt>
                <c:pt idx="3">
                  <c:v>1.0</c:v>
                </c:pt>
                <c:pt idx="4">
                  <c:v>3.0</c:v>
                </c:pt>
                <c:pt idx="5">
                  <c:v>1.0</c:v>
                </c:pt>
                <c:pt idx="6">
                  <c:v>2.0</c:v>
                </c:pt>
                <c:pt idx="7">
                  <c:v>2.0</c:v>
                </c:pt>
                <c:pt idx="8">
                  <c:v>3.0</c:v>
                </c:pt>
                <c:pt idx="9">
                  <c:v>4.0</c:v>
                </c:pt>
                <c:pt idx="10">
                  <c:v>2.0</c:v>
                </c:pt>
                <c:pt idx="11">
                  <c:v>2.0</c:v>
                </c:pt>
                <c:pt idx="12">
                  <c:v>2.0</c:v>
                </c:pt>
                <c:pt idx="13">
                  <c:v>2.0</c:v>
                </c:pt>
                <c:pt idx="14">
                  <c:v>2.0</c:v>
                </c:pt>
                <c:pt idx="15">
                  <c:v>3.0</c:v>
                </c:pt>
                <c:pt idx="16">
                  <c:v>3.0</c:v>
                </c:pt>
                <c:pt idx="17">
                  <c:v>3.0</c:v>
                </c:pt>
                <c:pt idx="18">
                  <c:v>3.0</c:v>
                </c:pt>
                <c:pt idx="19">
                  <c:v>3.0</c:v>
                </c:pt>
              </c:numCache>
            </c:numRef>
          </c:val>
        </c:ser>
        <c:dLbls>
          <c:numFmt formatCode="0.0#" sourceLinked="0"/>
          <c:txPr>
            <a:bodyPr/>
            <a:lstStyle/>
            <a:p>
              <a:pPr>
                <a:defRPr sz="2000" b="1">
                  <a:solidFill>
                    <a:srgbClr val="111827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2000" b="1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.5"/>
          <c:min val="0.0"/>
        </c:scaling>
        <c:delete val="0"/>
        <c:axPos val="l"/>
        <c:majorGridlines>
          <c:spPr>
            <a:ln>
              <a:solidFill>
                <a:srgbClr val="D1D5DB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2000"/>
                  <a:t>Level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2000">
                <a:latin typeface="Arial"/>
              </a:defRPr>
            </a:pPr>
          </a:p>
        </c:txPr>
        <c:crossAx val="-2068027336"/>
        <c:crosses val="autoZero"/>
        <c:majorUnit val="1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2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4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PDF's second line prints $|x+iy+i|=|x+y-3i|$ (the $i$ is missing from $iy$); the correct line is $|x+i(y+1)|=|x+i(y-3)|$. The answer is unaffected.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 writes the last binomial terms as ${}^{2024}C_{2033}(420)^{2023}+8^{2024}$ (index $2033$ exceeds $2024$ and the factor $8$ is missing). Only the structure 'all terms but $8^{2024}$ contain $420$' is needed, so the general expansion is written instead. Answer unaffected.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 jumps from 'put $z=\alpha-\frac{13}{11}i$' to '$z^2-3iz-2$ is imaginary' without saying why (and prints $11iz-13$ as '1 liz $-13$'). The missing reason is added: $11iz-13=11i\alpha$ is purely imaginary, so the denominator must be purely imaginary. Result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 prints the last term of the variance numerator as $4(45)^5$ (exponent $5$); it should be $4(45)^2=8100$, which is the value it uses. The first term is also written $2(25)$ for $2(5)^2=50$ (both equal $50$). Result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PDF's variance line uses the formula $\sigma^2=\frac{\sum f_i|x_i-5|}{\sum f_i}$ (the mean-deviation formula, no square); the correct formula is $\frac{\sum f_i(x_i-5)^2}{\sum f_i}$. Its mean-deviation numerator is also printed '$4+4+24\times2+\ldots$' where $4\times4$ is meant. The values $m=\frac85$ and $\sigma^2=\frac{22}5$ it states are correct, so the answer $8$ stands.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PDF's list omits the line 'numbers starting with $355$: $25$'. Its printed terms ($625,625,125,25,5,5,1$) add to $1411$, not the $1436$ it states; with the missing $25$ the total is $1436$, so the answer is right and only the listing was incomplete.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/>
          <a:lstStyle>
            <a:lvl1pPr>
              <a:defRPr sz="4000">
                <a:solidFill>
                  <a:srgbClr val="FFFFFF"/>
                </a:solidFill>
              </a:defRPr>
            </a:lvl1pPr>
          </a:lstStyle>
          <a:p>
            <a:pPr algn="ctr">
              <a:defRPr sz="4000">
                <a:solidFill>
                  <a:srgbClr val="FFFFFF"/>
                </a:solidFill>
              </a:defRPr>
            </a:pPr>
            <a:r>
              <a:rPr sz="4000" b="1">
                <a:solidFill>
                  <a:srgbClr val="FFFFFF"/>
                </a:solidFill>
                <a:latin typeface="Arial"/>
              </a:rPr>
              <a:t>JEE Main Question Bank 02 Algebra 02 (Set 06) — Paper Analysis</a:t>
            </a:r>
            <a:endParaRPr sz="4000">
              <a:solidFill>
                <a:srgbClr val="FFFFFF"/>
              </a:solidFill>
            </a:endParaRPr>
          </a:p>
          <a:p>
            <a:pPr algn="ctr"/>
            <a:r>
              <a:rPr sz="2200">
                <a:solidFill>
                  <a:srgbClr val="FFFFFF"/>
                </a:solidFill>
                <a:latin typeface="Arial"/>
              </a:rPr>
              <a:t>Questions 1–20 · detailed solutions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1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Numerical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Q01 – Q20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Marks not printed in the paper; JEE Advanced default assumed: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4 marks for a correct answer (assumed) · no negative marking assumed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178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two complex numbers such that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minimum value. Then the minimum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which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real is equal to ______ 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178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$w$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two complex numbers such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$w=z\bar z-2z+2$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$\left|\frac{z+i}{z-3i}\right|=1$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$\mathrm{Re}(w)$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minimum value. Then the minimum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$n\in\mathbb 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which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$w^n$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real is equal to ______ 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626611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Locus of a complex number and powers in polar form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condition is the perpendicular bisector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quadratic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real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arg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multiple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condition is the perpendicular bisector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$\mathrm{Re}(w)$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quadratic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$w^n$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real when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$n\arg w$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multiple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$\pi$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condition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minimum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$z=x+iy$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condition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$\left|\frac{z+i}{z-3i}\right|=1$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$|z+i|=|z-3i|$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$|x+i(y+1)|=|x+i(y-3)|$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$x^2+(y+1)^2=x^2+(y-3)^2$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$z\bar z=x^2+1$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$-2z=-2x-2i$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$w=z\bar z-2z+2=x^2-2x+3-2i$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$\mathrm{Re}(w)=x^2-2x+3=(x-1)^2+2$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minimum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real exactly when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 minimum value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$w=2-2i=2\sqrt2\,e^{-i\pi/4}$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$w^n=(2\sqrt2)^n e^{-in\pi/4}$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real exactly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$\sin\frac{n\pi}{4}=0$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$\frac{n\pi}{4}=k\pi$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$n=4k$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 minimum value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4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Note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(geometry), and find the first real power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repeated squaring instead of polar form.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Note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$\mathrm{Re}(w)=|z-1|^2+1$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(geometry), and find the first real power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$w=2-2i$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repeated squaring instead of polar form.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because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least when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least,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foot of the perpendicular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purely imaginary, not real.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$\mathrm{Re}(w)=(x-1)^2+2=|z-1|^2+1$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because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$|z-1|^2=(x-1)^2+1$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$\mathrm{Re}(w)$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least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$|z-1|$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least,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foot of the perpendicular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$z=1+i$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$w=2-2i=2(1-i)$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$w^2=4(1-i)^2=4(-2i)=-8i$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purely imaginary, not real.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not real.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real.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not real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is, so the minimum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$w^3=w\cdot w^2=2(1-i)(-8i)=-16i+16i^2=-16-16i$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not real.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$w^4=(w^2)^2=(-8i)^2=-64$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is real.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$w,w^2,w^3$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not real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$w^4$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is, so the minimum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4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perpendicular bisector of the segment joining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often splits into a real quadratic plus an imaginary part once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substituted.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real iff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arg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integer multiple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arg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this means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∣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since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Squaring a number of the form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(purely imaginary), squaring again gives the real number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$|z-a|=|z-b|$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perpendicular bisector of the segment joining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$a=-i$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$b=3i$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$z\bar z=|z|^2$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$z\bar z-2z+2$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often splits into a real quadratic plus an imaginary part once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$z=x+iy$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substituted.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$w^n$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real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$n\arg w$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an integer multiple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$w\neq0$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$\arg w=\pm\frac\pi4$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this means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$4\mid 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$(1\pm i)^4=-4$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Squaring a number of the form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$a(1\pm 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$\pm2ia^2$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(purely imaginary), squaring again gives the real number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$-4a^4$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Four fair dice are thrown independently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times. Then the expected number of times at least two dice show up a three or a five is ______ 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Four fair dice are thrown independently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times. Then the expected number of times at least two dice show up a three or a five is ______ 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Binomial distribution and expected value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Find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𝑎𝑡 𝑙𝑒𝑎𝑠𝑡 𝑡𝑤𝑜 𝑑𝑖𝑐𝑒 𝑠ℎ𝑜𝑤 3 𝑜𝑟 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 one throw; the number of such throws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27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binomial with mean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27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Find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$p=P(\text{at least two dice show 3 or 5})$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 one throw; the number of such throws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$27$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binomial with mean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$27p$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die shows a 3 or a 5 with probability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𝑎𝑡 𝑙𝑒𝑎𝑠𝑡 𝑡𝑤𝑜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𝑛𝑜𝑛𝑒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𝑒𝑥𝑎𝑐𝑡𝑙𝑦 𝑜𝑛𝑒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die shows a 3 or a 5 with probability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$\frac26=\frac13$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$P(\text{at least two})=1-P(\text{none})-P(\text{exactly one})$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$=1-\left(\frac46\right)^4-{}^4C_1\cdot\frac26\left(\frac46\right)^3$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$=1-\frac{16}{81}-\frac{32}{81}=\frac{11}{27}$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Over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throws the number of favourable throws is binomial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Expected value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Over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throws the number of favourable throws is binomial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$n=27$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$p=\frac{11}{27}$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$q=\frac{16}{27}$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Expected value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$=np=27\times\frac{11}{27}=11$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11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Count favourable outcomes among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81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equally weighted patterns (each die: 1 way to 'hit', 2 ways to 'miss') directly, without a complement.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Count favourable outcomes among the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$81$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equally weighted patterns (each die: 1 way to 'hit', 2 ways to 'miss') directly, without a complement.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Each die either shows 3 or 5 ('hit', 2 faces out of 6) or not ('miss', 4 faces out of 6); scaling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hit has weight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 miss weight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total weight per die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Weight of exactly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hits among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dice: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Weight of exactly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hits: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Each die either shows 3 or 5 ('hit', 2 faces out of 6) or not ('miss', 4 faces out of 6); scaling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hit has weight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 miss weight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total weight per die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Weight of exactly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hits among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dice: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${}^4C_2\cdot1^2\cdot2^2=24$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Weight of exactly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hits: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${}^4C_3\cdot1^3\cdot2=8$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Weight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hits: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𝑎𝑡 𝑙𝑒𝑎𝑠𝑡 𝑡𝑤𝑜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Expected number of such throws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trials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Weight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hits: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$P(\text{at least two})=\frac{24+8+1}{3^4}=\frac{33}{81}=\frac{11}{27}$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Expected number of such throws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trials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$27\cdot\frac{11}{27}=11$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11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independent repetitions of an experiment with success probability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expected number of successes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mean of Binomial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it equals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even without independence.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'At least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 is easiest by complement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small: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Reducing faces to 'hit' (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'miss' (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turns a dice question into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B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o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Instance: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independent repetitions of an experiment with success probability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expected number of successes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mean of Binomial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$(N,p)$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it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even without independence.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'At least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 is easiest by complement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small: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$P(X\ge2)=1-P(0)-P(1)$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Reducing faces to 'hit'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'miss'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turns a dice question into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$\mathrm{Binomial}(4,\frac13)$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$P(X=r)={}^4C_r\frac{2^{4-r}}{81}$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Instance: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$P(X\ge2)=\frac{24+8+1}{81}=\frac{11}{27}$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$27\cdot\frac{11}{27}=11$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remainder when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428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2024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divided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______ 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remainder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$428^{2024}$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divided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______ 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Remainder using the binomial theorem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428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reduce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2024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64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1012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63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1012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$428=420+8$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$420=21\cdot20$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reduce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$8^{2024}=64^{1012}=(63+1)^{1012}$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428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428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2024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2024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Expanding,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2024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2024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2024</m:t>
                            </m:r>
                          </m:sup>
                        </m:sSup>
                      </m:e>
                    </m:nary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420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2024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every term except the last one,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2024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contains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428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2024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420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𝑠𝑜𝑚𝑒 𝑖𝑛𝑡𝑒𝑔𝑒𝑟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2024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420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𝑠𝑜𝑚𝑒 𝑖𝑛𝑡𝑒𝑔𝑒𝑟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64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1012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$21\times20=420$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$428=420+8$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$428^{2024}=(420+8)^{2024}$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Expanding,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$(420+8)^{2024}=\sum_{k=0}^{2024}{}^{2024}C_k(420)^k8^{2024-k}$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every term except the last one,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$8^{2024}$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contains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$428^{2024}=420\,[\text{some integer}]+8^{2024}=420\,[\text{some integer}]+64^{1012}$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64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1012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1012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1012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𝑠𝑜𝑚𝑒 𝑜𝑡ℎ𝑒𝑟 𝑖𝑛𝑡𝑒𝑔𝑒𝑟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428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2024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remainder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$63=21\times3$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$64^{1012}=(63+1)^{1012}$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$(63+1)^{1012}=63\,[\text{some other integer}]+1$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$428^{2024}=21\times20\,[\ldots]+21\times3\,[\ldots]+1$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remainder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1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Split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find the remainder modulo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modulo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separately and combine (Chinese remainder theorem).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Split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$21=3\times7$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find the remainder modulo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modulo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$7$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separately and combine (Chinese remainder theorem).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428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mod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428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2024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2024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mod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428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mod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428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2024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mod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428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2024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divisible by both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are coprime, hence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remainder on division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$428=3\cdot142+2\equiv2\equiv-1\pmod3$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$428^{2024}\equiv(-1)^{2024}=1\pmod3$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$428=7\cdot61+1\equiv1\pmod7$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$428^{2024}\equiv1\pmod7$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$428^{2024}-1$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divisible by both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are coprime, hence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remainder on division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1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mod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only the last term of the binomial expansion survives modulo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mod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even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composite modulus split it into coprime factors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combine by the Chinese remainder theorem;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modulo each factor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modulo the product.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Euler's theorem check: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gcd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428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428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mod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2024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$(km\pm r)^n\equiv(\pm r)^n\pmod 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only the last term of the binomial expansion survives modulo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$a^2\equiv1\pmod 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$a^{n}\equiv1$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even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$8^2=64=3\cdot21+1$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composite modulus split it into coprime factors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$21=3\cdot7$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combine by the Chinese remainder theorem;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$a\equiv1$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modulo each factor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$a\equiv1$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modulo the product.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Euler's theorem 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$\gcd(428,21)=1$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$\varphi(21)=12$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$428^{12}\equiv1\pmod{21}$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$2024=12\cdot168+8$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$8^8=(8^2)^4\equiv1$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7518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bag contains six balls of different colours. Two balls are drawn in succession with replacement. The probability that both are of the same colour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Next four balls are drawn in succession with replacement and the probability that exactly three balls are of the same colour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coprime,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 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7518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bag contains six balls of different colours. Two balls are drawn in succession with replacement. The probability that both are of the same colour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Next four balls are drawn in succession with replacement and the probability that exactly three balls are of the same colour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$p:q=m:n$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coprime,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$m+n$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 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260596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Probability with replacement (same-colour events)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Count favourable sequences over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equally likely sequences: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choose the colour used thrice, the colour of the odd ball and its position.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Count favourable sequences over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$6^k$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equally likely sequences: 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choose the colour used thrice, the colour of the odd ball and its position.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p>
                        </m:sSup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(choose the common colour).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choose the colour appearing three times (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choose the colour of the remaining ball (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choose its position among the four draws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ways).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p>
                        </m:sSup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p>
                        </m:sSup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1296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$p=\frac{{}^6C_1}{6\times6}=\frac16$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(choose the common colour).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choose the colour appearing three times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${}^6C_1$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choose the colour of the remaining ball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${}^5C_1$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choose its position among the four draws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ways).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$q=\frac{{}^6C_1\times{}^5C_1\times4}{6\times6\times6\times6}=\frac{120}{1296}=\frac5{54}$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coprime,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$p:q=\frac16:\frac5{54}=\frac{54}{30}=9:5$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coprime,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$m+n=14$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14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700784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sequential probabilities: once a draw is fixed, each later draw 'matches it' with probability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'differs' with probability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700784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sequential probabilities: once a draw is fixed, each later draw 'matches it' with probability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$\frac16$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'differs' with probability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$\frac56$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3118103"/>
                <a:ext cx="10725912" cy="355701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second ball matches the first with probability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first choose which of the four draws is the odd one out: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ways.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3118103"/>
                <a:ext cx="10725912" cy="355701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second ball matches the first with probability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$p=\frac16$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first choose which of the four draws is the odd one out: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ways.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other three draws must all match each other: after the first of them, the next two each match with probability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odd draw must differ from that common colour: probability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other three draws must all match each other: after the first of them, the next two each match with probability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$\frac1{36}$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odd draw must differ from that common colour: probability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$\frac56$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$q=4\cdot\frac1{36}\cdot\frac56=\frac{20}{216}=\frac5{54}$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pq=\frac{1/6}{5/54}=\frac95$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$m+n=14$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14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replacement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equally likely colours, the probability that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draws are all the same colour is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first draw is free).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Exactly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draws match a given colour: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p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summing over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colours counts 'some colour appears exactly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times'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(no double counting).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ratio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be reduced to coprime terms before adding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replacement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equally likely colours, the probability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draws are all the same colour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$\left(\frac1N\right)^{k-1}$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first draw is free).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Exactly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draws match a given colour: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${}^nC_r\left(\frac1N\right)^r\left(\frac{N-1}N\right)^{n-r}$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summing over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colours counts 'some colour appears exactly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times'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$r&gt;n/2$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(no double counting).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$q=6\cdot4\cdot\frac{5}{6^4}=\frac5{54}$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ratio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$p:q$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be reduced to coprime terms before adding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$m+n$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$\frac{54}{30}=\frac95$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8557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sepChr m:val=""/>
                        <m:endChr m:val="}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m:rPr>
                            <m:scr m:val="double-struck"/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}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: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15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m:rPr>
                            <m:scr m:val="double-struck"/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R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 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8557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$S=\left\{z\in\mathbb C-\{i,2i\}:\frac{z^2+8iz-15}{z^2-3iz-2}\in\mathbb R\right\}$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$\alpha-\frac{13}{11}i\in 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$\alpha\in\mathbb R-\{0\}$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$242\alpha^2$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 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364484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Complex numbers: real and imaginary parts of a rational expression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Subtract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numerator becomes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is purely imaginary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den>
                    </m:f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denominator must be purely imaginary.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Subtract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numerator becomes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$11iz-13$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is purely imaginary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$z=\alpha-\frac{13}{11}i$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denominator must be purely imaginary.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the numerator as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expression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purely imaginary and non-zero (as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non-zero imaginary number over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real only if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purely imaginary.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the numerator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$(z^2-3iz-2)+(11iz-13)$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expression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$1+\frac{11iz-13}{z^2-3iz-2}\in\mathbb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$z=\alpha-\frac{13}{11}i$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$11iz-13=11i\alpha+13-13=11i\alpha$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purely imaginary and non-zero (as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non-zero imaginary number over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$z^2-3iz-2$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real only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$z^2-3iz-2$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purely imaginary.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$z=x+iy$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$z^2-3iz-2=(x^2-y^2+3y-2)+(2xy-3x)i$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Its real part must vanish: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11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11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1680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Its real part must vanish: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$x^2-y^2+3y-2=0$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$x^2=y^2-3y+2=(y-1)(y-2)$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$y=-\frac{13}{11}$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$\alpha^2=\left(-\frac{13}{11}-1\right)\left(-\frac{13}{11}-2\right)=\frac{24\times35}{121}$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$242\alpha^2=2\times24\times35=1680$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1680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Complete the square in the denominator: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require its real part to vanish.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Complete the square in the denominator: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$z^2-3iz-2=\left(z-\frac{3i}{2}\right)^2+\frac14$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require its real part to vanish.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before, the expression equals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be purely imaginary.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11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22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before, the expression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$1+\frac{11i\alpha}{D}$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$D=z^2-3iz-2$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be purely imaginary.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$D=\left(z-\frac{3i}2\right)^2+\frac94-2=\left(z-\frac{3i}2\right)^2+\frac14$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$z=\alpha-\frac{13}{11}i$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$z-\frac{3i}{2}=\alpha-\left(\frac{13}{11}+\frac32\right)i=\alpha-\frac{59}{22}i$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59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22</m:t>
                                </m:r>
                              </m:den>
                            </m:f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3481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484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3481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484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Setting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3481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484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3360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484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840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840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1680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$\left(\alpha-\frac{59}{22}i\right)^2=\alpha^2-\frac{3481}{484}-\frac{59}{11}\alpha 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$\mathrm{Re}(D)=\alpha^2-\frac{3481}{484}+\frac14$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Setting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$\mathrm{Re}(D)=0$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$\alpha^2=\frac{3481-121}{484}=\frac{3360}{484}=\frac{840}{121}$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$242\alpha^2=2\cdot840=1680$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1680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purely imaginary and non-zero is real iff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purely imaginary; split off the polynomial part first (here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to lower the degree.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factoring shows why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excluded.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I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Completing the square,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is purely imaginary iff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β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 hyperbola).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$\frac{A}{B}$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purely imaginary and non-zero is real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purely imaginary; split off the polynomial part first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$\frac{z^2+8iz-15}{z^2-3iz-2}=1+\frac{11iz-13}{z^2-3iz-2}$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to lower the degree.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$z^2+8iz-15=(z+3i)(z+5i)$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$z^2-3iz-2=(z-i)(z-2i)$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factoring shows why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$z=i,2i$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excluded.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$\mathrm{Re}\,(z^2-3iz-2)=x^2-y^2+3y-2$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$\mathrm{Im}=2xy-3x$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$z=x+iy$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Completing the square,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$z^2-3iz-2=\left(z-\frac{3i}2\right)^2+\frac14$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$z=\alpha+i\beta$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is purely imaginary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$\alpha^2-\left(\beta-\frac32\right)^2+\frac14=0$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 hyperbola).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mean of the frequency distribution (Class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Frequency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its variance is ______ 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mean of the frequency distribution (Class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Frequency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$2,3,x,5,4$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its variance is ______ 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Mean and variance of a grouped frequency distribution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class marks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45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mean fixes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variance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∑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b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∑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acc>
                          <m:accPr>
                            <m:chr m:val="‾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class marks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$5,15,25,35,45$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mean fixes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variance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$=\frac{\sum f_ix_i^2}{\sum f_i}-\bar x^2$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Class marks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Mean: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392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(total frequency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Variance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∑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b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∑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acc>
                          <m:accPr>
                            <m:chr m:val="‾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Class marks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$5,15,25,35,45$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Mean: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$28=\frac{5\times2+15\times3+25\times x+35\times5+45\times4}{14+x}$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$392+28x=410+25x$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$3x=18$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(total frequency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Variance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$=\frac{\sum f_ix_i^2}{\sum f_i}-\bar 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35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45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28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675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3750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6125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8100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784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18700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784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935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784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$=\frac{2(5)^2+3(15)^2+6(25)^2+5(35)^2+4(45)^2}{20}-28^2$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$=\frac{50+675+3750+6125+8100}{20}-784$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$=\frac{18700}{20}-784=935-784=151$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151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Step-deviation: 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so the class marks become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use </a:t>
                </a: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100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b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Step-deviation: put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$d=\frac{x-25}{10}$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so the class marks become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$-2,-1,0,1,2$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use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$\sigma_x^2=100\,\sigma_d^2$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classes have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frequencies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</a:t>
                </a:r>
                <a14:m>
                  <m:oMath xmlns:m="http://schemas.openxmlformats.org/officeDocument/2006/math"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$d=\frac{x-25}{10}$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classes have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$d=-2,-1,0,1,2$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frequencies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$2,3,x,5,4$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 fd=-4-3+0+5+8=6$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$N=14+x$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$\bar d=\frac{6}{14+x}$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$\bar x=28$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$\bar d=0.3$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$\frac6{14+x}=0.3$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$14+x=20$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0.3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1.6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0.09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1.51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1.51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 fd^2=8+3+0+5+16=32$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$\sigma_d^2=\frac{32}{20}-0.3^2=1.6-0.09=1.51$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$\sigma_x^2=10^2\times1.51=151$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151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grouped data use class marks (mid-values) as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Variance is unchanged by a shift and scales by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14:m>
                  <m:oMath xmlns:m="http://schemas.openxmlformats.org/officeDocument/2006/math"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this keeps all numbers small.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∑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b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∑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acc>
                          <m:accPr>
                            <m:chr m:val="‾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(mean of squares minus square of mean).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given mean is one linear equation in the unknown frequency; solve it before computing the variance (here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grouped data use class marks (mid-values)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Variance is unchanged by a shift and scales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$d=\frac{x-a}{h}$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$\bar x=a+h\bar 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$\sigma_x^2=h^2\sigma_d^2$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this keeps all numbers small.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$\sigma^2=\frac{\sum f_ix_i^2}{\sum f_i}-\bar 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(mean of squares minus square of mean).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given mean is one linear equation in the unknown frequency; solve it before computing the variance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178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mean of the data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frequency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be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respectively the mean deviation about the mean and the variance of the data, then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σ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 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178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mean of the data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$x:1,3,5,7,9$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frequency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$f:4,24,28,\alpha,8$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be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$\sigma^2$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respectively the mean deviation about the mean and the variance of the data,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$\frac{3\alpha}{m+\sigma^2}$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 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626611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Mean deviation and variance of a frequency distribution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mean fixes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compute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∑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∑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∑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∑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about the mean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mean fixes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$\alpha=16$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compute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$m=\frac{\sum f|x-5|}{\sum f}$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$\sigma^2=\frac{\sum f(x-5)^2}{\sum f}$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about the mean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Mean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28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288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Mean deviation about the mean: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∑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∑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80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48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Mean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$\frac{4\cdot1+24\cdot3+28\cdot5+7\alpha+8\cdot9}{64+\alpha}=5$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$\frac{288+7\alpha}{64+\alpha}=5$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 f_i=80$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Mean deviation about the mean: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$m=\frac{\sum f_i|x_i-5|}{\sum f_i}=\frac{4\times4+24\times2+0+16\times2+8\times4}{80}$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$m=\frac{16+48+0+32+32}{80}=\frac{128}{80}=\frac85$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Variance: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∑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∑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80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352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σ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num>
                      <m:den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Variance: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$\sigma^2=\frac{\sum f_i(x_i-5)^2}{\sum f_i}=\frac{4\times16+24\times4+0+16\times4+8\times16}{80}$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$\sigma^2=\frac{64+96+0+64+128}{80}=\frac{352}{80}=\frac{22}{5}$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$\frac{3\alpha}{m+\sigma^2}=\frac{3\times16}{\frac85+\frac{22}5}=\frac{48}{6}=8$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8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Step-deviation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turns the data into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bar>
                      <m:barPr>
                        <m:pos m:val="top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</m:ba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bar>
                      <m:barPr>
                        <m:pos m:val="top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ba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once.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Step-deviation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$d=\frac{x-5}{2}$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turns the data into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$-2,-1,0,1,2$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$m=2\overline{|d|}$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$\sigma^2=4\overline{d^2}$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$\sum fd=0$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once.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frequencies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Mean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exactly when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$d=\frac{x-5}{2}$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$d=-2,-1,0,1,2$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frequencies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$4,24,28,\alpha,8$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Mean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exactly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 fd=0$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$-8-24+0+\alpha+16=0$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$N=80$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 f|d|=8+24+0+16+16=64$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$m=2\cdot\frac{64}{80}=\frac85$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σ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 fd^2=16+24+0+16+32=88$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$\sigma^2=4\cdot\frac{88}{80}=\frac{22}5$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$\frac{3\alpha}{m+\sigma^2}=\frac{48}{6}=8$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8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Mean deviation about the mean uses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(first power); variance uses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Do not mix the two formulas.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data are equally spaced,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acc>
                          <m:accPr>
                            <m:chr m:val="‾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makes the mean condition simply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Under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mean deviation scales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variance by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Instance: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always re-check the mean with the found frequency (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288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Mean deviation about the mean uses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$|x_i-\bar x|$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(first power); variance uses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$(x_i-\bar x)^2$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Do not mix the two formulas.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data are equally spaced,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$d=\frac{x-\bar x}{h}$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makes the mean condition simply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 fd=0$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Under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$x=a+hd$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mean deviation scales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variance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Instance: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$m=\frac85$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$\sigma^2=\frac{22}5$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always re-check the mean with the found frequency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$\frac{288+112}{80}=5$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3799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two sets of observations. If </a:t>
                </a:r>
                <a14:m>
                  <m:oMath xmlns:m="http://schemas.openxmlformats.org/officeDocument/2006/math"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their respective means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variance of all the observations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 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37997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$X=\{11,12,13,\ldots,40,41\}$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$Y=\{61,62,63,\ldots,90,91\}$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two sets of observations.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$\bar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$\bar 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their respective means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$\sigma^2$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variance of all the observations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$X\cup 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$|\bar x+\bar y-\sigma^2|$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 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888739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Combined mean and variance of two data sets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Both sets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-term A.P.s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placed symmetrically about the combined mean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their sums of squared deviations are equal.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Both sets are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$31$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-term A.P.s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$d=1$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placed symmetrically about the combined mean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$51$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their sums of squared deviations are equal.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elements) and </a:t>
                </a:r>
                <a14:m>
                  <m:oMath xmlns:m="http://schemas.openxmlformats.org/officeDocument/2006/math"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elements).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Combined mean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62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nary>
                          <m:naryPr>
                            <m:chr m:val="∑"/>
                            <m:limLoc m:val="undOvr"/>
                            <m:subHide m:val="off"/>
                            <m:supHide m:val="off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31</m:t>
                            </m:r>
                          </m: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</m:e>
                        </m:nary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μ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nary>
                          <m:naryPr>
                            <m:chr m:val="∑"/>
                            <m:limLoc m:val="undOvr"/>
                            <m:subHide m:val="off"/>
                            <m:supHide m:val="off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31</m:t>
                            </m:r>
                          </m: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</m:e>
                        </m:nary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μ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 A.P.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 and common difference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so are the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runs over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over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$\bar x=\frac{11+41}{2}=26$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elements)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$\bar y=\frac{61+91}{2}=76$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elements).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Combined mean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$\mu=\frac{31\times26+31\times76}{31+31}=\frac{26+76}{2}=51$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$\sigma^2=\frac1{62}\left(\sum_{i=1}^{31}(x_i-\mu)^2+\sum_{i=1}^{31}(y_i-\mu)^2\right)$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 A.P.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 and common difference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so are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$y_i$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$x_i-51$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runs over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$-40,\ldots,-10$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$y_i-51$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over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$10,\ldots,40$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μ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40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40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22140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21855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21855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705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705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603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$\sum(x_i-\mu)^2=\sum(y_i-\mu)^2=10^2+11^2+\cdots+40^2$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$10^2+\cdots+40^2=\frac{40\cdot41\cdot81}{6}-\frac{9\cdot10\cdot19}{6}=22140-285=21855$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$\sigma^2=\frac{2\times21855}{62}=705$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$|\bar x+\bar y-\sigma^2|=|26+76-705|=603$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603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81051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the equal-size combination formula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σ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σ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acc>
                                  <m:accPr>
                                    <m:chr m:val="‾"/>
                                    <m:ctrlPr>
                                      <a:rPr lang="en-IN" sz="2400" i="1">
                                        <a:solidFill>
                                          <a:srgbClr val="78350F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IN" sz="2400" i="1">
                                        <a:solidFill>
                                          <a:srgbClr val="78350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acc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‾"/>
                                    <m:ctrlPr>
                                      <a:rPr lang="en-IN" sz="2400" i="1">
                                        <a:solidFill>
                                          <a:srgbClr val="78350F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IN" sz="2400" i="1">
                                        <a:solidFill>
                                          <a:srgbClr val="78350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acc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the variance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consecutive integers.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81051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the equal-size combination formula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$\sigma^2=\frac{\sigma_1^2+\sigma_2^2}{2}+\left(\frac{\bar x-\bar y}{2}\right)^2$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the variance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$\frac{n^2-1}{12}$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consecutive integers.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3227832"/>
                <a:ext cx="10725912" cy="344728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consecutive integers the variance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both sets have variance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960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two groups of equal size,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σ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σ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acc>
                                  <m:accPr>
                                    <m:chr m:val="‾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acc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‾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acc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76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26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625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3227832"/>
                <a:ext cx="10725912" cy="344728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consecutive integers the variance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$\frac{n^2-1}{12}$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$n=31$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both sets have variance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$\frac{960}{12}=80$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two groups of equal size,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$\sigma^2=\frac{\sigma_1^2+\sigma_2^2}{2}+\left(\frac{\bar x-\bar y}{2}\right)^2$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$\bar x=26$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$\bar y=76$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$\left(\frac{76-26}{2}\right)^2=625$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705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705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603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$\sigma^2=\frac{80+80}{2}+625=705$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$|26+76-705|=603$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603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 of an A.P. with common difference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variance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(consecutive integers: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Two groups of sizes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σ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b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σ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e>
                            <m:acc>
                              <m:accPr>
                                <m:chr m:val="‾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acc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acc>
                              <m:accPr>
                                <m:chr m:val="‾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acc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equal sizes give the half-sum plus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e>
                                    <m:acc>
                                      <m:accPr>
                                        <m:chr m:val="‾"/>
                                        <m:ctrlP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e>
                                    <m:acc>
                                      <m:accPr>
                                        <m:chr m:val="‾"/>
                                        <m:ctrlP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sums of squares over a range are differences of two such values.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Instance: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over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plus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625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705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 of an A.P. with common difference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variance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$=\frac{d^2(n^2-1)}{12}$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(consecutive integers: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$\frac{n^2-1}{12}$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Two groups of sizes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$n_1,n_2$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$\sigma^2=\frac{n_1\sigma_1^2+n_2\sigma_2^2}{n_1+n_2}+\frac{n_1n_2(\bar x_1-\bar x_2)^2}{(n_1+n_2)^2}$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equal sizes give the half-sum plus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$\left(\frac{\bar x_1-\bar x_2}2\right)^2$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$\sum_{k=1}^{n}k^2=\frac{n(n+1)(2n+1)}6$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sums of squares over a range are differences of two such values.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Instance: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$80+80$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over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plus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$25^2=625$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$\sigma^2=705$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number of seven digit positive integers formed using the digits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 and sum of the digits equal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______ 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number of seven digit positive integers formed using the digits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$1,2,3$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 and sum of the digits equal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______ 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Number of solutions of a linear equation with bounded variables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count is the coefficient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write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expand.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count is the coefficient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$x^{12}$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$(x+x^2+x^3+x^4)^7$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write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$1+x+x^2+x^3=\frac{1-x^4}{1-x}$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expand.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digits be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number of solutions is the coefficient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Taking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out, this is the coefficient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it is the coefficient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digits be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$x_1,\ldots,x_7\in\{1,2,3,4\}$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$x_1+x_2+\cdots+x_7=12$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number of solutions is the coefficient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$x^{12}$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$(x^1+x^2+x^3+x^4)^7$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out, this is the coefficient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$(1+x+x^2+x^3)^7$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$1+x+x^2+x^3=\frac{1-x^4}{1-x}$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it is the coefficient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$(1-x^4)^7(1-x)^{-7}$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Up to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next term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e>
                    </m:nary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Coefficient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462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413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Up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$(1-x^4)^7=1-7x^4$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next term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$(1-x)^{-7}=\sum_{r=0}^{\infty}{}^{7+r-1}C_r\,x^r$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Coefficient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$(1-7x^4)(1-x)^{-7}$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${}^{11}C_5-7\times{}^7C_1$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$=462-49=413$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413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Shift each digit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 and count by the multiset of non-zero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i.e. by partitions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into parts at most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Shift each digit by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$y_i=x_i-1\in\{0,1,2,3\}$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$\sum y_i=5$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 and count by the multiset of non-zero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$y_i$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i.e. by partitions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into parts at most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we need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non-zero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form a partition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into parts of size at most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Parts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choose positions in order,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ways.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Parts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ways.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Parts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ways.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$y_i=x_i-1\in\{0,1,2,3\}$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we need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$y_1+\cdots+y_7=5$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non-zero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$y_i$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form a partition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into parts of size at most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Parts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$\{3,2\}$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choose positions in order,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$7\times6=42$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ways.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Parts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$\{3,1,1\}$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$7\times{}^6C_2=105$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ways.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Parts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$\{2,2,1\}$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${}^7C_2\times5=105$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ways.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Parts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ways.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Parts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ways (the partitions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excluded because a part cannot exceed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413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Parts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$\{2,1,1,1\}$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$7\times{}^6C_3=140$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ways.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Parts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$\{1,1,1,1,1\}$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${}^7C_5=21$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ways (the partitions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excluded because a part cannot exceed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$=42+105+105+140+21=413$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413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Number of solutions of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coefficient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𝑚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Equivalently: unrestricted stars-and-bars count minus the arrangements where some variable exceeds its bound (inclusion-exclusion);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 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462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Only the first correction term matters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(two variables cannot both overflow);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Number of solutions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$x_1+\cdots+x_k=s$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$1\le x_i\le 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coefficient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$x^{s-k}$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$\left(\frac{1-x^m}{1-x}\right)^k$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$\sum_{j}(-1)^j\,{}^kC_j\,{}^{s-k-jm+k-1}C_{k-1}$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Equivalently: unrestricted stars-and-bars count minus the arrangements where some variable exceeds its bound (inclusion-exclusion);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$\;{}^{11}C_6-7\cdot{}^7C_6=462-49$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Only the first correction term matters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$2m&gt;s-k$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(two variables cannot both overflow);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$2\cdot4=8&gt;5$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92861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49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up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den>
                            </m:f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integers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gcd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 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92861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$1+\frac{\sqrt3-\sqrt2}{2\sqrt3}+\frac{5-2\sqrt6}{18}+\frac{9\sqrt3-11\sqrt2}{36\sqrt3}+\frac{49-20\sqrt6}{180}+\cdots$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up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$\infty=2+\left(\sqrt{\frac ba}+1\right)\log_e\left(\frac ab\right)$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integers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$\gcd(a,b)=1$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$11a+18b$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 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43738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Infinite series: logarithmic series with partial fractions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4(A level above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terms are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split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sum two logarithmic series.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terms are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$\frac{t^n}{n(n+1)}$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$t=1-\sqrt{2/3}$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split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$\frac1{n(n+1)}=\frac1n-\frac1{n+1}$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sum two logarithmic series.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Rewrite the terms: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general term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Rewrite the terms: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$\frac{\sqrt3-\sqrt2}{2\sqrt3}=\frac{1-\sqrt2/\sqrt3}{2}$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 \frac{5-2\sqrt6}{18}=\frac{(1-\sqrt2/\sqrt3)^2}{6}$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 \frac{9\sqrt3-11\sqrt2}{36\sqrt3}=\frac{(1-\sqrt2/\sqrt3)^3}{12}$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$t=1-\frac{\sqrt2}{\sqrt3}$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$0&lt;t&lt;1$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$S=1+\frac t2+\frac{t^2}6+\frac{t^3}{12}+\cdots$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general term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$\frac{t^n}{n(n+1)}$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$\frac1{n(n+1)}=\frac1n-\frac1{n+1}$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$S=1+\left(1-\frac12\right)t+\left(\frac12-\frac13\right)t^2+\left(\frac13-\frac14\right)t^3+\cdots$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⋯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⋯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First bracket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second: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$S=1+\left(t+\frac{t^2}2+\frac{t^3}3+\cdots\right)-\frac1t\left(\frac{t^2}2+\frac{t^3}3+\frac{t^4}4+\cdots\right)$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First bracket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$=-\ln(1-t)$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second: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$\frac{t^2}2+\frac{t^3}3+\cdots=-\ln(1-t)-t$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$S=1-\ln(1-t)+\frac1t\ln(1-t)+1=2+\left(\frac1t-1\right)\ln(1-t)$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$\frac1t-1=\frac{1-t}{t}=\frac{\sqrt2/\sqrt3}{1-\sqrt2/\sqrt3}=\frac{\sqrt2}{\sqrt3-\sqrt2}=\sqrt2(\sqrt3+\sqrt2)=\sqrt6+2$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$\ln(1-t)=\ln\sqrt{\frac23}=\frac12\ln\frac23$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$S=2+\frac{\sqrt6+2}{2}\ln\frac23=2+\left(\sqrt{\frac32}+1\right)\ln\frac23$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Comparing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den>
                            </m:f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Comparing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$2+\left(\sqrt{\frac ba}+1\right)\ln\frac 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$11a+18b=22+54=76$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76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Sum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∑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differentiating twice: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integrate back.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Sum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$f(t)=\sum\frac{t^n}{n(n+1)}$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differentiating twice: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$\big(tf\big)''=\sum t^{n-1}=\frac1{1-t}$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integrate back.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den>
                        </m:f>
                      </m:e>
                    </m:nary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Integrating,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(check: its derivative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$g(t)=t\,f(t)=\sum_{n\ge1}\frac{t^{n+1}}{n(n+1)}$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$g(0)=g'(0)=0$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$g'(t)=\sum_{n\ge1}\frac{t^n}{n}=-\ln(1-t)$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$g''(t)=\sum_{n\ge1}t^{n-1}=\frac1{1-t}$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$|t|&lt;1$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Integrating,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$g(t)=\int_0^t-\ln(1-s)\,ds=t+(1-t)\ln(1-t)$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(check: its derivative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$1-\ln(1-t)-1=-\ln(1-t)$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$g(0)=0$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series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$f(t)=1+\frac{1-t}{t}\ln(1-t)$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series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$S=1+f(t)=2+\frac{1-t}{t}\ln(1-t)$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$t=1-\sqrt{2/3}$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$\frac{1-t}t=\sqrt6+2$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$\ln(1-t)=\frac12\ln\frac23$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$S=2+\left(\sqrt{\frac32}+1\right)\ln\frac23$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$11a+18b=76$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76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E8808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4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Recognise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denominators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den>
                        </m:f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both sides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0.3069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Basic series: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≥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Surd terms such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suggest powers of one quantity: here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f>
                                  <m:fPr>
                                    <m:type m:val="lin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den>
                                </m:f>
                              </m:e>
                            </m:rad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test the first three terms to find the common ratio.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sum tends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a quick sanity check of the closed form.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Recognise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$\frac{1}{n(n+1)}$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denominators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$2,6,12,20,\ldots$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$\sum_{n\ge1}\frac{t^n}{n(n+1)}=1+\frac{1-t}{t}\ln(1-t)$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$0&lt;|t|&lt;1$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both sides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$\approx0.3069$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Basic series: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$\sum_{n\ge1}\frac{t^n}n=-\ln(1-t)$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$\sum_{n\ge1}\frac{t^{n+1}}{n+1}=-\ln(1-t)-t$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Surd terms such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$5-2\sqrt6=(\sqrt3-\sqrt2)^2$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suggest powers of one quantity: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$\left(1-\sqrt{\tfrac23}\right)^n$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test the first three terms to find the common ratio.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$t\to1^-$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sum tends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$(1-t)\ln(1-t)\to0$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a quick sanity check of the closed form.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number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digit numbers that can be formed using all the digits of the number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123412341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 that the even digits occupy only even places is ______ 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number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digit numbers that can be formed using all the digits of the number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$123412341$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 that the even digits occupy only even places is ______ 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Arrangements of repeated digits with place restrictions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There are exactly four even places for the four even digits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odd digits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fill the five odd places separately.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There are exactly four even places for the four even digits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$2,2,4,4$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odd digits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$1,1,1,3,3$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fill the five odd places separately.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digits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(odd)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(even).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-digit number has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even places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nd,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th)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odd places.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four even digits must occupy the four even places: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ways.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digits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$1,1,1,3,3$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(odd)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$2,2,4,4$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(even).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-digit number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even places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nd,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th)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odd places.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four even digits must occupy the four even places: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$\frac{4!}{2!\,2!}=6$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ways.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five odd digits fill the five odd places: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ways.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Required number of numbers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five odd digits fill the five odd places: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$\frac{5!}{3!\,2!}=10$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ways.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Required number of numbers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$=6\times10=60$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60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Choose positions instead of permuting: pick the places of the two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 among the even places and of the two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 among the odd places.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Choose positions instead of permuting: pick the places of the two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 among the even places and of the two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 among the odd places.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288950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Even digits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fill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even places; once the two places of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 are chosen,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 go in the rest: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Odd digits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fill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odd places; choose the two places of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288950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Even digits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$2,2,4,4$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fill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even places; once the two places of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 are chosen,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 go in the rest: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${}^4C_2=6$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Odd digits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$1,1,1,3,3$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fill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odd places; choose the two places of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${}^5C_2=10$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$=6\times10=60$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60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Arrangements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objects with repeats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number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⋯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equivalently choose positions: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a restriction forces a type of objects into a fixed set of places (here evens into evens), the two types are counted independently and multiplied.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count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restricted objects in exactly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allowed places leaves no choice of places: only the arrangement among them matters.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Instance: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without the restriction the count would be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7560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Arrangements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objects with repeats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$r_1,r_2,\ldots$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number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$\frac{n!}{r_1!\,r_2!\cdots}$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equivalently choose positions: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${}^nC_{r_1}\,{}^{n-r_1}C_{r_2}\cdots$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a restriction forces a type of objects into a fixed set of places (here evens into evens), the two types are counted independently and multiplied.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count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restricted objects in exactly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allowed places leaves no choice of places: only the arrangement among them matters.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Instance: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$\frac{4!}{2!2!}\cdot\frac{5!}{3!2!}=6\cdot10$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without the restriction the count would be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$\frac{9!}{3!\,2!\,2!\,2!}=7560$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​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11</m:t>
                                </m:r>
                              </m:sup>
                            </m:sSup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gcd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 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$\sum_{r=0}^{5}\frac{{}^{11}C_{2r+1}}{2r+2}=\frac mn$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$\gcd(m,n)=1$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$m-n$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 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Binomial coefficient identities and sums of alternate coefficients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sum becomes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of the even-indexed binomial coefficients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${}^{11}C_{2r+1}\cdot\frac{12}{2r+2}={}^{12}C_{2r+2}$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the sum becomes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$\frac1{12}$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of the even-indexed binomial coefficients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​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11</m:t>
                                </m:r>
                              </m:sup>
                            </m:sSup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</m:sup>
                        </m:sSup>
                      </m:e>
                    </m:nary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(using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</m:sup>
                        </m:sSup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</m:sup>
                        </m:sSup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</m:sup>
                        </m:sSup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</m:sup>
                        </m:sSup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</m:sup>
                        </m:sSup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</m:sup>
                        </m:sSup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</m:sub>
                        </m:sSub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even-indexed coefficients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total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missing: the bracket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$\sum_{r=0}^5\frac{{}^{11}C_{2r+1}}{2r+2}=\frac1{12}\sum_{r=0}^5\frac{12}{2r+2}\,{}^{11}C_{2r+1}=\frac1{12}\sum_{r=0}^5{}^{12}C_{2r+2}$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(using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${}^{n+1}C_{k+1}=\frac{n+1}{k+1}{}^nC_k$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$=\frac1{12}\left[{}^{12}C_2+{}^{12}C_4+{}^{12}C_6+{}^{12}C_8+{}^{12}C_{10}+{}^{12}C_{12}\right]$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even-indexed coefficients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$(1+x)^{12}$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total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$2^{12-1}$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${}^{12}C_0=1$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missing: the bracket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$2^{11}-1$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11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2047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gcd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2047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2047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2047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2035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$=\frac1{12}\left(2^{11}-1\right)=\frac{2047}{12}$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$\gcd(2047,12)=1$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$2047=23\times89$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$m=2047$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$m-n=2035$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2035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Integrate the binomial expansion: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e>
                    </m:nary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the odd-index part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11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11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Integrate the binomial expansion: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$\frac1{2r+2}=\int_0^1x^{2r+1}dx$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the odd-index part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$(1+x)^{11}$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$\frac{(1+x)^{11}-(1-x)^{11}}2$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sum is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nary>
                          <m:naryPr>
                            <m:chr m:val="∑"/>
                            <m:limLoc m:val="undOvr"/>
                            <m:subHide m:val="off"/>
                            <m:supHide m:val="off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p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​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11</m:t>
                                </m:r>
                              </m:sup>
                            </m:sSup>
                          </m:e>
                        </m:nary>
                      </m:e>
                    </m:nary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11</m:t>
                            </m:r>
                          </m:sup>
                        </m:sSup>
                      </m:e>
                    </m:nary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11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11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nary>
                      <m:naryPr>
                        <m:chr m:val="∫"/>
                        <m:limLoc m:val="subSup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$\frac1{2r+2}=\int_0^1x^{2r+1}dx$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sum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$\int_0^1\sum_{r=0}^5{}^{11}C_{2r+1}x^{2r+1}dx$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$\sum_{r=0}^5{}^{11}C_{2r+1}x^{2r+1}=\frac{(1+x)^{11}-(1-x)^{11}}{2}$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$\int_0^1(1+x)^{11}dx=\frac{2^{12}-1}{12}$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$\int_0^1(1-x)^{11}dx=\frac1{12}$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4094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2047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2047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2035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$=\frac12\cdot\frac{2^{12}-1-1}{12}=\frac{4094}{24}=\frac{2047}{12}$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$m-n=2047-12=2035$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2035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dividing a coefficient by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raises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one.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of even-indexed (or odd-indexed) coefficients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​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</m:sSup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Odd part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integrating it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sums with factors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${}^{n}C_{k}\cdot\frac{n+1}{k+1}={}^{n+1}C_{k+1}$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dividing a coefficient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$(k+1)$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raises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one.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of even-indexed (or odd-indexed) coefficients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$(1+x)^n$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$2^{n-1}$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$n\ge1$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$\sum_{k=0}^n\frac{{}^nC_k}{k+1}=\frac{2^{n+1}-1}{n+1}$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(check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$1+1+\frac13=\frac73$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Odd part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$(1+x)^n$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$\frac{(1+x)^n-(1-x)^n}2$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integrating it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sums with factors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$\frac1{k+1}$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7518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Suppose Anil's mother wants to give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whole fruits to Anil from a basket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red apples,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white apples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oranges. If in the selected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fruits, at least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oranges, at least one red apple and at least one white apple must be given, then the number of ways Anil's mother can offer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fruits to Anil is ______ 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7518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Suppose Anil's mother wants to give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whole fruits to Anil from a basket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red apples,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white apples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oranges. If in the selected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fruits, at least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oranges, at least one red apple and at least one white apple must be given, then the number of ways Anil's mother can offer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fruits to Anil is ______ 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260596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Selections with at-least conditions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be the numbers of red, white, orange fruits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only three compositions exist, each counted by products of combinations.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$x,y,z$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be the numbers of red, white, orange fruits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$x\ge1$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$y\ge1$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$z\ge2$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$x+y+z=5$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only three compositions exist, each counted by products of combinations.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red apples,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white apples,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oranges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Only three cases: C-I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C-II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C-III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C-I: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2940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red apples,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white apples,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oranges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$x+y+z=5$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$x\ge1$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$y\ge1$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$z\ge2$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Only three cases: C-I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$(x,y,z)=(2,1,2)$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C-II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$(1,2,2)$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C-III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$(1,1,3)$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C-I: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${}^7C_2\cdot{}^5C_1\cdot{}^8C_2=21\times5\times28=2940$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C-II: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1960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C-III: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1960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2940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1960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1960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6860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C-II: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${}^7C_1\cdot{}^5C_2\cdot{}^8C_2=7\times10\times28=1960$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C-III: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${}^7C_1\cdot{}^5C_1\cdot{}^8C_3=7\times5\times56=1960$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$=2940+1960+1960=6860$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6860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Inclusion-exclusion on the three conditions: total selections with at least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oranges, minus those with no red, minus those with no white, plus those with neither.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Inclusion-exclusion on the three conditions: total selections with at least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oranges, minus those with no red, minus those with no white, plus those with neither.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Selections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fruits with at least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oranges: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15504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792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3960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10752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at least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oranges and no red apple (from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white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oranges):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1287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1246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at least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oranges and no white apple (from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red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oranges):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3003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2702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Selections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fruits with at least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oranges: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${}^{20}C_5-{}^{12}C_5-8\cdot{}^{12}C_4=15504-792-3960=10752$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at least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oranges and no red apple (from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white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oranges):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${}^{13}C_5-{}^5C_5-8\cdot{}^5C_4=1287-1-40=1246$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at least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oranges and no white apple (from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red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oranges):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${}^{15}C_5-{}^7C_5-8\cdot{}^7C_4=3003-21-280=2702$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at least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oranges and neither red nor white: all five are oranges,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Required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10752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1246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2702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6860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at least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oranges and neither red nor white: all five are oranges,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${}^8C_5=56$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Required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$=10752-1246-2702+56=6860$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6860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'at least' conditions on types, list the compositions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the minimum values and count each by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∏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valid when all fruits are distinguishable.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Number of compositions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the solutions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non-negative integers: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PDF's alternative key '3' counts compositions, i.e. treats fruits of one kind as identical).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Inclusion-exclusion is the safe general method when several 'at least one' conditions overlap.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Instance: both methods give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6860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2940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1960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1960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10752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1246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2702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'at least' conditions on types, list the compositions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$(x,y,z)$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the minimum values and count each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$\prod{}^{n_i}C_{x_i}$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valid when all fruits are distinguishable.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Number of compositions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$x\ge1,y\ge1,z\ge2$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the solutions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$x'+y'+z'=1$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non-negative integers: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${}^{3}C_{2}=3$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PDF's alternative key '3' counts compositions, i.e. treats fruits of one kind as identical).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Inclusion-exclusion is the safe general method when several 'at least one' conditions overlap.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Instance: both methods give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$6860$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$2940+1960+1960$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$10752-1246-2702+56$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number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-digit numbers (the repetition of digits is allowed) which are made using the digits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are divisible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 equal to ______ 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number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-digit numbers (the repetition of digits is allowed) which are made using the digits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$1,2,3$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are divisible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 equal to ______ 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Counting numbers with divisibility conditions (repetition allowed)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Divisible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means divisible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(last digit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 and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(digit sum a multiple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), so the first three digits must have sum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mod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Divisible by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$15$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means divisible by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(last digit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 and by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(digit sum a multiple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), so the first three digits must have sum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$\equiv1\pmod3$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Divisible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last digit must be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sum of the digits must be divisible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sum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arrangements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sum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sum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Divisible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last digit must be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sum of the digits must be divisible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$1,2,1,(5)$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$4+5=9$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arrangements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$\frac{3!}{2!}=3$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$2,2,3,(5)$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$7+5=12$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$\frac{3!}{2!}=3$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$3,3,1,(5)$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$7+5=12$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$\frac{3!}{2!}=3$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sum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sum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!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sum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$1,1,5,(5)$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$7+5=12$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$\frac{3!}{2!}=3$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$2,3,5,(5)$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$10+5=15$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$3!=6$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$3,5,5,(5)$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$13+5=18$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$\frac{3!}{2!}=3$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$=3+3+3+3+6+3=21$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21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Work with digits modulo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count triples whose residues sum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a generating polynomial modulo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Work with digits modulo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$1\to1$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$2\to2$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$3\to0$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$5\to2$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count triples whose residues sum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a generating polynomial modulo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$x^3-1$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last digit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residue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first three digits must have residue sum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mod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Residue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digit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(1 way); residue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digit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(1 way); residue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digits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(2 ways). Weight polynomial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(using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last digit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residue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first three digits must have residue 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$\equiv1\pmod3$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Residue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digit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(1 way); residue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digit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(1 way); residue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digits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$2,5$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(2 ways). Weight polynomial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$P(x)=1+x+2x^2$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$x^3=1$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$P^2=1+2x+5x^2+4x^3+4x^4=5+6x+5x^2$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(using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$x^3=1$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collecting the coefficient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number of valid numbers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answer; the other residue classes give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totalling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$P^3=(5+6x+5x^2)(1+x+2x^2)$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collecting the coefficient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$5\cdot1\cdot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$5\times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$6x\times1$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$5x^2\times2x^2=10x^4=10x$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$5+6+10=21$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number of valid numbers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answer; the other residue classes give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totalling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$4^3=64$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21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Divisibility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divisibility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last digit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digit sum a multiple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Count digit strings with a residue condition via the generating polynomial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 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mod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taken modulo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answer is a coefficient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residues are spread evenly the count is about one third of all strings;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triples split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Instance: residues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Divisibility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divisibility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last digit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digit sum a multiple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Count digit strings with a residue condition via the generating polynomial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$P(x)=\sum x^{d\bmod3}$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taken modulo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$x^3-1$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answer is a coefficient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$P(x)^k$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residues are spread evenly the count is about one third of all strings;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triples split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$22,21,21$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Instance: residues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$1,2,3,5$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$1,2,0,2$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$P=1+x+2x^2$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sum of all the four-digit numbers that can be formed using all the digits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 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sum of all the four-digit numbers that can be formed using all the digits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$2,1,2,3$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 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Sum of numbers formed by permuting digits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By symmetry, count how often each digit appears in each place and sum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𝑑𝑖𝑔𝑖𝑡 𝑡𝑜𝑡𝑎𝑙 𝑖𝑛 𝑎 𝑝𝑙𝑎𝑐𝑒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𝑝𝑙𝑎𝑐𝑒 𝑣𝑎𝑙𝑢𝑒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By symmetry, count how often each digit appears in each place and sum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$(\text{digit total in a place})\times(\text{place value})$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𝑠𝑢𝑚 𝑜𝑓 𝑑𝑖𝑔𝑖𝑡𝑠 𝑖𝑛 𝑢𝑛𝑖𝑡 𝑝𝑙𝑎𝑐𝑒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𝑡𝑒𝑛𝑠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ℎ𝑢𝑛𝑑𝑟𝑒𝑑𝑠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𝑡ℎ𝑜𝑢𝑠𝑎𝑛𝑑𝑠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Fix a place. Digit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occupies it in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numbers, digit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!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numbers, digit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numbers.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of digits in any one place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$=(\text{sum of digits in unit place})\times10^0+(\text{tens})\times10^1+(\text{hundreds})\times10^2+(\text{thousands})\times10^3$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Fix a place. Digit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occupies it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$\frac{3!}{2!}=3$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numbers, digit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$3!=6$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numbers, digit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$\frac{3!}{2!}=3$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numbers.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of digits in any one place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$=1\times3+2\times6+3\times3=24$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1111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26664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$=24\times(10^0+10^1+10^2+10^3)=24\times1111$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$=26664$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26664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Symmetry: every place has the same average digit (the mean of the digits), so the average number is (mean digit)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1111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multiply by the number of arrangements.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Symmetry: every place has the same average digit (the mean of the digits), so the average number is (mean digit)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$\times1111$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multiply by the number of arrangements.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288950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Number of distinct arrangements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symmetry each place has average digit equal to the mean of the digits: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average of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numbers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2222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2222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26664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288950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Number of distinct arrangements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$2,1,2,3$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$\frac{4!}{2!}=12$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symmetry each place has average digit equal to the mean of the digits: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$\frac{2+1+2+3}{4}=2$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the average of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numbers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$2\times1111=2222$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$=12\times2222=26664$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26664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of all numbers formed by permuting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digits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distinct arrangements, digit sum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all digits used, none zero):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 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Σ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limLow>
                      <m:e>
                        <m:limLow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⋯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lim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⏟</m:t>
                            </m:r>
                          </m:lim>
                        </m:limLow>
                      </m:e>
                      <m:li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lim>
                    </m:limLow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distinct digits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!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sum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!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limLow>
                      <m:e>
                        <m:limLow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⋯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lim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⏟</m:t>
                            </m:r>
                          </m:lim>
                        </m:limLow>
                      </m:e>
                      <m:li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lim>
                    </m:limLow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among the digits the symmetry argument must exclude leading zeros (subtract the numbers starting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or recount the thousands place separately).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Instance: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1111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26664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 of all numbers formed by permuting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digits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distinct arrangements, digit 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$\Sigma$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all digits used, none zero):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$\;N\cdot\frac{\Sigma}{n}\cdot\underbrace{11\cdots1}_{n}$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distinct digits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$N=n!$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sum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$(n-1)!\,\Sigma\cdot\underbrace{11\cdots1}_n$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among the digits the symmetry argument must exclude leading zeros (subtract the numbers starting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or recount the thousands place separately).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Instance: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$\frac{4!}{2!}\cdot\frac84\cdot1111=12\cdot2\cdot1111=26664$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081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Five digit numbers are formed using the digits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repetitions and are written in descending order with serial numbers. For example, the number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77777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serial number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serial number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35337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______ 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081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Five digit numbers are formed using the digits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$1,2,3,5,7$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repetitions and are written in descending order with serial numbers. For example, the number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$77777$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serial number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serial number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$35337$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______ 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516884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Rank of a number in an ordered list (repetition allowed)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Count the numbers larger than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35337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place by place: at each position, every larger digit contributes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  <m:sup>
                        <m:r>
                          <m:rPr>
                            <m:nor/>
                          </m:r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(𝑟𝑒𝑚𝑎𝑖𝑛𝑖𝑛𝑔 𝑝𝑙𝑎𝑐𝑒𝑠)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numbers.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Count the numbers larger than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$35337$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place by place: at each position, every larger digit contributes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$5^{\text{(remaining places)}}$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numbers.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descending order the digits rank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serial number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𝑛𝑢𝑚𝑏𝑒𝑟 𝑜𝑓 𝑛𝑢𝑚𝑏𝑒𝑟𝑠 𝑔𝑟𝑒𝑎𝑡𝑒𝑟 𝑡ℎ𝑎𝑛 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35337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Numbers starting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625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Numbers starting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625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Numbers starting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Numbers starting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third digit larger than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357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355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descending order the digits rank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$7,5,3,2,1$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serial number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$1+(\text{number of numbers greater than }35337)$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Numbers starting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$5^4=625$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Numbers starting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Numbers starting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$37\ldots$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$5^3=125$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Numbers starting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third digit larger than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$357\ldots$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$5^2=25$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$355\ldots$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Numbers starting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353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fourth digit larger than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3537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3535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Numbers starting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3533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fifth digit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that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35337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itself, counted once.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Serial number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1436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Numbers starting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$353$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fourth digit larger than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$3537\ldots$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$3535\ldots$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Numbers starting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$3533$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fifth digit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that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$35337$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itself, counted once.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Serial number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$=625+625+125+25+25+5+5+1=1436$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1436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Treat the numbers as base-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numbers: relabel the digits by their rank in descending order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); the serial number is the base-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value plus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Treat the numbers as base-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numbers: relabel the digits by their rank in descending order (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$7\to0,\,5\to1,\,3\to2,\,2\to3,\,1\to4$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); the serial number is the base-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value plus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Descending order of the five-digit strings is the same as increasing order of base-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numerals after the relabelling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35337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the base-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numeral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21220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Descending order of the five-digit strings is the same as increasing order of base-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numerals after the relabelling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$7\to0$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$5\to1$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$3\to2$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$2\to3$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$1\to4$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$35337\to2,1,2,2,0$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the base-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numeral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$21220_5$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21220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1250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1435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77777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00000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serial number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serial number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1435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1436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$21220_5=2\cdot625+1\cdot125+2\cdot25+2\cdot5+0=1250+125+50+10=1435$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$77777\to00000_5=0$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serial number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serial number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$=1435+1=1436$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1436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Ranking strings over an ordered alphabet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symbols is positional notation in base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rank (from the smallest)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value of the string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Dictionary-order rank without repetition: add, place by place, (number of unused smaller letters)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𝑟𝑒𝑚𝑎𝑖𝑛𝑖𝑛𝑔 𝑝𝑙𝑎𝑐𝑒𝑠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!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with repetition replace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!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m:rPr>
                            <m:nor/>
                          </m:r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𝑟𝑒𝑚𝑎𝑖𝑛𝑖𝑛𝑔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Always cross-check a list of counts by adding the extra case your reasoning requires;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account for every larger digit at every position.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Instance: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35337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21220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base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1435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numbers lie above it.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Ranking strings over an ordered alphabet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symbols is positional notation in base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rank (from the smallest)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value of the string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Dictionary-order rank without repetition: add, place by place, (number of unused smaller letters)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$\times(\text{remaining places})!$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with repetition replace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$(\ldots)!$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$k^{\text{remaining}}$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Always cross-check a list of counts by adding the extra case your reasoning requires;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$625+625+125+25+25+5+5+1$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must account for every larger digit at every position.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Instance: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$35337$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$21220$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base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$1435$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numbers lie above it.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081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mean and variance of the frequency distribution (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15.08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respectively, then the value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______ 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081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mean and variance of the frequency distribution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$x_i:2,4,6,8,10,12,14,16$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$f_i:4,4,\alpha,15,8,\beta,4,5$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$15.08$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respectively, then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$\alpha^2+\beta^2-\alpha\beta$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______ 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516884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Mean and variance of a frequency distribution with unknown frequencies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mean equation collapses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variance equation then has a single unknown.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mean equation collapses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$\alpha=\beta$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variance equation then has a single unknown.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frequency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Mean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960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800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784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1280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3904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(using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total frequency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Variance: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15.08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3904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180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96.08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3904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frequency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$=40+\alpha+\beta$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 f_ix_i=8+16+6\alpha+120+80+12\beta+56+80=360+6\alpha+12\beta$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Mean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$360+6\alpha+12\beta=9(40+\alpha+\beta)=360+9\alpha+9\beta$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$3\alpha-3\beta=0$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 f_ix_i^2=16+64+36\alpha+960+800+144\beta+784+1280=3904+180\alpha$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(using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total frequency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$=40+2\alpha$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Variance: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$15.08+81=\frac{3904+180\alpha}{40+2\alpha}$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$(40+2\alpha)(96.08)=3904+180\alpha$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3843.20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192.16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3904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12.16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60.80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$3843.20+192.16\alpha=3904+180\alpha$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$12.16\alpha=60.80$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$\alpha=5=\beta$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$\alpha^2+\beta^2-\alpha\beta=25+25-25=25$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25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Measure everything from the known mean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deviations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immediately and a small variance sum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9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Measure everything from the known mean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$9$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deviations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$x-9=-7,-5,\ldots,7$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$\sum f(x-9)=0$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immediately and a small variance sum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$\sum f(x-9)^2$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Deviations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frequencies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Mean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664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Deviations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$x_i-9=-7,-5,-3,-1,1,3,5,7$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frequencies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$4,4,\alpha,15,8,\beta,4,5$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Mean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 f(x-9)=0$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$-28-20-3\alpha-15+8+3\beta+20+35=3\beta-3\alpha=0$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 f(x-9)^2=196+100+9\alpha+15+8+9\beta+100+245=664+18\alpha$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$N=40+2\alpha$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Variance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664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15.08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664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603.2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30.16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12.16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60.8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Variance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$=\frac{664+18\alpha}{40+2\alpha}=15.08$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$664+18\alpha=603.2+30.16\alpha$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$12.16\alpha=60.8$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$\alpha=\beta=5$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$\alpha^2+\beta^2-\alpha\beta=25$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25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the mean is given, compute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acc>
                      <m:accPr>
                        <m:chr m:val="‾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variance as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acc>
                          <m:accPr>
                            <m:chr m:val="‾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smaller numbers and no </a:t>
                </a:r>
                <a14:m>
                  <m:oMath xmlns:m="http://schemas.openxmlformats.org/officeDocument/2006/math">
                    <m:sSup>
                      <m:e>
                        <m:acc>
                          <m:accPr>
                            <m:chr m:val="‾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subtraction.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an equation in two unknown frequencies, the mean condition is linear (here it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which turns the variance condition into one equation.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Verify: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450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(mean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4804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variance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96.08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15.08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the mean is given, compute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 f(x-\bar x)=0$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variance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$\frac{\sum f(x-\bar x)^2}{N}$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smaller numbers and no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$\bar 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subtraction.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an equation in two unknown frequencies, the mean condition is linear (here it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which turns the variance condition into one equation.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Verify: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$\alpha=\beta=5$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$N=50$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 fx=450$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(mean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 fx^2=4804$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variance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$=96.08-81=15.08$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$\alpha^2+\beta^2-\alpha\beta$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081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least and the largest real values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for which the equation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has a solution,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respectively,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 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081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least and the largest real values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for which the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$z+\alpha|z-1|+2i=0$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$z\in\mathbb 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$i=\sqrt{-1}$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has a solution,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respectively,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$4(p^2+q^2)$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 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516884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Complex numbers: modulus equation with a parameter, Range of a rational function using derivatives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Imaginary part forces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eliminating the root gives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whose range over real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Imaginary part forces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$y=-2$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eliminating the root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$\alpha^2=\frac{x^2}{x^2-2x+5}$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whose range over real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$\left[0,\frac54\right]$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Imaginary part: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Real part: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Squaring: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(every real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a real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squaring loses nothing).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negative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positive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negative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$z=x+iy$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$x+\alpha\sqrt{(x-1)^2+y^2}+i(y+2)=0+0i$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Imaginary part: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Real part: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$x+\alpha\sqrt{(x-1)^2+4}=0$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Squaring: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$x^2=\alpha^2\left((x-1)^2+4\right)$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$\alpha^2=\frac{x^2}{x^2-2x+5}=f(x)$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(every real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a real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$\alpha=-\frac{x}{\sqrt{(x-1)^2+4}}$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squaring loses nothing).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$f'(x)=\frac{-2x(x-5)}{(x^2-2x+5)^2}$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negative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positive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$0&lt;x&lt;5$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negative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minimum,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maximum, and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rad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rad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minimum,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$f(5)=\frac{25}{20}=\frac54$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maximum,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$\lim_{x\to\pm\infty}f(x)=1&lt;\frac54$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$\alpha^2\in\left[0,\frac54\right]$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$\alpha\in\left[-\frac{\sqrt5}2,\frac{\sqrt5}2\right]$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$p=-\frac{\sqrt5}2$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$q=\frac{\sqrt5}2$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$4(p^2+q^2)=4\left(\frac54+\frac54\right)=10$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10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Bound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Cauchy-Schwarz: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rad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ra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with no calculus.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Bound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$|x|$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Cauchy-Schwarz: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$x=(x-1)\cdot1+2\cdot\frac12\le\sqrt{(x-1)^2+4}\,\sqrt{1+\frac14}$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with no calculus.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before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apply Cauchy-Schwarz: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type m:val="lin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equality when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∥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20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before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$\alpha=-\frac{x}{\sqrt{(x-1)^2+4}}$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$x=(x-1)\cdot1+2\cdot\frac12$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apply Cauchy-Schwarz: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$|x|\le\sqrt{(x-1)^2+2^2}\cdot\sqrt{1^2+\left(\tfrac12\right)^2}=\frac{\sqrt5}2\sqrt{(x-1)^2+4}$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$|\alpha|\le\frac{\sqrt5}2$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equality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$(x-1,2)\parallel\left(1,\frac12\right)$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$x-1=4$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$\alpha=-\frac{5}{\sqrt{20}}=-\frac{\sqrt5}2$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$+\frac{\sqrt5}2$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 takes every value between its extremes: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 takes every value between its extremes: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$p=-\frac{\sqrt5}2$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$q=\frac{\sqrt5}2$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$4(p^2+q^2)=4\cdot\frac{5}{2}=10$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10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an equation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separate real and imaginary parts: the imaginary part fixes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real part links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range of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(or of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is found either by calculus or by Cauchy-Schwarz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Max of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in general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maximum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squared equation is safe when each root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yields a real parameter value directly (here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an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$z+\alpha|z-c|+di=0$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separate real and imaginary parts: the imaginary part fixes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real part links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range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$\frac{x}{\sqrt{(x-a)^2+b^2}}$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(or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$\frac{x^2}{x^2-2ax+a^2+b^2}$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is found either by calculus or by Cauchy-Schwarz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$(u_1v_1+u_2v_2)^2\le(u_1^2+u_2^2)(v_1^2+v_2^2)$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Max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$\frac{x^2}{x^2-2x+5}$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$\frac54$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in general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$\frac{x^2}{(x-a)^2+b^2}$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maximum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$\frac{a^2+b^2}{b^2}$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$x=\frac{a^2+b^2}{a}$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$\frac54$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squared equation is safe when each root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yields a real parameter value directly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$\alpha=-x/|z-1|$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081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students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to be divided into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groups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each group has at least one student and the group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at most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students. Then the total number of possibilities of forming such groups is ______ 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081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students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$S_1,S_2,\ldots,S_{10}$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to be divided into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groups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such that each group has at least one student and the group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at most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students. Then the total number of possibilities of forming such groups is ______ 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516884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Distribution of distinguishable objects into labelled groups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Fix the size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choose its members, and split the other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students between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neither empty: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ways.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Fix the size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$k\in\{1,2,3\}$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choose its members, and split the other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$10-k$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students between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neither empty: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$2^{10-k}-2$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ways.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I: group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student. Choose the student in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ways; the other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go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both non-empty: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Ways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5100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II: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students: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11430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I: group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student. Choose the student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${}^{10}C_1$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ways; the other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go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both non-empty: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$2^9-2$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Ways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$=A_1={}^{10}C_1(2^9-2)=10\times510=5100$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II: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students: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$A_2={}^{10}C_2(2^8-2)=45\times254=11430$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III: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students: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15120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5100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11430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15120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31650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III: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students: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$A_3={}^{10}C_3(2^7-2)=120\times126=15120$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$=A_1+A_2+A_3=5100+11430+15120=31650$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31650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Count assignments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of size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first, then remove those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empty (inclusion-exclusion), instead of a surjection count in every case.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Count assignments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of size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first, then remove those where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empty (inclusion-exclusion), instead of a surjection count in every case.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Assign each of the other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students freely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total over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5120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11520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15360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32000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Assignments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empty (all non-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students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one for each choice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same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empty.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Assign each of the other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$10-k$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students freely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total over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$k=1,2,3$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$10\cdot2^9+45\cdot2^8+120\cdot2^7=5120+11520+15360=32000$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Assignments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empty (all non-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students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one for each choice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${}^{10}C_1+{}^{10}C_2+{}^{10}C_3=10+45+120=175$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same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empty.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and B cannot both be empty since at least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students lie outside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Valid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32000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31650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and B cannot both be empty since at least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students lie outside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Valid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$=32000-175-175=31650$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(same answer).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31650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Splitting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distinguishable people into two labelled non-empty groups: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into three labelled non-empty groups: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55980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Labelled groups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distinct) need no division; if groups of equal size were indistinguishable divide by the factorial of the number of identical groups.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size restriction on one group is handled by a sum over its allowed sizes, each term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𝑤𝑎𝑦𝑠 𝑓𝑜𝑟 𝑡ℎ𝑒 𝑟𝑒𝑠𝑡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by complement: arrangements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number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24330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55980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24330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31650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Splitting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distinguishable people into two labelled non-empty groups: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$2^n-2$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into three labelled non-empty groups: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$3^n-3\cdot2^n+3$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$55980$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Labelled groups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$A,B,C$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distinct) need no division; if groups of equal size were indistinguishable divide by the factorial of the number of identical groups.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size restriction on one group is handled by a sum over its allowed sizes, each term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${}^nC_k\times(\text{ways for the rest})$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by complement: arrangements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$|C|\ge4$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number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$24330$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$55980-24330=31650$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8557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e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​</m:t>
                                        </m:r>
                                      </m:e>
                                      <m:sup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sup>
                                    </m:sSup>
                                    <m:sSub>
                                      <m:e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𝐶</m:t>
                                        </m:r>
                                      </m:e>
                                      <m:sub>
                                        <m:r>
                                          <a:rPr lang="en-IN" sz="2400" i="1">
                                            <a:solidFill>
                                              <a:srgbClr val="111827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</m:e>
                    </m:nary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​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</m:sSup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 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​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</m:sSup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nary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______ 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8557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$\alpha=\sum_{k=0}^{n}\frac{\left({}^nC_k\right)^2}{k+1}$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$\beta=\sum_{k=0}^{n-1}\frac{{}^nC_k\,{}^nC_{k+1}}{k+2}$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$5\alpha=6\beta$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______ 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364484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Binomial coefficient sums with reciprocal factors (Vandermonde's identity)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turn each sum into a Vandermonde convolution, giving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${}^nC_k\cdot\frac{n+1}{k+1}={}^{n+1}C_{k+1}$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turn each sum into a Vandermonde convolution, giving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$\frac\beta\alpha=\frac n{n+2}$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​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</m:sSup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⋅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​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</m:sSup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e>
                    </m:nary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since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Vandermonde (the lower indices add up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e>
                    </m:nary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e>
                    </m:nary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e>
                    </m:nary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$\alpha=\sum_{k=0}^n\frac{{}^nC_k\cdot{}^nC_k}{k+1}\cdot\frac{n+1}{n+1}=\frac1{n+1}\sum_{k=0}^n{}^{n+1}C_{k+1}\,{}^nC_{n-k}$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${}^nC_k\frac{n+1}{k+1}={}^{n+1}C_{k+1}$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${}^nC_k={}^nC_{n-k}$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Vandermonde (the lower indices add up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$\sum_k{}^{n+1}C_{k+1}\,{}^nC_{n-k}={}^{2n+1}C_{n+1}$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$\alpha=\frac1{n+1}\,{}^{2n+1}C_{n+1}$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$\beta=\sum_{k=0}^{n-1}{}^nC_k\cdot\frac{{}^nC_{k+1}}{k+2}\cdot\frac{n+1}{n+1}=\frac1{n+1}\sum_{k=0}^{n-1}{}^nC_{n-k}\,{}^{n+1}C_{k+2}$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Vandermonde (lower indices add up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Vandermonde (lower indices add up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$n+2$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$\beta=\frac1{n+1}\,{}^{2n+1}C_{n+2}$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$\frac\beta\alpha=\frac{{}^{2n+1}C_{n+2}}{{}^{2n+1}C_{n+1}}=\frac{2n+1-(n+1)}{n+2}=\frac{n}{n+2}$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$5\alpha=6\beta$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$\frac\beta\alpha=\frac56$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n{n+2}=\frac56$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$6n=5n+10$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10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 factor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absorbed by raising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Vandermonde: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p>
                        </m:sSup>
                      </m:e>
                    </m:nary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write one factor as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 that the lower indices add to a constant.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​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</m:sSup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(direct sums agree).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​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(direct: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The ratio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${}^nC_k\cdot\frac{n+1}{k+1}={}^{n+1}C_{k+1}$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${}^nC_{k+1}\cdot\frac{n+1}{k+2}={}^{n+1}C_{k+2}$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 factor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$\frac1{k+1}$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$\frac1{k+2}$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absorbed by raising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Vandermonde: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$\sum_k{}^mC_k\,{}^nC_{r-k}={}^{m+n}C_r$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write one factor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${}^nC_{n-k}$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 that the lower indices add to a constant.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$\sum_{k=0}^n\frac{({}^nC_k)^2}{k+1}=\frac{{}^{2n+1}C_{n+1}}{n+1}$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$\frac{10}3$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(direct sums agree).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$\beta=\frac{{}^{2n+1}C_{n+2}}{n+1}$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$\frac53$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(direct: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$1+\frac23$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The ratio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$\frac\beta\alpha=\frac n{n+2}$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$\frac56$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(1/4)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(2/4)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06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07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08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09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E8808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above Average JEE Advanced Level</a:t>
                      </a:r>
                    </a:p>
                  </a:txBody>
                  <a:tcPr anchor="ctr" marL="91440" marR="91440">
                    <a:solidFill>
                      <a:srgbClr val="E8808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(3/4)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(4/4)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31520" y="1417320"/>
            <a:ext cx="4754880" cy="3291840"/>
          </a:xfrm>
          <a:prstGeom prst="roundRect">
            <a:avLst>
              <a:gd name="adj" fmla="val 8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37160" bIns="73152"/>
          <a:lstStyle>
            <a:lvl1pPr>
              <a:defRPr sz="3000">
                <a:solidFill>
                  <a:srgbClr val="0B1F3A"/>
                </a:solidFill>
              </a:defRPr>
            </a:lvl1pPr>
          </a:lstStyle>
          <a:p>
            <a:pPr algn="ctr">
              <a:defRPr sz="3000">
                <a:solidFill>
                  <a:srgbClr val="0B1F3A"/>
                </a:solidFill>
              </a:defRPr>
            </a:pPr>
            <a:r>
              <a:rPr sz="3000" b="1">
                <a:solidFill>
                  <a:srgbClr val="0B1F3A"/>
                </a:solidFill>
                <a:latin typeface="Arial"/>
              </a:rPr>
              <a:t>Difficulty Index</a:t>
            </a:r>
            <a:endParaRPr sz="3000">
              <a:solidFill>
                <a:srgbClr val="0B1F3A"/>
              </a:solidFill>
            </a:endParaRPr>
          </a:p>
          <a:p>
            <a:pPr algn="ctr">
              <a:defRPr sz="3000">
                <a:solidFill>
                  <a:srgbClr val="0B1F3A"/>
                </a:solidFill>
              </a:defRPr>
            </a:pPr>
            <a:r>
              <a:rPr sz="8800" b="1">
                <a:solidFill>
                  <a:srgbClr val="0B1F3A"/>
                </a:solidFill>
                <a:latin typeface="Arial"/>
              </a:rPr>
              <a:t>2.25</a:t>
            </a:r>
            <a:endParaRPr sz="3000">
              <a:solidFill>
                <a:srgbClr val="0B1F3A"/>
              </a:solidFill>
            </a:endParaRPr>
          </a:p>
          <a:p>
            <a:pPr algn="ctr">
              <a:defRPr sz="3000">
                <a:solidFill>
                  <a:srgbClr val="0B1F3A"/>
                </a:solidFill>
              </a:defRPr>
            </a:pPr>
            <a:r>
              <a:rPr sz="2400" b="0">
                <a:solidFill>
                  <a:srgbClr val="0B1F3A"/>
                </a:solidFill>
                <a:latin typeface="Arial"/>
              </a:rPr>
              <a:t>out of 5</a:t>
            </a:r>
            <a:endParaRPr sz="3000">
              <a:solidFill>
                <a:srgbClr val="0B1F3A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852160" y="1417320"/>
            <a:ext cx="5605272" cy="603504"/>
          </a:xfrm>
          <a:prstGeom prst="rect">
            <a:avLst/>
          </a:prstGeom>
          <a:solidFill>
            <a:srgbClr val="93C47D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JEE Main or easier:  4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852160" y="2093976"/>
            <a:ext cx="5605272" cy="603504"/>
          </a:xfrm>
          <a:prstGeom prst="rect">
            <a:avLst/>
          </a:prstGeom>
          <a:solidFill>
            <a:srgbClr val="FFD966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Below average:  8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852160" y="2770632"/>
            <a:ext cx="5605272" cy="603504"/>
          </a:xfrm>
          <a:prstGeom prst="rect">
            <a:avLst/>
          </a:prstGeom>
          <a:solidFill>
            <a:srgbClr val="F6B26B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Average Advanced:  7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852160" y="3447288"/>
            <a:ext cx="5605272" cy="603504"/>
          </a:xfrm>
          <a:prstGeom prst="rect">
            <a:avLst/>
          </a:prstGeom>
          <a:solidFill>
            <a:srgbClr val="E88080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Above average:  1 question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852160" y="4123944"/>
            <a:ext cx="5605272" cy="603504"/>
          </a:xfrm>
          <a:prstGeom prst="rect">
            <a:avLst/>
          </a:prstGeom>
          <a:solidFill>
            <a:srgbClr val="CC4125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 algn="l">
              <a:defRPr sz="2400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  <a:latin typeface="Arial"/>
              </a:rPr>
              <a:t>Very difficult:  0 questions</a:t>
            </a:r>
            <a:endParaRPr sz="2400">
              <a:solidFill>
                <a:srgbClr val="FFFFFF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31520" y="5029200"/>
            <a:ext cx="10725912" cy="1097280"/>
          </a:xfrm>
          <a:prstGeom prst="rect">
            <a:avLst/>
          </a:prstGeom>
          <a:solidFill>
            <a:srgbClr val="FFFFFF"/>
          </a:solidFill>
          <a:ln w="190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Total: 20 questions, 80 marks.  Index = Σ(marks × level) ÷ Σ marks, on the 0-5 scale.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Difficulty Profile of the Paper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280160"/>
          <a:ext cx="11274552" cy="5349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Comparison with JEE Advanced Papers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661007" y="1371600"/>
          <a:ext cx="886968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0720"/>
                <a:gridCol w="3108960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Arial"/>
                        </a:rPr>
                        <a:t>Paper</a:t>
                      </a:r>
                    </a:p>
                  </a:txBody>
                  <a:tcPr anchor="ctr" marL="137160" marR="13716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Arial"/>
                        </a:rPr>
                        <a:t>Difficulty Index</a:t>
                      </a:r>
                    </a:p>
                  </a:txBody>
                  <a:tcPr anchor="ctr" marL="137160" marR="137160">
                    <a:solidFill>
                      <a:srgbClr val="0B1F3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2021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2.76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2023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3.19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2024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2.59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2025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3.21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2026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3.02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1">
                          <a:solidFill>
                            <a:srgbClr val="0B1F3A"/>
                          </a:solidFill>
                          <a:latin typeface="Arial"/>
                        </a:rPr>
                        <a:t>JEE Main Question Bank 02 Algebra 02 (Set 06) Questions 1–20 · detailed solutions</a:t>
                      </a:r>
                    </a:p>
                  </a:txBody>
                  <a:tcPr anchor="ctr" marL="137160" marR="137160">
                    <a:solidFill>
                      <a:srgbClr val="E0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0B1F3A"/>
                          </a:solidFill>
                          <a:latin typeface="Arial"/>
                        </a:rPr>
                        <a:t>2.25</a:t>
                      </a:r>
                    </a:p>
                  </a:txBody>
                  <a:tcPr anchor="ctr" marL="137160" marR="137160">
                    <a:solidFill>
                      <a:srgbClr val="E0EC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6080759"/>
            <a:ext cx="1072591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>
              <a:defRPr sz="2000">
                <a:solidFill>
                  <a:srgbClr val="111827"/>
                </a:solidFill>
              </a:defRPr>
            </a:lvl1pPr>
          </a:lstStyle>
          <a:p>
            <a:pPr algn="ctr">
              <a:defRPr sz="2000">
                <a:solidFill>
                  <a:srgbClr val="111827"/>
                </a:solidFill>
              </a:defRPr>
            </a:pPr>
            <a:r>
              <a:rPr sz="2000" b="0">
                <a:solidFill>
                  <a:srgbClr val="111827"/>
                </a:solidFill>
                <a:latin typeface="Arial"/>
              </a:rPr>
              <a:t>Marks-weighted difficulty index on the 0-5 scale</a:t>
            </a:r>
            <a:endParaRPr sz="20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