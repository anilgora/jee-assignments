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 id="544" r:id="rId296"/>
    <p:sldId id="545" r:id="rId297"/>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5" r:id="rId327"/>
    <p:sldId id="576" r:id="rId328"/>
    <p:sldId id="577" r:id="rId329"/>
    <p:sldId id="578" r:id="rId330"/>
    <p:sldId id="579" r:id="rId331"/>
    <p:sldId id="580" r:id="rId332"/>
    <p:sldId id="581" r:id="rId333"/>
    <p:sldId id="582" r:id="rId334"/>
    <p:sldId id="583" r:id="rId335"/>
    <p:sldId id="584" r:id="rId336"/>
    <p:sldId id="585" r:id="rId337"/>
    <p:sldId id="586" r:id="rId338"/>
    <p:sldId id="587" r:id="rId339"/>
    <p:sldId id="588" r:id="rId340"/>
    <p:sldId id="589" r:id="rId341"/>
    <p:sldId id="590" r:id="rId342"/>
    <p:sldId id="591" r:id="rId343"/>
    <p:sldId id="592" r:id="rId344"/>
    <p:sldId id="593" r:id="rId345"/>
    <p:sldId id="594" r:id="rId346"/>
    <p:sldId id="595" r:id="rId347"/>
    <p:sldId id="596" r:id="rId348"/>
    <p:sldId id="597" r:id="rId349"/>
    <p:sldId id="598" r:id="rId350"/>
    <p:sldId id="599" r:id="rId351"/>
    <p:sldId id="600" r:id="rId352"/>
    <p:sldId id="601" r:id="rId353"/>
    <p:sldId id="602" r:id="rId354"/>
    <p:sldId id="603" r:id="rId355"/>
    <p:sldId id="604" r:id="rId356"/>
    <p:sldId id="605" r:id="rId357"/>
    <p:sldId id="606" r:id="rId358"/>
    <p:sldId id="607" r:id="rId359"/>
    <p:sldId id="608" r:id="rId360"/>
    <p:sldId id="609" r:id="rId361"/>
    <p:sldId id="610" r:id="rId362"/>
    <p:sldId id="611" r:id="rId363"/>
    <p:sldId id="612" r:id="rId364"/>
    <p:sldId id="613" r:id="rId365"/>
    <p:sldId id="614" r:id="rId366"/>
    <p:sldId id="615" r:id="rId367"/>
    <p:sldId id="616" r:id="rId368"/>
    <p:sldId id="617" r:id="rId369"/>
    <p:sldId id="618" r:id="rId370"/>
    <p:sldId id="619" r:id="rId371"/>
    <p:sldId id="620" r:id="rId372"/>
    <p:sldId id="621" r:id="rId373"/>
    <p:sldId id="622" r:id="rId374"/>
    <p:sldId id="623" r:id="rId375"/>
    <p:sldId id="624" r:id="rId376"/>
    <p:sldId id="625" r:id="rId377"/>
    <p:sldId id="626" r:id="rId378"/>
    <p:sldId id="627" r:id="rId379"/>
    <p:sldId id="628" r:id="rId380"/>
    <p:sldId id="629" r:id="rId381"/>
    <p:sldId id="630" r:id="rId382"/>
    <p:sldId id="631" r:id="rId383"/>
    <p:sldId id="632" r:id="rId384"/>
    <p:sldId id="633" r:id="rId385"/>
    <p:sldId id="634" r:id="rId386"/>
    <p:sldId id="635" r:id="rId387"/>
    <p:sldId id="636" r:id="rId388"/>
    <p:sldId id="637" r:id="rId389"/>
    <p:sldId id="638" r:id="rId390"/>
    <p:sldId id="639" r:id="rId391"/>
    <p:sldId id="640" r:id="rId392"/>
    <p:sldId id="641" r:id="rId393"/>
    <p:sldId id="642" r:id="rId394"/>
    <p:sldId id="643" r:id="rId395"/>
    <p:sldId id="644" r:id="rId396"/>
    <p:sldId id="645" r:id="rId397"/>
    <p:sldId id="646" r:id="rId398"/>
    <p:sldId id="647" r:id="rId399"/>
    <p:sldId id="648" r:id="rId400"/>
    <p:sldId id="649" r:id="rId401"/>
    <p:sldId id="650" r:id="rId402"/>
    <p:sldId id="651" r:id="rId403"/>
    <p:sldId id="652" r:id="rId404"/>
    <p:sldId id="653" r:id="rId405"/>
    <p:sldId id="654" r:id="rId406"/>
    <p:sldId id="655" r:id="rId407"/>
    <p:sldId id="656" r:id="rId408"/>
    <p:sldId id="657" r:id="rId409"/>
    <p:sldId id="658" r:id="rId410"/>
    <p:sldId id="659" r:id="rId411"/>
    <p:sldId id="660" r:id="rId412"/>
    <p:sldId id="661" r:id="rId413"/>
    <p:sldId id="662" r:id="rId414"/>
    <p:sldId id="663" r:id="rId415"/>
    <p:sldId id="664" r:id="rId416"/>
    <p:sldId id="665" r:id="rId417"/>
    <p:sldId id="666" r:id="rId418"/>
    <p:sldId id="667" r:id="rId419"/>
    <p:sldId id="668" r:id="rId420"/>
    <p:sldId id="669" r:id="rId421"/>
  </p:sldIdLst>
  <p:sldSz cx="12191695"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 Id="rId226" Type="http://schemas.openxmlformats.org/officeDocument/2006/relationships/slide" Target="slides/slide219.xml"/><Relationship Id="rId227" Type="http://schemas.openxmlformats.org/officeDocument/2006/relationships/slide" Target="slides/slide220.xml"/><Relationship Id="rId228" Type="http://schemas.openxmlformats.org/officeDocument/2006/relationships/slide" Target="slides/slide221.xml"/><Relationship Id="rId229" Type="http://schemas.openxmlformats.org/officeDocument/2006/relationships/slide" Target="slides/slide222.xml"/><Relationship Id="rId230" Type="http://schemas.openxmlformats.org/officeDocument/2006/relationships/slide" Target="slides/slide223.xml"/><Relationship Id="rId231" Type="http://schemas.openxmlformats.org/officeDocument/2006/relationships/slide" Target="slides/slide224.xml"/><Relationship Id="rId232" Type="http://schemas.openxmlformats.org/officeDocument/2006/relationships/slide" Target="slides/slide225.xml"/><Relationship Id="rId233" Type="http://schemas.openxmlformats.org/officeDocument/2006/relationships/slide" Target="slides/slide226.xml"/><Relationship Id="rId234" Type="http://schemas.openxmlformats.org/officeDocument/2006/relationships/slide" Target="slides/slide227.xml"/><Relationship Id="rId235" Type="http://schemas.openxmlformats.org/officeDocument/2006/relationships/slide" Target="slides/slide228.xml"/><Relationship Id="rId236" Type="http://schemas.openxmlformats.org/officeDocument/2006/relationships/slide" Target="slides/slide229.xml"/><Relationship Id="rId237" Type="http://schemas.openxmlformats.org/officeDocument/2006/relationships/slide" Target="slides/slide230.xml"/><Relationship Id="rId238" Type="http://schemas.openxmlformats.org/officeDocument/2006/relationships/slide" Target="slides/slide231.xml"/><Relationship Id="rId239" Type="http://schemas.openxmlformats.org/officeDocument/2006/relationships/slide" Target="slides/slide232.xml"/><Relationship Id="rId240" Type="http://schemas.openxmlformats.org/officeDocument/2006/relationships/slide" Target="slides/slide233.xml"/><Relationship Id="rId241" Type="http://schemas.openxmlformats.org/officeDocument/2006/relationships/slide" Target="slides/slide234.xml"/><Relationship Id="rId242" Type="http://schemas.openxmlformats.org/officeDocument/2006/relationships/slide" Target="slides/slide235.xml"/><Relationship Id="rId243" Type="http://schemas.openxmlformats.org/officeDocument/2006/relationships/slide" Target="slides/slide236.xml"/><Relationship Id="rId244" Type="http://schemas.openxmlformats.org/officeDocument/2006/relationships/slide" Target="slides/slide237.xml"/><Relationship Id="rId245" Type="http://schemas.openxmlformats.org/officeDocument/2006/relationships/slide" Target="slides/slide238.xml"/><Relationship Id="rId246" Type="http://schemas.openxmlformats.org/officeDocument/2006/relationships/slide" Target="slides/slide239.xml"/><Relationship Id="rId247" Type="http://schemas.openxmlformats.org/officeDocument/2006/relationships/slide" Target="slides/slide240.xml"/><Relationship Id="rId248" Type="http://schemas.openxmlformats.org/officeDocument/2006/relationships/slide" Target="slides/slide241.xml"/><Relationship Id="rId249" Type="http://schemas.openxmlformats.org/officeDocument/2006/relationships/slide" Target="slides/slide242.xml"/><Relationship Id="rId250" Type="http://schemas.openxmlformats.org/officeDocument/2006/relationships/slide" Target="slides/slide243.xml"/><Relationship Id="rId251" Type="http://schemas.openxmlformats.org/officeDocument/2006/relationships/slide" Target="slides/slide244.xml"/><Relationship Id="rId252" Type="http://schemas.openxmlformats.org/officeDocument/2006/relationships/slide" Target="slides/slide245.xml"/><Relationship Id="rId253" Type="http://schemas.openxmlformats.org/officeDocument/2006/relationships/slide" Target="slides/slide246.xml"/><Relationship Id="rId254" Type="http://schemas.openxmlformats.org/officeDocument/2006/relationships/slide" Target="slides/slide247.xml"/><Relationship Id="rId255" Type="http://schemas.openxmlformats.org/officeDocument/2006/relationships/slide" Target="slides/slide248.xml"/><Relationship Id="rId256" Type="http://schemas.openxmlformats.org/officeDocument/2006/relationships/slide" Target="slides/slide249.xml"/><Relationship Id="rId257" Type="http://schemas.openxmlformats.org/officeDocument/2006/relationships/slide" Target="slides/slide250.xml"/><Relationship Id="rId258" Type="http://schemas.openxmlformats.org/officeDocument/2006/relationships/slide" Target="slides/slide251.xml"/><Relationship Id="rId259" Type="http://schemas.openxmlformats.org/officeDocument/2006/relationships/slide" Target="slides/slide252.xml"/><Relationship Id="rId260" Type="http://schemas.openxmlformats.org/officeDocument/2006/relationships/slide" Target="slides/slide253.xml"/><Relationship Id="rId261" Type="http://schemas.openxmlformats.org/officeDocument/2006/relationships/slide" Target="slides/slide254.xml"/><Relationship Id="rId262" Type="http://schemas.openxmlformats.org/officeDocument/2006/relationships/slide" Target="slides/slide255.xml"/><Relationship Id="rId263" Type="http://schemas.openxmlformats.org/officeDocument/2006/relationships/slide" Target="slides/slide256.xml"/><Relationship Id="rId264" Type="http://schemas.openxmlformats.org/officeDocument/2006/relationships/slide" Target="slides/slide257.xml"/><Relationship Id="rId265" Type="http://schemas.openxmlformats.org/officeDocument/2006/relationships/slide" Target="slides/slide258.xml"/><Relationship Id="rId266" Type="http://schemas.openxmlformats.org/officeDocument/2006/relationships/slide" Target="slides/slide259.xml"/><Relationship Id="rId267" Type="http://schemas.openxmlformats.org/officeDocument/2006/relationships/slide" Target="slides/slide260.xml"/><Relationship Id="rId268" Type="http://schemas.openxmlformats.org/officeDocument/2006/relationships/slide" Target="slides/slide261.xml"/><Relationship Id="rId269" Type="http://schemas.openxmlformats.org/officeDocument/2006/relationships/slide" Target="slides/slide262.xml"/><Relationship Id="rId270" Type="http://schemas.openxmlformats.org/officeDocument/2006/relationships/slide" Target="slides/slide263.xml"/><Relationship Id="rId271" Type="http://schemas.openxmlformats.org/officeDocument/2006/relationships/slide" Target="slides/slide264.xml"/><Relationship Id="rId272" Type="http://schemas.openxmlformats.org/officeDocument/2006/relationships/slide" Target="slides/slide265.xml"/><Relationship Id="rId273" Type="http://schemas.openxmlformats.org/officeDocument/2006/relationships/slide" Target="slides/slide266.xml"/><Relationship Id="rId274" Type="http://schemas.openxmlformats.org/officeDocument/2006/relationships/slide" Target="slides/slide267.xml"/><Relationship Id="rId275" Type="http://schemas.openxmlformats.org/officeDocument/2006/relationships/slide" Target="slides/slide268.xml"/><Relationship Id="rId276" Type="http://schemas.openxmlformats.org/officeDocument/2006/relationships/slide" Target="slides/slide269.xml"/><Relationship Id="rId277" Type="http://schemas.openxmlformats.org/officeDocument/2006/relationships/slide" Target="slides/slide270.xml"/><Relationship Id="rId278" Type="http://schemas.openxmlformats.org/officeDocument/2006/relationships/slide" Target="slides/slide271.xml"/><Relationship Id="rId279" Type="http://schemas.openxmlformats.org/officeDocument/2006/relationships/slide" Target="slides/slide272.xml"/><Relationship Id="rId280" Type="http://schemas.openxmlformats.org/officeDocument/2006/relationships/slide" Target="slides/slide273.xml"/><Relationship Id="rId281" Type="http://schemas.openxmlformats.org/officeDocument/2006/relationships/slide" Target="slides/slide274.xml"/><Relationship Id="rId282" Type="http://schemas.openxmlformats.org/officeDocument/2006/relationships/slide" Target="slides/slide275.xml"/><Relationship Id="rId283" Type="http://schemas.openxmlformats.org/officeDocument/2006/relationships/slide" Target="slides/slide276.xml"/><Relationship Id="rId284" Type="http://schemas.openxmlformats.org/officeDocument/2006/relationships/slide" Target="slides/slide277.xml"/><Relationship Id="rId285" Type="http://schemas.openxmlformats.org/officeDocument/2006/relationships/slide" Target="slides/slide278.xml"/><Relationship Id="rId286" Type="http://schemas.openxmlformats.org/officeDocument/2006/relationships/slide" Target="slides/slide279.xml"/><Relationship Id="rId287" Type="http://schemas.openxmlformats.org/officeDocument/2006/relationships/slide" Target="slides/slide280.xml"/><Relationship Id="rId288" Type="http://schemas.openxmlformats.org/officeDocument/2006/relationships/slide" Target="slides/slide281.xml"/><Relationship Id="rId289" Type="http://schemas.openxmlformats.org/officeDocument/2006/relationships/slide" Target="slides/slide282.xml"/><Relationship Id="rId290" Type="http://schemas.openxmlformats.org/officeDocument/2006/relationships/slide" Target="slides/slide283.xml"/><Relationship Id="rId291" Type="http://schemas.openxmlformats.org/officeDocument/2006/relationships/slide" Target="slides/slide284.xml"/><Relationship Id="rId292" Type="http://schemas.openxmlformats.org/officeDocument/2006/relationships/slide" Target="slides/slide285.xml"/><Relationship Id="rId293" Type="http://schemas.openxmlformats.org/officeDocument/2006/relationships/slide" Target="slides/slide286.xml"/><Relationship Id="rId294" Type="http://schemas.openxmlformats.org/officeDocument/2006/relationships/slide" Target="slides/slide287.xml"/><Relationship Id="rId295" Type="http://schemas.openxmlformats.org/officeDocument/2006/relationships/slide" Target="slides/slide288.xml"/><Relationship Id="rId296" Type="http://schemas.openxmlformats.org/officeDocument/2006/relationships/slide" Target="slides/slide289.xml"/><Relationship Id="rId297" Type="http://schemas.openxmlformats.org/officeDocument/2006/relationships/slide" Target="slides/slide290.xml"/><Relationship Id="rId298" Type="http://schemas.openxmlformats.org/officeDocument/2006/relationships/slide" Target="slides/slide291.xml"/><Relationship Id="rId299" Type="http://schemas.openxmlformats.org/officeDocument/2006/relationships/slide" Target="slides/slide292.xml"/><Relationship Id="rId300" Type="http://schemas.openxmlformats.org/officeDocument/2006/relationships/slide" Target="slides/slide293.xml"/><Relationship Id="rId301" Type="http://schemas.openxmlformats.org/officeDocument/2006/relationships/slide" Target="slides/slide294.xml"/><Relationship Id="rId302" Type="http://schemas.openxmlformats.org/officeDocument/2006/relationships/slide" Target="slides/slide295.xml"/><Relationship Id="rId303" Type="http://schemas.openxmlformats.org/officeDocument/2006/relationships/slide" Target="slides/slide296.xml"/><Relationship Id="rId304" Type="http://schemas.openxmlformats.org/officeDocument/2006/relationships/slide" Target="slides/slide297.xml"/><Relationship Id="rId305" Type="http://schemas.openxmlformats.org/officeDocument/2006/relationships/slide" Target="slides/slide298.xml"/><Relationship Id="rId306" Type="http://schemas.openxmlformats.org/officeDocument/2006/relationships/slide" Target="slides/slide299.xml"/><Relationship Id="rId307" Type="http://schemas.openxmlformats.org/officeDocument/2006/relationships/slide" Target="slides/slide300.xml"/><Relationship Id="rId308" Type="http://schemas.openxmlformats.org/officeDocument/2006/relationships/slide" Target="slides/slide301.xml"/><Relationship Id="rId309" Type="http://schemas.openxmlformats.org/officeDocument/2006/relationships/slide" Target="slides/slide302.xml"/><Relationship Id="rId310" Type="http://schemas.openxmlformats.org/officeDocument/2006/relationships/slide" Target="slides/slide303.xml"/><Relationship Id="rId311" Type="http://schemas.openxmlformats.org/officeDocument/2006/relationships/slide" Target="slides/slide304.xml"/><Relationship Id="rId312" Type="http://schemas.openxmlformats.org/officeDocument/2006/relationships/slide" Target="slides/slide305.xml"/><Relationship Id="rId313" Type="http://schemas.openxmlformats.org/officeDocument/2006/relationships/slide" Target="slides/slide306.xml"/><Relationship Id="rId314" Type="http://schemas.openxmlformats.org/officeDocument/2006/relationships/slide" Target="slides/slide307.xml"/><Relationship Id="rId315" Type="http://schemas.openxmlformats.org/officeDocument/2006/relationships/slide" Target="slides/slide308.xml"/><Relationship Id="rId316" Type="http://schemas.openxmlformats.org/officeDocument/2006/relationships/slide" Target="slides/slide309.xml"/><Relationship Id="rId317" Type="http://schemas.openxmlformats.org/officeDocument/2006/relationships/slide" Target="slides/slide310.xml"/><Relationship Id="rId318" Type="http://schemas.openxmlformats.org/officeDocument/2006/relationships/slide" Target="slides/slide311.xml"/><Relationship Id="rId319" Type="http://schemas.openxmlformats.org/officeDocument/2006/relationships/slide" Target="slides/slide312.xml"/><Relationship Id="rId320" Type="http://schemas.openxmlformats.org/officeDocument/2006/relationships/slide" Target="slides/slide313.xml"/><Relationship Id="rId321" Type="http://schemas.openxmlformats.org/officeDocument/2006/relationships/slide" Target="slides/slide314.xml"/><Relationship Id="rId322" Type="http://schemas.openxmlformats.org/officeDocument/2006/relationships/slide" Target="slides/slide315.xml"/><Relationship Id="rId323" Type="http://schemas.openxmlformats.org/officeDocument/2006/relationships/slide" Target="slides/slide316.xml"/><Relationship Id="rId324" Type="http://schemas.openxmlformats.org/officeDocument/2006/relationships/slide" Target="slides/slide317.xml"/><Relationship Id="rId325" Type="http://schemas.openxmlformats.org/officeDocument/2006/relationships/slide" Target="slides/slide318.xml"/><Relationship Id="rId326" Type="http://schemas.openxmlformats.org/officeDocument/2006/relationships/slide" Target="slides/slide319.xml"/><Relationship Id="rId327" Type="http://schemas.openxmlformats.org/officeDocument/2006/relationships/slide" Target="slides/slide320.xml"/><Relationship Id="rId328" Type="http://schemas.openxmlformats.org/officeDocument/2006/relationships/slide" Target="slides/slide321.xml"/><Relationship Id="rId329" Type="http://schemas.openxmlformats.org/officeDocument/2006/relationships/slide" Target="slides/slide322.xml"/><Relationship Id="rId330" Type="http://schemas.openxmlformats.org/officeDocument/2006/relationships/slide" Target="slides/slide323.xml"/><Relationship Id="rId331" Type="http://schemas.openxmlformats.org/officeDocument/2006/relationships/slide" Target="slides/slide324.xml"/><Relationship Id="rId332" Type="http://schemas.openxmlformats.org/officeDocument/2006/relationships/slide" Target="slides/slide325.xml"/><Relationship Id="rId333" Type="http://schemas.openxmlformats.org/officeDocument/2006/relationships/slide" Target="slides/slide326.xml"/><Relationship Id="rId334" Type="http://schemas.openxmlformats.org/officeDocument/2006/relationships/slide" Target="slides/slide327.xml"/><Relationship Id="rId335" Type="http://schemas.openxmlformats.org/officeDocument/2006/relationships/slide" Target="slides/slide328.xml"/><Relationship Id="rId336" Type="http://schemas.openxmlformats.org/officeDocument/2006/relationships/slide" Target="slides/slide329.xml"/><Relationship Id="rId337" Type="http://schemas.openxmlformats.org/officeDocument/2006/relationships/slide" Target="slides/slide330.xml"/><Relationship Id="rId338" Type="http://schemas.openxmlformats.org/officeDocument/2006/relationships/slide" Target="slides/slide331.xml"/><Relationship Id="rId339" Type="http://schemas.openxmlformats.org/officeDocument/2006/relationships/slide" Target="slides/slide332.xml"/><Relationship Id="rId340" Type="http://schemas.openxmlformats.org/officeDocument/2006/relationships/slide" Target="slides/slide333.xml"/><Relationship Id="rId341" Type="http://schemas.openxmlformats.org/officeDocument/2006/relationships/slide" Target="slides/slide334.xml"/><Relationship Id="rId342" Type="http://schemas.openxmlformats.org/officeDocument/2006/relationships/slide" Target="slides/slide335.xml"/><Relationship Id="rId343" Type="http://schemas.openxmlformats.org/officeDocument/2006/relationships/slide" Target="slides/slide336.xml"/><Relationship Id="rId344" Type="http://schemas.openxmlformats.org/officeDocument/2006/relationships/slide" Target="slides/slide337.xml"/><Relationship Id="rId345" Type="http://schemas.openxmlformats.org/officeDocument/2006/relationships/slide" Target="slides/slide338.xml"/><Relationship Id="rId346" Type="http://schemas.openxmlformats.org/officeDocument/2006/relationships/slide" Target="slides/slide339.xml"/><Relationship Id="rId347" Type="http://schemas.openxmlformats.org/officeDocument/2006/relationships/slide" Target="slides/slide340.xml"/><Relationship Id="rId348" Type="http://schemas.openxmlformats.org/officeDocument/2006/relationships/slide" Target="slides/slide341.xml"/><Relationship Id="rId349" Type="http://schemas.openxmlformats.org/officeDocument/2006/relationships/slide" Target="slides/slide342.xml"/><Relationship Id="rId350" Type="http://schemas.openxmlformats.org/officeDocument/2006/relationships/slide" Target="slides/slide343.xml"/><Relationship Id="rId351" Type="http://schemas.openxmlformats.org/officeDocument/2006/relationships/slide" Target="slides/slide344.xml"/><Relationship Id="rId352" Type="http://schemas.openxmlformats.org/officeDocument/2006/relationships/slide" Target="slides/slide345.xml"/><Relationship Id="rId353" Type="http://schemas.openxmlformats.org/officeDocument/2006/relationships/slide" Target="slides/slide346.xml"/><Relationship Id="rId354" Type="http://schemas.openxmlformats.org/officeDocument/2006/relationships/slide" Target="slides/slide347.xml"/><Relationship Id="rId355" Type="http://schemas.openxmlformats.org/officeDocument/2006/relationships/slide" Target="slides/slide348.xml"/><Relationship Id="rId356" Type="http://schemas.openxmlformats.org/officeDocument/2006/relationships/slide" Target="slides/slide349.xml"/><Relationship Id="rId357" Type="http://schemas.openxmlformats.org/officeDocument/2006/relationships/slide" Target="slides/slide350.xml"/><Relationship Id="rId358" Type="http://schemas.openxmlformats.org/officeDocument/2006/relationships/slide" Target="slides/slide351.xml"/><Relationship Id="rId359" Type="http://schemas.openxmlformats.org/officeDocument/2006/relationships/slide" Target="slides/slide352.xml"/><Relationship Id="rId360" Type="http://schemas.openxmlformats.org/officeDocument/2006/relationships/slide" Target="slides/slide353.xml"/><Relationship Id="rId361" Type="http://schemas.openxmlformats.org/officeDocument/2006/relationships/slide" Target="slides/slide354.xml"/><Relationship Id="rId362" Type="http://schemas.openxmlformats.org/officeDocument/2006/relationships/slide" Target="slides/slide355.xml"/><Relationship Id="rId363" Type="http://schemas.openxmlformats.org/officeDocument/2006/relationships/slide" Target="slides/slide356.xml"/><Relationship Id="rId364" Type="http://schemas.openxmlformats.org/officeDocument/2006/relationships/slide" Target="slides/slide357.xml"/><Relationship Id="rId365" Type="http://schemas.openxmlformats.org/officeDocument/2006/relationships/slide" Target="slides/slide358.xml"/><Relationship Id="rId366" Type="http://schemas.openxmlformats.org/officeDocument/2006/relationships/slide" Target="slides/slide359.xml"/><Relationship Id="rId367" Type="http://schemas.openxmlformats.org/officeDocument/2006/relationships/slide" Target="slides/slide360.xml"/><Relationship Id="rId368" Type="http://schemas.openxmlformats.org/officeDocument/2006/relationships/slide" Target="slides/slide361.xml"/><Relationship Id="rId369" Type="http://schemas.openxmlformats.org/officeDocument/2006/relationships/slide" Target="slides/slide362.xml"/><Relationship Id="rId370" Type="http://schemas.openxmlformats.org/officeDocument/2006/relationships/slide" Target="slides/slide363.xml"/><Relationship Id="rId371" Type="http://schemas.openxmlformats.org/officeDocument/2006/relationships/slide" Target="slides/slide364.xml"/><Relationship Id="rId372" Type="http://schemas.openxmlformats.org/officeDocument/2006/relationships/slide" Target="slides/slide365.xml"/><Relationship Id="rId373" Type="http://schemas.openxmlformats.org/officeDocument/2006/relationships/slide" Target="slides/slide366.xml"/><Relationship Id="rId374" Type="http://schemas.openxmlformats.org/officeDocument/2006/relationships/slide" Target="slides/slide367.xml"/><Relationship Id="rId375" Type="http://schemas.openxmlformats.org/officeDocument/2006/relationships/slide" Target="slides/slide368.xml"/><Relationship Id="rId376" Type="http://schemas.openxmlformats.org/officeDocument/2006/relationships/slide" Target="slides/slide369.xml"/><Relationship Id="rId377" Type="http://schemas.openxmlformats.org/officeDocument/2006/relationships/slide" Target="slides/slide370.xml"/><Relationship Id="rId378" Type="http://schemas.openxmlformats.org/officeDocument/2006/relationships/slide" Target="slides/slide371.xml"/><Relationship Id="rId379" Type="http://schemas.openxmlformats.org/officeDocument/2006/relationships/slide" Target="slides/slide372.xml"/><Relationship Id="rId380" Type="http://schemas.openxmlformats.org/officeDocument/2006/relationships/slide" Target="slides/slide373.xml"/><Relationship Id="rId381" Type="http://schemas.openxmlformats.org/officeDocument/2006/relationships/slide" Target="slides/slide374.xml"/><Relationship Id="rId382" Type="http://schemas.openxmlformats.org/officeDocument/2006/relationships/slide" Target="slides/slide375.xml"/><Relationship Id="rId383" Type="http://schemas.openxmlformats.org/officeDocument/2006/relationships/slide" Target="slides/slide376.xml"/><Relationship Id="rId384" Type="http://schemas.openxmlformats.org/officeDocument/2006/relationships/slide" Target="slides/slide377.xml"/><Relationship Id="rId385" Type="http://schemas.openxmlformats.org/officeDocument/2006/relationships/slide" Target="slides/slide378.xml"/><Relationship Id="rId386" Type="http://schemas.openxmlformats.org/officeDocument/2006/relationships/slide" Target="slides/slide379.xml"/><Relationship Id="rId387" Type="http://schemas.openxmlformats.org/officeDocument/2006/relationships/slide" Target="slides/slide380.xml"/><Relationship Id="rId388" Type="http://schemas.openxmlformats.org/officeDocument/2006/relationships/slide" Target="slides/slide381.xml"/><Relationship Id="rId389" Type="http://schemas.openxmlformats.org/officeDocument/2006/relationships/slide" Target="slides/slide382.xml"/><Relationship Id="rId390" Type="http://schemas.openxmlformats.org/officeDocument/2006/relationships/slide" Target="slides/slide383.xml"/><Relationship Id="rId391" Type="http://schemas.openxmlformats.org/officeDocument/2006/relationships/slide" Target="slides/slide384.xml"/><Relationship Id="rId392" Type="http://schemas.openxmlformats.org/officeDocument/2006/relationships/slide" Target="slides/slide385.xml"/><Relationship Id="rId393" Type="http://schemas.openxmlformats.org/officeDocument/2006/relationships/slide" Target="slides/slide386.xml"/><Relationship Id="rId394" Type="http://schemas.openxmlformats.org/officeDocument/2006/relationships/slide" Target="slides/slide387.xml"/><Relationship Id="rId395" Type="http://schemas.openxmlformats.org/officeDocument/2006/relationships/slide" Target="slides/slide388.xml"/><Relationship Id="rId396" Type="http://schemas.openxmlformats.org/officeDocument/2006/relationships/slide" Target="slides/slide389.xml"/><Relationship Id="rId397" Type="http://schemas.openxmlformats.org/officeDocument/2006/relationships/slide" Target="slides/slide390.xml"/><Relationship Id="rId398" Type="http://schemas.openxmlformats.org/officeDocument/2006/relationships/slide" Target="slides/slide391.xml"/><Relationship Id="rId399" Type="http://schemas.openxmlformats.org/officeDocument/2006/relationships/slide" Target="slides/slide392.xml"/><Relationship Id="rId400" Type="http://schemas.openxmlformats.org/officeDocument/2006/relationships/slide" Target="slides/slide393.xml"/><Relationship Id="rId401" Type="http://schemas.openxmlformats.org/officeDocument/2006/relationships/slide" Target="slides/slide394.xml"/><Relationship Id="rId402" Type="http://schemas.openxmlformats.org/officeDocument/2006/relationships/slide" Target="slides/slide395.xml"/><Relationship Id="rId403" Type="http://schemas.openxmlformats.org/officeDocument/2006/relationships/slide" Target="slides/slide396.xml"/><Relationship Id="rId404" Type="http://schemas.openxmlformats.org/officeDocument/2006/relationships/slide" Target="slides/slide397.xml"/><Relationship Id="rId405" Type="http://schemas.openxmlformats.org/officeDocument/2006/relationships/slide" Target="slides/slide398.xml"/><Relationship Id="rId406" Type="http://schemas.openxmlformats.org/officeDocument/2006/relationships/slide" Target="slides/slide399.xml"/><Relationship Id="rId407" Type="http://schemas.openxmlformats.org/officeDocument/2006/relationships/slide" Target="slides/slide400.xml"/><Relationship Id="rId408" Type="http://schemas.openxmlformats.org/officeDocument/2006/relationships/slide" Target="slides/slide401.xml"/><Relationship Id="rId409" Type="http://schemas.openxmlformats.org/officeDocument/2006/relationships/slide" Target="slides/slide402.xml"/><Relationship Id="rId410" Type="http://schemas.openxmlformats.org/officeDocument/2006/relationships/slide" Target="slides/slide403.xml"/><Relationship Id="rId411" Type="http://schemas.openxmlformats.org/officeDocument/2006/relationships/slide" Target="slides/slide404.xml"/><Relationship Id="rId412" Type="http://schemas.openxmlformats.org/officeDocument/2006/relationships/slide" Target="slides/slide405.xml"/><Relationship Id="rId413" Type="http://schemas.openxmlformats.org/officeDocument/2006/relationships/slide" Target="slides/slide406.xml"/><Relationship Id="rId414" Type="http://schemas.openxmlformats.org/officeDocument/2006/relationships/slide" Target="slides/slide407.xml"/><Relationship Id="rId415" Type="http://schemas.openxmlformats.org/officeDocument/2006/relationships/slide" Target="slides/slide408.xml"/><Relationship Id="rId416" Type="http://schemas.openxmlformats.org/officeDocument/2006/relationships/slide" Target="slides/slide409.xml"/><Relationship Id="rId417" Type="http://schemas.openxmlformats.org/officeDocument/2006/relationships/slide" Target="slides/slide410.xml"/><Relationship Id="rId418" Type="http://schemas.openxmlformats.org/officeDocument/2006/relationships/slide" Target="slides/slide411.xml"/><Relationship Id="rId419" Type="http://schemas.openxmlformats.org/officeDocument/2006/relationships/slide" Target="slides/slide412.xml"/><Relationship Id="rId420" Type="http://schemas.openxmlformats.org/officeDocument/2006/relationships/slide" Target="slides/slide413.xml"/><Relationship Id="rId421" Type="http://schemas.openxmlformats.org/officeDocument/2006/relationships/slide" Target="slides/slide41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ser>
          <c:idx val="0"/>
          <c:order val="0"/>
          <c:tx>
            <c:strRef>
              <c:f>Sheet1!$B$1</c:f>
              <c:strCache>
                <c:ptCount val="1"/>
                <c:pt idx="0">
                  <c:v>Level</c:v>
                </c:pt>
              </c:strCache>
            </c:strRef>
          </c:tx>
          <c:dPt>
            <c:idx val="0"/>
            <c:spPr>
              <a:solidFill>
                <a:srgbClr val="FFD966"/>
              </a:solidFill>
              <a:ln w="9525">
                <a:solidFill>
                  <a:srgbClr val="111827"/>
                </a:solidFill>
              </a:ln>
            </c:spPr>
          </c:dPt>
          <c:dPt>
            <c:idx val="1"/>
            <c:spPr>
              <a:solidFill>
                <a:srgbClr val="FFD966"/>
              </a:solidFill>
              <a:ln w="9525">
                <a:solidFill>
                  <a:srgbClr val="111827"/>
                </a:solidFill>
              </a:ln>
            </c:spPr>
          </c:dPt>
          <c:dPt>
            <c:idx val="2"/>
            <c:spPr>
              <a:solidFill>
                <a:srgbClr val="FFD966"/>
              </a:solidFill>
              <a:ln w="9525">
                <a:solidFill>
                  <a:srgbClr val="111827"/>
                </a:solidFill>
              </a:ln>
            </c:spPr>
          </c:dPt>
          <c:dPt>
            <c:idx val="3"/>
            <c:spPr>
              <a:solidFill>
                <a:srgbClr val="F6B26B"/>
              </a:solidFill>
              <a:ln w="9525">
                <a:solidFill>
                  <a:srgbClr val="111827"/>
                </a:solidFill>
              </a:ln>
            </c:spPr>
          </c:dPt>
          <c:dPt>
            <c:idx val="4"/>
            <c:spPr>
              <a:solidFill>
                <a:srgbClr val="F6B26B"/>
              </a:solidFill>
              <a:ln w="9525">
                <a:solidFill>
                  <a:srgbClr val="111827"/>
                </a:solidFill>
              </a:ln>
            </c:spPr>
          </c:dPt>
          <c:dPt>
            <c:idx val="5"/>
            <c:spPr>
              <a:solidFill>
                <a:srgbClr val="FFD966"/>
              </a:solidFill>
              <a:ln w="9525">
                <a:solidFill>
                  <a:srgbClr val="111827"/>
                </a:solidFill>
              </a:ln>
            </c:spPr>
          </c:dPt>
          <c:dPt>
            <c:idx val="6"/>
            <c:spPr>
              <a:solidFill>
                <a:srgbClr val="FFD966"/>
              </a:solidFill>
              <a:ln w="9525">
                <a:solidFill>
                  <a:srgbClr val="111827"/>
                </a:solidFill>
              </a:ln>
            </c:spPr>
          </c:dPt>
          <c:dPt>
            <c:idx val="7"/>
            <c:spPr>
              <a:solidFill>
                <a:srgbClr val="F6B26B"/>
              </a:solidFill>
              <a:ln w="9525">
                <a:solidFill>
                  <a:srgbClr val="111827"/>
                </a:solidFill>
              </a:ln>
            </c:spPr>
          </c:dPt>
          <c:dPt>
            <c:idx val="8"/>
            <c:spPr>
              <a:solidFill>
                <a:srgbClr val="E88080"/>
              </a:solidFill>
              <a:ln w="9525">
                <a:solidFill>
                  <a:srgbClr val="111827"/>
                </a:solidFill>
              </a:ln>
            </c:spPr>
          </c:dPt>
          <c:dPt>
            <c:idx val="9"/>
            <c:spPr>
              <a:solidFill>
                <a:srgbClr val="F6B26B"/>
              </a:solidFill>
              <a:ln w="9525">
                <a:solidFill>
                  <a:srgbClr val="111827"/>
                </a:solidFill>
              </a:ln>
            </c:spPr>
          </c:dPt>
          <c:dPt>
            <c:idx val="10"/>
            <c:spPr>
              <a:solidFill>
                <a:srgbClr val="FFD966"/>
              </a:solidFill>
              <a:ln w="9525">
                <a:solidFill>
                  <a:srgbClr val="111827"/>
                </a:solidFill>
              </a:ln>
            </c:spPr>
          </c:dPt>
          <c:dPt>
            <c:idx val="11"/>
            <c:spPr>
              <a:solidFill>
                <a:srgbClr val="FFD966"/>
              </a:solidFill>
              <a:ln w="9525">
                <a:solidFill>
                  <a:srgbClr val="111827"/>
                </a:solidFill>
              </a:ln>
            </c:spPr>
          </c:dPt>
          <c:dPt>
            <c:idx val="12"/>
            <c:spPr>
              <a:solidFill>
                <a:srgbClr val="F6B26B"/>
              </a:solidFill>
              <a:ln w="9525">
                <a:solidFill>
                  <a:srgbClr val="111827"/>
                </a:solidFill>
              </a:ln>
            </c:spPr>
          </c:dPt>
          <c:dPt>
            <c:idx val="13"/>
            <c:spPr>
              <a:solidFill>
                <a:srgbClr val="F6B26B"/>
              </a:solidFill>
              <a:ln w="9525">
                <a:solidFill>
                  <a:srgbClr val="111827"/>
                </a:solidFill>
              </a:ln>
            </c:spPr>
          </c:dPt>
          <c:dPt>
            <c:idx val="14"/>
            <c:spPr>
              <a:solidFill>
                <a:srgbClr val="F6B26B"/>
              </a:solidFill>
              <a:ln w="9525">
                <a:solidFill>
                  <a:srgbClr val="111827"/>
                </a:solidFill>
              </a:ln>
            </c:spPr>
          </c:dPt>
          <c:dPt>
            <c:idx val="15"/>
            <c:spPr>
              <a:solidFill>
                <a:srgbClr val="F6B26B"/>
              </a:solidFill>
              <a:ln w="9525">
                <a:solidFill>
                  <a:srgbClr val="111827"/>
                </a:solidFill>
              </a:ln>
            </c:spPr>
          </c:dPt>
          <c:dPt>
            <c:idx val="16"/>
            <c:spPr>
              <a:solidFill>
                <a:srgbClr val="F6B26B"/>
              </a:solidFill>
              <a:ln w="9525">
                <a:solidFill>
                  <a:srgbClr val="111827"/>
                </a:solidFill>
              </a:ln>
            </c:spPr>
          </c:dPt>
          <c:dPt>
            <c:idx val="17"/>
            <c:spPr>
              <a:solidFill>
                <a:srgbClr val="E88080"/>
              </a:solidFill>
              <a:ln w="9525">
                <a:solidFill>
                  <a:srgbClr val="111827"/>
                </a:solidFill>
              </a:ln>
            </c:spPr>
          </c:dPt>
          <c:dPt>
            <c:idx val="18"/>
            <c:spPr>
              <a:solidFill>
                <a:srgbClr val="F6B26B"/>
              </a:solidFill>
              <a:ln w="9525">
                <a:solidFill>
                  <a:srgbClr val="111827"/>
                </a:solidFill>
              </a:ln>
            </c:spPr>
          </c:dPt>
          <c:dPt>
            <c:idx val="19"/>
            <c:spPr>
              <a:solidFill>
                <a:srgbClr val="F6B26B"/>
              </a:solidFill>
              <a:ln w="9525">
                <a:solidFill>
                  <a:srgbClr val="111827"/>
                </a:solidFill>
              </a:ln>
            </c:spPr>
          </c:dPt>
          <c:dPt>
            <c:idx val="20"/>
            <c:spPr>
              <a:solidFill>
                <a:srgbClr val="F6B26B"/>
              </a:solidFill>
              <a:ln w="9525">
                <a:solidFill>
                  <a:srgbClr val="111827"/>
                </a:solidFill>
              </a:ln>
            </c:spPr>
          </c:dPt>
          <c:dPt>
            <c:idx val="21"/>
            <c:spPr>
              <a:solidFill>
                <a:srgbClr val="FFD966"/>
              </a:solidFill>
              <a:ln w="9525">
                <a:solidFill>
                  <a:srgbClr val="111827"/>
                </a:solidFill>
              </a:ln>
            </c:spPr>
          </c:dPt>
          <c:dPt>
            <c:idx val="22"/>
            <c:spPr>
              <a:solidFill>
                <a:srgbClr val="FFD966"/>
              </a:solidFill>
              <a:ln w="9525">
                <a:solidFill>
                  <a:srgbClr val="111827"/>
                </a:solidFill>
              </a:ln>
            </c:spPr>
          </c:dPt>
          <c:dPt>
            <c:idx val="23"/>
            <c:spPr>
              <a:solidFill>
                <a:srgbClr val="F6B26B"/>
              </a:solidFill>
              <a:ln w="9525">
                <a:solidFill>
                  <a:srgbClr val="111827"/>
                </a:solidFill>
              </a:ln>
            </c:spPr>
          </c:dPt>
          <c:dPt>
            <c:idx val="24"/>
            <c:spPr>
              <a:solidFill>
                <a:srgbClr val="FFD966"/>
              </a:solidFill>
              <a:ln w="9525">
                <a:solidFill>
                  <a:srgbClr val="111827"/>
                </a:solidFill>
              </a:ln>
            </c:spPr>
          </c:dPt>
          <c:dPt>
            <c:idx val="25"/>
            <c:spPr>
              <a:solidFill>
                <a:srgbClr val="FFD966"/>
              </a:solidFill>
              <a:ln w="9525">
                <a:solidFill>
                  <a:srgbClr val="111827"/>
                </a:solidFill>
              </a:ln>
            </c:spPr>
          </c:dPt>
          <c:dPt>
            <c:idx val="26"/>
            <c:spPr>
              <a:solidFill>
                <a:srgbClr val="E88080"/>
              </a:solidFill>
              <a:ln w="9525">
                <a:solidFill>
                  <a:srgbClr val="111827"/>
                </a:solidFill>
              </a:ln>
            </c:spPr>
          </c:dPt>
          <c:dPt>
            <c:idx val="27"/>
            <c:spPr>
              <a:solidFill>
                <a:srgbClr val="F6B26B"/>
              </a:solidFill>
              <a:ln w="9525">
                <a:solidFill>
                  <a:srgbClr val="111827"/>
                </a:solidFill>
              </a:ln>
            </c:spPr>
          </c:dPt>
          <c:dPt>
            <c:idx val="28"/>
            <c:spPr>
              <a:solidFill>
                <a:srgbClr val="FFD966"/>
              </a:solidFill>
              <a:ln w="9525">
                <a:solidFill>
                  <a:srgbClr val="111827"/>
                </a:solidFill>
              </a:ln>
            </c:spPr>
          </c:dPt>
          <c:dPt>
            <c:idx val="29"/>
            <c:spPr>
              <a:solidFill>
                <a:srgbClr val="F6B26B"/>
              </a:solidFill>
              <a:ln w="9525">
                <a:solidFill>
                  <a:srgbClr val="111827"/>
                </a:solidFill>
              </a:ln>
            </c:spPr>
          </c:dPt>
          <c:dPt>
            <c:idx val="30"/>
            <c:spPr>
              <a:solidFill>
                <a:srgbClr val="F6B26B"/>
              </a:solidFill>
              <a:ln w="9525">
                <a:solidFill>
                  <a:srgbClr val="111827"/>
                </a:solidFill>
              </a:ln>
            </c:spPr>
          </c:dPt>
          <c:dPt>
            <c:idx val="31"/>
            <c:spPr>
              <a:solidFill>
                <a:srgbClr val="E88080"/>
              </a:solidFill>
              <a:ln w="9525">
                <a:solidFill>
                  <a:srgbClr val="111827"/>
                </a:solidFill>
              </a:ln>
            </c:spPr>
          </c:dPt>
          <c:dPt>
            <c:idx val="32"/>
            <c:spPr>
              <a:solidFill>
                <a:srgbClr val="F6B26B"/>
              </a:solidFill>
              <a:ln w="9525">
                <a:solidFill>
                  <a:srgbClr val="111827"/>
                </a:solidFill>
              </a:ln>
            </c:spPr>
          </c:dPt>
          <c:dPt>
            <c:idx val="33"/>
            <c:spPr>
              <a:solidFill>
                <a:srgbClr val="B6D7A8"/>
              </a:solidFill>
              <a:ln w="9525">
                <a:solidFill>
                  <a:srgbClr val="111827"/>
                </a:solidFill>
              </a:ln>
            </c:spPr>
          </c:dPt>
          <c:dPt>
            <c:idx val="34"/>
            <c:spPr>
              <a:solidFill>
                <a:srgbClr val="E88080"/>
              </a:solidFill>
              <a:ln w="9525">
                <a:solidFill>
                  <a:srgbClr val="111827"/>
                </a:solidFill>
              </a:ln>
            </c:spPr>
          </c:dPt>
          <c:dPt>
            <c:idx val="35"/>
            <c:spPr>
              <a:solidFill>
                <a:srgbClr val="FFD966"/>
              </a:solidFill>
              <a:ln w="9525">
                <a:solidFill>
                  <a:srgbClr val="111827"/>
                </a:solidFill>
              </a:ln>
            </c:spPr>
          </c:dPt>
          <c:dPt>
            <c:idx val="36"/>
            <c:spPr>
              <a:solidFill>
                <a:srgbClr val="FFD966"/>
              </a:solidFill>
              <a:ln w="9525">
                <a:solidFill>
                  <a:srgbClr val="111827"/>
                </a:solidFill>
              </a:ln>
            </c:spPr>
          </c:dPt>
          <c:dPt>
            <c:idx val="37"/>
            <c:spPr>
              <a:solidFill>
                <a:srgbClr val="F6B26B"/>
              </a:solidFill>
              <a:ln w="9525">
                <a:solidFill>
                  <a:srgbClr val="111827"/>
                </a:solidFill>
              </a:ln>
            </c:spPr>
          </c:dPt>
          <c:dPt>
            <c:idx val="38"/>
            <c:spPr>
              <a:solidFill>
                <a:srgbClr val="F6B26B"/>
              </a:solidFill>
              <a:ln w="9525">
                <a:solidFill>
                  <a:srgbClr val="111827"/>
                </a:solidFill>
              </a:ln>
            </c:spPr>
          </c:dPt>
          <c:dPt>
            <c:idx val="39"/>
            <c:spPr>
              <a:solidFill>
                <a:srgbClr val="FFD966"/>
              </a:solidFill>
              <a:ln w="9525">
                <a:solidFill>
                  <a:srgbClr val="111827"/>
                </a:solidFill>
              </a:ln>
            </c:spPr>
          </c:dPt>
          <c:dPt>
            <c:idx val="40"/>
            <c:spPr>
              <a:solidFill>
                <a:srgbClr val="FFD966"/>
              </a:solidFill>
              <a:ln w="9525">
                <a:solidFill>
                  <a:srgbClr val="111827"/>
                </a:solidFill>
              </a:ln>
            </c:spPr>
          </c:dPt>
          <c:dPt>
            <c:idx val="41"/>
            <c:spPr>
              <a:solidFill>
                <a:srgbClr val="E88080"/>
              </a:solidFill>
              <a:ln w="9525">
                <a:solidFill>
                  <a:srgbClr val="111827"/>
                </a:solidFill>
              </a:ln>
            </c:spPr>
          </c:dPt>
          <c:dPt>
            <c:idx val="42"/>
            <c:spPr>
              <a:solidFill>
                <a:srgbClr val="F6B26B"/>
              </a:solidFill>
              <a:ln w="9525">
                <a:solidFill>
                  <a:srgbClr val="111827"/>
                </a:solidFill>
              </a:ln>
            </c:spPr>
          </c:dPt>
          <c:dPt>
            <c:idx val="43"/>
            <c:spPr>
              <a:solidFill>
                <a:srgbClr val="FFD966"/>
              </a:solidFill>
              <a:ln w="9525">
                <a:solidFill>
                  <a:srgbClr val="111827"/>
                </a:solidFill>
              </a:ln>
            </c:spPr>
          </c:dPt>
          <c:dPt>
            <c:idx val="44"/>
            <c:spPr>
              <a:solidFill>
                <a:srgbClr val="F6B26B"/>
              </a:solidFill>
              <a:ln w="9525">
                <a:solidFill>
                  <a:srgbClr val="111827"/>
                </a:solidFill>
              </a:ln>
            </c:spPr>
          </c:dPt>
          <c:dPt>
            <c:idx val="45"/>
            <c:spPr>
              <a:solidFill>
                <a:srgbClr val="FFD966"/>
              </a:solidFill>
              <a:ln w="9525">
                <a:solidFill>
                  <a:srgbClr val="111827"/>
                </a:solidFill>
              </a:ln>
            </c:spPr>
          </c:dPt>
          <c:dPt>
            <c:idx val="46"/>
            <c:spPr>
              <a:solidFill>
                <a:srgbClr val="F6B26B"/>
              </a:solidFill>
              <a:ln w="9525">
                <a:solidFill>
                  <a:srgbClr val="111827"/>
                </a:solidFill>
              </a:ln>
            </c:spPr>
          </c:dPt>
          <c:dPt>
            <c:idx val="47"/>
            <c:spPr>
              <a:solidFill>
                <a:srgbClr val="F6B26B"/>
              </a:solidFill>
              <a:ln w="9525">
                <a:solidFill>
                  <a:srgbClr val="111827"/>
                </a:solidFill>
              </a:ln>
            </c:spPr>
          </c:dPt>
          <c:dPt>
            <c:idx val="48"/>
            <c:spPr>
              <a:solidFill>
                <a:srgbClr val="E88080"/>
              </a:solidFill>
              <a:ln w="9525">
                <a:solidFill>
                  <a:srgbClr val="111827"/>
                </a:solidFill>
              </a:ln>
            </c:spPr>
          </c:dPt>
          <c:dPt>
            <c:idx val="49"/>
            <c:spPr>
              <a:solidFill>
                <a:srgbClr val="FFD966"/>
              </a:solidFill>
              <a:ln w="9525">
                <a:solidFill>
                  <a:srgbClr val="111827"/>
                </a:solidFill>
              </a:ln>
            </c:spPr>
          </c:dPt>
          <c:dPt>
            <c:idx val="50"/>
            <c:spPr>
              <a:solidFill>
                <a:srgbClr val="F6B26B"/>
              </a:solidFill>
              <a:ln w="9525">
                <a:solidFill>
                  <a:srgbClr val="111827"/>
                </a:solidFill>
              </a:ln>
            </c:spPr>
          </c:dPt>
          <c:dPt>
            <c:idx val="51"/>
            <c:spPr>
              <a:solidFill>
                <a:srgbClr val="FFD966"/>
              </a:solidFill>
              <a:ln w="9525">
                <a:solidFill>
                  <a:srgbClr val="111827"/>
                </a:solidFill>
              </a:ln>
            </c:spPr>
          </c:dPt>
          <c:dPt>
            <c:idx val="52"/>
            <c:spPr>
              <a:solidFill>
                <a:srgbClr val="F6B26B"/>
              </a:solidFill>
              <a:ln w="9525">
                <a:solidFill>
                  <a:srgbClr val="111827"/>
                </a:solidFill>
              </a:ln>
            </c:spPr>
          </c:dPt>
          <c:dPt>
            <c:idx val="53"/>
            <c:spPr>
              <a:solidFill>
                <a:srgbClr val="FFD966"/>
              </a:solidFill>
              <a:ln w="9525">
                <a:solidFill>
                  <a:srgbClr val="111827"/>
                </a:solidFill>
              </a:ln>
            </c:spPr>
          </c:dPt>
          <c:dPt>
            <c:idx val="54"/>
            <c:spPr>
              <a:solidFill>
                <a:srgbClr val="E88080"/>
              </a:solidFill>
              <a:ln w="9525">
                <a:solidFill>
                  <a:srgbClr val="111827"/>
                </a:solidFill>
              </a:ln>
            </c:spPr>
          </c:dPt>
          <c:dPt>
            <c:idx val="55"/>
            <c:spPr>
              <a:solidFill>
                <a:srgbClr val="F6B26B"/>
              </a:solidFill>
              <a:ln w="9525">
                <a:solidFill>
                  <a:srgbClr val="111827"/>
                </a:solidFill>
              </a:ln>
            </c:spPr>
          </c:dPt>
          <c:dPt>
            <c:idx val="56"/>
            <c:spPr>
              <a:solidFill>
                <a:srgbClr val="F6B26B"/>
              </a:solidFill>
              <a:ln w="9525">
                <a:solidFill>
                  <a:srgbClr val="111827"/>
                </a:solidFill>
              </a:ln>
            </c:spPr>
          </c:dPt>
          <c:dPt>
            <c:idx val="57"/>
            <c:spPr>
              <a:solidFill>
                <a:srgbClr val="F6B26B"/>
              </a:solidFill>
              <a:ln w="9525">
                <a:solidFill>
                  <a:srgbClr val="111827"/>
                </a:solidFill>
              </a:ln>
            </c:spPr>
          </c:dPt>
          <c:dPt>
            <c:idx val="58"/>
            <c:spPr>
              <a:solidFill>
                <a:srgbClr val="F6B26B"/>
              </a:solidFill>
              <a:ln w="9525">
                <a:solidFill>
                  <a:srgbClr val="111827"/>
                </a:solidFill>
              </a:ln>
            </c:spPr>
          </c:dPt>
          <c:dPt>
            <c:idx val="59"/>
            <c:spPr>
              <a:solidFill>
                <a:srgbClr val="FFD966"/>
              </a:solidFill>
              <a:ln w="9525">
                <a:solidFill>
                  <a:srgbClr val="111827"/>
                </a:solidFill>
              </a:ln>
            </c:spPr>
          </c:dPt>
          <c:dPt>
            <c:idx val="60"/>
            <c:spPr>
              <a:solidFill>
                <a:srgbClr val="FFD966"/>
              </a:solidFill>
              <a:ln w="9525">
                <a:solidFill>
                  <a:srgbClr val="111827"/>
                </a:solidFill>
              </a:ln>
            </c:spPr>
          </c:dPt>
          <c:dPt>
            <c:idx val="61"/>
            <c:spPr>
              <a:solidFill>
                <a:srgbClr val="F6B26B"/>
              </a:solidFill>
              <a:ln w="9525">
                <a:solidFill>
                  <a:srgbClr val="111827"/>
                </a:solidFill>
              </a:ln>
            </c:spPr>
          </c:dPt>
          <c:dPt>
            <c:idx val="62"/>
            <c:spPr>
              <a:solidFill>
                <a:srgbClr val="F6B26B"/>
              </a:solidFill>
              <a:ln w="9525">
                <a:solidFill>
                  <a:srgbClr val="111827"/>
                </a:solidFill>
              </a:ln>
            </c:spPr>
          </c:dPt>
          <c:dPt>
            <c:idx val="63"/>
            <c:spPr>
              <a:solidFill>
                <a:srgbClr val="F6B26B"/>
              </a:solidFill>
              <a:ln w="9525">
                <a:solidFill>
                  <a:srgbClr val="111827"/>
                </a:solidFill>
              </a:ln>
            </c:spPr>
          </c:dPt>
          <c:dPt>
            <c:idx val="64"/>
            <c:spPr>
              <a:solidFill>
                <a:srgbClr val="FFD966"/>
              </a:solidFill>
              <a:ln w="9525">
                <a:solidFill>
                  <a:srgbClr val="111827"/>
                </a:solidFill>
              </a:ln>
            </c:spPr>
          </c:dPt>
          <c:cat>
            <c:strRef>
              <c:f>Sheet1!$A$2:$A$66</c:f>
              <c:strCache>
                <c:ptCount val="65"/>
                <c:pt idx="0">
                  <c:v>Q1</c:v>
                </c:pt>
                <c:pt idx="1">
                  <c:v>Q2</c:v>
                </c:pt>
                <c:pt idx="2">
                  <c:v>Q3</c:v>
                </c:pt>
                <c:pt idx="3">
                  <c:v>Q4</c:v>
                </c:pt>
                <c:pt idx="4">
                  <c:v>Q5</c:v>
                </c:pt>
                <c:pt idx="5">
                  <c:v>Q6</c:v>
                </c:pt>
                <c:pt idx="6">
                  <c:v>Q7</c:v>
                </c:pt>
                <c:pt idx="7">
                  <c:v>Q8</c:v>
                </c:pt>
                <c:pt idx="8">
                  <c:v>Q9</c:v>
                </c:pt>
                <c:pt idx="9">
                  <c:v>Q10</c:v>
                </c:pt>
                <c:pt idx="10">
                  <c:v>Q11</c:v>
                </c:pt>
                <c:pt idx="11">
                  <c:v>Q12</c:v>
                </c:pt>
                <c:pt idx="12">
                  <c:v>Q13</c:v>
                </c:pt>
                <c:pt idx="13">
                  <c:v>Q14</c:v>
                </c:pt>
                <c:pt idx="14">
                  <c:v>Q15</c:v>
                </c:pt>
                <c:pt idx="15">
                  <c:v>Q16</c:v>
                </c:pt>
                <c:pt idx="16">
                  <c:v>Q17</c:v>
                </c:pt>
                <c:pt idx="17">
                  <c:v>Q18</c:v>
                </c:pt>
                <c:pt idx="18">
                  <c:v>Q19</c:v>
                </c:pt>
                <c:pt idx="19">
                  <c:v>Q20</c:v>
                </c:pt>
                <c:pt idx="20">
                  <c:v>Q21</c:v>
                </c:pt>
                <c:pt idx="21">
                  <c:v>Q22</c:v>
                </c:pt>
                <c:pt idx="22">
                  <c:v>Q23</c:v>
                </c:pt>
                <c:pt idx="23">
                  <c:v>Q24</c:v>
                </c:pt>
                <c:pt idx="24">
                  <c:v>Q25</c:v>
                </c:pt>
                <c:pt idx="25">
                  <c:v>Q26</c:v>
                </c:pt>
                <c:pt idx="26">
                  <c:v>Q27</c:v>
                </c:pt>
                <c:pt idx="27">
                  <c:v>Q28</c:v>
                </c:pt>
                <c:pt idx="28">
                  <c:v>Q29</c:v>
                </c:pt>
                <c:pt idx="29">
                  <c:v>Q30</c:v>
                </c:pt>
                <c:pt idx="30">
                  <c:v>Q31</c:v>
                </c:pt>
                <c:pt idx="31">
                  <c:v>Q32</c:v>
                </c:pt>
                <c:pt idx="32">
                  <c:v>Q33</c:v>
                </c:pt>
                <c:pt idx="33">
                  <c:v>Q34</c:v>
                </c:pt>
                <c:pt idx="34">
                  <c:v>Q35</c:v>
                </c:pt>
                <c:pt idx="35">
                  <c:v>Q36</c:v>
                </c:pt>
                <c:pt idx="36">
                  <c:v>Q37</c:v>
                </c:pt>
                <c:pt idx="37">
                  <c:v>Q38</c:v>
                </c:pt>
                <c:pt idx="38">
                  <c:v>Q39</c:v>
                </c:pt>
                <c:pt idx="39">
                  <c:v>Q40</c:v>
                </c:pt>
                <c:pt idx="40">
                  <c:v>Q41</c:v>
                </c:pt>
                <c:pt idx="41">
                  <c:v>Q42</c:v>
                </c:pt>
                <c:pt idx="42">
                  <c:v>Q43</c:v>
                </c:pt>
                <c:pt idx="43">
                  <c:v>Q44</c:v>
                </c:pt>
                <c:pt idx="44">
                  <c:v>Q45</c:v>
                </c:pt>
                <c:pt idx="45">
                  <c:v>Q46</c:v>
                </c:pt>
                <c:pt idx="46">
                  <c:v>Q47</c:v>
                </c:pt>
                <c:pt idx="47">
                  <c:v>Q48</c:v>
                </c:pt>
                <c:pt idx="48">
                  <c:v>Q49</c:v>
                </c:pt>
                <c:pt idx="49">
                  <c:v>Q50</c:v>
                </c:pt>
                <c:pt idx="50">
                  <c:v>Q51</c:v>
                </c:pt>
                <c:pt idx="51">
                  <c:v>Q52</c:v>
                </c:pt>
                <c:pt idx="52">
                  <c:v>Q53</c:v>
                </c:pt>
                <c:pt idx="53">
                  <c:v>Q54</c:v>
                </c:pt>
                <c:pt idx="54">
                  <c:v>Q55</c:v>
                </c:pt>
                <c:pt idx="55">
                  <c:v>Q56</c:v>
                </c:pt>
                <c:pt idx="56">
                  <c:v>Q57</c:v>
                </c:pt>
                <c:pt idx="57">
                  <c:v>Q58</c:v>
                </c:pt>
                <c:pt idx="58">
                  <c:v>Q59</c:v>
                </c:pt>
                <c:pt idx="59">
                  <c:v>Q60</c:v>
                </c:pt>
                <c:pt idx="60">
                  <c:v>Q61</c:v>
                </c:pt>
                <c:pt idx="61">
                  <c:v>Q62</c:v>
                </c:pt>
                <c:pt idx="62">
                  <c:v>Q63</c:v>
                </c:pt>
                <c:pt idx="63">
                  <c:v>Q64</c:v>
                </c:pt>
                <c:pt idx="64">
                  <c:v>Q65</c:v>
                </c:pt>
              </c:strCache>
            </c:strRef>
          </c:cat>
          <c:val>
            <c:numRef>
              <c:f>Sheet1!$B$2:$B$66</c:f>
              <c:numCache>
                <c:formatCode>General</c:formatCode>
                <c:ptCount val="65"/>
                <c:pt idx="0">
                  <c:v>2.0</c:v>
                </c:pt>
                <c:pt idx="1">
                  <c:v>2.0</c:v>
                </c:pt>
                <c:pt idx="2">
                  <c:v>2.0</c:v>
                </c:pt>
                <c:pt idx="3">
                  <c:v>3.0</c:v>
                </c:pt>
                <c:pt idx="4">
                  <c:v>3.0</c:v>
                </c:pt>
                <c:pt idx="5">
                  <c:v>2.0</c:v>
                </c:pt>
                <c:pt idx="6">
                  <c:v>2.0</c:v>
                </c:pt>
                <c:pt idx="7">
                  <c:v>3.0</c:v>
                </c:pt>
                <c:pt idx="8">
                  <c:v>4.0</c:v>
                </c:pt>
                <c:pt idx="9">
                  <c:v>3.0</c:v>
                </c:pt>
                <c:pt idx="10">
                  <c:v>2.0</c:v>
                </c:pt>
                <c:pt idx="11">
                  <c:v>2.0</c:v>
                </c:pt>
                <c:pt idx="12">
                  <c:v>3.0</c:v>
                </c:pt>
                <c:pt idx="13">
                  <c:v>3.0</c:v>
                </c:pt>
                <c:pt idx="14">
                  <c:v>3.0</c:v>
                </c:pt>
                <c:pt idx="15">
                  <c:v>3.0</c:v>
                </c:pt>
                <c:pt idx="16">
                  <c:v>3.0</c:v>
                </c:pt>
                <c:pt idx="17">
                  <c:v>4.0</c:v>
                </c:pt>
                <c:pt idx="18">
                  <c:v>3.0</c:v>
                </c:pt>
                <c:pt idx="19">
                  <c:v>3.0</c:v>
                </c:pt>
                <c:pt idx="20">
                  <c:v>3.0</c:v>
                </c:pt>
                <c:pt idx="21">
                  <c:v>2.0</c:v>
                </c:pt>
                <c:pt idx="22">
                  <c:v>2.0</c:v>
                </c:pt>
                <c:pt idx="23">
                  <c:v>3.0</c:v>
                </c:pt>
                <c:pt idx="24">
                  <c:v>2.0</c:v>
                </c:pt>
                <c:pt idx="25">
                  <c:v>2.0</c:v>
                </c:pt>
                <c:pt idx="26">
                  <c:v>4.0</c:v>
                </c:pt>
                <c:pt idx="27">
                  <c:v>3.0</c:v>
                </c:pt>
                <c:pt idx="28">
                  <c:v>2.0</c:v>
                </c:pt>
                <c:pt idx="29">
                  <c:v>3.0</c:v>
                </c:pt>
                <c:pt idx="30">
                  <c:v>3.0</c:v>
                </c:pt>
                <c:pt idx="31">
                  <c:v>4.0</c:v>
                </c:pt>
                <c:pt idx="32">
                  <c:v>3.0</c:v>
                </c:pt>
                <c:pt idx="33">
                  <c:v>1.0</c:v>
                </c:pt>
                <c:pt idx="34">
                  <c:v>4.0</c:v>
                </c:pt>
                <c:pt idx="35">
                  <c:v>2.0</c:v>
                </c:pt>
                <c:pt idx="36">
                  <c:v>2.0</c:v>
                </c:pt>
                <c:pt idx="37">
                  <c:v>3.0</c:v>
                </c:pt>
                <c:pt idx="38">
                  <c:v>3.0</c:v>
                </c:pt>
                <c:pt idx="39">
                  <c:v>2.0</c:v>
                </c:pt>
                <c:pt idx="40">
                  <c:v>2.0</c:v>
                </c:pt>
                <c:pt idx="41">
                  <c:v>4.0</c:v>
                </c:pt>
                <c:pt idx="42">
                  <c:v>3.0</c:v>
                </c:pt>
                <c:pt idx="43">
                  <c:v>2.0</c:v>
                </c:pt>
                <c:pt idx="44">
                  <c:v>3.0</c:v>
                </c:pt>
                <c:pt idx="45">
                  <c:v>2.0</c:v>
                </c:pt>
                <c:pt idx="46">
                  <c:v>3.0</c:v>
                </c:pt>
                <c:pt idx="47">
                  <c:v>3.0</c:v>
                </c:pt>
                <c:pt idx="48">
                  <c:v>4.0</c:v>
                </c:pt>
                <c:pt idx="49">
                  <c:v>2.0</c:v>
                </c:pt>
                <c:pt idx="50">
                  <c:v>3.0</c:v>
                </c:pt>
                <c:pt idx="51">
                  <c:v>2.0</c:v>
                </c:pt>
                <c:pt idx="52">
                  <c:v>3.0</c:v>
                </c:pt>
                <c:pt idx="53">
                  <c:v>2.0</c:v>
                </c:pt>
                <c:pt idx="54">
                  <c:v>4.0</c:v>
                </c:pt>
                <c:pt idx="55">
                  <c:v>3.0</c:v>
                </c:pt>
                <c:pt idx="56">
                  <c:v>3.0</c:v>
                </c:pt>
                <c:pt idx="57">
                  <c:v>3.0</c:v>
                </c:pt>
                <c:pt idx="58">
                  <c:v>3.0</c:v>
                </c:pt>
                <c:pt idx="59">
                  <c:v>2.0</c:v>
                </c:pt>
                <c:pt idx="60">
                  <c:v>2.0</c:v>
                </c:pt>
                <c:pt idx="61">
                  <c:v>3.0</c:v>
                </c:pt>
                <c:pt idx="62">
                  <c:v>3.0</c:v>
                </c:pt>
                <c:pt idx="63">
                  <c:v>3.0</c:v>
                </c:pt>
                <c:pt idx="64">
                  <c:v>2.0</c:v>
                </c:pt>
              </c:numCache>
            </c:numRef>
          </c:val>
        </c:ser>
        <c:dLbls>
          <c:numFmt formatCode="0.0#" sourceLinked="0"/>
          <c:txPr>
            <a:bodyPr/>
            <a:lstStyle/>
            <a:p>
              <a:pPr>
                <a:defRPr sz="2000" b="1">
                  <a:solidFill>
                    <a:srgbClr val="111827"/>
                  </a:solidFill>
                  <a:latin typeface="Arial"/>
                </a:defRPr>
              </a:pPr>
            </a:p>
          </c:txPr>
          <c:dLblPos val="outEnd"/>
          <c:showLegendKey val="0"/>
          <c:showVal val="1"/>
          <c:showCatName val="0"/>
          <c:showSerName val="0"/>
          <c:showPercent val="0"/>
          <c:showBubbleSize val="0"/>
          <c:showLeaderLines val="1"/>
        </c:dLbls>
        <c:gapWidth val="40"/>
        <c:axId val="-2068027336"/>
        <c:axId val="-2113994440"/>
      </c:barChart>
      <c:catAx>
        <c:axId val="-2068027336"/>
        <c:scaling>
          <c:orientation val="minMax"/>
        </c:scaling>
        <c:delete val="0"/>
        <c:axPos val="b"/>
        <c:majorTickMark val="out"/>
        <c:minorTickMark val="none"/>
        <c:tickLblPos val="nextTo"/>
        <c:txPr>
          <a:bodyPr/>
          <a:lstStyle/>
          <a:p>
            <a:pPr>
              <a:defRPr sz="2000" b="1">
                <a:latin typeface="Arial"/>
              </a:defRPr>
            </a:pPr>
          </a:p>
        </c:txPr>
        <c:crossAx val="-2113994440"/>
        <c:crosses val="autoZero"/>
        <c:auto val="1"/>
        <c:lblAlgn val="ctr"/>
        <c:lblOffset val="100"/>
        <c:noMultiLvlLbl val="0"/>
      </c:catAx>
      <c:valAx>
        <c:axId val="-2113994440"/>
        <c:scaling>
          <c:max val="5.5"/>
          <c:min val="0.0"/>
        </c:scaling>
        <c:delete val="0"/>
        <c:axPos val="l"/>
        <c:majorGridlines>
          <c:spPr>
            <a:ln>
              <a:solidFill>
                <a:srgbClr val="D1D5DB"/>
              </a:solidFill>
            </a:ln>
          </c:spPr>
        </c:majorGridlines>
        <c:title>
          <c:tx>
            <c:rich>
              <a:bodyPr/>
              <a:lstStyle/>
              <a:p>
                <a:r>
                  <a:rPr sz="2000"/>
                  <a:t>Level</a:t>
                </a:r>
              </a:p>
            </c:rich>
          </c:tx>
          <c:layout/>
          <c:overlay val="0"/>
        </c:title>
        <c:majorTickMark val="out"/>
        <c:minorTickMark val="none"/>
        <c:tickLblPos val="nextTo"/>
        <c:txPr>
          <a:bodyPr/>
          <a:lstStyle/>
          <a:p>
            <a:pPr>
              <a:defRPr sz="2000">
                <a:latin typeface="Arial"/>
              </a:defRPr>
            </a:pPr>
          </a:p>
        </c:txPr>
        <c:crossAx val="-2068027336"/>
        <c:crosses val="autoZero"/>
        <c:majorUnit val="1.0"/>
      </c:valAx>
    </c:plotArea>
    <c:dispBlanksAs val="gap"/>
  </c:chart>
  <c:txPr>
    <a:bodyPr/>
    <a:lstStyle/>
    <a:p>
      <a:pPr>
        <a:defRPr sz="1800"/>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labels the product of slopes as 'slope of AB x slope of BC' but the slopes it actually writes are those of AB and of CS (the altitude from C through the focus). Relabelled as CS perpendicular to AB; the working and the answer 5 are unchanged. Also added that the three parameters must be distinct so that they are exactly the three roots of the cubic.</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writes -2a t2 + 4f = 0 and concludes t2 = -2k/a. The correct solution is t2 = +2k/a (and 'f' should be 'k'). Because t2 is only used squared, the final locus 2y^2 = ax - a^2 is unchanged. Corrected the sign and the typo.</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In part (c) the PDF says the family of lines L' perpendicular to L through the point of concurrency 'is L itself'. L' is perpendicular to L, so it is not L. What is true (and is what the argument needs) is that, as m varies, L' runs over the same family of lines through the focus. Reworded; the locus x + 1 = 0 is unchanged.</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Part (c): the PDF writes 2x1 = 4a + a t3^2, but a t1 t2 = 2a (not 4a), giving y^2 - x + 4 = 0. Correct: 2x1 = 2a + a t3^2 and the locus is y^2 = x - 2 (checked with t1=1, t2=2: T=(4,6), R=(18,-12), centre (11,-3), 9 = 11-2). Parts (a) and (b) are correct. The printed answer key lists only (a) and (b).</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states the answer to (c), 4(3 - 2*sqrt2), with no working. Added the integral set-up and its evaluation (and noted which curve opens up/down). Answers (a) 5, (b) 9/2, (c) 4(3 - 2*sqrt2) are right (checked: area 12 - 8*sqrt2 = 0.686).</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PDF's intermediate line 'k^2 - 2 alpha^2 - h alpha^2 - alpha^3 = 0' has the signs of the alpha^2 and alpha^3 terms wrong. Substituting m3 = -k/alpha gives k^2 + (2-h) alpha^2 - alpha^3 = 0, i.e. k^2 = alpha^2 h + alpha^3 - 2 alpha^2, which is exactly the locus (2) the PDF then states. Answer alpha = 2 unchanged.</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PDF's proportion 'h/(2cos t) = k/(4 sin t) = -6/-4' drops the factor 2 of the term 2ky in (1): comparing hx+2ky-6=0 with 2cos t x+4 sin t y-4=0 gives h/(2cos t) = 2k/(4 sin t) = 3/2, so h = 3cos t, k = 3 sin t. With the printed proportion k would be 6 sin t and h^2+k^2 would not be 9. The conclusion h^2+k^2=9 (director circle) is right.</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Part (b): the PDF takes the apex at (20,0) with base end points labelled (20 cos t, +-16 sin t) but writes the height as 20+20cos t; for those points the height is 20-20cos t. (With t -&gt; pi - t the two are the same expression, and the maximum 240*sqrt3 is unaffected.) Part (c): the PDF writes the area as (1/2) OP x PN, but the right angle of triangle OPN is at N, so the area is (1/2) ON x NP; its next line already uses ON x NP. Corrected both; answers (a) 3/5, (b) 240*sqrt3, (c) 36 are right.</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labels the point of the hyperbola 'M = (a sec t, -a tan t)', but in the question M is the foot on the tangent; the point on the curve is N. Relabelled (the argument and the answer 9 are unchanged).</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PDF's line 'k^3 - 4k(2-h) + 8k = 0' has the signs of the last two terms reversed (the correct equation is k^3 + 4k(2-h) - 8k = 0, i.e. after dividing by k, k^2 + 4(2-h) - 8 = 0), and its next line 'k^2 - 8 - 4h + 8 = 0' is not the expansion of either; only the final y^2 = 4x is right. Redone from m3 = -k/2.</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In (D) the PDF writes 'x = 1, y = 4 =&gt; C = -1' but the curve passes through (1, 2); with (1, 2) the constant is C = -1, which is what it uses afterwards. Corrected the point. (In (C) the PDF's 'Y = y - ...' hidden line is not needed.) Answers unchanged.</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4.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8.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0.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1.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4.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5.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6.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8.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0.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1.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4.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5.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6.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9.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3.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4.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5.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6.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7.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0.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1.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2.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4.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5.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1.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a:lstStyle>
            <a:lvl1pPr>
              <a:defRPr sz="4000">
                <a:solidFill>
                  <a:srgbClr val="FFFFFF"/>
                </a:solidFill>
              </a:defRPr>
            </a:lvl1pPr>
          </a:lstStyle>
          <a:p>
            <a:pPr algn="ctr">
              <a:defRPr sz="4000">
                <a:solidFill>
                  <a:srgbClr val="FFFFFF"/>
                </a:solidFill>
              </a:defRPr>
            </a:pPr>
            <a:r>
              <a:rPr sz="4000" b="1">
                <a:solidFill>
                  <a:srgbClr val="FFFFFF"/>
                </a:solidFill>
                <a:latin typeface="Arial"/>
              </a:rPr>
              <a:t>Conic Section (Exercise C-II) — Paper Analysis</a:t>
            </a:r>
            <a:endParaRPr sz="4000">
              <a:solidFill>
                <a:srgbClr val="FFFFFF"/>
              </a:solidFill>
            </a:endParaRPr>
          </a:p>
          <a:p>
            <a:pPr algn="ctr"/>
            <a:r>
              <a:rPr sz="2200">
                <a:solidFill>
                  <a:srgbClr val="FFFFFF"/>
                </a:solidFill>
                <a:latin typeface="Arial"/>
              </a:rPr>
              <a:t>Sheet C2 · detailed solutions</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1</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Subjective / Integer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Q01 – Q55</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No marking scheme printed in the paper</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Assumed +4 each (JEE Advanced default for subjective / integer)</a:t>
            </a:r>
            <a:endParaRPr sz="2800">
              <a:solidFill>
                <a:srgbClr val="FFFFFF"/>
              </a:solidFill>
            </a:endParaRP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tangent at the point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(eccentric angle) on a standard ellipse meets the auxiliary circle in two points which subtend a right angle at the centre. Show that the eccentricity of the ellipse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tangent at the point </a:t>
                </a:r>
                <a:r>
                  <a:rPr lang="en-IN" sz="2400">
                    <a:solidFill>
                      <a:srgbClr val="111827"/>
                    </a:solidFill>
                    <a:latin typeface="Cambria Math" panose="02040503050406030204" pitchFamily="18" charset="0"/>
                  </a:rPr>
                  <a:t>$\alpha$</a:t>
                </a:r>
                <a:r>
                  <a:rPr sz="2400" b="0">
                    <a:solidFill>
                      <a:srgbClr val="111827"/>
                    </a:solidFill>
                    <a:latin typeface="Arial"/>
                  </a:rPr>
                  <a:t> (eccentric angle) on a standard ellipse meets the auxiliary circle in two points which subtend a right angle at the centre. Show that the eccentricity of the ellipse is </a:t>
                </a:r>
                <a:r>
                  <a:rPr lang="en-IN" sz="2400">
                    <a:solidFill>
                      <a:srgbClr val="111827"/>
                    </a:solidFill>
                    <a:latin typeface="Cambria Math" panose="02040503050406030204" pitchFamily="18" charset="0"/>
                  </a:rPr>
                  <a:t>$(1+\sin^2\alpha)^{-1/2}$</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516884"/>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to an ellipse and auxiliary circle, Pair of lines through the origin (homogenisation)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Homogenise the circle with the tangent: the pair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𝐵</m:t>
                    </m:r>
                  </m:oMath>
                </a14:m>
                <a:r>
                  <a:rPr sz="2400" b="0">
                    <a:solidFill>
                      <a:srgbClr val="78350F"/>
                    </a:solidFill>
                    <a:latin typeface="Arial"/>
                  </a:rPr>
                  <a:t> is perpendicular exactly when the coefficients of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add to zero.</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Homogenise the circle with the tangent: the pair </a:t>
                </a:r>
                <a:r>
                  <a:rPr lang="en-IN" sz="2400">
                    <a:solidFill>
                      <a:srgbClr val="78350F"/>
                    </a:solidFill>
                    <a:latin typeface="Cambria Math" panose="02040503050406030204" pitchFamily="18" charset="0"/>
                  </a:rPr>
                  <a:t>$OA,OB$</a:t>
                </a:r>
                <a:r>
                  <a:rPr sz="2400" b="0">
                    <a:solidFill>
                      <a:srgbClr val="78350F"/>
                    </a:solidFill>
                    <a:latin typeface="Arial"/>
                  </a:rPr>
                  <a:t> is perpendicular exactly when the coefficients of </a:t>
                </a:r>
                <a:r>
                  <a:rPr lang="en-IN" sz="2400">
                    <a:solidFill>
                      <a:srgbClr val="78350F"/>
                    </a:solidFill>
                    <a:latin typeface="Cambria Math" panose="02040503050406030204" pitchFamily="18" charset="0"/>
                  </a:rPr>
                  <a:t>$x^2$</a:t>
                </a:r>
                <a:r>
                  <a:rPr sz="2400" b="0">
                    <a:solidFill>
                      <a:srgbClr val="78350F"/>
                    </a:solidFill>
                    <a:latin typeface="Arial"/>
                  </a:rPr>
                  <a:t> and </a:t>
                </a:r>
                <a:r>
                  <a:rPr lang="en-IN" sz="2400">
                    <a:solidFill>
                      <a:srgbClr val="78350F"/>
                    </a:solidFill>
                    <a:latin typeface="Cambria Math" panose="02040503050406030204" pitchFamily="18" charset="0"/>
                  </a:rPr>
                  <a:t>$y^2$</a:t>
                </a:r>
                <a:r>
                  <a:rPr sz="2400" b="0">
                    <a:solidFill>
                      <a:srgbClr val="78350F"/>
                    </a:solidFill>
                    <a:latin typeface="Arial"/>
                  </a:rPr>
                  <a:t> add to zero.</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Auxiliary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pair of lines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is obtained by homogenising (1) with the help of (2):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Expanding: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Auxiliary circle: </a:t>
                </a:r>
                <a:r>
                  <a:rPr lang="en-IN" sz="2400">
                    <a:solidFill>
                      <a:srgbClr val="111827"/>
                    </a:solidFill>
                    <a:latin typeface="Cambria Math" panose="02040503050406030204" pitchFamily="18" charset="0"/>
                  </a:rPr>
                  <a:t>$x^2+y^2=a^2$</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$P(a\cos\alpha,\,b\sin\alpha)$</a:t>
                </a:r>
                <a:r>
                  <a:rPr sz="2400" b="0">
                    <a:solidFill>
                      <a:srgbClr val="111827"/>
                    </a:solidFill>
                    <a:latin typeface="Arial"/>
                  </a:rPr>
                  <a:t>: </a:t>
                </a:r>
                <a:r>
                  <a:rPr lang="en-IN" sz="2400">
                    <a:solidFill>
                      <a:srgbClr val="111827"/>
                    </a:solidFill>
                    <a:latin typeface="Cambria Math" panose="02040503050406030204" pitchFamily="18" charset="0"/>
                  </a:rPr>
                  <a:t>$\frac{x}{a}\cos\alpha+\frac{y}{b}\sin\alpha=1$</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pair of lines </a:t>
                </a:r>
                <a:r>
                  <a:rPr lang="en-IN" sz="2400">
                    <a:solidFill>
                      <a:srgbClr val="111827"/>
                    </a:solidFill>
                    <a:latin typeface="Cambria Math" panose="02040503050406030204" pitchFamily="18" charset="0"/>
                  </a:rPr>
                  <a:t>$OA,OB$</a:t>
                </a:r>
                <a:r>
                  <a:rPr sz="2400" b="0">
                    <a:solidFill>
                      <a:srgbClr val="111827"/>
                    </a:solidFill>
                    <a:latin typeface="Arial"/>
                  </a:rPr>
                  <a:t> is obtained by homogenising (1) with the help of (2): </a:t>
                </a:r>
                <a:r>
                  <a:rPr lang="en-IN" sz="2400">
                    <a:solidFill>
                      <a:srgbClr val="111827"/>
                    </a:solidFill>
                    <a:latin typeface="Cambria Math" panose="02040503050406030204" pitchFamily="18" charset="0"/>
                  </a:rPr>
                  <a:t>$x^2+y^2=a^2\left(\frac{x}{a}\cos\alpha+\frac{y}{b}\sin\alpha\right)^2$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Expanding: </a:t>
                </a:r>
                <a:r>
                  <a:rPr lang="en-IN" sz="2400">
                    <a:solidFill>
                      <a:srgbClr val="111827"/>
                    </a:solidFill>
                    <a:latin typeface="Cambria Math" panose="02040503050406030204" pitchFamily="18" charset="0"/>
                  </a:rPr>
                  <a:t>$(1-\cos^2\alpha)x^2-\frac{2xya\sin\alpha\cos\alpha}{b}+y^2\left(1-\frac{a^2}{b^2}\sin^2\alpha\right)=0$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the sum of the coefficients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zero.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en>
                    </m:f>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$\angle AOB=90^\circ$</a:t>
                </a:r>
                <a:r>
                  <a:rPr sz="2400" b="0">
                    <a:solidFill>
                      <a:srgbClr val="111827"/>
                    </a:solidFill>
                    <a:latin typeface="Arial"/>
                  </a:rPr>
                  <a:t>, the sum of the coefficients of </a:t>
                </a:r>
                <a:r>
                  <a:rPr lang="en-IN" sz="2400">
                    <a:solidFill>
                      <a:srgbClr val="111827"/>
                    </a:solidFill>
                    <a:latin typeface="Cambria Math" panose="02040503050406030204" pitchFamily="18" charset="0"/>
                  </a:rPr>
                  <a:t>$x^2$</a:t>
                </a:r>
                <a:r>
                  <a:rPr sz="2400" b="0">
                    <a:solidFill>
                      <a:srgbClr val="111827"/>
                    </a:solidFill>
                    <a:latin typeface="Arial"/>
                  </a:rPr>
                  <a:t> and </a:t>
                </a:r>
                <a:r>
                  <a:rPr lang="en-IN" sz="2400">
                    <a:solidFill>
                      <a:srgbClr val="111827"/>
                    </a:solidFill>
                    <a:latin typeface="Cambria Math" panose="02040503050406030204" pitchFamily="18" charset="0"/>
                  </a:rPr>
                  <a:t>$y^2$</a:t>
                </a:r>
                <a:r>
                  <a:rPr sz="2400" b="0">
                    <a:solidFill>
                      <a:srgbClr val="111827"/>
                    </a:solidFill>
                    <a:latin typeface="Arial"/>
                  </a:rPr>
                  <a:t> is zero.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$1-\cos^2\alpha+1-\frac{a^2}{b^2}\sin^2\alpha=0$</a:t>
                </a:r>
                <a:r>
                  <a:rPr sz="2400" b="0">
                    <a:solidFill>
                      <a:srgbClr val="111827"/>
                    </a:solidFill>
                    <a:latin typeface="Arial"/>
                  </a:rPr>
                  <a:t>, i.e. </a:t>
                </a:r>
                <a:r>
                  <a:rPr lang="en-IN" sz="2400">
                    <a:solidFill>
                      <a:srgbClr val="111827"/>
                    </a:solidFill>
                    <a:latin typeface="Cambria Math" panose="02040503050406030204" pitchFamily="18" charset="0"/>
                  </a:rPr>
                  <a:t>$1+\sin^2\alpha-\frac{a^2}{b^2}\sin^2\alpha=0$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$1=\frac{a^2-b^2}{b^2}\sin^2\alpha$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r>
                  <a:rPr lang="en-IN" sz="2400">
                    <a:solidFill>
                      <a:srgbClr val="111827"/>
                    </a:solidFill>
                    <a:latin typeface="Cambria Math" panose="02040503050406030204" pitchFamily="18" charset="0"/>
                  </a:rPr>
                  <a:t>$b^2=a^2(1-e^2)$</a:t>
                </a:r>
                <a:r>
                  <a:rPr sz="2400" b="0">
                    <a:solidFill>
                      <a:srgbClr val="111827"/>
                    </a:solidFill>
                    <a:latin typeface="Arial"/>
                  </a:rPr>
                  <a:t> and </a:t>
                </a:r>
                <a:r>
                  <a:rPr lang="en-IN" sz="2400">
                    <a:solidFill>
                      <a:srgbClr val="111827"/>
                    </a:solidFill>
                    <a:latin typeface="Cambria Math" panose="02040503050406030204" pitchFamily="18" charset="0"/>
                  </a:rPr>
                  <a:t>$a^2-b^2=a^2e^2$</a:t>
                </a:r>
                <a:r>
                  <a:rPr sz="2400" b="0">
                    <a:solidFill>
                      <a:srgbClr val="111827"/>
                    </a:solidFill>
                    <a:latin typeface="Arial"/>
                  </a:rPr>
                  <a:t>: </a:t>
                </a:r>
                <a:r>
                  <a:rPr lang="en-IN" sz="2400">
                    <a:solidFill>
                      <a:srgbClr val="111827"/>
                    </a:solidFill>
                    <a:latin typeface="Cambria Math" panose="02040503050406030204" pitchFamily="18" charset="0"/>
                  </a:rPr>
                  <a:t>$1=\frac{a^2e^2}{a^2(1-e^2)}\sin^2\alpha$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$1-e^2=e^2\sin^2\alpha$</a:t>
                </a:r>
                <a:r>
                  <a:rPr sz="2400" b="0">
                    <a:solidFill>
                      <a:srgbClr val="111827"/>
                    </a:solidFill>
                    <a:latin typeface="Arial"/>
                  </a:rPr>
                  <a:t>, i.e. </a:t>
                </a:r>
                <a:r>
                  <a:rPr lang="en-IN" sz="2400">
                    <a:solidFill>
                      <a:srgbClr val="111827"/>
                    </a:solidFill>
                    <a:latin typeface="Cambria Math" panose="02040503050406030204" pitchFamily="18" charset="0"/>
                  </a:rPr>
                  <a:t>$e^2(1+\sin^2\alpha)=1$</a:t>
                </a:r>
                <a:r>
                  <a:rPr sz="2400" b="0">
                    <a:solidFill>
                      <a:srgbClr val="111827"/>
                    </a:solidFill>
                    <a:latin typeface="Arial"/>
                  </a:rPr>
                  <a:t> and </a:t>
                </a:r>
                <a:r>
                  <a:rPr lang="en-IN" sz="2400">
                    <a:solidFill>
                      <a:srgbClr val="111827"/>
                    </a:solidFill>
                    <a:latin typeface="Cambria Math" panose="02040503050406030204" pitchFamily="18" charset="0"/>
                  </a:rPr>
                  <a:t>$e=(1+\sin^2\alpha)^{-1/2}$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𝑒</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sSup>
                      <m:e>
                        <m:r>
                          <m:rPr>
                            <m:sty m:val="p"/>
                          </m:rPr>
                          <a:rPr lang="en-IN" sz="2800">
                            <a:solidFill>
                              <a:srgbClr val="15803D"/>
                            </a:solidFill>
                            <a:latin typeface="Cambria Math" panose="02040503050406030204" pitchFamily="18" charset="0"/>
                          </a:rPr>
                          <m:t>sin</m:t>
                        </m:r>
                      </m:e>
                      <m:sup>
                        <m:r>
                          <a:rPr lang="en-IN" sz="2800" i="1">
                            <a:solidFill>
                              <a:srgbClr val="15803D"/>
                            </a:solidFill>
                            <a:latin typeface="Cambria Math" panose="02040503050406030204" pitchFamily="18" charset="0"/>
                          </a:rPr>
                          <m:t>2</m:t>
                        </m:r>
                      </m:sup>
                    </m:sSup>
                    <m:r>
                      <a:rPr lang="en-IN" sz="2800" i="1">
                        <a:solidFill>
                          <a:srgbClr val="15803D"/>
                        </a:solidFill>
                        <a:latin typeface="Cambria Math" panose="02040503050406030204" pitchFamily="18" charset="0"/>
                      </a:rPr>
                      <m:t>α</m:t>
                    </m:r>
                    <m:sSup>
                      <m:e>
                        <m:r>
                          <m:rPr>
                            <m:sty m:val="p"/>
                          </m:rPr>
                          <a:rPr lang="en-IN" sz="2800">
                            <a:solidFill>
                              <a:srgbClr val="15803D"/>
                            </a:solidFill>
                            <a:latin typeface="Cambria Math" panose="02040503050406030204" pitchFamily="18" charset="0"/>
                          </a:rPr>
                          <m:t>)</m:t>
                        </m:r>
                      </m:e>
                      <m: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sup>
                    </m:sSup>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$e=(1+\sin^2\alpha)^{-1/2}$</a:t>
                </a:r>
                <a:endParaRPr sz="2800">
                  <a:solidFill>
                    <a:srgbClr val="15803D"/>
                  </a:solidFill>
                </a:endParaRPr>
              </a:p>
            </p:txBody>
          </p:sp>
        </mc:Fallback>
      </mc:AlternateContent>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chord of the auxiliary circle that subtends </a:t>
                </a:r>
                <a14:m>
                  <m:oMath xmlns:m="http://schemas.openxmlformats.org/officeDocument/2006/math">
                    <m:sSup>
                      <m:e>
                        <m:r>
                          <a:rPr lang="en-IN" sz="2400" i="1">
                            <a:solidFill>
                              <a:srgbClr val="78350F"/>
                            </a:solidFill>
                            <a:latin typeface="Cambria Math" panose="02040503050406030204" pitchFamily="18" charset="0"/>
                          </a:rPr>
                          <m:t>90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at the centre lies at distance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𝑎</m:t>
                        </m:r>
                      </m:num>
                      <m:den>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den>
                    </m:f>
                  </m:oMath>
                </a14:m>
                <a:r>
                  <a:rPr sz="2400" b="0">
                    <a:solidFill>
                      <a:srgbClr val="78350F"/>
                    </a:solidFill>
                    <a:latin typeface="Arial"/>
                  </a:rPr>
                  <a:t> from it, so equate this with the centre-to-tangent distance.</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chord of the auxiliary circle that subtends </a:t>
                </a:r>
                <a:r>
                  <a:rPr lang="en-IN" sz="2400">
                    <a:solidFill>
                      <a:srgbClr val="78350F"/>
                    </a:solidFill>
                    <a:latin typeface="Cambria Math" panose="02040503050406030204" pitchFamily="18" charset="0"/>
                  </a:rPr>
                  <a:t>$90^\circ$</a:t>
                </a:r>
                <a:r>
                  <a:rPr sz="2400" b="0">
                    <a:solidFill>
                      <a:srgbClr val="78350F"/>
                    </a:solidFill>
                    <a:latin typeface="Arial"/>
                  </a:rPr>
                  <a:t> at the centre lies at distance </a:t>
                </a:r>
                <a:r>
                  <a:rPr lang="en-IN" sz="2400">
                    <a:solidFill>
                      <a:srgbClr val="78350F"/>
                    </a:solidFill>
                    <a:latin typeface="Cambria Math" panose="02040503050406030204" pitchFamily="18" charset="0"/>
                  </a:rPr>
                  <a:t>$\frac{a}{\sqrt2}$</a:t>
                </a:r>
                <a:r>
                  <a:rPr sz="2400" b="0">
                    <a:solidFill>
                      <a:srgbClr val="78350F"/>
                    </a:solidFill>
                    <a:latin typeface="Arial"/>
                  </a:rPr>
                  <a:t> from it, so equate this with the centre-to-tangent distance.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of the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subtends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is right isosceles with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distance of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from the line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(half the hypotenuse </a:t>
                </a:r>
                <a14:m>
                  <m:oMath xmlns:m="http://schemas.openxmlformats.org/officeDocument/2006/math">
                    <m:r>
                      <a:rPr lang="en-IN" sz="2400" i="1">
                        <a:solidFill>
                          <a:srgbClr val="111827"/>
                        </a:solidFill>
                        <a:latin typeface="Cambria Math" panose="02040503050406030204" pitchFamily="18" charset="0"/>
                      </a:rPr>
                      <m:t>𝑎</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is the tangent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its distance from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e>
                        </m:rad>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a:t>
                </a:r>
                <a:r>
                  <a:rPr lang="en-IN" sz="2400">
                    <a:solidFill>
                      <a:srgbClr val="111827"/>
                    </a:solidFill>
                    <a:latin typeface="Cambria Math" panose="02040503050406030204" pitchFamily="18" charset="0"/>
                  </a:rPr>
                  <a:t>$AB$</a:t>
                </a:r>
                <a:r>
                  <a:rPr sz="2400" b="0">
                    <a:solidFill>
                      <a:srgbClr val="111827"/>
                    </a:solidFill>
                    <a:latin typeface="Arial"/>
                  </a:rPr>
                  <a:t> of the circle </a:t>
                </a:r>
                <a:r>
                  <a:rPr lang="en-IN" sz="2400">
                    <a:solidFill>
                      <a:srgbClr val="111827"/>
                    </a:solidFill>
                    <a:latin typeface="Cambria Math" panose="02040503050406030204" pitchFamily="18" charset="0"/>
                  </a:rPr>
                  <a:t>$x^2+y^2=a^2$</a:t>
                </a:r>
                <a:r>
                  <a:rPr sz="2400" b="0">
                    <a:solidFill>
                      <a:srgbClr val="111827"/>
                    </a:solidFill>
                    <a:latin typeface="Arial"/>
                  </a:rPr>
                  <a:t> subtends </a:t>
                </a:r>
                <a:r>
                  <a:rPr lang="en-IN" sz="2400">
                    <a:solidFill>
                      <a:srgbClr val="111827"/>
                    </a:solidFill>
                    <a:latin typeface="Cambria Math" panose="02040503050406030204" pitchFamily="18" charset="0"/>
                  </a:rPr>
                  <a:t>$90^\circ$</a:t>
                </a:r>
                <a:r>
                  <a:rPr sz="2400" b="0">
                    <a:solidFill>
                      <a:srgbClr val="111827"/>
                    </a:solidFill>
                    <a:latin typeface="Arial"/>
                  </a:rPr>
                  <a:t> at </a:t>
                </a:r>
                <a:r>
                  <a:rPr lang="en-IN" sz="2400">
                    <a:solidFill>
                      <a:srgbClr val="111827"/>
                    </a:solidFill>
                    <a:latin typeface="Cambria Math" panose="02040503050406030204" pitchFamily="18" charset="0"/>
                  </a:rPr>
                  <a:t>$O$</a:t>
                </a:r>
                <a:r>
                  <a:rPr sz="2400" b="0">
                    <a:solidFill>
                      <a:srgbClr val="111827"/>
                    </a:solidFill>
                    <a:latin typeface="Arial"/>
                  </a:rPr>
                  <a:t>, so </a:t>
                </a:r>
                <a:r>
                  <a:rPr lang="en-IN" sz="2400">
                    <a:solidFill>
                      <a:srgbClr val="111827"/>
                    </a:solidFill>
                    <a:latin typeface="Cambria Math" panose="02040503050406030204" pitchFamily="18" charset="0"/>
                  </a:rPr>
                  <a:t>$\triangle OAB$</a:t>
                </a:r>
                <a:r>
                  <a:rPr sz="2400" b="0">
                    <a:solidFill>
                      <a:srgbClr val="111827"/>
                    </a:solidFill>
                    <a:latin typeface="Arial"/>
                  </a:rPr>
                  <a:t> is right isosceles with </a:t>
                </a:r>
                <a:r>
                  <a:rPr lang="en-IN" sz="2400">
                    <a:solidFill>
                      <a:srgbClr val="111827"/>
                    </a:solidFill>
                    <a:latin typeface="Cambria Math" panose="02040503050406030204" pitchFamily="18" charset="0"/>
                  </a:rPr>
                  <a:t>$OA=OB=a$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distance of </a:t>
                </a:r>
                <a:r>
                  <a:rPr lang="en-IN" sz="2400">
                    <a:solidFill>
                      <a:srgbClr val="111827"/>
                    </a:solidFill>
                    <a:latin typeface="Cambria Math" panose="02040503050406030204" pitchFamily="18" charset="0"/>
                  </a:rPr>
                  <a:t>$O$</a:t>
                </a:r>
                <a:r>
                  <a:rPr sz="2400" b="0">
                    <a:solidFill>
                      <a:srgbClr val="111827"/>
                    </a:solidFill>
                    <a:latin typeface="Arial"/>
                  </a:rPr>
                  <a:t> from the line </a:t>
                </a:r>
                <a:r>
                  <a:rPr lang="en-IN" sz="2400">
                    <a:solidFill>
                      <a:srgbClr val="111827"/>
                    </a:solidFill>
                    <a:latin typeface="Cambria Math" panose="02040503050406030204" pitchFamily="18" charset="0"/>
                  </a:rPr>
                  <a:t>$AB$</a:t>
                </a:r>
                <a:r>
                  <a:rPr sz="2400" b="0">
                    <a:solidFill>
                      <a:srgbClr val="111827"/>
                    </a:solidFill>
                    <a:latin typeface="Arial"/>
                  </a:rPr>
                  <a:t> is </a:t>
                </a:r>
                <a:r>
                  <a:rPr lang="en-IN" sz="2400">
                    <a:solidFill>
                      <a:srgbClr val="111827"/>
                    </a:solidFill>
                    <a:latin typeface="Cambria Math" panose="02040503050406030204" pitchFamily="18" charset="0"/>
                  </a:rPr>
                  <a:t>$\frac{a}{\sqrt2}$</a:t>
                </a:r>
                <a:r>
                  <a:rPr sz="2400" b="0">
                    <a:solidFill>
                      <a:srgbClr val="111827"/>
                    </a:solidFill>
                    <a:latin typeface="Arial"/>
                  </a:rPr>
                  <a:t> (half the hypotenuse </a:t>
                </a:r>
                <a:r>
                  <a:rPr lang="en-IN" sz="2400">
                    <a:solidFill>
                      <a:srgbClr val="111827"/>
                    </a:solidFill>
                    <a:latin typeface="Cambria Math" panose="02040503050406030204" pitchFamily="18" charset="0"/>
                  </a:rPr>
                  <a:t>$a\sqrt2$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a:t>
                </a:r>
                <a:r>
                  <a:rPr lang="en-IN" sz="2400">
                    <a:solidFill>
                      <a:srgbClr val="111827"/>
                    </a:solidFill>
                    <a:latin typeface="Cambria Math" panose="02040503050406030204" pitchFamily="18" charset="0"/>
                  </a:rPr>
                  <a:t>$AB$</a:t>
                </a:r>
                <a:r>
                  <a:rPr sz="2400" b="0">
                    <a:solidFill>
                      <a:srgbClr val="111827"/>
                    </a:solidFill>
                    <a:latin typeface="Arial"/>
                  </a:rPr>
                  <a:t> is the tangent </a:t>
                </a:r>
                <a:r>
                  <a:rPr lang="en-IN" sz="2400">
                    <a:solidFill>
                      <a:srgbClr val="111827"/>
                    </a:solidFill>
                    <a:latin typeface="Cambria Math" panose="02040503050406030204" pitchFamily="18" charset="0"/>
                  </a:rPr>
                  <a:t>$\frac{x}{a}\cos\alpha+\frac{y}{b}\sin\alpha=1$</a:t>
                </a:r>
                <a:r>
                  <a:rPr sz="2400" b="0">
                    <a:solidFill>
                      <a:srgbClr val="111827"/>
                    </a:solidFill>
                    <a:latin typeface="Arial"/>
                  </a:rPr>
                  <a:t>; its distance from </a:t>
                </a:r>
                <a:r>
                  <a:rPr lang="en-IN" sz="2400">
                    <a:solidFill>
                      <a:srgbClr val="111827"/>
                    </a:solidFill>
                    <a:latin typeface="Cambria Math" panose="02040503050406030204" pitchFamily="18" charset="0"/>
                  </a:rPr>
                  <a:t>$O$</a:t>
                </a:r>
                <a:r>
                  <a:rPr sz="2400" b="0">
                    <a:solidFill>
                      <a:srgbClr val="111827"/>
                    </a:solidFill>
                    <a:latin typeface="Arial"/>
                  </a:rPr>
                  <a:t> is </a:t>
                </a:r>
                <a:r>
                  <a:rPr lang="en-IN" sz="2400">
                    <a:solidFill>
                      <a:srgbClr val="111827"/>
                    </a:solidFill>
                    <a:latin typeface="Cambria Math" panose="02040503050406030204" pitchFamily="18" charset="0"/>
                  </a:rPr>
                  <a:t>$\frac{1}{\sqrt{\frac{\cos^2\alpha}{a^2}+\frac{\sin^2\alpha}{b^2}}}$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Equating: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i.e.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den>
                    </m:f>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den>
                    </m:f>
                  </m:oMath>
                </a14:m>
                <a:r>
                  <a:rPr sz="2400" b="0">
                    <a:solidFill>
                      <a:srgbClr val="111827"/>
                    </a:solidFill>
                    <a:latin typeface="Arial"/>
                  </a:rPr>
                  <a:t>, giving the same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Equating: </a:t>
                </a:r>
                <a:r>
                  <a:rPr lang="en-IN" sz="2400">
                    <a:solidFill>
                      <a:srgbClr val="111827"/>
                    </a:solidFill>
                    <a:latin typeface="Cambria Math" panose="02040503050406030204" pitchFamily="18" charset="0"/>
                  </a:rPr>
                  <a:t>$\frac{\cos^2\alpha}{a^2}+\frac{\sin^2\alpha}{b^2}=\frac{2}{a^2}$</a:t>
                </a:r>
                <a:r>
                  <a:rPr sz="2400" b="0">
                    <a:solidFill>
                      <a:srgbClr val="111827"/>
                    </a:solidFill>
                    <a:latin typeface="Arial"/>
                  </a:rPr>
                  <a:t>, i.e. </a:t>
                </a:r>
                <a:r>
                  <a:rPr lang="en-IN" sz="2400">
                    <a:solidFill>
                      <a:srgbClr val="111827"/>
                    </a:solidFill>
                    <a:latin typeface="Cambria Math" panose="02040503050406030204" pitchFamily="18" charset="0"/>
                  </a:rPr>
                  <a:t>$\cos^2\alpha+\frac{a^2}{b^2}\sin^2\alpha=2$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$\frac{a^2}{b^2}\sin^2\alpha=1+\sin^2\alpha$</a:t>
                </a:r>
                <a:r>
                  <a:rPr sz="2400" b="0">
                    <a:solidFill>
                      <a:srgbClr val="111827"/>
                    </a:solidFill>
                    <a:latin typeface="Arial"/>
                  </a:rPr>
                  <a:t>, i.e. </a:t>
                </a:r>
                <a:r>
                  <a:rPr lang="en-IN" sz="2400">
                    <a:solidFill>
                      <a:srgbClr val="111827"/>
                    </a:solidFill>
                    <a:latin typeface="Cambria Math" panose="02040503050406030204" pitchFamily="18" charset="0"/>
                  </a:rPr>
                  <a:t>$\frac{\sin^2\alpha}{1-e^2}=1+\sin^2\alpha$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$1-e^2=\frac{\sin^2\alpha}{1+\sin^2\alpha}$</a:t>
                </a:r>
                <a:r>
                  <a:rPr sz="2400" b="0">
                    <a:solidFill>
                      <a:srgbClr val="111827"/>
                    </a:solidFill>
                    <a:latin typeface="Arial"/>
                  </a:rPr>
                  <a:t> and </a:t>
                </a:r>
                <a:r>
                  <a:rPr lang="en-IN" sz="2400">
                    <a:solidFill>
                      <a:srgbClr val="111827"/>
                    </a:solidFill>
                    <a:latin typeface="Cambria Math" panose="02040503050406030204" pitchFamily="18" charset="0"/>
                  </a:rPr>
                  <a:t>$e^2=\frac{1}{1+\sin^2\alpha}$</a:t>
                </a:r>
                <a:r>
                  <a:rPr sz="2400" b="0">
                    <a:solidFill>
                      <a:srgbClr val="111827"/>
                    </a:solidFill>
                    <a:latin typeface="Arial"/>
                  </a:rPr>
                  <a:t>, giving the same </a:t>
                </a:r>
                <a:r>
                  <a:rPr lang="en-IN" sz="2400">
                    <a:solidFill>
                      <a:srgbClr val="111827"/>
                    </a:solidFill>
                    <a:latin typeface="Cambria Math" panose="02040503050406030204" pitchFamily="18" charset="0"/>
                  </a:rPr>
                  <a:t>$e=(1+\sin^2\alpha)^{-1/2}$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𝑒</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sSup>
                      <m:e>
                        <m:r>
                          <m:rPr>
                            <m:sty m:val="p"/>
                          </m:rPr>
                          <a:rPr lang="en-IN" sz="2800">
                            <a:solidFill>
                              <a:srgbClr val="15803D"/>
                            </a:solidFill>
                            <a:latin typeface="Cambria Math" panose="02040503050406030204" pitchFamily="18" charset="0"/>
                          </a:rPr>
                          <m:t>sin</m:t>
                        </m:r>
                      </m:e>
                      <m:sup>
                        <m:r>
                          <a:rPr lang="en-IN" sz="2800" i="1">
                            <a:solidFill>
                              <a:srgbClr val="15803D"/>
                            </a:solidFill>
                            <a:latin typeface="Cambria Math" panose="02040503050406030204" pitchFamily="18" charset="0"/>
                          </a:rPr>
                          <m:t>2</m:t>
                        </m:r>
                      </m:sup>
                    </m:sSup>
                    <m:r>
                      <a:rPr lang="en-IN" sz="2800" i="1">
                        <a:solidFill>
                          <a:srgbClr val="15803D"/>
                        </a:solidFill>
                        <a:latin typeface="Cambria Math" panose="02040503050406030204" pitchFamily="18" charset="0"/>
                      </a:rPr>
                      <m:t>α</m:t>
                    </m:r>
                    <m:sSup>
                      <m:e>
                        <m:r>
                          <m:rPr>
                            <m:sty m:val="p"/>
                          </m:rPr>
                          <a:rPr lang="en-IN" sz="2800">
                            <a:solidFill>
                              <a:srgbClr val="15803D"/>
                            </a:solidFill>
                            <a:latin typeface="Cambria Math" panose="02040503050406030204" pitchFamily="18" charset="0"/>
                          </a:rPr>
                          <m:t>)</m:t>
                        </m:r>
                      </m:e>
                      <m: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sup>
                    </m:sSup>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$e=(1+\sin^2\alpha)^{-1/2}$</a:t>
                </a:r>
                <a:endParaRPr sz="2800">
                  <a:solidFill>
                    <a:srgbClr val="15803D"/>
                  </a:solidFill>
                </a:endParaRPr>
              </a:p>
            </p:txBody>
          </p:sp>
        </mc:Fallback>
      </mc:AlternateContent>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chord of a circle of radius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subtending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the centre is at distance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𝑅</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from the centre (and has length </a:t>
                </a:r>
                <a14:m>
                  <m:oMath xmlns:m="http://schemas.openxmlformats.org/officeDocument/2006/math">
                    <m:r>
                      <a:rPr lang="en-IN" sz="2400" i="1">
                        <a:solidFill>
                          <a:srgbClr val="111827"/>
                        </a:solidFill>
                        <a:latin typeface="Cambria Math" panose="02040503050406030204" pitchFamily="18" charset="0"/>
                      </a:rPr>
                      <m:t>𝑅</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Homogenisation: for a line </a:t>
                </a:r>
                <a14:m>
                  <m:oMath xmlns:m="http://schemas.openxmlformats.org/officeDocument/2006/math">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 curve through the origin's neighbourhood,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𝑅</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the pair of lines from the origin to the intersection points; the lines are perpendicular iff coeff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 coeff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of the origin from the tangent at eccentric angle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e>
                        </m:rad>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chord of a circle of radius </a:t>
                </a:r>
                <a:r>
                  <a:rPr lang="en-IN" sz="2400">
                    <a:solidFill>
                      <a:srgbClr val="111827"/>
                    </a:solidFill>
                    <a:latin typeface="Cambria Math" panose="02040503050406030204" pitchFamily="18" charset="0"/>
                  </a:rPr>
                  <a:t>$R$</a:t>
                </a:r>
                <a:r>
                  <a:rPr sz="2400" b="0">
                    <a:solidFill>
                      <a:srgbClr val="111827"/>
                    </a:solidFill>
                    <a:latin typeface="Arial"/>
                  </a:rPr>
                  <a:t> subtending </a:t>
                </a:r>
                <a:r>
                  <a:rPr lang="en-IN" sz="2400">
                    <a:solidFill>
                      <a:srgbClr val="111827"/>
                    </a:solidFill>
                    <a:latin typeface="Cambria Math" panose="02040503050406030204" pitchFamily="18" charset="0"/>
                  </a:rPr>
                  <a:t>$90^\circ$</a:t>
                </a:r>
                <a:r>
                  <a:rPr sz="2400" b="0">
                    <a:solidFill>
                      <a:srgbClr val="111827"/>
                    </a:solidFill>
                    <a:latin typeface="Arial"/>
                  </a:rPr>
                  <a:t> at the centre is at distance </a:t>
                </a:r>
                <a:r>
                  <a:rPr lang="en-IN" sz="2400">
                    <a:solidFill>
                      <a:srgbClr val="111827"/>
                    </a:solidFill>
                    <a:latin typeface="Cambria Math" panose="02040503050406030204" pitchFamily="18" charset="0"/>
                  </a:rPr>
                  <a:t>$\frac{R}{\sqrt2}$</a:t>
                </a:r>
                <a:r>
                  <a:rPr sz="2400" b="0">
                    <a:solidFill>
                      <a:srgbClr val="111827"/>
                    </a:solidFill>
                    <a:latin typeface="Arial"/>
                  </a:rPr>
                  <a:t> from the centre (and has length </a:t>
                </a:r>
                <a:r>
                  <a:rPr lang="en-IN" sz="2400">
                    <a:solidFill>
                      <a:srgbClr val="111827"/>
                    </a:solidFill>
                    <a:latin typeface="Cambria Math" panose="02040503050406030204" pitchFamily="18" charset="0"/>
                  </a:rPr>
                  <a:t>$R\sqrt2$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Homogenisation: for a line </a:t>
                </a:r>
                <a:r>
                  <a:rPr lang="en-IN" sz="2400">
                    <a:solidFill>
                      <a:srgbClr val="111827"/>
                    </a:solidFill>
                    <a:latin typeface="Cambria Math" panose="02040503050406030204" pitchFamily="18" charset="0"/>
                  </a:rPr>
                  <a:t>$lx+my=1$</a:t>
                </a:r>
                <a:r>
                  <a:rPr sz="2400" b="0">
                    <a:solidFill>
                      <a:srgbClr val="111827"/>
                    </a:solidFill>
                    <a:latin typeface="Arial"/>
                  </a:rPr>
                  <a:t> and a curve through the origin's neighbourhood, </a:t>
                </a:r>
                <a:r>
                  <a:rPr lang="en-IN" sz="2400">
                    <a:solidFill>
                      <a:srgbClr val="111827"/>
                    </a:solidFill>
                    <a:latin typeface="Cambria Math" panose="02040503050406030204" pitchFamily="18" charset="0"/>
                  </a:rPr>
                  <a:t>$x^2+y^2=R^2(lx+my)^2$</a:t>
                </a:r>
                <a:r>
                  <a:rPr sz="2400" b="0">
                    <a:solidFill>
                      <a:srgbClr val="111827"/>
                    </a:solidFill>
                    <a:latin typeface="Arial"/>
                  </a:rPr>
                  <a:t> is the pair of lines from the origin to the intersection points; the lines are perpendicular iff coeff of </a:t>
                </a:r>
                <a:r>
                  <a:rPr lang="en-IN" sz="2400">
                    <a:solidFill>
                      <a:srgbClr val="111827"/>
                    </a:solidFill>
                    <a:latin typeface="Cambria Math" panose="02040503050406030204" pitchFamily="18" charset="0"/>
                  </a:rPr>
                  <a:t>$x^2$</a:t>
                </a:r>
                <a:r>
                  <a:rPr sz="2400" b="0">
                    <a:solidFill>
                      <a:srgbClr val="111827"/>
                    </a:solidFill>
                    <a:latin typeface="Arial"/>
                  </a:rPr>
                  <a:t> + coeff of </a:t>
                </a:r>
                <a:r>
                  <a:rPr lang="en-IN" sz="2400">
                    <a:solidFill>
                      <a:srgbClr val="111827"/>
                    </a:solidFill>
                    <a:latin typeface="Cambria Math" panose="02040503050406030204" pitchFamily="18" charset="0"/>
                  </a:rPr>
                  <a:t>$y^2=0$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of the origin from the tangent at eccentric angle </a:t>
                </a:r>
                <a:r>
                  <a:rPr lang="en-IN" sz="2400">
                    <a:solidFill>
                      <a:srgbClr val="111827"/>
                    </a:solidFill>
                    <a:latin typeface="Cambria Math" panose="02040503050406030204" pitchFamily="18" charset="0"/>
                  </a:rPr>
                  <a:t>$\alpha$</a:t>
                </a:r>
                <a:r>
                  <a:rPr sz="2400" b="0">
                    <a:solidFill>
                      <a:srgbClr val="111827"/>
                    </a:solidFill>
                    <a:latin typeface="Arial"/>
                  </a:rPr>
                  <a:t> of </a:t>
                </a:r>
                <a:r>
                  <a:rPr lang="en-IN" sz="2400">
                    <a:solidFill>
                      <a:srgbClr val="111827"/>
                    </a:solidFill>
                    <a:latin typeface="Cambria Math" panose="02040503050406030204" pitchFamily="18" charset="0"/>
                  </a:rPr>
                  <a:t>$\frac{x^2}{a^2}+\frac{y^2}{b^2}=1$</a:t>
                </a:r>
                <a:r>
                  <a:rPr sz="2400" b="0">
                    <a:solidFill>
                      <a:srgbClr val="111827"/>
                    </a:solidFill>
                    <a:latin typeface="Arial"/>
                  </a:rPr>
                  <a:t> is </a:t>
                </a:r>
                <a:r>
                  <a:rPr lang="en-IN" sz="2400">
                    <a:solidFill>
                      <a:srgbClr val="111827"/>
                    </a:solidFill>
                    <a:latin typeface="Cambria Math" panose="02040503050406030204" pitchFamily="18" charset="0"/>
                  </a:rPr>
                  <a:t>$p=\frac{ab}{\sqrt{b^2\cos^2\alpha+a^2\sin^2\alpha}}$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96545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normal at the point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the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intersects it again at the point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show that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196545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normal at the point </a:t>
                </a:r>
                <a:r>
                  <a:rPr lang="en-IN" sz="2400">
                    <a:solidFill>
                      <a:srgbClr val="111827"/>
                    </a:solidFill>
                    <a:latin typeface="Cambria Math" panose="02040503050406030204" pitchFamily="18" charset="0"/>
                  </a:rPr>
                  <a:t>$P(\theta)$</a:t>
                </a:r>
                <a:r>
                  <a:rPr sz="2400" b="0">
                    <a:solidFill>
                      <a:srgbClr val="111827"/>
                    </a:solidFill>
                    <a:latin typeface="Arial"/>
                  </a:rPr>
                  <a:t> to the ellipse </a:t>
                </a:r>
                <a:r>
                  <a:rPr lang="en-IN" sz="2400">
                    <a:solidFill>
                      <a:srgbClr val="111827"/>
                    </a:solidFill>
                    <a:latin typeface="Cambria Math" panose="02040503050406030204" pitchFamily="18" charset="0"/>
                  </a:rPr>
                  <a:t>$\frac{x^2}{14}+\frac{y^2}{5}=1$</a:t>
                </a:r>
                <a:r>
                  <a:rPr sz="2400" b="0">
                    <a:solidFill>
                      <a:srgbClr val="111827"/>
                    </a:solidFill>
                    <a:latin typeface="Arial"/>
                  </a:rPr>
                  <a:t> intersects it again at the point </a:t>
                </a:r>
                <a:r>
                  <a:rPr lang="en-IN" sz="2400">
                    <a:solidFill>
                      <a:srgbClr val="111827"/>
                    </a:solidFill>
                    <a:latin typeface="Cambria Math" panose="02040503050406030204" pitchFamily="18" charset="0"/>
                  </a:rPr>
                  <a:t>$Q(2\theta)$</a:t>
                </a:r>
                <a:r>
                  <a:rPr sz="2400" b="0">
                    <a:solidFill>
                      <a:srgbClr val="111827"/>
                    </a:solidFill>
                    <a:latin typeface="Arial"/>
                  </a:rPr>
                  <a:t>, show that </a:t>
                </a:r>
                <a:r>
                  <a:rPr lang="en-IN" sz="2400">
                    <a:solidFill>
                      <a:srgbClr val="111827"/>
                    </a:solidFill>
                    <a:latin typeface="Cambria Math" panose="02040503050406030204" pitchFamily="18" charset="0"/>
                  </a:rPr>
                  <a:t>$\cos\theta=-\frac{2}{3}$</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474212"/>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 to an ellipse at an eccentric angle, Point on the ellipse (double 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Substitute </a:t>
                </a:r>
                <a14:m>
                  <m:oMath xmlns:m="http://schemas.openxmlformats.org/officeDocument/2006/math">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in the normal at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use </a:t>
                </a:r>
                <a14:m>
                  <m:oMath xmlns:m="http://schemas.openxmlformats.org/officeDocument/2006/math">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oMath>
                </a14:m>
                <a:r>
                  <a:rPr sz="2400" b="0">
                    <a:solidFill>
                      <a:srgbClr val="78350F"/>
                    </a:solidFill>
                    <a:latin typeface="Arial"/>
                  </a:rPr>
                  <a:t> to get a quadratic in </a:t>
                </a:r>
                <a14:m>
                  <m:oMath xmlns:m="http://schemas.openxmlformats.org/officeDocument/2006/math">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Substitute </a:t>
                </a:r>
                <a:r>
                  <a:rPr lang="en-IN" sz="2400">
                    <a:solidFill>
                      <a:srgbClr val="78350F"/>
                    </a:solidFill>
                    <a:latin typeface="Cambria Math" panose="02040503050406030204" pitchFamily="18" charset="0"/>
                  </a:rPr>
                  <a:t>$Q(2\theta)$</a:t>
                </a:r>
                <a:r>
                  <a:rPr sz="2400" b="0">
                    <a:solidFill>
                      <a:srgbClr val="78350F"/>
                    </a:solidFill>
                    <a:latin typeface="Arial"/>
                  </a:rPr>
                  <a:t> in the normal at </a:t>
                </a:r>
                <a:r>
                  <a:rPr lang="en-IN" sz="2400">
                    <a:solidFill>
                      <a:srgbClr val="78350F"/>
                    </a:solidFill>
                    <a:latin typeface="Cambria Math" panose="02040503050406030204" pitchFamily="18" charset="0"/>
                  </a:rPr>
                  <a:t>$P(\theta)$</a:t>
                </a:r>
                <a:r>
                  <a:rPr sz="2400" b="0">
                    <a:solidFill>
                      <a:srgbClr val="78350F"/>
                    </a:solidFill>
                    <a:latin typeface="Arial"/>
                  </a:rPr>
                  <a:t> and use </a:t>
                </a:r>
                <a:r>
                  <a:rPr lang="en-IN" sz="2400">
                    <a:solidFill>
                      <a:srgbClr val="78350F"/>
                    </a:solidFill>
                    <a:latin typeface="Cambria Math" panose="02040503050406030204" pitchFamily="18" charset="0"/>
                  </a:rPr>
                  <a:t>$\sin2\theta/\sin\theta=2\cos\theta$</a:t>
                </a:r>
                <a:r>
                  <a:rPr sz="2400" b="0">
                    <a:solidFill>
                      <a:srgbClr val="78350F"/>
                    </a:solidFill>
                    <a:latin typeface="Arial"/>
                  </a:rPr>
                  <a:t> to get a quadratic in </a:t>
                </a:r>
                <a:r>
                  <a:rPr lang="en-IN" sz="2400">
                    <a:solidFill>
                      <a:srgbClr val="78350F"/>
                    </a:solidFill>
                    <a:latin typeface="Cambria Math" panose="02040503050406030204" pitchFamily="18" charset="0"/>
                  </a:rPr>
                  <a:t>$\cos\theta$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14</m:t>
                            </m:r>
                          </m:e>
                        </m:rad>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passes through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14</m:t>
                        </m:r>
                      </m:e>
                    </m:rad>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Since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𝑡</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by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𝑡</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$P(\theta)$</a:t>
                </a:r>
                <a:r>
                  <a:rPr sz="2400" b="0">
                    <a:solidFill>
                      <a:srgbClr val="111827"/>
                    </a:solidFill>
                    <a:latin typeface="Arial"/>
                  </a:rPr>
                  <a:t>: </a:t>
                </a:r>
                <a:r>
                  <a:rPr lang="en-IN" sz="2400">
                    <a:solidFill>
                      <a:srgbClr val="111827"/>
                    </a:solidFill>
                    <a:latin typeface="Cambria Math" panose="02040503050406030204" pitchFamily="18" charset="0"/>
                  </a:rPr>
                  <a:t>$\frac{\sqrt{14}\,x}{\cos\theta}-\frac{\sqrt5\,y}{\sin\theta}=14-5=9$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passes through </a:t>
                </a:r>
                <a:r>
                  <a:rPr lang="en-IN" sz="2400">
                    <a:solidFill>
                      <a:srgbClr val="111827"/>
                    </a:solidFill>
                    <a:latin typeface="Cambria Math" panose="02040503050406030204" pitchFamily="18" charset="0"/>
                  </a:rPr>
                  <a:t>$Q(2\theta)=(\sqrt{14}\cos2\theta,\ \sqrt5\sin2\theta)$</a:t>
                </a:r>
                <a:r>
                  <a:rPr sz="2400" b="0">
                    <a:solidFill>
                      <a:srgbClr val="111827"/>
                    </a:solidFill>
                    <a:latin typeface="Arial"/>
                  </a:rPr>
                  <a:t>: </a:t>
                </a:r>
                <a:r>
                  <a:rPr lang="en-IN" sz="2400">
                    <a:solidFill>
                      <a:srgbClr val="111827"/>
                    </a:solidFill>
                    <a:latin typeface="Cambria Math" panose="02040503050406030204" pitchFamily="18" charset="0"/>
                  </a:rPr>
                  <a:t>$\frac{14\cos2\theta}{\cos\theta}-\frac{5\sin2\theta}{\sin\theta}=9$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$\cos\theta=t$</a:t>
                </a:r>
                <a:r>
                  <a:rPr sz="2400" b="0">
                    <a:solidFill>
                      <a:srgbClr val="111827"/>
                    </a:solidFill>
                    <a:latin typeface="Arial"/>
                  </a:rPr>
                  <a:t>. Since </a:t>
                </a:r>
                <a:r>
                  <a:rPr lang="en-IN" sz="2400">
                    <a:solidFill>
                      <a:srgbClr val="111827"/>
                    </a:solidFill>
                    <a:latin typeface="Cambria Math" panose="02040503050406030204" pitchFamily="18" charset="0"/>
                  </a:rPr>
                  <a:t>$\sin2\theta=2\sin\theta\cos\theta$</a:t>
                </a:r>
                <a:r>
                  <a:rPr sz="2400" b="0">
                    <a:solidFill>
                      <a:srgbClr val="111827"/>
                    </a:solidFill>
                    <a:latin typeface="Arial"/>
                  </a:rPr>
                  <a:t>: </a:t>
                </a:r>
                <a:r>
                  <a:rPr lang="en-IN" sz="2400">
                    <a:solidFill>
                      <a:srgbClr val="111827"/>
                    </a:solidFill>
                    <a:latin typeface="Cambria Math" panose="02040503050406030204" pitchFamily="18" charset="0"/>
                  </a:rPr>
                  <a:t>$\frac{14(2t^2-1)}{t}-10t=9$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by </a:t>
                </a:r>
                <a:r>
                  <a:rPr lang="en-IN" sz="2400">
                    <a:solidFill>
                      <a:srgbClr val="111827"/>
                    </a:solidFill>
                    <a:latin typeface="Cambria Math" panose="02040503050406030204" pitchFamily="18" charset="0"/>
                  </a:rPr>
                  <a:t>$t$</a:t>
                </a:r>
                <a:r>
                  <a:rPr sz="2400" b="0">
                    <a:solidFill>
                      <a:srgbClr val="111827"/>
                    </a:solidFill>
                    <a:latin typeface="Arial"/>
                  </a:rPr>
                  <a:t>: </a:t>
                </a:r>
                <a:r>
                  <a:rPr lang="en-IN" sz="2400">
                    <a:solidFill>
                      <a:srgbClr val="111827"/>
                    </a:solidFill>
                    <a:latin typeface="Cambria Math" panose="02040503050406030204" pitchFamily="18" charset="0"/>
                  </a:rPr>
                  <a:t>$14(2t^2-1)-10t^2=9t$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18</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or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is impossible for any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$18t^2-9t-14=0$</a:t>
                </a:r>
                <a:r>
                  <a:rPr sz="2400" b="0">
                    <a:solidFill>
                      <a:srgbClr val="111827"/>
                    </a:solidFill>
                    <a:latin typeface="Arial"/>
                  </a:rPr>
                  <a:t>, i.e. </a:t>
                </a:r>
                <a:r>
                  <a:rPr lang="en-IN" sz="2400">
                    <a:solidFill>
                      <a:srgbClr val="111827"/>
                    </a:solidFill>
                    <a:latin typeface="Cambria Math" panose="02040503050406030204" pitchFamily="18" charset="0"/>
                  </a:rPr>
                  <a:t>$(3t+2)(6t-7)=0$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$\cos\theta=-\frac{2}{3}$</a:t>
                </a:r>
                <a:r>
                  <a:rPr sz="2400" b="0">
                    <a:solidFill>
                      <a:srgbClr val="111827"/>
                    </a:solidFill>
                    <a:latin typeface="Arial"/>
                  </a:rPr>
                  <a:t> or </a:t>
                </a:r>
                <a:r>
                  <a:rPr lang="en-IN" sz="2400">
                    <a:solidFill>
                      <a:srgbClr val="111827"/>
                    </a:solidFill>
                    <a:latin typeface="Cambria Math" panose="02040503050406030204" pitchFamily="18" charset="0"/>
                  </a:rPr>
                  <a:t>$\frac{7}{6}$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$\cos\theta=\frac{7}{6}$</a:t>
                </a:r>
                <a:r>
                  <a:rPr sz="2400" b="0">
                    <a:solidFill>
                      <a:srgbClr val="111827"/>
                    </a:solidFill>
                    <a:latin typeface="Arial"/>
                  </a:rPr>
                  <a:t> is impossible for any </a:t>
                </a:r>
                <a:r>
                  <a:rPr lang="en-IN" sz="2400">
                    <a:solidFill>
                      <a:srgbClr val="111827"/>
                    </a:solidFill>
                    <a:latin typeface="Cambria Math" panose="02040503050406030204" pitchFamily="18" charset="0"/>
                  </a:rPr>
                  <a:t>$\theta$</a:t>
                </a:r>
                <a:r>
                  <a:rPr sz="2400" b="0">
                    <a:solidFill>
                      <a:srgbClr val="111827"/>
                    </a:solidFill>
                    <a:latin typeface="Arial"/>
                  </a:rPr>
                  <a:t>, so </a:t>
                </a:r>
                <a:r>
                  <a:rPr lang="en-IN" sz="2400">
                    <a:solidFill>
                      <a:srgbClr val="111827"/>
                    </a:solidFill>
                    <a:latin typeface="Cambria Math" panose="02040503050406030204" pitchFamily="18" charset="0"/>
                  </a:rPr>
                  <a:t>$\cos\theta=-\frac{2}{3}$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m:rPr>
                        <m:sty m:val="p"/>
                      </m:rPr>
                      <a:rPr lang="en-IN" sz="2800">
                        <a:solidFill>
                          <a:srgbClr val="15803D"/>
                        </a:solidFill>
                        <a:latin typeface="Cambria Math" panose="02040503050406030204" pitchFamily="18" charset="0"/>
                      </a:rPr>
                      <m:t>cos</m:t>
                    </m:r>
                    <m:r>
                      <a:rPr lang="en-IN" sz="2800" i="1">
                        <a:solidFill>
                          <a:srgbClr val="15803D"/>
                        </a:solidFill>
                        <a:latin typeface="Cambria Math" panose="02040503050406030204" pitchFamily="18" charset="0"/>
                      </a:rPr>
                      <m:t>θ</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m:t>
                        </m:r>
                      </m:num>
                      <m:den>
                        <m:r>
                          <a:rPr lang="en-IN" sz="2800" i="1">
                            <a:solidFill>
                              <a:srgbClr val="15803D"/>
                            </a:solidFill>
                            <a:latin typeface="Cambria Math" panose="02040503050406030204" pitchFamily="18" charset="0"/>
                          </a:rPr>
                          <m:t>3</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$\cos\theta=-\frac{2}{3}$</a:t>
                </a:r>
                <a:endParaRPr sz="2800">
                  <a:solidFill>
                    <a:srgbClr val="15803D"/>
                  </a:solidFill>
                </a:endParaRPr>
              </a:p>
            </p:txBody>
          </p:sp>
        </mc:Fallback>
      </mc:AlternateContent>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Instead of substituting into the normal, equate the slope of the chord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oMath>
                </a14:m>
                <a:r>
                  <a:rPr sz="2400" b="0">
                    <a:solidFill>
                      <a:srgbClr val="78350F"/>
                    </a:solidFill>
                    <a:latin typeface="Arial"/>
                  </a:rPr>
                  <a:t> with the slope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𝑎</m:t>
                        </m:r>
                      </m:num>
                      <m:den>
                        <m:r>
                          <a:rPr lang="en-IN" sz="2400" i="1">
                            <a:solidFill>
                              <a:srgbClr val="78350F"/>
                            </a:solidFill>
                            <a:latin typeface="Cambria Math" panose="02040503050406030204" pitchFamily="18" charset="0"/>
                          </a:rPr>
                          <m:t>𝑏</m:t>
                        </m:r>
                      </m:den>
                    </m:f>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θ</m:t>
                    </m:r>
                  </m:oMath>
                </a14:m>
                <a:r>
                  <a:rPr sz="2400" b="0">
                    <a:solidFill>
                      <a:srgbClr val="78350F"/>
                    </a:solidFill>
                    <a:latin typeface="Arial"/>
                  </a:rPr>
                  <a:t> of the normal, factorising with sum-to-product.</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Instead of substituting into the normal, equate the slope of the chord </a:t>
                </a:r>
                <a:r>
                  <a:rPr lang="en-IN" sz="2400">
                    <a:solidFill>
                      <a:srgbClr val="78350F"/>
                    </a:solidFill>
                    <a:latin typeface="Cambria Math" panose="02040503050406030204" pitchFamily="18" charset="0"/>
                  </a:rPr>
                  <a:t>$PQ$</a:t>
                </a:r>
                <a:r>
                  <a:rPr sz="2400" b="0">
                    <a:solidFill>
                      <a:srgbClr val="78350F"/>
                    </a:solidFill>
                    <a:latin typeface="Arial"/>
                  </a:rPr>
                  <a:t> with the slope </a:t>
                </a:r>
                <a:r>
                  <a:rPr lang="en-IN" sz="2400">
                    <a:solidFill>
                      <a:srgbClr val="78350F"/>
                    </a:solidFill>
                    <a:latin typeface="Cambria Math" panose="02040503050406030204" pitchFamily="18" charset="0"/>
                  </a:rPr>
                  <a:t>$\frac{a}{b}\tan\theta$</a:t>
                </a:r>
                <a:r>
                  <a:rPr sz="2400" b="0">
                    <a:solidFill>
                      <a:srgbClr val="78350F"/>
                    </a:solidFill>
                    <a:latin typeface="Arial"/>
                  </a:rPr>
                  <a:t> of the normal, factorising with sum-to-product.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slope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cot</m:t>
                    </m:r>
                    <m:r>
                      <a:rPr lang="en-IN" sz="2400" i="1">
                        <a:solidFill>
                          <a:srgbClr val="111827"/>
                        </a:solidFill>
                        <a:latin typeface="Cambria Math" panose="02040503050406030204" pitchFamily="18" charset="0"/>
                      </a:rPr>
                      <m:t>θ</m:t>
                    </m:r>
                  </m:oMath>
                </a14:m>
                <a:r>
                  <a:rPr sz="2400" b="0">
                    <a:solidFill>
                      <a:srgbClr val="111827"/>
                    </a:solidFill>
                    <a:latin typeface="Arial"/>
                  </a:rPr>
                  <a:t>, so the normal slope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of the chord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slope at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$-\frac{b}{a}\cot\theta$</a:t>
                </a:r>
                <a:r>
                  <a:rPr sz="2400" b="0">
                    <a:solidFill>
                      <a:srgbClr val="111827"/>
                    </a:solidFill>
                    <a:latin typeface="Arial"/>
                  </a:rPr>
                  <a:t>, so the normal slope is </a:t>
                </a:r>
                <a:r>
                  <a:rPr lang="en-IN" sz="2400">
                    <a:solidFill>
                      <a:srgbClr val="111827"/>
                    </a:solidFill>
                    <a:latin typeface="Cambria Math" panose="02040503050406030204" pitchFamily="18" charset="0"/>
                  </a:rPr>
                  <a:t>$\frac{a}{b}\tan\theta=\frac{a}{b}\cdot\frac{\sin\theta}{\cos\theta}$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of the chord </a:t>
                </a:r>
                <a:r>
                  <a:rPr lang="en-IN" sz="2400">
                    <a:solidFill>
                      <a:srgbClr val="111827"/>
                    </a:solidFill>
                    <a:latin typeface="Cambria Math" panose="02040503050406030204" pitchFamily="18" charset="0"/>
                  </a:rPr>
                  <a:t>$PQ$</a:t>
                </a:r>
                <a:r>
                  <a:rPr sz="2400" b="0">
                    <a:solidFill>
                      <a:srgbClr val="111827"/>
                    </a:solidFill>
                    <a:latin typeface="Arial"/>
                  </a:rPr>
                  <a:t> with </a:t>
                </a:r>
                <a:r>
                  <a:rPr lang="en-IN" sz="2400">
                    <a:solidFill>
                      <a:srgbClr val="111827"/>
                    </a:solidFill>
                    <a:latin typeface="Cambria Math" panose="02040503050406030204" pitchFamily="18" charset="0"/>
                  </a:rPr>
                  <a:t>$P=(a\cos\theta,b\sin\theta)$</a:t>
                </a:r>
                <a:r>
                  <a:rPr sz="2400" b="0">
                    <a:solidFill>
                      <a:srgbClr val="111827"/>
                    </a:solidFill>
                    <a:latin typeface="Arial"/>
                  </a:rPr>
                  <a:t>, </a:t>
                </a:r>
                <a:r>
                  <a:rPr lang="en-IN" sz="2400">
                    <a:solidFill>
                      <a:srgbClr val="111827"/>
                    </a:solidFill>
                    <a:latin typeface="Cambria Math" panose="02040503050406030204" pitchFamily="18" charset="0"/>
                  </a:rPr>
                  <a:t>$Q=(a\cos2\theta,b\sin2\theta)$</a:t>
                </a:r>
                <a:r>
                  <a:rPr sz="2400" b="0">
                    <a:solidFill>
                      <a:srgbClr val="111827"/>
                    </a:solidFill>
                    <a:latin typeface="Arial"/>
                  </a:rPr>
                  <a:t> is </a:t>
                </a:r>
                <a:r>
                  <a:rPr lang="en-IN" sz="2400">
                    <a:solidFill>
                      <a:srgbClr val="111827"/>
                    </a:solidFill>
                    <a:latin typeface="Cambria Math" panose="02040503050406030204" pitchFamily="18" charset="0"/>
                  </a:rPr>
                  <a:t>$\frac{b}{a}\cdot\frac{\sin2\theta-\sin\theta}{\cos2\theta-\cos\theta}$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$c=\cos\theta$</a:t>
                </a:r>
                <a:r>
                  <a:rPr sz="2400" b="0">
                    <a:solidFill>
                      <a:srgbClr val="111827"/>
                    </a:solidFill>
                    <a:latin typeface="Arial"/>
                  </a:rPr>
                  <a:t>: </a:t>
                </a:r>
                <a:r>
                  <a:rPr lang="en-IN" sz="2400">
                    <a:solidFill>
                      <a:srgbClr val="111827"/>
                    </a:solidFill>
                    <a:latin typeface="Cambria Math" panose="02040503050406030204" pitchFamily="18" charset="0"/>
                  </a:rPr>
                  <a:t>$\sin2\theta-\sin\theta=\sin\theta(2c-1)$</a:t>
                </a:r>
                <a:r>
                  <a:rPr sz="2400" b="0">
                    <a:solidFill>
                      <a:srgbClr val="111827"/>
                    </a:solidFill>
                    <a:latin typeface="Arial"/>
                  </a:rPr>
                  <a:t> and </a:t>
                </a:r>
                <a:r>
                  <a:rPr lang="en-IN" sz="2400">
                    <a:solidFill>
                      <a:srgbClr val="111827"/>
                    </a:solidFill>
                    <a:latin typeface="Cambria Math" panose="02040503050406030204" pitchFamily="18" charset="0"/>
                  </a:rPr>
                  <a:t>$\cos2\theta-\cos\theta=2c^2-c-1=(2c+1)(c-1)$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𝑐</m:t>
                        </m:r>
                      </m:den>
                    </m:f>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(otherwise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18</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Roots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only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is admissible, so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$PQ$</a:t>
                </a:r>
                <a:r>
                  <a:rPr sz="2400" b="0">
                    <a:solidFill>
                      <a:srgbClr val="111827"/>
                    </a:solidFill>
                    <a:latin typeface="Arial"/>
                  </a:rPr>
                  <a:t> is the normal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$\frac{b}{a}\cdot\frac{\sin\theta\,(2c-1)}{(2c+1)(c-1)}=\frac{a}{b}\cdot\frac{\sin\theta}{c}$</a:t>
                </a:r>
                <a:r>
                  <a:rPr sz="2400" b="0">
                    <a:solidFill>
                      <a:srgbClr val="111827"/>
                    </a:solidFill>
                    <a:latin typeface="Arial"/>
                  </a:rPr>
                  <a:t> with </a:t>
                </a:r>
                <a:r>
                  <a:rPr lang="en-IN" sz="2400">
                    <a:solidFill>
                      <a:srgbClr val="111827"/>
                    </a:solidFill>
                    <a:latin typeface="Cambria Math" panose="02040503050406030204" pitchFamily="18" charset="0"/>
                  </a:rPr>
                  <a:t>$\sin\theta\neq0$</a:t>
                </a:r>
                <a:r>
                  <a:rPr sz="2400" b="0">
                    <a:solidFill>
                      <a:srgbClr val="111827"/>
                    </a:solidFill>
                    <a:latin typeface="Arial"/>
                  </a:rPr>
                  <a:t> (otherwise </a:t>
                </a:r>
                <a:r>
                  <a:rPr lang="en-IN" sz="2400">
                    <a:solidFill>
                      <a:srgbClr val="111827"/>
                    </a:solidFill>
                    <a:latin typeface="Cambria Math" panose="02040503050406030204" pitchFamily="18" charset="0"/>
                  </a:rPr>
                  <a:t>$Q=P$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$b^2c(2c-1)=a^2(2c+1)(c-1)$</a:t>
                </a:r>
                <a:r>
                  <a:rPr sz="2400" b="0">
                    <a:solidFill>
                      <a:srgbClr val="111827"/>
                    </a:solidFill>
                    <a:latin typeface="Arial"/>
                  </a:rPr>
                  <a:t>; with </a:t>
                </a:r>
                <a:r>
                  <a:rPr lang="en-IN" sz="2400">
                    <a:solidFill>
                      <a:srgbClr val="111827"/>
                    </a:solidFill>
                    <a:latin typeface="Cambria Math" panose="02040503050406030204" pitchFamily="18" charset="0"/>
                  </a:rPr>
                  <a:t>$a^2=14,\ b^2=5$</a:t>
                </a:r>
                <a:r>
                  <a:rPr sz="2400" b="0">
                    <a:solidFill>
                      <a:srgbClr val="111827"/>
                    </a:solidFill>
                    <a:latin typeface="Arial"/>
                  </a:rPr>
                  <a:t>: </a:t>
                </a:r>
                <a:r>
                  <a:rPr lang="en-IN" sz="2400">
                    <a:solidFill>
                      <a:srgbClr val="111827"/>
                    </a:solidFill>
                    <a:latin typeface="Cambria Math" panose="02040503050406030204" pitchFamily="18" charset="0"/>
                  </a:rPr>
                  <a:t>$5c(2c-1)=14(2c^2-c-1)$</a:t>
                </a:r>
                <a:r>
                  <a:rPr sz="2400" b="0">
                    <a:solidFill>
                      <a:srgbClr val="111827"/>
                    </a:solidFill>
                    <a:latin typeface="Arial"/>
                  </a:rPr>
                  <a:t>, i.e. </a:t>
                </a:r>
                <a:r>
                  <a:rPr lang="en-IN" sz="2400">
                    <a:solidFill>
                      <a:srgbClr val="111827"/>
                    </a:solidFill>
                    <a:latin typeface="Cambria Math" panose="02040503050406030204" pitchFamily="18" charset="0"/>
                  </a:rPr>
                  <a:t>$18c^2-9c-14=0$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Roots </a:t>
                </a:r>
                <a:r>
                  <a:rPr lang="en-IN" sz="2400">
                    <a:solidFill>
                      <a:srgbClr val="111827"/>
                    </a:solidFill>
                    <a:latin typeface="Cambria Math" panose="02040503050406030204" pitchFamily="18" charset="0"/>
                  </a:rPr>
                  <a:t>$c=-\frac23,\ \frac76$</a:t>
                </a:r>
                <a:r>
                  <a:rPr sz="2400" b="0">
                    <a:solidFill>
                      <a:srgbClr val="111827"/>
                    </a:solidFill>
                    <a:latin typeface="Arial"/>
                  </a:rPr>
                  <a:t>; only </a:t>
                </a:r>
                <a:r>
                  <a:rPr lang="en-IN" sz="2400">
                    <a:solidFill>
                      <a:srgbClr val="111827"/>
                    </a:solidFill>
                    <a:latin typeface="Cambria Math" panose="02040503050406030204" pitchFamily="18" charset="0"/>
                  </a:rPr>
                  <a:t>$c=-\frac23$</a:t>
                </a:r>
                <a:r>
                  <a:rPr sz="2400" b="0">
                    <a:solidFill>
                      <a:srgbClr val="111827"/>
                    </a:solidFill>
                    <a:latin typeface="Arial"/>
                  </a:rPr>
                  <a:t> is admissible, so </a:t>
                </a:r>
                <a:r>
                  <a:rPr lang="en-IN" sz="2400">
                    <a:solidFill>
                      <a:srgbClr val="111827"/>
                    </a:solidFill>
                    <a:latin typeface="Cambria Math" panose="02040503050406030204" pitchFamily="18" charset="0"/>
                  </a:rPr>
                  <a:t>$\cos\theta=-\frac{2}{3}$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m:rPr>
                        <m:sty m:val="p"/>
                      </m:rPr>
                      <a:rPr lang="en-IN" sz="2800">
                        <a:solidFill>
                          <a:srgbClr val="15803D"/>
                        </a:solidFill>
                        <a:latin typeface="Cambria Math" panose="02040503050406030204" pitchFamily="18" charset="0"/>
                      </a:rPr>
                      <m:t>cos</m:t>
                    </m:r>
                    <m:r>
                      <a:rPr lang="en-IN" sz="2800" i="1">
                        <a:solidFill>
                          <a:srgbClr val="15803D"/>
                        </a:solidFill>
                        <a:latin typeface="Cambria Math" panose="02040503050406030204" pitchFamily="18" charset="0"/>
                      </a:rPr>
                      <m:t>θ</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m:t>
                        </m:r>
                      </m:num>
                      <m:den>
                        <m:r>
                          <a:rPr lang="en-IN" sz="2800" i="1">
                            <a:solidFill>
                              <a:srgbClr val="15803D"/>
                            </a:solidFill>
                            <a:latin typeface="Cambria Math" panose="02040503050406030204" pitchFamily="18" charset="0"/>
                          </a:rPr>
                          <m:t>3</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$\cos\theta=-\frac{2}{3}$</a:t>
                </a:r>
                <a:endParaRPr sz="2800">
                  <a:solidFill>
                    <a:srgbClr val="15803D"/>
                  </a:solidFill>
                </a:endParaRPr>
              </a:p>
            </p:txBody>
          </p:sp>
        </mc:Fallback>
      </mc:AlternateContent>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at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meets the ellipse again at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iff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φ</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(slope of chord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φ</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reject roots with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oMath>
                </a14:m>
                <a:r>
                  <a:rPr sz="2400" b="0">
                    <a:solidFill>
                      <a:srgbClr val="111827"/>
                    </a:solidFill>
                    <a:latin typeface="Arial"/>
                  </a:rPr>
                  <a:t>) after solving for a trigonometric ratio.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Double-angle shortcuts: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at </a:t>
                </a:r>
                <a:r>
                  <a:rPr lang="en-IN" sz="2400">
                    <a:solidFill>
                      <a:srgbClr val="111827"/>
                    </a:solidFill>
                    <a:latin typeface="Cambria Math" panose="02040503050406030204" pitchFamily="18" charset="0"/>
                  </a:rPr>
                  <a:t>$P(\theta)$</a:t>
                </a:r>
                <a:r>
                  <a:rPr sz="2400" b="0">
                    <a:solidFill>
                      <a:srgbClr val="111827"/>
                    </a:solidFill>
                    <a:latin typeface="Arial"/>
                  </a:rPr>
                  <a:t> of </a:t>
                </a:r>
                <a:r>
                  <a:rPr lang="en-IN" sz="2400">
                    <a:solidFill>
                      <a:srgbClr val="111827"/>
                    </a:solidFill>
                    <a:latin typeface="Cambria Math" panose="02040503050406030204" pitchFamily="18" charset="0"/>
                  </a:rPr>
                  <a:t>$\frac{x^2}{a^2}+\frac{y^2}{b^2}=1$</a:t>
                </a:r>
                <a:r>
                  <a:rPr sz="2400" b="0">
                    <a:solidFill>
                      <a:srgbClr val="111827"/>
                    </a:solidFill>
                    <a:latin typeface="Arial"/>
                  </a:rPr>
                  <a:t> is </a:t>
                </a:r>
                <a:r>
                  <a:rPr lang="en-IN" sz="2400">
                    <a:solidFill>
                      <a:srgbClr val="111827"/>
                    </a:solidFill>
                    <a:latin typeface="Cambria Math" panose="02040503050406030204" pitchFamily="18" charset="0"/>
                  </a:rPr>
                  <a:t>$\frac{ax}{\cos\theta}-\frac{by}{\sin\theta}=a^2-b^2$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at </a:t>
                </a:r>
                <a:r>
                  <a:rPr lang="en-IN" sz="2400">
                    <a:solidFill>
                      <a:srgbClr val="111827"/>
                    </a:solidFill>
                    <a:latin typeface="Cambria Math" panose="02040503050406030204" pitchFamily="18" charset="0"/>
                  </a:rPr>
                  <a:t>$\theta$</a:t>
                </a:r>
                <a:r>
                  <a:rPr sz="2400" b="0">
                    <a:solidFill>
                      <a:srgbClr val="111827"/>
                    </a:solidFill>
                    <a:latin typeface="Arial"/>
                  </a:rPr>
                  <a:t> meets the ellipse again at </a:t>
                </a:r>
                <a:r>
                  <a:rPr lang="en-IN" sz="2400">
                    <a:solidFill>
                      <a:srgbClr val="111827"/>
                    </a:solidFill>
                    <a:latin typeface="Cambria Math" panose="02040503050406030204" pitchFamily="18" charset="0"/>
                  </a:rPr>
                  <a:t>$\varphi$</a:t>
                </a:r>
                <a:r>
                  <a:rPr sz="2400" b="0">
                    <a:solidFill>
                      <a:srgbClr val="111827"/>
                    </a:solidFill>
                    <a:latin typeface="Arial"/>
                  </a:rPr>
                  <a:t> iff </a:t>
                </a:r>
                <a:r>
                  <a:rPr lang="en-IN" sz="2400">
                    <a:solidFill>
                      <a:srgbClr val="111827"/>
                    </a:solidFill>
                    <a:latin typeface="Cambria Math" panose="02040503050406030204" pitchFamily="18" charset="0"/>
                  </a:rPr>
                  <a:t>$\tan\theta\tan\frac{\theta+\varphi}{2}=-\frac{b^2}{a^2}$</a:t>
                </a:r>
                <a:r>
                  <a:rPr sz="2400" b="0">
                    <a:solidFill>
                      <a:srgbClr val="111827"/>
                    </a:solidFill>
                    <a:latin typeface="Arial"/>
                  </a:rPr>
                  <a:t> (slope of chord </a:t>
                </a:r>
                <a:r>
                  <a:rPr lang="en-IN" sz="2400">
                    <a:solidFill>
                      <a:srgbClr val="111827"/>
                    </a:solidFill>
                    <a:latin typeface="Cambria Math" panose="02040503050406030204" pitchFamily="18" charset="0"/>
                  </a:rPr>
                  <a:t>$PQ$</a:t>
                </a:r>
                <a:r>
                  <a:rPr sz="2400" b="0">
                    <a:solidFill>
                      <a:srgbClr val="111827"/>
                    </a:solidFill>
                    <a:latin typeface="Arial"/>
                  </a:rPr>
                  <a:t> is </a:t>
                </a:r>
                <a:r>
                  <a:rPr lang="en-IN" sz="2400">
                    <a:solidFill>
                      <a:srgbClr val="111827"/>
                    </a:solidFill>
                    <a:latin typeface="Cambria Math" panose="02040503050406030204" pitchFamily="18" charset="0"/>
                  </a:rPr>
                  <a:t>$-\frac{b}{a}\cot\frac{\theta+\varphi}{2}$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reject roots with </a:t>
                </a:r>
                <a:r>
                  <a:rPr lang="en-IN" sz="2400">
                    <a:solidFill>
                      <a:srgbClr val="111827"/>
                    </a:solidFill>
                    <a:latin typeface="Cambria Math" panose="02040503050406030204" pitchFamily="18" charset="0"/>
                  </a:rPr>
                  <a:t>$|\cos\theta|&gt;1$</a:t>
                </a:r>
                <a:r>
                  <a:rPr sz="2400" b="0">
                    <a:solidFill>
                      <a:srgbClr val="111827"/>
                    </a:solidFill>
                    <a:latin typeface="Arial"/>
                  </a:rPr>
                  <a:t> (or </a:t>
                </a:r>
                <a:r>
                  <a:rPr lang="en-IN" sz="2400">
                    <a:solidFill>
                      <a:srgbClr val="111827"/>
                    </a:solidFill>
                    <a:latin typeface="Cambria Math" panose="02040503050406030204" pitchFamily="18" charset="0"/>
                  </a:rPr>
                  <a:t>$|\sin\theta|&gt;1$</a:t>
                </a:r>
                <a:r>
                  <a:rPr sz="2400" b="0">
                    <a:solidFill>
                      <a:srgbClr val="111827"/>
                    </a:solidFill>
                    <a:latin typeface="Arial"/>
                  </a:rPr>
                  <a:t>) after solving for a trigonometric ratio.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Double-angle shortcuts: </a:t>
                </a:r>
                <a:r>
                  <a:rPr lang="en-IN" sz="2400">
                    <a:solidFill>
                      <a:srgbClr val="111827"/>
                    </a:solidFill>
                    <a:latin typeface="Cambria Math" panose="02040503050406030204" pitchFamily="18" charset="0"/>
                  </a:rPr>
                  <a:t>$\frac{\sin2\theta}{\sin\theta}=2\cos\theta$</a:t>
                </a:r>
                <a:r>
                  <a:rPr sz="2400" b="0">
                    <a:solidFill>
                      <a:srgbClr val="111827"/>
                    </a:solidFill>
                    <a:latin typeface="Arial"/>
                  </a:rPr>
                  <a:t> and </a:t>
                </a:r>
                <a:r>
                  <a:rPr lang="en-IN" sz="2400">
                    <a:solidFill>
                      <a:srgbClr val="111827"/>
                    </a:solidFill>
                    <a:latin typeface="Cambria Math" panose="02040503050406030204" pitchFamily="18" charset="0"/>
                  </a:rPr>
                  <a:t>$\frac{\cos2\theta}{\cos\theta}=2\cos\theta-\sec\theta$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circles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on the Argand plane be given by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respectively. If a variable circle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be inside circle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such that it touches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externally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internally, then the locus of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describes a conic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If the eccentricity of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can be written in simplest form as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cr m:val="double-struck"/>
                        <m:sty m:val="p"/>
                      </m:rPr>
                      <a:rPr lang="en-IN" sz="2400">
                        <a:solidFill>
                          <a:srgbClr val="111827"/>
                        </a:solidFill>
                        <a:latin typeface="Cambria Math" panose="02040503050406030204" pitchFamily="18" charset="0"/>
                      </a:rPr>
                      <m:t>N</m:t>
                    </m:r>
                  </m:oMath>
                </a14:m>
                <a:r>
                  <a:rPr sz="2400" b="0">
                    <a:solidFill>
                      <a:srgbClr val="111827"/>
                    </a:solidFill>
                    <a:latin typeface="Arial"/>
                  </a:rPr>
                  <a:t>, find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circles </a:t>
                </a:r>
                <a:r>
                  <a:rPr lang="en-IN" sz="2400">
                    <a:solidFill>
                      <a:srgbClr val="111827"/>
                    </a:solidFill>
                    <a:latin typeface="Cambria Math" panose="02040503050406030204" pitchFamily="18" charset="0"/>
                  </a:rPr>
                  <a:t>$C_1$</a:t>
                </a:r>
                <a:r>
                  <a:rPr sz="2400" b="0">
                    <a:solidFill>
                      <a:srgbClr val="111827"/>
                    </a:solidFill>
                    <a:latin typeface="Arial"/>
                  </a:rPr>
                  <a:t> and </a:t>
                </a:r>
                <a:r>
                  <a:rPr lang="en-IN" sz="2400">
                    <a:solidFill>
                      <a:srgbClr val="111827"/>
                    </a:solidFill>
                    <a:latin typeface="Cambria Math" panose="02040503050406030204" pitchFamily="18" charset="0"/>
                  </a:rPr>
                  <a:t>$C_2$</a:t>
                </a:r>
                <a:r>
                  <a:rPr sz="2400" b="0">
                    <a:solidFill>
                      <a:srgbClr val="111827"/>
                    </a:solidFill>
                    <a:latin typeface="Arial"/>
                  </a:rPr>
                  <a:t> on the Argand plane be given by </a:t>
                </a:r>
                <a:r>
                  <a:rPr lang="en-IN" sz="2400">
                    <a:solidFill>
                      <a:srgbClr val="111827"/>
                    </a:solidFill>
                    <a:latin typeface="Cambria Math" panose="02040503050406030204" pitchFamily="18" charset="0"/>
                  </a:rPr>
                  <a:t>$|z+1|=3$</a:t>
                </a:r>
                <a:r>
                  <a:rPr sz="2400" b="0">
                    <a:solidFill>
                      <a:srgbClr val="111827"/>
                    </a:solidFill>
                    <a:latin typeface="Arial"/>
                  </a:rPr>
                  <a:t> and </a:t>
                </a:r>
                <a:r>
                  <a:rPr lang="en-IN" sz="2400">
                    <a:solidFill>
                      <a:srgbClr val="111827"/>
                    </a:solidFill>
                    <a:latin typeface="Cambria Math" panose="02040503050406030204" pitchFamily="18" charset="0"/>
                  </a:rPr>
                  <a:t>$|z-2|=7$</a:t>
                </a:r>
                <a:r>
                  <a:rPr sz="2400" b="0">
                    <a:solidFill>
                      <a:srgbClr val="111827"/>
                    </a:solidFill>
                    <a:latin typeface="Arial"/>
                  </a:rPr>
                  <a:t> respectively. If a variable circle </a:t>
                </a:r>
                <a:r>
                  <a:rPr lang="en-IN" sz="2400">
                    <a:solidFill>
                      <a:srgbClr val="111827"/>
                    </a:solidFill>
                    <a:latin typeface="Cambria Math" panose="02040503050406030204" pitchFamily="18" charset="0"/>
                  </a:rPr>
                  <a:t>$|z-z_0|=r$</a:t>
                </a:r>
                <a:r>
                  <a:rPr sz="2400" b="0">
                    <a:solidFill>
                      <a:srgbClr val="111827"/>
                    </a:solidFill>
                    <a:latin typeface="Arial"/>
                  </a:rPr>
                  <a:t> be inside circle </a:t>
                </a:r>
                <a:r>
                  <a:rPr lang="en-IN" sz="2400">
                    <a:solidFill>
                      <a:srgbClr val="111827"/>
                    </a:solidFill>
                    <a:latin typeface="Cambria Math" panose="02040503050406030204" pitchFamily="18" charset="0"/>
                  </a:rPr>
                  <a:t>$C_2$</a:t>
                </a:r>
                <a:r>
                  <a:rPr sz="2400" b="0">
                    <a:solidFill>
                      <a:srgbClr val="111827"/>
                    </a:solidFill>
                    <a:latin typeface="Arial"/>
                  </a:rPr>
                  <a:t> such that it touches </a:t>
                </a:r>
                <a:r>
                  <a:rPr lang="en-IN" sz="2400">
                    <a:solidFill>
                      <a:srgbClr val="111827"/>
                    </a:solidFill>
                    <a:latin typeface="Cambria Math" panose="02040503050406030204" pitchFamily="18" charset="0"/>
                  </a:rPr>
                  <a:t>$C_1$</a:t>
                </a:r>
                <a:r>
                  <a:rPr sz="2400" b="0">
                    <a:solidFill>
                      <a:srgbClr val="111827"/>
                    </a:solidFill>
                    <a:latin typeface="Arial"/>
                  </a:rPr>
                  <a:t> externally and </a:t>
                </a:r>
                <a:r>
                  <a:rPr lang="en-IN" sz="2400">
                    <a:solidFill>
                      <a:srgbClr val="111827"/>
                    </a:solidFill>
                    <a:latin typeface="Cambria Math" panose="02040503050406030204" pitchFamily="18" charset="0"/>
                  </a:rPr>
                  <a:t>$C_2$</a:t>
                </a:r>
                <a:r>
                  <a:rPr sz="2400" b="0">
                    <a:solidFill>
                      <a:srgbClr val="111827"/>
                    </a:solidFill>
                    <a:latin typeface="Arial"/>
                  </a:rPr>
                  <a:t> internally, then the locus of </a:t>
                </a:r>
                <a:r>
                  <a:rPr lang="en-IN" sz="2400">
                    <a:solidFill>
                      <a:srgbClr val="111827"/>
                    </a:solidFill>
                    <a:latin typeface="Cambria Math" panose="02040503050406030204" pitchFamily="18" charset="0"/>
                  </a:rPr>
                  <a:t>$z_0$</a:t>
                </a:r>
                <a:r>
                  <a:rPr sz="2400" b="0">
                    <a:solidFill>
                      <a:srgbClr val="111827"/>
                    </a:solidFill>
                    <a:latin typeface="Arial"/>
                  </a:rPr>
                  <a:t> describes a conic </a:t>
                </a:r>
                <a:r>
                  <a:rPr lang="en-IN" sz="2400">
                    <a:solidFill>
                      <a:srgbClr val="111827"/>
                    </a:solidFill>
                    <a:latin typeface="Cambria Math" panose="02040503050406030204" pitchFamily="18" charset="0"/>
                  </a:rPr>
                  <a:t>$E$</a:t>
                </a:r>
                <a:r>
                  <a:rPr sz="2400" b="0">
                    <a:solidFill>
                      <a:srgbClr val="111827"/>
                    </a:solidFill>
                    <a:latin typeface="Arial"/>
                  </a:rPr>
                  <a:t>. If the eccentricity of </a:t>
                </a:r>
                <a:r>
                  <a:rPr lang="en-IN" sz="2400">
                    <a:solidFill>
                      <a:srgbClr val="111827"/>
                    </a:solidFill>
                    <a:latin typeface="Cambria Math" panose="02040503050406030204" pitchFamily="18" charset="0"/>
                  </a:rPr>
                  <a:t>$E$</a:t>
                </a:r>
                <a:r>
                  <a:rPr sz="2400" b="0">
                    <a:solidFill>
                      <a:srgbClr val="111827"/>
                    </a:solidFill>
                    <a:latin typeface="Arial"/>
                  </a:rPr>
                  <a:t> can be written in simplest form as </a:t>
                </a:r>
                <a:r>
                  <a:rPr lang="en-IN" sz="2400">
                    <a:solidFill>
                      <a:srgbClr val="111827"/>
                    </a:solidFill>
                    <a:latin typeface="Cambria Math" panose="02040503050406030204" pitchFamily="18" charset="0"/>
                  </a:rPr>
                  <a:t>$\frac{p}{q}$</a:t>
                </a:r>
                <a:r>
                  <a:rPr sz="2400" b="0">
                    <a:solidFill>
                      <a:srgbClr val="111827"/>
                    </a:solidFill>
                    <a:latin typeface="Arial"/>
                  </a:rPr>
                  <a:t> where </a:t>
                </a:r>
                <a:r>
                  <a:rPr lang="en-IN" sz="2400">
                    <a:solidFill>
                      <a:srgbClr val="111827"/>
                    </a:solidFill>
                    <a:latin typeface="Cambria Math" panose="02040503050406030204" pitchFamily="18" charset="0"/>
                  </a:rPr>
                  <a:t>$p,q\in\mathbb N$</a:t>
                </a:r>
                <a:r>
                  <a:rPr sz="2400" b="0">
                    <a:solidFill>
                      <a:srgbClr val="111827"/>
                    </a:solidFill>
                    <a:latin typeface="Arial"/>
                  </a:rPr>
                  <a:t>, find the value of </a:t>
                </a:r>
                <a:r>
                  <a:rPr lang="en-IN" sz="2400">
                    <a:solidFill>
                      <a:srgbClr val="111827"/>
                    </a:solidFill>
                    <a:latin typeface="Cambria Math" panose="02040503050406030204" pitchFamily="18" charset="0"/>
                  </a:rPr>
                  <a:t>$(p+q)$</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370323"/>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Locus from a sum of focal distances (ellipse), Circles in the Argand plane (contact of circles)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distances of the centre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0</m:t>
                        </m:r>
                      </m:sub>
                    </m:sSub>
                  </m:oMath>
                </a14:m>
                <a:r>
                  <a:rPr sz="2400" b="0">
                    <a:solidFill>
                      <a:srgbClr val="78350F"/>
                    </a:solidFill>
                    <a:latin typeface="Arial"/>
                  </a:rPr>
                  <a:t> from the two fixed centres add up to </a:t>
                </a:r>
                <a14:m>
                  <m:oMath xmlns:m="http://schemas.openxmlformats.org/officeDocument/2006/math">
                    <m:sSub>
                      <m:e>
                        <m:r>
                          <a:rPr lang="en-IN" sz="2400" i="1">
                            <a:solidFill>
                              <a:srgbClr val="78350F"/>
                            </a:solidFill>
                            <a:latin typeface="Cambria Math" panose="02040503050406030204" pitchFamily="18" charset="0"/>
                          </a:rPr>
                          <m:t>𝑟</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𝑟</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independent of </a:t>
                </a:r>
                <a14:m>
                  <m:oMath xmlns:m="http://schemas.openxmlformats.org/officeDocument/2006/math">
                    <m:r>
                      <a:rPr lang="en-IN" sz="2400" i="1">
                        <a:solidFill>
                          <a:srgbClr val="78350F"/>
                        </a:solidFill>
                        <a:latin typeface="Cambria Math" panose="02040503050406030204" pitchFamily="18" charset="0"/>
                      </a:rPr>
                      <m:t>𝑟</m:t>
                    </m:r>
                  </m:oMath>
                </a14:m>
                <a:r>
                  <a:rPr sz="2400" b="0">
                    <a:solidFill>
                      <a:srgbClr val="78350F"/>
                    </a:solidFill>
                    <a:latin typeface="Arial"/>
                  </a:rPr>
                  <a:t>: an ellipse with those centres as foci.</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distances of the centre </a:t>
                </a:r>
                <a:r>
                  <a:rPr lang="en-IN" sz="2400">
                    <a:solidFill>
                      <a:srgbClr val="78350F"/>
                    </a:solidFill>
                    <a:latin typeface="Cambria Math" panose="02040503050406030204" pitchFamily="18" charset="0"/>
                  </a:rPr>
                  <a:t>$z_0$</a:t>
                </a:r>
                <a:r>
                  <a:rPr sz="2400" b="0">
                    <a:solidFill>
                      <a:srgbClr val="78350F"/>
                    </a:solidFill>
                    <a:latin typeface="Arial"/>
                  </a:rPr>
                  <a:t> from the two fixed centres add up to </a:t>
                </a:r>
                <a:r>
                  <a:rPr lang="en-IN" sz="2400">
                    <a:solidFill>
                      <a:srgbClr val="78350F"/>
                    </a:solidFill>
                    <a:latin typeface="Cambria Math" panose="02040503050406030204" pitchFamily="18" charset="0"/>
                  </a:rPr>
                  <a:t>$r_1+r_2$</a:t>
                </a:r>
                <a:r>
                  <a:rPr sz="2400" b="0">
                    <a:solidFill>
                      <a:srgbClr val="78350F"/>
                    </a:solidFill>
                    <a:latin typeface="Arial"/>
                  </a:rPr>
                  <a:t>, independent of </a:t>
                </a:r>
                <a:r>
                  <a:rPr lang="en-IN" sz="2400">
                    <a:solidFill>
                      <a:srgbClr val="78350F"/>
                    </a:solidFill>
                    <a:latin typeface="Cambria Math" panose="02040503050406030204" pitchFamily="18" charset="0"/>
                  </a:rPr>
                  <a:t>$r$</a:t>
                </a:r>
                <a:r>
                  <a:rPr sz="2400" b="0">
                    <a:solidFill>
                      <a:srgbClr val="78350F"/>
                    </a:solidFill>
                    <a:latin typeface="Arial"/>
                  </a:rPr>
                  <a:t>: an ellipse with those centres as foci.</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has centre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radius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has centre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radius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be the centre of the variable circle, radius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External contact with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Internal contact with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14:m>
                  <m:oMath xmlns:m="http://schemas.openxmlformats.org/officeDocument/2006/math">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 constant (and </a:t>
                </a:r>
                <a14:m>
                  <m:oMath xmlns:m="http://schemas.openxmlformats.org/officeDocument/2006/math">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&gt;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$C_1$</a:t>
                </a:r>
                <a:r>
                  <a:rPr sz="2400" b="0">
                    <a:solidFill>
                      <a:srgbClr val="111827"/>
                    </a:solidFill>
                    <a:latin typeface="Arial"/>
                  </a:rPr>
                  <a:t> has centre </a:t>
                </a:r>
                <a:r>
                  <a:rPr lang="en-IN" sz="2400">
                    <a:solidFill>
                      <a:srgbClr val="111827"/>
                    </a:solidFill>
                    <a:latin typeface="Cambria Math" panose="02040503050406030204" pitchFamily="18" charset="0"/>
                  </a:rPr>
                  <a:t>$S_1(-1,0)$</a:t>
                </a:r>
                <a:r>
                  <a:rPr sz="2400" b="0">
                    <a:solidFill>
                      <a:srgbClr val="111827"/>
                    </a:solidFill>
                    <a:latin typeface="Arial"/>
                  </a:rPr>
                  <a:t>, radius </a:t>
                </a:r>
                <a:r>
                  <a:rPr lang="en-IN" sz="2400">
                    <a:solidFill>
                      <a:srgbClr val="111827"/>
                    </a:solidFill>
                    <a:latin typeface="Cambria Math" panose="02040503050406030204" pitchFamily="18" charset="0"/>
                  </a:rPr>
                  <a:t>$r_1=3$</a:t>
                </a:r>
                <a:r>
                  <a:rPr sz="2400" b="0">
                    <a:solidFill>
                      <a:srgbClr val="111827"/>
                    </a:solidFill>
                    <a:latin typeface="Arial"/>
                  </a:rPr>
                  <a:t>; </a:t>
                </a:r>
                <a:r>
                  <a:rPr lang="en-IN" sz="2400">
                    <a:solidFill>
                      <a:srgbClr val="111827"/>
                    </a:solidFill>
                    <a:latin typeface="Cambria Math" panose="02040503050406030204" pitchFamily="18" charset="0"/>
                  </a:rPr>
                  <a:t>$C_2$</a:t>
                </a:r>
                <a:r>
                  <a:rPr sz="2400" b="0">
                    <a:solidFill>
                      <a:srgbClr val="111827"/>
                    </a:solidFill>
                    <a:latin typeface="Arial"/>
                  </a:rPr>
                  <a:t> has centre </a:t>
                </a:r>
                <a:r>
                  <a:rPr lang="en-IN" sz="2400">
                    <a:solidFill>
                      <a:srgbClr val="111827"/>
                    </a:solidFill>
                    <a:latin typeface="Cambria Math" panose="02040503050406030204" pitchFamily="18" charset="0"/>
                  </a:rPr>
                  <a:t>$S_2(2,0)$</a:t>
                </a:r>
                <a:r>
                  <a:rPr sz="2400" b="0">
                    <a:solidFill>
                      <a:srgbClr val="111827"/>
                    </a:solidFill>
                    <a:latin typeface="Arial"/>
                  </a:rPr>
                  <a:t>, radius </a:t>
                </a:r>
                <a:r>
                  <a:rPr lang="en-IN" sz="2400">
                    <a:solidFill>
                      <a:srgbClr val="111827"/>
                    </a:solidFill>
                    <a:latin typeface="Cambria Math" panose="02040503050406030204" pitchFamily="18" charset="0"/>
                  </a:rPr>
                  <a:t>$r_2=7$</a:t>
                </a:r>
                <a:r>
                  <a:rPr sz="2400" b="0">
                    <a:solidFill>
                      <a:srgbClr val="111827"/>
                    </a:solidFill>
                    <a:latin typeface="Arial"/>
                  </a:rPr>
                  <a:t>. Let </a:t>
                </a:r>
                <a:r>
                  <a:rPr lang="en-IN" sz="2400">
                    <a:solidFill>
                      <a:srgbClr val="111827"/>
                    </a:solidFill>
                    <a:latin typeface="Cambria Math" panose="02040503050406030204" pitchFamily="18" charset="0"/>
                  </a:rPr>
                  <a:t>$P=z_0$</a:t>
                </a:r>
                <a:r>
                  <a:rPr sz="2400" b="0">
                    <a:solidFill>
                      <a:srgbClr val="111827"/>
                    </a:solidFill>
                    <a:latin typeface="Arial"/>
                  </a:rPr>
                  <a:t> be the centre of the variable circle, radius </a:t>
                </a:r>
                <a:r>
                  <a:rPr lang="en-IN" sz="2400">
                    <a:solidFill>
                      <a:srgbClr val="111827"/>
                    </a:solidFill>
                    <a:latin typeface="Cambria Math" panose="02040503050406030204" pitchFamily="18" charset="0"/>
                  </a:rPr>
                  <a:t>$r$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External contact with </a:t>
                </a:r>
                <a:r>
                  <a:rPr lang="en-IN" sz="2400">
                    <a:solidFill>
                      <a:srgbClr val="111827"/>
                    </a:solidFill>
                    <a:latin typeface="Cambria Math" panose="02040503050406030204" pitchFamily="18" charset="0"/>
                  </a:rPr>
                  <a:t>$C_1$</a:t>
                </a:r>
                <a:r>
                  <a:rPr sz="2400" b="0">
                    <a:solidFill>
                      <a:srgbClr val="111827"/>
                    </a:solidFill>
                    <a:latin typeface="Arial"/>
                  </a:rPr>
                  <a:t>: </a:t>
                </a:r>
                <a:r>
                  <a:rPr lang="en-IN" sz="2400">
                    <a:solidFill>
                      <a:srgbClr val="111827"/>
                    </a:solidFill>
                    <a:latin typeface="Cambria Math" panose="02040503050406030204" pitchFamily="18" charset="0"/>
                  </a:rPr>
                  <a:t>$PS_1=r_1+r$</a:t>
                </a:r>
                <a:r>
                  <a:rPr sz="2400" b="0">
                    <a:solidFill>
                      <a:srgbClr val="111827"/>
                    </a:solidFill>
                    <a:latin typeface="Arial"/>
                  </a:rPr>
                  <a:t>. Internal contact with </a:t>
                </a:r>
                <a:r>
                  <a:rPr lang="en-IN" sz="2400">
                    <a:solidFill>
                      <a:srgbClr val="111827"/>
                    </a:solidFill>
                    <a:latin typeface="Cambria Math" panose="02040503050406030204" pitchFamily="18" charset="0"/>
                  </a:rPr>
                  <a:t>$C_2$</a:t>
                </a:r>
                <a:r>
                  <a:rPr sz="2400" b="0">
                    <a:solidFill>
                      <a:srgbClr val="111827"/>
                    </a:solidFill>
                    <a:latin typeface="Arial"/>
                  </a:rPr>
                  <a:t>: </a:t>
                </a:r>
                <a:r>
                  <a:rPr lang="en-IN" sz="2400">
                    <a:solidFill>
                      <a:srgbClr val="111827"/>
                    </a:solidFill>
                    <a:latin typeface="Cambria Math" panose="02040503050406030204" pitchFamily="18" charset="0"/>
                  </a:rPr>
                  <a:t>$PS_2=r_2-r$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r>
                  <a:rPr lang="en-IN" sz="2400">
                    <a:solidFill>
                      <a:srgbClr val="111827"/>
                    </a:solidFill>
                    <a:latin typeface="Cambria Math" panose="02040503050406030204" pitchFamily="18" charset="0"/>
                  </a:rPr>
                  <a:t>$PS_1+PS_2=r_1+r+r_2-r=r_1+r_2=10$</a:t>
                </a:r>
                <a:r>
                  <a:rPr sz="2400" b="0">
                    <a:solidFill>
                      <a:srgbClr val="111827"/>
                    </a:solidFill>
                    <a:latin typeface="Arial"/>
                  </a:rPr>
                  <a:t>, a constant (and </a:t>
                </a:r>
                <a:r>
                  <a:rPr lang="en-IN" sz="2400">
                    <a:solidFill>
                      <a:srgbClr val="111827"/>
                    </a:solidFill>
                    <a:latin typeface="Cambria Math" panose="02040503050406030204" pitchFamily="18" charset="0"/>
                  </a:rPr>
                  <a:t>$10&gt;S_1S_2=3$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moves on an ellipse with foci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between the foci is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 already in lowest terms,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a:t>
                </a:r>
                <a:r>
                  <a:rPr sz="2400" b="0">
                    <a:solidFill>
                      <a:srgbClr val="111827"/>
                    </a:solidFill>
                    <a:latin typeface="Arial"/>
                  </a:rPr>
                  <a:t> moves on an ellipse with foci </a:t>
                </a:r>
                <a:r>
                  <a:rPr lang="en-IN" sz="2400">
                    <a:solidFill>
                      <a:srgbClr val="111827"/>
                    </a:solidFill>
                    <a:latin typeface="Cambria Math" panose="02040503050406030204" pitchFamily="18" charset="0"/>
                  </a:rPr>
                  <a:t>$S_1,S_2$</a:t>
                </a:r>
                <a:r>
                  <a:rPr sz="2400" b="0">
                    <a:solidFill>
                      <a:srgbClr val="111827"/>
                    </a:solidFill>
                    <a:latin typeface="Arial"/>
                  </a:rPr>
                  <a:t> and </a:t>
                </a:r>
                <a:r>
                  <a:rPr lang="en-IN" sz="2400">
                    <a:solidFill>
                      <a:srgbClr val="111827"/>
                    </a:solidFill>
                    <a:latin typeface="Cambria Math" panose="02040503050406030204" pitchFamily="18" charset="0"/>
                  </a:rPr>
                  <a:t>$2a=10$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between the foci is </a:t>
                </a:r>
                <a:r>
                  <a:rPr lang="en-IN" sz="2400">
                    <a:solidFill>
                      <a:srgbClr val="111827"/>
                    </a:solidFill>
                    <a:latin typeface="Cambria Math" panose="02040503050406030204" pitchFamily="18" charset="0"/>
                  </a:rPr>
                  <a:t>$2ae=S_1S_2=3$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$e=\frac{2ae}{2a}=\frac{3}{10}$</a:t>
                </a:r>
                <a:r>
                  <a:rPr sz="2400" b="0">
                    <a:solidFill>
                      <a:srgbClr val="111827"/>
                    </a:solidFill>
                    <a:latin typeface="Arial"/>
                  </a:rPr>
                  <a:t>, already in lowest terms, so </a:t>
                </a:r>
                <a:r>
                  <a:rPr lang="en-IN" sz="2400">
                    <a:solidFill>
                      <a:srgbClr val="111827"/>
                    </a:solidFill>
                    <a:latin typeface="Cambria Math" panose="02040503050406030204" pitchFamily="18" charset="0"/>
                  </a:rPr>
                  <a:t>$p+q=3+10=13$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13</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$13$</a:t>
                </a:r>
                <a:endParaRPr sz="2800">
                  <a:solidFill>
                    <a:srgbClr val="15803D"/>
                  </a:solidFill>
                </a:endParaRPr>
              </a:p>
            </p:txBody>
          </p:sp>
        </mc:Fallback>
      </mc:AlternateContent>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two vertices of the locus directly from the two extreme circles lying along the line of centres.</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Along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the variable circle can sit in two extreme positions; its centre is then an end of the major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Right end: it touches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externally at its rightmost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internally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Diameter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the centre is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Left end: it touches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externally at its leftmost point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internally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Diameter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the centre is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Along the </a:t>
                </a:r>
                <a:r>
                  <a:rPr lang="en-IN" sz="2400">
                    <a:solidFill>
                      <a:srgbClr val="111827"/>
                    </a:solidFill>
                    <a:latin typeface="Cambria Math" panose="02040503050406030204" pitchFamily="18" charset="0"/>
                  </a:rPr>
                  <a:t>$x$</a:t>
                </a:r>
                <a:r>
                  <a:rPr sz="2400" b="0">
                    <a:solidFill>
                      <a:srgbClr val="111827"/>
                    </a:solidFill>
                    <a:latin typeface="Arial"/>
                  </a:rPr>
                  <a:t>-axis the variable circle can sit in two extreme positions; its centre is then an end of the major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Right end: it touches </a:t>
                </a:r>
                <a:r>
                  <a:rPr lang="en-IN" sz="2400">
                    <a:solidFill>
                      <a:srgbClr val="111827"/>
                    </a:solidFill>
                    <a:latin typeface="Cambria Math" panose="02040503050406030204" pitchFamily="18" charset="0"/>
                  </a:rPr>
                  <a:t>$C_1$</a:t>
                </a:r>
                <a:r>
                  <a:rPr sz="2400" b="0">
                    <a:solidFill>
                      <a:srgbClr val="111827"/>
                    </a:solidFill>
                    <a:latin typeface="Arial"/>
                  </a:rPr>
                  <a:t> externally at its rightmost point </a:t>
                </a:r>
                <a:r>
                  <a:rPr lang="en-IN" sz="2400">
                    <a:solidFill>
                      <a:srgbClr val="111827"/>
                    </a:solidFill>
                    <a:latin typeface="Cambria Math" panose="02040503050406030204" pitchFamily="18" charset="0"/>
                  </a:rPr>
                  <a:t>$(2,0)$</a:t>
                </a:r>
                <a:r>
                  <a:rPr sz="2400" b="0">
                    <a:solidFill>
                      <a:srgbClr val="111827"/>
                    </a:solidFill>
                    <a:latin typeface="Arial"/>
                  </a:rPr>
                  <a:t> and </a:t>
                </a:r>
                <a:r>
                  <a:rPr lang="en-IN" sz="2400">
                    <a:solidFill>
                      <a:srgbClr val="111827"/>
                    </a:solidFill>
                    <a:latin typeface="Cambria Math" panose="02040503050406030204" pitchFamily="18" charset="0"/>
                  </a:rPr>
                  <a:t>$C_2$</a:t>
                </a:r>
                <a:r>
                  <a:rPr sz="2400" b="0">
                    <a:solidFill>
                      <a:srgbClr val="111827"/>
                    </a:solidFill>
                    <a:latin typeface="Arial"/>
                  </a:rPr>
                  <a:t> internally at </a:t>
                </a:r>
                <a:r>
                  <a:rPr lang="en-IN" sz="2400">
                    <a:solidFill>
                      <a:srgbClr val="111827"/>
                    </a:solidFill>
                    <a:latin typeface="Cambria Math" panose="02040503050406030204" pitchFamily="18" charset="0"/>
                  </a:rPr>
                  <a:t>$(9,0)$</a:t>
                </a:r>
                <a:r>
                  <a:rPr sz="2400" b="0">
                    <a:solidFill>
                      <a:srgbClr val="111827"/>
                    </a:solidFill>
                    <a:latin typeface="Arial"/>
                  </a:rPr>
                  <a:t>. Diameter </a:t>
                </a:r>
                <a:r>
                  <a:rPr lang="en-IN" sz="2400">
                    <a:solidFill>
                      <a:srgbClr val="111827"/>
                    </a:solidFill>
                    <a:latin typeface="Cambria Math" panose="02040503050406030204" pitchFamily="18" charset="0"/>
                  </a:rPr>
                  <a:t>$[2,9]$</a:t>
                </a:r>
                <a:r>
                  <a:rPr sz="2400" b="0">
                    <a:solidFill>
                      <a:srgbClr val="111827"/>
                    </a:solidFill>
                    <a:latin typeface="Arial"/>
                  </a:rPr>
                  <a:t>, so the centre is </a:t>
                </a:r>
                <a:r>
                  <a:rPr lang="en-IN" sz="2400">
                    <a:solidFill>
                      <a:srgbClr val="111827"/>
                    </a:solidFill>
                    <a:latin typeface="Cambria Math" panose="02040503050406030204" pitchFamily="18" charset="0"/>
                  </a:rPr>
                  <a:t>$z_0=5.5$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Left end: it touches </a:t>
                </a:r>
                <a:r>
                  <a:rPr lang="en-IN" sz="2400">
                    <a:solidFill>
                      <a:srgbClr val="111827"/>
                    </a:solidFill>
                    <a:latin typeface="Cambria Math" panose="02040503050406030204" pitchFamily="18" charset="0"/>
                  </a:rPr>
                  <a:t>$C_1$</a:t>
                </a:r>
                <a:r>
                  <a:rPr sz="2400" b="0">
                    <a:solidFill>
                      <a:srgbClr val="111827"/>
                    </a:solidFill>
                    <a:latin typeface="Arial"/>
                  </a:rPr>
                  <a:t> externally at its leftmost point </a:t>
                </a:r>
                <a:r>
                  <a:rPr lang="en-IN" sz="2400">
                    <a:solidFill>
                      <a:srgbClr val="111827"/>
                    </a:solidFill>
                    <a:latin typeface="Cambria Math" panose="02040503050406030204" pitchFamily="18" charset="0"/>
                  </a:rPr>
                  <a:t>$(-4,0)$</a:t>
                </a:r>
                <a:r>
                  <a:rPr sz="2400" b="0">
                    <a:solidFill>
                      <a:srgbClr val="111827"/>
                    </a:solidFill>
                    <a:latin typeface="Arial"/>
                  </a:rPr>
                  <a:t> and </a:t>
                </a:r>
                <a:r>
                  <a:rPr lang="en-IN" sz="2400">
                    <a:solidFill>
                      <a:srgbClr val="111827"/>
                    </a:solidFill>
                    <a:latin typeface="Cambria Math" panose="02040503050406030204" pitchFamily="18" charset="0"/>
                  </a:rPr>
                  <a:t>$C_2$</a:t>
                </a:r>
                <a:r>
                  <a:rPr sz="2400" b="0">
                    <a:solidFill>
                      <a:srgbClr val="111827"/>
                    </a:solidFill>
                    <a:latin typeface="Arial"/>
                  </a:rPr>
                  <a:t> internally at </a:t>
                </a:r>
                <a:r>
                  <a:rPr lang="en-IN" sz="2400">
                    <a:solidFill>
                      <a:srgbClr val="111827"/>
                    </a:solidFill>
                    <a:latin typeface="Cambria Math" panose="02040503050406030204" pitchFamily="18" charset="0"/>
                  </a:rPr>
                  <a:t>$(-5,0)$</a:t>
                </a:r>
                <a:r>
                  <a:rPr sz="2400" b="0">
                    <a:solidFill>
                      <a:srgbClr val="111827"/>
                    </a:solidFill>
                    <a:latin typeface="Arial"/>
                  </a:rPr>
                  <a:t>. Diameter </a:t>
                </a:r>
                <a:r>
                  <a:rPr lang="en-IN" sz="2400">
                    <a:solidFill>
                      <a:srgbClr val="111827"/>
                    </a:solidFill>
                    <a:latin typeface="Cambria Math" panose="02040503050406030204" pitchFamily="18" charset="0"/>
                  </a:rPr>
                  <a:t>$[-5,-4]$</a:t>
                </a:r>
                <a:r>
                  <a:rPr sz="2400" b="0">
                    <a:solidFill>
                      <a:srgbClr val="111827"/>
                    </a:solidFill>
                    <a:latin typeface="Arial"/>
                  </a:rPr>
                  <a:t>, so the centre is </a:t>
                </a:r>
                <a:r>
                  <a:rPr lang="en-IN" sz="2400">
                    <a:solidFill>
                      <a:srgbClr val="111827"/>
                    </a:solidFill>
                    <a:latin typeface="Cambria Math" panose="02040503050406030204" pitchFamily="18" charset="0"/>
                  </a:rPr>
                  <a:t>$z_0=-4.5$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major axis runs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5.5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centre </a:t>
                </a:r>
                <a14:m>
                  <m:oMath xmlns:m="http://schemas.openxmlformats.org/officeDocument/2006/math">
                    <m:r>
                      <a:rPr lang="en-IN" sz="2400" i="1">
                        <a:solidFill>
                          <a:srgbClr val="111827"/>
                        </a:solidFill>
                        <a:latin typeface="Cambria Math" panose="02040503050406030204" pitchFamily="18" charset="0"/>
                      </a:rPr>
                      <m:t>0.5</m:t>
                    </m:r>
                  </m:oMath>
                </a14:m>
                <a:r>
                  <a:rPr sz="2400" b="0">
                    <a:solidFill>
                      <a:srgbClr val="111827"/>
                    </a:solidFill>
                    <a:latin typeface="Arial"/>
                  </a:rPr>
                  <a:t> (the midpoint of the foci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as it must be).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of the centre </a:t>
                </a:r>
                <a14:m>
                  <m:oMath xmlns:m="http://schemas.openxmlformats.org/officeDocument/2006/math">
                    <m:r>
                      <a:rPr lang="en-IN" sz="2400" i="1">
                        <a:solidFill>
                          <a:srgbClr val="111827"/>
                        </a:solidFill>
                        <a:latin typeface="Cambria Math" panose="02040503050406030204" pitchFamily="18" charset="0"/>
                      </a:rPr>
                      <m:t>0.5</m:t>
                    </m:r>
                  </m:oMath>
                </a14:m>
                <a:r>
                  <a:rPr sz="2400" b="0">
                    <a:solidFill>
                      <a:srgbClr val="111827"/>
                    </a:solidFill>
                    <a:latin typeface="Arial"/>
                  </a:rPr>
                  <a:t> from a focus: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1.5</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major axis runs from </a:t>
                </a:r>
                <a:r>
                  <a:rPr lang="en-IN" sz="2400">
                    <a:solidFill>
                      <a:srgbClr val="111827"/>
                    </a:solidFill>
                    <a:latin typeface="Cambria Math" panose="02040503050406030204" pitchFamily="18" charset="0"/>
                  </a:rPr>
                  <a:t>$-4.5$</a:t>
                </a:r>
                <a:r>
                  <a:rPr sz="2400" b="0">
                    <a:solidFill>
                      <a:srgbClr val="111827"/>
                    </a:solidFill>
                    <a:latin typeface="Arial"/>
                  </a:rPr>
                  <a:t> to </a:t>
                </a:r>
                <a:r>
                  <a:rPr lang="en-IN" sz="2400">
                    <a:solidFill>
                      <a:srgbClr val="111827"/>
                    </a:solidFill>
                    <a:latin typeface="Cambria Math" panose="02040503050406030204" pitchFamily="18" charset="0"/>
                  </a:rPr>
                  <a:t>$5.5$</a:t>
                </a:r>
                <a:r>
                  <a:rPr sz="2400" b="0">
                    <a:solidFill>
                      <a:srgbClr val="111827"/>
                    </a:solidFill>
                    <a:latin typeface="Arial"/>
                  </a:rPr>
                  <a:t>: </a:t>
                </a:r>
                <a:r>
                  <a:rPr lang="en-IN" sz="2400">
                    <a:solidFill>
                      <a:srgbClr val="111827"/>
                    </a:solidFill>
                    <a:latin typeface="Cambria Math" panose="02040503050406030204" pitchFamily="18" charset="0"/>
                  </a:rPr>
                  <a:t>$2a=10$</a:t>
                </a:r>
                <a:r>
                  <a:rPr sz="2400" b="0">
                    <a:solidFill>
                      <a:srgbClr val="111827"/>
                    </a:solidFill>
                    <a:latin typeface="Arial"/>
                  </a:rPr>
                  <a:t>, centre </a:t>
                </a:r>
                <a:r>
                  <a:rPr lang="en-IN" sz="2400">
                    <a:solidFill>
                      <a:srgbClr val="111827"/>
                    </a:solidFill>
                    <a:latin typeface="Cambria Math" panose="02040503050406030204" pitchFamily="18" charset="0"/>
                  </a:rPr>
                  <a:t>$0.5$</a:t>
                </a:r>
                <a:r>
                  <a:rPr sz="2400" b="0">
                    <a:solidFill>
                      <a:srgbClr val="111827"/>
                    </a:solidFill>
                    <a:latin typeface="Arial"/>
                  </a:rPr>
                  <a:t> (the midpoint of the foci </a:t>
                </a:r>
                <a:r>
                  <a:rPr lang="en-IN" sz="2400">
                    <a:solidFill>
                      <a:srgbClr val="111827"/>
                    </a:solidFill>
                    <a:latin typeface="Cambria Math" panose="02040503050406030204" pitchFamily="18" charset="0"/>
                  </a:rPr>
                  <a:t>$-1$</a:t>
                </a:r>
                <a:r>
                  <a:rPr sz="2400" b="0">
                    <a:solidFill>
                      <a:srgbClr val="111827"/>
                    </a:solidFill>
                    <a:latin typeface="Arial"/>
                  </a:rPr>
                  <a:t> and </a:t>
                </a:r>
                <a:r>
                  <a:rPr lang="en-IN" sz="2400">
                    <a:solidFill>
                      <a:srgbClr val="111827"/>
                    </a:solidFill>
                    <a:latin typeface="Cambria Math" panose="02040503050406030204" pitchFamily="18" charset="0"/>
                  </a:rPr>
                  <a:t>$2$</a:t>
                </a:r>
                <a:r>
                  <a:rPr sz="2400" b="0">
                    <a:solidFill>
                      <a:srgbClr val="111827"/>
                    </a:solidFill>
                    <a:latin typeface="Arial"/>
                  </a:rPr>
                  <a:t>, as it must be).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of the centre </a:t>
                </a:r>
                <a:r>
                  <a:rPr lang="en-IN" sz="2400">
                    <a:solidFill>
                      <a:srgbClr val="111827"/>
                    </a:solidFill>
                    <a:latin typeface="Cambria Math" panose="02040503050406030204" pitchFamily="18" charset="0"/>
                  </a:rPr>
                  <a:t>$0.5$</a:t>
                </a:r>
                <a:r>
                  <a:rPr sz="2400" b="0">
                    <a:solidFill>
                      <a:srgbClr val="111827"/>
                    </a:solidFill>
                    <a:latin typeface="Arial"/>
                  </a:rPr>
                  <a:t> from a focus: </a:t>
                </a:r>
                <a:r>
                  <a:rPr lang="en-IN" sz="2400">
                    <a:solidFill>
                      <a:srgbClr val="111827"/>
                    </a:solidFill>
                    <a:latin typeface="Cambria Math" panose="02040503050406030204" pitchFamily="18" charset="0"/>
                  </a:rPr>
                  <a:t>$ae=1.5$</a:t>
                </a:r>
                <a:r>
                  <a:rPr sz="2400" b="0">
                    <a:solidFill>
                      <a:srgbClr val="111827"/>
                    </a:solidFill>
                    <a:latin typeface="Arial"/>
                  </a:rPr>
                  <a:t>, so </a:t>
                </a:r>
                <a:r>
                  <a:rPr lang="en-IN" sz="2400">
                    <a:solidFill>
                      <a:srgbClr val="111827"/>
                    </a:solidFill>
                    <a:latin typeface="Cambria Math" panose="02040503050406030204" pitchFamily="18" charset="0"/>
                  </a:rPr>
                  <a:t>$e=\frac{1.5}{5}=\frac{3}{10}$</a:t>
                </a:r>
                <a:r>
                  <a:rPr sz="2400" b="0">
                    <a:solidFill>
                      <a:srgbClr val="111827"/>
                    </a:solidFill>
                    <a:latin typeface="Arial"/>
                  </a:rPr>
                  <a:t> and </a:t>
                </a:r>
                <a:r>
                  <a:rPr lang="en-IN" sz="2400">
                    <a:solidFill>
                      <a:srgbClr val="111827"/>
                    </a:solidFill>
                    <a:latin typeface="Cambria Math" panose="02040503050406030204" pitchFamily="18" charset="0"/>
                  </a:rPr>
                  <a:t>$p+q=13$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13</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$13$</a:t>
                </a:r>
                <a:endParaRPr sz="2800">
                  <a:solidFill>
                    <a:srgbClr val="15803D"/>
                  </a:solidFill>
                </a:endParaRPr>
              </a:p>
            </p:txBody>
          </p:sp>
        </mc:Fallback>
      </mc:AlternateContent>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 circle touches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externally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internally (with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inside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the sum of the distances of its centre from the two centres is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ellipse with foci at the centres.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 circle touches two circles in the same way (both externally, or both internally), the difference of the distances is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branch of a hyperbola.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every such locus the foci are the centres of the fixed circles, so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oMath>
                </a14:m>
                <a:r>
                  <a:rPr sz="2400" b="0">
                    <a:solidFill>
                      <a:srgbClr val="111827"/>
                    </a:solidFill>
                    <a:latin typeface="Arial"/>
                  </a:rPr>
                  <a:t> = distance between the centres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 the constant sum or difference.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Instance here: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 circle touches </a:t>
                </a:r>
                <a:r>
                  <a:rPr lang="en-IN" sz="2400">
                    <a:solidFill>
                      <a:srgbClr val="111827"/>
                    </a:solidFill>
                    <a:latin typeface="Cambria Math" panose="02040503050406030204" pitchFamily="18" charset="0"/>
                  </a:rPr>
                  <a:t>$C_1$</a:t>
                </a:r>
                <a:r>
                  <a:rPr sz="2400" b="0">
                    <a:solidFill>
                      <a:srgbClr val="111827"/>
                    </a:solidFill>
                    <a:latin typeface="Arial"/>
                  </a:rPr>
                  <a:t> externally and </a:t>
                </a:r>
                <a:r>
                  <a:rPr lang="en-IN" sz="2400">
                    <a:solidFill>
                      <a:srgbClr val="111827"/>
                    </a:solidFill>
                    <a:latin typeface="Cambria Math" panose="02040503050406030204" pitchFamily="18" charset="0"/>
                  </a:rPr>
                  <a:t>$C_2$</a:t>
                </a:r>
                <a:r>
                  <a:rPr sz="2400" b="0">
                    <a:solidFill>
                      <a:srgbClr val="111827"/>
                    </a:solidFill>
                    <a:latin typeface="Arial"/>
                  </a:rPr>
                  <a:t> internally (with </a:t>
                </a:r>
                <a:r>
                  <a:rPr lang="en-IN" sz="2400">
                    <a:solidFill>
                      <a:srgbClr val="111827"/>
                    </a:solidFill>
                    <a:latin typeface="Cambria Math" panose="02040503050406030204" pitchFamily="18" charset="0"/>
                  </a:rPr>
                  <a:t>$C_1$</a:t>
                </a:r>
                <a:r>
                  <a:rPr sz="2400" b="0">
                    <a:solidFill>
                      <a:srgbClr val="111827"/>
                    </a:solidFill>
                    <a:latin typeface="Arial"/>
                  </a:rPr>
                  <a:t> inside </a:t>
                </a:r>
                <a:r>
                  <a:rPr lang="en-IN" sz="2400">
                    <a:solidFill>
                      <a:srgbClr val="111827"/>
                    </a:solidFill>
                    <a:latin typeface="Cambria Math" panose="02040503050406030204" pitchFamily="18" charset="0"/>
                  </a:rPr>
                  <a:t>$C_2$</a:t>
                </a:r>
                <a:r>
                  <a:rPr sz="2400" b="0">
                    <a:solidFill>
                      <a:srgbClr val="111827"/>
                    </a:solidFill>
                    <a:latin typeface="Arial"/>
                  </a:rPr>
                  <a:t>), the sum of the distances of its centre from the two centres is </a:t>
                </a:r>
                <a:r>
                  <a:rPr lang="en-IN" sz="2400">
                    <a:solidFill>
                      <a:srgbClr val="111827"/>
                    </a:solidFill>
                    <a:latin typeface="Cambria Math" panose="02040503050406030204" pitchFamily="18" charset="0"/>
                  </a:rPr>
                  <a:t>$r_1+r_2$</a:t>
                </a:r>
                <a:r>
                  <a:rPr sz="2400" b="0">
                    <a:solidFill>
                      <a:srgbClr val="111827"/>
                    </a:solidFill>
                    <a:latin typeface="Arial"/>
                  </a:rPr>
                  <a:t>: ellipse with foci at the centres.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 circle touches two circles in the same way (both externally, or both internally), the difference of the distances is </a:t>
                </a:r>
                <a:r>
                  <a:rPr lang="en-IN" sz="2400">
                    <a:solidFill>
                      <a:srgbClr val="111827"/>
                    </a:solidFill>
                    <a:latin typeface="Cambria Math" panose="02040503050406030204" pitchFamily="18" charset="0"/>
                  </a:rPr>
                  <a:t>$|r_1-r_2|$</a:t>
                </a:r>
                <a:r>
                  <a:rPr sz="2400" b="0">
                    <a:solidFill>
                      <a:srgbClr val="111827"/>
                    </a:solidFill>
                    <a:latin typeface="Arial"/>
                  </a:rPr>
                  <a:t>: a branch of a hyperbola.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every such locus the foci are the centres of the fixed circles, so </a:t>
                </a:r>
                <a:r>
                  <a:rPr lang="en-IN" sz="2400">
                    <a:solidFill>
                      <a:srgbClr val="111827"/>
                    </a:solidFill>
                    <a:latin typeface="Cambria Math" panose="02040503050406030204" pitchFamily="18" charset="0"/>
                  </a:rPr>
                  <a:t>$2ae$</a:t>
                </a:r>
                <a:r>
                  <a:rPr sz="2400" b="0">
                    <a:solidFill>
                      <a:srgbClr val="111827"/>
                    </a:solidFill>
                    <a:latin typeface="Arial"/>
                  </a:rPr>
                  <a:t> = distance between the centres and </a:t>
                </a:r>
                <a:r>
                  <a:rPr lang="en-IN" sz="2400">
                    <a:solidFill>
                      <a:srgbClr val="111827"/>
                    </a:solidFill>
                    <a:latin typeface="Cambria Math" panose="02040503050406030204" pitchFamily="18" charset="0"/>
                  </a:rPr>
                  <a:t>$2a$</a:t>
                </a:r>
                <a:r>
                  <a:rPr sz="2400" b="0">
                    <a:solidFill>
                      <a:srgbClr val="111827"/>
                    </a:solidFill>
                    <a:latin typeface="Arial"/>
                  </a:rPr>
                  <a:t> = the constant sum or difference.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Instance here: </a:t>
                </a:r>
                <a:r>
                  <a:rPr lang="en-IN" sz="2400">
                    <a:solidFill>
                      <a:srgbClr val="111827"/>
                    </a:solidFill>
                    <a:latin typeface="Cambria Math" panose="02040503050406030204" pitchFamily="18" charset="0"/>
                  </a:rPr>
                  <a:t>$2a=r_1+r_2=10$</a:t>
                </a:r>
                <a:r>
                  <a:rPr sz="2400" b="0">
                    <a:solidFill>
                      <a:srgbClr val="111827"/>
                    </a:solidFill>
                    <a:latin typeface="Arial"/>
                  </a:rPr>
                  <a:t>, </a:t>
                </a:r>
                <a:r>
                  <a:rPr lang="en-IN" sz="2400">
                    <a:solidFill>
                      <a:srgbClr val="111827"/>
                    </a:solidFill>
                    <a:latin typeface="Cambria Math" panose="02040503050406030204" pitchFamily="18" charset="0"/>
                  </a:rPr>
                  <a:t>$2ae=3$</a:t>
                </a:r>
                <a:r>
                  <a:rPr sz="2400" b="0">
                    <a:solidFill>
                      <a:srgbClr val="111827"/>
                    </a:solidFill>
                    <a:latin typeface="Arial"/>
                  </a:rPr>
                  <a:t>, </a:t>
                </a:r>
                <a:r>
                  <a:rPr lang="en-IN" sz="2400">
                    <a:solidFill>
                      <a:srgbClr val="111827"/>
                    </a:solidFill>
                    <a:latin typeface="Cambria Math" panose="02040503050406030204" pitchFamily="18" charset="0"/>
                  </a:rPr>
                  <a:t>$e=\frac{3}{10}$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091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tangent at any point of an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makes an angle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with the major axis and an angle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with the focal radius of the point of contact, then show that the eccentricity </a:t>
                </a:r>
                <a14:m>
                  <m:oMath xmlns:m="http://schemas.openxmlformats.org/officeDocument/2006/math">
                    <m:r>
                      <a:rPr lang="en-IN" sz="2400" i="1">
                        <a:solidFill>
                          <a:srgbClr val="111827"/>
                        </a:solidFill>
                        <a:latin typeface="Cambria Math" panose="02040503050406030204" pitchFamily="18" charset="0"/>
                      </a:rPr>
                      <m:t>𝑒</m:t>
                    </m:r>
                  </m:oMath>
                </a14:m>
                <a:r>
                  <a:rPr sz="2400" b="0">
                    <a:solidFill>
                      <a:srgbClr val="111827"/>
                    </a:solidFill>
                    <a:latin typeface="Arial"/>
                  </a:rPr>
                  <a:t> of the ellipse is given by the absolute value of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den>
                    </m:f>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7091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tangent at any point of an ellipse </a:t>
                </a:r>
                <a:r>
                  <a:rPr lang="en-IN" sz="2400">
                    <a:solidFill>
                      <a:srgbClr val="111827"/>
                    </a:solidFill>
                    <a:latin typeface="Cambria Math" panose="02040503050406030204" pitchFamily="18" charset="0"/>
                  </a:rPr>
                  <a:t>$\frac{x^2}{a^2}+\frac{y^2}{b^2}=1$</a:t>
                </a:r>
                <a:r>
                  <a:rPr sz="2400" b="0">
                    <a:solidFill>
                      <a:srgbClr val="111827"/>
                    </a:solidFill>
                    <a:latin typeface="Arial"/>
                  </a:rPr>
                  <a:t> makes an angle </a:t>
                </a:r>
                <a:r>
                  <a:rPr lang="en-IN" sz="2400">
                    <a:solidFill>
                      <a:srgbClr val="111827"/>
                    </a:solidFill>
                    <a:latin typeface="Cambria Math" panose="02040503050406030204" pitchFamily="18" charset="0"/>
                  </a:rPr>
                  <a:t>$\alpha$</a:t>
                </a:r>
                <a:r>
                  <a:rPr sz="2400" b="0">
                    <a:solidFill>
                      <a:srgbClr val="111827"/>
                    </a:solidFill>
                    <a:latin typeface="Arial"/>
                  </a:rPr>
                  <a:t> with the major axis and an angle </a:t>
                </a:r>
                <a:r>
                  <a:rPr lang="en-IN" sz="2400">
                    <a:solidFill>
                      <a:srgbClr val="111827"/>
                    </a:solidFill>
                    <a:latin typeface="Cambria Math" panose="02040503050406030204" pitchFamily="18" charset="0"/>
                  </a:rPr>
                  <a:t>$\beta$</a:t>
                </a:r>
                <a:r>
                  <a:rPr sz="2400" b="0">
                    <a:solidFill>
                      <a:srgbClr val="111827"/>
                    </a:solidFill>
                    <a:latin typeface="Arial"/>
                  </a:rPr>
                  <a:t> with the focal radius of the point of contact, then show that the eccentricity </a:t>
                </a:r>
                <a:r>
                  <a:rPr lang="en-IN" sz="2400">
                    <a:solidFill>
                      <a:srgbClr val="111827"/>
                    </a:solidFill>
                    <a:latin typeface="Cambria Math" panose="02040503050406030204" pitchFamily="18" charset="0"/>
                  </a:rPr>
                  <a:t>$e$</a:t>
                </a:r>
                <a:r>
                  <a:rPr sz="2400" b="0">
                    <a:solidFill>
                      <a:srgbClr val="111827"/>
                    </a:solidFill>
                    <a:latin typeface="Arial"/>
                  </a:rPr>
                  <a:t> of the ellipse is given by the absolute value of </a:t>
                </a:r>
                <a:r>
                  <a:rPr lang="en-IN" sz="2400">
                    <a:solidFill>
                      <a:srgbClr val="111827"/>
                    </a:solidFill>
                    <a:latin typeface="Cambria Math" panose="02040503050406030204" pitchFamily="18" charset="0"/>
                  </a:rPr>
                  <a:t>$\frac{\cos\beta}{\cos\alpha}$</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21792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and focal radius of an ellipse (angles), Sine rule in a triangle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Apply the sine rule in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𝑆</m:t>
                    </m:r>
                    <m:r>
                      <a:rPr lang="en-IN" sz="2400" i="1">
                        <a:solidFill>
                          <a:srgbClr val="78350F"/>
                        </a:solidFill>
                        <a:latin typeface="Cambria Math" panose="02040503050406030204" pitchFamily="18" charset="0"/>
                      </a:rPr>
                      <m:t>𝑇</m:t>
                    </m:r>
                  </m:oMath>
                </a14:m>
                <a:r>
                  <a:rPr sz="2400" b="0">
                    <a:solidFill>
                      <a:srgbClr val="78350F"/>
                    </a:solidFill>
                    <a:latin typeface="Arial"/>
                  </a:rPr>
                  <a:t> to get </a:t>
                </a:r>
                <a14:m>
                  <m:oMath xmlns:m="http://schemas.openxmlformats.org/officeDocument/2006/math">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α</m:t>
                        </m:r>
                      </m:num>
                      <m:den>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β</m:t>
                        </m:r>
                      </m:den>
                    </m:f>
                  </m:oMath>
                </a14:m>
                <a:r>
                  <a:rPr sz="2400" b="0">
                    <a:solidFill>
                      <a:srgbClr val="78350F"/>
                    </a:solidFill>
                    <a:latin typeface="Arial"/>
                  </a:rPr>
                  <a:t>, then eliminate </a:t>
                </a:r>
                <a14:m>
                  <m:oMath xmlns:m="http://schemas.openxmlformats.org/officeDocument/2006/math">
                    <m:r>
                      <a:rPr lang="en-IN" sz="2400" i="1">
                        <a:solidFill>
                          <a:srgbClr val="78350F"/>
                        </a:solidFill>
                        <a:latin typeface="Cambria Math" panose="02040503050406030204" pitchFamily="18" charset="0"/>
                      </a:rPr>
                      <m:t>θ</m:t>
                    </m:r>
                  </m:oMath>
                </a14:m>
                <a:r>
                  <a:rPr sz="2400" b="0">
                    <a:solidFill>
                      <a:srgbClr val="78350F"/>
                    </a:solidFill>
                    <a:latin typeface="Arial"/>
                  </a:rPr>
                  <a:t> using the tangent's slope.</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Apply the sine rule in </a:t>
                </a:r>
                <a:r>
                  <a:rPr lang="en-IN" sz="2400">
                    <a:solidFill>
                      <a:srgbClr val="78350F"/>
                    </a:solidFill>
                    <a:latin typeface="Cambria Math" panose="02040503050406030204" pitchFamily="18" charset="0"/>
                  </a:rPr>
                  <a:t>$\triangle PST$</a:t>
                </a:r>
                <a:r>
                  <a:rPr sz="2400" b="0">
                    <a:solidFill>
                      <a:srgbClr val="78350F"/>
                    </a:solidFill>
                    <a:latin typeface="Arial"/>
                  </a:rPr>
                  <a:t> to get </a:t>
                </a:r>
                <a:r>
                  <a:rPr lang="en-IN" sz="2400">
                    <a:solidFill>
                      <a:srgbClr val="78350F"/>
                    </a:solidFill>
                    <a:latin typeface="Cambria Math" panose="02040503050406030204" pitchFamily="18" charset="0"/>
                  </a:rPr>
                  <a:t>$\cos\theta=\frac{\sin\alpha}{\sin\beta}$</a:t>
                </a:r>
                <a:r>
                  <a:rPr sz="2400" b="0">
                    <a:solidFill>
                      <a:srgbClr val="78350F"/>
                    </a:solidFill>
                    <a:latin typeface="Arial"/>
                  </a:rPr>
                  <a:t>, then eliminate </a:t>
                </a:r>
                <a:r>
                  <a:rPr lang="en-IN" sz="2400">
                    <a:solidFill>
                      <a:srgbClr val="78350F"/>
                    </a:solidFill>
                    <a:latin typeface="Cambria Math" panose="02040503050406030204" pitchFamily="18" charset="0"/>
                  </a:rPr>
                  <a:t>$\theta$</a:t>
                </a:r>
                <a:r>
                  <a:rPr sz="2400" b="0">
                    <a:solidFill>
                      <a:srgbClr val="78350F"/>
                    </a:solidFill>
                    <a:latin typeface="Arial"/>
                  </a:rPr>
                  <a:t> using the tangent's slope.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the point of contact,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focus and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point where the tangent meets the major axis.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𝑇</m:t>
                    </m:r>
                  </m:oMath>
                </a14:m>
                <a:r>
                  <a:rPr sz="2400" b="0">
                    <a:solidFill>
                      <a:srgbClr val="111827"/>
                    </a:solidFill>
                    <a:latin typeface="Arial"/>
                  </a:rPr>
                  <a:t> apply the sine rule: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num>
                      <m:den>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𝑇</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β</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β</m:t>
                        </m:r>
                      </m:den>
                    </m:f>
                  </m:oMath>
                </a14:m>
                <a:r>
                  <a:rPr sz="2400" b="0">
                    <a:solidFill>
                      <a:srgbClr val="111827"/>
                    </a:solidFill>
                    <a:latin typeface="Arial"/>
                  </a:rPr>
                  <a:t>, which gives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β</m:t>
                        </m:r>
                      </m:den>
                    </m:f>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of the tangent: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$P(a\cos\theta,b\sin\theta)$</a:t>
                </a:r>
                <a:r>
                  <a:rPr sz="2400" b="0">
                    <a:solidFill>
                      <a:srgbClr val="111827"/>
                    </a:solidFill>
                    <a:latin typeface="Arial"/>
                  </a:rPr>
                  <a:t> be the point of contact, </a:t>
                </a:r>
                <a:r>
                  <a:rPr lang="en-IN" sz="2400">
                    <a:solidFill>
                      <a:srgbClr val="111827"/>
                    </a:solidFill>
                    <a:latin typeface="Cambria Math" panose="02040503050406030204" pitchFamily="18" charset="0"/>
                  </a:rPr>
                  <a:t>$S(ae,0)$</a:t>
                </a:r>
                <a:r>
                  <a:rPr sz="2400" b="0">
                    <a:solidFill>
                      <a:srgbClr val="111827"/>
                    </a:solidFill>
                    <a:latin typeface="Arial"/>
                  </a:rPr>
                  <a:t> the focus and </a:t>
                </a:r>
                <a:r>
                  <a:rPr lang="en-IN" sz="2400">
                    <a:solidFill>
                      <a:srgbClr val="111827"/>
                    </a:solidFill>
                    <a:latin typeface="Cambria Math" panose="02040503050406030204" pitchFamily="18" charset="0"/>
                  </a:rPr>
                  <a:t>$T(a\sec\theta,0)$</a:t>
                </a:r>
                <a:r>
                  <a:rPr sz="2400" b="0">
                    <a:solidFill>
                      <a:srgbClr val="111827"/>
                    </a:solidFill>
                    <a:latin typeface="Arial"/>
                  </a:rPr>
                  <a:t> the point where the tangent meets the major axis. In </a:t>
                </a:r>
                <a:r>
                  <a:rPr lang="en-IN" sz="2400">
                    <a:solidFill>
                      <a:srgbClr val="111827"/>
                    </a:solidFill>
                    <a:latin typeface="Cambria Math" panose="02040503050406030204" pitchFamily="18" charset="0"/>
                  </a:rPr>
                  <a:t>$\triangle PST$</a:t>
                </a:r>
                <a:r>
                  <a:rPr sz="2400" b="0">
                    <a:solidFill>
                      <a:srgbClr val="111827"/>
                    </a:solidFill>
                    <a:latin typeface="Arial"/>
                  </a:rPr>
                  <a:t> apply the sine rule: </a:t>
                </a:r>
                <a:r>
                  <a:rPr lang="en-IN" sz="2400">
                    <a:solidFill>
                      <a:srgbClr val="111827"/>
                    </a:solidFill>
                    <a:latin typeface="Cambria Math" panose="02040503050406030204" pitchFamily="18" charset="0"/>
                  </a:rPr>
                  <a:t>$\frac{PS}{\sin(\pi-\alpha)}=\frac{ST}{\sin\beta}$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$PS=a(1-e\cos\theta)$</a:t>
                </a:r>
                <a:r>
                  <a:rPr sz="2400" b="0">
                    <a:solidFill>
                      <a:srgbClr val="111827"/>
                    </a:solidFill>
                    <a:latin typeface="Arial"/>
                  </a:rPr>
                  <a:t> and </a:t>
                </a:r>
                <a:r>
                  <a:rPr lang="en-IN" sz="2400">
                    <a:solidFill>
                      <a:srgbClr val="111827"/>
                    </a:solidFill>
                    <a:latin typeface="Cambria Math" panose="02040503050406030204" pitchFamily="18" charset="0"/>
                  </a:rPr>
                  <a:t>$ST=a\sec\theta-ae=\frac{a(1-e\cos\theta)}{\cos\theta}$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$\frac{a(1-e\cos\theta)}{\sin\alpha}=\frac{a(1-e\cos\theta)}{\cos\theta\,\sin\beta}$</a:t>
                </a:r>
                <a:r>
                  <a:rPr sz="2400" b="0">
                    <a:solidFill>
                      <a:srgbClr val="111827"/>
                    </a:solidFill>
                    <a:latin typeface="Arial"/>
                  </a:rPr>
                  <a:t>, which gives </a:t>
                </a:r>
                <a:r>
                  <a:rPr lang="en-IN" sz="2400">
                    <a:solidFill>
                      <a:srgbClr val="111827"/>
                    </a:solidFill>
                    <a:latin typeface="Cambria Math" panose="02040503050406030204" pitchFamily="18" charset="0"/>
                  </a:rPr>
                  <a:t>$\cos\theta=\frac{\sin\alpha}{\sin\beta}$</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of the tangent: </a:t>
                </a:r>
                <a:r>
                  <a:rPr lang="en-IN" sz="2400">
                    <a:solidFill>
                      <a:srgbClr val="111827"/>
                    </a:solidFill>
                    <a:latin typeface="Cambria Math" panose="02040503050406030204" pitchFamily="18" charset="0"/>
                  </a:rPr>
                  <a:t>$-\frac{b}{a}\cot\theta=\tan\alpha$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 </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(1), </a:t>
                </a:r>
                <a14:m>
                  <m:oMath xmlns:m="http://schemas.openxmlformats.org/officeDocument/2006/math">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β</m:t>
                        </m:r>
                      </m:num>
                      <m:den>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den>
                    </m:f>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β</m:t>
                        </m:r>
                      </m:num>
                      <m:den>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β</m:t>
                        </m:r>
                      </m:num>
                      <m:den>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den>
                        </m:f>
                      </m:e>
                    </m:d>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$\frac{b^2}{a^2}=\tan^2\alpha\,\tan^2\theta=\tan^2\alpha(\sec^2\theta-1)$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(1), </a:t>
                </a:r>
                <a:r>
                  <a:rPr lang="en-IN" sz="2400">
                    <a:solidFill>
                      <a:srgbClr val="111827"/>
                    </a:solidFill>
                    <a:latin typeface="Cambria Math" panose="02040503050406030204" pitchFamily="18" charset="0"/>
                  </a:rPr>
                  <a:t>$\sec^2\theta=\frac{\sin^2\beta}{\sin^2\alpha}$</a:t>
                </a:r>
                <a:r>
                  <a:rPr sz="2400" b="0">
                    <a:solidFill>
                      <a:srgbClr val="111827"/>
                    </a:solidFill>
                    <a:latin typeface="Arial"/>
                  </a:rPr>
                  <a:t>, so </a:t>
                </a:r>
                <a:r>
                  <a:rPr lang="en-IN" sz="2400">
                    <a:solidFill>
                      <a:srgbClr val="111827"/>
                    </a:solidFill>
                    <a:latin typeface="Cambria Math" panose="02040503050406030204" pitchFamily="18" charset="0"/>
                  </a:rPr>
                  <a:t>$\frac{b^2}{a^2}=\tan^2\alpha\cdot\frac{\sin^2\beta-\sin^2\alpha}{\sin^2\alpha}=\frac{\sin^2\beta-\sin^2\alpha}{\cos^2\alpha}$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$e^2=1-\frac{b^2}{a^2}=\frac{\cos^2\alpha-\sin^2\beta+\sin^2\alpha}{\cos^2\alpha}=\frac{1-\sin^2\beta}{\cos^2\alpha}=\frac{\cos^2\beta}{\cos^2\alpha}$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$e=\left|\frac{\cos\beta}{\cos\alpha}\right|$</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𝑒</m:t>
                    </m:r>
                    <m:r>
                      <m:rPr>
                        <m:sty m:val="p"/>
                      </m:rPr>
                      <a:rPr lang="en-IN" sz="2800">
                        <a:solidFill>
                          <a:srgbClr val="15803D"/>
                        </a:solidFill>
                        <a:latin typeface="Cambria Math" panose="02040503050406030204" pitchFamily="18" charset="0"/>
                      </a:rPr>
                      <m:t>=</m:t>
                    </m:r>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m:rPr>
                                <m:sty m:val="p"/>
                              </m:rPr>
                              <a:rPr lang="en-IN" sz="2800">
                                <a:solidFill>
                                  <a:srgbClr val="15803D"/>
                                </a:solidFill>
                                <a:latin typeface="Cambria Math" panose="02040503050406030204" pitchFamily="18" charset="0"/>
                              </a:rPr>
                              <m:t>cos</m:t>
                            </m:r>
                            <m:r>
                              <a:rPr lang="en-IN" sz="2800" i="1">
                                <a:solidFill>
                                  <a:srgbClr val="15803D"/>
                                </a:solidFill>
                                <a:latin typeface="Cambria Math" panose="02040503050406030204" pitchFamily="18" charset="0"/>
                              </a:rPr>
                              <m:t>β</m:t>
                            </m:r>
                          </m:num>
                          <m:den>
                            <m:r>
                              <m:rPr>
                                <m:sty m:val="p"/>
                              </m:rPr>
                              <a:rPr lang="en-IN" sz="2800">
                                <a:solidFill>
                                  <a:srgbClr val="15803D"/>
                                </a:solidFill>
                                <a:latin typeface="Cambria Math" panose="02040503050406030204" pitchFamily="18" charset="0"/>
                              </a:rPr>
                              <m:t>cos</m:t>
                            </m:r>
                            <m:r>
                              <a:rPr lang="en-IN" sz="2800" i="1">
                                <a:solidFill>
                                  <a:srgbClr val="15803D"/>
                                </a:solidFill>
                                <a:latin typeface="Cambria Math" panose="02040503050406030204" pitchFamily="18" charset="0"/>
                              </a:rPr>
                              <m:t>α</m:t>
                            </m:r>
                          </m:den>
                        </m:f>
                      </m:e>
                    </m:d>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$e=\left|\frac{\cos\beta}{\cos\alpha}\right|$</a:t>
                </a:r>
                <a:endParaRPr sz="2800">
                  <a:solidFill>
                    <a:srgbClr val="15803D"/>
                  </a:solidFill>
                </a:endParaRPr>
              </a:p>
            </p:txBody>
          </p:sp>
        </mc:Fallback>
      </mc:AlternateContent>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both foci: the tangent makes the same angle </a:t>
                </a:r>
                <a14:m>
                  <m:oMath xmlns:m="http://schemas.openxmlformats.org/officeDocument/2006/math">
                    <m:r>
                      <a:rPr lang="en-IN" sz="2400" i="1">
                        <a:solidFill>
                          <a:srgbClr val="78350F"/>
                        </a:solidFill>
                        <a:latin typeface="Cambria Math" panose="02040503050406030204" pitchFamily="18" charset="0"/>
                      </a:rPr>
                      <m:t>β</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𝑆</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𝑃</m:t>
                    </m:r>
                    <m:sSup>
                      <m:e>
                        <m:r>
                          <a:rPr lang="en-IN" sz="2400" i="1">
                            <a:solidFill>
                              <a:srgbClr val="78350F"/>
                            </a:solidFill>
                            <a:latin typeface="Cambria Math" panose="02040503050406030204" pitchFamily="18" charset="0"/>
                          </a:rPr>
                          <m:t>𝑆</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so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𝑆</m:t>
                    </m:r>
                    <m:r>
                      <a:rPr lang="en-IN" sz="2400" i="1">
                        <a:solidFill>
                          <a:srgbClr val="78350F"/>
                        </a:solidFill>
                        <a:latin typeface="Cambria Math" panose="02040503050406030204" pitchFamily="18" charset="0"/>
                      </a:rPr>
                      <m:t>𝑃</m:t>
                    </m:r>
                    <m:sSup>
                      <m:e>
                        <m:r>
                          <a:rPr lang="en-IN" sz="2400" i="1">
                            <a:solidFill>
                              <a:srgbClr val="78350F"/>
                            </a:solidFill>
                            <a:latin typeface="Cambria Math" panose="02040503050406030204" pitchFamily="18" charset="0"/>
                          </a:rPr>
                          <m:t>𝑆</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has angles </a:t>
                </a:r>
                <a14:m>
                  <m:oMath xmlns:m="http://schemas.openxmlformats.org/officeDocument/2006/math">
                    <m:r>
                      <a:rPr lang="en-IN" sz="2400" i="1">
                        <a:solidFill>
                          <a:srgbClr val="78350F"/>
                        </a:solidFill>
                        <a:latin typeface="Cambria Math" panose="02040503050406030204" pitchFamily="18" charset="0"/>
                      </a:rPr>
                      <m:t>π</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β</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β</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α</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𝑒</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𝑆</m:t>
                        </m:r>
                        <m:sSup>
                          <m:e>
                            <m:r>
                              <a:rPr lang="en-IN" sz="2400" i="1">
                                <a:solidFill>
                                  <a:srgbClr val="78350F"/>
                                </a:solidFill>
                                <a:latin typeface="Cambria Math" panose="02040503050406030204" pitchFamily="18" charset="0"/>
                              </a:rPr>
                              <m:t>𝑆</m:t>
                            </m:r>
                          </m:e>
                          <m:sup>
                            <m:r>
                              <m:rPr>
                                <m:sty m:val="p"/>
                              </m:rPr>
                              <a:rPr lang="en-IN" sz="2400">
                                <a:solidFill>
                                  <a:srgbClr val="78350F"/>
                                </a:solidFill>
                                <a:latin typeface="Cambria Math" panose="02040503050406030204" pitchFamily="18" charset="0"/>
                              </a:rPr>
                              <m:t>′</m:t>
                            </m:r>
                          </m:sup>
                        </m:sSup>
                      </m:num>
                      <m:den>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sSup>
                          <m:e>
                            <m:r>
                              <a:rPr lang="en-IN" sz="2400" i="1">
                                <a:solidFill>
                                  <a:srgbClr val="78350F"/>
                                </a:solidFill>
                                <a:latin typeface="Cambria Math" panose="02040503050406030204" pitchFamily="18" charset="0"/>
                              </a:rPr>
                              <m:t>𝑆</m:t>
                            </m:r>
                          </m:e>
                          <m:sup>
                            <m:r>
                              <m:rPr>
                                <m:sty m:val="p"/>
                              </m:rPr>
                              <a:rPr lang="en-IN" sz="2400">
                                <a:solidFill>
                                  <a:srgbClr val="78350F"/>
                                </a:solidFill>
                                <a:latin typeface="Cambria Math" panose="02040503050406030204" pitchFamily="18" charset="0"/>
                              </a:rPr>
                              <m:t>′</m:t>
                            </m:r>
                          </m:sup>
                        </m:sSup>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both foci: the tangent makes the same angle </a:t>
                </a:r>
                <a:r>
                  <a:rPr lang="en-IN" sz="2400">
                    <a:solidFill>
                      <a:srgbClr val="78350F"/>
                    </a:solidFill>
                    <a:latin typeface="Cambria Math" panose="02040503050406030204" pitchFamily="18" charset="0"/>
                  </a:rPr>
                  <a:t>$\beta$</a:t>
                </a:r>
                <a:r>
                  <a:rPr sz="2400" b="0">
                    <a:solidFill>
                      <a:srgbClr val="78350F"/>
                    </a:solidFill>
                    <a:latin typeface="Arial"/>
                  </a:rPr>
                  <a:t> with </a:t>
                </a:r>
                <a:r>
                  <a:rPr lang="en-IN" sz="2400">
                    <a:solidFill>
                      <a:srgbClr val="78350F"/>
                    </a:solidFill>
                    <a:latin typeface="Cambria Math" panose="02040503050406030204" pitchFamily="18" charset="0"/>
                  </a:rPr>
                  <a:t>$PS$</a:t>
                </a:r>
                <a:r>
                  <a:rPr sz="2400" b="0">
                    <a:solidFill>
                      <a:srgbClr val="78350F"/>
                    </a:solidFill>
                    <a:latin typeface="Arial"/>
                  </a:rPr>
                  <a:t> and </a:t>
                </a:r>
                <a:r>
                  <a:rPr lang="en-IN" sz="2400">
                    <a:solidFill>
                      <a:srgbClr val="78350F"/>
                    </a:solidFill>
                    <a:latin typeface="Cambria Math" panose="02040503050406030204" pitchFamily="18" charset="0"/>
                  </a:rPr>
                  <a:t>$PS'$</a:t>
                </a:r>
                <a:r>
                  <a:rPr sz="2400" b="0">
                    <a:solidFill>
                      <a:srgbClr val="78350F"/>
                    </a:solidFill>
                    <a:latin typeface="Arial"/>
                  </a:rPr>
                  <a:t>, so </a:t>
                </a:r>
                <a:r>
                  <a:rPr lang="en-IN" sz="2400">
                    <a:solidFill>
                      <a:srgbClr val="78350F"/>
                    </a:solidFill>
                    <a:latin typeface="Cambria Math" panose="02040503050406030204" pitchFamily="18" charset="0"/>
                  </a:rPr>
                  <a:t>$\triangle SPS'$</a:t>
                </a:r>
                <a:r>
                  <a:rPr sz="2400" b="0">
                    <a:solidFill>
                      <a:srgbClr val="78350F"/>
                    </a:solidFill>
                    <a:latin typeface="Arial"/>
                  </a:rPr>
                  <a:t> has angles </a:t>
                </a:r>
                <a:r>
                  <a:rPr lang="en-IN" sz="2400">
                    <a:solidFill>
                      <a:srgbClr val="78350F"/>
                    </a:solidFill>
                    <a:latin typeface="Cambria Math" panose="02040503050406030204" pitchFamily="18" charset="0"/>
                  </a:rPr>
                  <a:t>$\pi-2\beta,\ \alpha+\beta,\ \beta-\alpha$</a:t>
                </a:r>
                <a:r>
                  <a:rPr sz="2400" b="0">
                    <a:solidFill>
                      <a:srgbClr val="78350F"/>
                    </a:solidFill>
                    <a:latin typeface="Arial"/>
                  </a:rPr>
                  <a:t>, and </a:t>
                </a:r>
                <a:r>
                  <a:rPr lang="en-IN" sz="2400">
                    <a:solidFill>
                      <a:srgbClr val="78350F"/>
                    </a:solidFill>
                    <a:latin typeface="Cambria Math" panose="02040503050406030204" pitchFamily="18" charset="0"/>
                  </a:rPr>
                  <a:t>$e=\frac{SS'}{PS+PS'}$</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be the foci. By the reflection property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makes equal angles with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𝑇</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on the axis, beyond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the angles are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so the exterior angle at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$S,S'$</a:t>
                </a:r>
                <a:r>
                  <a:rPr sz="2400" b="0">
                    <a:solidFill>
                      <a:srgbClr val="111827"/>
                    </a:solidFill>
                    <a:latin typeface="Arial"/>
                  </a:rPr>
                  <a:t> be the foci. By the reflection property the tangent at </a:t>
                </a:r>
                <a:r>
                  <a:rPr lang="en-IN" sz="2400">
                    <a:solidFill>
                      <a:srgbClr val="111827"/>
                    </a:solidFill>
                    <a:latin typeface="Cambria Math" panose="02040503050406030204" pitchFamily="18" charset="0"/>
                  </a:rPr>
                  <a:t>$P$</a:t>
                </a:r>
                <a:r>
                  <a:rPr sz="2400" b="0">
                    <a:solidFill>
                      <a:srgbClr val="111827"/>
                    </a:solidFill>
                    <a:latin typeface="Arial"/>
                  </a:rPr>
                  <a:t> makes equal angles with </a:t>
                </a:r>
                <a:r>
                  <a:rPr lang="en-IN" sz="2400">
                    <a:solidFill>
                      <a:srgbClr val="111827"/>
                    </a:solidFill>
                    <a:latin typeface="Cambria Math" panose="02040503050406030204" pitchFamily="18" charset="0"/>
                  </a:rPr>
                  <a:t>$PS$</a:t>
                </a:r>
                <a:r>
                  <a:rPr sz="2400" b="0">
                    <a:solidFill>
                      <a:srgbClr val="111827"/>
                    </a:solidFill>
                    <a:latin typeface="Arial"/>
                  </a:rPr>
                  <a:t> and </a:t>
                </a:r>
                <a:r>
                  <a:rPr lang="en-IN" sz="2400">
                    <a:solidFill>
                      <a:srgbClr val="111827"/>
                    </a:solidFill>
                    <a:latin typeface="Cambria Math" panose="02040503050406030204" pitchFamily="18" charset="0"/>
                  </a:rPr>
                  <a:t>$PS'$</a:t>
                </a:r>
                <a:r>
                  <a:rPr sz="2400" b="0">
                    <a:solidFill>
                      <a:srgbClr val="111827"/>
                    </a:solidFill>
                    <a:latin typeface="Arial"/>
                  </a:rPr>
                  <a:t>, so </a:t>
                </a:r>
                <a:r>
                  <a:rPr lang="en-IN" sz="2400">
                    <a:solidFill>
                      <a:srgbClr val="111827"/>
                    </a:solidFill>
                    <a:latin typeface="Cambria Math" panose="02040503050406030204" pitchFamily="18" charset="0"/>
                  </a:rPr>
                  <a:t>$\angle SPS'=\pi-2\beta$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r>
                  <a:rPr lang="en-IN" sz="2400">
                    <a:solidFill>
                      <a:srgbClr val="111827"/>
                    </a:solidFill>
                    <a:latin typeface="Cambria Math" panose="02040503050406030204" pitchFamily="18" charset="0"/>
                  </a:rPr>
                  <a:t>$\triangle PST$</a:t>
                </a:r>
                <a:r>
                  <a:rPr sz="2400" b="0">
                    <a:solidFill>
                      <a:srgbClr val="111827"/>
                    </a:solidFill>
                    <a:latin typeface="Arial"/>
                  </a:rPr>
                  <a:t> (with </a:t>
                </a:r>
                <a:r>
                  <a:rPr lang="en-IN" sz="2400">
                    <a:solidFill>
                      <a:srgbClr val="111827"/>
                    </a:solidFill>
                    <a:latin typeface="Cambria Math" panose="02040503050406030204" pitchFamily="18" charset="0"/>
                  </a:rPr>
                  <a:t>$T$</a:t>
                </a:r>
                <a:r>
                  <a:rPr sz="2400" b="0">
                    <a:solidFill>
                      <a:srgbClr val="111827"/>
                    </a:solidFill>
                    <a:latin typeface="Arial"/>
                  </a:rPr>
                  <a:t> on the axis, beyond </a:t>
                </a:r>
                <a:r>
                  <a:rPr lang="en-IN" sz="2400">
                    <a:solidFill>
                      <a:srgbClr val="111827"/>
                    </a:solidFill>
                    <a:latin typeface="Cambria Math" panose="02040503050406030204" pitchFamily="18" charset="0"/>
                  </a:rPr>
                  <a:t>$S$</a:t>
                </a:r>
                <a:r>
                  <a:rPr sz="2400" b="0">
                    <a:solidFill>
                      <a:srgbClr val="111827"/>
                    </a:solidFill>
                    <a:latin typeface="Arial"/>
                  </a:rPr>
                  <a:t>) the angles are </a:t>
                </a:r>
                <a:r>
                  <a:rPr lang="en-IN" sz="2400">
                    <a:solidFill>
                      <a:srgbClr val="111827"/>
                    </a:solidFill>
                    <a:latin typeface="Cambria Math" panose="02040503050406030204" pitchFamily="18" charset="0"/>
                  </a:rPr>
                  <a:t>$\alpha$</a:t>
                </a:r>
                <a:r>
                  <a:rPr sz="2400" b="0">
                    <a:solidFill>
                      <a:srgbClr val="111827"/>
                    </a:solidFill>
                    <a:latin typeface="Arial"/>
                  </a:rPr>
                  <a:t> at </a:t>
                </a:r>
                <a:r>
                  <a:rPr lang="en-IN" sz="2400">
                    <a:solidFill>
                      <a:srgbClr val="111827"/>
                    </a:solidFill>
                    <a:latin typeface="Cambria Math" panose="02040503050406030204" pitchFamily="18" charset="0"/>
                  </a:rPr>
                  <a:t>$T$</a:t>
                </a:r>
                <a:r>
                  <a:rPr sz="2400" b="0">
                    <a:solidFill>
                      <a:srgbClr val="111827"/>
                    </a:solidFill>
                    <a:latin typeface="Arial"/>
                  </a:rPr>
                  <a:t>, </a:t>
                </a:r>
                <a:r>
                  <a:rPr lang="en-IN" sz="2400">
                    <a:solidFill>
                      <a:srgbClr val="111827"/>
                    </a:solidFill>
                    <a:latin typeface="Cambria Math" panose="02040503050406030204" pitchFamily="18" charset="0"/>
                  </a:rPr>
                  <a:t>$\beta$</a:t>
                </a:r>
                <a:r>
                  <a:rPr sz="2400" b="0">
                    <a:solidFill>
                      <a:srgbClr val="111827"/>
                    </a:solidFill>
                    <a:latin typeface="Arial"/>
                  </a:rPr>
                  <a:t> at </a:t>
                </a:r>
                <a:r>
                  <a:rPr lang="en-IN" sz="2400">
                    <a:solidFill>
                      <a:srgbClr val="111827"/>
                    </a:solidFill>
                    <a:latin typeface="Cambria Math" panose="02040503050406030204" pitchFamily="18" charset="0"/>
                  </a:rPr>
                  <a:t>$P$</a:t>
                </a:r>
                <a:r>
                  <a:rPr sz="2400" b="0">
                    <a:solidFill>
                      <a:srgbClr val="111827"/>
                    </a:solidFill>
                    <a:latin typeface="Arial"/>
                  </a:rPr>
                  <a:t>; so the exterior angle at </a:t>
                </a:r>
                <a:r>
                  <a:rPr lang="en-IN" sz="2400">
                    <a:solidFill>
                      <a:srgbClr val="111827"/>
                    </a:solidFill>
                    <a:latin typeface="Cambria Math" panose="02040503050406030204" pitchFamily="18" charset="0"/>
                  </a:rPr>
                  <a:t>$S$</a:t>
                </a:r>
                <a:r>
                  <a:rPr sz="2400" b="0">
                    <a:solidFill>
                      <a:srgbClr val="111827"/>
                    </a:solidFill>
                    <a:latin typeface="Arial"/>
                  </a:rPr>
                  <a:t> is </a:t>
                </a:r>
                <a:r>
                  <a:rPr lang="en-IN" sz="2400">
                    <a:solidFill>
                      <a:srgbClr val="111827"/>
                    </a:solidFill>
                    <a:latin typeface="Cambria Math" panose="02040503050406030204" pitchFamily="18" charset="0"/>
                  </a:rPr>
                  <a:t>$\angle PSS'=\alpha+\beta$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$\angle PS'S=\pi-(\pi-2\beta)-(\alpha+\beta)=\beta-\alpha$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Sine rule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with the standard ratio property: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𝑆</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num>
                      <m:den>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num>
                      <m:den>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den>
                    </m:f>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num>
                      <m:den>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den>
                    </m:f>
                  </m:oMath>
                </a14:m>
                <a:r>
                  <a:rPr sz="2400" b="0">
                    <a:solidFill>
                      <a:srgbClr val="111827"/>
                    </a:solidFill>
                    <a:latin typeface="Arial"/>
                  </a:rPr>
                  <a:t> (absolute value for orientation).</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Sine rule in </a:t>
                </a:r>
                <a:r>
                  <a:rPr lang="en-IN" sz="2400">
                    <a:solidFill>
                      <a:srgbClr val="111827"/>
                    </a:solidFill>
                    <a:latin typeface="Cambria Math" panose="02040503050406030204" pitchFamily="18" charset="0"/>
                  </a:rPr>
                  <a:t>$\triangle SPS'$</a:t>
                </a:r>
                <a:r>
                  <a:rPr sz="2400" b="0">
                    <a:solidFill>
                      <a:srgbClr val="111827"/>
                    </a:solidFill>
                    <a:latin typeface="Arial"/>
                  </a:rPr>
                  <a:t> with the standard ratio property: </a:t>
                </a:r>
                <a:r>
                  <a:rPr lang="en-IN" sz="2400">
                    <a:solidFill>
                      <a:srgbClr val="111827"/>
                    </a:solidFill>
                    <a:latin typeface="Cambria Math" panose="02040503050406030204" pitchFamily="18" charset="0"/>
                  </a:rPr>
                  <a:t>$\frac{SS'}{\sin\angle P}=\frac{PS+PS'}{\sin\angle S'+\sin\angle S}$</a:t>
                </a:r>
                <a:r>
                  <a:rPr sz="2400" b="0">
                    <a:solidFill>
                      <a:srgbClr val="111827"/>
                    </a:solidFill>
                    <a:latin typeface="Arial"/>
                  </a:rPr>
                  <a:t>, i.e. </a:t>
                </a:r>
                <a:r>
                  <a:rPr lang="en-IN" sz="2400">
                    <a:solidFill>
                      <a:srgbClr val="111827"/>
                    </a:solidFill>
                    <a:latin typeface="Cambria Math" panose="02040503050406030204" pitchFamily="18" charset="0"/>
                  </a:rPr>
                  <a:t>$\frac{2ae}{\sin 2\beta}=\frac{2a}{\sin(\beta-\alpha)+\sin(\beta+\alpha)}$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$\sin(\beta-\alpha)+\sin(\beta+\alpha)=2\sin\beta\cos\alpha$</a:t>
                </a:r>
                <a:r>
                  <a:rPr sz="2400" b="0">
                    <a:solidFill>
                      <a:srgbClr val="111827"/>
                    </a:solidFill>
                    <a:latin typeface="Arial"/>
                  </a:rPr>
                  <a:t>, so </a:t>
                </a:r>
                <a:r>
                  <a:rPr lang="en-IN" sz="2400">
                    <a:solidFill>
                      <a:srgbClr val="111827"/>
                    </a:solidFill>
                    <a:latin typeface="Cambria Math" panose="02040503050406030204" pitchFamily="18" charset="0"/>
                  </a:rPr>
                  <a:t>$e=\frac{\sin2\beta}{2\sin\beta\cos\alpha}=\frac{\cos\beta}{\cos\alpha}$</a:t>
                </a:r>
                <a:r>
                  <a:rPr sz="2400" b="0">
                    <a:solidFill>
                      <a:srgbClr val="111827"/>
                    </a:solidFill>
                    <a:latin typeface="Arial"/>
                  </a:rPr>
                  <a:t> (absolute value for orientation).</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𝑒</m:t>
                    </m:r>
                    <m:r>
                      <m:rPr>
                        <m:sty m:val="p"/>
                      </m:rPr>
                      <a:rPr lang="en-IN" sz="2800">
                        <a:solidFill>
                          <a:srgbClr val="15803D"/>
                        </a:solidFill>
                        <a:latin typeface="Cambria Math" panose="02040503050406030204" pitchFamily="18" charset="0"/>
                      </a:rPr>
                      <m:t>=</m:t>
                    </m:r>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m:rPr>
                                <m:sty m:val="p"/>
                              </m:rPr>
                              <a:rPr lang="en-IN" sz="2800">
                                <a:solidFill>
                                  <a:srgbClr val="15803D"/>
                                </a:solidFill>
                                <a:latin typeface="Cambria Math" panose="02040503050406030204" pitchFamily="18" charset="0"/>
                              </a:rPr>
                              <m:t>cos</m:t>
                            </m:r>
                            <m:r>
                              <a:rPr lang="en-IN" sz="2800" i="1">
                                <a:solidFill>
                                  <a:srgbClr val="15803D"/>
                                </a:solidFill>
                                <a:latin typeface="Cambria Math" panose="02040503050406030204" pitchFamily="18" charset="0"/>
                              </a:rPr>
                              <m:t>β</m:t>
                            </m:r>
                          </m:num>
                          <m:den>
                            <m:r>
                              <m:rPr>
                                <m:sty m:val="p"/>
                              </m:rPr>
                              <a:rPr lang="en-IN" sz="2800">
                                <a:solidFill>
                                  <a:srgbClr val="15803D"/>
                                </a:solidFill>
                                <a:latin typeface="Cambria Math" panose="02040503050406030204" pitchFamily="18" charset="0"/>
                              </a:rPr>
                              <m:t>cos</m:t>
                            </m:r>
                            <m:r>
                              <a:rPr lang="en-IN" sz="2800" i="1">
                                <a:solidFill>
                                  <a:srgbClr val="15803D"/>
                                </a:solidFill>
                                <a:latin typeface="Cambria Math" panose="02040503050406030204" pitchFamily="18" charset="0"/>
                              </a:rPr>
                              <m:t>α</m:t>
                            </m:r>
                          </m:den>
                        </m:f>
                      </m:e>
                    </m:d>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$e=\left|\frac{\cos\beta}{\cos\alpha}\right|$</a:t>
                </a:r>
                <a:endParaRPr sz="2800">
                  <a:solidFill>
                    <a:srgbClr val="15803D"/>
                  </a:solidFill>
                </a:endParaRPr>
              </a:p>
            </p:txBody>
          </p:sp>
        </mc:Fallback>
      </mc:AlternateContent>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any triangle,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𝐴</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𝐵</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𝐶</m:t>
                        </m:r>
                      </m:den>
                    </m:f>
                  </m:oMath>
                </a14:m>
                <a:r>
                  <a:rPr sz="2400" b="0">
                    <a:solidFill>
                      <a:srgbClr val="111827"/>
                    </a:solidFill>
                    <a:latin typeface="Arial"/>
                  </a:rPr>
                  <a:t> implies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𝐴</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𝐶</m:t>
                        </m:r>
                      </m:den>
                    </m:f>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𝑎</m:t>
                        </m:r>
                      </m:e>
                      <m:sub>
                        <m:r>
                          <m:rPr>
                            <m:nor/>
                          </m:rPr>
                          <a:rPr lang="en-IN" sz="2400" i="1">
                            <a:solidFill>
                              <a:srgbClr val="111827"/>
                            </a:solidFill>
                            <a:latin typeface="Cambria Math" panose="02040503050406030204" pitchFamily="18" charset="0"/>
                          </a:rPr>
                          <m:t>𝑒𝑙𝑙</m:t>
                        </m:r>
                      </m:sub>
                    </m:sSub>
                  </m:oMath>
                </a14:m>
                <a:r>
                  <a:rPr sz="2400" b="0">
                    <a:solidFill>
                      <a:srgbClr val="111827"/>
                    </a:solidFill>
                    <a:latin typeface="Arial"/>
                  </a:rPr>
                  <a:t> this gives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𝑃</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Reflection property: the tangent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makes equal angles with the two focal radii (bisects the external (internal) angle).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Focal distances: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meets the major axis at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is the foot of the ordinate.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any triangle, </a:t>
                </a:r>
                <a:r>
                  <a:rPr lang="en-IN" sz="2400">
                    <a:solidFill>
                      <a:srgbClr val="111827"/>
                    </a:solidFill>
                    <a:latin typeface="Cambria Math" panose="02040503050406030204" pitchFamily="18" charset="0"/>
                  </a:rPr>
                  <a:t>$\frac{a}{\sin A}=\frac{b}{\sin B}=\frac{c}{\sin C}$</a:t>
                </a:r>
                <a:r>
                  <a:rPr sz="2400" b="0">
                    <a:solidFill>
                      <a:srgbClr val="111827"/>
                    </a:solidFill>
                    <a:latin typeface="Arial"/>
                  </a:rPr>
                  <a:t> implies </a:t>
                </a:r>
                <a:r>
                  <a:rPr lang="en-IN" sz="2400">
                    <a:solidFill>
                      <a:srgbClr val="111827"/>
                    </a:solidFill>
                    <a:latin typeface="Cambria Math" panose="02040503050406030204" pitchFamily="18" charset="0"/>
                  </a:rPr>
                  <a:t>$\frac{a}{\sin A}=\frac{b+c}{\sin B+\sin C}$</a:t>
                </a:r>
                <a:r>
                  <a:rPr sz="2400" b="0">
                    <a:solidFill>
                      <a:srgbClr val="111827"/>
                    </a:solidFill>
                    <a:latin typeface="Arial"/>
                  </a:rPr>
                  <a:t>: with </a:t>
                </a:r>
                <a:r>
                  <a:rPr lang="en-IN" sz="2400">
                    <a:solidFill>
                      <a:srgbClr val="111827"/>
                    </a:solidFill>
                    <a:latin typeface="Cambria Math" panose="02040503050406030204" pitchFamily="18" charset="0"/>
                  </a:rPr>
                  <a:t>$a=SS'$</a:t>
                </a:r>
                <a:r>
                  <a:rPr sz="2400" b="0">
                    <a:solidFill>
                      <a:srgbClr val="111827"/>
                    </a:solidFill>
                    <a:latin typeface="Arial"/>
                  </a:rPr>
                  <a:t>, </a:t>
                </a:r>
                <a:r>
                  <a:rPr lang="en-IN" sz="2400">
                    <a:solidFill>
                      <a:srgbClr val="111827"/>
                    </a:solidFill>
                    <a:latin typeface="Cambria Math" panose="02040503050406030204" pitchFamily="18" charset="0"/>
                  </a:rPr>
                  <a:t>$b+c=PS+PS'=2a_{\text{ell}}$</a:t>
                </a:r>
                <a:r>
                  <a:rPr sz="2400" b="0">
                    <a:solidFill>
                      <a:srgbClr val="111827"/>
                    </a:solidFill>
                    <a:latin typeface="Arial"/>
                  </a:rPr>
                  <a:t> this gives </a:t>
                </a:r>
                <a:r>
                  <a:rPr lang="en-IN" sz="2400">
                    <a:solidFill>
                      <a:srgbClr val="111827"/>
                    </a:solidFill>
                    <a:latin typeface="Cambria Math" panose="02040503050406030204" pitchFamily="18" charset="0"/>
                  </a:rPr>
                  <a:t>$e=\frac{\sin P}{\sin S+\sin 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Reflection property: the tangent (normal) at </a:t>
                </a:r>
                <a:r>
                  <a:rPr lang="en-IN" sz="2400">
                    <a:solidFill>
                      <a:srgbClr val="111827"/>
                    </a:solidFill>
                    <a:latin typeface="Cambria Math" panose="02040503050406030204" pitchFamily="18" charset="0"/>
                  </a:rPr>
                  <a:t>$P$</a:t>
                </a:r>
                <a:r>
                  <a:rPr sz="2400" b="0">
                    <a:solidFill>
                      <a:srgbClr val="111827"/>
                    </a:solidFill>
                    <a:latin typeface="Arial"/>
                  </a:rPr>
                  <a:t> makes equal angles with the two focal radii (bisects the external (internal) angle).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Focal distances: </a:t>
                </a:r>
                <a:r>
                  <a:rPr lang="en-IN" sz="2400">
                    <a:solidFill>
                      <a:srgbClr val="111827"/>
                    </a:solidFill>
                    <a:latin typeface="Cambria Math" panose="02040503050406030204" pitchFamily="18" charset="0"/>
                  </a:rPr>
                  <a:t>$PS=a(1-e\cos\theta)$</a:t>
                </a:r>
                <a:r>
                  <a:rPr sz="2400" b="0">
                    <a:solidFill>
                      <a:srgbClr val="111827"/>
                    </a:solidFill>
                    <a:latin typeface="Arial"/>
                  </a:rPr>
                  <a:t>, </a:t>
                </a:r>
                <a:r>
                  <a:rPr lang="en-IN" sz="2400">
                    <a:solidFill>
                      <a:srgbClr val="111827"/>
                    </a:solidFill>
                    <a:latin typeface="Cambria Math" panose="02040503050406030204" pitchFamily="18" charset="0"/>
                  </a:rPr>
                  <a:t>$PS'=a(1+e\cos\theta)$</a:t>
                </a:r>
                <a:r>
                  <a:rPr sz="2400" b="0">
                    <a:solidFill>
                      <a:srgbClr val="111827"/>
                    </a:solidFill>
                    <a:latin typeface="Arial"/>
                  </a:rPr>
                  <a:t>, so </a:t>
                </a:r>
                <a:r>
                  <a:rPr lang="en-IN" sz="2400">
                    <a:solidFill>
                      <a:srgbClr val="111827"/>
                    </a:solidFill>
                    <a:latin typeface="Cambria Math" panose="02040503050406030204" pitchFamily="18" charset="0"/>
                  </a:rPr>
                  <a:t>$PS+PS'=2a$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a:t>
                </a:r>
                <a:r>
                  <a:rPr lang="en-IN" sz="2400">
                    <a:solidFill>
                      <a:srgbClr val="111827"/>
                    </a:solidFill>
                    <a:latin typeface="Cambria Math" panose="02040503050406030204" pitchFamily="18" charset="0"/>
                  </a:rPr>
                  <a:t>$\theta$</a:t>
                </a:r>
                <a:r>
                  <a:rPr sz="2400" b="0">
                    <a:solidFill>
                      <a:srgbClr val="111827"/>
                    </a:solidFill>
                    <a:latin typeface="Arial"/>
                  </a:rPr>
                  <a:t> meets the major axis at </a:t>
                </a:r>
                <a:r>
                  <a:rPr lang="en-IN" sz="2400">
                    <a:solidFill>
                      <a:srgbClr val="111827"/>
                    </a:solidFill>
                    <a:latin typeface="Cambria Math" panose="02040503050406030204" pitchFamily="18" charset="0"/>
                  </a:rPr>
                  <a:t>$T(a\sec\theta,0)$</a:t>
                </a:r>
                <a:r>
                  <a:rPr sz="2400" b="0">
                    <a:solidFill>
                      <a:srgbClr val="111827"/>
                    </a:solidFill>
                    <a:latin typeface="Arial"/>
                  </a:rPr>
                  <a:t> and </a:t>
                </a:r>
                <a:r>
                  <a:rPr lang="en-IN" sz="2400">
                    <a:solidFill>
                      <a:srgbClr val="111827"/>
                    </a:solidFill>
                    <a:latin typeface="Cambria Math" panose="02040503050406030204" pitchFamily="18" charset="0"/>
                  </a:rPr>
                  <a:t>$CT\cdot CN=a^2$</a:t>
                </a:r>
                <a:r>
                  <a:rPr sz="2400" b="0">
                    <a:solidFill>
                      <a:srgbClr val="111827"/>
                    </a:solidFill>
                    <a:latin typeface="Arial"/>
                  </a:rPr>
                  <a:t> where </a:t>
                </a:r>
                <a:r>
                  <a:rPr lang="en-IN" sz="2400">
                    <a:solidFill>
                      <a:srgbClr val="111827"/>
                    </a:solidFill>
                    <a:latin typeface="Cambria Math" panose="02040503050406030204" pitchFamily="18" charset="0"/>
                  </a:rPr>
                  <a:t>$N$</a:t>
                </a:r>
                <a:r>
                  <a:rPr sz="2400" b="0">
                    <a:solidFill>
                      <a:srgbClr val="111827"/>
                    </a:solidFill>
                    <a:latin typeface="Arial"/>
                  </a:rPr>
                  <a:t> is the foot of the ordinate.</a:t>
                </a:r>
                <a:endParaRPr sz="2400">
                  <a:solidFill>
                    <a:srgbClr val="111827"/>
                  </a:solidFill>
                </a:endParaRPr>
              </a:p>
            </p:txBody>
          </p:sp>
        </mc:Fallback>
      </mc:AlternateContent>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Tangents are drawn to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oMath>
                </a14:m>
                <a:r>
                  <a:rPr sz="2400" b="0">
                    <a:solidFill>
                      <a:srgbClr val="111827"/>
                    </a:solidFill>
                    <a:latin typeface="Arial"/>
                  </a:rPr>
                  <a:t> at the points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such that the three tangents form a triangle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 If </a:t>
                </a:r>
                <a14:m>
                  <m:oMath xmlns:m="http://schemas.openxmlformats.org/officeDocument/2006/math">
                    <m:sSub>
                      <m:e>
                        <m:r>
                          <a:rPr lang="en-IN" sz="2400" i="1">
                            <a:solidFill>
                              <a:srgbClr val="111827"/>
                            </a:solidFill>
                            <a:latin typeface="Cambria Math" panose="02040503050406030204" pitchFamily="18" charset="0"/>
                          </a:rPr>
                          <m:t>θ</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θ</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θ</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the inclinations of these tangents with the axis of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such that their cotangents form an arithmetical progression (in the same order) with common difference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find the area of the triangle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Tangents are drawn to the parabola </a:t>
                </a:r>
                <a:r>
                  <a:rPr lang="en-IN" sz="2400">
                    <a:solidFill>
                      <a:srgbClr val="111827"/>
                    </a:solidFill>
                    <a:latin typeface="Cambria Math" panose="02040503050406030204" pitchFamily="18" charset="0"/>
                  </a:rPr>
                  <a:t>$y^2=12x$</a:t>
                </a:r>
                <a:r>
                  <a:rPr sz="2400" b="0">
                    <a:solidFill>
                      <a:srgbClr val="111827"/>
                    </a:solidFill>
                    <a:latin typeface="Arial"/>
                  </a:rPr>
                  <a:t> at the points </a:t>
                </a:r>
                <a:r>
                  <a:rPr lang="en-IN" sz="2400">
                    <a:solidFill>
                      <a:srgbClr val="111827"/>
                    </a:solidFill>
                    <a:latin typeface="Cambria Math" panose="02040503050406030204" pitchFamily="18" charset="0"/>
                  </a:rPr>
                  <a:t>$A,B$</a:t>
                </a:r>
                <a:r>
                  <a:rPr sz="2400" b="0">
                    <a:solidFill>
                      <a:srgbClr val="111827"/>
                    </a:solidFill>
                    <a:latin typeface="Arial"/>
                  </a:rPr>
                  <a:t> and </a:t>
                </a:r>
                <a:r>
                  <a:rPr lang="en-IN" sz="2400">
                    <a:solidFill>
                      <a:srgbClr val="111827"/>
                    </a:solidFill>
                    <a:latin typeface="Cambria Math" panose="02040503050406030204" pitchFamily="18" charset="0"/>
                  </a:rPr>
                  <a:t>$C$</a:t>
                </a:r>
                <a:r>
                  <a:rPr sz="2400" b="0">
                    <a:solidFill>
                      <a:srgbClr val="111827"/>
                    </a:solidFill>
                    <a:latin typeface="Arial"/>
                  </a:rPr>
                  <a:t> such that the three tangents form a triangle </a:t>
                </a:r>
                <a:r>
                  <a:rPr lang="en-IN" sz="2400">
                    <a:solidFill>
                      <a:srgbClr val="111827"/>
                    </a:solidFill>
                    <a:latin typeface="Cambria Math" panose="02040503050406030204" pitchFamily="18" charset="0"/>
                  </a:rPr>
                  <a:t>$PQR$</a:t>
                </a:r>
                <a:r>
                  <a:rPr sz="2400" b="0">
                    <a:solidFill>
                      <a:srgbClr val="111827"/>
                    </a:solidFill>
                    <a:latin typeface="Arial"/>
                  </a:rPr>
                  <a:t>. If </a:t>
                </a:r>
                <a:r>
                  <a:rPr lang="en-IN" sz="2400">
                    <a:solidFill>
                      <a:srgbClr val="111827"/>
                    </a:solidFill>
                    <a:latin typeface="Cambria Math" panose="02040503050406030204" pitchFamily="18" charset="0"/>
                  </a:rPr>
                  <a:t>$\theta_1,\theta_2,\theta_3$</a:t>
                </a:r>
                <a:r>
                  <a:rPr sz="2400" b="0">
                    <a:solidFill>
                      <a:srgbClr val="111827"/>
                    </a:solidFill>
                    <a:latin typeface="Arial"/>
                  </a:rPr>
                  <a:t> are the inclinations of these tangents with the axis of </a:t>
                </a:r>
                <a:r>
                  <a:rPr lang="en-IN" sz="2400">
                    <a:solidFill>
                      <a:srgbClr val="111827"/>
                    </a:solidFill>
                    <a:latin typeface="Cambria Math" panose="02040503050406030204" pitchFamily="18" charset="0"/>
                  </a:rPr>
                  <a:t>$x$</a:t>
                </a:r>
                <a:r>
                  <a:rPr sz="2400" b="0">
                    <a:solidFill>
                      <a:srgbClr val="111827"/>
                    </a:solidFill>
                    <a:latin typeface="Arial"/>
                  </a:rPr>
                  <a:t> such that their cotangents form an arithmetical progression (in the same order) with common difference </a:t>
                </a:r>
                <a:r>
                  <a:rPr lang="en-IN" sz="2400">
                    <a:solidFill>
                      <a:srgbClr val="111827"/>
                    </a:solidFill>
                    <a:latin typeface="Cambria Math" panose="02040503050406030204" pitchFamily="18" charset="0"/>
                  </a:rPr>
                  <a:t>$2$</a:t>
                </a:r>
                <a:r>
                  <a:rPr sz="2400" b="0">
                    <a:solidFill>
                      <a:srgbClr val="111827"/>
                    </a:solidFill>
                    <a:latin typeface="Arial"/>
                  </a:rPr>
                  <a:t>, find the area of the triangle </a:t>
                </a:r>
                <a:r>
                  <a:rPr lang="en-IN" sz="2400">
                    <a:solidFill>
                      <a:srgbClr val="111827"/>
                    </a:solidFill>
                    <a:latin typeface="Cambria Math" panose="02040503050406030204" pitchFamily="18" charset="0"/>
                  </a:rPr>
                  <a:t>$PQR$</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260596"/>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Tangents to a parabola in parameter form, Area of the triangle formed by three tangents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tangent at </a:t>
                </a:r>
                <a14:m>
                  <m:oMath xmlns:m="http://schemas.openxmlformats.org/officeDocument/2006/math">
                    <m:r>
                      <a:rPr lang="en-IN" sz="2400" i="1">
                        <a:solidFill>
                          <a:srgbClr val="78350F"/>
                        </a:solidFill>
                        <a:latin typeface="Cambria Math" panose="02040503050406030204" pitchFamily="18" charset="0"/>
                      </a:rPr>
                      <m:t>𝑡</m:t>
                    </m:r>
                  </m:oMath>
                </a14:m>
                <a:r>
                  <a:rPr sz="2400" b="0">
                    <a:solidFill>
                      <a:srgbClr val="78350F"/>
                    </a:solidFill>
                    <a:latin typeface="Arial"/>
                  </a:rPr>
                  <a:t> has slope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𝑡</m:t>
                        </m:r>
                      </m:den>
                    </m:f>
                  </m:oMath>
                </a14:m>
                <a:r>
                  <a:rPr sz="2400" b="0">
                    <a:solidFill>
                      <a:srgbClr val="78350F"/>
                    </a:solidFill>
                    <a:latin typeface="Arial"/>
                  </a:rPr>
                  <a:t>, so </a:t>
                </a:r>
                <a14:m>
                  <m:oMath xmlns:m="http://schemas.openxmlformats.org/officeDocument/2006/math">
                    <m:r>
                      <m:rPr>
                        <m:sty m:val="p"/>
                      </m:rPr>
                      <a:rPr lang="en-IN" sz="2400">
                        <a:solidFill>
                          <a:srgbClr val="78350F"/>
                        </a:solidFill>
                        <a:latin typeface="Cambria Math" panose="02040503050406030204" pitchFamily="18" charset="0"/>
                      </a:rPr>
                      <m:t>cot</m:t>
                    </m:r>
                    <m:sSub>
                      <m:e>
                        <m:r>
                          <a:rPr lang="en-IN" sz="2400" i="1">
                            <a:solidFill>
                              <a:srgbClr val="78350F"/>
                            </a:solidFill>
                            <a:latin typeface="Cambria Math" panose="02040503050406030204" pitchFamily="18" charset="0"/>
                          </a:rPr>
                          <m:t>θ</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𝑖</m:t>
                        </m:r>
                      </m:sub>
                    </m:sSub>
                  </m:oMath>
                </a14:m>
                <a:r>
                  <a:rPr sz="2400" b="0">
                    <a:solidFill>
                      <a:srgbClr val="78350F"/>
                    </a:solidFill>
                    <a:latin typeface="Arial"/>
                  </a:rPr>
                  <a:t>: the parameters themselves are in A.P., and the tangent-triangle area depends only on </a:t>
                </a:r>
                <a14:m>
                  <m:oMath xmlns:m="http://schemas.openxmlformats.org/officeDocument/2006/math">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𝑗</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tangent at </a:t>
                </a:r>
                <a:r>
                  <a:rPr lang="en-IN" sz="2400">
                    <a:solidFill>
                      <a:srgbClr val="78350F"/>
                    </a:solidFill>
                    <a:latin typeface="Cambria Math" panose="02040503050406030204" pitchFamily="18" charset="0"/>
                  </a:rPr>
                  <a:t>$t$</a:t>
                </a:r>
                <a:r>
                  <a:rPr sz="2400" b="0">
                    <a:solidFill>
                      <a:srgbClr val="78350F"/>
                    </a:solidFill>
                    <a:latin typeface="Arial"/>
                  </a:rPr>
                  <a:t> has slope </a:t>
                </a:r>
                <a:r>
                  <a:rPr lang="en-IN" sz="2400">
                    <a:solidFill>
                      <a:srgbClr val="78350F"/>
                    </a:solidFill>
                    <a:latin typeface="Cambria Math" panose="02040503050406030204" pitchFamily="18" charset="0"/>
                  </a:rPr>
                  <a:t>$\frac1t$</a:t>
                </a:r>
                <a:r>
                  <a:rPr sz="2400" b="0">
                    <a:solidFill>
                      <a:srgbClr val="78350F"/>
                    </a:solidFill>
                    <a:latin typeface="Arial"/>
                  </a:rPr>
                  <a:t>, so </a:t>
                </a:r>
                <a:r>
                  <a:rPr lang="en-IN" sz="2400">
                    <a:solidFill>
                      <a:srgbClr val="78350F"/>
                    </a:solidFill>
                    <a:latin typeface="Cambria Math" panose="02040503050406030204" pitchFamily="18" charset="0"/>
                  </a:rPr>
                  <a:t>$\cot\theta_i=t_i$</a:t>
                </a:r>
                <a:r>
                  <a:rPr sz="2400" b="0">
                    <a:solidFill>
                      <a:srgbClr val="78350F"/>
                    </a:solidFill>
                    <a:latin typeface="Arial"/>
                  </a:rPr>
                  <a:t>: the parameters themselves are in A.P., and the tangent-triangle area depends only on </a:t>
                </a:r>
                <a:r>
                  <a:rPr lang="en-IN" sz="2400">
                    <a:solidFill>
                      <a:srgbClr val="78350F"/>
                    </a:solidFill>
                    <a:latin typeface="Cambria Math" panose="02040503050406030204" pitchFamily="18" charset="0"/>
                  </a:rPr>
                  <a:t>$(t_i-t_j)$</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The slopes of the tangents at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tan</m:t>
                    </m:r>
                    <m:sSub>
                      <m:e>
                        <m:r>
                          <a:rPr lang="en-IN" sz="2400" i="1">
                            <a:solidFill>
                              <a:srgbClr val="111827"/>
                            </a:solidFill>
                            <a:latin typeface="Cambria Math" panose="02040503050406030204" pitchFamily="18" charset="0"/>
                          </a:rPr>
                          <m:t>θ</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den>
                    </m:f>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cot</m:t>
                    </m:r>
                    <m:sSub>
                      <m:e>
                        <m:r>
                          <a:rPr lang="en-IN" sz="2400" i="1">
                            <a:solidFill>
                              <a:srgbClr val="111827"/>
                            </a:solidFill>
                            <a:latin typeface="Cambria Math" panose="02040503050406030204" pitchFamily="18" charset="0"/>
                          </a:rPr>
                          <m:t>θ</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cot</m:t>
                    </m:r>
                    <m:sSub>
                      <m:e>
                        <m:r>
                          <a:rPr lang="en-IN" sz="2400" i="1">
                            <a:solidFill>
                              <a:srgbClr val="111827"/>
                            </a:solidFill>
                            <a:latin typeface="Cambria Math" panose="02040503050406030204" pitchFamily="18" charset="0"/>
                          </a:rPr>
                          <m:t>θ</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cot</m:t>
                    </m:r>
                    <m:sSub>
                      <m:e>
                        <m:r>
                          <a:rPr lang="en-IN" sz="2400" i="1">
                            <a:solidFill>
                              <a:srgbClr val="111827"/>
                            </a:solidFill>
                            <a:latin typeface="Cambria Math" panose="02040503050406030204" pitchFamily="18" charset="0"/>
                          </a:rPr>
                          <m:t>θ</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in A.P. with common difference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vertices of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 are the intersections of pairs of tangents,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$y^2=12x$</a:t>
                </a:r>
                <a:r>
                  <a:rPr sz="2400" b="0">
                    <a:solidFill>
                      <a:srgbClr val="111827"/>
                    </a:solidFill>
                    <a:latin typeface="Arial"/>
                  </a:rPr>
                  <a:t> gives </a:t>
                </a:r>
                <a:r>
                  <a:rPr lang="en-IN" sz="2400">
                    <a:solidFill>
                      <a:srgbClr val="111827"/>
                    </a:solidFill>
                    <a:latin typeface="Cambria Math" panose="02040503050406030204" pitchFamily="18" charset="0"/>
                  </a:rPr>
                  <a:t>$a=3$</a:t>
                </a:r>
                <a:r>
                  <a:rPr sz="2400" b="0">
                    <a:solidFill>
                      <a:srgbClr val="111827"/>
                    </a:solidFill>
                    <a:latin typeface="Arial"/>
                  </a:rPr>
                  <a:t>. The slopes of the tangents at </a:t>
                </a:r>
                <a:r>
                  <a:rPr lang="en-IN" sz="2400">
                    <a:solidFill>
                      <a:srgbClr val="111827"/>
                    </a:solidFill>
                    <a:latin typeface="Cambria Math" panose="02040503050406030204" pitchFamily="18" charset="0"/>
                  </a:rPr>
                  <a:t>$A(t_1),B(t_2),C(t_3)$</a:t>
                </a:r>
                <a:r>
                  <a:rPr sz="2400" b="0">
                    <a:solidFill>
                      <a:srgbClr val="111827"/>
                    </a:solidFill>
                    <a:latin typeface="Arial"/>
                  </a:rPr>
                  <a:t> are </a:t>
                </a:r>
                <a:r>
                  <a:rPr lang="en-IN" sz="2400">
                    <a:solidFill>
                      <a:srgbClr val="111827"/>
                    </a:solidFill>
                    <a:latin typeface="Cambria Math" panose="02040503050406030204" pitchFamily="18" charset="0"/>
                  </a:rPr>
                  <a:t>$\frac{1}{t_1},\frac{1}{t_2},\frac{1}{t_3}$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$\tan\theta_i=\frac{1}{t_i}$</a:t>
                </a:r>
                <a:r>
                  <a:rPr sz="2400" b="0">
                    <a:solidFill>
                      <a:srgbClr val="111827"/>
                    </a:solidFill>
                    <a:latin typeface="Arial"/>
                  </a:rPr>
                  <a:t>, i.e. </a:t>
                </a:r>
                <a:r>
                  <a:rPr lang="en-IN" sz="2400">
                    <a:solidFill>
                      <a:srgbClr val="111827"/>
                    </a:solidFill>
                    <a:latin typeface="Cambria Math" panose="02040503050406030204" pitchFamily="18" charset="0"/>
                  </a:rPr>
                  <a:t>$\cot\theta_1=t_1,\ \cot\theta_2=t_2,\ \cot\theta_3=t_3$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r>
                  <a:rPr lang="en-IN" sz="2400">
                    <a:solidFill>
                      <a:srgbClr val="111827"/>
                    </a:solidFill>
                    <a:latin typeface="Cambria Math" panose="02040503050406030204" pitchFamily="18" charset="0"/>
                  </a:rPr>
                  <a:t>$t_1,t_2,t_3$</a:t>
                </a:r>
                <a:r>
                  <a:rPr sz="2400" b="0">
                    <a:solidFill>
                      <a:srgbClr val="111827"/>
                    </a:solidFill>
                    <a:latin typeface="Arial"/>
                  </a:rPr>
                  <a:t> are in A.P. with common difference </a:t>
                </a:r>
                <a:r>
                  <a:rPr lang="en-IN" sz="2400">
                    <a:solidFill>
                      <a:srgbClr val="111827"/>
                    </a:solidFill>
                    <a:latin typeface="Cambria Math" panose="02040503050406030204" pitchFamily="18" charset="0"/>
                  </a:rPr>
                  <a:t>$d=2$</a:t>
                </a:r>
                <a:r>
                  <a:rPr sz="2400" b="0">
                    <a:solidFill>
                      <a:srgbClr val="111827"/>
                    </a:solidFill>
                    <a:latin typeface="Arial"/>
                  </a:rPr>
                  <a:t>: </a:t>
                </a:r>
                <a:r>
                  <a:rPr lang="en-IN" sz="2400">
                    <a:solidFill>
                      <a:srgbClr val="111827"/>
                    </a:solidFill>
                    <a:latin typeface="Cambria Math" panose="02040503050406030204" pitchFamily="18" charset="0"/>
                  </a:rPr>
                  <a:t>$t_2-t_1=2$</a:t>
                </a:r>
                <a:r>
                  <a:rPr sz="2400" b="0">
                    <a:solidFill>
                      <a:srgbClr val="111827"/>
                    </a:solidFill>
                    <a:latin typeface="Arial"/>
                  </a:rPr>
                  <a:t>, </a:t>
                </a:r>
                <a:r>
                  <a:rPr lang="en-IN" sz="2400">
                    <a:solidFill>
                      <a:srgbClr val="111827"/>
                    </a:solidFill>
                    <a:latin typeface="Cambria Math" panose="02040503050406030204" pitchFamily="18" charset="0"/>
                  </a:rPr>
                  <a:t>$t_3-t_1=4$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vertices of </a:t>
                </a:r>
                <a:r>
                  <a:rPr lang="en-IN" sz="2400">
                    <a:solidFill>
                      <a:srgbClr val="111827"/>
                    </a:solidFill>
                    <a:latin typeface="Cambria Math" panose="02040503050406030204" pitchFamily="18" charset="0"/>
                  </a:rPr>
                  <a:t>$PQR$</a:t>
                </a:r>
                <a:r>
                  <a:rPr sz="2400" b="0">
                    <a:solidFill>
                      <a:srgbClr val="111827"/>
                    </a:solidFill>
                    <a:latin typeface="Arial"/>
                  </a:rPr>
                  <a:t> are the intersections of pairs of tangents, </a:t>
                </a:r>
                <a:r>
                  <a:rPr lang="en-IN" sz="2400">
                    <a:solidFill>
                      <a:srgbClr val="111827"/>
                    </a:solidFill>
                    <a:latin typeface="Cambria Math" panose="02040503050406030204" pitchFamily="18" charset="0"/>
                  </a:rPr>
                  <a:t>$(at_it_j,\ a(t_i+t_j))$</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e>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e>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e>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e>
                            <m:e>
                              <m:r>
                                <a:rPr lang="en-IN" sz="2400" i="1">
                                  <a:solidFill>
                                    <a:srgbClr val="111827"/>
                                  </a:solidFill>
                                  <a:latin typeface="Cambria Math" panose="02040503050406030204" pitchFamily="18" charset="0"/>
                                </a:rPr>
                                <m:t>1</m:t>
                              </m:r>
                            </m:e>
                          </m:mr>
                        </m:m>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𝑑</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𝑑</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m:t>
                    </m:r>
                  </m:oMath>
                </a14:m>
                <a:r>
                  <a:rPr sz="2400" b="0">
                    <a:solidFill>
                      <a:srgbClr val="111827"/>
                    </a:solidFill>
                    <a:latin typeface="Arial"/>
                  </a:rPr>
                  <a:t> square units.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$=\frac12\left|\begin{matrix}at_1t_2&amp;a(t_1+t_2)&amp;1\\at_2t_3&amp;a(t_2+t_3)&amp;1\\at_3t_1&amp;a(t_3+t_1)&amp;1\end{matrix}\right|=\frac{a^2}{2}\left|(t_1-t_2)(t_2-t_3)(t_3-t_1)\right|$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$|(t_1-t_2)(t_2-t_3)(t_3-t_1)|=2\cdot2\cdot4=2d^3=16$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$=\frac{9}{2}\times16=9\times 8=a^2d^3=72$</a:t>
                </a:r>
                <a:r>
                  <a:rPr sz="2400" b="0">
                    <a:solidFill>
                      <a:srgbClr val="111827"/>
                    </a:solidFill>
                    <a:latin typeface="Arial"/>
                  </a:rPr>
                  <a:t> square units.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72</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$72$</a:t>
                </a:r>
                <a:endParaRPr sz="2800">
                  <a:solidFill>
                    <a:srgbClr val="15803D"/>
                  </a:solidFill>
                </a:endParaRPr>
              </a:p>
            </p:txBody>
          </p:sp>
        </mc:Fallback>
      </mc:AlternateContent>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shear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sSup>
                      <m:e>
                        <m:r>
                          <a:rPr lang="en-IN" sz="2400" i="1">
                            <a:solidFill>
                              <a:srgbClr val="78350F"/>
                            </a:solidFill>
                            <a:latin typeface="Cambria Math" panose="02040503050406030204" pitchFamily="18" charset="0"/>
                          </a:rPr>
                          <m:t>𝑐</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maps the point </a:t>
                </a:r>
                <a14:m>
                  <m:oMath xmlns:m="http://schemas.openxmlformats.org/officeDocument/2006/math">
                    <m:r>
                      <a:rPr lang="en-IN" sz="2400" i="1">
                        <a:solidFill>
                          <a:srgbClr val="78350F"/>
                        </a:solidFill>
                        <a:latin typeface="Cambria Math" panose="02040503050406030204" pitchFamily="18" charset="0"/>
                      </a:rPr>
                      <m:t>𝑡</m:t>
                    </m:r>
                  </m:oMath>
                </a14:m>
                <a:r>
                  <a:rPr sz="2400" b="0">
                    <a:solidFill>
                      <a:srgbClr val="78350F"/>
                    </a:solidFill>
                    <a:latin typeface="Arial"/>
                  </a:rPr>
                  <a:t> to </a:t>
                </a:r>
                <a14:m>
                  <m:oMath xmlns:m="http://schemas.openxmlformats.org/officeDocument/2006/math">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oMath>
                </a14:m>
                <a:r>
                  <a:rPr sz="2400" b="0">
                    <a:solidFill>
                      <a:srgbClr val="78350F"/>
                    </a:solidFill>
                    <a:latin typeface="Arial"/>
                  </a:rPr>
                  <a:t> and has determinant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 so the area is unchanged: take the parameters </a:t>
                </a:r>
                <a14:m>
                  <m:oMath xmlns:m="http://schemas.openxmlformats.org/officeDocument/2006/math">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shear </a:t>
                </a:r>
                <a:r>
                  <a:rPr lang="en-IN" sz="2400">
                    <a:solidFill>
                      <a:srgbClr val="78350F"/>
                    </a:solidFill>
                    <a:latin typeface="Cambria Math" panose="02040503050406030204" pitchFamily="18" charset="0"/>
                  </a:rPr>
                  <a:t>$(x,y)\to(x+cy+ac^2,\ y+2ac)$</a:t>
                </a:r>
                <a:r>
                  <a:rPr sz="2400" b="0">
                    <a:solidFill>
                      <a:srgbClr val="78350F"/>
                    </a:solidFill>
                    <a:latin typeface="Arial"/>
                  </a:rPr>
                  <a:t> maps the point </a:t>
                </a:r>
                <a:r>
                  <a:rPr lang="en-IN" sz="2400">
                    <a:solidFill>
                      <a:srgbClr val="78350F"/>
                    </a:solidFill>
                    <a:latin typeface="Cambria Math" panose="02040503050406030204" pitchFamily="18" charset="0"/>
                  </a:rPr>
                  <a:t>$t$</a:t>
                </a:r>
                <a:r>
                  <a:rPr sz="2400" b="0">
                    <a:solidFill>
                      <a:srgbClr val="78350F"/>
                    </a:solidFill>
                    <a:latin typeface="Arial"/>
                  </a:rPr>
                  <a:t> to </a:t>
                </a:r>
                <a:r>
                  <a:rPr lang="en-IN" sz="2400">
                    <a:solidFill>
                      <a:srgbClr val="78350F"/>
                    </a:solidFill>
                    <a:latin typeface="Cambria Math" panose="02040503050406030204" pitchFamily="18" charset="0"/>
                  </a:rPr>
                  <a:t>$t+c$</a:t>
                </a:r>
                <a:r>
                  <a:rPr sz="2400" b="0">
                    <a:solidFill>
                      <a:srgbClr val="78350F"/>
                    </a:solidFill>
                    <a:latin typeface="Arial"/>
                  </a:rPr>
                  <a:t> and has determinant </a:t>
                </a:r>
                <a:r>
                  <a:rPr lang="en-IN" sz="2400">
                    <a:solidFill>
                      <a:srgbClr val="78350F"/>
                    </a:solidFill>
                    <a:latin typeface="Cambria Math" panose="02040503050406030204" pitchFamily="18" charset="0"/>
                  </a:rPr>
                  <a:t>$1$</a:t>
                </a:r>
                <a:r>
                  <a:rPr sz="2400" b="0">
                    <a:solidFill>
                      <a:srgbClr val="78350F"/>
                    </a:solidFill>
                    <a:latin typeface="Arial"/>
                  </a:rPr>
                  <a:t>, so the area is unchanged: take the parameters </a:t>
                </a:r>
                <a:r>
                  <a:rPr lang="en-IN" sz="2400">
                    <a:solidFill>
                      <a:srgbClr val="78350F"/>
                    </a:solidFill>
                    <a:latin typeface="Cambria Math" panose="02040503050406030204" pitchFamily="18" charset="0"/>
                  </a:rPr>
                  <a:t>$0,2,4$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map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sends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it preserves the parabola and shifts every parameter by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matrix part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𝑐</m:t>
                              </m:r>
                            </m:e>
                          </m:mr>
                          <m:mr>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1</m:t>
                              </m:r>
                            </m:e>
                          </m:mr>
                        </m:m>
                      </m:e>
                    </m:d>
                  </m:oMath>
                </a14:m>
                <a:r>
                  <a:rPr sz="2400" b="0">
                    <a:solidFill>
                      <a:srgbClr val="111827"/>
                    </a:solidFill>
                    <a:latin typeface="Arial"/>
                  </a:rPr>
                  <a:t> with determinant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it preserves areas (and maps tangents to tangents).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area of the tangent triangle is unchanged if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shifted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map </a:t>
                </a:r>
                <a:r>
                  <a:rPr lang="en-IN" sz="2400">
                    <a:solidFill>
                      <a:srgbClr val="111827"/>
                    </a:solidFill>
                    <a:latin typeface="Cambria Math" panose="02040503050406030204" pitchFamily="18" charset="0"/>
                  </a:rPr>
                  <a:t>$(x,y)\mapsto(x+cy+ac^2,\ y+2ac)$</a:t>
                </a:r>
                <a:r>
                  <a:rPr sz="2400" b="0">
                    <a:solidFill>
                      <a:srgbClr val="111827"/>
                    </a:solidFill>
                    <a:latin typeface="Arial"/>
                  </a:rPr>
                  <a:t> sends </a:t>
                </a:r>
                <a:r>
                  <a:rPr lang="en-IN" sz="2400">
                    <a:solidFill>
                      <a:srgbClr val="111827"/>
                    </a:solidFill>
                    <a:latin typeface="Cambria Math" panose="02040503050406030204" pitchFamily="18" charset="0"/>
                  </a:rPr>
                  <a:t>$(at^2,2at)$</a:t>
                </a:r>
                <a:r>
                  <a:rPr sz="2400" b="0">
                    <a:solidFill>
                      <a:srgbClr val="111827"/>
                    </a:solidFill>
                    <a:latin typeface="Arial"/>
                  </a:rPr>
                  <a:t> to </a:t>
                </a:r>
                <a:r>
                  <a:rPr lang="en-IN" sz="2400">
                    <a:solidFill>
                      <a:srgbClr val="111827"/>
                    </a:solidFill>
                    <a:latin typeface="Cambria Math" panose="02040503050406030204" pitchFamily="18" charset="0"/>
                  </a:rPr>
                  <a:t>$(a(t+c)^2,\ 2a(t+c))$</a:t>
                </a:r>
                <a:r>
                  <a:rPr sz="2400" b="0">
                    <a:solidFill>
                      <a:srgbClr val="111827"/>
                    </a:solidFill>
                    <a:latin typeface="Arial"/>
                  </a:rPr>
                  <a:t>, so it preserves the parabola and shifts every parameter by </a:t>
                </a:r>
                <a:r>
                  <a:rPr lang="en-IN" sz="2400">
                    <a:solidFill>
                      <a:srgbClr val="111827"/>
                    </a:solidFill>
                    <a:latin typeface="Cambria Math" panose="02040503050406030204" pitchFamily="18" charset="0"/>
                  </a:rPr>
                  <a:t>$c$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matrix part is </a:t>
                </a:r>
                <a:r>
                  <a:rPr lang="en-IN" sz="2400">
                    <a:solidFill>
                      <a:srgbClr val="111827"/>
                    </a:solidFill>
                    <a:latin typeface="Cambria Math" panose="02040503050406030204" pitchFamily="18" charset="0"/>
                  </a:rPr>
                  <a:t>$\begin{pmatrix}1&amp;c\\0&amp;1\end{pmatrix}$</a:t>
                </a:r>
                <a:r>
                  <a:rPr sz="2400" b="0">
                    <a:solidFill>
                      <a:srgbClr val="111827"/>
                    </a:solidFill>
                    <a:latin typeface="Arial"/>
                  </a:rPr>
                  <a:t> with determinant </a:t>
                </a:r>
                <a:r>
                  <a:rPr lang="en-IN" sz="2400">
                    <a:solidFill>
                      <a:srgbClr val="111827"/>
                    </a:solidFill>
                    <a:latin typeface="Cambria Math" panose="02040503050406030204" pitchFamily="18" charset="0"/>
                  </a:rPr>
                  <a:t>$1$</a:t>
                </a:r>
                <a:r>
                  <a:rPr sz="2400" b="0">
                    <a:solidFill>
                      <a:srgbClr val="111827"/>
                    </a:solidFill>
                    <a:latin typeface="Arial"/>
                  </a:rPr>
                  <a:t>: it preserves areas (and maps tangents to tangents).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area of the tangent triangle is unchanged if </a:t>
                </a:r>
                <a:r>
                  <a:rPr lang="en-IN" sz="2400">
                    <a:solidFill>
                      <a:srgbClr val="111827"/>
                    </a:solidFill>
                    <a:latin typeface="Cambria Math" panose="02040503050406030204" pitchFamily="18" charset="0"/>
                  </a:rPr>
                  <a:t>$(t_1,t_2,t_3)=(t,t+2,t+4)$</a:t>
                </a:r>
                <a:r>
                  <a:rPr sz="2400" b="0">
                    <a:solidFill>
                      <a:srgbClr val="111827"/>
                    </a:solidFill>
                    <a:latin typeface="Arial"/>
                  </a:rPr>
                  <a:t> is shifted to </a:t>
                </a:r>
                <a:r>
                  <a:rPr lang="en-IN" sz="2400">
                    <a:solidFill>
                      <a:srgbClr val="111827"/>
                    </a:solidFill>
                    <a:latin typeface="Cambria Math" panose="02040503050406030204" pitchFamily="18" charset="0"/>
                  </a:rPr>
                  <a:t>$(0,2,4)$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vertices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then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Base along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and the height is </a:t>
                </a:r>
                <a14:m>
                  <m:oMath xmlns:m="http://schemas.openxmlformats.org/officeDocument/2006/math">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oMath>
                </a14:m>
                <a:r>
                  <a:rPr sz="2400" b="0">
                    <a:solidFill>
                      <a:srgbClr val="111827"/>
                    </a:solidFill>
                    <a:latin typeface="Arial"/>
                  </a:rPr>
                  <a:t>, so the area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vertices </a:t>
                </a:r>
                <a:r>
                  <a:rPr lang="en-IN" sz="2400">
                    <a:solidFill>
                      <a:srgbClr val="111827"/>
                    </a:solidFill>
                    <a:latin typeface="Cambria Math" panose="02040503050406030204" pitchFamily="18" charset="0"/>
                  </a:rPr>
                  <a:t>$(at_it_j,a(t_i+t_j))$</a:t>
                </a:r>
                <a:r>
                  <a:rPr sz="2400" b="0">
                    <a:solidFill>
                      <a:srgbClr val="111827"/>
                    </a:solidFill>
                    <a:latin typeface="Arial"/>
                  </a:rPr>
                  <a:t> are then </a:t>
                </a:r>
                <a:r>
                  <a:rPr lang="en-IN" sz="2400">
                    <a:solidFill>
                      <a:srgbClr val="111827"/>
                    </a:solidFill>
                    <a:latin typeface="Cambria Math" panose="02040503050406030204" pitchFamily="18" charset="0"/>
                  </a:rPr>
                  <a:t>$(0,2a)$</a:t>
                </a:r>
                <a:r>
                  <a:rPr sz="2400" b="0">
                    <a:solidFill>
                      <a:srgbClr val="111827"/>
                    </a:solidFill>
                    <a:latin typeface="Arial"/>
                  </a:rPr>
                  <a:t>, </a:t>
                </a:r>
                <a:r>
                  <a:rPr lang="en-IN" sz="2400">
                    <a:solidFill>
                      <a:srgbClr val="111827"/>
                    </a:solidFill>
                    <a:latin typeface="Cambria Math" panose="02040503050406030204" pitchFamily="18" charset="0"/>
                  </a:rPr>
                  <a:t>$(0,4a)$</a:t>
                </a:r>
                <a:r>
                  <a:rPr sz="2400" b="0">
                    <a:solidFill>
                      <a:srgbClr val="111827"/>
                    </a:solidFill>
                    <a:latin typeface="Arial"/>
                  </a:rPr>
                  <a:t> and </a:t>
                </a:r>
                <a:r>
                  <a:rPr lang="en-IN" sz="2400">
                    <a:solidFill>
                      <a:srgbClr val="111827"/>
                    </a:solidFill>
                    <a:latin typeface="Cambria Math" panose="02040503050406030204" pitchFamily="18" charset="0"/>
                  </a:rPr>
                  <a:t>$(8a,6a)$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Base along </a:t>
                </a:r>
                <a:r>
                  <a:rPr lang="en-IN" sz="2400">
                    <a:solidFill>
                      <a:srgbClr val="111827"/>
                    </a:solidFill>
                    <a:latin typeface="Cambria Math" panose="02040503050406030204" pitchFamily="18" charset="0"/>
                  </a:rPr>
                  <a:t>$x=0$</a:t>
                </a:r>
                <a:r>
                  <a:rPr sz="2400" b="0">
                    <a:solidFill>
                      <a:srgbClr val="111827"/>
                    </a:solidFill>
                    <a:latin typeface="Arial"/>
                  </a:rPr>
                  <a:t> is </a:t>
                </a:r>
                <a:r>
                  <a:rPr lang="en-IN" sz="2400">
                    <a:solidFill>
                      <a:srgbClr val="111827"/>
                    </a:solidFill>
                    <a:latin typeface="Cambria Math" panose="02040503050406030204" pitchFamily="18" charset="0"/>
                  </a:rPr>
                  <a:t>$4a-2a=2a$</a:t>
                </a:r>
                <a:r>
                  <a:rPr sz="2400" b="0">
                    <a:solidFill>
                      <a:srgbClr val="111827"/>
                    </a:solidFill>
                    <a:latin typeface="Arial"/>
                  </a:rPr>
                  <a:t> and the height is </a:t>
                </a:r>
                <a:r>
                  <a:rPr lang="en-IN" sz="2400">
                    <a:solidFill>
                      <a:srgbClr val="111827"/>
                    </a:solidFill>
                    <a:latin typeface="Cambria Math" panose="02040503050406030204" pitchFamily="18" charset="0"/>
                  </a:rPr>
                  <a:t>$8a$</a:t>
                </a:r>
                <a:r>
                  <a:rPr sz="2400" b="0">
                    <a:solidFill>
                      <a:srgbClr val="111827"/>
                    </a:solidFill>
                    <a:latin typeface="Arial"/>
                  </a:rPr>
                  <a:t>, so the area is </a:t>
                </a:r>
                <a:r>
                  <a:rPr lang="en-IN" sz="2400">
                    <a:solidFill>
                      <a:srgbClr val="111827"/>
                    </a:solidFill>
                    <a:latin typeface="Cambria Math" panose="02040503050406030204" pitchFamily="18" charset="0"/>
                  </a:rPr>
                  <a:t>$\frac12\cdot2a\cdot8a=8a^2=72$</a:t>
                </a:r>
                <a:r>
                  <a:rPr sz="2400" b="0">
                    <a:solidFill>
                      <a:srgbClr val="111827"/>
                    </a:solidFill>
                    <a:latin typeface="Arial"/>
                  </a:rPr>
                  <a:t> for </a:t>
                </a:r>
                <a:r>
                  <a:rPr lang="en-IN" sz="2400">
                    <a:solidFill>
                      <a:srgbClr val="111827"/>
                    </a:solidFill>
                    <a:latin typeface="Cambria Math" panose="02040503050406030204" pitchFamily="18" charset="0"/>
                  </a:rPr>
                  <a:t>$a=3$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72</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$72$</a:t>
                </a:r>
                <a:endParaRPr sz="2800">
                  <a:solidFill>
                    <a:srgbClr val="15803D"/>
                  </a:solidFill>
                </a:endParaRPr>
              </a:p>
            </p:txBody>
          </p:sp>
        </mc:Fallback>
      </mc:AlternateContent>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the tangents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 meet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triangle formed by tangents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 the area of the triangle of the three contact points is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 (twice as big).</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is the inclination of the tangent at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cot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(slope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𝑡</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parameters in A.P. with common difference </a:t>
                </a:r>
                <a14:m>
                  <m:oMath xmlns:m="http://schemas.openxmlformats.org/officeDocument/2006/math">
                    <m:r>
                      <a:rPr lang="en-IN" sz="2400" i="1">
                        <a:solidFill>
                          <a:srgbClr val="111827"/>
                        </a:solidFill>
                        <a:latin typeface="Cambria Math" panose="02040503050406030204" pitchFamily="18" charset="0"/>
                      </a:rPr>
                      <m:t>𝑑</m:t>
                    </m:r>
                  </m:oMath>
                </a14:m>
                <a:r>
                  <a:rPr sz="2400" b="0">
                    <a:solidFill>
                      <a:srgbClr val="111827"/>
                    </a:solidFill>
                    <a:latin typeface="Arial"/>
                  </a:rPr>
                  <a:t> the tangent-triangle area is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𝑑</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$y^2=4ax$</a:t>
                </a:r>
                <a:r>
                  <a:rPr sz="2400" b="0">
                    <a:solidFill>
                      <a:srgbClr val="111827"/>
                    </a:solidFill>
                    <a:latin typeface="Arial"/>
                  </a:rPr>
                  <a:t>, the tangents at </a:t>
                </a:r>
                <a:r>
                  <a:rPr lang="en-IN" sz="2400">
                    <a:solidFill>
                      <a:srgbClr val="111827"/>
                    </a:solidFill>
                    <a:latin typeface="Cambria Math" panose="02040503050406030204" pitchFamily="18" charset="0"/>
                  </a:rPr>
                  <a:t>$t_i,t_j$</a:t>
                </a:r>
                <a:r>
                  <a:rPr sz="2400" b="0">
                    <a:solidFill>
                      <a:srgbClr val="111827"/>
                    </a:solidFill>
                    <a:latin typeface="Arial"/>
                  </a:rPr>
                  <a:t> meet at </a:t>
                </a:r>
                <a:r>
                  <a:rPr lang="en-IN" sz="2400">
                    <a:solidFill>
                      <a:srgbClr val="111827"/>
                    </a:solidFill>
                    <a:latin typeface="Cambria Math" panose="02040503050406030204" pitchFamily="18" charset="0"/>
                  </a:rPr>
                  <a:t>$(at_it_j,\ a(t_i+t_j))$</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triangle formed by tangents at </a:t>
                </a:r>
                <a:r>
                  <a:rPr lang="en-IN" sz="2400">
                    <a:solidFill>
                      <a:srgbClr val="111827"/>
                    </a:solidFill>
                    <a:latin typeface="Cambria Math" panose="02040503050406030204" pitchFamily="18" charset="0"/>
                  </a:rPr>
                  <a:t>$t_1,t_2,t_3$</a:t>
                </a:r>
                <a:r>
                  <a:rPr sz="2400" b="0">
                    <a:solidFill>
                      <a:srgbClr val="111827"/>
                    </a:solidFill>
                    <a:latin typeface="Arial"/>
                  </a:rPr>
                  <a:t> is </a:t>
                </a:r>
                <a:r>
                  <a:rPr lang="en-IN" sz="2400">
                    <a:solidFill>
                      <a:srgbClr val="111827"/>
                    </a:solidFill>
                    <a:latin typeface="Cambria Math" panose="02040503050406030204" pitchFamily="18" charset="0"/>
                  </a:rPr>
                  <a:t>$\frac{a^2}{2}\left|(t_1-t_2)(t_2-t_3)(t_3-t_1)\right|$</a:t>
                </a:r>
                <a:r>
                  <a:rPr sz="2400" b="0">
                    <a:solidFill>
                      <a:srgbClr val="111827"/>
                    </a:solidFill>
                    <a:latin typeface="Arial"/>
                  </a:rPr>
                  <a:t>; the area of the triangle of the three contact points is </a:t>
                </a:r>
                <a:r>
                  <a:rPr lang="en-IN" sz="2400">
                    <a:solidFill>
                      <a:srgbClr val="111827"/>
                    </a:solidFill>
                    <a:latin typeface="Cambria Math" panose="02040503050406030204" pitchFamily="18" charset="0"/>
                  </a:rPr>
                  <a:t>$a^2\left|(t_1-t_2)(t_2-t_3)(t_3-t_1)\right|$</a:t>
                </a:r>
                <a:r>
                  <a:rPr sz="2400" b="0">
                    <a:solidFill>
                      <a:srgbClr val="111827"/>
                    </a:solidFill>
                    <a:latin typeface="Arial"/>
                  </a:rPr>
                  <a:t> (twice as big).</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$\theta$</a:t>
                </a:r>
                <a:r>
                  <a:rPr sz="2400" b="0">
                    <a:solidFill>
                      <a:srgbClr val="111827"/>
                    </a:solidFill>
                    <a:latin typeface="Arial"/>
                  </a:rPr>
                  <a:t> is the inclination of the tangent at </a:t>
                </a:r>
                <a:r>
                  <a:rPr lang="en-IN" sz="2400">
                    <a:solidFill>
                      <a:srgbClr val="111827"/>
                    </a:solidFill>
                    <a:latin typeface="Cambria Math" panose="02040503050406030204" pitchFamily="18" charset="0"/>
                  </a:rPr>
                  <a:t>$t$</a:t>
                </a:r>
                <a:r>
                  <a:rPr sz="2400" b="0">
                    <a:solidFill>
                      <a:srgbClr val="111827"/>
                    </a:solidFill>
                    <a:latin typeface="Arial"/>
                  </a:rPr>
                  <a:t>, then </a:t>
                </a:r>
                <a:r>
                  <a:rPr lang="en-IN" sz="2400">
                    <a:solidFill>
                      <a:srgbClr val="111827"/>
                    </a:solidFill>
                    <a:latin typeface="Cambria Math" panose="02040503050406030204" pitchFamily="18" charset="0"/>
                  </a:rPr>
                  <a:t>$\cot\theta=t$</a:t>
                </a:r>
                <a:r>
                  <a:rPr sz="2400" b="0">
                    <a:solidFill>
                      <a:srgbClr val="111827"/>
                    </a:solidFill>
                    <a:latin typeface="Arial"/>
                  </a:rPr>
                  <a:t> (slope </a:t>
                </a:r>
                <a:r>
                  <a:rPr lang="en-IN" sz="2400">
                    <a:solidFill>
                      <a:srgbClr val="111827"/>
                    </a:solidFill>
                    <a:latin typeface="Cambria Math" panose="02040503050406030204" pitchFamily="18" charset="0"/>
                  </a:rPr>
                  <a:t>$=\frac1t$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parameters in A.P. with common difference </a:t>
                </a:r>
                <a:r>
                  <a:rPr lang="en-IN" sz="2400">
                    <a:solidFill>
                      <a:srgbClr val="111827"/>
                    </a:solidFill>
                    <a:latin typeface="Cambria Math" panose="02040503050406030204" pitchFamily="18" charset="0"/>
                  </a:rPr>
                  <a:t>$d$</a:t>
                </a:r>
                <a:r>
                  <a:rPr sz="2400" b="0">
                    <a:solidFill>
                      <a:srgbClr val="111827"/>
                    </a:solidFill>
                    <a:latin typeface="Arial"/>
                  </a:rPr>
                  <a:t> the tangent-triangle area is </a:t>
                </a:r>
                <a:r>
                  <a:rPr lang="en-IN" sz="2400">
                    <a:solidFill>
                      <a:srgbClr val="111827"/>
                    </a:solidFill>
                    <a:latin typeface="Cambria Math" panose="02040503050406030204" pitchFamily="18" charset="0"/>
                  </a:rPr>
                  <a:t>$a^2d^3$</a:t>
                </a:r>
                <a:r>
                  <a:rPr sz="2400" b="0">
                    <a:solidFill>
                      <a:srgbClr val="111827"/>
                    </a:solidFill>
                    <a:latin typeface="Arial"/>
                  </a:rPr>
                  <a:t> (here </a:t>
                </a:r>
                <a:r>
                  <a:rPr lang="en-IN" sz="2400">
                    <a:solidFill>
                      <a:srgbClr val="111827"/>
                    </a:solidFill>
                    <a:latin typeface="Cambria Math" panose="02040503050406030204" pitchFamily="18" charset="0"/>
                  </a:rPr>
                  <a:t>$9\cdot8=72$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the tangent at the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whose abscissa is equal to the latus rectum, meets the axis in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and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cuts the parabola again in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Prove that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the parabola </a:t>
                </a:r>
                <a:r>
                  <a:rPr lang="en-IN" sz="2400">
                    <a:solidFill>
                      <a:srgbClr val="111827"/>
                    </a:solidFill>
                    <a:latin typeface="Cambria Math" panose="02040503050406030204" pitchFamily="18" charset="0"/>
                  </a:rPr>
                  <a:t>$y^2=4ax$</a:t>
                </a:r>
                <a:r>
                  <a:rPr sz="2400" b="0">
                    <a:solidFill>
                      <a:srgbClr val="111827"/>
                    </a:solidFill>
                    <a:latin typeface="Arial"/>
                  </a:rPr>
                  <a:t>, the tangent at the point </a:t>
                </a:r>
                <a:r>
                  <a:rPr lang="en-IN" sz="2400">
                    <a:solidFill>
                      <a:srgbClr val="111827"/>
                    </a:solidFill>
                    <a:latin typeface="Cambria Math" panose="02040503050406030204" pitchFamily="18" charset="0"/>
                  </a:rPr>
                  <a:t>$P$</a:t>
                </a:r>
                <a:r>
                  <a:rPr sz="2400" b="0">
                    <a:solidFill>
                      <a:srgbClr val="111827"/>
                    </a:solidFill>
                    <a:latin typeface="Arial"/>
                  </a:rPr>
                  <a:t>, whose abscissa is equal to the latus rectum, meets the axis in </a:t>
                </a:r>
                <a:r>
                  <a:rPr lang="en-IN" sz="2400">
                    <a:solidFill>
                      <a:srgbClr val="111827"/>
                    </a:solidFill>
                    <a:latin typeface="Cambria Math" panose="02040503050406030204" pitchFamily="18" charset="0"/>
                  </a:rPr>
                  <a:t>$T$</a:t>
                </a:r>
                <a:r>
                  <a:rPr sz="2400" b="0">
                    <a:solidFill>
                      <a:srgbClr val="111827"/>
                    </a:solidFill>
                    <a:latin typeface="Arial"/>
                  </a:rPr>
                  <a:t> and the normal at </a:t>
                </a:r>
                <a:r>
                  <a:rPr lang="en-IN" sz="2400">
                    <a:solidFill>
                      <a:srgbClr val="111827"/>
                    </a:solidFill>
                    <a:latin typeface="Cambria Math" panose="02040503050406030204" pitchFamily="18" charset="0"/>
                  </a:rPr>
                  <a:t>$P$</a:t>
                </a:r>
                <a:r>
                  <a:rPr sz="2400" b="0">
                    <a:solidFill>
                      <a:srgbClr val="111827"/>
                    </a:solidFill>
                    <a:latin typeface="Arial"/>
                  </a:rPr>
                  <a:t> cuts the parabola again in </a:t>
                </a:r>
                <a:r>
                  <a:rPr lang="en-IN" sz="2400">
                    <a:solidFill>
                      <a:srgbClr val="111827"/>
                    </a:solidFill>
                    <a:latin typeface="Cambria Math" panose="02040503050406030204" pitchFamily="18" charset="0"/>
                  </a:rPr>
                  <a:t>$Q$</a:t>
                </a:r>
                <a:r>
                  <a:rPr sz="2400" b="0">
                    <a:solidFill>
                      <a:srgbClr val="111827"/>
                    </a:solidFill>
                    <a:latin typeface="Arial"/>
                  </a:rPr>
                  <a:t>. Prove that </a:t>
                </a:r>
                <a:r>
                  <a:rPr lang="en-IN" sz="2400">
                    <a:solidFill>
                      <a:srgbClr val="111827"/>
                    </a:solidFill>
                    <a:latin typeface="Cambria Math" panose="02040503050406030204" pitchFamily="18" charset="0"/>
                  </a:rPr>
                  <a:t>$PT:PQ=4:5$</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516884"/>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and normal at a point of a parabola, Distance formula and normal-chord parameter</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Abscissa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𝑎</m:t>
                    </m:r>
                  </m:oMath>
                </a14:m>
                <a:r>
                  <a:rPr sz="2400" b="0">
                    <a:solidFill>
                      <a:srgbClr val="78350F"/>
                    </a:solidFill>
                    <a:latin typeface="Arial"/>
                  </a:rPr>
                  <a:t> gives </a:t>
                </a:r>
                <a14:m>
                  <m:oMath xmlns:m="http://schemas.openxmlformats.org/officeDocument/2006/math">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the normal chord has second parameter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2</m:t>
                        </m:r>
                      </m:num>
                      <m:den>
                        <m:r>
                          <a:rPr lang="en-IN" sz="2400" i="1">
                            <a:solidFill>
                              <a:srgbClr val="78350F"/>
                            </a:solidFill>
                            <a:latin typeface="Cambria Math" panose="02040503050406030204" pitchFamily="18" charset="0"/>
                          </a:rPr>
                          <m:t>𝑡</m:t>
                        </m:r>
                      </m:den>
                    </m:f>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Abscissa </a:t>
                </a:r>
                <a:r>
                  <a:rPr lang="en-IN" sz="2400">
                    <a:solidFill>
                      <a:srgbClr val="78350F"/>
                    </a:solidFill>
                    <a:latin typeface="Cambria Math" panose="02040503050406030204" pitchFamily="18" charset="0"/>
                  </a:rPr>
                  <a:t>$=4a$</a:t>
                </a:r>
                <a:r>
                  <a:rPr sz="2400" b="0">
                    <a:solidFill>
                      <a:srgbClr val="78350F"/>
                    </a:solidFill>
                    <a:latin typeface="Arial"/>
                  </a:rPr>
                  <a:t> gives </a:t>
                </a:r>
                <a:r>
                  <a:rPr lang="en-IN" sz="2400">
                    <a:solidFill>
                      <a:srgbClr val="78350F"/>
                    </a:solidFill>
                    <a:latin typeface="Cambria Math" panose="02040503050406030204" pitchFamily="18" charset="0"/>
                  </a:rPr>
                  <a:t>$t=2$</a:t>
                </a:r>
                <a:r>
                  <a:rPr sz="2400" b="0">
                    <a:solidFill>
                      <a:srgbClr val="78350F"/>
                    </a:solidFill>
                    <a:latin typeface="Arial"/>
                  </a:rPr>
                  <a:t>; the normal chord has second parameter </a:t>
                </a:r>
                <a:r>
                  <a:rPr lang="en-IN" sz="2400">
                    <a:solidFill>
                      <a:srgbClr val="78350F"/>
                    </a:solidFill>
                    <a:latin typeface="Cambria Math" panose="02040503050406030204" pitchFamily="18" charset="0"/>
                  </a:rPr>
                  <a:t>$t_2=-t-\frac2t=-3$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abscissa equals the latus rectum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take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oMath>
                </a14:m>
                <a:r>
                  <a:rPr sz="2400" b="0">
                    <a:solidFill>
                      <a:srgbClr val="111827"/>
                    </a:solidFill>
                    <a:latin typeface="Arial"/>
                  </a:rPr>
                  <a:t>. It meets the axis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meets the parabola again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$P=(at^2,2at)$</a:t>
                </a:r>
                <a:r>
                  <a:rPr sz="2400" b="0">
                    <a:solidFill>
                      <a:srgbClr val="111827"/>
                    </a:solidFill>
                    <a:latin typeface="Arial"/>
                  </a:rPr>
                  <a:t>. The abscissa equals the latus rectum </a:t>
                </a:r>
                <a:r>
                  <a:rPr lang="en-IN" sz="2400">
                    <a:solidFill>
                      <a:srgbClr val="111827"/>
                    </a:solidFill>
                    <a:latin typeface="Cambria Math" panose="02040503050406030204" pitchFamily="18" charset="0"/>
                  </a:rPr>
                  <a:t>$4a$</a:t>
                </a:r>
                <a:r>
                  <a:rPr sz="2400" b="0">
                    <a:solidFill>
                      <a:srgbClr val="111827"/>
                    </a:solidFill>
                    <a:latin typeface="Arial"/>
                  </a:rPr>
                  <a:t>: </a:t>
                </a:r>
                <a:r>
                  <a:rPr lang="en-IN" sz="2400">
                    <a:solidFill>
                      <a:srgbClr val="111827"/>
                    </a:solidFill>
                    <a:latin typeface="Cambria Math" panose="02040503050406030204" pitchFamily="18" charset="0"/>
                  </a:rPr>
                  <a:t>$at^2=4a$</a:t>
                </a:r>
                <a:r>
                  <a:rPr sz="2400" b="0">
                    <a:solidFill>
                      <a:srgbClr val="111827"/>
                    </a:solidFill>
                    <a:latin typeface="Arial"/>
                  </a:rPr>
                  <a:t>, so </a:t>
                </a:r>
                <a:r>
                  <a:rPr lang="en-IN" sz="2400">
                    <a:solidFill>
                      <a:srgbClr val="111827"/>
                    </a:solidFill>
                    <a:latin typeface="Cambria Math" panose="02040503050406030204" pitchFamily="18" charset="0"/>
                  </a:rPr>
                  <a:t>$t=\pm2$</a:t>
                </a:r>
                <a:r>
                  <a:rPr sz="2400" b="0">
                    <a:solidFill>
                      <a:srgbClr val="111827"/>
                    </a:solidFill>
                    <a:latin typeface="Arial"/>
                  </a:rPr>
                  <a:t>; take </a:t>
                </a:r>
                <a:r>
                  <a:rPr lang="en-IN" sz="2400">
                    <a:solidFill>
                      <a:srgbClr val="111827"/>
                    </a:solidFill>
                    <a:latin typeface="Cambria Math" panose="02040503050406030204" pitchFamily="18" charset="0"/>
                  </a:rPr>
                  <a:t>$t=2$</a:t>
                </a:r>
                <a:r>
                  <a:rPr sz="2400" b="0">
                    <a:solidFill>
                      <a:srgbClr val="111827"/>
                    </a:solidFill>
                    <a:latin typeface="Arial"/>
                  </a:rPr>
                  <a:t>, </a:t>
                </a:r>
                <a:r>
                  <a:rPr lang="en-IN" sz="2400">
                    <a:solidFill>
                      <a:srgbClr val="111827"/>
                    </a:solidFill>
                    <a:latin typeface="Cambria Math" panose="02040503050406030204" pitchFamily="18" charset="0"/>
                  </a:rPr>
                  <a:t>$P(4a,4a)$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$ty=x+at^2$</a:t>
                </a:r>
                <a:r>
                  <a:rPr sz="2400" b="0">
                    <a:solidFill>
                      <a:srgbClr val="111827"/>
                    </a:solidFill>
                    <a:latin typeface="Arial"/>
                  </a:rPr>
                  <a:t>, i.e. </a:t>
                </a:r>
                <a:r>
                  <a:rPr lang="en-IN" sz="2400">
                    <a:solidFill>
                      <a:srgbClr val="111827"/>
                    </a:solidFill>
                    <a:latin typeface="Cambria Math" panose="02040503050406030204" pitchFamily="18" charset="0"/>
                  </a:rPr>
                  <a:t>$2y=x+4a$</a:t>
                </a:r>
                <a:r>
                  <a:rPr sz="2400" b="0">
                    <a:solidFill>
                      <a:srgbClr val="111827"/>
                    </a:solidFill>
                    <a:latin typeface="Arial"/>
                  </a:rPr>
                  <a:t>. It meets the axis (</a:t>
                </a:r>
                <a:r>
                  <a:rPr lang="en-IN" sz="2400">
                    <a:solidFill>
                      <a:srgbClr val="111827"/>
                    </a:solidFill>
                    <a:latin typeface="Cambria Math" panose="02040503050406030204" pitchFamily="18" charset="0"/>
                  </a:rPr>
                  <a:t>$y=0$</a:t>
                </a:r>
                <a:r>
                  <a:rPr sz="2400" b="0">
                    <a:solidFill>
                      <a:srgbClr val="111827"/>
                    </a:solidFill>
                    <a:latin typeface="Arial"/>
                  </a:rPr>
                  <a:t>) at </a:t>
                </a:r>
                <a:r>
                  <a:rPr lang="en-IN" sz="2400">
                    <a:solidFill>
                      <a:srgbClr val="111827"/>
                    </a:solidFill>
                    <a:latin typeface="Cambria Math" panose="02040503050406030204" pitchFamily="18" charset="0"/>
                  </a:rPr>
                  <a:t>$T(-4a,0)$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at </a:t>
                </a:r>
                <a:r>
                  <a:rPr lang="en-IN" sz="2400">
                    <a:solidFill>
                      <a:srgbClr val="111827"/>
                    </a:solidFill>
                    <a:latin typeface="Cambria Math" panose="02040503050406030204" pitchFamily="18" charset="0"/>
                  </a:rPr>
                  <a:t>$P(t_1)$</a:t>
                </a:r>
                <a:r>
                  <a:rPr sz="2400" b="0">
                    <a:solidFill>
                      <a:srgbClr val="111827"/>
                    </a:solidFill>
                    <a:latin typeface="Arial"/>
                  </a:rPr>
                  <a:t> meets the parabola again at </a:t>
                </a:r>
                <a:r>
                  <a:rPr lang="en-IN" sz="2400">
                    <a:solidFill>
                      <a:srgbClr val="111827"/>
                    </a:solidFill>
                    <a:latin typeface="Cambria Math" panose="02040503050406030204" pitchFamily="18" charset="0"/>
                  </a:rPr>
                  <a:t>$Q(t_2)$</a:t>
                </a:r>
                <a:r>
                  <a:rPr sz="2400" b="0">
                    <a:solidFill>
                      <a:srgbClr val="111827"/>
                    </a:solidFill>
                    <a:latin typeface="Arial"/>
                  </a:rPr>
                  <a:t> with </a:t>
                </a:r>
                <a:r>
                  <a:rPr lang="en-IN" sz="2400">
                    <a:solidFill>
                      <a:srgbClr val="111827"/>
                    </a:solidFill>
                    <a:latin typeface="Cambria Math" panose="02040503050406030204" pitchFamily="18" charset="0"/>
                  </a:rPr>
                  <a:t>$t_2=-t_1-\frac{2}{t_1}=-2-1=-3$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$Q=(at_2^2,2at_2)=(9a,-6a)$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80</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125</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num>
                      <m:den>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80</m:t>
                            </m:r>
                          </m:num>
                          <m:den>
                            <m:r>
                              <a:rPr lang="en-IN" sz="2400" i="1">
                                <a:solidFill>
                                  <a:srgbClr val="111827"/>
                                </a:solidFill>
                                <a:latin typeface="Cambria Math" panose="02040503050406030204" pitchFamily="18" charset="0"/>
                              </a:rPr>
                              <m:t>125</m:t>
                            </m:r>
                          </m:den>
                        </m:f>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$PT=\sqrt{(4a+4a)^2+(4a)^2}=\sqrt{80a^2}$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$PQ=\sqrt{(4a-9a)^2+(4a+6a)^2}=\sqrt{125a^2}$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$\frac{PT}{PQ}=\sqrt{\frac{80}{125}}=\frac45$</a:t>
                </a:r>
                <a:r>
                  <a:rPr sz="2400" b="0">
                    <a:solidFill>
                      <a:srgbClr val="111827"/>
                    </a:solidFill>
                    <a:latin typeface="Arial"/>
                  </a:rPr>
                  <a:t>, so </a:t>
                </a:r>
                <a:r>
                  <a:rPr lang="en-IN" sz="2400">
                    <a:solidFill>
                      <a:srgbClr val="111827"/>
                    </a:solidFill>
                    <a:latin typeface="Cambria Math" panose="02040503050406030204" pitchFamily="18" charset="0"/>
                  </a:rPr>
                  <a:t>$PT:PQ=4:5$</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𝑇</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𝑄</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5</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$PT:PQ=4:5$</a:t>
                </a:r>
                <a:endParaRPr sz="2800">
                  <a:solidFill>
                    <a:srgbClr val="15803D"/>
                  </a:solidFill>
                </a:endParaRPr>
              </a:p>
            </p:txBody>
          </p:sp>
        </mc:Fallback>
      </mc:AlternateContent>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both lengths for a general parameter </a:t>
                </a:r>
                <a14:m>
                  <m:oMath xmlns:m="http://schemas.openxmlformats.org/officeDocument/2006/math">
                    <m:r>
                      <a:rPr lang="en-IN" sz="2400" i="1">
                        <a:solidFill>
                          <a:srgbClr val="78350F"/>
                        </a:solidFill>
                        <a:latin typeface="Cambria Math" panose="02040503050406030204" pitchFamily="18" charset="0"/>
                      </a:rPr>
                      <m:t>𝑡</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𝑇</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𝑡</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e>
                    </m:rad>
                  </m:oMath>
                </a14:m>
                <a:r>
                  <a:rPr sz="2400" b="0">
                    <a:solidFill>
                      <a:srgbClr val="78350F"/>
                    </a:solidFill>
                    <a:latin typeface="Arial"/>
                  </a:rPr>
                  <a:t> and normal-chord length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up>
                        </m:sSup>
                      </m:num>
                      <m:den>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den>
                    </m:f>
                  </m:oMath>
                </a14:m>
                <a:r>
                  <a:rPr sz="2400" b="0">
                    <a:solidFill>
                      <a:srgbClr val="78350F"/>
                    </a:solidFill>
                    <a:latin typeface="Arial"/>
                  </a:rPr>
                  <a:t>, so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𝑇</m:t>
                        </m:r>
                      </m:num>
                      <m:den>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3</m:t>
                            </m:r>
                          </m:sup>
                        </m:sSup>
                      </m:num>
                      <m:den>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both lengths for a general parameter </a:t>
                </a:r>
                <a:r>
                  <a:rPr lang="en-IN" sz="2400">
                    <a:solidFill>
                      <a:srgbClr val="78350F"/>
                    </a:solidFill>
                    <a:latin typeface="Cambria Math" panose="02040503050406030204" pitchFamily="18" charset="0"/>
                  </a:rPr>
                  <a:t>$t$</a:t>
                </a:r>
                <a:r>
                  <a:rPr sz="2400" b="0">
                    <a:solidFill>
                      <a:srgbClr val="78350F"/>
                    </a:solidFill>
                    <a:latin typeface="Arial"/>
                  </a:rPr>
                  <a:t>: </a:t>
                </a:r>
                <a:r>
                  <a:rPr lang="en-IN" sz="2400">
                    <a:solidFill>
                      <a:srgbClr val="78350F"/>
                    </a:solidFill>
                    <a:latin typeface="Cambria Math" panose="02040503050406030204" pitchFamily="18" charset="0"/>
                  </a:rPr>
                  <a:t>$PT=2at\sqrt{1+t^2}$</a:t>
                </a:r>
                <a:r>
                  <a:rPr sz="2400" b="0">
                    <a:solidFill>
                      <a:srgbClr val="78350F"/>
                    </a:solidFill>
                    <a:latin typeface="Arial"/>
                  </a:rPr>
                  <a:t> and normal-chord length </a:t>
                </a:r>
                <a:r>
                  <a:rPr lang="en-IN" sz="2400">
                    <a:solidFill>
                      <a:srgbClr val="78350F"/>
                    </a:solidFill>
                    <a:latin typeface="Cambria Math" panose="02040503050406030204" pitchFamily="18" charset="0"/>
                  </a:rPr>
                  <a:t>$PQ=\frac{4a(1+t^2)^{3/2}}{t^2}$</a:t>
                </a:r>
                <a:r>
                  <a:rPr sz="2400" b="0">
                    <a:solidFill>
                      <a:srgbClr val="78350F"/>
                    </a:solidFill>
                    <a:latin typeface="Arial"/>
                  </a:rPr>
                  <a:t>, so </a:t>
                </a:r>
                <a:r>
                  <a:rPr lang="en-IN" sz="2400">
                    <a:solidFill>
                      <a:srgbClr val="78350F"/>
                    </a:solidFill>
                    <a:latin typeface="Cambria Math" panose="02040503050406030204" pitchFamily="18" charset="0"/>
                  </a:rPr>
                  <a:t>$\frac{PT}{PQ}=\frac{t^3}{2(1+t^2)}$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tangent meets the axis at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𝑇</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meets the parabola again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𝑡</m:t>
                        </m:r>
                      </m:den>
                    </m:f>
                  </m:oMath>
                </a14:m>
                <a:r>
                  <a:rPr sz="2400" b="0">
                    <a:solidFill>
                      <a:srgbClr val="111827"/>
                    </a:solidFill>
                    <a:latin typeface="Arial"/>
                  </a:rPr>
                  <a:t>, so the parameter difference is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𝑡</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𝑡</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Chord length between parameters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𝑡</m:t>
                        </m:r>
                      </m:den>
                    </m:f>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$P(at^2,2at)$</a:t>
                </a:r>
                <a:r>
                  <a:rPr sz="2400" b="0">
                    <a:solidFill>
                      <a:srgbClr val="111827"/>
                    </a:solidFill>
                    <a:latin typeface="Arial"/>
                  </a:rPr>
                  <a:t> the tangent meets the axis at </a:t>
                </a:r>
                <a:r>
                  <a:rPr lang="en-IN" sz="2400">
                    <a:solidFill>
                      <a:srgbClr val="111827"/>
                    </a:solidFill>
                    <a:latin typeface="Cambria Math" panose="02040503050406030204" pitchFamily="18" charset="0"/>
                  </a:rPr>
                  <a:t>$T(-at^2,0)$</a:t>
                </a:r>
                <a:r>
                  <a:rPr sz="2400" b="0">
                    <a:solidFill>
                      <a:srgbClr val="111827"/>
                    </a:solidFill>
                    <a:latin typeface="Arial"/>
                  </a:rPr>
                  <a:t>, so </a:t>
                </a:r>
                <a:r>
                  <a:rPr lang="en-IN" sz="2400">
                    <a:solidFill>
                      <a:srgbClr val="111827"/>
                    </a:solidFill>
                    <a:latin typeface="Cambria Math" panose="02040503050406030204" pitchFamily="18" charset="0"/>
                  </a:rPr>
                  <a:t>$PT^2=(2at^2)^2+(2at)^2=4a^2t^2(1+t^2)$</a:t>
                </a:r>
                <a:r>
                  <a:rPr sz="2400" b="0">
                    <a:solidFill>
                      <a:srgbClr val="111827"/>
                    </a:solidFill>
                    <a:latin typeface="Arial"/>
                  </a:rPr>
                  <a:t>, i.e. </a:t>
                </a:r>
                <a:r>
                  <a:rPr lang="en-IN" sz="2400">
                    <a:solidFill>
                      <a:srgbClr val="111827"/>
                    </a:solidFill>
                    <a:latin typeface="Cambria Math" panose="02040503050406030204" pitchFamily="18" charset="0"/>
                  </a:rPr>
                  <a:t>$PT=2at\sqrt{1+t^2}$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meets the parabola again at </a:t>
                </a:r>
                <a:r>
                  <a:rPr lang="en-IN" sz="2400">
                    <a:solidFill>
                      <a:srgbClr val="111827"/>
                    </a:solidFill>
                    <a:latin typeface="Cambria Math" panose="02040503050406030204" pitchFamily="18" charset="0"/>
                  </a:rPr>
                  <a:t>$t_2=-t-\frac2t$</a:t>
                </a:r>
                <a:r>
                  <a:rPr sz="2400" b="0">
                    <a:solidFill>
                      <a:srgbClr val="111827"/>
                    </a:solidFill>
                    <a:latin typeface="Arial"/>
                  </a:rPr>
                  <a:t>, so the parameter difference is </a:t>
                </a:r>
                <a:r>
                  <a:rPr lang="en-IN" sz="2400">
                    <a:solidFill>
                      <a:srgbClr val="111827"/>
                    </a:solidFill>
                    <a:latin typeface="Cambria Math" panose="02040503050406030204" pitchFamily="18" charset="0"/>
                  </a:rPr>
                  <a:t>$t-t_2=2t+\frac2t=\frac{2(t^2+1)}{t}$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Chord length between parameters </a:t>
                </a:r>
                <a:r>
                  <a:rPr lang="en-IN" sz="2400">
                    <a:solidFill>
                      <a:srgbClr val="111827"/>
                    </a:solidFill>
                    <a:latin typeface="Cambria Math" panose="02040503050406030204" pitchFamily="18" charset="0"/>
                  </a:rPr>
                  <a:t>$t,t_2$</a:t>
                </a:r>
                <a:r>
                  <a:rPr sz="2400" b="0">
                    <a:solidFill>
                      <a:srgbClr val="111827"/>
                    </a:solidFill>
                    <a:latin typeface="Arial"/>
                  </a:rPr>
                  <a:t>: </a:t>
                </a:r>
                <a:r>
                  <a:rPr lang="en-IN" sz="2400">
                    <a:solidFill>
                      <a:srgbClr val="111827"/>
                    </a:solidFill>
                    <a:latin typeface="Cambria Math" panose="02040503050406030204" pitchFamily="18" charset="0"/>
                  </a:rPr>
                  <a:t>$PQ=a|t-t_2|\sqrt{(t+t_2)^2+4}=a\cdot\frac{2(t^2+1)}{t}\sqrt{\frac{4}{t^2}+4}=\frac{4a(1+t^2)^{3/2}}{t^2}$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num>
                      <m:den>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Abscissa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num>
                      <m:den>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$\frac{PT}{PQ}=\frac{2at\sqrt{1+t^2}\cdot t^2}{4a(1+t^2)^{3/2}}=\frac{t^3}{2(1+t^2)}$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Abscissa </a:t>
                </a:r>
                <a:r>
                  <a:rPr lang="en-IN" sz="2400">
                    <a:solidFill>
                      <a:srgbClr val="111827"/>
                    </a:solidFill>
                    <a:latin typeface="Cambria Math" panose="02040503050406030204" pitchFamily="18" charset="0"/>
                  </a:rPr>
                  <a:t>$=4a$</a:t>
                </a:r>
                <a:r>
                  <a:rPr sz="2400" b="0">
                    <a:solidFill>
                      <a:srgbClr val="111827"/>
                    </a:solidFill>
                    <a:latin typeface="Arial"/>
                  </a:rPr>
                  <a:t> gives </a:t>
                </a:r>
                <a:r>
                  <a:rPr lang="en-IN" sz="2400">
                    <a:solidFill>
                      <a:srgbClr val="111827"/>
                    </a:solidFill>
                    <a:latin typeface="Cambria Math" panose="02040503050406030204" pitchFamily="18" charset="0"/>
                  </a:rPr>
                  <a:t>$t=2$</a:t>
                </a:r>
                <a:r>
                  <a:rPr sz="2400" b="0">
                    <a:solidFill>
                      <a:srgbClr val="111827"/>
                    </a:solidFill>
                    <a:latin typeface="Arial"/>
                  </a:rPr>
                  <a:t>: </a:t>
                </a:r>
                <a:r>
                  <a:rPr lang="en-IN" sz="2400">
                    <a:solidFill>
                      <a:srgbClr val="111827"/>
                    </a:solidFill>
                    <a:latin typeface="Cambria Math" panose="02040503050406030204" pitchFamily="18" charset="0"/>
                  </a:rPr>
                  <a:t>$\frac{PT}{PQ}=\frac{8}{2\cdot5}=\frac45$</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𝑇</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𝑄</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5</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$PT:PQ=4:5$</a:t>
                </a:r>
                <a:endParaRPr sz="2800">
                  <a:solidFill>
                    <a:srgbClr val="15803D"/>
                  </a:solidFill>
                </a:endParaRPr>
              </a:p>
            </p:txBody>
          </p:sp>
        </mc:Fallback>
      </mc:AlternateContent>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meets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again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 the pair satisfies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meets the axis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normal at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meets the axis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 of the chord joining parameters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this question: </a:t>
                </a:r>
                <a14:m>
                  <m:oMath xmlns:m="http://schemas.openxmlformats.org/officeDocument/2006/math">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𝑇</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oMath>
                </a14:m>
                <a:r>
                  <a:rPr sz="2400" b="0">
                    <a:solidFill>
                      <a:srgbClr val="111827"/>
                    </a:solidFill>
                    <a:latin typeface="Arial"/>
                  </a:rPr>
                  <a:t> is isosceles (</a:t>
                </a:r>
                <a14:m>
                  <m:oMath xmlns:m="http://schemas.openxmlformats.org/officeDocument/2006/math">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oMath>
                </a14:m>
                <a:r>
                  <a:rPr sz="2400" b="0">
                    <a:solidFill>
                      <a:srgbClr val="111827"/>
                    </a:solidFill>
                    <a:latin typeface="Arial"/>
                  </a:rPr>
                  <a:t> for every tangent: the focus is equidistant from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$t_1$</a:t>
                </a:r>
                <a:r>
                  <a:rPr sz="2400" b="0">
                    <a:solidFill>
                      <a:srgbClr val="111827"/>
                    </a:solidFill>
                    <a:latin typeface="Arial"/>
                  </a:rPr>
                  <a:t> meets </a:t>
                </a:r>
                <a:r>
                  <a:rPr lang="en-IN" sz="2400">
                    <a:solidFill>
                      <a:srgbClr val="111827"/>
                    </a:solidFill>
                    <a:latin typeface="Cambria Math" panose="02040503050406030204" pitchFamily="18" charset="0"/>
                  </a:rPr>
                  <a:t>$y^2=4ax$</a:t>
                </a:r>
                <a:r>
                  <a:rPr sz="2400" b="0">
                    <a:solidFill>
                      <a:srgbClr val="111827"/>
                    </a:solidFill>
                    <a:latin typeface="Arial"/>
                  </a:rPr>
                  <a:t> again at </a:t>
                </a:r>
                <a:r>
                  <a:rPr lang="en-IN" sz="2400">
                    <a:solidFill>
                      <a:srgbClr val="111827"/>
                    </a:solidFill>
                    <a:latin typeface="Cambria Math" panose="02040503050406030204" pitchFamily="18" charset="0"/>
                  </a:rPr>
                  <a:t>$t_2=-t_1-\frac{2}{t_1}$</a:t>
                </a:r>
                <a:r>
                  <a:rPr sz="2400" b="0">
                    <a:solidFill>
                      <a:srgbClr val="111827"/>
                    </a:solidFill>
                    <a:latin typeface="Arial"/>
                  </a:rPr>
                  <a:t>; the pair satisfies </a:t>
                </a:r>
                <a:r>
                  <a:rPr lang="en-IN" sz="2400">
                    <a:solidFill>
                      <a:srgbClr val="111827"/>
                    </a:solidFill>
                    <a:latin typeface="Cambria Math" panose="02040503050406030204" pitchFamily="18" charset="0"/>
                  </a:rPr>
                  <a:t>$t_1^2+t_1t_2+2=0$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$t$</a:t>
                </a:r>
                <a:r>
                  <a:rPr sz="2400" b="0">
                    <a:solidFill>
                      <a:srgbClr val="111827"/>
                    </a:solidFill>
                    <a:latin typeface="Arial"/>
                  </a:rPr>
                  <a:t> meets the axis at </a:t>
                </a:r>
                <a:r>
                  <a:rPr lang="en-IN" sz="2400">
                    <a:solidFill>
                      <a:srgbClr val="111827"/>
                    </a:solidFill>
                    <a:latin typeface="Cambria Math" panose="02040503050406030204" pitchFamily="18" charset="0"/>
                  </a:rPr>
                  <a:t>$(-at^2,0)$</a:t>
                </a:r>
                <a:r>
                  <a:rPr sz="2400" b="0">
                    <a:solidFill>
                      <a:srgbClr val="111827"/>
                    </a:solidFill>
                    <a:latin typeface="Arial"/>
                  </a:rPr>
                  <a:t>; normal at </a:t>
                </a:r>
                <a:r>
                  <a:rPr lang="en-IN" sz="2400">
                    <a:solidFill>
                      <a:srgbClr val="111827"/>
                    </a:solidFill>
                    <a:latin typeface="Cambria Math" panose="02040503050406030204" pitchFamily="18" charset="0"/>
                  </a:rPr>
                  <a:t>$t$</a:t>
                </a:r>
                <a:r>
                  <a:rPr sz="2400" b="0">
                    <a:solidFill>
                      <a:srgbClr val="111827"/>
                    </a:solidFill>
                    <a:latin typeface="Arial"/>
                  </a:rPr>
                  <a:t> meets the axis at </a:t>
                </a:r>
                <a:r>
                  <a:rPr lang="en-IN" sz="2400">
                    <a:solidFill>
                      <a:srgbClr val="111827"/>
                    </a:solidFill>
                    <a:latin typeface="Cambria Math" panose="02040503050406030204" pitchFamily="18" charset="0"/>
                  </a:rPr>
                  <a:t>$(a(t^2+2),0)$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 of the chord joining parameters </a:t>
                </a:r>
                <a:r>
                  <a:rPr lang="en-IN" sz="2400">
                    <a:solidFill>
                      <a:srgbClr val="111827"/>
                    </a:solidFill>
                    <a:latin typeface="Cambria Math" panose="02040503050406030204" pitchFamily="18" charset="0"/>
                  </a:rPr>
                  <a:t>$t_1,t_2$</a:t>
                </a:r>
                <a:r>
                  <a:rPr sz="2400" b="0">
                    <a:solidFill>
                      <a:srgbClr val="111827"/>
                    </a:solidFill>
                    <a:latin typeface="Arial"/>
                  </a:rPr>
                  <a:t>: </a:t>
                </a:r>
                <a:r>
                  <a:rPr lang="en-IN" sz="2400">
                    <a:solidFill>
                      <a:srgbClr val="111827"/>
                    </a:solidFill>
                    <a:latin typeface="Cambria Math" panose="02040503050406030204" pitchFamily="18" charset="0"/>
                  </a:rPr>
                  <a:t>$a|t_1-t_2|\sqrt{(t_1+t_2)^2+4}$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this question: </a:t>
                </a:r>
                <a:r>
                  <a:rPr lang="en-IN" sz="2400">
                    <a:solidFill>
                      <a:srgbClr val="111827"/>
                    </a:solidFill>
                    <a:latin typeface="Cambria Math" panose="02040503050406030204" pitchFamily="18" charset="0"/>
                  </a:rPr>
                  <a:t>$SP=x+a=5a=ST$</a:t>
                </a:r>
                <a:r>
                  <a:rPr sz="2400" b="0">
                    <a:solidFill>
                      <a:srgbClr val="111827"/>
                    </a:solidFill>
                    <a:latin typeface="Arial"/>
                  </a:rPr>
                  <a:t>, so </a:t>
                </a:r>
                <a:r>
                  <a:rPr lang="en-IN" sz="2400">
                    <a:solidFill>
                      <a:srgbClr val="111827"/>
                    </a:solidFill>
                    <a:latin typeface="Cambria Math" panose="02040503050406030204" pitchFamily="18" charset="0"/>
                  </a:rPr>
                  <a:t>$\triangle SPT$</a:t>
                </a:r>
                <a:r>
                  <a:rPr sz="2400" b="0">
                    <a:solidFill>
                      <a:srgbClr val="111827"/>
                    </a:solidFill>
                    <a:latin typeface="Arial"/>
                  </a:rPr>
                  <a:t> is isosceles (</a:t>
                </a:r>
                <a:r>
                  <a:rPr lang="en-IN" sz="2400">
                    <a:solidFill>
                      <a:srgbClr val="111827"/>
                    </a:solidFill>
                    <a:latin typeface="Cambria Math" panose="02040503050406030204" pitchFamily="18" charset="0"/>
                  </a:rPr>
                  <a:t>$ST=SP$</a:t>
                </a:r>
                <a:r>
                  <a:rPr sz="2400" b="0">
                    <a:solidFill>
                      <a:srgbClr val="111827"/>
                    </a:solidFill>
                    <a:latin typeface="Arial"/>
                  </a:rPr>
                  <a:t> for every tangent: the focus is equidistant from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Two tangents to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meet the tangent at its vertex in the points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units, prove that the locus of the point of intersection of the two tangents is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Two tangents to the parabola </a:t>
                </a:r>
                <a:r>
                  <a:rPr lang="en-IN" sz="2400">
                    <a:solidFill>
                      <a:srgbClr val="111827"/>
                    </a:solidFill>
                    <a:latin typeface="Cambria Math" panose="02040503050406030204" pitchFamily="18" charset="0"/>
                  </a:rPr>
                  <a:t>$y^2=8x$</a:t>
                </a:r>
                <a:r>
                  <a:rPr sz="2400" b="0">
                    <a:solidFill>
                      <a:srgbClr val="111827"/>
                    </a:solidFill>
                    <a:latin typeface="Arial"/>
                  </a:rPr>
                  <a:t> meet the tangent at its vertex in the points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If </a:t>
                </a:r>
                <a:r>
                  <a:rPr lang="en-IN" sz="2400">
                    <a:solidFill>
                      <a:srgbClr val="111827"/>
                    </a:solidFill>
                    <a:latin typeface="Cambria Math" panose="02040503050406030204" pitchFamily="18" charset="0"/>
                  </a:rPr>
                  <a:t>$PQ=4$</a:t>
                </a:r>
                <a:r>
                  <a:rPr sz="2400" b="0">
                    <a:solidFill>
                      <a:srgbClr val="111827"/>
                    </a:solidFill>
                    <a:latin typeface="Arial"/>
                  </a:rPr>
                  <a:t> units, prove that the locus of the point of intersection of the two tangents is </a:t>
                </a:r>
                <a:r>
                  <a:rPr lang="en-IN" sz="2400">
                    <a:solidFill>
                      <a:srgbClr val="111827"/>
                    </a:solidFill>
                    <a:latin typeface="Cambria Math" panose="02040503050406030204" pitchFamily="18" charset="0"/>
                  </a:rPr>
                  <a:t>$y^2=8(x+2)$</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516884"/>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Tangents to a parabola (parametric form), Locus of the point of intersection of two tangents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tangent at </a:t>
                </a:r>
                <a14:m>
                  <m:oMath xmlns:m="http://schemas.openxmlformats.org/officeDocument/2006/math">
                    <m:r>
                      <a:rPr lang="en-IN" sz="2400" i="1">
                        <a:solidFill>
                          <a:srgbClr val="78350F"/>
                        </a:solidFill>
                        <a:latin typeface="Cambria Math" panose="02040503050406030204" pitchFamily="18" charset="0"/>
                      </a:rPr>
                      <m:t>𝑡</m:t>
                    </m:r>
                  </m:oMath>
                </a14:m>
                <a:r>
                  <a:rPr sz="2400" b="0">
                    <a:solidFill>
                      <a:srgbClr val="78350F"/>
                    </a:solidFill>
                    <a:latin typeface="Arial"/>
                  </a:rPr>
                  <a:t> cuts the </a:t>
                </a:r>
                <a14:m>
                  <m:oMath xmlns:m="http://schemas.openxmlformats.org/officeDocument/2006/math">
                    <m:r>
                      <a:rPr lang="en-IN" sz="2400" i="1">
                        <a:solidFill>
                          <a:srgbClr val="78350F"/>
                        </a:solidFill>
                        <a:latin typeface="Cambria Math" panose="02040503050406030204" pitchFamily="18" charset="0"/>
                      </a:rPr>
                      <m:t>𝑦</m:t>
                    </m:r>
                  </m:oMath>
                </a14:m>
                <a:r>
                  <a:rPr sz="2400" b="0">
                    <a:solidFill>
                      <a:srgbClr val="78350F"/>
                    </a:solidFill>
                    <a:latin typeface="Arial"/>
                  </a:rPr>
                  <a:t>-axis at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𝑡</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 combine this with </a:t>
                </a:r>
                <a14:m>
                  <m:oMath xmlns:m="http://schemas.openxmlformats.org/officeDocument/2006/math">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tangent at </a:t>
                </a:r>
                <a:r>
                  <a:rPr lang="en-IN" sz="2400">
                    <a:solidFill>
                      <a:srgbClr val="78350F"/>
                    </a:solidFill>
                    <a:latin typeface="Cambria Math" panose="02040503050406030204" pitchFamily="18" charset="0"/>
                  </a:rPr>
                  <a:t>$t$</a:t>
                </a:r>
                <a:r>
                  <a:rPr sz="2400" b="0">
                    <a:solidFill>
                      <a:srgbClr val="78350F"/>
                    </a:solidFill>
                    <a:latin typeface="Arial"/>
                  </a:rPr>
                  <a:t> cuts the </a:t>
                </a:r>
                <a:r>
                  <a:rPr lang="en-IN" sz="2400">
                    <a:solidFill>
                      <a:srgbClr val="78350F"/>
                    </a:solidFill>
                    <a:latin typeface="Cambria Math" panose="02040503050406030204" pitchFamily="18" charset="0"/>
                  </a:rPr>
                  <a:t>$y$</a:t>
                </a:r>
                <a:r>
                  <a:rPr sz="2400" b="0">
                    <a:solidFill>
                      <a:srgbClr val="78350F"/>
                    </a:solidFill>
                    <a:latin typeface="Arial"/>
                  </a:rPr>
                  <a:t>-axis at </a:t>
                </a:r>
                <a:r>
                  <a:rPr lang="en-IN" sz="2400">
                    <a:solidFill>
                      <a:srgbClr val="78350F"/>
                    </a:solidFill>
                    <a:latin typeface="Cambria Math" panose="02040503050406030204" pitchFamily="18" charset="0"/>
                  </a:rPr>
                  <a:t>$y=at$</a:t>
                </a:r>
                <a:r>
                  <a:rPr sz="2400" b="0">
                    <a:solidFill>
                      <a:srgbClr val="78350F"/>
                    </a:solidFill>
                    <a:latin typeface="Arial"/>
                  </a:rPr>
                  <a:t>, so </a:t>
                </a:r>
                <a:r>
                  <a:rPr lang="en-IN" sz="2400">
                    <a:solidFill>
                      <a:srgbClr val="78350F"/>
                    </a:solidFill>
                    <a:latin typeface="Cambria Math" panose="02040503050406030204" pitchFamily="18" charset="0"/>
                  </a:rPr>
                  <a:t>$PQ=a|t_1-t_2|$</a:t>
                </a:r>
                <a:r>
                  <a:rPr sz="2400" b="0">
                    <a:solidFill>
                      <a:srgbClr val="78350F"/>
                    </a:solidFill>
                    <a:latin typeface="Arial"/>
                  </a:rPr>
                  <a:t>; combine this with </a:t>
                </a:r>
                <a:r>
                  <a:rPr lang="en-IN" sz="2400">
                    <a:solidFill>
                      <a:srgbClr val="78350F"/>
                    </a:solidFill>
                    <a:latin typeface="Cambria Math" panose="02040503050406030204" pitchFamily="18" charset="0"/>
                  </a:rPr>
                  <a:t>$h=at_1t_2,\ k=a(t_1+t_2)$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tangent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the vertex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putting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So the tangents meet it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tangents meet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$y^2=8x$</a:t>
                </a:r>
                <a:r>
                  <a:rPr sz="2400" b="0">
                    <a:solidFill>
                      <a:srgbClr val="111827"/>
                    </a:solidFill>
                    <a:latin typeface="Arial"/>
                  </a:rPr>
                  <a:t>, </a:t>
                </a:r>
                <a:r>
                  <a:rPr lang="en-IN" sz="2400">
                    <a:solidFill>
                      <a:srgbClr val="111827"/>
                    </a:solidFill>
                    <a:latin typeface="Cambria Math" panose="02040503050406030204" pitchFamily="18" charset="0"/>
                  </a:rPr>
                  <a:t>$a=2$</a:t>
                </a:r>
                <a:r>
                  <a:rPr sz="2400" b="0">
                    <a:solidFill>
                      <a:srgbClr val="111827"/>
                    </a:solidFill>
                    <a:latin typeface="Arial"/>
                  </a:rPr>
                  <a:t>. The tangent at </a:t>
                </a:r>
                <a:r>
                  <a:rPr lang="en-IN" sz="2400">
                    <a:solidFill>
                      <a:srgbClr val="111827"/>
                    </a:solidFill>
                    <a:latin typeface="Cambria Math" panose="02040503050406030204" pitchFamily="18" charset="0"/>
                  </a:rPr>
                  <a:t>$P(t_1)$</a:t>
                </a:r>
                <a:r>
                  <a:rPr sz="2400" b="0">
                    <a:solidFill>
                      <a:srgbClr val="111827"/>
                    </a:solidFill>
                    <a:latin typeface="Arial"/>
                  </a:rPr>
                  <a:t> is </a:t>
                </a:r>
                <a:r>
                  <a:rPr lang="en-IN" sz="2400">
                    <a:solidFill>
                      <a:srgbClr val="111827"/>
                    </a:solidFill>
                    <a:latin typeface="Cambria Math" panose="02040503050406030204" pitchFamily="18" charset="0"/>
                  </a:rPr>
                  <a:t>$t_1y=x+2t_1^2$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the vertex is </a:t>
                </a:r>
                <a:r>
                  <a:rPr lang="en-IN" sz="2400">
                    <a:solidFill>
                      <a:srgbClr val="111827"/>
                    </a:solidFill>
                    <a:latin typeface="Cambria Math" panose="02040503050406030204" pitchFamily="18" charset="0"/>
                  </a:rPr>
                  <a:t>$x=0$</a:t>
                </a:r>
                <a:r>
                  <a:rPr sz="2400" b="0">
                    <a:solidFill>
                      <a:srgbClr val="111827"/>
                    </a:solidFill>
                    <a:latin typeface="Arial"/>
                  </a:rPr>
                  <a:t>; putting </a:t>
                </a:r>
                <a:r>
                  <a:rPr lang="en-IN" sz="2400">
                    <a:solidFill>
                      <a:srgbClr val="111827"/>
                    </a:solidFill>
                    <a:latin typeface="Cambria Math" panose="02040503050406030204" pitchFamily="18" charset="0"/>
                  </a:rPr>
                  <a:t>$x=0$</a:t>
                </a:r>
                <a:r>
                  <a:rPr sz="2400" b="0">
                    <a:solidFill>
                      <a:srgbClr val="111827"/>
                    </a:solidFill>
                    <a:latin typeface="Arial"/>
                  </a:rPr>
                  <a:t> gives </a:t>
                </a:r>
                <a:r>
                  <a:rPr lang="en-IN" sz="2400">
                    <a:solidFill>
                      <a:srgbClr val="111827"/>
                    </a:solidFill>
                    <a:latin typeface="Cambria Math" panose="02040503050406030204" pitchFamily="18" charset="0"/>
                  </a:rPr>
                  <a:t>$y=2t_1$</a:t>
                </a:r>
                <a:r>
                  <a:rPr sz="2400" b="0">
                    <a:solidFill>
                      <a:srgbClr val="111827"/>
                    </a:solidFill>
                    <a:latin typeface="Arial"/>
                  </a:rPr>
                  <a:t>. So the tangents meet it at </a:t>
                </a:r>
                <a:r>
                  <a:rPr lang="en-IN" sz="2400">
                    <a:solidFill>
                      <a:srgbClr val="111827"/>
                    </a:solidFill>
                    <a:latin typeface="Cambria Math" panose="02040503050406030204" pitchFamily="18" charset="0"/>
                  </a:rPr>
                  <a:t>$(0,2t_1)$</a:t>
                </a:r>
                <a:r>
                  <a:rPr sz="2400" b="0">
                    <a:solidFill>
                      <a:srgbClr val="111827"/>
                    </a:solidFill>
                    <a:latin typeface="Arial"/>
                  </a:rPr>
                  <a:t> and </a:t>
                </a:r>
                <a:r>
                  <a:rPr lang="en-IN" sz="2400">
                    <a:solidFill>
                      <a:srgbClr val="111827"/>
                    </a:solidFill>
                    <a:latin typeface="Cambria Math" panose="02040503050406030204" pitchFamily="18" charset="0"/>
                  </a:rPr>
                  <a:t>$(0,2t_2)$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$PQ=2|t_1-t_2|=4$</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tangents meet at </a:t>
                </a:r>
                <a:r>
                  <a:rPr lang="en-IN" sz="2400">
                    <a:solidFill>
                      <a:srgbClr val="111827"/>
                    </a:solidFill>
                    <a:latin typeface="Cambria Math" panose="02040503050406030204" pitchFamily="18" charset="0"/>
                  </a:rPr>
                  <a:t>$(h,k)$</a:t>
                </a:r>
                <a:r>
                  <a:rPr sz="2400" b="0">
                    <a:solidFill>
                      <a:srgbClr val="111827"/>
                    </a:solidFill>
                    <a:latin typeface="Arial"/>
                  </a:rPr>
                  <a:t> with </a:t>
                </a:r>
                <a:r>
                  <a:rPr lang="en-IN" sz="2400">
                    <a:solidFill>
                      <a:srgbClr val="111827"/>
                    </a:solidFill>
                    <a:latin typeface="Cambria Math" panose="02040503050406030204" pitchFamily="18" charset="0"/>
                  </a:rPr>
                  <a:t>$h=at_1t_2$</a:t>
                </a:r>
                <a:r>
                  <a:rPr sz="2400" b="0">
                    <a:solidFill>
                      <a:srgbClr val="111827"/>
                    </a:solidFill>
                    <a:latin typeface="Arial"/>
                  </a:rPr>
                  <a:t>, </a:t>
                </a:r>
                <a:r>
                  <a:rPr lang="en-IN" sz="2400">
                    <a:solidFill>
                      <a:srgbClr val="111827"/>
                    </a:solidFill>
                    <a:latin typeface="Cambria Math" panose="02040503050406030204" pitchFamily="18" charset="0"/>
                  </a:rPr>
                  <a:t>$k=a(t_1+t_2)$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(1):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(1): </a:t>
                </a:r>
                <a:r>
                  <a:rPr lang="en-IN" sz="2400">
                    <a:solidFill>
                      <a:srgbClr val="111827"/>
                    </a:solidFill>
                    <a:latin typeface="Cambria Math" panose="02040503050406030204" pitchFamily="18" charset="0"/>
                  </a:rPr>
                  <a:t>$(t_1-t_2)^2=4$</a:t>
                </a:r>
                <a:r>
                  <a:rPr sz="2400" b="0">
                    <a:solidFill>
                      <a:srgbClr val="111827"/>
                    </a:solidFill>
                    <a:latin typeface="Arial"/>
                  </a:rPr>
                  <a:t>, i.e. </a:t>
                </a:r>
                <a:r>
                  <a:rPr lang="en-IN" sz="2400">
                    <a:solidFill>
                      <a:srgbClr val="111827"/>
                    </a:solidFill>
                    <a:latin typeface="Cambria Math" panose="02040503050406030204" pitchFamily="18" charset="0"/>
                  </a:rPr>
                  <a:t>$(t_1+t_2)^2-4t_1t_2=4$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$\frac{k^2}{a^2}-\frac{4h}{a}=4$</a:t>
                </a:r>
                <a:r>
                  <a:rPr sz="2400" b="0">
                    <a:solidFill>
                      <a:srgbClr val="111827"/>
                    </a:solidFill>
                    <a:latin typeface="Arial"/>
                  </a:rPr>
                  <a:t>, i.e. </a:t>
                </a:r>
                <a:r>
                  <a:rPr lang="en-IN" sz="2400">
                    <a:solidFill>
                      <a:srgbClr val="111827"/>
                    </a:solidFill>
                    <a:latin typeface="Cambria Math" panose="02040503050406030204" pitchFamily="18" charset="0"/>
                  </a:rPr>
                  <a:t>$k^2=4a^2+4ah=16+8h$</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$y^2=8(x+2)$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8</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$y^2=8(x+2)$</a:t>
                </a:r>
                <a:endParaRPr sz="2800">
                  <a:solidFill>
                    <a:srgbClr val="15803D"/>
                  </a:solidFill>
                </a:endParaRPr>
              </a:p>
            </p:txBody>
          </p:sp>
        </mc:Fallback>
      </mc:AlternateContent>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Fix the external point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first: the </a:t>
                </a:r>
                <a14:m>
                  <m:oMath xmlns:m="http://schemas.openxmlformats.org/officeDocument/2006/math">
                    <m:r>
                      <a:rPr lang="en-IN" sz="2400" i="1">
                        <a:solidFill>
                          <a:srgbClr val="78350F"/>
                        </a:solidFill>
                        <a:latin typeface="Cambria Math" panose="02040503050406030204" pitchFamily="18" charset="0"/>
                      </a:rPr>
                      <m:t>𝑦</m:t>
                    </m:r>
                  </m:oMath>
                </a14:m>
                <a:r>
                  <a:rPr sz="2400" b="0">
                    <a:solidFill>
                      <a:srgbClr val="78350F"/>
                    </a:solidFill>
                    <a:latin typeface="Arial"/>
                  </a:rPr>
                  <a:t>-intercepts of the two tangents from it are the roots of a quadratic, and their difference is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Fix the external point </a:t>
                </a:r>
                <a:r>
                  <a:rPr lang="en-IN" sz="2400">
                    <a:solidFill>
                      <a:srgbClr val="78350F"/>
                    </a:solidFill>
                    <a:latin typeface="Cambria Math" panose="02040503050406030204" pitchFamily="18" charset="0"/>
                  </a:rPr>
                  <a:t>$(h,k)$</a:t>
                </a:r>
                <a:r>
                  <a:rPr sz="2400" b="0">
                    <a:solidFill>
                      <a:srgbClr val="78350F"/>
                    </a:solidFill>
                    <a:latin typeface="Arial"/>
                  </a:rPr>
                  <a:t> first: the </a:t>
                </a:r>
                <a:r>
                  <a:rPr lang="en-IN" sz="2400">
                    <a:solidFill>
                      <a:srgbClr val="78350F"/>
                    </a:solidFill>
                    <a:latin typeface="Cambria Math" panose="02040503050406030204" pitchFamily="18" charset="0"/>
                  </a:rPr>
                  <a:t>$y$</a:t>
                </a:r>
                <a:r>
                  <a:rPr sz="2400" b="0">
                    <a:solidFill>
                      <a:srgbClr val="78350F"/>
                    </a:solidFill>
                    <a:latin typeface="Arial"/>
                  </a:rPr>
                  <a:t>-intercepts of the two tangents from it are the roots of a quadratic, and their difference is </a:t>
                </a:r>
                <a:r>
                  <a:rPr lang="en-IN" sz="2400">
                    <a:solidFill>
                      <a:srgbClr val="78350F"/>
                    </a:solidFill>
                    <a:latin typeface="Cambria Math" panose="02040503050406030204" pitchFamily="18" charset="0"/>
                  </a:rPr>
                  <a:t>$PQ$</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tangent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its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-intercept is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𝑐</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it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two tangents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have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-intercepts </a:t>
                </a:r>
                <a14:m>
                  <m:oMath xmlns:m="http://schemas.openxmlformats.org/officeDocument/2006/math">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(the points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oMath>
                </a14:m>
                <a:r>
                  <a:rPr sz="2400" b="0">
                    <a:solidFill>
                      <a:srgbClr val="111827"/>
                    </a:solidFill>
                    <a:latin typeface="Arial"/>
                  </a:rPr>
                  <a:t>), roots of this quadratic.</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tangent to </a:t>
                </a:r>
                <a:r>
                  <a:rPr lang="en-IN" sz="2400">
                    <a:solidFill>
                      <a:srgbClr val="111827"/>
                    </a:solidFill>
                    <a:latin typeface="Cambria Math" panose="02040503050406030204" pitchFamily="18" charset="0"/>
                  </a:rPr>
                  <a:t>$y^2=8x$</a:t>
                </a:r>
                <a:r>
                  <a:rPr sz="2400" b="0">
                    <a:solidFill>
                      <a:srgbClr val="111827"/>
                    </a:solidFill>
                    <a:latin typeface="Arial"/>
                  </a:rPr>
                  <a:t> is </a:t>
                </a:r>
                <a:r>
                  <a:rPr lang="en-IN" sz="2400">
                    <a:solidFill>
                      <a:srgbClr val="111827"/>
                    </a:solidFill>
                    <a:latin typeface="Cambria Math" panose="02040503050406030204" pitchFamily="18" charset="0"/>
                  </a:rPr>
                  <a:t>$y=mx+\frac2m$</a:t>
                </a:r>
                <a:r>
                  <a:rPr sz="2400" b="0">
                    <a:solidFill>
                      <a:srgbClr val="111827"/>
                    </a:solidFill>
                    <a:latin typeface="Arial"/>
                  </a:rPr>
                  <a:t>; its </a:t>
                </a:r>
                <a:r>
                  <a:rPr lang="en-IN" sz="2400">
                    <a:solidFill>
                      <a:srgbClr val="111827"/>
                    </a:solidFill>
                    <a:latin typeface="Cambria Math" panose="02040503050406030204" pitchFamily="18" charset="0"/>
                  </a:rPr>
                  <a:t>$y$</a:t>
                </a:r>
                <a:r>
                  <a:rPr sz="2400" b="0">
                    <a:solidFill>
                      <a:srgbClr val="111827"/>
                    </a:solidFill>
                    <a:latin typeface="Arial"/>
                  </a:rPr>
                  <a:t>-intercept is </a:t>
                </a:r>
                <a:r>
                  <a:rPr lang="en-IN" sz="2400">
                    <a:solidFill>
                      <a:srgbClr val="111827"/>
                    </a:solidFill>
                    <a:latin typeface="Cambria Math" panose="02040503050406030204" pitchFamily="18" charset="0"/>
                  </a:rPr>
                  <a:t>$c=\frac2m$</a:t>
                </a:r>
                <a:r>
                  <a:rPr sz="2400" b="0">
                    <a:solidFill>
                      <a:srgbClr val="111827"/>
                    </a:solidFill>
                    <a:latin typeface="Arial"/>
                  </a:rPr>
                  <a:t>, so </a:t>
                </a:r>
                <a:r>
                  <a:rPr lang="en-IN" sz="2400">
                    <a:solidFill>
                      <a:srgbClr val="111827"/>
                    </a:solidFill>
                    <a:latin typeface="Cambria Math" panose="02040503050406030204" pitchFamily="18" charset="0"/>
                  </a:rPr>
                  <a:t>$m=\frac2c$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it passes through </a:t>
                </a:r>
                <a:r>
                  <a:rPr lang="en-IN" sz="2400">
                    <a:solidFill>
                      <a:srgbClr val="111827"/>
                    </a:solidFill>
                    <a:latin typeface="Cambria Math" panose="02040503050406030204" pitchFamily="18" charset="0"/>
                  </a:rPr>
                  <a:t>$(h,k)$</a:t>
                </a:r>
                <a:r>
                  <a:rPr sz="2400" b="0">
                    <a:solidFill>
                      <a:srgbClr val="111827"/>
                    </a:solidFill>
                    <a:latin typeface="Arial"/>
                  </a:rPr>
                  <a:t>: </a:t>
                </a:r>
                <a:r>
                  <a:rPr lang="en-IN" sz="2400">
                    <a:solidFill>
                      <a:srgbClr val="111827"/>
                    </a:solidFill>
                    <a:latin typeface="Cambria Math" panose="02040503050406030204" pitchFamily="18" charset="0"/>
                  </a:rPr>
                  <a:t>$k=\frac{2h}{c}+c$</a:t>
                </a:r>
                <a:r>
                  <a:rPr sz="2400" b="0">
                    <a:solidFill>
                      <a:srgbClr val="111827"/>
                    </a:solidFill>
                    <a:latin typeface="Arial"/>
                  </a:rPr>
                  <a:t>, i.e. </a:t>
                </a:r>
                <a:r>
                  <a:rPr lang="en-IN" sz="2400">
                    <a:solidFill>
                      <a:srgbClr val="111827"/>
                    </a:solidFill>
                    <a:latin typeface="Cambria Math" panose="02040503050406030204" pitchFamily="18" charset="0"/>
                  </a:rPr>
                  <a:t>$c^2-kc+2h=0$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two tangents from </a:t>
                </a:r>
                <a:r>
                  <a:rPr lang="en-IN" sz="2400">
                    <a:solidFill>
                      <a:srgbClr val="111827"/>
                    </a:solidFill>
                    <a:latin typeface="Cambria Math" panose="02040503050406030204" pitchFamily="18" charset="0"/>
                  </a:rPr>
                  <a:t>$(h,k)$</a:t>
                </a:r>
                <a:r>
                  <a:rPr sz="2400" b="0">
                    <a:solidFill>
                      <a:srgbClr val="111827"/>
                    </a:solidFill>
                    <a:latin typeface="Arial"/>
                  </a:rPr>
                  <a:t> have </a:t>
                </a:r>
                <a:r>
                  <a:rPr lang="en-IN" sz="2400">
                    <a:solidFill>
                      <a:srgbClr val="111827"/>
                    </a:solidFill>
                    <a:latin typeface="Cambria Math" panose="02040503050406030204" pitchFamily="18" charset="0"/>
                  </a:rPr>
                  <a:t>$y$</a:t>
                </a:r>
                <a:r>
                  <a:rPr sz="2400" b="0">
                    <a:solidFill>
                      <a:srgbClr val="111827"/>
                    </a:solidFill>
                    <a:latin typeface="Arial"/>
                  </a:rPr>
                  <a:t>-intercepts </a:t>
                </a:r>
                <a:r>
                  <a:rPr lang="en-IN" sz="2400">
                    <a:solidFill>
                      <a:srgbClr val="111827"/>
                    </a:solidFill>
                    <a:latin typeface="Cambria Math" panose="02040503050406030204" pitchFamily="18" charset="0"/>
                  </a:rPr>
                  <a:t>$c_1,c_2$</a:t>
                </a:r>
                <a:r>
                  <a:rPr sz="2400" b="0">
                    <a:solidFill>
                      <a:srgbClr val="111827"/>
                    </a:solidFill>
                    <a:latin typeface="Arial"/>
                  </a:rPr>
                  <a:t> (the points </a:t>
                </a:r>
                <a:r>
                  <a:rPr lang="en-IN" sz="2400">
                    <a:solidFill>
                      <a:srgbClr val="111827"/>
                    </a:solidFill>
                    <a:latin typeface="Cambria Math" panose="02040503050406030204" pitchFamily="18" charset="0"/>
                  </a:rPr>
                  <a:t>$P,Q$</a:t>
                </a:r>
                <a:r>
                  <a:rPr sz="2400" b="0">
                    <a:solidFill>
                      <a:srgbClr val="111827"/>
                    </a:solidFill>
                    <a:latin typeface="Arial"/>
                  </a:rPr>
                  <a:t>), roots of this quadratic.</a:t>
                </a:r>
                <a:endParaRPr sz="2400">
                  <a:solidFill>
                    <a:srgbClr val="111827"/>
                  </a:solidFill>
                </a:endParaRPr>
              </a:p>
            </p:txBody>
          </p:sp>
        </mc:Fallback>
      </mc:AlternateContent>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ℎ</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locus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$PQ=|c_1-c_2|=\sqrt{k^2-8h}=4$</a:t>
                </a:r>
                <a:r>
                  <a:rPr sz="2400" b="0">
                    <a:solidFill>
                      <a:srgbClr val="111827"/>
                    </a:solidFill>
                    <a:latin typeface="Arial"/>
                  </a:rPr>
                  <a:t>, so </a:t>
                </a:r>
                <a:r>
                  <a:rPr lang="en-IN" sz="2400">
                    <a:solidFill>
                      <a:srgbClr val="111827"/>
                    </a:solidFill>
                    <a:latin typeface="Cambria Math" panose="02040503050406030204" pitchFamily="18" charset="0"/>
                  </a:rPr>
                  <a:t>$k^2-8h=16$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locus of </a:t>
                </a:r>
                <a:r>
                  <a:rPr lang="en-IN" sz="2400">
                    <a:solidFill>
                      <a:srgbClr val="111827"/>
                    </a:solidFill>
                    <a:latin typeface="Cambria Math" panose="02040503050406030204" pitchFamily="18" charset="0"/>
                  </a:rPr>
                  <a:t>$(h,k)$</a:t>
                </a:r>
                <a:r>
                  <a:rPr sz="2400" b="0">
                    <a:solidFill>
                      <a:srgbClr val="111827"/>
                    </a:solidFill>
                    <a:latin typeface="Arial"/>
                  </a:rPr>
                  <a:t> is </a:t>
                </a:r>
                <a:r>
                  <a:rPr lang="en-IN" sz="2400">
                    <a:solidFill>
                      <a:srgbClr val="111827"/>
                    </a:solidFill>
                    <a:latin typeface="Cambria Math" panose="02040503050406030204" pitchFamily="18" charset="0"/>
                  </a:rPr>
                  <a:t>$y^2=8x+16=8(x+2)$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8</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$y^2=8(x+2)$</a:t>
                </a:r>
                <a:endParaRPr sz="2800">
                  <a:solidFill>
                    <a:srgbClr val="15803D"/>
                  </a:solidFill>
                </a:endParaRPr>
              </a:p>
            </p:txBody>
          </p:sp>
        </mc:Fallback>
      </mc:AlternateContent>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 at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cuts the tangent at the vertex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Tangents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ℎ</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(roots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-intercepts </a:t>
                </a:r>
                <a14:m>
                  <m:oMath xmlns:m="http://schemas.openxmlformats.org/officeDocument/2006/math">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of the two tangents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roots of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e>
                    </m:rad>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oMath>
                </a14:m>
                <a:r>
                  <a:rPr sz="2400" b="0">
                    <a:solidFill>
                      <a:srgbClr val="111827"/>
                    </a:solidFill>
                    <a:latin typeface="Arial"/>
                  </a:rPr>
                  <a:t> at fixed distance </a:t>
                </a:r>
                <a14:m>
                  <m:oMath xmlns:m="http://schemas.openxmlformats.org/officeDocument/2006/math">
                    <m:r>
                      <a:rPr lang="en-IN" sz="2400" i="1">
                        <a:solidFill>
                          <a:srgbClr val="111827"/>
                        </a:solidFill>
                        <a:latin typeface="Cambria Math" panose="02040503050406030204" pitchFamily="18" charset="0"/>
                      </a:rPr>
                      <m:t>𝑑</m:t>
                    </m:r>
                  </m:oMath>
                </a14:m>
                <a:r>
                  <a:rPr sz="2400" b="0">
                    <a:solidFill>
                      <a:srgbClr val="111827"/>
                    </a:solidFill>
                    <a:latin typeface="Arial"/>
                  </a:rPr>
                  <a:t> give the parabola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𝑑</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tangents meet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 at </a:t>
                </a:r>
                <a:r>
                  <a:rPr lang="en-IN" sz="2400">
                    <a:solidFill>
                      <a:srgbClr val="111827"/>
                    </a:solidFill>
                    <a:latin typeface="Cambria Math" panose="02040503050406030204" pitchFamily="18" charset="0"/>
                  </a:rPr>
                  <a:t>$t$</a:t>
                </a:r>
                <a:r>
                  <a:rPr sz="2400" b="0">
                    <a:solidFill>
                      <a:srgbClr val="111827"/>
                    </a:solidFill>
                    <a:latin typeface="Arial"/>
                  </a:rPr>
                  <a:t> to </a:t>
                </a:r>
                <a:r>
                  <a:rPr lang="en-IN" sz="2400">
                    <a:solidFill>
                      <a:srgbClr val="111827"/>
                    </a:solidFill>
                    <a:latin typeface="Cambria Math" panose="02040503050406030204" pitchFamily="18" charset="0"/>
                  </a:rPr>
                  <a:t>$y^2=4ax$</a:t>
                </a:r>
                <a:r>
                  <a:rPr sz="2400" b="0">
                    <a:solidFill>
                      <a:srgbClr val="111827"/>
                    </a:solidFill>
                    <a:latin typeface="Arial"/>
                  </a:rPr>
                  <a:t> cuts the tangent at the vertex at </a:t>
                </a:r>
                <a:r>
                  <a:rPr lang="en-IN" sz="2400">
                    <a:solidFill>
                      <a:srgbClr val="111827"/>
                    </a:solidFill>
                    <a:latin typeface="Cambria Math" panose="02040503050406030204" pitchFamily="18" charset="0"/>
                  </a:rPr>
                  <a:t>$(0,at)$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Tangents from </a:t>
                </a:r>
                <a:r>
                  <a:rPr lang="en-IN" sz="2400">
                    <a:solidFill>
                      <a:srgbClr val="111827"/>
                    </a:solidFill>
                    <a:latin typeface="Cambria Math" panose="02040503050406030204" pitchFamily="18" charset="0"/>
                  </a:rPr>
                  <a:t>$(h,k)$</a:t>
                </a:r>
                <a:r>
                  <a:rPr sz="2400" b="0">
                    <a:solidFill>
                      <a:srgbClr val="111827"/>
                    </a:solidFill>
                    <a:latin typeface="Arial"/>
                  </a:rPr>
                  <a:t>: </a:t>
                </a:r>
                <a:r>
                  <a:rPr lang="en-IN" sz="2400">
                    <a:solidFill>
                      <a:srgbClr val="111827"/>
                    </a:solidFill>
                    <a:latin typeface="Cambria Math" panose="02040503050406030204" pitchFamily="18" charset="0"/>
                  </a:rPr>
                  <a:t>$y=mx+\frac am$</a:t>
                </a:r>
                <a:r>
                  <a:rPr sz="2400" b="0">
                    <a:solidFill>
                      <a:srgbClr val="111827"/>
                    </a:solidFill>
                    <a:latin typeface="Arial"/>
                  </a:rPr>
                  <a:t> through </a:t>
                </a:r>
                <a:r>
                  <a:rPr lang="en-IN" sz="2400">
                    <a:solidFill>
                      <a:srgbClr val="111827"/>
                    </a:solidFill>
                    <a:latin typeface="Cambria Math" panose="02040503050406030204" pitchFamily="18" charset="0"/>
                  </a:rPr>
                  <a:t>$(h,k)$</a:t>
                </a:r>
                <a:r>
                  <a:rPr sz="2400" b="0">
                    <a:solidFill>
                      <a:srgbClr val="111827"/>
                    </a:solidFill>
                    <a:latin typeface="Arial"/>
                  </a:rPr>
                  <a:t> gives </a:t>
                </a:r>
                <a:r>
                  <a:rPr lang="en-IN" sz="2400">
                    <a:solidFill>
                      <a:srgbClr val="111827"/>
                    </a:solidFill>
                    <a:latin typeface="Cambria Math" panose="02040503050406030204" pitchFamily="18" charset="0"/>
                  </a:rPr>
                  <a:t>$hm^2-km+a=0$</a:t>
                </a:r>
                <a:r>
                  <a:rPr sz="2400" b="0">
                    <a:solidFill>
                      <a:srgbClr val="111827"/>
                    </a:solidFill>
                    <a:latin typeface="Arial"/>
                  </a:rPr>
                  <a:t> (roots </a:t>
                </a:r>
                <a:r>
                  <a:rPr lang="en-IN" sz="2400">
                    <a:solidFill>
                      <a:srgbClr val="111827"/>
                    </a:solidFill>
                    <a:latin typeface="Cambria Math" panose="02040503050406030204" pitchFamily="18" charset="0"/>
                  </a:rPr>
                  <a:t>$m_1,m_2$</a:t>
                </a:r>
                <a:r>
                  <a:rPr sz="2400" b="0">
                    <a:solidFill>
                      <a:srgbClr val="111827"/>
                    </a:solidFill>
                    <a:latin typeface="Arial"/>
                  </a:rPr>
                  <a:t>, with </a:t>
                </a:r>
                <a:r>
                  <a:rPr lang="en-IN" sz="2400">
                    <a:solidFill>
                      <a:srgbClr val="111827"/>
                    </a:solidFill>
                    <a:latin typeface="Cambria Math" panose="02040503050406030204" pitchFamily="18" charset="0"/>
                  </a:rPr>
                  <a:t>$m_1+m_2=\frac kh,\ m_1m_2=\frac ah$</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r>
                  <a:rPr lang="en-IN" sz="2400">
                    <a:solidFill>
                      <a:srgbClr val="111827"/>
                    </a:solidFill>
                    <a:latin typeface="Cambria Math" panose="02040503050406030204" pitchFamily="18" charset="0"/>
                  </a:rPr>
                  <a:t>$y$</a:t>
                </a:r>
                <a:r>
                  <a:rPr sz="2400" b="0">
                    <a:solidFill>
                      <a:srgbClr val="111827"/>
                    </a:solidFill>
                    <a:latin typeface="Arial"/>
                  </a:rPr>
                  <a:t>-intercepts </a:t>
                </a:r>
                <a:r>
                  <a:rPr lang="en-IN" sz="2400">
                    <a:solidFill>
                      <a:srgbClr val="111827"/>
                    </a:solidFill>
                    <a:latin typeface="Cambria Math" panose="02040503050406030204" pitchFamily="18" charset="0"/>
                  </a:rPr>
                  <a:t>$c_1,c_2$</a:t>
                </a:r>
                <a:r>
                  <a:rPr sz="2400" b="0">
                    <a:solidFill>
                      <a:srgbClr val="111827"/>
                    </a:solidFill>
                    <a:latin typeface="Arial"/>
                  </a:rPr>
                  <a:t> of the two tangents from </a:t>
                </a:r>
                <a:r>
                  <a:rPr lang="en-IN" sz="2400">
                    <a:solidFill>
                      <a:srgbClr val="111827"/>
                    </a:solidFill>
                    <a:latin typeface="Cambria Math" panose="02040503050406030204" pitchFamily="18" charset="0"/>
                  </a:rPr>
                  <a:t>$(h,k)$</a:t>
                </a:r>
                <a:r>
                  <a:rPr sz="2400" b="0">
                    <a:solidFill>
                      <a:srgbClr val="111827"/>
                    </a:solidFill>
                    <a:latin typeface="Arial"/>
                  </a:rPr>
                  <a:t> are roots of </a:t>
                </a:r>
                <a:r>
                  <a:rPr lang="en-IN" sz="2400">
                    <a:solidFill>
                      <a:srgbClr val="111827"/>
                    </a:solidFill>
                    <a:latin typeface="Cambria Math" panose="02040503050406030204" pitchFamily="18" charset="0"/>
                  </a:rPr>
                  <a:t>$c^2-kc+ah=0$</a:t>
                </a:r>
                <a:r>
                  <a:rPr sz="2400" b="0">
                    <a:solidFill>
                      <a:srgbClr val="111827"/>
                    </a:solidFill>
                    <a:latin typeface="Arial"/>
                  </a:rPr>
                  <a:t>, so </a:t>
                </a:r>
                <a:r>
                  <a:rPr lang="en-IN" sz="2400">
                    <a:solidFill>
                      <a:srgbClr val="111827"/>
                    </a:solidFill>
                    <a:latin typeface="Cambria Math" panose="02040503050406030204" pitchFamily="18" charset="0"/>
                  </a:rPr>
                  <a:t>$c_1-c_2=\sqrt{k^2-4ah}$</a:t>
                </a:r>
                <a:r>
                  <a:rPr sz="2400" b="0">
                    <a:solidFill>
                      <a:srgbClr val="111827"/>
                    </a:solidFill>
                    <a:latin typeface="Arial"/>
                  </a:rPr>
                  <a:t>; </a:t>
                </a:r>
                <a:r>
                  <a:rPr lang="en-IN" sz="2400">
                    <a:solidFill>
                      <a:srgbClr val="111827"/>
                    </a:solidFill>
                    <a:latin typeface="Cambria Math" panose="02040503050406030204" pitchFamily="18" charset="0"/>
                  </a:rPr>
                  <a:t>$P,Q$</a:t>
                </a:r>
                <a:r>
                  <a:rPr sz="2400" b="0">
                    <a:solidFill>
                      <a:srgbClr val="111827"/>
                    </a:solidFill>
                    <a:latin typeface="Arial"/>
                  </a:rPr>
                  <a:t> at fixed distance </a:t>
                </a:r>
                <a:r>
                  <a:rPr lang="en-IN" sz="2400">
                    <a:solidFill>
                      <a:srgbClr val="111827"/>
                    </a:solidFill>
                    <a:latin typeface="Cambria Math" panose="02040503050406030204" pitchFamily="18" charset="0"/>
                  </a:rPr>
                  <a:t>$d$</a:t>
                </a:r>
                <a:r>
                  <a:rPr sz="2400" b="0">
                    <a:solidFill>
                      <a:srgbClr val="111827"/>
                    </a:solidFill>
                    <a:latin typeface="Arial"/>
                  </a:rPr>
                  <a:t> give the parabola </a:t>
                </a:r>
                <a:r>
                  <a:rPr lang="en-IN" sz="2400">
                    <a:solidFill>
                      <a:srgbClr val="111827"/>
                    </a:solidFill>
                    <a:latin typeface="Cambria Math" panose="02040503050406030204" pitchFamily="18" charset="0"/>
                  </a:rPr>
                  <a:t>$k^2=4ah+d^2$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tangents meet at </a:t>
                </a:r>
                <a:r>
                  <a:rPr lang="en-IN" sz="2400">
                    <a:solidFill>
                      <a:srgbClr val="111827"/>
                    </a:solidFill>
                    <a:latin typeface="Cambria Math" panose="02040503050406030204" pitchFamily="18" charset="0"/>
                  </a:rPr>
                  <a:t>$(at_1t_2,\ a(t_1+t_2))$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Two straight lines, one being a tangent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and the other to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oMath>
                </a14:m>
                <a:r>
                  <a:rPr sz="2400" b="0">
                    <a:solidFill>
                      <a:srgbClr val="111827"/>
                    </a:solidFill>
                    <a:latin typeface="Arial"/>
                  </a:rPr>
                  <a:t>, are at right angles. Find the locus of their point of intersection.</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Two straight lines, one being a tangent to </a:t>
                </a:r>
                <a:r>
                  <a:rPr lang="en-IN" sz="2400">
                    <a:solidFill>
                      <a:srgbClr val="111827"/>
                    </a:solidFill>
                    <a:latin typeface="Cambria Math" panose="02040503050406030204" pitchFamily="18" charset="0"/>
                  </a:rPr>
                  <a:t>$y^2=4ax$</a:t>
                </a:r>
                <a:r>
                  <a:rPr sz="2400" b="0">
                    <a:solidFill>
                      <a:srgbClr val="111827"/>
                    </a:solidFill>
                    <a:latin typeface="Arial"/>
                  </a:rPr>
                  <a:t> and the other to </a:t>
                </a:r>
                <a:r>
                  <a:rPr lang="en-IN" sz="2400">
                    <a:solidFill>
                      <a:srgbClr val="111827"/>
                    </a:solidFill>
                    <a:latin typeface="Cambria Math" panose="02040503050406030204" pitchFamily="18" charset="0"/>
                  </a:rPr>
                  <a:t>$x^2=4by$</a:t>
                </a:r>
                <a:r>
                  <a:rPr sz="2400" b="0">
                    <a:solidFill>
                      <a:srgbClr val="111827"/>
                    </a:solidFill>
                    <a:latin typeface="Arial"/>
                  </a:rPr>
                  <a:t>, are at right angles. Find the locus of their point of intersection.</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Tangents to parabolas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oMath>
                </a14:m>
                <a:r>
                  <a:rPr sz="2400" b="0">
                    <a:solidFill>
                      <a:srgbClr val="111827"/>
                    </a:solidFill>
                    <a:latin typeface="Arial"/>
                  </a:rPr>
                  <a:t>, Locus by elimination of the slope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Choice>
        <mc:Fallback>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Tangents to parabolas </a:t>
                </a:r>
                <a:r>
                  <a:rPr lang="en-IN" sz="2400">
                    <a:solidFill>
                      <a:srgbClr val="111827"/>
                    </a:solidFill>
                    <a:latin typeface="Cambria Math" panose="02040503050406030204" pitchFamily="18" charset="0"/>
                  </a:rPr>
                  <a:t>$y^2=4ax$</a:t>
                </a:r>
                <a:r>
                  <a:rPr sz="2400" b="0">
                    <a:solidFill>
                      <a:srgbClr val="111827"/>
                    </a:solidFill>
                    <a:latin typeface="Arial"/>
                  </a:rPr>
                  <a:t> and </a:t>
                </a:r>
                <a:r>
                  <a:rPr lang="en-IN" sz="2400">
                    <a:solidFill>
                      <a:srgbClr val="111827"/>
                    </a:solidFill>
                    <a:latin typeface="Cambria Math" panose="02040503050406030204" pitchFamily="18" charset="0"/>
                  </a:rPr>
                  <a:t>$x^2=4by$</a:t>
                </a:r>
                <a:r>
                  <a:rPr sz="2400" b="0">
                    <a:solidFill>
                      <a:srgbClr val="111827"/>
                    </a:solidFill>
                    <a:latin typeface="Arial"/>
                  </a:rPr>
                  <a:t>, Locus by elimination of the slope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Fallback>
      </mc:AlternateContent>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Perpendicularity ties the slopes of the two tangents together; the intersection point then gives two quadratics in </a:t>
                </a:r>
                <a14:m>
                  <m:oMath xmlns:m="http://schemas.openxmlformats.org/officeDocument/2006/math">
                    <m:r>
                      <a:rPr lang="en-IN" sz="2400" i="1">
                        <a:solidFill>
                          <a:srgbClr val="78350F"/>
                        </a:solidFill>
                        <a:latin typeface="Cambria Math" panose="02040503050406030204" pitchFamily="18" charset="0"/>
                      </a:rPr>
                      <m:t>𝑚</m:t>
                    </m:r>
                  </m:oMath>
                </a14:m>
                <a:r>
                  <a:rPr sz="2400" b="0">
                    <a:solidFill>
                      <a:srgbClr val="78350F"/>
                    </a:solidFill>
                    <a:latin typeface="Arial"/>
                  </a:rPr>
                  <a:t> with a common root.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Perpendicularity ties the slopes of the two tangents together; the intersection point then gives two quadratics in </a:t>
                </a:r>
                <a:r>
                  <a:rPr lang="en-IN" sz="2400">
                    <a:solidFill>
                      <a:srgbClr val="78350F"/>
                    </a:solidFill>
                    <a:latin typeface="Cambria Math" panose="02040503050406030204" pitchFamily="18" charset="0"/>
                  </a:rPr>
                  <a:t>$m$</a:t>
                </a:r>
                <a:r>
                  <a:rPr sz="2400" b="0">
                    <a:solidFill>
                      <a:srgbClr val="78350F"/>
                    </a:solidFill>
                    <a:latin typeface="Arial"/>
                  </a:rPr>
                  <a:t> with a common root.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 ....(2) (its slope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Perpendicular: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the intersection be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From (1):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to </a:t>
                </a:r>
                <a:r>
                  <a:rPr lang="en-IN" sz="2400">
                    <a:solidFill>
                      <a:srgbClr val="111827"/>
                    </a:solidFill>
                    <a:latin typeface="Cambria Math" panose="02040503050406030204" pitchFamily="18" charset="0"/>
                  </a:rPr>
                  <a:t>$y^2=4ax$</a:t>
                </a:r>
                <a:r>
                  <a:rPr sz="2400" b="0">
                    <a:solidFill>
                      <a:srgbClr val="111827"/>
                    </a:solidFill>
                    <a:latin typeface="Arial"/>
                  </a:rPr>
                  <a:t>: </a:t>
                </a:r>
                <a:r>
                  <a:rPr lang="en-IN" sz="2400">
                    <a:solidFill>
                      <a:srgbClr val="111827"/>
                    </a:solidFill>
                    <a:latin typeface="Cambria Math" panose="02040503050406030204" pitchFamily="18" charset="0"/>
                  </a:rPr>
                  <a:t>$y=mx+\frac{a}{m}$</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a:t>
                </a:r>
                <a:r>
                  <a:rPr lang="en-IN" sz="2400">
                    <a:solidFill>
                      <a:srgbClr val="111827"/>
                    </a:solidFill>
                    <a:latin typeface="Cambria Math" panose="02040503050406030204" pitchFamily="18" charset="0"/>
                  </a:rPr>
                  <a:t>$x^2=4by$</a:t>
                </a:r>
                <a:r>
                  <a:rPr sz="2400" b="0">
                    <a:solidFill>
                      <a:srgbClr val="111827"/>
                    </a:solidFill>
                    <a:latin typeface="Arial"/>
                  </a:rPr>
                  <a:t>: </a:t>
                </a:r>
                <a:r>
                  <a:rPr lang="en-IN" sz="2400">
                    <a:solidFill>
                      <a:srgbClr val="111827"/>
                    </a:solidFill>
                    <a:latin typeface="Cambria Math" panose="02040503050406030204" pitchFamily="18" charset="0"/>
                  </a:rPr>
                  <a:t>$x=m_1y+\frac{b}{m_1}$</a:t>
                </a:r>
                <a:r>
                  <a:rPr sz="2400" b="0">
                    <a:solidFill>
                      <a:srgbClr val="111827"/>
                    </a:solidFill>
                    <a:latin typeface="Arial"/>
                  </a:rPr>
                  <a:t> ....(2) (its slope is </a:t>
                </a:r>
                <a:r>
                  <a:rPr lang="en-IN" sz="2400">
                    <a:solidFill>
                      <a:srgbClr val="111827"/>
                    </a:solidFill>
                    <a:latin typeface="Cambria Math" panose="02040503050406030204" pitchFamily="18" charset="0"/>
                  </a:rPr>
                  <a:t>$\frac1{m_1}$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Perpendicular: </a:t>
                </a:r>
                <a:r>
                  <a:rPr lang="en-IN" sz="2400">
                    <a:solidFill>
                      <a:srgbClr val="111827"/>
                    </a:solidFill>
                    <a:latin typeface="Cambria Math" panose="02040503050406030204" pitchFamily="18" charset="0"/>
                  </a:rPr>
                  <a:t>$m\cdot\frac{1}{m_1}=-1$</a:t>
                </a:r>
                <a:r>
                  <a:rPr sz="2400" b="0">
                    <a:solidFill>
                      <a:srgbClr val="111827"/>
                    </a:solidFill>
                    <a:latin typeface="Arial"/>
                  </a:rPr>
                  <a:t>, so </a:t>
                </a:r>
                <a:r>
                  <a:rPr lang="en-IN" sz="2400">
                    <a:solidFill>
                      <a:srgbClr val="111827"/>
                    </a:solidFill>
                    <a:latin typeface="Cambria Math" panose="02040503050406030204" pitchFamily="18" charset="0"/>
                  </a:rPr>
                  <a:t>$m_1=-m$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the intersection be </a:t>
                </a:r>
                <a:r>
                  <a:rPr lang="en-IN" sz="2400">
                    <a:solidFill>
                      <a:srgbClr val="111827"/>
                    </a:solidFill>
                    <a:latin typeface="Cambria Math" panose="02040503050406030204" pitchFamily="18" charset="0"/>
                  </a:rPr>
                  <a:t>$P(h,k)$</a:t>
                </a:r>
                <a:r>
                  <a:rPr sz="2400" b="0">
                    <a:solidFill>
                      <a:srgbClr val="111827"/>
                    </a:solidFill>
                    <a:latin typeface="Arial"/>
                  </a:rPr>
                  <a:t>. From (1): </a:t>
                </a:r>
                <a:r>
                  <a:rPr lang="en-IN" sz="2400">
                    <a:solidFill>
                      <a:srgbClr val="111827"/>
                    </a:solidFill>
                    <a:latin typeface="Cambria Math" panose="02040503050406030204" pitchFamily="18" charset="0"/>
                  </a:rPr>
                  <a:t>$k=mh+\frac am$</a:t>
                </a:r>
                <a:r>
                  <a:rPr sz="2400" b="0">
                    <a:solidFill>
                      <a:srgbClr val="111827"/>
                    </a:solidFill>
                    <a:latin typeface="Arial"/>
                  </a:rPr>
                  <a:t>, i.e. </a:t>
                </a:r>
                <a:r>
                  <a:rPr lang="en-IN" sz="2400">
                    <a:solidFill>
                      <a:srgbClr val="111827"/>
                    </a:solidFill>
                    <a:latin typeface="Cambria Math" panose="02040503050406030204" pitchFamily="18" charset="0"/>
                  </a:rPr>
                  <a:t>$m^2h-mk+a=0$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(2) with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Cross-multiplying: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𝑘</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(2) with </a:t>
                </a:r>
                <a:r>
                  <a:rPr lang="en-IN" sz="2400">
                    <a:solidFill>
                      <a:srgbClr val="111827"/>
                    </a:solidFill>
                    <a:latin typeface="Cambria Math" panose="02040503050406030204" pitchFamily="18" charset="0"/>
                  </a:rPr>
                  <a:t>$m_1=-m$</a:t>
                </a:r>
                <a:r>
                  <a:rPr sz="2400" b="0">
                    <a:solidFill>
                      <a:srgbClr val="111827"/>
                    </a:solidFill>
                    <a:latin typeface="Arial"/>
                  </a:rPr>
                  <a:t>: </a:t>
                </a:r>
                <a:r>
                  <a:rPr lang="en-IN" sz="2400">
                    <a:solidFill>
                      <a:srgbClr val="111827"/>
                    </a:solidFill>
                    <a:latin typeface="Cambria Math" panose="02040503050406030204" pitchFamily="18" charset="0"/>
                  </a:rPr>
                  <a:t>$h=-mk-\frac bm$</a:t>
                </a:r>
                <a:r>
                  <a:rPr sz="2400" b="0">
                    <a:solidFill>
                      <a:srgbClr val="111827"/>
                    </a:solidFill>
                    <a:latin typeface="Arial"/>
                  </a:rPr>
                  <a:t>, i.e. </a:t>
                </a:r>
                <a:r>
                  <a:rPr lang="en-IN" sz="2400">
                    <a:solidFill>
                      <a:srgbClr val="111827"/>
                    </a:solidFill>
                    <a:latin typeface="Cambria Math" panose="02040503050406030204" pitchFamily="18" charset="0"/>
                  </a:rPr>
                  <a:t>$m^2k+mh+b=0$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Cross-multiplying: </a:t>
                </a:r>
                <a:r>
                  <a:rPr lang="en-IN" sz="2400">
                    <a:solidFill>
                      <a:srgbClr val="111827"/>
                    </a:solidFill>
                    <a:latin typeface="Cambria Math" panose="02040503050406030204" pitchFamily="18" charset="0"/>
                  </a:rPr>
                  <a:t>$\frac{m^2}{-kb-ah}=\frac{m}{ak-bh}=\frac{1}{h^2+k^2}$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r>
                  <a:rPr lang="en-IN" sz="2400">
                    <a:solidFill>
                      <a:srgbClr val="111827"/>
                    </a:solidFill>
                    <a:latin typeface="Cambria Math" panose="02040503050406030204" pitchFamily="18" charset="0"/>
                  </a:rPr>
                  <a:t>$m^2=(m)^2$</a:t>
                </a:r>
                <a:r>
                  <a:rPr sz="2400" b="0">
                    <a:solidFill>
                      <a:srgbClr val="111827"/>
                    </a:solidFill>
                    <a:latin typeface="Arial"/>
                  </a:rPr>
                  <a:t>: </a:t>
                </a:r>
                <a:r>
                  <a:rPr lang="en-IN" sz="2400">
                    <a:solidFill>
                      <a:srgbClr val="111827"/>
                    </a:solidFill>
                    <a:latin typeface="Cambria Math" panose="02040503050406030204" pitchFamily="18" charset="0"/>
                  </a:rPr>
                  <a:t>$\frac{-(kb+ah)}{h^2+k^2}=\frac{(ak-bh)^2}{(h^2+k^2)^2}$</a:t>
                </a:r>
                <a:r>
                  <a:rPr sz="2400" b="0">
                    <a:solidFill>
                      <a:srgbClr val="111827"/>
                    </a:solidFill>
                    <a:latin typeface="Arial"/>
                  </a:rPr>
                  <a:t>, so </a:t>
                </a:r>
                <a:r>
                  <a:rPr lang="en-IN" sz="2400">
                    <a:solidFill>
                      <a:srgbClr val="111827"/>
                    </a:solidFill>
                    <a:latin typeface="Cambria Math" panose="02040503050406030204" pitchFamily="18" charset="0"/>
                  </a:rPr>
                  <a:t>$-(h^2+k^2)(kb+ah)=(bh-ak)^2$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a:t>
                </a:r>
                <a:r>
                  <a:rPr lang="en-IN" sz="2400">
                    <a:solidFill>
                      <a:srgbClr val="111827"/>
                    </a:solidFill>
                    <a:latin typeface="Cambria Math" panose="02040503050406030204" pitchFamily="18" charset="0"/>
                  </a:rPr>
                  <a:t>$(x^2+y^2)(ax+by)+(bx-ay)^2=0$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𝑎</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𝑏</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𝑏</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𝑎</m:t>
                    </m:r>
                    <m:r>
                      <a:rPr lang="en-IN" sz="2800" i="1">
                        <a:solidFill>
                          <a:srgbClr val="15803D"/>
                        </a:solidFill>
                        <a:latin typeface="Cambria Math" panose="02040503050406030204" pitchFamily="18" charset="0"/>
                      </a:rPr>
                      <m:t>𝑦</m:t>
                    </m:r>
                    <m:sSup>
                      <m:e>
                        <m:r>
                          <m:rPr>
                            <m:sty m:val="p"/>
                          </m:rPr>
                          <a:rPr lang="en-IN" sz="2800">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$(ax+by)(x^2+y^2)+(bx-ay)^2=0$</a:t>
                </a:r>
                <a:endParaRPr sz="2800">
                  <a:solidFill>
                    <a:srgbClr val="15803D"/>
                  </a:solidFill>
                </a:endParaRPr>
              </a:p>
            </p:txBody>
          </p:sp>
        </mc:Fallback>
      </mc:AlternateContent>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Instead of eliminating, solve for the intersection point as a function of </a:t>
                </a:r>
                <a14:m>
                  <m:oMath xmlns:m="http://schemas.openxmlformats.org/officeDocument/2006/math">
                    <m:r>
                      <a:rPr lang="en-IN" sz="2400" i="1">
                        <a:solidFill>
                          <a:srgbClr val="78350F"/>
                        </a:solidFill>
                        <a:latin typeface="Cambria Math" panose="02040503050406030204" pitchFamily="18" charset="0"/>
                      </a:rPr>
                      <m:t>𝑚</m:t>
                    </m:r>
                  </m:oMath>
                </a14:m>
                <a:r>
                  <a:rPr sz="2400" b="0">
                    <a:solidFill>
                      <a:srgbClr val="78350F"/>
                    </a:solidFill>
                    <a:latin typeface="Arial"/>
                  </a:rPr>
                  <a:t> and show it satisfies the locus identically.</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Instead of eliminating, solve for the intersection point as a function of </a:t>
                </a:r>
                <a:r>
                  <a:rPr lang="en-IN" sz="2400">
                    <a:solidFill>
                      <a:srgbClr val="78350F"/>
                    </a:solidFill>
                    <a:latin typeface="Cambria Math" panose="02040503050406030204" pitchFamily="18" charset="0"/>
                  </a:rPr>
                  <a:t>$m$</a:t>
                </a:r>
                <a:r>
                  <a:rPr sz="2400" b="0">
                    <a:solidFill>
                      <a:srgbClr val="78350F"/>
                    </a:solidFill>
                    <a:latin typeface="Arial"/>
                  </a:rPr>
                  <a:t> and show it satisfies the locus identically.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The perpendicular tangent to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oMath>
                </a14:m>
                <a:r>
                  <a:rPr sz="2400" b="0">
                    <a:solidFill>
                      <a:srgbClr val="111827"/>
                    </a:solidFill>
                    <a:latin typeface="Arial"/>
                  </a:rPr>
                  <a:t> has slope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and equation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a:rPr lang="en-IN" sz="2400" i="1">
                            <a:solidFill>
                              <a:srgbClr val="111827"/>
                            </a:solidFill>
                            <a:latin typeface="Cambria Math" panose="02040503050406030204" pitchFamily="18" charset="0"/>
                          </a:rPr>
                          <m:t>𝑀</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Equate: </a:t>
                </a:r>
                <a14:m>
                  <m:oMath xmlns:m="http://schemas.openxmlformats.org/officeDocument/2006/math">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to </a:t>
                </a:r>
                <a:r>
                  <a:rPr lang="en-IN" sz="2400">
                    <a:solidFill>
                      <a:srgbClr val="111827"/>
                    </a:solidFill>
                    <a:latin typeface="Cambria Math" panose="02040503050406030204" pitchFamily="18" charset="0"/>
                  </a:rPr>
                  <a:t>$y^2=4ax$</a:t>
                </a:r>
                <a:r>
                  <a:rPr sz="2400" b="0">
                    <a:solidFill>
                      <a:srgbClr val="111827"/>
                    </a:solidFill>
                    <a:latin typeface="Arial"/>
                  </a:rPr>
                  <a:t>: </a:t>
                </a:r>
                <a:r>
                  <a:rPr lang="en-IN" sz="2400">
                    <a:solidFill>
                      <a:srgbClr val="111827"/>
                    </a:solidFill>
                    <a:latin typeface="Cambria Math" panose="02040503050406030204" pitchFamily="18" charset="0"/>
                  </a:rPr>
                  <a:t>$y=mx+\frac am$</a:t>
                </a:r>
                <a:r>
                  <a:rPr sz="2400" b="0">
                    <a:solidFill>
                      <a:srgbClr val="111827"/>
                    </a:solidFill>
                    <a:latin typeface="Arial"/>
                  </a:rPr>
                  <a:t>. The perpendicular tangent to </a:t>
                </a:r>
                <a:r>
                  <a:rPr lang="en-IN" sz="2400">
                    <a:solidFill>
                      <a:srgbClr val="111827"/>
                    </a:solidFill>
                    <a:latin typeface="Cambria Math" panose="02040503050406030204" pitchFamily="18" charset="0"/>
                  </a:rPr>
                  <a:t>$x^2=4by$</a:t>
                </a:r>
                <a:r>
                  <a:rPr sz="2400" b="0">
                    <a:solidFill>
                      <a:srgbClr val="111827"/>
                    </a:solidFill>
                    <a:latin typeface="Arial"/>
                  </a:rPr>
                  <a:t> has slope </a:t>
                </a:r>
                <a:r>
                  <a:rPr lang="en-IN" sz="2400">
                    <a:solidFill>
                      <a:srgbClr val="111827"/>
                    </a:solidFill>
                    <a:latin typeface="Cambria Math" panose="02040503050406030204" pitchFamily="18" charset="0"/>
                  </a:rPr>
                  <a:t>$M=-\frac1m$</a:t>
                </a:r>
                <a:r>
                  <a:rPr sz="2400" b="0">
                    <a:solidFill>
                      <a:srgbClr val="111827"/>
                    </a:solidFill>
                    <a:latin typeface="Arial"/>
                  </a:rPr>
                  <a:t> and equation </a:t>
                </a:r>
                <a:r>
                  <a:rPr lang="en-IN" sz="2400">
                    <a:solidFill>
                      <a:srgbClr val="111827"/>
                    </a:solidFill>
                    <a:latin typeface="Cambria Math" panose="02040503050406030204" pitchFamily="18" charset="0"/>
                  </a:rPr>
                  <a:t>$y=Mx-bM^2=-\frac xm-\frac{b}{m^2}$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Equate: </a:t>
                </a:r>
                <a:r>
                  <a:rPr lang="en-IN" sz="2400">
                    <a:solidFill>
                      <a:srgbClr val="111827"/>
                    </a:solidFill>
                    <a:latin typeface="Cambria Math" panose="02040503050406030204" pitchFamily="18" charset="0"/>
                  </a:rPr>
                  <a:t>$mx+\frac am=-\frac xm-\frac b{m^2}$</a:t>
                </a:r>
                <a:r>
                  <a:rPr sz="2400" b="0">
                    <a:solidFill>
                      <a:srgbClr val="111827"/>
                    </a:solidFill>
                    <a:latin typeface="Arial"/>
                  </a:rPr>
                  <a:t>, so </a:t>
                </a:r>
                <a:r>
                  <a:rPr lang="en-IN" sz="2400">
                    <a:solidFill>
                      <a:srgbClr val="111827"/>
                    </a:solidFill>
                    <a:latin typeface="Cambria Math" panose="02040503050406030204" pitchFamily="18" charset="0"/>
                  </a:rPr>
                  <a:t>$x\,\frac{m^2+1}{m}=-\frac{am+b}{m^2}$</a:t>
                </a:r>
                <a:r>
                  <a:rPr sz="2400" b="0">
                    <a:solidFill>
                      <a:srgbClr val="111827"/>
                    </a:solidFill>
                    <a:latin typeface="Arial"/>
                  </a:rPr>
                  <a:t>, giving </a:t>
                </a:r>
                <a:r>
                  <a:rPr lang="en-IN" sz="2400">
                    <a:solidFill>
                      <a:srgbClr val="111827"/>
                    </a:solidFill>
                    <a:latin typeface="Cambria Math" panose="02040503050406030204" pitchFamily="18" charset="0"/>
                  </a:rPr>
                  <a:t>$x=-\frac{am+b}{m(m^2+1)}$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$y=mx+\frac am=\frac{a-bm}{m(m^2+1)}$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Compute: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𝑚</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they cancel,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Compute: </a:t>
                </a:r>
                <a:r>
                  <a:rPr lang="en-IN" sz="2400">
                    <a:solidFill>
                      <a:srgbClr val="111827"/>
                    </a:solidFill>
                    <a:latin typeface="Cambria Math" panose="02040503050406030204" pitchFamily="18" charset="0"/>
                  </a:rPr>
                  <a:t>$ax+by=\frac{-a^2m-ab+ab-b^2m}{m(m^2+1)}=-\frac{a^2+b^2}{m^2+1}$</a:t>
                </a:r>
                <a:r>
                  <a:rPr sz="2400" b="0">
                    <a:solidFill>
                      <a:srgbClr val="111827"/>
                    </a:solidFill>
                    <a:latin typeface="Arial"/>
                  </a:rPr>
                  <a:t> and </a:t>
                </a:r>
                <a:r>
                  <a:rPr lang="en-IN" sz="2400">
                    <a:solidFill>
                      <a:srgbClr val="111827"/>
                    </a:solidFill>
                    <a:latin typeface="Cambria Math" panose="02040503050406030204" pitchFamily="18" charset="0"/>
                  </a:rPr>
                  <a:t>$bx-ay=\frac{-b^2-abm-a^2+abm}{m(m^2+1)}=-\frac{a^2+b^2}{m(m^2+1)}$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Also </a:t>
                </a:r>
                <a:r>
                  <a:rPr lang="en-IN" sz="2400">
                    <a:solidFill>
                      <a:srgbClr val="111827"/>
                    </a:solidFill>
                    <a:latin typeface="Cambria Math" panose="02040503050406030204" pitchFamily="18" charset="0"/>
                  </a:rPr>
                  <a:t>$x^2+y^2=\frac{(am+b)^2+(a-bm)^2}{m^2(m^2+1)^2}=\frac{(a^2+b^2)(m^2+1)}{m^2(m^2+1)^2}=\frac{a^2+b^2}{m^2(m^2+1)}$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$(ax+by)(x^2+y^2)=-\frac{(a^2+b^2)^2}{m^2(m^2+1)^2}$</a:t>
                </a:r>
                <a:r>
                  <a:rPr sz="2400" b="0">
                    <a:solidFill>
                      <a:srgbClr val="111827"/>
                    </a:solidFill>
                    <a:latin typeface="Arial"/>
                  </a:rPr>
                  <a:t> and </a:t>
                </a:r>
                <a:r>
                  <a:rPr lang="en-IN" sz="2400">
                    <a:solidFill>
                      <a:srgbClr val="111827"/>
                    </a:solidFill>
                    <a:latin typeface="Cambria Math" panose="02040503050406030204" pitchFamily="18" charset="0"/>
                  </a:rPr>
                  <a:t>$(bx-ay)^2=\frac{(a^2+b^2)^2}{m^2(m^2+1)^2}$</a:t>
                </a:r>
                <a:r>
                  <a:rPr sz="2400" b="0">
                    <a:solidFill>
                      <a:srgbClr val="111827"/>
                    </a:solidFill>
                    <a:latin typeface="Arial"/>
                  </a:rPr>
                  <a:t>; they cancel, so </a:t>
                </a:r>
                <a:r>
                  <a:rPr lang="en-IN" sz="2400">
                    <a:solidFill>
                      <a:srgbClr val="111827"/>
                    </a:solidFill>
                    <a:latin typeface="Cambria Math" panose="02040503050406030204" pitchFamily="18" charset="0"/>
                  </a:rPr>
                  <a:t>$(ax+by)(x^2+y^2)+(bx-ay)^2=0$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𝑎</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𝑏</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𝑏</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𝑎</m:t>
                    </m:r>
                    <m:r>
                      <a:rPr lang="en-IN" sz="2800" i="1">
                        <a:solidFill>
                          <a:srgbClr val="15803D"/>
                        </a:solidFill>
                        <a:latin typeface="Cambria Math" panose="02040503050406030204" pitchFamily="18" charset="0"/>
                      </a:rPr>
                      <m:t>𝑦</m:t>
                    </m:r>
                    <m:sSup>
                      <m:e>
                        <m:r>
                          <m:rPr>
                            <m:sty m:val="p"/>
                          </m:rPr>
                          <a:rPr lang="en-IN" sz="2800">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$(ax+by)(x^2+y^2)+(bx-ay)^2=0$</a:t>
                </a:r>
                <a:endParaRPr sz="2800">
                  <a:solidFill>
                    <a:srgbClr val="15803D"/>
                  </a:solidFill>
                </a:endParaRPr>
              </a:p>
            </p:txBody>
          </p:sp>
        </mc:Fallback>
      </mc:AlternateContent>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tangent to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a:rPr lang="en-IN" sz="2400" i="1">
                            <a:solidFill>
                              <a:srgbClr val="111827"/>
                            </a:solidFill>
                            <a:latin typeface="Cambria Math" panose="02040503050406030204" pitchFamily="18" charset="0"/>
                          </a:rPr>
                          <m:t>𝑀</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quadratics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have a common root iff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(resultant).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Cross-multiplication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eliminates a parameter from two equations that are quadratic in 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Parametrise the intersection by the common slope; useful to check a locus identically.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to </a:t>
                </a:r>
                <a:r>
                  <a:rPr lang="en-IN" sz="2400">
                    <a:solidFill>
                      <a:srgbClr val="111827"/>
                    </a:solidFill>
                    <a:latin typeface="Cambria Math" panose="02040503050406030204" pitchFamily="18" charset="0"/>
                  </a:rPr>
                  <a:t>$y^2=4ax$</a:t>
                </a:r>
                <a:r>
                  <a:rPr sz="2400" b="0">
                    <a:solidFill>
                      <a:srgbClr val="111827"/>
                    </a:solidFill>
                    <a:latin typeface="Arial"/>
                  </a:rPr>
                  <a:t>: </a:t>
                </a:r>
                <a:r>
                  <a:rPr lang="en-IN" sz="2400">
                    <a:solidFill>
                      <a:srgbClr val="111827"/>
                    </a:solidFill>
                    <a:latin typeface="Cambria Math" panose="02040503050406030204" pitchFamily="18" charset="0"/>
                  </a:rPr>
                  <a:t>$y=mx+\frac am$</a:t>
                </a:r>
                <a:r>
                  <a:rPr sz="2400" b="0">
                    <a:solidFill>
                      <a:srgbClr val="111827"/>
                    </a:solidFill>
                    <a:latin typeface="Arial"/>
                  </a:rPr>
                  <a:t>; tangent to </a:t>
                </a:r>
                <a:r>
                  <a:rPr lang="en-IN" sz="2400">
                    <a:solidFill>
                      <a:srgbClr val="111827"/>
                    </a:solidFill>
                    <a:latin typeface="Cambria Math" panose="02040503050406030204" pitchFamily="18" charset="0"/>
                  </a:rPr>
                  <a:t>$x^2=4by$</a:t>
                </a:r>
                <a:r>
                  <a:rPr sz="2400" b="0">
                    <a:solidFill>
                      <a:srgbClr val="111827"/>
                    </a:solidFill>
                    <a:latin typeface="Arial"/>
                  </a:rPr>
                  <a:t>: </a:t>
                </a:r>
                <a:r>
                  <a:rPr lang="en-IN" sz="2400">
                    <a:solidFill>
                      <a:srgbClr val="111827"/>
                    </a:solidFill>
                    <a:latin typeface="Cambria Math" panose="02040503050406030204" pitchFamily="18" charset="0"/>
                  </a:rPr>
                  <a:t>$y=Mx-bM^2$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quadratics </a:t>
                </a:r>
                <a:r>
                  <a:rPr lang="en-IN" sz="2400">
                    <a:solidFill>
                      <a:srgbClr val="111827"/>
                    </a:solidFill>
                    <a:latin typeface="Cambria Math" panose="02040503050406030204" pitchFamily="18" charset="0"/>
                  </a:rPr>
                  <a:t>$p_1m^2+q_1m+r_1=0$</a:t>
                </a:r>
                <a:r>
                  <a:rPr sz="2400" b="0">
                    <a:solidFill>
                      <a:srgbClr val="111827"/>
                    </a:solidFill>
                    <a:latin typeface="Arial"/>
                  </a:rPr>
                  <a:t> and </a:t>
                </a:r>
                <a:r>
                  <a:rPr lang="en-IN" sz="2400">
                    <a:solidFill>
                      <a:srgbClr val="111827"/>
                    </a:solidFill>
                    <a:latin typeface="Cambria Math" panose="02040503050406030204" pitchFamily="18" charset="0"/>
                  </a:rPr>
                  <a:t>$p_2m^2+q_2m+r_2=0$</a:t>
                </a:r>
                <a:r>
                  <a:rPr sz="2400" b="0">
                    <a:solidFill>
                      <a:srgbClr val="111827"/>
                    </a:solidFill>
                    <a:latin typeface="Arial"/>
                  </a:rPr>
                  <a:t> have a common root iff </a:t>
                </a:r>
                <a:r>
                  <a:rPr lang="en-IN" sz="2400">
                    <a:solidFill>
                      <a:srgbClr val="111827"/>
                    </a:solidFill>
                    <a:latin typeface="Cambria Math" panose="02040503050406030204" pitchFamily="18" charset="0"/>
                  </a:rPr>
                  <a:t>$(p_1r_2-p_2r_1)^2=(p_1q_2-p_2q_1)(q_1r_2-q_2r_1)$</a:t>
                </a:r>
                <a:r>
                  <a:rPr sz="2400" b="0">
                    <a:solidFill>
                      <a:srgbClr val="111827"/>
                    </a:solidFill>
                    <a:latin typeface="Arial"/>
                  </a:rPr>
                  <a:t> (resultant).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Cross-multiplication </a:t>
                </a:r>
                <a:r>
                  <a:rPr lang="en-IN" sz="2400">
                    <a:solidFill>
                      <a:srgbClr val="111827"/>
                    </a:solidFill>
                    <a:latin typeface="Cambria Math" panose="02040503050406030204" pitchFamily="18" charset="0"/>
                  </a:rPr>
                  <a:t>$\frac{m^2}{\cdot}=\frac{m}{\cdot}=\frac1{\cdot}$</a:t>
                </a:r>
                <a:r>
                  <a:rPr sz="2400" b="0">
                    <a:solidFill>
                      <a:srgbClr val="111827"/>
                    </a:solidFill>
                    <a:latin typeface="Arial"/>
                  </a:rPr>
                  <a:t> eliminates a parameter from two equations that are quadratic in 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Parametrise the intersection by the common slope; useful to check a locus identically.</a:t>
                </a:r>
                <a:endParaRPr sz="2400">
                  <a:solidFill>
                    <a:srgbClr val="111827"/>
                  </a:solidFill>
                </a:endParaRPr>
              </a:p>
            </p:txBody>
          </p:sp>
        </mc:Fallback>
      </mc:AlternateContent>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three points on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If the orthocentre of the triangle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is at the focus, then find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e>
                    </m:d>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$A(at_1^2,2at_1)$</a:t>
                </a:r>
                <a:r>
                  <a:rPr sz="2400" b="0">
                    <a:solidFill>
                      <a:srgbClr val="111827"/>
                    </a:solidFill>
                    <a:latin typeface="Arial"/>
                  </a:rPr>
                  <a:t>, </a:t>
                </a:r>
                <a:r>
                  <a:rPr lang="en-IN" sz="2400">
                    <a:solidFill>
                      <a:srgbClr val="111827"/>
                    </a:solidFill>
                    <a:latin typeface="Cambria Math" panose="02040503050406030204" pitchFamily="18" charset="0"/>
                  </a:rPr>
                  <a:t>$B(at_2^2,2at_2)$</a:t>
                </a:r>
                <a:r>
                  <a:rPr sz="2400" b="0">
                    <a:solidFill>
                      <a:srgbClr val="111827"/>
                    </a:solidFill>
                    <a:latin typeface="Arial"/>
                  </a:rPr>
                  <a:t>, </a:t>
                </a:r>
                <a:r>
                  <a:rPr lang="en-IN" sz="2400">
                    <a:solidFill>
                      <a:srgbClr val="111827"/>
                    </a:solidFill>
                    <a:latin typeface="Cambria Math" panose="02040503050406030204" pitchFamily="18" charset="0"/>
                  </a:rPr>
                  <a:t>$C(at_3^2,2at_3)$</a:t>
                </a:r>
                <a:r>
                  <a:rPr sz="2400" b="0">
                    <a:solidFill>
                      <a:srgbClr val="111827"/>
                    </a:solidFill>
                    <a:latin typeface="Arial"/>
                  </a:rPr>
                  <a:t> be three points on the parabola </a:t>
                </a:r>
                <a:r>
                  <a:rPr lang="en-IN" sz="2400">
                    <a:solidFill>
                      <a:srgbClr val="111827"/>
                    </a:solidFill>
                    <a:latin typeface="Cambria Math" panose="02040503050406030204" pitchFamily="18" charset="0"/>
                  </a:rPr>
                  <a:t>$y^2=4ax$</a:t>
                </a:r>
                <a:r>
                  <a:rPr sz="2400" b="0">
                    <a:solidFill>
                      <a:srgbClr val="111827"/>
                    </a:solidFill>
                    <a:latin typeface="Arial"/>
                  </a:rPr>
                  <a:t>. If the orthocentre of the triangle </a:t>
                </a:r>
                <a:r>
                  <a:rPr lang="en-IN" sz="2400">
                    <a:solidFill>
                      <a:srgbClr val="111827"/>
                    </a:solidFill>
                    <a:latin typeface="Cambria Math" panose="02040503050406030204" pitchFamily="18" charset="0"/>
                  </a:rPr>
                  <a:t>$ABC$</a:t>
                </a:r>
                <a:r>
                  <a:rPr sz="2400" b="0">
                    <a:solidFill>
                      <a:srgbClr val="111827"/>
                    </a:solidFill>
                    <a:latin typeface="Arial"/>
                  </a:rPr>
                  <a:t> is at the focus, then find </a:t>
                </a:r>
                <a:r>
                  <a:rPr lang="en-IN" sz="2400">
                    <a:solidFill>
                      <a:srgbClr val="111827"/>
                    </a:solidFill>
                    <a:latin typeface="Cambria Math" panose="02040503050406030204" pitchFamily="18" charset="0"/>
                  </a:rPr>
                  <a:t>$\left|t_1+t_2+t_3+t_1t_2t_3+t_1t_2+t_2t_3+t_3t_1\right|$</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516884"/>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Orthocentre of a triangle inscribed in a parabola, Symmetric functions of parameters (Vieta)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altitude condition </a:t>
                </a:r>
                <a14:m>
                  <m:oMath xmlns:m="http://schemas.openxmlformats.org/officeDocument/2006/math">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makes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3</m:t>
                        </m:r>
                      </m:sub>
                    </m:sSub>
                  </m:oMath>
                </a14:m>
                <a:r>
                  <a:rPr sz="2400" b="0">
                    <a:solidFill>
                      <a:srgbClr val="78350F"/>
                    </a:solidFill>
                    <a:latin typeface="Arial"/>
                  </a:rPr>
                  <a:t> a root of a cubic whose coefficients involve only </a:t>
                </a:r>
                <a14:m>
                  <m:oMath xmlns:m="http://schemas.openxmlformats.org/officeDocument/2006/math">
                    <m:r>
                      <a:rPr lang="en-IN" sz="2400" i="1">
                        <a:solidFill>
                          <a:srgbClr val="78350F"/>
                        </a:solidFill>
                        <a:latin typeface="Cambria Math" panose="02040503050406030204" pitchFamily="18" charset="0"/>
                      </a:rPr>
                      <m:t>𝑢</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3</m:t>
                        </m:r>
                      </m:sub>
                    </m:sSub>
                  </m:oMath>
                </a14:m>
                <a:r>
                  <a:rPr sz="2400" b="0">
                    <a:solidFill>
                      <a:srgbClr val="78350F"/>
                    </a:solidFill>
                    <a:latin typeface="Arial"/>
                  </a:rPr>
                  <a:t>; by symmetry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are roots too, so Vieta applies.</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altitude condition </a:t>
                </a:r>
                <a:r>
                  <a:rPr lang="en-IN" sz="2400">
                    <a:solidFill>
                      <a:srgbClr val="78350F"/>
                    </a:solidFill>
                    <a:latin typeface="Cambria Math" panose="02040503050406030204" pitchFamily="18" charset="0"/>
                  </a:rPr>
                  <a:t>$CS\perp AB$</a:t>
                </a:r>
                <a:r>
                  <a:rPr sz="2400" b="0">
                    <a:solidFill>
                      <a:srgbClr val="78350F"/>
                    </a:solidFill>
                    <a:latin typeface="Arial"/>
                  </a:rPr>
                  <a:t> makes </a:t>
                </a:r>
                <a:r>
                  <a:rPr lang="en-IN" sz="2400">
                    <a:solidFill>
                      <a:srgbClr val="78350F"/>
                    </a:solidFill>
                    <a:latin typeface="Cambria Math" panose="02040503050406030204" pitchFamily="18" charset="0"/>
                  </a:rPr>
                  <a:t>$t_3$</a:t>
                </a:r>
                <a:r>
                  <a:rPr sz="2400" b="0">
                    <a:solidFill>
                      <a:srgbClr val="78350F"/>
                    </a:solidFill>
                    <a:latin typeface="Arial"/>
                  </a:rPr>
                  <a:t> a root of a cubic whose coefficients involve only </a:t>
                </a:r>
                <a:r>
                  <a:rPr lang="en-IN" sz="2400">
                    <a:solidFill>
                      <a:srgbClr val="78350F"/>
                    </a:solidFill>
                    <a:latin typeface="Cambria Math" panose="02040503050406030204" pitchFamily="18" charset="0"/>
                  </a:rPr>
                  <a:t>$u=t_1+t_2+t_3$</a:t>
                </a:r>
                <a:r>
                  <a:rPr sz="2400" b="0">
                    <a:solidFill>
                      <a:srgbClr val="78350F"/>
                    </a:solidFill>
                    <a:latin typeface="Arial"/>
                  </a:rPr>
                  <a:t>; by symmetry </a:t>
                </a:r>
                <a:r>
                  <a:rPr lang="en-IN" sz="2400">
                    <a:solidFill>
                      <a:srgbClr val="78350F"/>
                    </a:solidFill>
                    <a:latin typeface="Cambria Math" panose="02040503050406030204" pitchFamily="18" charset="0"/>
                  </a:rPr>
                  <a:t>$t_1,t_2$</a:t>
                </a:r>
                <a:r>
                  <a:rPr sz="2400" b="0">
                    <a:solidFill>
                      <a:srgbClr val="78350F"/>
                    </a:solidFill>
                    <a:latin typeface="Arial"/>
                  </a:rPr>
                  <a:t> are roots too, so Vieta applies.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orthocentre is the focus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the altitude from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passes through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slope of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num>
                      <m:den>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Their product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num>
                      <m:den>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num>
                      <m:den>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orthocentre is the focus </a:t>
                </a:r>
                <a:r>
                  <a:rPr lang="en-IN" sz="2400">
                    <a:solidFill>
                      <a:srgbClr val="111827"/>
                    </a:solidFill>
                    <a:latin typeface="Cambria Math" panose="02040503050406030204" pitchFamily="18" charset="0"/>
                  </a:rPr>
                  <a:t>$S(a,0)$</a:t>
                </a:r>
                <a:r>
                  <a:rPr sz="2400" b="0">
                    <a:solidFill>
                      <a:srgbClr val="111827"/>
                    </a:solidFill>
                    <a:latin typeface="Arial"/>
                  </a:rPr>
                  <a:t>, so the altitude from </a:t>
                </a:r>
                <a:r>
                  <a:rPr lang="en-IN" sz="2400">
                    <a:solidFill>
                      <a:srgbClr val="111827"/>
                    </a:solidFill>
                    <a:latin typeface="Cambria Math" panose="02040503050406030204" pitchFamily="18" charset="0"/>
                  </a:rPr>
                  <a:t>$C$</a:t>
                </a:r>
                <a:r>
                  <a:rPr sz="2400" b="0">
                    <a:solidFill>
                      <a:srgbClr val="111827"/>
                    </a:solidFill>
                    <a:latin typeface="Arial"/>
                  </a:rPr>
                  <a:t> passes through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$CS\perp 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of </a:t>
                </a:r>
                <a:r>
                  <a:rPr lang="en-IN" sz="2400">
                    <a:solidFill>
                      <a:srgbClr val="111827"/>
                    </a:solidFill>
                    <a:latin typeface="Cambria Math" panose="02040503050406030204" pitchFamily="18" charset="0"/>
                  </a:rPr>
                  <a:t>$AB=\frac{2}{t_1+t_2}$</a:t>
                </a:r>
                <a:r>
                  <a:rPr sz="2400" b="0">
                    <a:solidFill>
                      <a:srgbClr val="111827"/>
                    </a:solidFill>
                    <a:latin typeface="Arial"/>
                  </a:rPr>
                  <a:t>; slope of </a:t>
                </a:r>
                <a:r>
                  <a:rPr lang="en-IN" sz="2400">
                    <a:solidFill>
                      <a:srgbClr val="111827"/>
                    </a:solidFill>
                    <a:latin typeface="Cambria Math" panose="02040503050406030204" pitchFamily="18" charset="0"/>
                  </a:rPr>
                  <a:t>$CS=\frac{2at_3}{a(t_3^2-1)}=\frac{2t_3}{t_3^2-1}$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Their product is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$\frac{2}{t_1+t_2}\cdot\frac{2t_3}{t_3^2-1}=-1$</a:t>
                </a:r>
                <a:r>
                  <a:rPr sz="2400" b="0">
                    <a:solidFill>
                      <a:srgbClr val="111827"/>
                    </a:solidFill>
                    <a:latin typeface="Arial"/>
                  </a:rPr>
                  <a:t>, so </a:t>
                </a:r>
                <a:r>
                  <a:rPr lang="en-IN" sz="2400">
                    <a:solidFill>
                      <a:srgbClr val="111827"/>
                    </a:solidFill>
                    <a:latin typeface="Cambria Math" panose="02040503050406030204" pitchFamily="18" charset="0"/>
                  </a:rPr>
                  <a:t>$\frac{2}{t_1+t_2}=\frac{1-t_3^2}{2t_3}$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$t_1+t_2=\frac{4t_3}{1-t_3^2}$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den>
                    </m:f>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3</m:t>
                            </m:r>
                          </m:sup>
                        </m:sSub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den>
                    </m:f>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a root of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symmetry (the other two altitudes also pass through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roots of (2) with the same </a:t>
                </a:r>
                <a14:m>
                  <m:oMath xmlns:m="http://schemas.openxmlformats.org/officeDocument/2006/math">
                    <m:r>
                      <a:rPr lang="en-IN" sz="2400" i="1">
                        <a:solidFill>
                          <a:srgbClr val="111827"/>
                        </a:solidFill>
                        <a:latin typeface="Cambria Math" panose="02040503050406030204" pitchFamily="18" charset="0"/>
                      </a:rPr>
                      <m:t>𝑢</m:t>
                    </m:r>
                  </m:oMath>
                </a14:m>
                <a:r>
                  <a:rPr sz="2400" b="0">
                    <a:solidFill>
                      <a:srgbClr val="111827"/>
                    </a:solidFill>
                    <a:latin typeface="Arial"/>
                  </a:rPr>
                  <a:t>. Hence the roots of (2) are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Vieta: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the required value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$t_1+t_2+t_3=u$</a:t>
                </a:r>
                <a:r>
                  <a:rPr sz="2400" b="0">
                    <a:solidFill>
                      <a:srgbClr val="111827"/>
                    </a:solidFill>
                    <a:latin typeface="Arial"/>
                  </a:rPr>
                  <a:t>. Then </a:t>
                </a:r>
                <a:r>
                  <a:rPr lang="en-IN" sz="2400">
                    <a:solidFill>
                      <a:srgbClr val="111827"/>
                    </a:solidFill>
                    <a:latin typeface="Cambria Math" panose="02040503050406030204" pitchFamily="18" charset="0"/>
                  </a:rPr>
                  <a:t>$u=\frac{4t_3}{1-t_3^2}+t_3=\frac{5t_3-t_3^3}{1-t_3^2}$</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$t_3$</a:t>
                </a:r>
                <a:r>
                  <a:rPr sz="2400" b="0">
                    <a:solidFill>
                      <a:srgbClr val="111827"/>
                    </a:solidFill>
                    <a:latin typeface="Arial"/>
                  </a:rPr>
                  <a:t> is a root of </a:t>
                </a:r>
                <a:r>
                  <a:rPr lang="en-IN" sz="2400">
                    <a:solidFill>
                      <a:srgbClr val="111827"/>
                    </a:solidFill>
                    <a:latin typeface="Cambria Math" panose="02040503050406030204" pitchFamily="18" charset="0"/>
                  </a:rPr>
                  <a:t>$t^3-ut^2-5t+u=0$</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symmetry (the other two altitudes also pass through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$t_1$</a:t>
                </a:r>
                <a:r>
                  <a:rPr sz="2400" b="0">
                    <a:solidFill>
                      <a:srgbClr val="111827"/>
                    </a:solidFill>
                    <a:latin typeface="Arial"/>
                  </a:rPr>
                  <a:t> and </a:t>
                </a:r>
                <a:r>
                  <a:rPr lang="en-IN" sz="2400">
                    <a:solidFill>
                      <a:srgbClr val="111827"/>
                    </a:solidFill>
                    <a:latin typeface="Cambria Math" panose="02040503050406030204" pitchFamily="18" charset="0"/>
                  </a:rPr>
                  <a:t>$t_2$</a:t>
                </a:r>
                <a:r>
                  <a:rPr sz="2400" b="0">
                    <a:solidFill>
                      <a:srgbClr val="111827"/>
                    </a:solidFill>
                    <a:latin typeface="Arial"/>
                  </a:rPr>
                  <a:t> are roots of (2) with the same </a:t>
                </a:r>
                <a:r>
                  <a:rPr lang="en-IN" sz="2400">
                    <a:solidFill>
                      <a:srgbClr val="111827"/>
                    </a:solidFill>
                    <a:latin typeface="Cambria Math" panose="02040503050406030204" pitchFamily="18" charset="0"/>
                  </a:rPr>
                  <a:t>$u$</a:t>
                </a:r>
                <a:r>
                  <a:rPr sz="2400" b="0">
                    <a:solidFill>
                      <a:srgbClr val="111827"/>
                    </a:solidFill>
                    <a:latin typeface="Arial"/>
                  </a:rPr>
                  <a:t>. Hence the roots of (2) are </a:t>
                </a:r>
                <a:r>
                  <a:rPr lang="en-IN" sz="2400">
                    <a:solidFill>
                      <a:srgbClr val="111827"/>
                    </a:solidFill>
                    <a:latin typeface="Cambria Math" panose="02040503050406030204" pitchFamily="18" charset="0"/>
                  </a:rPr>
                  <a:t>$t_1,t_2,t_3$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Vieta: </a:t>
                </a:r>
                <a:r>
                  <a:rPr lang="en-IN" sz="2400">
                    <a:solidFill>
                      <a:srgbClr val="111827"/>
                    </a:solidFill>
                    <a:latin typeface="Cambria Math" panose="02040503050406030204" pitchFamily="18" charset="0"/>
                  </a:rPr>
                  <a:t>$t_1+t_2+t_3=u$</a:t>
                </a:r>
                <a:r>
                  <a:rPr sz="2400" b="0">
                    <a:solidFill>
                      <a:srgbClr val="111827"/>
                    </a:solidFill>
                    <a:latin typeface="Arial"/>
                  </a:rPr>
                  <a:t>, </a:t>
                </a:r>
                <a:r>
                  <a:rPr lang="en-IN" sz="2400">
                    <a:solidFill>
                      <a:srgbClr val="111827"/>
                    </a:solidFill>
                    <a:latin typeface="Cambria Math" panose="02040503050406030204" pitchFamily="18" charset="0"/>
                  </a:rPr>
                  <a:t>$t_1t_2t_3=-u$</a:t>
                </a:r>
                <a:r>
                  <a:rPr sz="2400" b="0">
                    <a:solidFill>
                      <a:srgbClr val="111827"/>
                    </a:solidFill>
                    <a:latin typeface="Arial"/>
                  </a:rPr>
                  <a:t>, </a:t>
                </a:r>
                <a:r>
                  <a:rPr lang="en-IN" sz="2400">
                    <a:solidFill>
                      <a:srgbClr val="111827"/>
                    </a:solidFill>
                    <a:latin typeface="Cambria Math" panose="02040503050406030204" pitchFamily="18" charset="0"/>
                  </a:rPr>
                  <a:t>$t_1t_2+t_2t_3+t_3t_1=-5$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$t_1+t_2+t_3+t_1t_2t_3=0$</a:t>
                </a:r>
                <a:r>
                  <a:rPr sz="2400" b="0">
                    <a:solidFill>
                      <a:srgbClr val="111827"/>
                    </a:solidFill>
                    <a:latin typeface="Arial"/>
                  </a:rPr>
                  <a:t> and the required value is </a:t>
                </a:r>
                <a:r>
                  <a:rPr lang="en-IN" sz="2400">
                    <a:solidFill>
                      <a:srgbClr val="111827"/>
                    </a:solidFill>
                    <a:latin typeface="Cambria Math" panose="02040503050406030204" pitchFamily="18" charset="0"/>
                  </a:rPr>
                  <a:t>$|0+(-5)|=5$</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5</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$5$</a:t>
                </a:r>
                <a:endParaRPr sz="2800">
                  <a:solidFill>
                    <a:srgbClr val="15803D"/>
                  </a:solidFill>
                </a:endParaRPr>
              </a:p>
            </p:txBody>
          </p:sp>
        </mc:Fallback>
      </mc:AlternateContent>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chord through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has slope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and equation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chord through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and the focus has slope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num>
                      <m:den>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When the same relation holds for each of three variables with a common symmetric quantity (here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the three variables are the roots of one cubic: use Vieta.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Orthocentre of the triangle on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at the focus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(distinct parameters).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triangle </a:t>
                </a:r>
                <a14:m>
                  <m:oMath xmlns:m="http://schemas.openxmlformats.org/officeDocument/2006/math">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has orthocentre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$y^2=4ax$</a:t>
                </a:r>
                <a:r>
                  <a:rPr sz="2400" b="0">
                    <a:solidFill>
                      <a:srgbClr val="111827"/>
                    </a:solidFill>
                    <a:latin typeface="Arial"/>
                  </a:rPr>
                  <a:t>: chord through </a:t>
                </a:r>
                <a:r>
                  <a:rPr lang="en-IN" sz="2400">
                    <a:solidFill>
                      <a:srgbClr val="111827"/>
                    </a:solidFill>
                    <a:latin typeface="Cambria Math" panose="02040503050406030204" pitchFamily="18" charset="0"/>
                  </a:rPr>
                  <a:t>$t_1,t_2$</a:t>
                </a:r>
                <a:r>
                  <a:rPr sz="2400" b="0">
                    <a:solidFill>
                      <a:srgbClr val="111827"/>
                    </a:solidFill>
                    <a:latin typeface="Arial"/>
                  </a:rPr>
                  <a:t> has slope </a:t>
                </a:r>
                <a:r>
                  <a:rPr lang="en-IN" sz="2400">
                    <a:solidFill>
                      <a:srgbClr val="111827"/>
                    </a:solidFill>
                    <a:latin typeface="Cambria Math" panose="02040503050406030204" pitchFamily="18" charset="0"/>
                  </a:rPr>
                  <a:t>$\frac{2}{t_1+t_2}$</a:t>
                </a:r>
                <a:r>
                  <a:rPr sz="2400" b="0">
                    <a:solidFill>
                      <a:srgbClr val="111827"/>
                    </a:solidFill>
                    <a:latin typeface="Arial"/>
                  </a:rPr>
                  <a:t> and equation </a:t>
                </a:r>
                <a:r>
                  <a:rPr lang="en-IN" sz="2400">
                    <a:solidFill>
                      <a:srgbClr val="111827"/>
                    </a:solidFill>
                    <a:latin typeface="Cambria Math" panose="02040503050406030204" pitchFamily="18" charset="0"/>
                  </a:rPr>
                  <a:t>$2x-(t_1+t_2)y+2at_1t_2=0$</a:t>
                </a:r>
                <a:r>
                  <a:rPr sz="2400" b="0">
                    <a:solidFill>
                      <a:srgbClr val="111827"/>
                    </a:solidFill>
                    <a:latin typeface="Arial"/>
                  </a:rPr>
                  <a:t>; the chord through </a:t>
                </a:r>
                <a:r>
                  <a:rPr lang="en-IN" sz="2400">
                    <a:solidFill>
                      <a:srgbClr val="111827"/>
                    </a:solidFill>
                    <a:latin typeface="Cambria Math" panose="02040503050406030204" pitchFamily="18" charset="0"/>
                  </a:rPr>
                  <a:t>$t$</a:t>
                </a:r>
                <a:r>
                  <a:rPr sz="2400" b="0">
                    <a:solidFill>
                      <a:srgbClr val="111827"/>
                    </a:solidFill>
                    <a:latin typeface="Arial"/>
                  </a:rPr>
                  <a:t> and the focus has slope </a:t>
                </a:r>
                <a:r>
                  <a:rPr lang="en-IN" sz="2400">
                    <a:solidFill>
                      <a:srgbClr val="111827"/>
                    </a:solidFill>
                    <a:latin typeface="Cambria Math" panose="02040503050406030204" pitchFamily="18" charset="0"/>
                  </a:rPr>
                  <a:t>$\frac{2t}{t^2-1}$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When the same relation holds for each of three variables with a common symmetric quantity (here </a:t>
                </a:r>
                <a:r>
                  <a:rPr lang="en-IN" sz="2400">
                    <a:solidFill>
                      <a:srgbClr val="111827"/>
                    </a:solidFill>
                    <a:latin typeface="Cambria Math" panose="02040503050406030204" pitchFamily="18" charset="0"/>
                  </a:rPr>
                  <a:t>$u=\sum t_i$</a:t>
                </a:r>
                <a:r>
                  <a:rPr sz="2400" b="0">
                    <a:solidFill>
                      <a:srgbClr val="111827"/>
                    </a:solidFill>
                    <a:latin typeface="Arial"/>
                  </a:rPr>
                  <a:t>), the three variables are the roots of one cubic: use Vieta.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Orthocentre of the triangle on </a:t>
                </a:r>
                <a:r>
                  <a:rPr lang="en-IN" sz="2400">
                    <a:solidFill>
                      <a:srgbClr val="111827"/>
                    </a:solidFill>
                    <a:latin typeface="Cambria Math" panose="02040503050406030204" pitchFamily="18" charset="0"/>
                  </a:rPr>
                  <a:t>$y^2=4ax$</a:t>
                </a:r>
                <a:r>
                  <a:rPr sz="2400" b="0">
                    <a:solidFill>
                      <a:srgbClr val="111827"/>
                    </a:solidFill>
                    <a:latin typeface="Arial"/>
                  </a:rPr>
                  <a:t> at the focus </a:t>
                </a:r>
                <a:r>
                  <a:rPr lang="en-IN" sz="2400">
                    <a:solidFill>
                      <a:srgbClr val="111827"/>
                    </a:solidFill>
                    <a:latin typeface="Cambria Math" panose="02040503050406030204" pitchFamily="18" charset="0"/>
                  </a:rPr>
                  <a:t>$\iff t_1t_2+t_2t_3+t_3t_1=-5$</a:t>
                </a:r>
                <a:r>
                  <a:rPr sz="2400" b="0">
                    <a:solidFill>
                      <a:srgbClr val="111827"/>
                    </a:solidFill>
                    <a:latin typeface="Arial"/>
                  </a:rPr>
                  <a:t> and </a:t>
                </a:r>
                <a:r>
                  <a:rPr lang="en-IN" sz="2400">
                    <a:solidFill>
                      <a:srgbClr val="111827"/>
                    </a:solidFill>
                    <a:latin typeface="Cambria Math" panose="02040503050406030204" pitchFamily="18" charset="0"/>
                  </a:rPr>
                  <a:t>$t_1+t_2+t_3+t_1t_2t_3=0$</a:t>
                </a:r>
                <a:r>
                  <a:rPr sz="2400" b="0">
                    <a:solidFill>
                      <a:srgbClr val="111827"/>
                    </a:solidFill>
                    <a:latin typeface="Arial"/>
                  </a:rPr>
                  <a:t> (distinct parameters).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$t=(0,\sqrt5,-\sqrt5)$</a:t>
                </a:r>
                <a:r>
                  <a:rPr sz="2400" b="0">
                    <a:solidFill>
                      <a:srgbClr val="111827"/>
                    </a:solidFill>
                    <a:latin typeface="Arial"/>
                  </a:rPr>
                  <a:t> gives </a:t>
                </a:r>
                <a:r>
                  <a:rPr lang="en-IN" sz="2400">
                    <a:solidFill>
                      <a:srgbClr val="111827"/>
                    </a:solidFill>
                    <a:latin typeface="Cambria Math" panose="02040503050406030204" pitchFamily="18" charset="0"/>
                  </a:rPr>
                  <a:t>$\sum t_it_j=-5$</a:t>
                </a:r>
                <a:r>
                  <a:rPr sz="2400" b="0">
                    <a:solidFill>
                      <a:srgbClr val="111827"/>
                    </a:solidFill>
                    <a:latin typeface="Arial"/>
                  </a:rPr>
                  <a:t> and </a:t>
                </a:r>
                <a:r>
                  <a:rPr lang="en-IN" sz="2400">
                    <a:solidFill>
                      <a:srgbClr val="111827"/>
                    </a:solidFill>
                    <a:latin typeface="Cambria Math" panose="02040503050406030204" pitchFamily="18" charset="0"/>
                  </a:rPr>
                  <a:t>$\sum t_i+t_1t_2t_3=0$</a:t>
                </a:r>
                <a:r>
                  <a:rPr sz="2400" b="0">
                    <a:solidFill>
                      <a:srgbClr val="111827"/>
                    </a:solidFill>
                    <a:latin typeface="Arial"/>
                  </a:rPr>
                  <a:t>; the triangle </a:t>
                </a:r>
                <a:r>
                  <a:rPr lang="en-IN" sz="2400">
                    <a:solidFill>
                      <a:srgbClr val="111827"/>
                    </a:solidFill>
                    <a:latin typeface="Cambria Math" panose="02040503050406030204" pitchFamily="18" charset="0"/>
                  </a:rPr>
                  <a:t>$O,(5a,2\sqrt5a),(5a,-2\sqrt5a)$</a:t>
                </a:r>
                <a:r>
                  <a:rPr sz="2400" b="0">
                    <a:solidFill>
                      <a:srgbClr val="111827"/>
                    </a:solidFill>
                    <a:latin typeface="Arial"/>
                  </a:rPr>
                  <a:t> has orthocentre </a:t>
                </a:r>
                <a:r>
                  <a:rPr lang="en-IN" sz="2400">
                    <a:solidFill>
                      <a:srgbClr val="111827"/>
                    </a:solidFill>
                    <a:latin typeface="Cambria Math" panose="02040503050406030204" pitchFamily="18" charset="0"/>
                  </a:rPr>
                  <a:t>$(a,0)$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variable chord of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touches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oMath>
                </a14:m>
                <a:r>
                  <a:rPr sz="2400" b="0">
                    <a:solidFill>
                      <a:srgbClr val="111827"/>
                    </a:solidFill>
                    <a:latin typeface="Arial"/>
                  </a:rPr>
                  <a:t>. The locus of the point of intersection of the tangents at the ends of the chord is a parabola. Find its latus rectum.</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variable chord of the parabola </a:t>
                </a:r>
                <a:r>
                  <a:rPr lang="en-IN" sz="2400">
                    <a:solidFill>
                      <a:srgbClr val="111827"/>
                    </a:solidFill>
                    <a:latin typeface="Cambria Math" panose="02040503050406030204" pitchFamily="18" charset="0"/>
                  </a:rPr>
                  <a:t>$y^2=8x$</a:t>
                </a:r>
                <a:r>
                  <a:rPr sz="2400" b="0">
                    <a:solidFill>
                      <a:srgbClr val="111827"/>
                    </a:solidFill>
                    <a:latin typeface="Arial"/>
                  </a:rPr>
                  <a:t> touches the parabola </a:t>
                </a:r>
                <a:r>
                  <a:rPr lang="en-IN" sz="2400">
                    <a:solidFill>
                      <a:srgbClr val="111827"/>
                    </a:solidFill>
                    <a:latin typeface="Cambria Math" panose="02040503050406030204" pitchFamily="18" charset="0"/>
                  </a:rPr>
                  <a:t>$y^2=2x$</a:t>
                </a:r>
                <a:r>
                  <a:rPr sz="2400" b="0">
                    <a:solidFill>
                      <a:srgbClr val="111827"/>
                    </a:solidFill>
                    <a:latin typeface="Arial"/>
                  </a:rPr>
                  <a:t>. The locus of the point of intersection of the tangents at the ends of the chord is a parabola. Find its latus rectum.</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Chord of a parabola touching another parabola, Locus of the pole (tangents at the ends of a chord)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chord is tangent to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𝑥</m:t>
                    </m:r>
                  </m:oMath>
                </a14:m>
                <a:r>
                  <a:rPr sz="2400" b="0">
                    <a:solidFill>
                      <a:srgbClr val="78350F"/>
                    </a:solidFill>
                    <a:latin typeface="Arial"/>
                  </a:rPr>
                  <a:t>: the condition </a:t>
                </a:r>
                <a14:m>
                  <m:oMath xmlns:m="http://schemas.openxmlformats.org/officeDocument/2006/math">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𝑎</m:t>
                            </m:r>
                          </m:e>
                          <m:sup>
                            <m:r>
                              <m:rPr>
                                <m:sty m:val="p"/>
                              </m:rPr>
                              <a:rPr lang="en-IN" sz="2400">
                                <a:solidFill>
                                  <a:srgbClr val="78350F"/>
                                </a:solidFill>
                                <a:latin typeface="Cambria Math" panose="02040503050406030204" pitchFamily="18" charset="0"/>
                              </a:rPr>
                              <m:t>′</m:t>
                            </m:r>
                          </m:sup>
                        </m:sSup>
                      </m:num>
                      <m:den>
                        <m:r>
                          <a:rPr lang="en-IN" sz="2400" i="1">
                            <a:solidFill>
                              <a:srgbClr val="78350F"/>
                            </a:solidFill>
                            <a:latin typeface="Cambria Math" panose="02040503050406030204" pitchFamily="18" charset="0"/>
                          </a:rPr>
                          <m:t>𝑚</m:t>
                        </m:r>
                      </m:den>
                    </m:f>
                  </m:oMath>
                </a14:m>
                <a:r>
                  <a:rPr sz="2400" b="0">
                    <a:solidFill>
                      <a:srgbClr val="78350F"/>
                    </a:solidFill>
                    <a:latin typeface="Arial"/>
                  </a:rPr>
                  <a:t> links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and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which are exactly </a:t>
                </a:r>
                <a14:m>
                  <m:oMath xmlns:m="http://schemas.openxmlformats.org/officeDocument/2006/math">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oMath>
                </a14:m>
                <a:r>
                  <a:rPr sz="2400" b="0">
                    <a:solidFill>
                      <a:srgbClr val="78350F"/>
                    </a:solidFill>
                    <a:latin typeface="Arial"/>
                  </a:rPr>
                  <a:t> up to constants.</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chord is tangent to </a:t>
                </a:r>
                <a:r>
                  <a:rPr lang="en-IN" sz="2400">
                    <a:solidFill>
                      <a:srgbClr val="78350F"/>
                    </a:solidFill>
                    <a:latin typeface="Cambria Math" panose="02040503050406030204" pitchFamily="18" charset="0"/>
                  </a:rPr>
                  <a:t>$y^2=2x$</a:t>
                </a:r>
                <a:r>
                  <a:rPr sz="2400" b="0">
                    <a:solidFill>
                      <a:srgbClr val="78350F"/>
                    </a:solidFill>
                    <a:latin typeface="Arial"/>
                  </a:rPr>
                  <a:t>: the condition </a:t>
                </a:r>
                <a:r>
                  <a:rPr lang="en-IN" sz="2400">
                    <a:solidFill>
                      <a:srgbClr val="78350F"/>
                    </a:solidFill>
                    <a:latin typeface="Cambria Math" panose="02040503050406030204" pitchFamily="18" charset="0"/>
                  </a:rPr>
                  <a:t>$c=\frac{a'}{m}$</a:t>
                </a:r>
                <a:r>
                  <a:rPr sz="2400" b="0">
                    <a:solidFill>
                      <a:srgbClr val="78350F"/>
                    </a:solidFill>
                    <a:latin typeface="Arial"/>
                  </a:rPr>
                  <a:t> links </a:t>
                </a:r>
                <a:r>
                  <a:rPr lang="en-IN" sz="2400">
                    <a:solidFill>
                      <a:srgbClr val="78350F"/>
                    </a:solidFill>
                    <a:latin typeface="Cambria Math" panose="02040503050406030204" pitchFamily="18" charset="0"/>
                  </a:rPr>
                  <a:t>$t_1t_2$</a:t>
                </a:r>
                <a:r>
                  <a:rPr sz="2400" b="0">
                    <a:solidFill>
                      <a:srgbClr val="78350F"/>
                    </a:solidFill>
                    <a:latin typeface="Arial"/>
                  </a:rPr>
                  <a:t> and </a:t>
                </a:r>
                <a:r>
                  <a:rPr lang="en-IN" sz="2400">
                    <a:solidFill>
                      <a:srgbClr val="78350F"/>
                    </a:solidFill>
                    <a:latin typeface="Cambria Math" panose="02040503050406030204" pitchFamily="18" charset="0"/>
                  </a:rPr>
                  <a:t>$t_1+t_2$</a:t>
                </a:r>
                <a:r>
                  <a:rPr sz="2400" b="0">
                    <a:solidFill>
                      <a:srgbClr val="78350F"/>
                    </a:solidFill>
                    <a:latin typeface="Arial"/>
                  </a:rPr>
                  <a:t>, which are exactly </a:t>
                </a:r>
                <a:r>
                  <a:rPr lang="en-IN" sz="2400">
                    <a:solidFill>
                      <a:srgbClr val="78350F"/>
                    </a:solidFill>
                    <a:latin typeface="Cambria Math" panose="02040503050406030204" pitchFamily="18" charset="0"/>
                  </a:rPr>
                  <a:t>$h,k$</a:t>
                </a:r>
                <a:r>
                  <a:rPr sz="2400" b="0">
                    <a:solidFill>
                      <a:srgbClr val="78350F"/>
                    </a:solidFill>
                    <a:latin typeface="Arial"/>
                  </a:rPr>
                  <a:t> up to constants.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has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tangents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meet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chord joining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slope form: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(2) touches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oMath>
                </a14:m>
                <a:r>
                  <a:rPr sz="2400" b="0">
                    <a:solidFill>
                      <a:srgbClr val="111827"/>
                    </a:solidFill>
                    <a:latin typeface="Arial"/>
                  </a:rPr>
                  <a:t> (for which </a:t>
                </a:r>
                <a14:m>
                  <m:oMath xmlns:m="http://schemas.openxmlformats.org/officeDocument/2006/math">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condition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sup>
                        </m:sSup>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$y^2=8x$</a:t>
                </a:r>
                <a:r>
                  <a:rPr sz="2400" b="0">
                    <a:solidFill>
                      <a:srgbClr val="111827"/>
                    </a:solidFill>
                    <a:latin typeface="Arial"/>
                  </a:rPr>
                  <a:t> has </a:t>
                </a:r>
                <a:r>
                  <a:rPr lang="en-IN" sz="2400">
                    <a:solidFill>
                      <a:srgbClr val="111827"/>
                    </a:solidFill>
                    <a:latin typeface="Cambria Math" panose="02040503050406030204" pitchFamily="18" charset="0"/>
                  </a:rPr>
                  <a:t>$a=2$</a:t>
                </a:r>
                <a:r>
                  <a:rPr sz="2400" b="0">
                    <a:solidFill>
                      <a:srgbClr val="111827"/>
                    </a:solidFill>
                    <a:latin typeface="Arial"/>
                  </a:rPr>
                  <a:t>. The tangents at </a:t>
                </a:r>
                <a:r>
                  <a:rPr lang="en-IN" sz="2400">
                    <a:solidFill>
                      <a:srgbClr val="111827"/>
                    </a:solidFill>
                    <a:latin typeface="Cambria Math" panose="02040503050406030204" pitchFamily="18" charset="0"/>
                  </a:rPr>
                  <a:t>$t_1,t_2$</a:t>
                </a:r>
                <a:r>
                  <a:rPr sz="2400" b="0">
                    <a:solidFill>
                      <a:srgbClr val="111827"/>
                    </a:solidFill>
                    <a:latin typeface="Arial"/>
                  </a:rPr>
                  <a:t> meet at </a:t>
                </a:r>
                <a:r>
                  <a:rPr lang="en-IN" sz="2400">
                    <a:solidFill>
                      <a:srgbClr val="111827"/>
                    </a:solidFill>
                    <a:latin typeface="Cambria Math" panose="02040503050406030204" pitchFamily="18" charset="0"/>
                  </a:rPr>
                  <a:t>$(h,k)$</a:t>
                </a:r>
                <a:r>
                  <a:rPr sz="2400" b="0">
                    <a:solidFill>
                      <a:srgbClr val="111827"/>
                    </a:solidFill>
                    <a:latin typeface="Arial"/>
                  </a:rPr>
                  <a:t>: </a:t>
                </a:r>
                <a:r>
                  <a:rPr lang="en-IN" sz="2400">
                    <a:solidFill>
                      <a:srgbClr val="111827"/>
                    </a:solidFill>
                    <a:latin typeface="Cambria Math" panose="02040503050406030204" pitchFamily="18" charset="0"/>
                  </a:rPr>
                  <a:t>$h=2t_1t_2$</a:t>
                </a:r>
                <a:r>
                  <a:rPr sz="2400" b="0">
                    <a:solidFill>
                      <a:srgbClr val="111827"/>
                    </a:solidFill>
                    <a:latin typeface="Arial"/>
                  </a:rPr>
                  <a:t>, </a:t>
                </a:r>
                <a:r>
                  <a:rPr lang="en-IN" sz="2400">
                    <a:solidFill>
                      <a:srgbClr val="111827"/>
                    </a:solidFill>
                    <a:latin typeface="Cambria Math" panose="02040503050406030204" pitchFamily="18" charset="0"/>
                  </a:rPr>
                  <a:t>$k=2(t_1+t_2)$</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chord joining </a:t>
                </a:r>
                <a:r>
                  <a:rPr lang="en-IN" sz="2400">
                    <a:solidFill>
                      <a:srgbClr val="111827"/>
                    </a:solidFill>
                    <a:latin typeface="Cambria Math" panose="02040503050406030204" pitchFamily="18" charset="0"/>
                  </a:rPr>
                  <a:t>$t_1,t_2$</a:t>
                </a:r>
                <a:r>
                  <a:rPr sz="2400" b="0">
                    <a:solidFill>
                      <a:srgbClr val="111827"/>
                    </a:solidFill>
                    <a:latin typeface="Arial"/>
                  </a:rPr>
                  <a:t>: </a:t>
                </a:r>
                <a:r>
                  <a:rPr lang="en-IN" sz="2400">
                    <a:solidFill>
                      <a:srgbClr val="111827"/>
                    </a:solidFill>
                    <a:latin typeface="Cambria Math" panose="02040503050406030204" pitchFamily="18" charset="0"/>
                  </a:rPr>
                  <a:t>$2x-(t_1+t_2)y+4t_1t_2=0$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slope form: </a:t>
                </a:r>
                <a:r>
                  <a:rPr lang="en-IN" sz="2400">
                    <a:solidFill>
                      <a:srgbClr val="111827"/>
                    </a:solidFill>
                    <a:latin typeface="Cambria Math" panose="02040503050406030204" pitchFamily="18" charset="0"/>
                  </a:rPr>
                  <a:t>$y=\frac{2}{t_1+t_2}x+\frac{4t_1t_2}{t_1+t_2}$</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(2) touches </a:t>
                </a:r>
                <a:r>
                  <a:rPr lang="en-IN" sz="2400">
                    <a:solidFill>
                      <a:srgbClr val="111827"/>
                    </a:solidFill>
                    <a:latin typeface="Cambria Math" panose="02040503050406030204" pitchFamily="18" charset="0"/>
                  </a:rPr>
                  <a:t>$y^2=2x$</a:t>
                </a:r>
                <a:r>
                  <a:rPr sz="2400" b="0">
                    <a:solidFill>
                      <a:srgbClr val="111827"/>
                    </a:solidFill>
                    <a:latin typeface="Arial"/>
                  </a:rPr>
                  <a:t> (for which </a:t>
                </a:r>
                <a:r>
                  <a:rPr lang="en-IN" sz="2400">
                    <a:solidFill>
                      <a:srgbClr val="111827"/>
                    </a:solidFill>
                    <a:latin typeface="Cambria Math" panose="02040503050406030204" pitchFamily="18" charset="0"/>
                  </a:rPr>
                  <a:t>$a'=\frac12$</a:t>
                </a:r>
                <a:r>
                  <a:rPr sz="2400" b="0">
                    <a:solidFill>
                      <a:srgbClr val="111827"/>
                    </a:solidFill>
                    <a:latin typeface="Arial"/>
                  </a:rPr>
                  <a:t>): condition </a:t>
                </a:r>
                <a:r>
                  <a:rPr lang="en-IN" sz="2400">
                    <a:solidFill>
                      <a:srgbClr val="111827"/>
                    </a:solidFill>
                    <a:latin typeface="Cambria Math" panose="02040503050406030204" pitchFamily="18" charset="0"/>
                  </a:rPr>
                  <a:t>$c=\frac{a'}{m}$</a:t>
                </a:r>
                <a:r>
                  <a:rPr sz="2400" b="0">
                    <a:solidFill>
                      <a:srgbClr val="111827"/>
                    </a:solidFill>
                    <a:latin typeface="Arial"/>
                  </a:rPr>
                  <a:t>, so </a:t>
                </a:r>
                <a:r>
                  <a:rPr lang="en-IN" sz="2400">
                    <a:solidFill>
                      <a:srgbClr val="111827"/>
                    </a:solidFill>
                    <a:latin typeface="Cambria Math" panose="02040503050406030204" pitchFamily="18" charset="0"/>
                  </a:rPr>
                  <a:t>$\frac{4t_1t_2}{t_1+t_2}=\frac{t_1+t_2}{2\cdot2}$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16</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a:rPr lang="en-IN" sz="2400" i="1">
                        <a:solidFill>
                          <a:srgbClr val="111827"/>
                        </a:solidFill>
                        <a:latin typeface="Cambria Math" panose="02040503050406030204" pitchFamily="18" charset="0"/>
                      </a:rPr>
                      <m:t>ℎ</m:t>
                    </m:r>
                  </m:oMath>
                </a14:m>
                <a:r>
                  <a:rPr sz="2400" b="0">
                    <a:solidFill>
                      <a:srgbClr val="111827"/>
                    </a:solidFill>
                    <a:latin typeface="Arial"/>
                  </a:rPr>
                  <a:t>: the locus is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a:rPr lang="en-IN" sz="2400" i="1">
                        <a:solidFill>
                          <a:srgbClr val="111827"/>
                        </a:solidFill>
                        <a:latin typeface="Cambria Math" panose="02040503050406030204" pitchFamily="18" charset="0"/>
                      </a:rPr>
                      <m:t>𝑥</m:t>
                    </m:r>
                  </m:oMath>
                </a14:m>
                <a:r>
                  <a:rPr sz="2400" b="0">
                    <a:solidFill>
                      <a:srgbClr val="111827"/>
                    </a:solidFill>
                    <a:latin typeface="Arial"/>
                  </a:rPr>
                  <a:t>, a parabola with latus rectum </a:t>
                </a:r>
                <a14:m>
                  <m:oMath xmlns:m="http://schemas.openxmlformats.org/officeDocument/2006/math">
                    <m:r>
                      <a:rPr lang="en-IN" sz="2400" i="1">
                        <a:solidFill>
                          <a:srgbClr val="111827"/>
                        </a:solidFill>
                        <a:latin typeface="Cambria Math" panose="02040503050406030204" pitchFamily="18" charset="0"/>
                      </a:rPr>
                      <m:t>32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$16t_1t_2=(t_1+t_2)^2$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t>
                </a:r>
                <a:r>
                  <a:rPr lang="en-IN" sz="2400">
                    <a:solidFill>
                      <a:srgbClr val="111827"/>
                    </a:solidFill>
                    <a:latin typeface="Cambria Math" panose="02040503050406030204" pitchFamily="18" charset="0"/>
                  </a:rPr>
                  <a:t>$(t_1+t_2)^2=\frac{k^2}{4}$</a:t>
                </a:r>
                <a:r>
                  <a:rPr sz="2400" b="0">
                    <a:solidFill>
                      <a:srgbClr val="111827"/>
                    </a:solidFill>
                    <a:latin typeface="Arial"/>
                  </a:rPr>
                  <a:t> and </a:t>
                </a:r>
                <a:r>
                  <a:rPr lang="en-IN" sz="2400">
                    <a:solidFill>
                      <a:srgbClr val="111827"/>
                    </a:solidFill>
                    <a:latin typeface="Cambria Math" panose="02040503050406030204" pitchFamily="18" charset="0"/>
                  </a:rPr>
                  <a:t>$t_1t_2=\frac h2$</a:t>
                </a:r>
                <a:r>
                  <a:rPr sz="2400" b="0">
                    <a:solidFill>
                      <a:srgbClr val="111827"/>
                    </a:solidFill>
                    <a:latin typeface="Arial"/>
                  </a:rPr>
                  <a:t>, so </a:t>
                </a:r>
                <a:r>
                  <a:rPr lang="en-IN" sz="2400">
                    <a:solidFill>
                      <a:srgbClr val="111827"/>
                    </a:solidFill>
                    <a:latin typeface="Cambria Math" panose="02040503050406030204" pitchFamily="18" charset="0"/>
                  </a:rPr>
                  <a:t>$\frac{(t_1+t_2)^2}{t_1t_2}=\frac{k^2}{4}\cdot\frac2h=16$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$k^2=32h$</a:t>
                </a:r>
                <a:r>
                  <a:rPr sz="2400" b="0">
                    <a:solidFill>
                      <a:srgbClr val="111827"/>
                    </a:solidFill>
                    <a:latin typeface="Arial"/>
                  </a:rPr>
                  <a:t>: the locus is </a:t>
                </a:r>
                <a:r>
                  <a:rPr lang="en-IN" sz="2400">
                    <a:solidFill>
                      <a:srgbClr val="111827"/>
                    </a:solidFill>
                    <a:latin typeface="Cambria Math" panose="02040503050406030204" pitchFamily="18" charset="0"/>
                  </a:rPr>
                  <a:t>$y^2=32x$</a:t>
                </a:r>
                <a:r>
                  <a:rPr sz="2400" b="0">
                    <a:solidFill>
                      <a:srgbClr val="111827"/>
                    </a:solidFill>
                    <a:latin typeface="Arial"/>
                  </a:rPr>
                  <a:t>, a parabola with latus rectum </a:t>
                </a:r>
                <a:r>
                  <a:rPr lang="en-IN" sz="2400">
                    <a:solidFill>
                      <a:srgbClr val="111827"/>
                    </a:solidFill>
                    <a:latin typeface="Cambria Math" panose="02040503050406030204" pitchFamily="18" charset="0"/>
                  </a:rPr>
                  <a:t>$32$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32</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$32$</a:t>
                </a:r>
                <a:endParaRPr sz="2800">
                  <a:solidFill>
                    <a:srgbClr val="15803D"/>
                  </a:solidFill>
                </a:endParaRPr>
              </a:p>
            </p:txBody>
          </p:sp>
        </mc:Fallback>
      </mc:AlternateContent>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chord is the polar (chord of contact) of the external point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require this polar line to be tangent to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𝑥</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chord is the polar (chord of contact) of the external point </a:t>
                </a:r>
                <a:r>
                  <a:rPr lang="en-IN" sz="2400">
                    <a:solidFill>
                      <a:srgbClr val="78350F"/>
                    </a:solidFill>
                    <a:latin typeface="Cambria Math" panose="02040503050406030204" pitchFamily="18" charset="0"/>
                  </a:rPr>
                  <a:t>$(h,k)$</a:t>
                </a:r>
                <a:r>
                  <a:rPr sz="2400" b="0">
                    <a:solidFill>
                      <a:srgbClr val="78350F"/>
                    </a:solidFill>
                    <a:latin typeface="Arial"/>
                  </a:rPr>
                  <a:t>; require this polar line to be tangent to </a:t>
                </a:r>
                <a:r>
                  <a:rPr lang="en-IN" sz="2400">
                    <a:solidFill>
                      <a:srgbClr val="78350F"/>
                    </a:solidFill>
                    <a:latin typeface="Cambria Math" panose="02040503050406030204" pitchFamily="18" charset="0"/>
                  </a:rPr>
                  <a:t>$y^2=2x$</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tangents at the ends of the chord meet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the chord is the polar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respect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Rewrite as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𝑘</m:t>
                        </m:r>
                      </m:den>
                    </m:f>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slope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and intercept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touches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tangents at the ends of the chord meet at </a:t>
                </a:r>
                <a:r>
                  <a:rPr lang="en-IN" sz="2400">
                    <a:solidFill>
                      <a:srgbClr val="111827"/>
                    </a:solidFill>
                    <a:latin typeface="Cambria Math" panose="02040503050406030204" pitchFamily="18" charset="0"/>
                  </a:rPr>
                  <a:t>$(h,k)$</a:t>
                </a:r>
                <a:r>
                  <a:rPr sz="2400" b="0">
                    <a:solidFill>
                      <a:srgbClr val="111827"/>
                    </a:solidFill>
                    <a:latin typeface="Arial"/>
                  </a:rPr>
                  <a:t>, so the chord is the polar of </a:t>
                </a:r>
                <a:r>
                  <a:rPr lang="en-IN" sz="2400">
                    <a:solidFill>
                      <a:srgbClr val="111827"/>
                    </a:solidFill>
                    <a:latin typeface="Cambria Math" panose="02040503050406030204" pitchFamily="18" charset="0"/>
                  </a:rPr>
                  <a:t>$(h,k)$</a:t>
                </a:r>
                <a:r>
                  <a:rPr sz="2400" b="0">
                    <a:solidFill>
                      <a:srgbClr val="111827"/>
                    </a:solidFill>
                    <a:latin typeface="Arial"/>
                  </a:rPr>
                  <a:t> with respect to </a:t>
                </a:r>
                <a:r>
                  <a:rPr lang="en-IN" sz="2400">
                    <a:solidFill>
                      <a:srgbClr val="111827"/>
                    </a:solidFill>
                    <a:latin typeface="Cambria Math" panose="02040503050406030204" pitchFamily="18" charset="0"/>
                  </a:rPr>
                  <a:t>$y^2=8x$</a:t>
                </a:r>
                <a:r>
                  <a:rPr sz="2400" b="0">
                    <a:solidFill>
                      <a:srgbClr val="111827"/>
                    </a:solidFill>
                    <a:latin typeface="Arial"/>
                  </a:rPr>
                  <a:t>: </a:t>
                </a:r>
                <a:r>
                  <a:rPr lang="en-IN" sz="2400">
                    <a:solidFill>
                      <a:srgbClr val="111827"/>
                    </a:solidFill>
                    <a:latin typeface="Cambria Math" panose="02040503050406030204" pitchFamily="18" charset="0"/>
                  </a:rPr>
                  <a:t>$ky=4(x+h)$</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Rewrite as </a:t>
                </a:r>
                <a:r>
                  <a:rPr lang="en-IN" sz="2400">
                    <a:solidFill>
                      <a:srgbClr val="111827"/>
                    </a:solidFill>
                    <a:latin typeface="Cambria Math" panose="02040503050406030204" pitchFamily="18" charset="0"/>
                  </a:rPr>
                  <a:t>$y=\frac4k x+\frac{4h}{k}$</a:t>
                </a:r>
                <a:r>
                  <a:rPr sz="2400" b="0">
                    <a:solidFill>
                      <a:srgbClr val="111827"/>
                    </a:solidFill>
                    <a:latin typeface="Arial"/>
                  </a:rPr>
                  <a:t>: slope </a:t>
                </a:r>
                <a:r>
                  <a:rPr lang="en-IN" sz="2400">
                    <a:solidFill>
                      <a:srgbClr val="111827"/>
                    </a:solidFill>
                    <a:latin typeface="Cambria Math" panose="02040503050406030204" pitchFamily="18" charset="0"/>
                  </a:rPr>
                  <a:t>$m=\frac4k$</a:t>
                </a:r>
                <a:r>
                  <a:rPr sz="2400" b="0">
                    <a:solidFill>
                      <a:srgbClr val="111827"/>
                    </a:solidFill>
                    <a:latin typeface="Arial"/>
                  </a:rPr>
                  <a:t> and intercept </a:t>
                </a:r>
                <a:r>
                  <a:rPr lang="en-IN" sz="2400">
                    <a:solidFill>
                      <a:srgbClr val="111827"/>
                    </a:solidFill>
                    <a:latin typeface="Cambria Math" panose="02040503050406030204" pitchFamily="18" charset="0"/>
                  </a:rPr>
                  <a:t>$c=\frac{4h}{k}$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touches </a:t>
                </a:r>
                <a:r>
                  <a:rPr lang="en-IN" sz="2400">
                    <a:solidFill>
                      <a:srgbClr val="111827"/>
                    </a:solidFill>
                    <a:latin typeface="Cambria Math" panose="02040503050406030204" pitchFamily="18" charset="0"/>
                  </a:rPr>
                  <a:t>$y^2=2x$</a:t>
                </a:r>
                <a:r>
                  <a:rPr sz="2400" b="0">
                    <a:solidFill>
                      <a:srgbClr val="111827"/>
                    </a:solidFill>
                    <a:latin typeface="Arial"/>
                  </a:rPr>
                  <a:t> iff </a:t>
                </a:r>
                <a:r>
                  <a:rPr lang="en-IN" sz="2400">
                    <a:solidFill>
                      <a:srgbClr val="111827"/>
                    </a:solidFill>
                    <a:latin typeface="Cambria Math" panose="02040503050406030204" pitchFamily="18" charset="0"/>
                  </a:rPr>
                  <a:t>$c=\frac{1/2}{m}=\frac{k}{8}$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𝑘</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a:rPr lang="en-IN" sz="2400" i="1">
                        <a:solidFill>
                          <a:srgbClr val="111827"/>
                        </a:solidFill>
                        <a:latin typeface="Cambria Math" panose="02040503050406030204" pitchFamily="18" charset="0"/>
                      </a:rPr>
                      <m:t>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a:rPr lang="en-IN" sz="2400" i="1">
                        <a:solidFill>
                          <a:srgbClr val="111827"/>
                        </a:solidFill>
                        <a:latin typeface="Cambria Math" panose="02040503050406030204" pitchFamily="18" charset="0"/>
                      </a:rPr>
                      <m:t>𝑥</m:t>
                    </m:r>
                  </m:oMath>
                </a14:m>
                <a:r>
                  <a:rPr sz="2400" b="0">
                    <a:solidFill>
                      <a:srgbClr val="111827"/>
                    </a:solidFill>
                    <a:latin typeface="Arial"/>
                  </a:rPr>
                  <a:t>; latus rectum </a:t>
                </a:r>
                <a14:m>
                  <m:oMath xmlns:m="http://schemas.openxmlformats.org/officeDocument/2006/math">
                    <m:r>
                      <a:rPr lang="en-IN" sz="2400" i="1">
                        <a:solidFill>
                          <a:srgbClr val="111827"/>
                        </a:solidFill>
                        <a:latin typeface="Cambria Math" panose="02040503050406030204" pitchFamily="18" charset="0"/>
                      </a:rPr>
                      <m:t>32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$\frac{4h}{k}=\frac k8$</a:t>
                </a:r>
                <a:r>
                  <a:rPr sz="2400" b="0">
                    <a:solidFill>
                      <a:srgbClr val="111827"/>
                    </a:solidFill>
                    <a:latin typeface="Arial"/>
                  </a:rPr>
                  <a:t>, i.e. </a:t>
                </a:r>
                <a:r>
                  <a:rPr lang="en-IN" sz="2400">
                    <a:solidFill>
                      <a:srgbClr val="111827"/>
                    </a:solidFill>
                    <a:latin typeface="Cambria Math" panose="02040503050406030204" pitchFamily="18" charset="0"/>
                  </a:rPr>
                  <a:t>$k^2=32h$</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a:t>
                </a:r>
                <a:r>
                  <a:rPr lang="en-IN" sz="2400">
                    <a:solidFill>
                      <a:srgbClr val="111827"/>
                    </a:solidFill>
                    <a:latin typeface="Cambria Math" panose="02040503050406030204" pitchFamily="18" charset="0"/>
                  </a:rPr>
                  <a:t>$y^2=32x$</a:t>
                </a:r>
                <a:r>
                  <a:rPr sz="2400" b="0">
                    <a:solidFill>
                      <a:srgbClr val="111827"/>
                    </a:solidFill>
                    <a:latin typeface="Arial"/>
                  </a:rPr>
                  <a:t>; latus rectum </a:t>
                </a:r>
                <a:r>
                  <a:rPr lang="en-IN" sz="2400">
                    <a:solidFill>
                      <a:srgbClr val="111827"/>
                    </a:solidFill>
                    <a:latin typeface="Cambria Math" panose="02040503050406030204" pitchFamily="18" charset="0"/>
                  </a:rPr>
                  <a:t>$32$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32</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$32$</a:t>
                </a:r>
                <a:endParaRPr sz="2800">
                  <a:solidFill>
                    <a:srgbClr val="15803D"/>
                  </a:solidFill>
                </a:endParaRPr>
              </a:p>
            </p:txBody>
          </p:sp>
        </mc:Fallback>
      </mc:AlternateContent>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of contact (polar)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respect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touches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pole of a chord that touches a second conic traces a conic: a short route is always 'polar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tangent to the second curve'.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Generally, chords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𝑥</m:t>
                    </m:r>
                  </m:oMath>
                </a14:m>
                <a:r>
                  <a:rPr sz="2400" b="0">
                    <a:solidFill>
                      <a:srgbClr val="111827"/>
                    </a:solidFill>
                    <a:latin typeface="Arial"/>
                  </a:rPr>
                  <a:t> that touch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𝑥</m:t>
                    </m:r>
                  </m:oMath>
                </a14:m>
                <a:r>
                  <a:rPr sz="2400" b="0">
                    <a:solidFill>
                      <a:srgbClr val="111827"/>
                    </a:solidFill>
                    <a:latin typeface="Arial"/>
                  </a:rPr>
                  <a:t> have their poles on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bSup>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num>
                      <m:den>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den>
                    </m:f>
                    <m:r>
                      <a:rPr lang="en-IN" sz="2400" i="1">
                        <a:solidFill>
                          <a:srgbClr val="111827"/>
                        </a:solidFill>
                        <a:latin typeface="Cambria Math" panose="02040503050406030204" pitchFamily="18" charset="0"/>
                      </a:rPr>
                      <m:t>𝑥</m:t>
                    </m:r>
                  </m:oMath>
                </a14:m>
                <a:r>
                  <a:rPr sz="2400" b="0">
                    <a:solidFill>
                      <a:srgbClr val="111827"/>
                    </a:solidFill>
                    <a:latin typeface="Arial"/>
                  </a:rPr>
                  <a:t>; here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of contact (polar) of </a:t>
                </a:r>
                <a:r>
                  <a:rPr lang="en-IN" sz="2400">
                    <a:solidFill>
                      <a:srgbClr val="111827"/>
                    </a:solidFill>
                    <a:latin typeface="Cambria Math" panose="02040503050406030204" pitchFamily="18" charset="0"/>
                  </a:rPr>
                  <a:t>$(h,k)$</a:t>
                </a:r>
                <a:r>
                  <a:rPr sz="2400" b="0">
                    <a:solidFill>
                      <a:srgbClr val="111827"/>
                    </a:solidFill>
                    <a:latin typeface="Arial"/>
                  </a:rPr>
                  <a:t> with respect to </a:t>
                </a:r>
                <a:r>
                  <a:rPr lang="en-IN" sz="2400">
                    <a:solidFill>
                      <a:srgbClr val="111827"/>
                    </a:solidFill>
                    <a:latin typeface="Cambria Math" panose="02040503050406030204" pitchFamily="18" charset="0"/>
                  </a:rPr>
                  <a:t>$y^2=4ax$</a:t>
                </a:r>
                <a:r>
                  <a:rPr sz="2400" b="0">
                    <a:solidFill>
                      <a:srgbClr val="111827"/>
                    </a:solidFill>
                    <a:latin typeface="Arial"/>
                  </a:rPr>
                  <a:t> is </a:t>
                </a:r>
                <a:r>
                  <a:rPr lang="en-IN" sz="2400">
                    <a:solidFill>
                      <a:srgbClr val="111827"/>
                    </a:solidFill>
                    <a:latin typeface="Cambria Math" panose="02040503050406030204" pitchFamily="18" charset="0"/>
                  </a:rPr>
                  <a:t>$ky=2a(x+h)$</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a:t>
                </a:r>
                <a:r>
                  <a:rPr lang="en-IN" sz="2400">
                    <a:solidFill>
                      <a:srgbClr val="111827"/>
                    </a:solidFill>
                    <a:latin typeface="Cambria Math" panose="02040503050406030204" pitchFamily="18" charset="0"/>
                  </a:rPr>
                  <a:t>$y=mx+c$</a:t>
                </a:r>
                <a:r>
                  <a:rPr sz="2400" b="0">
                    <a:solidFill>
                      <a:srgbClr val="111827"/>
                    </a:solidFill>
                    <a:latin typeface="Arial"/>
                  </a:rPr>
                  <a:t> touches </a:t>
                </a:r>
                <a:r>
                  <a:rPr lang="en-IN" sz="2400">
                    <a:solidFill>
                      <a:srgbClr val="111827"/>
                    </a:solidFill>
                    <a:latin typeface="Cambria Math" panose="02040503050406030204" pitchFamily="18" charset="0"/>
                  </a:rPr>
                  <a:t>$y^2=4ax$</a:t>
                </a:r>
                <a:r>
                  <a:rPr sz="2400" b="0">
                    <a:solidFill>
                      <a:srgbClr val="111827"/>
                    </a:solidFill>
                    <a:latin typeface="Arial"/>
                  </a:rPr>
                  <a:t> iff </a:t>
                </a:r>
                <a:r>
                  <a:rPr lang="en-IN" sz="2400">
                    <a:solidFill>
                      <a:srgbClr val="111827"/>
                    </a:solidFill>
                    <a:latin typeface="Cambria Math" panose="02040503050406030204" pitchFamily="18" charset="0"/>
                  </a:rPr>
                  <a:t>$c=\frac am$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pole of a chord that touches a second conic traces a conic: a short route is always 'polar of </a:t>
                </a:r>
                <a:r>
                  <a:rPr lang="en-IN" sz="2400">
                    <a:solidFill>
                      <a:srgbClr val="111827"/>
                    </a:solidFill>
                    <a:latin typeface="Cambria Math" panose="02040503050406030204" pitchFamily="18" charset="0"/>
                  </a:rPr>
                  <a:t>$(h,k)$</a:t>
                </a:r>
                <a:r>
                  <a:rPr sz="2400" b="0">
                    <a:solidFill>
                      <a:srgbClr val="111827"/>
                    </a:solidFill>
                    <a:latin typeface="Arial"/>
                  </a:rPr>
                  <a:t> is tangent to the second curve'.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Generally, chords of </a:t>
                </a:r>
                <a:r>
                  <a:rPr lang="en-IN" sz="2400">
                    <a:solidFill>
                      <a:srgbClr val="111827"/>
                    </a:solidFill>
                    <a:latin typeface="Cambria Math" panose="02040503050406030204" pitchFamily="18" charset="0"/>
                  </a:rPr>
                  <a:t>$y^2=4a_1x$</a:t>
                </a:r>
                <a:r>
                  <a:rPr sz="2400" b="0">
                    <a:solidFill>
                      <a:srgbClr val="111827"/>
                    </a:solidFill>
                    <a:latin typeface="Arial"/>
                  </a:rPr>
                  <a:t> that touch </a:t>
                </a:r>
                <a:r>
                  <a:rPr lang="en-IN" sz="2400">
                    <a:solidFill>
                      <a:srgbClr val="111827"/>
                    </a:solidFill>
                    <a:latin typeface="Cambria Math" panose="02040503050406030204" pitchFamily="18" charset="0"/>
                  </a:rPr>
                  <a:t>$y^2=4a_2x$</a:t>
                </a:r>
                <a:r>
                  <a:rPr sz="2400" b="0">
                    <a:solidFill>
                      <a:srgbClr val="111827"/>
                    </a:solidFill>
                    <a:latin typeface="Arial"/>
                  </a:rPr>
                  <a:t> have their poles on </a:t>
                </a:r>
                <a:r>
                  <a:rPr lang="en-IN" sz="2400">
                    <a:solidFill>
                      <a:srgbClr val="111827"/>
                    </a:solidFill>
                    <a:latin typeface="Cambria Math" panose="02040503050406030204" pitchFamily="18" charset="0"/>
                  </a:rPr>
                  <a:t>$y^2=\frac{4a_1^2}{a_2}x$</a:t>
                </a:r>
                <a:r>
                  <a:rPr sz="2400" b="0">
                    <a:solidFill>
                      <a:srgbClr val="111827"/>
                    </a:solidFill>
                    <a:latin typeface="Arial"/>
                  </a:rPr>
                  <a:t>; here </a:t>
                </a:r>
                <a:r>
                  <a:rPr lang="en-IN" sz="2400">
                    <a:solidFill>
                      <a:srgbClr val="111827"/>
                    </a:solidFill>
                    <a:latin typeface="Cambria Math" panose="02040503050406030204" pitchFamily="18" charset="0"/>
                  </a:rPr>
                  <a:t>$a_1=2,\ a_2=\frac12$</a:t>
                </a:r>
                <a:r>
                  <a:rPr sz="2400" b="0">
                    <a:solidFill>
                      <a:srgbClr val="111827"/>
                    </a:solidFill>
                    <a:latin typeface="Arial"/>
                  </a:rPr>
                  <a:t> gives </a:t>
                </a:r>
                <a:r>
                  <a:rPr lang="en-IN" sz="2400">
                    <a:solidFill>
                      <a:srgbClr val="111827"/>
                    </a:solidFill>
                    <a:latin typeface="Cambria Math" panose="02040503050406030204" pitchFamily="18" charset="0"/>
                  </a:rPr>
                  <a:t>$y^2=32x$</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Show that the normals at two suitable distinct real points on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intersect at a point on the parabola whose abscissa is greater than </a:t>
                </a:r>
                <a14:m>
                  <m:oMath xmlns:m="http://schemas.openxmlformats.org/officeDocument/2006/math">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Show that the normals at two suitable distinct real points on the parabola </a:t>
                </a:r>
                <a:r>
                  <a:rPr lang="en-IN" sz="2400">
                    <a:solidFill>
                      <a:srgbClr val="111827"/>
                    </a:solidFill>
                    <a:latin typeface="Cambria Math" panose="02040503050406030204" pitchFamily="18" charset="0"/>
                  </a:rPr>
                  <a:t>$y^2=4ax\ (a&gt;0)$</a:t>
                </a:r>
                <a:r>
                  <a:rPr sz="2400" b="0">
                    <a:solidFill>
                      <a:srgbClr val="111827"/>
                    </a:solidFill>
                    <a:latin typeface="Arial"/>
                  </a:rPr>
                  <a:t> intersect at a point on the parabola whose abscissa is greater than </a:t>
                </a:r>
                <a:r>
                  <a:rPr lang="en-IN" sz="2400">
                    <a:solidFill>
                      <a:srgbClr val="111827"/>
                    </a:solidFill>
                    <a:latin typeface="Cambria Math" panose="02040503050406030204" pitchFamily="18" charset="0"/>
                  </a:rPr>
                  <a:t>$8a$</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24612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Normals to a parabola (normal chord parameter), Condition for distinct real roots (discriminant)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If the normal at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passes through </a:t>
                </a:r>
                <a14:m>
                  <m:oMath xmlns:m="http://schemas.openxmlformats.org/officeDocument/2006/math">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 on the parabola then </a:t>
                </a:r>
                <a14:m>
                  <m:oMath xmlns:m="http://schemas.openxmlformats.org/officeDocument/2006/math">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two distinct real feet </a:t>
                </a:r>
                <a14:m>
                  <m:oMath xmlns:m="http://schemas.openxmlformats.org/officeDocument/2006/math">
                    <m:r>
                      <a:rPr lang="en-IN" sz="2400" i="1">
                        <a:solidFill>
                          <a:srgbClr val="78350F"/>
                        </a:solidFill>
                        <a:latin typeface="Cambria Math" panose="02040503050406030204" pitchFamily="18" charset="0"/>
                      </a:rPr>
                      <m:t>𝑡</m:t>
                    </m:r>
                  </m:oMath>
                </a14:m>
                <a:r>
                  <a:rPr sz="2400" b="0">
                    <a:solidFill>
                      <a:srgbClr val="78350F"/>
                    </a:solidFill>
                    <a:latin typeface="Arial"/>
                  </a:rPr>
                  <a:t> need a positive discriminant.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If the normal at </a:t>
                </a:r>
                <a:r>
                  <a:rPr lang="en-IN" sz="2400">
                    <a:solidFill>
                      <a:srgbClr val="78350F"/>
                    </a:solidFill>
                    <a:latin typeface="Cambria Math" panose="02040503050406030204" pitchFamily="18" charset="0"/>
                  </a:rPr>
                  <a:t>$P(t)$</a:t>
                </a:r>
                <a:r>
                  <a:rPr sz="2400" b="0">
                    <a:solidFill>
                      <a:srgbClr val="78350F"/>
                    </a:solidFill>
                    <a:latin typeface="Arial"/>
                  </a:rPr>
                  <a:t> passes through </a:t>
                </a:r>
                <a:r>
                  <a:rPr lang="en-IN" sz="2400">
                    <a:solidFill>
                      <a:srgbClr val="78350F"/>
                    </a:solidFill>
                    <a:latin typeface="Cambria Math" panose="02040503050406030204" pitchFamily="18" charset="0"/>
                  </a:rPr>
                  <a:t>$Q(t_1)$</a:t>
                </a:r>
                <a:r>
                  <a:rPr sz="2400" b="0">
                    <a:solidFill>
                      <a:srgbClr val="78350F"/>
                    </a:solidFill>
                    <a:latin typeface="Arial"/>
                  </a:rPr>
                  <a:t> on the parabola then </a:t>
                </a:r>
                <a:r>
                  <a:rPr lang="en-IN" sz="2400">
                    <a:solidFill>
                      <a:srgbClr val="78350F"/>
                    </a:solidFill>
                    <a:latin typeface="Cambria Math" panose="02040503050406030204" pitchFamily="18" charset="0"/>
                  </a:rPr>
                  <a:t>$t^2+t_1t+2=0$</a:t>
                </a:r>
                <a:r>
                  <a:rPr sz="2400" b="0">
                    <a:solidFill>
                      <a:srgbClr val="78350F"/>
                    </a:solidFill>
                    <a:latin typeface="Arial"/>
                  </a:rPr>
                  <a:t>; two distinct real feet </a:t>
                </a:r>
                <a:r>
                  <a:rPr lang="en-IN" sz="2400">
                    <a:solidFill>
                      <a:srgbClr val="78350F"/>
                    </a:solidFill>
                    <a:latin typeface="Cambria Math" panose="02040503050406030204" pitchFamily="18" charset="0"/>
                  </a:rPr>
                  <a:t>$t$</a:t>
                </a:r>
                <a:r>
                  <a:rPr sz="2400" b="0">
                    <a:solidFill>
                      <a:srgbClr val="78350F"/>
                    </a:solidFill>
                    <a:latin typeface="Arial"/>
                  </a:rPr>
                  <a:t> need a positive discriminant.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normals at two distinct real points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𝑃</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meet at the point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the parabola.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meets the parabola again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𝑡</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 a quadratic in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whose two roots are the parameters of the two feet.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normals at two distinct real points </a:t>
                </a:r>
                <a:r>
                  <a:rPr lang="en-IN" sz="2400">
                    <a:solidFill>
                      <a:srgbClr val="111827"/>
                    </a:solidFill>
                    <a:latin typeface="Cambria Math" panose="02040503050406030204" pitchFamily="18" charset="0"/>
                  </a:rPr>
                  <a:t>$P(t)$</a:t>
                </a:r>
                <a:r>
                  <a:rPr sz="2400" b="0">
                    <a:solidFill>
                      <a:srgbClr val="111827"/>
                    </a:solidFill>
                    <a:latin typeface="Arial"/>
                  </a:rPr>
                  <a:t> and </a:t>
                </a:r>
                <a:r>
                  <a:rPr lang="en-IN" sz="2400">
                    <a:solidFill>
                      <a:srgbClr val="111827"/>
                    </a:solidFill>
                    <a:latin typeface="Cambria Math" panose="02040503050406030204" pitchFamily="18" charset="0"/>
                  </a:rPr>
                  <a:t>$P'(t')$</a:t>
                </a:r>
                <a:r>
                  <a:rPr sz="2400" b="0">
                    <a:solidFill>
                      <a:srgbClr val="111827"/>
                    </a:solidFill>
                    <a:latin typeface="Arial"/>
                  </a:rPr>
                  <a:t> meet at the point </a:t>
                </a:r>
                <a:r>
                  <a:rPr lang="en-IN" sz="2400">
                    <a:solidFill>
                      <a:srgbClr val="111827"/>
                    </a:solidFill>
                    <a:latin typeface="Cambria Math" panose="02040503050406030204" pitchFamily="18" charset="0"/>
                  </a:rPr>
                  <a:t>$Q(t_1)\equiv(at_1^2,2at_1)$</a:t>
                </a:r>
                <a:r>
                  <a:rPr sz="2400" b="0">
                    <a:solidFill>
                      <a:srgbClr val="111827"/>
                    </a:solidFill>
                    <a:latin typeface="Arial"/>
                  </a:rPr>
                  <a:t> on the parabola.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at </a:t>
                </a:r>
                <a:r>
                  <a:rPr lang="en-IN" sz="2400">
                    <a:solidFill>
                      <a:srgbClr val="111827"/>
                    </a:solidFill>
                    <a:latin typeface="Cambria Math" panose="02040503050406030204" pitchFamily="18" charset="0"/>
                  </a:rPr>
                  <a:t>$P(t)$</a:t>
                </a:r>
                <a:r>
                  <a:rPr sz="2400" b="0">
                    <a:solidFill>
                      <a:srgbClr val="111827"/>
                    </a:solidFill>
                    <a:latin typeface="Arial"/>
                  </a:rPr>
                  <a:t> meets the parabola again at </a:t>
                </a:r>
                <a:r>
                  <a:rPr lang="en-IN" sz="2400">
                    <a:solidFill>
                      <a:srgbClr val="111827"/>
                    </a:solidFill>
                    <a:latin typeface="Cambria Math" panose="02040503050406030204" pitchFamily="18" charset="0"/>
                  </a:rPr>
                  <a:t>$Q(t_1)$</a:t>
                </a:r>
                <a:r>
                  <a:rPr sz="2400" b="0">
                    <a:solidFill>
                      <a:srgbClr val="111827"/>
                    </a:solidFill>
                    <a:latin typeface="Arial"/>
                  </a:rPr>
                  <a:t> with </a:t>
                </a:r>
                <a:r>
                  <a:rPr lang="en-IN" sz="2400">
                    <a:solidFill>
                      <a:srgbClr val="111827"/>
                    </a:solidFill>
                    <a:latin typeface="Cambria Math" panose="02040503050406030204" pitchFamily="18" charset="0"/>
                  </a:rPr>
                  <a:t>$t_1=-t-\frac{2}{t}$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$t^2+t_1t+2=0$</a:t>
                </a:r>
                <a:r>
                  <a:rPr sz="2400" b="0">
                    <a:solidFill>
                      <a:srgbClr val="111827"/>
                    </a:solidFill>
                    <a:latin typeface="Arial"/>
                  </a:rPr>
                  <a:t> - a quadratic in </a:t>
                </a:r>
                <a:r>
                  <a:rPr lang="en-IN" sz="2400">
                    <a:solidFill>
                      <a:srgbClr val="111827"/>
                    </a:solidFill>
                    <a:latin typeface="Cambria Math" panose="02040503050406030204" pitchFamily="18" charset="0"/>
                  </a:rPr>
                  <a:t>$t$</a:t>
                </a:r>
                <a:r>
                  <a:rPr sz="2400" b="0">
                    <a:solidFill>
                      <a:srgbClr val="111827"/>
                    </a:solidFill>
                    <a:latin typeface="Arial"/>
                  </a:rPr>
                  <a:t> whose two roots are the parameters of the two feet.</a:t>
                </a:r>
                <a:endParaRPr sz="2400">
                  <a:solidFill>
                    <a:srgbClr val="111827"/>
                  </a:solidFill>
                </a:endParaRPr>
              </a:p>
            </p:txBody>
          </p:sp>
        </mc:Fallback>
      </mc:AlternateContent>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two distinct real feet the discriminant must be positive: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abscissa of the common point is </a:t>
                </a:r>
                <a14:m>
                  <m:oMath xmlns:m="http://schemas.openxmlformats.org/officeDocument/2006/math">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oMath>
                </a14:m>
                <a:r>
                  <a:rPr sz="2400" b="0">
                    <a:solidFill>
                      <a:srgbClr val="111827"/>
                    </a:solidFill>
                    <a:latin typeface="Arial"/>
                  </a:rPr>
                  <a:t>. (Conversely every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with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8</m:t>
                    </m:r>
                  </m:oMath>
                </a14:m>
                <a:r>
                  <a:rPr sz="2400" b="0">
                    <a:solidFill>
                      <a:srgbClr val="111827"/>
                    </a:solidFill>
                    <a:latin typeface="Arial"/>
                  </a:rPr>
                  <a:t> gives two real feet, so such a point exists.)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two distinct real feet the discriminant must be positive: </a:t>
                </a:r>
                <a:r>
                  <a:rPr lang="en-IN" sz="2400">
                    <a:solidFill>
                      <a:srgbClr val="111827"/>
                    </a:solidFill>
                    <a:latin typeface="Cambria Math" panose="02040503050406030204" pitchFamily="18" charset="0"/>
                  </a:rPr>
                  <a:t>$t_1^2-8&gt;0$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$t_1^2&gt;8$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abscissa of the common point is </a:t>
                </a:r>
                <a:r>
                  <a:rPr lang="en-IN" sz="2400">
                    <a:solidFill>
                      <a:srgbClr val="111827"/>
                    </a:solidFill>
                    <a:latin typeface="Cambria Math" panose="02040503050406030204" pitchFamily="18" charset="0"/>
                  </a:rPr>
                  <a:t>$at_1^2&gt;8a$</a:t>
                </a:r>
                <a:r>
                  <a:rPr sz="2400" b="0">
                    <a:solidFill>
                      <a:srgbClr val="111827"/>
                    </a:solidFill>
                    <a:latin typeface="Arial"/>
                  </a:rPr>
                  <a:t>. (Conversely every </a:t>
                </a:r>
                <a:r>
                  <a:rPr lang="en-IN" sz="2400">
                    <a:solidFill>
                      <a:srgbClr val="111827"/>
                    </a:solidFill>
                    <a:latin typeface="Cambria Math" panose="02040503050406030204" pitchFamily="18" charset="0"/>
                  </a:rPr>
                  <a:t>$t_1$</a:t>
                </a:r>
                <a:r>
                  <a:rPr sz="2400" b="0">
                    <a:solidFill>
                      <a:srgbClr val="111827"/>
                    </a:solidFill>
                    <a:latin typeface="Arial"/>
                  </a:rPr>
                  <a:t> with </a:t>
                </a:r>
                <a:r>
                  <a:rPr lang="en-IN" sz="2400">
                    <a:solidFill>
                      <a:srgbClr val="111827"/>
                    </a:solidFill>
                    <a:latin typeface="Cambria Math" panose="02040503050406030204" pitchFamily="18" charset="0"/>
                  </a:rPr>
                  <a:t>$t_1^2&gt;8$</a:t>
                </a:r>
                <a:r>
                  <a:rPr sz="2400" b="0">
                    <a:solidFill>
                      <a:srgbClr val="111827"/>
                    </a:solidFill>
                    <a:latin typeface="Arial"/>
                  </a:rPr>
                  <a:t> gives two real feet, so such a point exists.)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Abscissa of the common point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𝑎</m:t>
                    </m:r>
                    <m:sSubSup>
                      <m:e>
                        <m:r>
                          <a:rPr lang="en-IN" sz="2800" i="1">
                            <a:solidFill>
                              <a:srgbClr val="15803D"/>
                            </a:solidFill>
                            <a:latin typeface="Cambria Math" panose="02040503050406030204" pitchFamily="18" charset="0"/>
                          </a:rPr>
                          <m:t>𝑡</m:t>
                        </m:r>
                      </m:e>
                      <m:sub>
                        <m:r>
                          <a:rPr lang="en-IN" sz="2800" i="1">
                            <a:solidFill>
                              <a:srgbClr val="15803D"/>
                            </a:solidFill>
                            <a:latin typeface="Cambria Math" panose="02040503050406030204" pitchFamily="18" charset="0"/>
                          </a:rPr>
                          <m:t>1</m:t>
                        </m:r>
                      </m:sub>
                      <m:sup>
                        <m:r>
                          <a:rPr lang="en-IN" sz="2800" i="1">
                            <a:solidFill>
                              <a:srgbClr val="15803D"/>
                            </a:solidFill>
                            <a:latin typeface="Cambria Math" panose="02040503050406030204" pitchFamily="18" charset="0"/>
                          </a:rPr>
                          <m:t>2</m:t>
                        </m:r>
                      </m:sup>
                    </m:sSubSup>
                    <m:r>
                      <m:rPr>
                        <m:sty m:val="p"/>
                      </m:rPr>
                      <a:rPr lang="en-IN" sz="2800">
                        <a:solidFill>
                          <a:srgbClr val="15803D"/>
                        </a:solidFill>
                        <a:latin typeface="Cambria Math" panose="02040503050406030204" pitchFamily="18" charset="0"/>
                      </a:rPr>
                      <m:t>&gt;</m:t>
                    </m:r>
                    <m:r>
                      <a:rPr lang="en-IN" sz="2800" i="1">
                        <a:solidFill>
                          <a:srgbClr val="15803D"/>
                        </a:solidFill>
                        <a:latin typeface="Cambria Math" panose="02040503050406030204" pitchFamily="18" charset="0"/>
                      </a:rPr>
                      <m:t>8</m:t>
                    </m:r>
                    <m:r>
                      <a:rPr lang="en-IN" sz="2800" i="1">
                        <a:solidFill>
                          <a:srgbClr val="15803D"/>
                        </a:solidFill>
                        <a:latin typeface="Cambria Math" panose="02040503050406030204" pitchFamily="18" charset="0"/>
                      </a:rPr>
                      <m:t>𝑎</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Abscissa of the common point </a:t>
                </a:r>
                <a:r>
                  <a:rPr lang="en-IN" sz="2800">
                    <a:solidFill>
                      <a:srgbClr val="15803D"/>
                    </a:solidFill>
                    <a:latin typeface="Cambria Math" panose="02040503050406030204" pitchFamily="18" charset="0"/>
                  </a:rPr>
                  <a:t>$=at_1^2&gt;8a$</a:t>
                </a:r>
                <a:endParaRPr sz="2800">
                  <a:solidFill>
                    <a:srgbClr val="15803D"/>
                  </a:solidFill>
                </a:endParaRPr>
              </a:p>
            </p:txBody>
          </p:sp>
        </mc:Fallback>
      </mc:AlternateContent>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Vieta on </a:t>
                </a:r>
                <a14:m>
                  <m:oMath xmlns:m="http://schemas.openxmlformats.org/officeDocument/2006/math">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the feet satisfy </a:t>
                </a:r>
                <a14:m>
                  <m:oMath xmlns:m="http://schemas.openxmlformats.org/officeDocument/2006/math">
                    <m:r>
                      <a:rPr lang="en-IN" sz="2400" i="1">
                        <a:solidFill>
                          <a:srgbClr val="78350F"/>
                        </a:solidFill>
                        <a:latin typeface="Cambria Math" panose="02040503050406030204" pitchFamily="18" charset="0"/>
                      </a:rPr>
                      <m:t>𝑡</m:t>
                    </m:r>
                    <m:sSup>
                      <m:e>
                        <m:r>
                          <a:rPr lang="en-IN" sz="2400" i="1">
                            <a:solidFill>
                              <a:srgbClr val="78350F"/>
                            </a:solidFill>
                            <a:latin typeface="Cambria Math" panose="02040503050406030204" pitchFamily="18" charset="0"/>
                          </a:rPr>
                          <m:t>𝑡</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two distinct reals with positive product have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&gt;</m:t>
                    </m:r>
                    <m:r>
                      <a:rPr lang="en-IN" sz="2400" i="1">
                        <a:solidFill>
                          <a:srgbClr val="78350F"/>
                        </a:solidFill>
                        <a:latin typeface="Cambria Math" panose="02040503050406030204" pitchFamily="18" charset="0"/>
                      </a:rPr>
                      <m:t>2</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𝑡</m:t>
                        </m:r>
                        <m:sSup>
                          <m:e>
                            <m:r>
                              <a:rPr lang="en-IN" sz="2400" i="1">
                                <a:solidFill>
                                  <a:srgbClr val="78350F"/>
                                </a:solidFill>
                                <a:latin typeface="Cambria Math" panose="02040503050406030204" pitchFamily="18" charset="0"/>
                              </a:rPr>
                              <m:t>𝑡</m:t>
                            </m:r>
                          </m:e>
                          <m:sup>
                            <m:r>
                              <m:rPr>
                                <m:sty m:val="p"/>
                              </m:rPr>
                              <a:rPr lang="en-IN" sz="2400">
                                <a:solidFill>
                                  <a:srgbClr val="78350F"/>
                                </a:solidFill>
                                <a:latin typeface="Cambria Math" panose="02040503050406030204" pitchFamily="18" charset="0"/>
                              </a:rPr>
                              <m:t>′</m:t>
                            </m:r>
                          </m:sup>
                        </m:sSup>
                      </m:e>
                    </m:rad>
                  </m:oMath>
                </a14:m>
                <a:r>
                  <a:rPr sz="2400" b="0">
                    <a:solidFill>
                      <a:srgbClr val="78350F"/>
                    </a:solidFill>
                    <a:latin typeface="Arial"/>
                  </a:rPr>
                  <a:t> (AM-GM).</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Vieta on </a:t>
                </a:r>
                <a:r>
                  <a:rPr lang="en-IN" sz="2400">
                    <a:solidFill>
                      <a:srgbClr val="78350F"/>
                    </a:solidFill>
                    <a:latin typeface="Cambria Math" panose="02040503050406030204" pitchFamily="18" charset="0"/>
                  </a:rPr>
                  <a:t>$t^2+t_1t+2=0$</a:t>
                </a:r>
                <a:r>
                  <a:rPr sz="2400" b="0">
                    <a:solidFill>
                      <a:srgbClr val="78350F"/>
                    </a:solidFill>
                    <a:latin typeface="Arial"/>
                  </a:rPr>
                  <a:t>: the feet satisfy </a:t>
                </a:r>
                <a:r>
                  <a:rPr lang="en-IN" sz="2400">
                    <a:solidFill>
                      <a:srgbClr val="78350F"/>
                    </a:solidFill>
                    <a:latin typeface="Cambria Math" panose="02040503050406030204" pitchFamily="18" charset="0"/>
                  </a:rPr>
                  <a:t>$tt'=2$</a:t>
                </a:r>
                <a:r>
                  <a:rPr sz="2400" b="0">
                    <a:solidFill>
                      <a:srgbClr val="78350F"/>
                    </a:solidFill>
                    <a:latin typeface="Arial"/>
                  </a:rPr>
                  <a:t>, </a:t>
                </a:r>
                <a:r>
                  <a:rPr lang="en-IN" sz="2400">
                    <a:solidFill>
                      <a:srgbClr val="78350F"/>
                    </a:solidFill>
                    <a:latin typeface="Cambria Math" panose="02040503050406030204" pitchFamily="18" charset="0"/>
                  </a:rPr>
                  <a:t>$t+t'=-t_1$</a:t>
                </a:r>
                <a:r>
                  <a:rPr sz="2400" b="0">
                    <a:solidFill>
                      <a:srgbClr val="78350F"/>
                    </a:solidFill>
                    <a:latin typeface="Arial"/>
                  </a:rPr>
                  <a:t>; two distinct reals with positive product have </a:t>
                </a:r>
                <a:r>
                  <a:rPr lang="en-IN" sz="2400">
                    <a:solidFill>
                      <a:srgbClr val="78350F"/>
                    </a:solidFill>
                    <a:latin typeface="Cambria Math" panose="02040503050406030204" pitchFamily="18" charset="0"/>
                  </a:rPr>
                  <a:t>$|t+t'|&gt;2\sqrt{tt'}$</a:t>
                </a:r>
                <a:r>
                  <a:rPr sz="2400" b="0">
                    <a:solidFill>
                      <a:srgbClr val="78350F"/>
                    </a:solidFill>
                    <a:latin typeface="Arial"/>
                  </a:rPr>
                  <a:t> (AM-GM).</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two feet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are the roots of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𝑡</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𝑡</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have the same sign,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two feet </a:t>
                </a:r>
                <a:r>
                  <a:rPr lang="en-IN" sz="2400">
                    <a:solidFill>
                      <a:srgbClr val="111827"/>
                    </a:solidFill>
                    <a:latin typeface="Cambria Math" panose="02040503050406030204" pitchFamily="18" charset="0"/>
                  </a:rPr>
                  <a:t>$t,t'$</a:t>
                </a:r>
                <a:r>
                  <a:rPr sz="2400" b="0">
                    <a:solidFill>
                      <a:srgbClr val="111827"/>
                    </a:solidFill>
                    <a:latin typeface="Arial"/>
                  </a:rPr>
                  <a:t> are the roots of </a:t>
                </a:r>
                <a:r>
                  <a:rPr lang="en-IN" sz="2400">
                    <a:solidFill>
                      <a:srgbClr val="111827"/>
                    </a:solidFill>
                    <a:latin typeface="Cambria Math" panose="02040503050406030204" pitchFamily="18" charset="0"/>
                  </a:rPr>
                  <a:t>$t^2+t_1t+2=0$</a:t>
                </a:r>
                <a:r>
                  <a:rPr sz="2400" b="0">
                    <a:solidFill>
                      <a:srgbClr val="111827"/>
                    </a:solidFill>
                    <a:latin typeface="Arial"/>
                  </a:rPr>
                  <a:t>, so </a:t>
                </a:r>
                <a:r>
                  <a:rPr lang="en-IN" sz="2400">
                    <a:solidFill>
                      <a:srgbClr val="111827"/>
                    </a:solidFill>
                    <a:latin typeface="Cambria Math" panose="02040503050406030204" pitchFamily="18" charset="0"/>
                  </a:rPr>
                  <a:t>$tt'=2$</a:t>
                </a:r>
                <a:r>
                  <a:rPr sz="2400" b="0">
                    <a:solidFill>
                      <a:srgbClr val="111827"/>
                    </a:solidFill>
                    <a:latin typeface="Arial"/>
                  </a:rPr>
                  <a:t> and </a:t>
                </a:r>
                <a:r>
                  <a:rPr lang="en-IN" sz="2400">
                    <a:solidFill>
                      <a:srgbClr val="111827"/>
                    </a:solidFill>
                    <a:latin typeface="Cambria Math" panose="02040503050406030204" pitchFamily="18" charset="0"/>
                  </a:rPr>
                  <a:t>$t+t'=-t_1$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$tt'=2&gt;0$</a:t>
                </a:r>
                <a:r>
                  <a:rPr sz="2400" b="0">
                    <a:solidFill>
                      <a:srgbClr val="111827"/>
                    </a:solidFill>
                    <a:latin typeface="Arial"/>
                  </a:rPr>
                  <a:t>, </a:t>
                </a:r>
                <a:r>
                  <a:rPr lang="en-IN" sz="2400">
                    <a:solidFill>
                      <a:srgbClr val="111827"/>
                    </a:solidFill>
                    <a:latin typeface="Cambria Math" panose="02040503050406030204" pitchFamily="18" charset="0"/>
                  </a:rPr>
                  <a:t>$t$</a:t>
                </a:r>
                <a:r>
                  <a:rPr sz="2400" b="0">
                    <a:solidFill>
                      <a:srgbClr val="111827"/>
                    </a:solidFill>
                    <a:latin typeface="Arial"/>
                  </a:rPr>
                  <a:t> and </a:t>
                </a:r>
                <a:r>
                  <a:rPr lang="en-IN" sz="2400">
                    <a:solidFill>
                      <a:srgbClr val="111827"/>
                    </a:solidFill>
                    <a:latin typeface="Cambria Math" panose="02040503050406030204" pitchFamily="18" charset="0"/>
                  </a:rPr>
                  <a:t>$t'$</a:t>
                </a:r>
                <a:r>
                  <a:rPr sz="2400" b="0">
                    <a:solidFill>
                      <a:srgbClr val="111827"/>
                    </a:solidFill>
                    <a:latin typeface="Arial"/>
                  </a:rPr>
                  <a:t> have the same sign, so </a:t>
                </a:r>
                <a:r>
                  <a:rPr lang="en-IN" sz="2400">
                    <a:solidFill>
                      <a:srgbClr val="111827"/>
                    </a:solidFill>
                    <a:latin typeface="Cambria Math" panose="02040503050406030204" pitchFamily="18" charset="0"/>
                  </a:rPr>
                  <a:t>$|t+t'|=|t|+|t'|$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AM-GM: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with equality only if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(same sign). The feet are distinct, so the inequality is strict.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i.e.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8</m:t>
                    </m:r>
                  </m:oMath>
                </a14:m>
                <a:r>
                  <a:rPr sz="2400" b="0">
                    <a:solidFill>
                      <a:srgbClr val="111827"/>
                    </a:solidFill>
                    <a:latin typeface="Arial"/>
                  </a:rPr>
                  <a:t> and the abscissa </a:t>
                </a:r>
                <a14:m>
                  <m:oMath xmlns:m="http://schemas.openxmlformats.org/officeDocument/2006/math">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AM-GM: </a:t>
                </a:r>
                <a:r>
                  <a:rPr lang="en-IN" sz="2400">
                    <a:solidFill>
                      <a:srgbClr val="111827"/>
                    </a:solidFill>
                    <a:latin typeface="Cambria Math" panose="02040503050406030204" pitchFamily="18" charset="0"/>
                  </a:rPr>
                  <a:t>$|t|+|t'|\ge2\sqrt{|t||t'|}=2\sqrt2$</a:t>
                </a:r>
                <a:r>
                  <a:rPr sz="2400" b="0">
                    <a:solidFill>
                      <a:srgbClr val="111827"/>
                    </a:solidFill>
                    <a:latin typeface="Arial"/>
                  </a:rPr>
                  <a:t>, with equality only if </a:t>
                </a:r>
                <a:r>
                  <a:rPr lang="en-IN" sz="2400">
                    <a:solidFill>
                      <a:srgbClr val="111827"/>
                    </a:solidFill>
                    <a:latin typeface="Cambria Math" panose="02040503050406030204" pitchFamily="18" charset="0"/>
                  </a:rPr>
                  <a:t>$|t|=|t'|$</a:t>
                </a:r>
                <a:r>
                  <a:rPr sz="2400" b="0">
                    <a:solidFill>
                      <a:srgbClr val="111827"/>
                    </a:solidFill>
                    <a:latin typeface="Arial"/>
                  </a:rPr>
                  <a:t>, i.e. </a:t>
                </a:r>
                <a:r>
                  <a:rPr lang="en-IN" sz="2400">
                    <a:solidFill>
                      <a:srgbClr val="111827"/>
                    </a:solidFill>
                    <a:latin typeface="Cambria Math" panose="02040503050406030204" pitchFamily="18" charset="0"/>
                  </a:rPr>
                  <a:t>$t=t'$</a:t>
                </a:r>
                <a:r>
                  <a:rPr sz="2400" b="0">
                    <a:solidFill>
                      <a:srgbClr val="111827"/>
                    </a:solidFill>
                    <a:latin typeface="Arial"/>
                  </a:rPr>
                  <a:t> (same sign). The feet are distinct, so the inequality is strict.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$|t_1|=|t+t'|&gt;2\sqrt2$</a:t>
                </a:r>
                <a:r>
                  <a:rPr sz="2400" b="0">
                    <a:solidFill>
                      <a:srgbClr val="111827"/>
                    </a:solidFill>
                    <a:latin typeface="Arial"/>
                  </a:rPr>
                  <a:t>, i.e. </a:t>
                </a:r>
                <a:r>
                  <a:rPr lang="en-IN" sz="2400">
                    <a:solidFill>
                      <a:srgbClr val="111827"/>
                    </a:solidFill>
                    <a:latin typeface="Cambria Math" panose="02040503050406030204" pitchFamily="18" charset="0"/>
                  </a:rPr>
                  <a:t>$t_1^2&gt;8$</a:t>
                </a:r>
                <a:r>
                  <a:rPr sz="2400" b="0">
                    <a:solidFill>
                      <a:srgbClr val="111827"/>
                    </a:solidFill>
                    <a:latin typeface="Arial"/>
                  </a:rPr>
                  <a:t> and the abscissa </a:t>
                </a:r>
                <a:r>
                  <a:rPr lang="en-IN" sz="2400">
                    <a:solidFill>
                      <a:srgbClr val="111827"/>
                    </a:solidFill>
                    <a:latin typeface="Cambria Math" panose="02040503050406030204" pitchFamily="18" charset="0"/>
                  </a:rPr>
                  <a:t>$at_1^2&gt;8a$</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Abscissa of the common point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𝑎</m:t>
                    </m:r>
                    <m:sSubSup>
                      <m:e>
                        <m:r>
                          <a:rPr lang="en-IN" sz="2800" i="1">
                            <a:solidFill>
                              <a:srgbClr val="15803D"/>
                            </a:solidFill>
                            <a:latin typeface="Cambria Math" panose="02040503050406030204" pitchFamily="18" charset="0"/>
                          </a:rPr>
                          <m:t>𝑡</m:t>
                        </m:r>
                      </m:e>
                      <m:sub>
                        <m:r>
                          <a:rPr lang="en-IN" sz="2800" i="1">
                            <a:solidFill>
                              <a:srgbClr val="15803D"/>
                            </a:solidFill>
                            <a:latin typeface="Cambria Math" panose="02040503050406030204" pitchFamily="18" charset="0"/>
                          </a:rPr>
                          <m:t>1</m:t>
                        </m:r>
                      </m:sub>
                      <m:sup>
                        <m:r>
                          <a:rPr lang="en-IN" sz="2800" i="1">
                            <a:solidFill>
                              <a:srgbClr val="15803D"/>
                            </a:solidFill>
                            <a:latin typeface="Cambria Math" panose="02040503050406030204" pitchFamily="18" charset="0"/>
                          </a:rPr>
                          <m:t>2</m:t>
                        </m:r>
                      </m:sup>
                    </m:sSubSup>
                    <m:r>
                      <m:rPr>
                        <m:sty m:val="p"/>
                      </m:rPr>
                      <a:rPr lang="en-IN" sz="2800">
                        <a:solidFill>
                          <a:srgbClr val="15803D"/>
                        </a:solidFill>
                        <a:latin typeface="Cambria Math" panose="02040503050406030204" pitchFamily="18" charset="0"/>
                      </a:rPr>
                      <m:t>&gt;</m:t>
                    </m:r>
                    <m:r>
                      <a:rPr lang="en-IN" sz="2800" i="1">
                        <a:solidFill>
                          <a:srgbClr val="15803D"/>
                        </a:solidFill>
                        <a:latin typeface="Cambria Math" panose="02040503050406030204" pitchFamily="18" charset="0"/>
                      </a:rPr>
                      <m:t>8</m:t>
                    </m:r>
                    <m:r>
                      <a:rPr lang="en-IN" sz="2800" i="1">
                        <a:solidFill>
                          <a:srgbClr val="15803D"/>
                        </a:solidFill>
                        <a:latin typeface="Cambria Math" panose="02040503050406030204" pitchFamily="18" charset="0"/>
                      </a:rPr>
                      <m:t>𝑎</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Abscissa of the common point </a:t>
                </a:r>
                <a:r>
                  <a:rPr lang="en-IN" sz="2800">
                    <a:solidFill>
                      <a:srgbClr val="15803D"/>
                    </a:solidFill>
                    <a:latin typeface="Cambria Math" panose="02040503050406030204" pitchFamily="18" charset="0"/>
                  </a:rPr>
                  <a:t>$=at_1^2&gt;8a$</a:t>
                </a:r>
                <a:endParaRPr sz="2800">
                  <a:solidFill>
                    <a:srgbClr val="15803D"/>
                  </a:solidFill>
                </a:endParaRPr>
              </a:p>
            </p:txBody>
          </p:sp>
        </mc:Fallback>
      </mc:AlternateContent>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passes through the point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of the parabola iff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Equivalently, the normals at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meet on the parabola iff </a:t>
                </a:r>
                <a14:m>
                  <m:oMath xmlns:m="http://schemas.openxmlformats.org/officeDocument/2006/math">
                    <m:r>
                      <a:rPr lang="en-IN" sz="2400" i="1">
                        <a:solidFill>
                          <a:srgbClr val="111827"/>
                        </a:solidFill>
                        <a:latin typeface="Cambria Math" panose="02040503050406030204" pitchFamily="18" charset="0"/>
                      </a:rPr>
                      <m:t>𝑡</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then they meet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any point of the parabola with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8</m:t>
                    </m:r>
                  </m:oMath>
                </a14:m>
                <a:r>
                  <a:rPr sz="2400" b="0">
                    <a:solidFill>
                      <a:srgbClr val="111827"/>
                    </a:solidFill>
                    <a:latin typeface="Arial"/>
                  </a:rPr>
                  <a:t> there are two real normals other than the one at the point itself (3 normals in all).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Quadratic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has distinct real roots iff </a:t>
                </a:r>
                <a14:m>
                  <m:oMath xmlns:m="http://schemas.openxmlformats.org/officeDocument/2006/math">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𝑞</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$t_1$</a:t>
                </a:r>
                <a:r>
                  <a:rPr sz="2400" b="0">
                    <a:solidFill>
                      <a:srgbClr val="111827"/>
                    </a:solidFill>
                    <a:latin typeface="Arial"/>
                  </a:rPr>
                  <a:t> passes through the point </a:t>
                </a:r>
                <a:r>
                  <a:rPr lang="en-IN" sz="2400">
                    <a:solidFill>
                      <a:srgbClr val="111827"/>
                    </a:solidFill>
                    <a:latin typeface="Cambria Math" panose="02040503050406030204" pitchFamily="18" charset="0"/>
                  </a:rPr>
                  <a:t>$t_2$</a:t>
                </a:r>
                <a:r>
                  <a:rPr sz="2400" b="0">
                    <a:solidFill>
                      <a:srgbClr val="111827"/>
                    </a:solidFill>
                    <a:latin typeface="Arial"/>
                  </a:rPr>
                  <a:t> of the parabola iff </a:t>
                </a:r>
                <a:r>
                  <a:rPr lang="en-IN" sz="2400">
                    <a:solidFill>
                      <a:srgbClr val="111827"/>
                    </a:solidFill>
                    <a:latin typeface="Cambria Math" panose="02040503050406030204" pitchFamily="18" charset="0"/>
                  </a:rPr>
                  <a:t>$t_1^2+t_1t_2+2=0$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Equivalently, the normals at </a:t>
                </a:r>
                <a:r>
                  <a:rPr lang="en-IN" sz="2400">
                    <a:solidFill>
                      <a:srgbClr val="111827"/>
                    </a:solidFill>
                    <a:latin typeface="Cambria Math" panose="02040503050406030204" pitchFamily="18" charset="0"/>
                  </a:rPr>
                  <a:t>$t,t'$</a:t>
                </a:r>
                <a:r>
                  <a:rPr sz="2400" b="0">
                    <a:solidFill>
                      <a:srgbClr val="111827"/>
                    </a:solidFill>
                    <a:latin typeface="Arial"/>
                  </a:rPr>
                  <a:t> meet on the parabola iff </a:t>
                </a:r>
                <a:r>
                  <a:rPr lang="en-IN" sz="2400">
                    <a:solidFill>
                      <a:srgbClr val="111827"/>
                    </a:solidFill>
                    <a:latin typeface="Cambria Math" panose="02040503050406030204" pitchFamily="18" charset="0"/>
                  </a:rPr>
                  <a:t>$tt'=2$</a:t>
                </a:r>
                <a:r>
                  <a:rPr sz="2400" b="0">
                    <a:solidFill>
                      <a:srgbClr val="111827"/>
                    </a:solidFill>
                    <a:latin typeface="Arial"/>
                  </a:rPr>
                  <a:t>; then they meet at </a:t>
                </a:r>
                <a:r>
                  <a:rPr lang="en-IN" sz="2400">
                    <a:solidFill>
                      <a:srgbClr val="111827"/>
                    </a:solidFill>
                    <a:latin typeface="Cambria Math" panose="02040503050406030204" pitchFamily="18" charset="0"/>
                  </a:rPr>
                  <a:t>$t_1=-(t+t')$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any point of the parabola with </a:t>
                </a:r>
                <a:r>
                  <a:rPr lang="en-IN" sz="2400">
                    <a:solidFill>
                      <a:srgbClr val="111827"/>
                    </a:solidFill>
                    <a:latin typeface="Cambria Math" panose="02040503050406030204" pitchFamily="18" charset="0"/>
                  </a:rPr>
                  <a:t>$t_1^2&gt;8$</a:t>
                </a:r>
                <a:r>
                  <a:rPr sz="2400" b="0">
                    <a:solidFill>
                      <a:srgbClr val="111827"/>
                    </a:solidFill>
                    <a:latin typeface="Arial"/>
                  </a:rPr>
                  <a:t> there are two real normals other than the one at the point itself (3 normals in all).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Quadratic </a:t>
                </a:r>
                <a:r>
                  <a:rPr lang="en-IN" sz="2400">
                    <a:solidFill>
                      <a:srgbClr val="111827"/>
                    </a:solidFill>
                    <a:latin typeface="Cambria Math" panose="02040503050406030204" pitchFamily="18" charset="0"/>
                  </a:rPr>
                  <a:t>$t^2+pt+q=0$</a:t>
                </a:r>
                <a:r>
                  <a:rPr sz="2400" b="0">
                    <a:solidFill>
                      <a:srgbClr val="111827"/>
                    </a:solidFill>
                    <a:latin typeface="Arial"/>
                  </a:rPr>
                  <a:t> has distinct real roots iff </a:t>
                </a:r>
                <a:r>
                  <a:rPr lang="en-IN" sz="2400">
                    <a:solidFill>
                      <a:srgbClr val="111827"/>
                    </a:solidFill>
                    <a:latin typeface="Cambria Math" panose="02040503050406030204" pitchFamily="18" charset="0"/>
                  </a:rPr>
                  <a:t>$p^2&gt;4q$</a:t>
                </a:r>
                <a:r>
                  <a:rPr sz="2400" b="0">
                    <a:solidFill>
                      <a:srgbClr val="111827"/>
                    </a:solidFill>
                    <a:latin typeface="Arial"/>
                  </a:rPr>
                  <a:t>; for </a:t>
                </a:r>
                <a:r>
                  <a:rPr lang="en-IN" sz="2400">
                    <a:solidFill>
                      <a:srgbClr val="111827"/>
                    </a:solidFill>
                    <a:latin typeface="Cambria Math" panose="02040503050406030204" pitchFamily="18" charset="0"/>
                  </a:rPr>
                  <a:t>$q=2$</a:t>
                </a:r>
                <a:r>
                  <a:rPr sz="2400" b="0">
                    <a:solidFill>
                      <a:srgbClr val="111827"/>
                    </a:solidFill>
                    <a:latin typeface="Arial"/>
                  </a:rPr>
                  <a:t>: </a:t>
                </a:r>
                <a:r>
                  <a:rPr lang="en-IN" sz="2400">
                    <a:solidFill>
                      <a:srgbClr val="111827"/>
                    </a:solidFill>
                    <a:latin typeface="Cambria Math" panose="02040503050406030204" pitchFamily="18" charset="0"/>
                  </a:rPr>
                  <a:t>$p^2&gt;8$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𝐶</m:t>
                    </m:r>
                  </m:oMath>
                </a14:m>
                <a:r>
                  <a:rPr sz="2400" b="0">
                    <a:solidFill>
                      <a:srgbClr val="111827"/>
                    </a:solidFill>
                    <a:latin typeface="Arial"/>
                  </a:rPr>
                  <a:t> is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to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being on the axis.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oMath>
                </a14:m>
                <a:r>
                  <a:rPr sz="2400" b="0">
                    <a:solidFill>
                      <a:srgbClr val="111827"/>
                    </a:solidFill>
                    <a:latin typeface="Arial"/>
                  </a:rPr>
                  <a:t> is produced outwards to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so that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oMath>
                </a14:m>
                <a:r>
                  <a:rPr sz="2400" b="0">
                    <a:solidFill>
                      <a:srgbClr val="111827"/>
                    </a:solidFill>
                    <a:latin typeface="Arial"/>
                  </a:rPr>
                  <a:t>. Show that the locus of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is a parabola.</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$PC$</a:t>
                </a:r>
                <a:r>
                  <a:rPr sz="2400" b="0">
                    <a:solidFill>
                      <a:srgbClr val="111827"/>
                    </a:solidFill>
                    <a:latin typeface="Arial"/>
                  </a:rPr>
                  <a:t> is the normal at </a:t>
                </a:r>
                <a:r>
                  <a:rPr lang="en-IN" sz="2400">
                    <a:solidFill>
                      <a:srgbClr val="111827"/>
                    </a:solidFill>
                    <a:latin typeface="Cambria Math" panose="02040503050406030204" pitchFamily="18" charset="0"/>
                  </a:rPr>
                  <a:t>$P$</a:t>
                </a:r>
                <a:r>
                  <a:rPr sz="2400" b="0">
                    <a:solidFill>
                      <a:srgbClr val="111827"/>
                    </a:solidFill>
                    <a:latin typeface="Arial"/>
                  </a:rPr>
                  <a:t> to the parabola </a:t>
                </a:r>
                <a:r>
                  <a:rPr lang="en-IN" sz="2400">
                    <a:solidFill>
                      <a:srgbClr val="111827"/>
                    </a:solidFill>
                    <a:latin typeface="Cambria Math" panose="02040503050406030204" pitchFamily="18" charset="0"/>
                  </a:rPr>
                  <a:t>$y^2=4ax$</a:t>
                </a:r>
                <a:r>
                  <a:rPr sz="2400" b="0">
                    <a:solidFill>
                      <a:srgbClr val="111827"/>
                    </a:solidFill>
                    <a:latin typeface="Arial"/>
                  </a:rPr>
                  <a:t>, </a:t>
                </a:r>
                <a:r>
                  <a:rPr lang="en-IN" sz="2400">
                    <a:solidFill>
                      <a:srgbClr val="111827"/>
                    </a:solidFill>
                    <a:latin typeface="Cambria Math" panose="02040503050406030204" pitchFamily="18" charset="0"/>
                  </a:rPr>
                  <a:t>$C$</a:t>
                </a:r>
                <a:r>
                  <a:rPr sz="2400" b="0">
                    <a:solidFill>
                      <a:srgbClr val="111827"/>
                    </a:solidFill>
                    <a:latin typeface="Arial"/>
                  </a:rPr>
                  <a:t> being on the axis. </a:t>
                </a:r>
                <a:r>
                  <a:rPr lang="en-IN" sz="2400">
                    <a:solidFill>
                      <a:srgbClr val="111827"/>
                    </a:solidFill>
                    <a:latin typeface="Cambria Math" panose="02040503050406030204" pitchFamily="18" charset="0"/>
                  </a:rPr>
                  <a:t>$CP$</a:t>
                </a:r>
                <a:r>
                  <a:rPr sz="2400" b="0">
                    <a:solidFill>
                      <a:srgbClr val="111827"/>
                    </a:solidFill>
                    <a:latin typeface="Arial"/>
                  </a:rPr>
                  <a:t> is produced outwards to </a:t>
                </a:r>
                <a:r>
                  <a:rPr lang="en-IN" sz="2400">
                    <a:solidFill>
                      <a:srgbClr val="111827"/>
                    </a:solidFill>
                    <a:latin typeface="Cambria Math" panose="02040503050406030204" pitchFamily="18" charset="0"/>
                  </a:rPr>
                  <a:t>$Q$</a:t>
                </a:r>
                <a:r>
                  <a:rPr sz="2400" b="0">
                    <a:solidFill>
                      <a:srgbClr val="111827"/>
                    </a:solidFill>
                    <a:latin typeface="Arial"/>
                  </a:rPr>
                  <a:t> so that </a:t>
                </a:r>
                <a:r>
                  <a:rPr lang="en-IN" sz="2400">
                    <a:solidFill>
                      <a:srgbClr val="111827"/>
                    </a:solidFill>
                    <a:latin typeface="Cambria Math" panose="02040503050406030204" pitchFamily="18" charset="0"/>
                  </a:rPr>
                  <a:t>$PQ=CP$</a:t>
                </a:r>
                <a:r>
                  <a:rPr sz="2400" b="0">
                    <a:solidFill>
                      <a:srgbClr val="111827"/>
                    </a:solidFill>
                    <a:latin typeface="Arial"/>
                  </a:rPr>
                  <a:t>. Show that the locus of </a:t>
                </a:r>
                <a:r>
                  <a:rPr lang="en-IN" sz="2400">
                    <a:solidFill>
                      <a:srgbClr val="111827"/>
                    </a:solidFill>
                    <a:latin typeface="Cambria Math" panose="02040503050406030204" pitchFamily="18" charset="0"/>
                  </a:rPr>
                  <a:t>$Q$</a:t>
                </a:r>
                <a:r>
                  <a:rPr sz="2400" b="0">
                    <a:solidFill>
                      <a:srgbClr val="111827"/>
                    </a:solidFill>
                    <a:latin typeface="Arial"/>
                  </a:rPr>
                  <a:t> is a parabola.</a:t>
                </a:r>
                <a:endParaRPr sz="2400">
                  <a:solidFill>
                    <a:srgbClr val="111827"/>
                  </a:solidFill>
                </a:endParaRPr>
              </a:p>
            </p:txBody>
          </p:sp>
        </mc:Fallback>
      </mc:AlternateContent>
      <p:sp>
        <p:nvSpPr>
          <p:cNvPr id="5" name="Rectangle 4"/>
          <p:cNvSpPr/>
          <p:nvPr/>
        </p:nvSpPr>
        <p:spPr>
          <a:xfrm>
            <a:off x="731520" y="324612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 to a parabola at a point, Locus of a point defined by a midpoint relation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the midpoint of </a:t>
                </a:r>
                <a14:m>
                  <m:oMath xmlns:m="http://schemas.openxmlformats.org/officeDocument/2006/math">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𝑄</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oMath>
                </a14:m>
                <a:r>
                  <a:rPr sz="2400" b="0">
                    <a:solidFill>
                      <a:srgbClr val="78350F"/>
                    </a:solidFill>
                    <a:latin typeface="Arial"/>
                  </a:rPr>
                  <a:t>; the normal at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meets the axis at </a:t>
                </a:r>
                <a14:m>
                  <m:oMath xmlns:m="http://schemas.openxmlformats.org/officeDocument/2006/math">
                    <m:r>
                      <a:rPr lang="en-IN" sz="2400" i="1">
                        <a:solidFill>
                          <a:srgbClr val="78350F"/>
                        </a:solidFill>
                        <a:latin typeface="Cambria Math" panose="02040503050406030204" pitchFamily="18" charset="0"/>
                      </a:rPr>
                      <m:t>𝐶</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$P$</a:t>
                </a:r>
                <a:r>
                  <a:rPr sz="2400" b="0">
                    <a:solidFill>
                      <a:srgbClr val="78350F"/>
                    </a:solidFill>
                    <a:latin typeface="Arial"/>
                  </a:rPr>
                  <a:t> is the midpoint of </a:t>
                </a:r>
                <a:r>
                  <a:rPr lang="en-IN" sz="2400">
                    <a:solidFill>
                      <a:srgbClr val="78350F"/>
                    </a:solidFill>
                    <a:latin typeface="Cambria Math" panose="02040503050406030204" pitchFamily="18" charset="0"/>
                  </a:rPr>
                  <a:t>$CQ$</a:t>
                </a:r>
                <a:r>
                  <a:rPr sz="2400" b="0">
                    <a:solidFill>
                      <a:srgbClr val="78350F"/>
                    </a:solidFill>
                    <a:latin typeface="Arial"/>
                  </a:rPr>
                  <a:t>, so </a:t>
                </a:r>
                <a:r>
                  <a:rPr lang="en-IN" sz="2400">
                    <a:solidFill>
                      <a:srgbClr val="78350F"/>
                    </a:solidFill>
                    <a:latin typeface="Cambria Math" panose="02040503050406030204" pitchFamily="18" charset="0"/>
                  </a:rPr>
                  <a:t>$Q=2P-C$</a:t>
                </a:r>
                <a:r>
                  <a:rPr sz="2400" b="0">
                    <a:solidFill>
                      <a:srgbClr val="78350F"/>
                    </a:solidFill>
                    <a:latin typeface="Arial"/>
                  </a:rPr>
                  <a:t>; the normal at </a:t>
                </a:r>
                <a:r>
                  <a:rPr lang="en-IN" sz="2400">
                    <a:solidFill>
                      <a:srgbClr val="78350F"/>
                    </a:solidFill>
                    <a:latin typeface="Cambria Math" panose="02040503050406030204" pitchFamily="18" charset="0"/>
                  </a:rPr>
                  <a:t>$P(t)$</a:t>
                </a:r>
                <a:r>
                  <a:rPr sz="2400" b="0">
                    <a:solidFill>
                      <a:srgbClr val="78350F"/>
                    </a:solidFill>
                    <a:latin typeface="Arial"/>
                  </a:rPr>
                  <a:t> meets the axis at </a:t>
                </a:r>
                <a:r>
                  <a:rPr lang="en-IN" sz="2400">
                    <a:solidFill>
                      <a:srgbClr val="78350F"/>
                    </a:solidFill>
                    <a:latin typeface="Cambria Math" panose="02040503050406030204" pitchFamily="18" charset="0"/>
                  </a:rPr>
                  <a:t>$C(a(2+t^2),0)$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beyond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midpoint of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𝑄</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....(1).</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$P(at^2,2at)$</a:t>
                </a:r>
                <a:r>
                  <a:rPr sz="2400" b="0">
                    <a:solidFill>
                      <a:srgbClr val="111827"/>
                    </a:solidFill>
                    <a:latin typeface="Arial"/>
                  </a:rPr>
                  <a:t>: </a:t>
                </a:r>
                <a:r>
                  <a:rPr lang="en-IN" sz="2400">
                    <a:solidFill>
                      <a:srgbClr val="111827"/>
                    </a:solidFill>
                    <a:latin typeface="Cambria Math" panose="02040503050406030204" pitchFamily="18" charset="0"/>
                  </a:rPr>
                  <a:t>$y=-tx+2at+at^3$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$y=0$</a:t>
                </a:r>
                <a:r>
                  <a:rPr sz="2400" b="0">
                    <a:solidFill>
                      <a:srgbClr val="111827"/>
                    </a:solidFill>
                    <a:latin typeface="Arial"/>
                  </a:rPr>
                  <a:t>: </a:t>
                </a:r>
                <a:r>
                  <a:rPr lang="en-IN" sz="2400">
                    <a:solidFill>
                      <a:srgbClr val="111827"/>
                    </a:solidFill>
                    <a:latin typeface="Cambria Math" panose="02040503050406030204" pitchFamily="18" charset="0"/>
                  </a:rPr>
                  <a:t>$x=a(2+t^2)$</a:t>
                </a:r>
                <a:r>
                  <a:rPr sz="2400" b="0">
                    <a:solidFill>
                      <a:srgbClr val="111827"/>
                    </a:solidFill>
                    <a:latin typeface="Arial"/>
                  </a:rPr>
                  <a:t>, so </a:t>
                </a:r>
                <a:r>
                  <a:rPr lang="en-IN" sz="2400">
                    <a:solidFill>
                      <a:srgbClr val="111827"/>
                    </a:solidFill>
                    <a:latin typeface="Cambria Math" panose="02040503050406030204" pitchFamily="18" charset="0"/>
                  </a:rPr>
                  <a:t>$C\equiv(a(2+t^2),0)$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$Q=(h,k)$</a:t>
                </a:r>
                <a:r>
                  <a:rPr sz="2400" b="0">
                    <a:solidFill>
                      <a:srgbClr val="111827"/>
                    </a:solidFill>
                    <a:latin typeface="Arial"/>
                  </a:rPr>
                  <a:t>. Since </a:t>
                </a:r>
                <a:r>
                  <a:rPr lang="en-IN" sz="2400">
                    <a:solidFill>
                      <a:srgbClr val="111827"/>
                    </a:solidFill>
                    <a:latin typeface="Cambria Math" panose="02040503050406030204" pitchFamily="18" charset="0"/>
                  </a:rPr>
                  <a:t>$PQ=CP$</a:t>
                </a:r>
                <a:r>
                  <a:rPr sz="2400" b="0">
                    <a:solidFill>
                      <a:srgbClr val="111827"/>
                    </a:solidFill>
                    <a:latin typeface="Arial"/>
                  </a:rPr>
                  <a:t> with </a:t>
                </a:r>
                <a:r>
                  <a:rPr lang="en-IN" sz="2400">
                    <a:solidFill>
                      <a:srgbClr val="111827"/>
                    </a:solidFill>
                    <a:latin typeface="Cambria Math" panose="02040503050406030204" pitchFamily="18" charset="0"/>
                  </a:rPr>
                  <a:t>$Q$</a:t>
                </a:r>
                <a:r>
                  <a:rPr sz="2400" b="0">
                    <a:solidFill>
                      <a:srgbClr val="111827"/>
                    </a:solidFill>
                    <a:latin typeface="Arial"/>
                  </a:rPr>
                  <a:t> beyond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$P$</a:t>
                </a:r>
                <a:r>
                  <a:rPr sz="2400" b="0">
                    <a:solidFill>
                      <a:srgbClr val="111827"/>
                    </a:solidFill>
                    <a:latin typeface="Arial"/>
                  </a:rPr>
                  <a:t> is the midpoint of </a:t>
                </a:r>
                <a:r>
                  <a:rPr lang="en-IN" sz="2400">
                    <a:solidFill>
                      <a:srgbClr val="111827"/>
                    </a:solidFill>
                    <a:latin typeface="Cambria Math" panose="02040503050406030204" pitchFamily="18" charset="0"/>
                  </a:rPr>
                  <a:t>$CQ$</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$\frac{h+a(2+t^2)}{2}=at^2$</a:t>
                </a:r>
                <a:r>
                  <a:rPr sz="2400" b="0">
                    <a:solidFill>
                      <a:srgbClr val="111827"/>
                    </a:solidFill>
                    <a:latin typeface="Arial"/>
                  </a:rPr>
                  <a:t> ....(1).</a:t>
                </a:r>
                <a:endParaRPr sz="2400">
                  <a:solidFill>
                    <a:srgbClr val="111827"/>
                  </a:solidFill>
                </a:endParaRPr>
              </a:p>
            </p:txBody>
          </p:sp>
        </mc:Fallback>
      </mc:AlternateContent>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in (1):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den>
                            </m:f>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𝑎</m:t>
                        </m:r>
                      </m:den>
                    </m:f>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 parabola.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$\frac{k+0}{2}=2at$</a:t>
                </a:r>
                <a:r>
                  <a:rPr sz="2400" b="0">
                    <a:solidFill>
                      <a:srgbClr val="111827"/>
                    </a:solidFill>
                    <a:latin typeface="Arial"/>
                  </a:rPr>
                  <a:t>, so </a:t>
                </a:r>
                <a:r>
                  <a:rPr lang="en-IN" sz="2400">
                    <a:solidFill>
                      <a:srgbClr val="111827"/>
                    </a:solidFill>
                    <a:latin typeface="Cambria Math" panose="02040503050406030204" pitchFamily="18" charset="0"/>
                  </a:rPr>
                  <a:t>$t=\frac{k}{4a}$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in (1): </a:t>
                </a:r>
                <a:r>
                  <a:rPr lang="en-IN" sz="2400">
                    <a:solidFill>
                      <a:srgbClr val="111827"/>
                    </a:solidFill>
                    <a:latin typeface="Cambria Math" panose="02040503050406030204" pitchFamily="18" charset="0"/>
                  </a:rPr>
                  <a:t>$h+2a+a\left(\frac{k}{4a}\right)^2=2a\left(\frac{k}{4a}\right)^2$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$h+2a=a\left(\frac{k}{4a}\right)^2=\frac{k^2}{16a}$</a:t>
                </a:r>
                <a:r>
                  <a:rPr sz="2400" b="0">
                    <a:solidFill>
                      <a:srgbClr val="111827"/>
                    </a:solidFill>
                    <a:latin typeface="Arial"/>
                  </a:rPr>
                  <a:t>, i.e. </a:t>
                </a:r>
                <a:r>
                  <a:rPr lang="en-IN" sz="2400">
                    <a:solidFill>
                      <a:srgbClr val="111827"/>
                    </a:solidFill>
                    <a:latin typeface="Cambria Math" panose="02040503050406030204" pitchFamily="18" charset="0"/>
                  </a:rPr>
                  <a:t>$k^2=16a(h+2a)$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a:t>
                </a:r>
                <a:r>
                  <a:rPr lang="en-IN" sz="2400">
                    <a:solidFill>
                      <a:srgbClr val="111827"/>
                    </a:solidFill>
                    <a:latin typeface="Cambria Math" panose="02040503050406030204" pitchFamily="18" charset="0"/>
                  </a:rPr>
                  <a:t>$y^2=16a(x+2a)$</a:t>
                </a:r>
                <a:r>
                  <a:rPr sz="2400" b="0">
                    <a:solidFill>
                      <a:srgbClr val="111827"/>
                    </a:solidFill>
                    <a:latin typeface="Arial"/>
                  </a:rPr>
                  <a:t> is a parabola.</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16</m:t>
                    </m:r>
                    <m:r>
                      <a:rPr lang="en-IN" sz="2800" i="1">
                        <a:solidFill>
                          <a:srgbClr val="15803D"/>
                        </a:solidFill>
                        <a:latin typeface="Cambria Math" panose="02040503050406030204" pitchFamily="18" charset="0"/>
                      </a:rPr>
                      <m:t>𝑎</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a:rPr lang="en-IN" sz="2800" i="1">
                        <a:solidFill>
                          <a:srgbClr val="15803D"/>
                        </a:solidFill>
                        <a:latin typeface="Cambria Math" panose="02040503050406030204" pitchFamily="18" charset="0"/>
                      </a:rPr>
                      <m:t>𝑎</m:t>
                    </m:r>
                    <m:r>
                      <m:rPr>
                        <m:sty m:val="p"/>
                      </m:rPr>
                      <a:rPr lang="en-IN" sz="2800">
                        <a:solidFill>
                          <a:srgbClr val="15803D"/>
                        </a:solidFill>
                        <a:latin typeface="Cambria Math" panose="02040503050406030204" pitchFamily="18" charset="0"/>
                      </a:rPr>
                      <m:t>)</m:t>
                    </m:r>
                  </m:oMath>
                </a14:m>
                <a:r>
                  <a:rPr sz="2800" b="1">
                    <a:solidFill>
                      <a:srgbClr val="15803D"/>
                    </a:solidFill>
                    <a:latin typeface="Arial"/>
                  </a:rPr>
                  <a:t>, a parabola</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$y^2=16a(x+2a)$</a:t>
                </a:r>
                <a:r>
                  <a:rPr sz="2800" b="1">
                    <a:solidFill>
                      <a:srgbClr val="15803D"/>
                    </a:solidFill>
                    <a:latin typeface="Arial"/>
                  </a:rPr>
                  <a:t>, a parabola</a:t>
                </a:r>
                <a:endParaRPr sz="2800">
                  <a:solidFill>
                    <a:srgbClr val="15803D"/>
                  </a:solidFill>
                </a:endParaRPr>
              </a:p>
            </p:txBody>
          </p:sp>
        </mc:Fallback>
      </mc:AlternateContent>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subnormal of a parabola is constant (</a:t>
                </a:r>
                <a14:m>
                  <m:oMath xmlns:m="http://schemas.openxmlformats.org/officeDocument/2006/math">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𝐶</m:t>
                    </m:r>
                  </m:oMath>
                </a14:m>
                <a:r>
                  <a:rPr sz="2400" b="0">
                    <a:solidFill>
                      <a:srgbClr val="78350F"/>
                    </a:solidFill>
                    <a:latin typeface="Arial"/>
                  </a:rPr>
                  <a:t> is simply </a:t>
                </a:r>
                <a14:m>
                  <m:oMath xmlns:m="http://schemas.openxmlformats.org/officeDocument/2006/math">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oMath>
                </a14:m>
                <a:r>
                  <a:rPr sz="2400" b="0">
                    <a:solidFill>
                      <a:srgbClr val="78350F"/>
                    </a:solidFill>
                    <a:latin typeface="Arial"/>
                  </a:rPr>
                  <a:t> to the right of the foot of the ordinate of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then </a:t>
                </a:r>
                <a14:m>
                  <m:oMath xmlns:m="http://schemas.openxmlformats.org/officeDocument/2006/math">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subnormal of a parabola is constant (</a:t>
                </a:r>
                <a:r>
                  <a:rPr lang="en-IN" sz="2400">
                    <a:solidFill>
                      <a:srgbClr val="78350F"/>
                    </a:solidFill>
                    <a:latin typeface="Cambria Math" panose="02040503050406030204" pitchFamily="18" charset="0"/>
                  </a:rPr>
                  <a:t>$2a$</a:t>
                </a:r>
                <a:r>
                  <a:rPr sz="2400" b="0">
                    <a:solidFill>
                      <a:srgbClr val="78350F"/>
                    </a:solidFill>
                    <a:latin typeface="Arial"/>
                  </a:rPr>
                  <a:t>), so </a:t>
                </a:r>
                <a:r>
                  <a:rPr lang="en-IN" sz="2400">
                    <a:solidFill>
                      <a:srgbClr val="78350F"/>
                    </a:solidFill>
                    <a:latin typeface="Cambria Math" panose="02040503050406030204" pitchFamily="18" charset="0"/>
                  </a:rPr>
                  <a:t>$C$</a:t>
                </a:r>
                <a:r>
                  <a:rPr sz="2400" b="0">
                    <a:solidFill>
                      <a:srgbClr val="78350F"/>
                    </a:solidFill>
                    <a:latin typeface="Arial"/>
                  </a:rPr>
                  <a:t> is simply </a:t>
                </a:r>
                <a:r>
                  <a:rPr lang="en-IN" sz="2400">
                    <a:solidFill>
                      <a:srgbClr val="78350F"/>
                    </a:solidFill>
                    <a:latin typeface="Cambria Math" panose="02040503050406030204" pitchFamily="18" charset="0"/>
                  </a:rPr>
                  <a:t>$2a$</a:t>
                </a:r>
                <a:r>
                  <a:rPr sz="2400" b="0">
                    <a:solidFill>
                      <a:srgbClr val="78350F"/>
                    </a:solidFill>
                    <a:latin typeface="Arial"/>
                  </a:rPr>
                  <a:t> to the right of the foot of the ordinate of </a:t>
                </a:r>
                <a:r>
                  <a:rPr lang="en-IN" sz="2400">
                    <a:solidFill>
                      <a:srgbClr val="78350F"/>
                    </a:solidFill>
                    <a:latin typeface="Cambria Math" panose="02040503050406030204" pitchFamily="18" charset="0"/>
                  </a:rPr>
                  <a:t>$P$</a:t>
                </a:r>
                <a:r>
                  <a:rPr sz="2400" b="0">
                    <a:solidFill>
                      <a:srgbClr val="78350F"/>
                    </a:solidFill>
                    <a:latin typeface="Arial"/>
                  </a:rPr>
                  <a:t>; then </a:t>
                </a:r>
                <a:r>
                  <a:rPr lang="en-IN" sz="2400">
                    <a:solidFill>
                      <a:srgbClr val="78350F"/>
                    </a:solidFill>
                    <a:latin typeface="Cambria Math" panose="02040503050406030204" pitchFamily="18" charset="0"/>
                  </a:rPr>
                  <a:t>$Q=2P-C$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the subnormal (projection of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𝐶</m:t>
                    </m:r>
                  </m:oMath>
                </a14:m>
                <a:r>
                  <a:rPr sz="2400" b="0">
                    <a:solidFill>
                      <a:srgbClr val="111827"/>
                    </a:solidFill>
                    <a:latin typeface="Arial"/>
                  </a:rPr>
                  <a:t> on the axis) is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at every point.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midpoint of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𝑄</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$y^2=4ax$</a:t>
                </a:r>
                <a:r>
                  <a:rPr sz="2400" b="0">
                    <a:solidFill>
                      <a:srgbClr val="111827"/>
                    </a:solidFill>
                    <a:latin typeface="Arial"/>
                  </a:rPr>
                  <a:t> the subnormal (projection of </a:t>
                </a:r>
                <a:r>
                  <a:rPr lang="en-IN" sz="2400">
                    <a:solidFill>
                      <a:srgbClr val="111827"/>
                    </a:solidFill>
                    <a:latin typeface="Cambria Math" panose="02040503050406030204" pitchFamily="18" charset="0"/>
                  </a:rPr>
                  <a:t>$PC$</a:t>
                </a:r>
                <a:r>
                  <a:rPr sz="2400" b="0">
                    <a:solidFill>
                      <a:srgbClr val="111827"/>
                    </a:solidFill>
                    <a:latin typeface="Arial"/>
                  </a:rPr>
                  <a:t> on the axis) is </a:t>
                </a:r>
                <a:r>
                  <a:rPr lang="en-IN" sz="2400">
                    <a:solidFill>
                      <a:srgbClr val="111827"/>
                    </a:solidFill>
                    <a:latin typeface="Cambria Math" panose="02040503050406030204" pitchFamily="18" charset="0"/>
                  </a:rPr>
                  <a:t>$2a$</a:t>
                </a:r>
                <a:r>
                  <a:rPr sz="2400" b="0">
                    <a:solidFill>
                      <a:srgbClr val="111827"/>
                    </a:solidFill>
                    <a:latin typeface="Arial"/>
                  </a:rPr>
                  <a:t> at every point.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$C=(x_P+2a,\ 0)=(at^2+2a,\ 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t>
                </a:r>
                <a:r>
                  <a:rPr sz="2400" b="0">
                    <a:solidFill>
                      <a:srgbClr val="111827"/>
                    </a:solidFill>
                    <a:latin typeface="Arial"/>
                  </a:rPr>
                  <a:t> is the midpoint of </a:t>
                </a:r>
                <a:r>
                  <a:rPr lang="en-IN" sz="2400">
                    <a:solidFill>
                      <a:srgbClr val="111827"/>
                    </a:solidFill>
                    <a:latin typeface="Cambria Math" panose="02040503050406030204" pitchFamily="18" charset="0"/>
                  </a:rPr>
                  <a:t>$CQ$</a:t>
                </a:r>
                <a:r>
                  <a:rPr sz="2400" b="0">
                    <a:solidFill>
                      <a:srgbClr val="111827"/>
                    </a:solidFill>
                    <a:latin typeface="Arial"/>
                  </a:rPr>
                  <a:t>, so </a:t>
                </a:r>
                <a:r>
                  <a:rPr lang="en-IN" sz="2400">
                    <a:solidFill>
                      <a:srgbClr val="111827"/>
                    </a:solidFill>
                    <a:latin typeface="Cambria Math" panose="02040503050406030204" pitchFamily="18" charset="0"/>
                  </a:rPr>
                  <a:t>$Q=2P-C=(2at^2-at^2-2a,\ 4at)=(at^2-2a,\ 4at)$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locus of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is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$Q=(h,k)$</a:t>
                </a:r>
                <a:r>
                  <a:rPr sz="2400" b="0">
                    <a:solidFill>
                      <a:srgbClr val="111827"/>
                    </a:solidFill>
                    <a:latin typeface="Arial"/>
                  </a:rPr>
                  <a:t>: </a:t>
                </a:r>
                <a:r>
                  <a:rPr lang="en-IN" sz="2400">
                    <a:solidFill>
                      <a:srgbClr val="111827"/>
                    </a:solidFill>
                    <a:latin typeface="Cambria Math" panose="02040503050406030204" pitchFamily="18" charset="0"/>
                  </a:rPr>
                  <a:t>$k=4at$</a:t>
                </a:r>
                <a:r>
                  <a:rPr sz="2400" b="0">
                    <a:solidFill>
                      <a:srgbClr val="111827"/>
                    </a:solidFill>
                    <a:latin typeface="Arial"/>
                  </a:rPr>
                  <a:t> and </a:t>
                </a:r>
                <a:r>
                  <a:rPr lang="en-IN" sz="2400">
                    <a:solidFill>
                      <a:srgbClr val="111827"/>
                    </a:solidFill>
                    <a:latin typeface="Cambria Math" panose="02040503050406030204" pitchFamily="18" charset="0"/>
                  </a:rPr>
                  <a:t>$h=at^2-2a=\frac{k^2}{16a}-2a$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$k^2=16a(h+2a)$</a:t>
                </a:r>
                <a:r>
                  <a:rPr sz="2400" b="0">
                    <a:solidFill>
                      <a:srgbClr val="111827"/>
                    </a:solidFill>
                    <a:latin typeface="Arial"/>
                  </a:rPr>
                  <a:t>: the locus of </a:t>
                </a:r>
                <a:r>
                  <a:rPr lang="en-IN" sz="2400">
                    <a:solidFill>
                      <a:srgbClr val="111827"/>
                    </a:solidFill>
                    <a:latin typeface="Cambria Math" panose="02040503050406030204" pitchFamily="18" charset="0"/>
                  </a:rPr>
                  <a:t>$Q$</a:t>
                </a:r>
                <a:r>
                  <a:rPr sz="2400" b="0">
                    <a:solidFill>
                      <a:srgbClr val="111827"/>
                    </a:solidFill>
                    <a:latin typeface="Arial"/>
                  </a:rPr>
                  <a:t> is the parabola </a:t>
                </a:r>
                <a:r>
                  <a:rPr lang="en-IN" sz="2400">
                    <a:solidFill>
                      <a:srgbClr val="111827"/>
                    </a:solidFill>
                    <a:latin typeface="Cambria Math" panose="02040503050406030204" pitchFamily="18" charset="0"/>
                  </a:rPr>
                  <a:t>$y^2=16a(x+2a)$</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16</m:t>
                    </m:r>
                    <m:r>
                      <a:rPr lang="en-IN" sz="2800" i="1">
                        <a:solidFill>
                          <a:srgbClr val="15803D"/>
                        </a:solidFill>
                        <a:latin typeface="Cambria Math" panose="02040503050406030204" pitchFamily="18" charset="0"/>
                      </a:rPr>
                      <m:t>𝑎</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a:rPr lang="en-IN" sz="2800" i="1">
                        <a:solidFill>
                          <a:srgbClr val="15803D"/>
                        </a:solidFill>
                        <a:latin typeface="Cambria Math" panose="02040503050406030204" pitchFamily="18" charset="0"/>
                      </a:rPr>
                      <m:t>𝑎</m:t>
                    </m:r>
                    <m:r>
                      <m:rPr>
                        <m:sty m:val="p"/>
                      </m:rPr>
                      <a:rPr lang="en-IN" sz="2800">
                        <a:solidFill>
                          <a:srgbClr val="15803D"/>
                        </a:solidFill>
                        <a:latin typeface="Cambria Math" panose="02040503050406030204" pitchFamily="18" charset="0"/>
                      </a:rPr>
                      <m:t>)</m:t>
                    </m:r>
                  </m:oMath>
                </a14:m>
                <a:r>
                  <a:rPr sz="2800" b="1">
                    <a:solidFill>
                      <a:srgbClr val="15803D"/>
                    </a:solidFill>
                    <a:latin typeface="Arial"/>
                  </a:rPr>
                  <a:t>, a parabola</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$y^2=16a(x+2a)$</a:t>
                </a:r>
                <a:r>
                  <a:rPr sz="2800" b="1">
                    <a:solidFill>
                      <a:srgbClr val="15803D"/>
                    </a:solidFill>
                    <a:latin typeface="Arial"/>
                  </a:rPr>
                  <a:t>, a parabola</a:t>
                </a:r>
                <a:endParaRPr sz="2800">
                  <a:solidFill>
                    <a:srgbClr val="15803D"/>
                  </a:solidFill>
                </a:endParaRPr>
              </a:p>
            </p:txBody>
          </p:sp>
        </mc:Fallback>
      </mc:AlternateContent>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Subnormal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(constant), subtangent is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oMath>
                </a14:m>
                <a:r>
                  <a:rPr sz="2400" b="0">
                    <a:solidFill>
                      <a:srgbClr val="111827"/>
                    </a:solidFill>
                    <a:latin typeface="Arial"/>
                  </a:rPr>
                  <a:t>; hence the normal meets the axis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of the point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that divides a moving segment in a fixed ratio is the image of the curve under a homothety; here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on the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Dilating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about the origin by factor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the locus here is a parabola with latus rectum </a:t>
                </a:r>
                <a14:m>
                  <m:oMath xmlns:m="http://schemas.openxmlformats.org/officeDocument/2006/math">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𝑎</m:t>
                    </m:r>
                  </m:oMath>
                </a14:m>
                <a:r>
                  <a:rPr sz="2400" b="0">
                    <a:solidFill>
                      <a:srgbClr val="111827"/>
                    </a:solidFill>
                    <a:latin typeface="Arial"/>
                  </a:rPr>
                  <a:t> (four times the original).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Subnormal of </a:t>
                </a:r>
                <a:r>
                  <a:rPr lang="en-IN" sz="2400">
                    <a:solidFill>
                      <a:srgbClr val="111827"/>
                    </a:solidFill>
                    <a:latin typeface="Cambria Math" panose="02040503050406030204" pitchFamily="18" charset="0"/>
                  </a:rPr>
                  <a:t>$y^2=4ax$</a:t>
                </a:r>
                <a:r>
                  <a:rPr sz="2400" b="0">
                    <a:solidFill>
                      <a:srgbClr val="111827"/>
                    </a:solidFill>
                    <a:latin typeface="Arial"/>
                  </a:rPr>
                  <a:t> is </a:t>
                </a:r>
                <a:r>
                  <a:rPr lang="en-IN" sz="2400">
                    <a:solidFill>
                      <a:srgbClr val="111827"/>
                    </a:solidFill>
                    <a:latin typeface="Cambria Math" panose="02040503050406030204" pitchFamily="18" charset="0"/>
                  </a:rPr>
                  <a:t>$2a$</a:t>
                </a:r>
                <a:r>
                  <a:rPr sz="2400" b="0">
                    <a:solidFill>
                      <a:srgbClr val="111827"/>
                    </a:solidFill>
                    <a:latin typeface="Arial"/>
                  </a:rPr>
                  <a:t> (constant), subtangent is </a:t>
                </a:r>
                <a:r>
                  <a:rPr lang="en-IN" sz="2400">
                    <a:solidFill>
                      <a:srgbClr val="111827"/>
                    </a:solidFill>
                    <a:latin typeface="Cambria Math" panose="02040503050406030204" pitchFamily="18" charset="0"/>
                  </a:rPr>
                  <a:t>$2x_P$</a:t>
                </a:r>
                <a:r>
                  <a:rPr sz="2400" b="0">
                    <a:solidFill>
                      <a:srgbClr val="111827"/>
                    </a:solidFill>
                    <a:latin typeface="Arial"/>
                  </a:rPr>
                  <a:t>; hence the normal meets the axis at </a:t>
                </a:r>
                <a:r>
                  <a:rPr lang="en-IN" sz="2400">
                    <a:solidFill>
                      <a:srgbClr val="111827"/>
                    </a:solidFill>
                    <a:latin typeface="Cambria Math" panose="02040503050406030204" pitchFamily="18" charset="0"/>
                  </a:rPr>
                  <a:t>$(x_P+2a,0)$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of the point </a:t>
                </a:r>
                <a:r>
                  <a:rPr lang="en-IN" sz="2400">
                    <a:solidFill>
                      <a:srgbClr val="111827"/>
                    </a:solidFill>
                    <a:latin typeface="Cambria Math" panose="02040503050406030204" pitchFamily="18" charset="0"/>
                  </a:rPr>
                  <a:t>$Q$</a:t>
                </a:r>
                <a:r>
                  <a:rPr sz="2400" b="0">
                    <a:solidFill>
                      <a:srgbClr val="111827"/>
                    </a:solidFill>
                    <a:latin typeface="Arial"/>
                  </a:rPr>
                  <a:t> that divides a moving segment in a fixed ratio is the image of the curve under a homothety; here </a:t>
                </a:r>
                <a:r>
                  <a:rPr lang="en-IN" sz="2400">
                    <a:solidFill>
                      <a:srgbClr val="111827"/>
                    </a:solidFill>
                    <a:latin typeface="Cambria Math" panose="02040503050406030204" pitchFamily="18" charset="0"/>
                  </a:rPr>
                  <a:t>$Q=2P-C$</a:t>
                </a:r>
                <a:r>
                  <a:rPr sz="2400" b="0">
                    <a:solidFill>
                      <a:srgbClr val="111827"/>
                    </a:solidFill>
                    <a:latin typeface="Arial"/>
                  </a:rPr>
                  <a:t> with </a:t>
                </a:r>
                <a:r>
                  <a:rPr lang="en-IN" sz="2400">
                    <a:solidFill>
                      <a:srgbClr val="111827"/>
                    </a:solidFill>
                    <a:latin typeface="Cambria Math" panose="02040503050406030204" pitchFamily="18" charset="0"/>
                  </a:rPr>
                  <a:t>$C$</a:t>
                </a:r>
                <a:r>
                  <a:rPr sz="2400" b="0">
                    <a:solidFill>
                      <a:srgbClr val="111827"/>
                    </a:solidFill>
                    <a:latin typeface="Arial"/>
                  </a:rPr>
                  <a:t> on the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Dilating </a:t>
                </a:r>
                <a:r>
                  <a:rPr lang="en-IN" sz="2400">
                    <a:solidFill>
                      <a:srgbClr val="111827"/>
                    </a:solidFill>
                    <a:latin typeface="Cambria Math" panose="02040503050406030204" pitchFamily="18" charset="0"/>
                  </a:rPr>
                  <a:t>$y^2=4ax$</a:t>
                </a:r>
                <a:r>
                  <a:rPr sz="2400" b="0">
                    <a:solidFill>
                      <a:srgbClr val="111827"/>
                    </a:solidFill>
                    <a:latin typeface="Arial"/>
                  </a:rPr>
                  <a:t> about the origin by factor </a:t>
                </a:r>
                <a:r>
                  <a:rPr lang="en-IN" sz="2400">
                    <a:solidFill>
                      <a:srgbClr val="111827"/>
                    </a:solidFill>
                    <a:latin typeface="Cambria Math" panose="02040503050406030204" pitchFamily="18" charset="0"/>
                  </a:rPr>
                  <a:t>$2$</a:t>
                </a:r>
                <a:r>
                  <a:rPr sz="2400" b="0">
                    <a:solidFill>
                      <a:srgbClr val="111827"/>
                    </a:solidFill>
                    <a:latin typeface="Arial"/>
                  </a:rPr>
                  <a:t> gives </a:t>
                </a:r>
                <a:r>
                  <a:rPr lang="en-IN" sz="2400">
                    <a:solidFill>
                      <a:srgbClr val="111827"/>
                    </a:solidFill>
                    <a:latin typeface="Cambria Math" panose="02040503050406030204" pitchFamily="18" charset="0"/>
                  </a:rPr>
                  <a:t>$y^2=8ax$</a:t>
                </a:r>
                <a:r>
                  <a:rPr sz="2400" b="0">
                    <a:solidFill>
                      <a:srgbClr val="111827"/>
                    </a:solidFill>
                    <a:latin typeface="Arial"/>
                  </a:rPr>
                  <a:t>; the locus here is a parabola with latus rectum </a:t>
                </a:r>
                <a:r>
                  <a:rPr lang="en-IN" sz="2400">
                    <a:solidFill>
                      <a:srgbClr val="111827"/>
                    </a:solidFill>
                    <a:latin typeface="Cambria Math" panose="02040503050406030204" pitchFamily="18" charset="0"/>
                  </a:rPr>
                  <a:t>$16a$</a:t>
                </a:r>
                <a:r>
                  <a:rPr sz="2400" b="0">
                    <a:solidFill>
                      <a:srgbClr val="111827"/>
                    </a:solidFill>
                    <a:latin typeface="Arial"/>
                  </a:rPr>
                  <a:t> (four times the original).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$t$</a:t>
                </a:r>
                <a:r>
                  <a:rPr sz="2400" b="0">
                    <a:solidFill>
                      <a:srgbClr val="111827"/>
                    </a:solidFill>
                    <a:latin typeface="Arial"/>
                  </a:rPr>
                  <a:t>: </a:t>
                </a:r>
                <a:r>
                  <a:rPr lang="en-IN" sz="2400">
                    <a:solidFill>
                      <a:srgbClr val="111827"/>
                    </a:solidFill>
                    <a:latin typeface="Cambria Math" panose="02040503050406030204" pitchFamily="18" charset="0"/>
                  </a:rPr>
                  <a:t>$y=-tx+2at+at^3$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quadrilateral is inscribed in a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and three of its sides pass through fixed points on the axis. Show that the fourth side also passes through a fixed point on the axis of the parabola.</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quadrilateral is inscribed in a parabola </a:t>
                </a:r>
                <a:r>
                  <a:rPr lang="en-IN" sz="2400">
                    <a:solidFill>
                      <a:srgbClr val="111827"/>
                    </a:solidFill>
                    <a:latin typeface="Cambria Math" panose="02040503050406030204" pitchFamily="18" charset="0"/>
                  </a:rPr>
                  <a:t>$y^2=4ax$</a:t>
                </a:r>
                <a:r>
                  <a:rPr sz="2400" b="0">
                    <a:solidFill>
                      <a:srgbClr val="111827"/>
                    </a:solidFill>
                    <a:latin typeface="Arial"/>
                  </a:rPr>
                  <a:t> and three of its sides pass through fixed points on the axis. Show that the fourth side also passes through a fixed point on the axis of the parabola.</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516884"/>
                <a:ext cx="10725912" cy="20848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Chord of a parabola through a fixed point on the axis, Parameter relation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oMath>
                </a14:m>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Choice>
        <mc:Fallback>
          <p:sp>
            <p:nvSpPr>
              <p:cNvPr id="5" name="Rectangle 4"/>
              <p:cNvSpPr/>
              <p:nvPr/>
            </p:nvSpPr>
            <p:spPr>
              <a:xfrm>
                <a:off x="731520" y="3516884"/>
                <a:ext cx="10725912" cy="20848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Chord of a parabola through a fixed point on the axis, Parameter relation </a:t>
                </a:r>
                <a:r>
                  <a:rPr lang="en-IN" sz="2400">
                    <a:solidFill>
                      <a:srgbClr val="111827"/>
                    </a:solidFill>
                    <a:latin typeface="Cambria Math" panose="02040503050406030204" pitchFamily="18" charset="0"/>
                  </a:rPr>
                  <a:t>$t_1t_2=-\frac{c}{a}$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Fallback>
      </mc:AlternateContent>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chord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passes through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iff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𝑐</m:t>
                        </m:r>
                      </m:num>
                      <m:den>
                        <m:r>
                          <a:rPr lang="en-IN" sz="2400" i="1">
                            <a:solidFill>
                              <a:srgbClr val="78350F"/>
                            </a:solidFill>
                            <a:latin typeface="Cambria Math" panose="02040503050406030204" pitchFamily="18" charset="0"/>
                          </a:rPr>
                          <m:t>𝑎</m:t>
                        </m:r>
                      </m:den>
                    </m:f>
                  </m:oMath>
                </a14:m>
                <a:r>
                  <a:rPr sz="2400" b="0">
                    <a:solidFill>
                      <a:srgbClr val="78350F"/>
                    </a:solidFill>
                    <a:latin typeface="Arial"/>
                  </a:rPr>
                  <a:t>; multiply the three relations so that the common parameters cancel.</a:t>
                </a:r>
                <a:endParaRPr sz="2400">
                  <a:solidFill>
                    <a:srgbClr val="78350F"/>
                  </a:solidFill>
                </a:endParaRPr>
              </a:p>
            </p:txBody>
          </p:sp>
        </mc:Choice>
        <mc:Fallback>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chord </a:t>
                </a:r>
                <a:r>
                  <a:rPr lang="en-IN" sz="2400">
                    <a:solidFill>
                      <a:srgbClr val="78350F"/>
                    </a:solidFill>
                    <a:latin typeface="Cambria Math" panose="02040503050406030204" pitchFamily="18" charset="0"/>
                  </a:rPr>
                  <a:t>$t_1t_2$</a:t>
                </a:r>
                <a:r>
                  <a:rPr sz="2400" b="0">
                    <a:solidFill>
                      <a:srgbClr val="78350F"/>
                    </a:solidFill>
                    <a:latin typeface="Arial"/>
                  </a:rPr>
                  <a:t> passes through </a:t>
                </a:r>
                <a:r>
                  <a:rPr lang="en-IN" sz="2400">
                    <a:solidFill>
                      <a:srgbClr val="78350F"/>
                    </a:solidFill>
                    <a:latin typeface="Cambria Math" panose="02040503050406030204" pitchFamily="18" charset="0"/>
                  </a:rPr>
                  <a:t>$(c,0)$</a:t>
                </a:r>
                <a:r>
                  <a:rPr sz="2400" b="0">
                    <a:solidFill>
                      <a:srgbClr val="78350F"/>
                    </a:solidFill>
                    <a:latin typeface="Arial"/>
                  </a:rPr>
                  <a:t> iff </a:t>
                </a:r>
                <a:r>
                  <a:rPr lang="en-IN" sz="2400">
                    <a:solidFill>
                      <a:srgbClr val="78350F"/>
                    </a:solidFill>
                    <a:latin typeface="Cambria Math" panose="02040503050406030204" pitchFamily="18" charset="0"/>
                  </a:rPr>
                  <a:t>$t_1t_2=-\frac ca$</a:t>
                </a:r>
                <a:r>
                  <a:rPr sz="2400" b="0">
                    <a:solidFill>
                      <a:srgbClr val="78350F"/>
                    </a:solidFill>
                    <a:latin typeface="Arial"/>
                  </a:rPr>
                  <a:t>; multiply the three relations so that the common parameters cancel.</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have vertices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passing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respectively.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chord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And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....(3).</a:t>
                </a:r>
                <a:endParaRPr sz="2400">
                  <a:solidFill>
                    <a:srgbClr val="111827"/>
                  </a:solidFill>
                </a:endParaRPr>
              </a:p>
            </p:txBody>
          </p:sp>
        </mc:Choice>
        <mc:Fallback>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$ABCD$</a:t>
                </a:r>
                <a:r>
                  <a:rPr sz="2400" b="0">
                    <a:solidFill>
                      <a:srgbClr val="111827"/>
                    </a:solidFill>
                    <a:latin typeface="Arial"/>
                  </a:rPr>
                  <a:t> have vertices </a:t>
                </a:r>
                <a:r>
                  <a:rPr lang="en-IN" sz="2400">
                    <a:solidFill>
                      <a:srgbClr val="111827"/>
                    </a:solidFill>
                    <a:latin typeface="Cambria Math" panose="02040503050406030204" pitchFamily="18" charset="0"/>
                  </a:rPr>
                  <a:t>$A(t_1),B(t_2),C(t_3),D(t_4)$</a:t>
                </a:r>
                <a:r>
                  <a:rPr sz="2400" b="0">
                    <a:solidFill>
                      <a:srgbClr val="111827"/>
                    </a:solidFill>
                    <a:latin typeface="Arial"/>
                  </a:rPr>
                  <a:t> on </a:t>
                </a:r>
                <a:r>
                  <a:rPr lang="en-IN" sz="2400">
                    <a:solidFill>
                      <a:srgbClr val="111827"/>
                    </a:solidFill>
                    <a:latin typeface="Cambria Math" panose="02040503050406030204" pitchFamily="18" charset="0"/>
                  </a:rPr>
                  <a:t>$y^2=4ax$</a:t>
                </a:r>
                <a:r>
                  <a:rPr sz="2400" b="0">
                    <a:solidFill>
                      <a:srgbClr val="111827"/>
                    </a:solidFill>
                    <a:latin typeface="Arial"/>
                  </a:rPr>
                  <a:t>, with </a:t>
                </a:r>
                <a:r>
                  <a:rPr lang="en-IN" sz="2400">
                    <a:solidFill>
                      <a:srgbClr val="111827"/>
                    </a:solidFill>
                    <a:latin typeface="Cambria Math" panose="02040503050406030204" pitchFamily="18" charset="0"/>
                  </a:rPr>
                  <a:t>$AB,BC,CD$</a:t>
                </a:r>
                <a:r>
                  <a:rPr sz="2400" b="0">
                    <a:solidFill>
                      <a:srgbClr val="111827"/>
                    </a:solidFill>
                    <a:latin typeface="Arial"/>
                  </a:rPr>
                  <a:t> passing through </a:t>
                </a:r>
                <a:r>
                  <a:rPr lang="en-IN" sz="2400">
                    <a:solidFill>
                      <a:srgbClr val="111827"/>
                    </a:solidFill>
                    <a:latin typeface="Cambria Math" panose="02040503050406030204" pitchFamily="18" charset="0"/>
                  </a:rPr>
                  <a:t>$(c,0)$</a:t>
                </a:r>
                <a:r>
                  <a:rPr sz="2400" b="0">
                    <a:solidFill>
                      <a:srgbClr val="111827"/>
                    </a:solidFill>
                    <a:latin typeface="Arial"/>
                  </a:rPr>
                  <a:t>, </a:t>
                </a:r>
                <a:r>
                  <a:rPr lang="en-IN" sz="2400">
                    <a:solidFill>
                      <a:srgbClr val="111827"/>
                    </a:solidFill>
                    <a:latin typeface="Cambria Math" panose="02040503050406030204" pitchFamily="18" charset="0"/>
                  </a:rPr>
                  <a:t>$(d,0)$</a:t>
                </a:r>
                <a:r>
                  <a:rPr sz="2400" b="0">
                    <a:solidFill>
                      <a:srgbClr val="111827"/>
                    </a:solidFill>
                    <a:latin typeface="Arial"/>
                  </a:rPr>
                  <a:t>, </a:t>
                </a:r>
                <a:r>
                  <a:rPr lang="en-IN" sz="2400">
                    <a:solidFill>
                      <a:srgbClr val="111827"/>
                    </a:solidFill>
                    <a:latin typeface="Cambria Math" panose="02040503050406030204" pitchFamily="18" charset="0"/>
                  </a:rPr>
                  <a:t>$(e,0)$</a:t>
                </a:r>
                <a:r>
                  <a:rPr sz="2400" b="0">
                    <a:solidFill>
                      <a:srgbClr val="111827"/>
                    </a:solidFill>
                    <a:latin typeface="Arial"/>
                  </a:rPr>
                  <a:t> respectively.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chord </a:t>
                </a:r>
                <a:r>
                  <a:rPr lang="en-IN" sz="2400">
                    <a:solidFill>
                      <a:srgbClr val="111827"/>
                    </a:solidFill>
                    <a:latin typeface="Cambria Math" panose="02040503050406030204" pitchFamily="18" charset="0"/>
                  </a:rPr>
                  <a:t>$AB$</a:t>
                </a:r>
                <a:r>
                  <a:rPr sz="2400" b="0">
                    <a:solidFill>
                      <a:srgbClr val="111827"/>
                    </a:solidFill>
                    <a:latin typeface="Arial"/>
                  </a:rPr>
                  <a:t> is </a:t>
                </a:r>
                <a:r>
                  <a:rPr lang="en-IN" sz="2400">
                    <a:solidFill>
                      <a:srgbClr val="111827"/>
                    </a:solidFill>
                    <a:latin typeface="Cambria Math" panose="02040503050406030204" pitchFamily="18" charset="0"/>
                  </a:rPr>
                  <a:t>$2x-(t_1+t_2)y+2at_1t_2=0$</a:t>
                </a:r>
                <a:r>
                  <a:rPr sz="2400" b="0">
                    <a:solidFill>
                      <a:srgbClr val="111827"/>
                    </a:solidFill>
                    <a:latin typeface="Arial"/>
                  </a:rPr>
                  <a:t>. It passes through </a:t>
                </a:r>
                <a:r>
                  <a:rPr lang="en-IN" sz="2400">
                    <a:solidFill>
                      <a:srgbClr val="111827"/>
                    </a:solidFill>
                    <a:latin typeface="Cambria Math" panose="02040503050406030204" pitchFamily="18" charset="0"/>
                  </a:rPr>
                  <a:t>$(c,0)$</a:t>
                </a:r>
                <a:r>
                  <a:rPr sz="2400" b="0">
                    <a:solidFill>
                      <a:srgbClr val="111827"/>
                    </a:solidFill>
                    <a:latin typeface="Arial"/>
                  </a:rPr>
                  <a:t>: </a:t>
                </a:r>
                <a:r>
                  <a:rPr lang="en-IN" sz="2400">
                    <a:solidFill>
                      <a:srgbClr val="111827"/>
                    </a:solidFill>
                    <a:latin typeface="Cambria Math" panose="02040503050406030204" pitchFamily="18" charset="0"/>
                  </a:rPr>
                  <a:t>$t_1t_2=-\frac ca$</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r>
                  <a:rPr lang="en-IN" sz="2400">
                    <a:solidFill>
                      <a:srgbClr val="111827"/>
                    </a:solidFill>
                    <a:latin typeface="Cambria Math" panose="02040503050406030204" pitchFamily="18" charset="0"/>
                  </a:rPr>
                  <a:t>$BC$</a:t>
                </a:r>
                <a:r>
                  <a:rPr sz="2400" b="0">
                    <a:solidFill>
                      <a:srgbClr val="111827"/>
                    </a:solidFill>
                    <a:latin typeface="Arial"/>
                  </a:rPr>
                  <a:t> through </a:t>
                </a:r>
                <a:r>
                  <a:rPr lang="en-IN" sz="2400">
                    <a:solidFill>
                      <a:srgbClr val="111827"/>
                    </a:solidFill>
                    <a:latin typeface="Cambria Math" panose="02040503050406030204" pitchFamily="18" charset="0"/>
                  </a:rPr>
                  <a:t>$(d,0)$</a:t>
                </a:r>
                <a:r>
                  <a:rPr sz="2400" b="0">
                    <a:solidFill>
                      <a:srgbClr val="111827"/>
                    </a:solidFill>
                    <a:latin typeface="Arial"/>
                  </a:rPr>
                  <a:t>: </a:t>
                </a:r>
                <a:r>
                  <a:rPr lang="en-IN" sz="2400">
                    <a:solidFill>
                      <a:srgbClr val="111827"/>
                    </a:solidFill>
                    <a:latin typeface="Cambria Math" panose="02040503050406030204" pitchFamily="18" charset="0"/>
                  </a:rPr>
                  <a:t>$t_2t_3=-\frac da$</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And </a:t>
                </a:r>
                <a:r>
                  <a:rPr lang="en-IN" sz="2400">
                    <a:solidFill>
                      <a:srgbClr val="111827"/>
                    </a:solidFill>
                    <a:latin typeface="Cambria Math" panose="02040503050406030204" pitchFamily="18" charset="0"/>
                  </a:rPr>
                  <a:t>$CD$</a:t>
                </a:r>
                <a:r>
                  <a:rPr sz="2400" b="0">
                    <a:solidFill>
                      <a:srgbClr val="111827"/>
                    </a:solidFill>
                    <a:latin typeface="Arial"/>
                  </a:rPr>
                  <a:t> through </a:t>
                </a:r>
                <a:r>
                  <a:rPr lang="en-IN" sz="2400">
                    <a:solidFill>
                      <a:srgbClr val="111827"/>
                    </a:solidFill>
                    <a:latin typeface="Cambria Math" panose="02040503050406030204" pitchFamily="18" charset="0"/>
                  </a:rPr>
                  <a:t>$(e,0)$</a:t>
                </a:r>
                <a:r>
                  <a:rPr sz="2400" b="0">
                    <a:solidFill>
                      <a:srgbClr val="111827"/>
                    </a:solidFill>
                    <a:latin typeface="Arial"/>
                  </a:rPr>
                  <a:t>: </a:t>
                </a:r>
                <a:r>
                  <a:rPr lang="en-IN" sz="2400">
                    <a:solidFill>
                      <a:srgbClr val="111827"/>
                    </a:solidFill>
                    <a:latin typeface="Cambria Math" panose="02040503050406030204" pitchFamily="18" charset="0"/>
                  </a:rPr>
                  <a:t>$t_3t_4=-\frac ea$</a:t>
                </a:r>
                <a:r>
                  <a:rPr sz="2400" b="0">
                    <a:solidFill>
                      <a:srgbClr val="111827"/>
                    </a:solidFill>
                    <a:latin typeface="Arial"/>
                  </a:rPr>
                  <a:t> ....(3).</a:t>
                </a:r>
                <a:endParaRPr sz="2400">
                  <a:solidFill>
                    <a:srgbClr val="111827"/>
                  </a:solidFill>
                </a:endParaRPr>
              </a:p>
            </p:txBody>
          </p:sp>
        </mc:Fallback>
      </mc:AlternateContent>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Multiply (1) and (3):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e>
                    </m:d>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𝑎</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𝑒</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(2) for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𝑎</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𝑒</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𝑑</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chord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oMath>
                </a14:m>
                <a:r>
                  <a:rPr sz="2400" b="0">
                    <a:solidFill>
                      <a:srgbClr val="111827"/>
                    </a:solidFill>
                    <a:latin typeface="Arial"/>
                  </a:rPr>
                  <a:t> meets the axis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𝑑</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 fixed point. Hence the fourth side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oMath>
                </a14:m>
                <a:r>
                  <a:rPr sz="2400" b="0">
                    <a:solidFill>
                      <a:srgbClr val="111827"/>
                    </a:solidFill>
                    <a:latin typeface="Arial"/>
                  </a:rPr>
                  <a:t> passes through a fixed point on the axis.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Multiply (1) and (3): </a:t>
                </a:r>
                <a:r>
                  <a:rPr lang="en-IN" sz="2400">
                    <a:solidFill>
                      <a:srgbClr val="111827"/>
                    </a:solidFill>
                    <a:latin typeface="Cambria Math" panose="02040503050406030204" pitchFamily="18" charset="0"/>
                  </a:rPr>
                  <a:t>$t_1t_2t_3t_4=\left(-\frac ca\right)\left(-\frac ea\right)=\frac{ce}{a^2}$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(2) for </a:t>
                </a:r>
                <a:r>
                  <a:rPr lang="en-IN" sz="2400">
                    <a:solidFill>
                      <a:srgbClr val="111827"/>
                    </a:solidFill>
                    <a:latin typeface="Cambria Math" panose="02040503050406030204" pitchFamily="18" charset="0"/>
                  </a:rPr>
                  <a:t>$t_2t_3$</a:t>
                </a:r>
                <a:r>
                  <a:rPr sz="2400" b="0">
                    <a:solidFill>
                      <a:srgbClr val="111827"/>
                    </a:solidFill>
                    <a:latin typeface="Arial"/>
                  </a:rPr>
                  <a:t>: </a:t>
                </a:r>
                <a:r>
                  <a:rPr lang="en-IN" sz="2400">
                    <a:solidFill>
                      <a:srgbClr val="111827"/>
                    </a:solidFill>
                    <a:latin typeface="Cambria Math" panose="02040503050406030204" pitchFamily="18" charset="0"/>
                  </a:rPr>
                  <a:t>$t_1t_4\left(-\frac da\right)=\frac{ce}{a^2}$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$t_1t_4=-\frac{ce}{ad}$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chord </a:t>
                </a:r>
                <a:r>
                  <a:rPr lang="en-IN" sz="2400">
                    <a:solidFill>
                      <a:srgbClr val="111827"/>
                    </a:solidFill>
                    <a:latin typeface="Cambria Math" panose="02040503050406030204" pitchFamily="18" charset="0"/>
                  </a:rPr>
                  <a:t>$t_1t_4$</a:t>
                </a:r>
                <a:r>
                  <a:rPr sz="2400" b="0">
                    <a:solidFill>
                      <a:srgbClr val="111827"/>
                    </a:solidFill>
                    <a:latin typeface="Arial"/>
                  </a:rPr>
                  <a:t> meets the axis at </a:t>
                </a:r>
                <a:r>
                  <a:rPr lang="en-IN" sz="2400">
                    <a:solidFill>
                      <a:srgbClr val="111827"/>
                    </a:solidFill>
                    <a:latin typeface="Cambria Math" panose="02040503050406030204" pitchFamily="18" charset="0"/>
                  </a:rPr>
                  <a:t>$\left(-at_1t_4,0\right)=\left(\frac{ce}{d},0\right)$</a:t>
                </a:r>
                <a:r>
                  <a:rPr sz="2400" b="0">
                    <a:solidFill>
                      <a:srgbClr val="111827"/>
                    </a:solidFill>
                    <a:latin typeface="Arial"/>
                  </a:rPr>
                  <a:t>, a fixed point. Hence the fourth side </a:t>
                </a:r>
                <a:r>
                  <a:rPr lang="en-IN" sz="2400">
                    <a:solidFill>
                      <a:srgbClr val="111827"/>
                    </a:solidFill>
                    <a:latin typeface="Cambria Math" panose="02040503050406030204" pitchFamily="18" charset="0"/>
                  </a:rPr>
                  <a:t>$AD$</a:t>
                </a:r>
                <a:r>
                  <a:rPr sz="2400" b="0">
                    <a:solidFill>
                      <a:srgbClr val="111827"/>
                    </a:solidFill>
                    <a:latin typeface="Arial"/>
                  </a:rPr>
                  <a:t> passes through a fixed point on the axis.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The fourth side passes through the fixed point </a:t>
                </a:r>
                <a14:m>
                  <m:oMath xmlns:m="http://schemas.openxmlformats.org/officeDocument/2006/math">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𝑐</m:t>
                            </m:r>
                            <m:r>
                              <a:rPr lang="en-IN" sz="2800" i="1">
                                <a:solidFill>
                                  <a:srgbClr val="15803D"/>
                                </a:solidFill>
                                <a:latin typeface="Cambria Math" panose="02040503050406030204" pitchFamily="18" charset="0"/>
                              </a:rPr>
                              <m:t>𝑒</m:t>
                            </m:r>
                          </m:num>
                          <m:den>
                            <m:r>
                              <a:rPr lang="en-IN" sz="2800" i="1">
                                <a:solidFill>
                                  <a:srgbClr val="15803D"/>
                                </a:solidFill>
                                <a:latin typeface="Cambria Math" panose="02040503050406030204" pitchFamily="18" charset="0"/>
                              </a:rPr>
                              <m:t>𝑑</m:t>
                            </m:r>
                          </m:den>
                        </m:f>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e>
                    </m:d>
                  </m:oMath>
                </a14:m>
                <a:r>
                  <a:rPr sz="2800" b="1">
                    <a:solidFill>
                      <a:srgbClr val="15803D"/>
                    </a:solidFill>
                    <a:latin typeface="Arial"/>
                  </a:rPr>
                  <a:t> on the axis</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The fourth side passes through the fixed point </a:t>
                </a:r>
                <a:r>
                  <a:rPr lang="en-IN" sz="2800">
                    <a:solidFill>
                      <a:srgbClr val="15803D"/>
                    </a:solidFill>
                    <a:latin typeface="Cambria Math" panose="02040503050406030204" pitchFamily="18" charset="0"/>
                  </a:rPr>
                  <a:t>$\left(\frac{ce}{d},0\right)$</a:t>
                </a:r>
                <a:r>
                  <a:rPr sz="2800" b="1">
                    <a:solidFill>
                      <a:srgbClr val="15803D"/>
                    </a:solidFill>
                    <a:latin typeface="Arial"/>
                  </a:rPr>
                  <a:t> on the axis</a:t>
                </a:r>
                <a:endParaRPr sz="2800">
                  <a:solidFill>
                    <a:srgbClr val="15803D"/>
                  </a:solidFill>
                </a:endParaRPr>
              </a:p>
            </p:txBody>
          </p:sp>
        </mc:Fallback>
      </mc:AlternateContent>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Each chord through a point of the axis defines the involution </a:t>
                </a:r>
                <a14:m>
                  <m:oMath xmlns:m="http://schemas.openxmlformats.org/officeDocument/2006/math">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𝑘</m:t>
                        </m:r>
                      </m:num>
                      <m:den>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𝑡</m:t>
                        </m:r>
                      </m:den>
                    </m:f>
                  </m:oMath>
                </a14:m>
                <a:r>
                  <a:rPr sz="2400" b="0">
                    <a:solidFill>
                      <a:srgbClr val="78350F"/>
                    </a:solidFill>
                    <a:latin typeface="Arial"/>
                  </a:rPr>
                  <a:t> on the parameters; compose three involutions and read off the last.</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Each chord through a point of the axis defines the involution </a:t>
                </a:r>
                <a:r>
                  <a:rPr lang="en-IN" sz="2400">
                    <a:solidFill>
                      <a:srgbClr val="78350F"/>
                    </a:solidFill>
                    <a:latin typeface="Cambria Math" panose="02040503050406030204" pitchFamily="18" charset="0"/>
                  </a:rPr>
                  <a:t>$t\mapsto-\frac{k}{at}$</a:t>
                </a:r>
                <a:r>
                  <a:rPr sz="2400" b="0">
                    <a:solidFill>
                      <a:srgbClr val="78350F"/>
                    </a:solidFill>
                    <a:latin typeface="Arial"/>
                  </a:rPr>
                  <a:t> on the parameters; compose three involutions and read off the last.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chord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joins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den>
                    </m:f>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𝑡</m:t>
                    </m:r>
                    <m:sSup>
                      <m:e>
                        <m:r>
                          <a:rPr lang="en-IN" sz="2400" i="1">
                            <a:solidFill>
                              <a:srgbClr val="111827"/>
                            </a:solidFill>
                            <a:latin typeface="Cambria Math" panose="02040503050406030204" pitchFamily="18" charset="0"/>
                          </a:rPr>
                          <m:t>𝑡</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Going around: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𝑔</m:t>
                        </m:r>
                      </m:e>
                      <m:sub>
                        <m:r>
                          <a:rPr lang="en-IN" sz="2400" i="1">
                            <a:solidFill>
                              <a:srgbClr val="111827"/>
                            </a:solidFill>
                            <a:latin typeface="Cambria Math" panose="02040503050406030204" pitchFamily="18" charset="0"/>
                          </a:rPr>
                          <m:t>𝑒</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𝑔</m:t>
                        </m:r>
                      </m:e>
                      <m:sub>
                        <m:r>
                          <a:rPr lang="en-IN" sz="2400" i="1">
                            <a:solidFill>
                              <a:srgbClr val="111827"/>
                            </a:solidFill>
                            <a:latin typeface="Cambria Math" panose="02040503050406030204" pitchFamily="18" charset="0"/>
                          </a:rPr>
                          <m:t>𝑒</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den>
                    </m:f>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𝑔</m:t>
                        </m:r>
                      </m:e>
                      <m:sub>
                        <m:r>
                          <a:rPr lang="en-IN" sz="2400" i="1">
                            <a:solidFill>
                              <a:srgbClr val="111827"/>
                            </a:solidFill>
                            <a:latin typeface="Cambria Math" panose="02040503050406030204" pitchFamily="18" charset="0"/>
                          </a:rPr>
                          <m:t>𝑑</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𝑔</m:t>
                        </m:r>
                      </m:e>
                      <m:sub>
                        <m:r>
                          <a:rPr lang="en-IN" sz="2400" i="1">
                            <a:solidFill>
                              <a:srgbClr val="111827"/>
                            </a:solidFill>
                            <a:latin typeface="Cambria Math" panose="02040503050406030204" pitchFamily="18" charset="0"/>
                          </a:rPr>
                          <m:t>𝑐</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𝑔</m:t>
                        </m:r>
                      </m:e>
                      <m:sub>
                        <m:r>
                          <a:rPr lang="en-IN" sz="2400" i="1">
                            <a:solidFill>
                              <a:srgbClr val="111827"/>
                            </a:solidFill>
                            <a:latin typeface="Cambria Math" panose="02040503050406030204" pitchFamily="18" charset="0"/>
                          </a:rPr>
                          <m:t>𝑑</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𝑔</m:t>
                        </m:r>
                      </m:e>
                      <m:sub>
                        <m:r>
                          <a:rPr lang="en-IN" sz="2400" i="1">
                            <a:solidFill>
                              <a:srgbClr val="111827"/>
                            </a:solidFill>
                            <a:latin typeface="Cambria Math" panose="02040503050406030204" pitchFamily="18" charset="0"/>
                          </a:rPr>
                          <m:t>𝑒</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𝑒</m:t>
                        </m:r>
                      </m:den>
                    </m:f>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𝑡</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chord through </a:t>
                </a:r>
                <a:r>
                  <a:rPr lang="en-IN" sz="2400">
                    <a:solidFill>
                      <a:srgbClr val="111827"/>
                    </a:solidFill>
                    <a:latin typeface="Cambria Math" panose="02040503050406030204" pitchFamily="18" charset="0"/>
                  </a:rPr>
                  <a:t>$(k,0)$</a:t>
                </a:r>
                <a:r>
                  <a:rPr sz="2400" b="0">
                    <a:solidFill>
                      <a:srgbClr val="111827"/>
                    </a:solidFill>
                    <a:latin typeface="Arial"/>
                  </a:rPr>
                  <a:t> joins </a:t>
                </a:r>
                <a:r>
                  <a:rPr lang="en-IN" sz="2400">
                    <a:solidFill>
                      <a:srgbClr val="111827"/>
                    </a:solidFill>
                    <a:latin typeface="Cambria Math" panose="02040503050406030204" pitchFamily="18" charset="0"/>
                  </a:rPr>
                  <a:t>$t$</a:t>
                </a:r>
                <a:r>
                  <a:rPr sz="2400" b="0">
                    <a:solidFill>
                      <a:srgbClr val="111827"/>
                    </a:solidFill>
                    <a:latin typeface="Arial"/>
                  </a:rPr>
                  <a:t> and </a:t>
                </a:r>
                <a:r>
                  <a:rPr lang="en-IN" sz="2400">
                    <a:solidFill>
                      <a:srgbClr val="111827"/>
                    </a:solidFill>
                    <a:latin typeface="Cambria Math" panose="02040503050406030204" pitchFamily="18" charset="0"/>
                  </a:rPr>
                  <a:t>$t'=-\frac{k}{at}$</a:t>
                </a:r>
                <a:r>
                  <a:rPr sz="2400" b="0">
                    <a:solidFill>
                      <a:srgbClr val="111827"/>
                    </a:solidFill>
                    <a:latin typeface="Arial"/>
                  </a:rPr>
                  <a:t> (since </a:t>
                </a:r>
                <a:r>
                  <a:rPr lang="en-IN" sz="2400">
                    <a:solidFill>
                      <a:srgbClr val="111827"/>
                    </a:solidFill>
                    <a:latin typeface="Cambria Math" panose="02040503050406030204" pitchFamily="18" charset="0"/>
                  </a:rPr>
                  <a:t>$tt'=-\frac ka$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Going around: </a:t>
                </a:r>
                <a:r>
                  <a:rPr lang="en-IN" sz="2400">
                    <a:solidFill>
                      <a:srgbClr val="111827"/>
                    </a:solidFill>
                    <a:latin typeface="Cambria Math" panose="02040503050406030204" pitchFamily="18" charset="0"/>
                  </a:rPr>
                  <a:t>$t_3=g_e(t_4)$</a:t>
                </a:r>
                <a:r>
                  <a:rPr sz="2400" b="0">
                    <a:solidFill>
                      <a:srgbClr val="111827"/>
                    </a:solidFill>
                    <a:latin typeface="Arial"/>
                  </a:rPr>
                  <a:t> with </a:t>
                </a:r>
                <a:r>
                  <a:rPr lang="en-IN" sz="2400">
                    <a:solidFill>
                      <a:srgbClr val="111827"/>
                    </a:solidFill>
                    <a:latin typeface="Cambria Math" panose="02040503050406030204" pitchFamily="18" charset="0"/>
                  </a:rPr>
                  <a:t>$g_e(t)=-\frac{e}{at}$</a:t>
                </a:r>
                <a:r>
                  <a:rPr sz="2400" b="0">
                    <a:solidFill>
                      <a:srgbClr val="111827"/>
                    </a:solidFill>
                    <a:latin typeface="Arial"/>
                  </a:rPr>
                  <a:t>, then </a:t>
                </a:r>
                <a:r>
                  <a:rPr lang="en-IN" sz="2400">
                    <a:solidFill>
                      <a:srgbClr val="111827"/>
                    </a:solidFill>
                    <a:latin typeface="Cambria Math" panose="02040503050406030204" pitchFamily="18" charset="0"/>
                  </a:rPr>
                  <a:t>$t_2=g_d(t_3)$</a:t>
                </a:r>
                <a:r>
                  <a:rPr sz="2400" b="0">
                    <a:solidFill>
                      <a:srgbClr val="111827"/>
                    </a:solidFill>
                    <a:latin typeface="Arial"/>
                  </a:rPr>
                  <a:t>, then </a:t>
                </a:r>
                <a:r>
                  <a:rPr lang="en-IN" sz="2400">
                    <a:solidFill>
                      <a:srgbClr val="111827"/>
                    </a:solidFill>
                    <a:latin typeface="Cambria Math" panose="02040503050406030204" pitchFamily="18" charset="0"/>
                  </a:rPr>
                  <a:t>$t_1=g_c(t_2)$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$g_d(g_e(t))=-\frac{d}{a}\cdot\frac{1}{-e/(at)}=\frac{d}{e}\,t$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𝑔</m:t>
                        </m:r>
                      </m:e>
                      <m:sub>
                        <m:r>
                          <a:rPr lang="en-IN" sz="2400" i="1">
                            <a:solidFill>
                              <a:srgbClr val="111827"/>
                            </a:solidFill>
                            <a:latin typeface="Cambria Math" panose="02040503050406030204" pitchFamily="18" charset="0"/>
                          </a:rPr>
                          <m:t>𝑐</m:t>
                        </m:r>
                      </m:sub>
                    </m:sSub>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𝑒</m:t>
                            </m:r>
                          </m:den>
                        </m:f>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den>
                    </m:f>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𝑑</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oMath>
                </a14:m>
                <a:r>
                  <a:rPr sz="2400" b="0">
                    <a:solidFill>
                      <a:srgbClr val="111827"/>
                    </a:solidFill>
                    <a:latin typeface="Arial"/>
                  </a:rPr>
                  <a:t> meets the axis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𝑑</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 fixed point.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$t_1=g_c\left(\frac{d}{e}t_4\right)=-\frac{c}{a}\cdot\frac{e}{d\,t_4}$</a:t>
                </a:r>
                <a:r>
                  <a:rPr sz="2400" b="0">
                    <a:solidFill>
                      <a:srgbClr val="111827"/>
                    </a:solidFill>
                    <a:latin typeface="Arial"/>
                  </a:rPr>
                  <a:t>, so </a:t>
                </a:r>
                <a:r>
                  <a:rPr lang="en-IN" sz="2400">
                    <a:solidFill>
                      <a:srgbClr val="111827"/>
                    </a:solidFill>
                    <a:latin typeface="Cambria Math" panose="02040503050406030204" pitchFamily="18" charset="0"/>
                  </a:rPr>
                  <a:t>$t_1t_4=-\frac{ce}{ad}$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$AD$</a:t>
                </a:r>
                <a:r>
                  <a:rPr sz="2400" b="0">
                    <a:solidFill>
                      <a:srgbClr val="111827"/>
                    </a:solidFill>
                    <a:latin typeface="Arial"/>
                  </a:rPr>
                  <a:t> meets the axis at </a:t>
                </a:r>
                <a:r>
                  <a:rPr lang="en-IN" sz="2400">
                    <a:solidFill>
                      <a:srgbClr val="111827"/>
                    </a:solidFill>
                    <a:latin typeface="Cambria Math" panose="02040503050406030204" pitchFamily="18" charset="0"/>
                  </a:rPr>
                  <a:t>$\left(-at_1t_4,0\right)=\left(\frac{ce}{d},0\right)$</a:t>
                </a:r>
                <a:r>
                  <a:rPr sz="2400" b="0">
                    <a:solidFill>
                      <a:srgbClr val="111827"/>
                    </a:solidFill>
                    <a:latin typeface="Arial"/>
                  </a:rPr>
                  <a:t>, a fixed point.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The fourth side passes through the fixed point </a:t>
                </a:r>
                <a14:m>
                  <m:oMath xmlns:m="http://schemas.openxmlformats.org/officeDocument/2006/math">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𝑐</m:t>
                            </m:r>
                            <m:r>
                              <a:rPr lang="en-IN" sz="2800" i="1">
                                <a:solidFill>
                                  <a:srgbClr val="15803D"/>
                                </a:solidFill>
                                <a:latin typeface="Cambria Math" panose="02040503050406030204" pitchFamily="18" charset="0"/>
                              </a:rPr>
                              <m:t>𝑒</m:t>
                            </m:r>
                          </m:num>
                          <m:den>
                            <m:r>
                              <a:rPr lang="en-IN" sz="2800" i="1">
                                <a:solidFill>
                                  <a:srgbClr val="15803D"/>
                                </a:solidFill>
                                <a:latin typeface="Cambria Math" panose="02040503050406030204" pitchFamily="18" charset="0"/>
                              </a:rPr>
                              <m:t>𝑑</m:t>
                            </m:r>
                          </m:den>
                        </m:f>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e>
                    </m:d>
                  </m:oMath>
                </a14:m>
                <a:r>
                  <a:rPr sz="2800" b="1">
                    <a:solidFill>
                      <a:srgbClr val="15803D"/>
                    </a:solidFill>
                    <a:latin typeface="Arial"/>
                  </a:rPr>
                  <a:t> on the axis</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The fourth side passes through the fixed point </a:t>
                </a:r>
                <a:r>
                  <a:rPr lang="en-IN" sz="2800">
                    <a:solidFill>
                      <a:srgbClr val="15803D"/>
                    </a:solidFill>
                    <a:latin typeface="Cambria Math" panose="02040503050406030204" pitchFamily="18" charset="0"/>
                  </a:rPr>
                  <a:t>$\left(\frac{ce}{d},0\right)$</a:t>
                </a:r>
                <a:r>
                  <a:rPr sz="2800" b="1">
                    <a:solidFill>
                      <a:srgbClr val="15803D"/>
                    </a:solidFill>
                    <a:latin typeface="Arial"/>
                  </a:rPr>
                  <a:t> on the axis</a:t>
                </a:r>
                <a:endParaRPr sz="2800">
                  <a:solidFill>
                    <a:srgbClr val="15803D"/>
                  </a:solidFill>
                </a:endParaRPr>
              </a:p>
            </p:txBody>
          </p:sp>
        </mc:Fallback>
      </mc:AlternateContent>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Chord through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meets the axis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it passes through a fixed axis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iff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map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den>
                    </m:f>
                  </m:oMath>
                </a14:m>
                <a:r>
                  <a:rPr sz="2400" b="0">
                    <a:solidFill>
                      <a:srgbClr val="111827"/>
                    </a:solidFill>
                    <a:latin typeface="Arial"/>
                  </a:rPr>
                  <a:t> is an involution; the composition of an odd number of such involutions is again an involution of the same kind.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quadrilateral with consecutive sides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fourth side passes through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𝑑</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(so for a cyclic order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oMath>
                </a14:m>
                <a:r>
                  <a:rPr sz="2400" b="0">
                    <a:solidFill>
                      <a:srgbClr val="111827"/>
                    </a:solidFill>
                    <a:latin typeface="Arial"/>
                  </a:rPr>
                  <a:t> the product rule is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3</m:t>
                            </m:r>
                          </m:sub>
                        </m:sSub>
                      </m:num>
                      <m:den>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Chord through the focus: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chord through the vertex: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(degenerate).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Chord through </a:t>
                </a:r>
                <a:r>
                  <a:rPr lang="en-IN" sz="2400">
                    <a:solidFill>
                      <a:srgbClr val="111827"/>
                    </a:solidFill>
                    <a:latin typeface="Cambria Math" panose="02040503050406030204" pitchFamily="18" charset="0"/>
                  </a:rPr>
                  <a:t>$t_1,t_2$</a:t>
                </a:r>
                <a:r>
                  <a:rPr sz="2400" b="0">
                    <a:solidFill>
                      <a:srgbClr val="111827"/>
                    </a:solidFill>
                    <a:latin typeface="Arial"/>
                  </a:rPr>
                  <a:t> of </a:t>
                </a:r>
                <a:r>
                  <a:rPr lang="en-IN" sz="2400">
                    <a:solidFill>
                      <a:srgbClr val="111827"/>
                    </a:solidFill>
                    <a:latin typeface="Cambria Math" panose="02040503050406030204" pitchFamily="18" charset="0"/>
                  </a:rPr>
                  <a:t>$y^2=4ax$</a:t>
                </a:r>
                <a:r>
                  <a:rPr sz="2400" b="0">
                    <a:solidFill>
                      <a:srgbClr val="111827"/>
                    </a:solidFill>
                    <a:latin typeface="Arial"/>
                  </a:rPr>
                  <a:t> meets the axis at </a:t>
                </a:r>
                <a:r>
                  <a:rPr lang="en-IN" sz="2400">
                    <a:solidFill>
                      <a:srgbClr val="111827"/>
                    </a:solidFill>
                    <a:latin typeface="Cambria Math" panose="02040503050406030204" pitchFamily="18" charset="0"/>
                  </a:rPr>
                  <a:t>$(-at_1t_2,0)$</a:t>
                </a:r>
                <a:r>
                  <a:rPr sz="2400" b="0">
                    <a:solidFill>
                      <a:srgbClr val="111827"/>
                    </a:solidFill>
                    <a:latin typeface="Arial"/>
                  </a:rPr>
                  <a:t>; it passes through a fixed axis point </a:t>
                </a:r>
                <a:r>
                  <a:rPr lang="en-IN" sz="2400">
                    <a:solidFill>
                      <a:srgbClr val="111827"/>
                    </a:solidFill>
                    <a:latin typeface="Cambria Math" panose="02040503050406030204" pitchFamily="18" charset="0"/>
                  </a:rPr>
                  <a:t>$(c,0)$</a:t>
                </a:r>
                <a:r>
                  <a:rPr sz="2400" b="0">
                    <a:solidFill>
                      <a:srgbClr val="111827"/>
                    </a:solidFill>
                    <a:latin typeface="Arial"/>
                  </a:rPr>
                  <a:t> iff </a:t>
                </a:r>
                <a:r>
                  <a:rPr lang="en-IN" sz="2400">
                    <a:solidFill>
                      <a:srgbClr val="111827"/>
                    </a:solidFill>
                    <a:latin typeface="Cambria Math" panose="02040503050406030204" pitchFamily="18" charset="0"/>
                  </a:rPr>
                  <a:t>$t_1t_2=-\frac ca$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map </a:t>
                </a:r>
                <a:r>
                  <a:rPr lang="en-IN" sz="2400">
                    <a:solidFill>
                      <a:srgbClr val="111827"/>
                    </a:solidFill>
                    <a:latin typeface="Cambria Math" panose="02040503050406030204" pitchFamily="18" charset="0"/>
                  </a:rPr>
                  <a:t>$t\mapsto-\frac{k}{at}$</a:t>
                </a:r>
                <a:r>
                  <a:rPr sz="2400" b="0">
                    <a:solidFill>
                      <a:srgbClr val="111827"/>
                    </a:solidFill>
                    <a:latin typeface="Arial"/>
                  </a:rPr>
                  <a:t> is an involution; the composition of an odd number of such involutions is again an involution of the same kind.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quadrilateral with consecutive sides through </a:t>
                </a:r>
                <a:r>
                  <a:rPr lang="en-IN" sz="2400">
                    <a:solidFill>
                      <a:srgbClr val="111827"/>
                    </a:solidFill>
                    <a:latin typeface="Cambria Math" panose="02040503050406030204" pitchFamily="18" charset="0"/>
                  </a:rPr>
                  <a:t>$(c,0),(d,0),(e,0)$</a:t>
                </a:r>
                <a:r>
                  <a:rPr sz="2400" b="0">
                    <a:solidFill>
                      <a:srgbClr val="111827"/>
                    </a:solidFill>
                    <a:latin typeface="Arial"/>
                  </a:rPr>
                  <a:t> the fourth side passes through </a:t>
                </a:r>
                <a:r>
                  <a:rPr lang="en-IN" sz="2400">
                    <a:solidFill>
                      <a:srgbClr val="111827"/>
                    </a:solidFill>
                    <a:latin typeface="Cambria Math" panose="02040503050406030204" pitchFamily="18" charset="0"/>
                  </a:rPr>
                  <a:t>$\left(\frac{ce}{d},0\right)$</a:t>
                </a:r>
                <a:r>
                  <a:rPr sz="2400" b="0">
                    <a:solidFill>
                      <a:srgbClr val="111827"/>
                    </a:solidFill>
                    <a:latin typeface="Arial"/>
                  </a:rPr>
                  <a:t> (so for a cyclic order </a:t>
                </a:r>
                <a:r>
                  <a:rPr lang="en-IN" sz="2400">
                    <a:solidFill>
                      <a:srgbClr val="111827"/>
                    </a:solidFill>
                    <a:latin typeface="Cambria Math" panose="02040503050406030204" pitchFamily="18" charset="0"/>
                  </a:rPr>
                  <a:t>$c,d,e$</a:t>
                </a:r>
                <a:r>
                  <a:rPr sz="2400" b="0">
                    <a:solidFill>
                      <a:srgbClr val="111827"/>
                    </a:solidFill>
                    <a:latin typeface="Arial"/>
                  </a:rPr>
                  <a:t> the product rule is </a:t>
                </a:r>
                <a:r>
                  <a:rPr lang="en-IN" sz="2400">
                    <a:solidFill>
                      <a:srgbClr val="111827"/>
                    </a:solidFill>
                    <a:latin typeface="Cambria Math" panose="02040503050406030204" pitchFamily="18" charset="0"/>
                  </a:rPr>
                  <a:t>$x_4=\frac{x_1x_3}{x_2}$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Chord through the focus: </a:t>
                </a:r>
                <a:r>
                  <a:rPr lang="en-IN" sz="2400">
                    <a:solidFill>
                      <a:srgbClr val="111827"/>
                    </a:solidFill>
                    <a:latin typeface="Cambria Math" panose="02040503050406030204" pitchFamily="18" charset="0"/>
                  </a:rPr>
                  <a:t>$t_1t_2=-1$</a:t>
                </a:r>
                <a:r>
                  <a:rPr sz="2400" b="0">
                    <a:solidFill>
                      <a:srgbClr val="111827"/>
                    </a:solidFill>
                    <a:latin typeface="Arial"/>
                  </a:rPr>
                  <a:t>; chord through the vertex: </a:t>
                </a:r>
                <a:r>
                  <a:rPr lang="en-IN" sz="2400">
                    <a:solidFill>
                      <a:srgbClr val="111827"/>
                    </a:solidFill>
                    <a:latin typeface="Cambria Math" panose="02040503050406030204" pitchFamily="18" charset="0"/>
                  </a:rPr>
                  <a:t>$t_1t_2=0$</a:t>
                </a:r>
                <a:r>
                  <a:rPr sz="2400" b="0">
                    <a:solidFill>
                      <a:srgbClr val="111827"/>
                    </a:solidFill>
                    <a:latin typeface="Arial"/>
                  </a:rPr>
                  <a:t> (degenerate).</a:t>
                </a:r>
                <a:endParaRPr sz="2400">
                  <a:solidFill>
                    <a:srgbClr val="111827"/>
                  </a:solidFill>
                </a:endParaRPr>
              </a:p>
            </p:txBody>
          </p:sp>
        </mc:Fallback>
      </mc:AlternateContent>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two points on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such that the normals at them meet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Find the product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𝑑</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$P(a,b)$</a:t>
                </a:r>
                <a:r>
                  <a:rPr sz="2400" b="0">
                    <a:solidFill>
                      <a:srgbClr val="111827"/>
                    </a:solidFill>
                    <a:latin typeface="Arial"/>
                  </a:rPr>
                  <a:t> and </a:t>
                </a:r>
                <a:r>
                  <a:rPr lang="en-IN" sz="2400">
                    <a:solidFill>
                      <a:srgbClr val="111827"/>
                    </a:solidFill>
                    <a:latin typeface="Cambria Math" panose="02040503050406030204" pitchFamily="18" charset="0"/>
                  </a:rPr>
                  <a:t>$Q(c,d)$</a:t>
                </a:r>
                <a:r>
                  <a:rPr sz="2400" b="0">
                    <a:solidFill>
                      <a:srgbClr val="111827"/>
                    </a:solidFill>
                    <a:latin typeface="Arial"/>
                  </a:rPr>
                  <a:t> be two points on the parabola </a:t>
                </a:r>
                <a:r>
                  <a:rPr lang="en-IN" sz="2400">
                    <a:solidFill>
                      <a:srgbClr val="111827"/>
                    </a:solidFill>
                    <a:latin typeface="Cambria Math" panose="02040503050406030204" pitchFamily="18" charset="0"/>
                  </a:rPr>
                  <a:t>$y^2=8x$</a:t>
                </a:r>
                <a:r>
                  <a:rPr sz="2400" b="0">
                    <a:solidFill>
                      <a:srgbClr val="111827"/>
                    </a:solidFill>
                    <a:latin typeface="Arial"/>
                  </a:rPr>
                  <a:t> such that the normals at them meet in </a:t>
                </a:r>
                <a:r>
                  <a:rPr lang="en-IN" sz="2400">
                    <a:solidFill>
                      <a:srgbClr val="111827"/>
                    </a:solidFill>
                    <a:latin typeface="Cambria Math" panose="02040503050406030204" pitchFamily="18" charset="0"/>
                  </a:rPr>
                  <a:t>$(18,12)$</a:t>
                </a:r>
                <a:r>
                  <a:rPr sz="2400" b="0">
                    <a:solidFill>
                      <a:srgbClr val="111827"/>
                    </a:solidFill>
                    <a:latin typeface="Arial"/>
                  </a:rPr>
                  <a:t>. Find the product </a:t>
                </a:r>
                <a:r>
                  <a:rPr lang="en-IN" sz="2400">
                    <a:solidFill>
                      <a:srgbClr val="111827"/>
                    </a:solidFill>
                    <a:latin typeface="Cambria Math" panose="02040503050406030204" pitchFamily="18" charset="0"/>
                  </a:rPr>
                  <a:t>$abcd$</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Normals to a parabola meeting on the curve, Foot parameters via Vieta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𝑅</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18</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12</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lies on the parabola, so the feet of the normals through it satisfy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combining with the intersection coordinates gives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$R(18,12)$</a:t>
                </a:r>
                <a:r>
                  <a:rPr sz="2400" b="0">
                    <a:solidFill>
                      <a:srgbClr val="78350F"/>
                    </a:solidFill>
                    <a:latin typeface="Arial"/>
                  </a:rPr>
                  <a:t> lies on the parabola, so the feet of the normals through it satisfy </a:t>
                </a:r>
                <a:r>
                  <a:rPr lang="en-IN" sz="2400">
                    <a:solidFill>
                      <a:srgbClr val="78350F"/>
                    </a:solidFill>
                    <a:latin typeface="Cambria Math" panose="02040503050406030204" pitchFamily="18" charset="0"/>
                  </a:rPr>
                  <a:t>$t_1t_2=2$</a:t>
                </a:r>
                <a:r>
                  <a:rPr sz="2400" b="0">
                    <a:solidFill>
                      <a:srgbClr val="78350F"/>
                    </a:solidFill>
                    <a:latin typeface="Arial"/>
                  </a:rPr>
                  <a:t>; combining with the intersection coordinates gives </a:t>
                </a:r>
                <a:r>
                  <a:rPr lang="en-IN" sz="2400">
                    <a:solidFill>
                      <a:srgbClr val="78350F"/>
                    </a:solidFill>
                    <a:latin typeface="Cambria Math" panose="02040503050406030204" pitchFamily="18" charset="0"/>
                  </a:rPr>
                  <a:t>$t_1+t_2=-3$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(in the formulas below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means this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not the abscissa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lies on the parabola (</a:t>
                </a:r>
                <a14:m>
                  <m:oMath xmlns:m="http://schemas.openxmlformats.org/officeDocument/2006/math">
                    <m:r>
                      <a:rPr lang="en-IN" sz="2400" i="1">
                        <a:solidFill>
                          <a:srgbClr val="111827"/>
                        </a:solidFill>
                        <a:latin typeface="Cambria Math" panose="02040503050406030204" pitchFamily="18" charset="0"/>
                      </a:rPr>
                      <m:t>144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the normals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meet on the parabola,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(both feet satisfy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𝑅</m:t>
                        </m:r>
                      </m:sub>
                    </m:sSub>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 of intersection of the normals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$y^2=8x$</a:t>
                </a:r>
                <a:r>
                  <a:rPr sz="2400" b="0">
                    <a:solidFill>
                      <a:srgbClr val="111827"/>
                    </a:solidFill>
                    <a:latin typeface="Arial"/>
                  </a:rPr>
                  <a:t> is </a:t>
                </a:r>
                <a:r>
                  <a:rPr lang="en-IN" sz="2400">
                    <a:solidFill>
                      <a:srgbClr val="111827"/>
                    </a:solidFill>
                    <a:latin typeface="Cambria Math" panose="02040503050406030204" pitchFamily="18" charset="0"/>
                  </a:rPr>
                  <a:t>$y^2=4ax$</a:t>
                </a:r>
                <a:r>
                  <a:rPr sz="2400" b="0">
                    <a:solidFill>
                      <a:srgbClr val="111827"/>
                    </a:solidFill>
                    <a:latin typeface="Arial"/>
                  </a:rPr>
                  <a:t> with </a:t>
                </a:r>
                <a:r>
                  <a:rPr lang="en-IN" sz="2400">
                    <a:solidFill>
                      <a:srgbClr val="111827"/>
                    </a:solidFill>
                    <a:latin typeface="Cambria Math" panose="02040503050406030204" pitchFamily="18" charset="0"/>
                  </a:rPr>
                  <a:t>$a=2$</a:t>
                </a:r>
                <a:r>
                  <a:rPr sz="2400" b="0">
                    <a:solidFill>
                      <a:srgbClr val="111827"/>
                    </a:solidFill>
                    <a:latin typeface="Arial"/>
                  </a:rPr>
                  <a:t> (in the formulas below </a:t>
                </a:r>
                <a:r>
                  <a:rPr lang="en-IN" sz="2400">
                    <a:solidFill>
                      <a:srgbClr val="111827"/>
                    </a:solidFill>
                    <a:latin typeface="Cambria Math" panose="02040503050406030204" pitchFamily="18" charset="0"/>
                  </a:rPr>
                  <a:t>$a$</a:t>
                </a:r>
                <a:r>
                  <a:rPr sz="2400" b="0">
                    <a:solidFill>
                      <a:srgbClr val="111827"/>
                    </a:solidFill>
                    <a:latin typeface="Arial"/>
                  </a:rPr>
                  <a:t> means this </a:t>
                </a:r>
                <a:r>
                  <a:rPr lang="en-IN" sz="2400">
                    <a:solidFill>
                      <a:srgbClr val="111827"/>
                    </a:solidFill>
                    <a:latin typeface="Cambria Math" panose="02040503050406030204" pitchFamily="18" charset="0"/>
                  </a:rPr>
                  <a:t>$2$</a:t>
                </a:r>
                <a:r>
                  <a:rPr sz="2400" b="0">
                    <a:solidFill>
                      <a:srgbClr val="111827"/>
                    </a:solidFill>
                    <a:latin typeface="Arial"/>
                  </a:rPr>
                  <a:t>, not the abscissa of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$R(18,12)$</a:t>
                </a:r>
                <a:r>
                  <a:rPr sz="2400" b="0">
                    <a:solidFill>
                      <a:srgbClr val="111827"/>
                    </a:solidFill>
                    <a:latin typeface="Arial"/>
                  </a:rPr>
                  <a:t> lies on the parabola (</a:t>
                </a:r>
                <a:r>
                  <a:rPr lang="en-IN" sz="2400">
                    <a:solidFill>
                      <a:srgbClr val="111827"/>
                    </a:solidFill>
                    <a:latin typeface="Cambria Math" panose="02040503050406030204" pitchFamily="18" charset="0"/>
                  </a:rPr>
                  <a:t>$144=8\times18$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the normals at </a:t>
                </a:r>
                <a:r>
                  <a:rPr lang="en-IN" sz="2400">
                    <a:solidFill>
                      <a:srgbClr val="111827"/>
                    </a:solidFill>
                    <a:latin typeface="Cambria Math" panose="02040503050406030204" pitchFamily="18" charset="0"/>
                  </a:rPr>
                  <a:t>$P(t_1)$</a:t>
                </a:r>
                <a:r>
                  <a:rPr sz="2400" b="0">
                    <a:solidFill>
                      <a:srgbClr val="111827"/>
                    </a:solidFill>
                    <a:latin typeface="Arial"/>
                  </a:rPr>
                  <a:t> and </a:t>
                </a:r>
                <a:r>
                  <a:rPr lang="en-IN" sz="2400">
                    <a:solidFill>
                      <a:srgbClr val="111827"/>
                    </a:solidFill>
                    <a:latin typeface="Cambria Math" panose="02040503050406030204" pitchFamily="18" charset="0"/>
                  </a:rPr>
                  <a:t>$Q(t_2)$</a:t>
                </a:r>
                <a:r>
                  <a:rPr sz="2400" b="0">
                    <a:solidFill>
                      <a:srgbClr val="111827"/>
                    </a:solidFill>
                    <a:latin typeface="Arial"/>
                  </a:rPr>
                  <a:t> meet on the parabola, </a:t>
                </a:r>
                <a:r>
                  <a:rPr lang="en-IN" sz="2400">
                    <a:solidFill>
                      <a:srgbClr val="111827"/>
                    </a:solidFill>
                    <a:latin typeface="Cambria Math" panose="02040503050406030204" pitchFamily="18" charset="0"/>
                  </a:rPr>
                  <a:t>$t_1t_2=2$</a:t>
                </a:r>
                <a:r>
                  <a:rPr sz="2400" b="0">
                    <a:solidFill>
                      <a:srgbClr val="111827"/>
                    </a:solidFill>
                    <a:latin typeface="Arial"/>
                  </a:rPr>
                  <a:t> (both feet satisfy </a:t>
                </a:r>
                <a:r>
                  <a:rPr lang="en-IN" sz="2400">
                    <a:solidFill>
                      <a:srgbClr val="111827"/>
                    </a:solidFill>
                    <a:latin typeface="Cambria Math" panose="02040503050406030204" pitchFamily="18" charset="0"/>
                  </a:rPr>
                  <a:t>$t^2+t_Rt+2=0$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 of intersection of the normals at </a:t>
                </a:r>
                <a:r>
                  <a:rPr lang="en-IN" sz="2400">
                    <a:solidFill>
                      <a:srgbClr val="111827"/>
                    </a:solidFill>
                    <a:latin typeface="Cambria Math" panose="02040503050406030204" pitchFamily="18" charset="0"/>
                  </a:rPr>
                  <a:t>$t_1,t_2$</a:t>
                </a:r>
                <a:r>
                  <a:rPr sz="2400" b="0">
                    <a:solidFill>
                      <a:srgbClr val="111827"/>
                    </a:solidFill>
                    <a:latin typeface="Arial"/>
                  </a:rPr>
                  <a:t> is </a:t>
                </a:r>
                <a:r>
                  <a:rPr lang="en-IN" sz="2400">
                    <a:solidFill>
                      <a:srgbClr val="111827"/>
                    </a:solidFill>
                    <a:latin typeface="Cambria Math" panose="02040503050406030204" pitchFamily="18" charset="0"/>
                  </a:rPr>
                  <a:t>$\left(a(t_1^2+t_2^2+t_1t_2+2),\ -at_1t_2(t_1+t_2)\right)$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Equating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 ....(1)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 so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(2):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roots of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Equating to </a:t>
                </a:r>
                <a:r>
                  <a:rPr lang="en-IN" sz="2400">
                    <a:solidFill>
                      <a:srgbClr val="111827"/>
                    </a:solidFill>
                    <a:latin typeface="Cambria Math" panose="02040503050406030204" pitchFamily="18" charset="0"/>
                  </a:rPr>
                  <a:t>$(18,12)$</a:t>
                </a:r>
                <a:r>
                  <a:rPr sz="2400" b="0">
                    <a:solidFill>
                      <a:srgbClr val="111827"/>
                    </a:solidFill>
                    <a:latin typeface="Arial"/>
                  </a:rPr>
                  <a:t>: </a:t>
                </a:r>
                <a:r>
                  <a:rPr lang="en-IN" sz="2400">
                    <a:solidFill>
                      <a:srgbClr val="111827"/>
                    </a:solidFill>
                    <a:latin typeface="Cambria Math" panose="02040503050406030204" pitchFamily="18" charset="0"/>
                  </a:rPr>
                  <a:t>$a(t_1^2+t_2^2+t_1t_2+2)=18$</a:t>
                </a:r>
                <a:r>
                  <a:rPr sz="2400" b="0">
                    <a:solidFill>
                      <a:srgbClr val="111827"/>
                    </a:solidFill>
                    <a:latin typeface="Arial"/>
                  </a:rPr>
                  <a:t> ....(1) and </a:t>
                </a:r>
                <a:r>
                  <a:rPr lang="en-IN" sz="2400">
                    <a:solidFill>
                      <a:srgbClr val="111827"/>
                    </a:solidFill>
                    <a:latin typeface="Cambria Math" panose="02040503050406030204" pitchFamily="18" charset="0"/>
                  </a:rPr>
                  <a:t>$-at_1t_2(t_1+t_2)=12$</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with </a:t>
                </a:r>
                <a:r>
                  <a:rPr lang="en-IN" sz="2400">
                    <a:solidFill>
                      <a:srgbClr val="111827"/>
                    </a:solidFill>
                    <a:latin typeface="Cambria Math" panose="02040503050406030204" pitchFamily="18" charset="0"/>
                  </a:rPr>
                  <a:t>$a=2$</a:t>
                </a:r>
                <a:r>
                  <a:rPr sz="2400" b="0">
                    <a:solidFill>
                      <a:srgbClr val="111827"/>
                    </a:solidFill>
                    <a:latin typeface="Arial"/>
                  </a:rPr>
                  <a:t>, </a:t>
                </a:r>
                <a:r>
                  <a:rPr lang="en-IN" sz="2400">
                    <a:solidFill>
                      <a:srgbClr val="111827"/>
                    </a:solidFill>
                    <a:latin typeface="Cambria Math" panose="02040503050406030204" pitchFamily="18" charset="0"/>
                  </a:rPr>
                  <a:t>$t_1t_2=2$</a:t>
                </a:r>
                <a:r>
                  <a:rPr sz="2400" b="0">
                    <a:solidFill>
                      <a:srgbClr val="111827"/>
                    </a:solidFill>
                    <a:latin typeface="Arial"/>
                  </a:rPr>
                  <a:t>: </a:t>
                </a:r>
                <a:r>
                  <a:rPr lang="en-IN" sz="2400">
                    <a:solidFill>
                      <a:srgbClr val="111827"/>
                    </a:solidFill>
                    <a:latin typeface="Cambria Math" panose="02040503050406030204" pitchFamily="18" charset="0"/>
                  </a:rPr>
                  <a:t>$2(t_1^2+t_2^2+4)=18$</a:t>
                </a:r>
                <a:r>
                  <a:rPr sz="2400" b="0">
                    <a:solidFill>
                      <a:srgbClr val="111827"/>
                    </a:solidFill>
                    <a:latin typeface="Arial"/>
                  </a:rPr>
                  <a:t>, so </a:t>
                </a:r>
                <a:r>
                  <a:rPr lang="en-IN" sz="2400">
                    <a:solidFill>
                      <a:srgbClr val="111827"/>
                    </a:solidFill>
                    <a:latin typeface="Cambria Math" panose="02040503050406030204" pitchFamily="18" charset="0"/>
                  </a:rPr>
                  <a:t>$t_1^2+t_2^2=5$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(2): </a:t>
                </a:r>
                <a:r>
                  <a:rPr lang="en-IN" sz="2400">
                    <a:solidFill>
                      <a:srgbClr val="111827"/>
                    </a:solidFill>
                    <a:latin typeface="Cambria Math" panose="02040503050406030204" pitchFamily="18" charset="0"/>
                  </a:rPr>
                  <a:t>$-4(t_1+t_2)=12$</a:t>
                </a:r>
                <a:r>
                  <a:rPr sz="2400" b="0">
                    <a:solidFill>
                      <a:srgbClr val="111827"/>
                    </a:solidFill>
                    <a:latin typeface="Arial"/>
                  </a:rPr>
                  <a:t>, so </a:t>
                </a:r>
                <a:r>
                  <a:rPr lang="en-IN" sz="2400">
                    <a:solidFill>
                      <a:srgbClr val="111827"/>
                    </a:solidFill>
                    <a:latin typeface="Cambria Math" panose="02040503050406030204" pitchFamily="18" charset="0"/>
                  </a:rPr>
                  <a:t>$t_1+t_2=-3$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$t_1,t_2$</a:t>
                </a:r>
                <a:r>
                  <a:rPr sz="2400" b="0">
                    <a:solidFill>
                      <a:srgbClr val="111827"/>
                    </a:solidFill>
                    <a:latin typeface="Arial"/>
                  </a:rPr>
                  <a:t> are roots of </a:t>
                </a:r>
                <a:r>
                  <a:rPr lang="en-IN" sz="2400">
                    <a:solidFill>
                      <a:srgbClr val="111827"/>
                    </a:solidFill>
                    <a:latin typeface="Cambria Math" panose="02040503050406030204" pitchFamily="18" charset="0"/>
                  </a:rPr>
                  <a:t>$t^2+3t+2=0$</a:t>
                </a:r>
                <a:r>
                  <a:rPr sz="2400" b="0">
                    <a:solidFill>
                      <a:srgbClr val="111827"/>
                    </a:solidFill>
                    <a:latin typeface="Arial"/>
                  </a:rPr>
                  <a:t>: </a:t>
                </a:r>
                <a:r>
                  <a:rPr lang="en-IN" sz="2400">
                    <a:solidFill>
                      <a:srgbClr val="111827"/>
                    </a:solidFill>
                    <a:latin typeface="Cambria Math" panose="02040503050406030204" pitchFamily="18" charset="0"/>
                  </a:rPr>
                  <a:t>$t_1=-1$</a:t>
                </a:r>
                <a:r>
                  <a:rPr sz="2400" b="0">
                    <a:solidFill>
                      <a:srgbClr val="111827"/>
                    </a:solidFill>
                    <a:latin typeface="Arial"/>
                  </a:rPr>
                  <a:t>, </a:t>
                </a:r>
                <a:r>
                  <a:rPr lang="en-IN" sz="2400">
                    <a:solidFill>
                      <a:srgbClr val="111827"/>
                    </a:solidFill>
                    <a:latin typeface="Cambria Math" panose="02040503050406030204" pitchFamily="18" charset="0"/>
                  </a:rPr>
                  <a:t>$t_2=-2$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$P\equiv(2(-1)^2,\ 2\cdot2\cdot(-1))=(2,-4)$</a:t>
                </a:r>
                <a:r>
                  <a:rPr sz="2400" b="0">
                    <a:solidFill>
                      <a:srgbClr val="111827"/>
                    </a:solidFill>
                    <a:latin typeface="Arial"/>
                  </a:rPr>
                  <a:t> and </a:t>
                </a:r>
                <a:r>
                  <a:rPr lang="en-IN" sz="2400">
                    <a:solidFill>
                      <a:srgbClr val="111827"/>
                    </a:solidFill>
                    <a:latin typeface="Cambria Math" panose="02040503050406030204" pitchFamily="18" charset="0"/>
                  </a:rPr>
                  <a:t>$Q\equiv(2\cdot4,\ 2\cdot2\cdot(-2))=(8,-8)$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$abcd=2\times(-4)\times8\times(-8)=512$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512</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$512$</a:t>
                </a:r>
                <a:endParaRPr sz="2800">
                  <a:solidFill>
                    <a:srgbClr val="15803D"/>
                  </a:solidFill>
                </a:endParaRPr>
              </a:p>
            </p:txBody>
          </p:sp>
        </mc:Fallback>
      </mc:AlternateContent>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a:t>
                </a:r>
                <a14:m>
                  <m:oMath xmlns:m="http://schemas.openxmlformats.org/officeDocument/2006/math">
                    <m:r>
                      <a:rPr lang="en-IN" sz="2400" i="1">
                        <a:solidFill>
                          <a:srgbClr val="78350F"/>
                        </a:solidFill>
                        <a:latin typeface="Cambria Math" panose="02040503050406030204" pitchFamily="18" charset="0"/>
                      </a:rPr>
                      <m:t>𝑅</m:t>
                    </m:r>
                  </m:oMath>
                </a14:m>
                <a:r>
                  <a:rPr sz="2400" b="0">
                    <a:solidFill>
                      <a:srgbClr val="78350F"/>
                    </a:solidFill>
                    <a:latin typeface="Arial"/>
                  </a:rPr>
                  <a:t> as the parameter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3</m:t>
                        </m:r>
                      </m:sub>
                    </m:sSub>
                  </m:oMath>
                </a14:m>
                <a:r>
                  <a:rPr sz="2400" b="0">
                    <a:solidFill>
                      <a:srgbClr val="78350F"/>
                    </a:solidFill>
                    <a:latin typeface="Arial"/>
                  </a:rPr>
                  <a:t>: the normal at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through </a:t>
                </a:r>
                <a14:m>
                  <m:oMath xmlns:m="http://schemas.openxmlformats.org/officeDocument/2006/math">
                    <m:r>
                      <a:rPr lang="en-IN" sz="2400" i="1">
                        <a:solidFill>
                          <a:srgbClr val="78350F"/>
                        </a:solidFill>
                        <a:latin typeface="Cambria Math" panose="02040503050406030204" pitchFamily="18" charset="0"/>
                      </a:rPr>
                      <m:t>𝑅</m:t>
                    </m:r>
                  </m:oMath>
                </a14:m>
                <a:r>
                  <a:rPr sz="2400" b="0">
                    <a:solidFill>
                      <a:srgbClr val="78350F"/>
                    </a:solidFill>
                    <a:latin typeface="Arial"/>
                  </a:rPr>
                  <a:t> gives </a:t>
                </a:r>
                <a14:m>
                  <m:oMath xmlns:m="http://schemas.openxmlformats.org/officeDocument/2006/math">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3</m:t>
                        </m:r>
                      </m:sub>
                    </m:sSub>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whose two roots are the parameters of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 no need for the intersection formula.</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a:t>
                </a:r>
                <a:r>
                  <a:rPr lang="en-IN" sz="2400">
                    <a:solidFill>
                      <a:srgbClr val="78350F"/>
                    </a:solidFill>
                    <a:latin typeface="Cambria Math" panose="02040503050406030204" pitchFamily="18" charset="0"/>
                  </a:rPr>
                  <a:t>$R$</a:t>
                </a:r>
                <a:r>
                  <a:rPr sz="2400" b="0">
                    <a:solidFill>
                      <a:srgbClr val="78350F"/>
                    </a:solidFill>
                    <a:latin typeface="Arial"/>
                  </a:rPr>
                  <a:t> as the parameter </a:t>
                </a:r>
                <a:r>
                  <a:rPr lang="en-IN" sz="2400">
                    <a:solidFill>
                      <a:srgbClr val="78350F"/>
                    </a:solidFill>
                    <a:latin typeface="Cambria Math" panose="02040503050406030204" pitchFamily="18" charset="0"/>
                  </a:rPr>
                  <a:t>$t_3$</a:t>
                </a:r>
                <a:r>
                  <a:rPr sz="2400" b="0">
                    <a:solidFill>
                      <a:srgbClr val="78350F"/>
                    </a:solidFill>
                    <a:latin typeface="Arial"/>
                  </a:rPr>
                  <a:t>: the normal at </a:t>
                </a:r>
                <a:r>
                  <a:rPr lang="en-IN" sz="2400">
                    <a:solidFill>
                      <a:srgbClr val="78350F"/>
                    </a:solidFill>
                    <a:latin typeface="Cambria Math" panose="02040503050406030204" pitchFamily="18" charset="0"/>
                  </a:rPr>
                  <a:t>$P$</a:t>
                </a:r>
                <a:r>
                  <a:rPr sz="2400" b="0">
                    <a:solidFill>
                      <a:srgbClr val="78350F"/>
                    </a:solidFill>
                    <a:latin typeface="Arial"/>
                  </a:rPr>
                  <a:t> through </a:t>
                </a:r>
                <a:r>
                  <a:rPr lang="en-IN" sz="2400">
                    <a:solidFill>
                      <a:srgbClr val="78350F"/>
                    </a:solidFill>
                    <a:latin typeface="Cambria Math" panose="02040503050406030204" pitchFamily="18" charset="0"/>
                  </a:rPr>
                  <a:t>$R$</a:t>
                </a:r>
                <a:r>
                  <a:rPr sz="2400" b="0">
                    <a:solidFill>
                      <a:srgbClr val="78350F"/>
                    </a:solidFill>
                    <a:latin typeface="Arial"/>
                  </a:rPr>
                  <a:t> gives </a:t>
                </a:r>
                <a:r>
                  <a:rPr lang="en-IN" sz="2400">
                    <a:solidFill>
                      <a:srgbClr val="78350F"/>
                    </a:solidFill>
                    <a:latin typeface="Cambria Math" panose="02040503050406030204" pitchFamily="18" charset="0"/>
                  </a:rPr>
                  <a:t>$t^2+t_3t+2=0$</a:t>
                </a:r>
                <a:r>
                  <a:rPr sz="2400" b="0">
                    <a:solidFill>
                      <a:srgbClr val="78350F"/>
                    </a:solidFill>
                    <a:latin typeface="Arial"/>
                  </a:rPr>
                  <a:t>, whose two roots are the parameters of </a:t>
                </a:r>
                <a:r>
                  <a:rPr lang="en-IN" sz="2400">
                    <a:solidFill>
                      <a:srgbClr val="78350F"/>
                    </a:solidFill>
                    <a:latin typeface="Cambria Math" panose="02040503050406030204" pitchFamily="18" charset="0"/>
                  </a:rPr>
                  <a:t>$P$</a:t>
                </a:r>
                <a:r>
                  <a:rPr sz="2400" b="0">
                    <a:solidFill>
                      <a:srgbClr val="78350F"/>
                    </a:solidFill>
                    <a:latin typeface="Arial"/>
                  </a:rPr>
                  <a:t> and </a:t>
                </a:r>
                <a:r>
                  <a:rPr lang="en-IN" sz="2400">
                    <a:solidFill>
                      <a:srgbClr val="78350F"/>
                    </a:solidFill>
                    <a:latin typeface="Cambria Math" panose="02040503050406030204" pitchFamily="18" charset="0"/>
                  </a:rPr>
                  <a:t>$Q$</a:t>
                </a:r>
                <a:r>
                  <a:rPr sz="2400" b="0">
                    <a:solidFill>
                      <a:srgbClr val="78350F"/>
                    </a:solidFill>
                    <a:latin typeface="Arial"/>
                  </a:rPr>
                  <a:t> - no need for the intersection formula.</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at the point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meets the parabola again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𝑡</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this second point is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𝑡</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these are the parameters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$R=(2t_3^2,\ 4t_3)=(18,12)$</a:t>
                </a:r>
                <a:r>
                  <a:rPr sz="2400" b="0">
                    <a:solidFill>
                      <a:srgbClr val="111827"/>
                    </a:solidFill>
                    <a:latin typeface="Arial"/>
                  </a:rPr>
                  <a:t> gives </a:t>
                </a:r>
                <a:r>
                  <a:rPr lang="en-IN" sz="2400">
                    <a:solidFill>
                      <a:srgbClr val="111827"/>
                    </a:solidFill>
                    <a:latin typeface="Cambria Math" panose="02040503050406030204" pitchFamily="18" charset="0"/>
                  </a:rPr>
                  <a:t>$t_3=3$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at the point </a:t>
                </a:r>
                <a:r>
                  <a:rPr lang="en-IN" sz="2400">
                    <a:solidFill>
                      <a:srgbClr val="111827"/>
                    </a:solidFill>
                    <a:latin typeface="Cambria Math" panose="02040503050406030204" pitchFamily="18" charset="0"/>
                  </a:rPr>
                  <a:t>$t$</a:t>
                </a:r>
                <a:r>
                  <a:rPr sz="2400" b="0">
                    <a:solidFill>
                      <a:srgbClr val="111827"/>
                    </a:solidFill>
                    <a:latin typeface="Arial"/>
                  </a:rPr>
                  <a:t> meets the parabola again at </a:t>
                </a:r>
                <a:r>
                  <a:rPr lang="en-IN" sz="2400">
                    <a:solidFill>
                      <a:srgbClr val="111827"/>
                    </a:solidFill>
                    <a:latin typeface="Cambria Math" panose="02040503050406030204" pitchFamily="18" charset="0"/>
                  </a:rPr>
                  <a:t>$-t-\frac2t$</a:t>
                </a:r>
                <a:r>
                  <a:rPr sz="2400" b="0">
                    <a:solidFill>
                      <a:srgbClr val="111827"/>
                    </a:solidFill>
                    <a:latin typeface="Arial"/>
                  </a:rPr>
                  <a:t>. For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this second point is </a:t>
                </a:r>
                <a:r>
                  <a:rPr lang="en-IN" sz="2400">
                    <a:solidFill>
                      <a:srgbClr val="111827"/>
                    </a:solidFill>
                    <a:latin typeface="Cambria Math" panose="02040503050406030204" pitchFamily="18" charset="0"/>
                  </a:rPr>
                  <a:t>$R$</a:t>
                </a:r>
                <a:r>
                  <a:rPr sz="2400" b="0">
                    <a:solidFill>
                      <a:srgbClr val="111827"/>
                    </a:solidFill>
                    <a:latin typeface="Arial"/>
                  </a:rPr>
                  <a:t>: </a:t>
                </a:r>
                <a:r>
                  <a:rPr lang="en-IN" sz="2400">
                    <a:solidFill>
                      <a:srgbClr val="111827"/>
                    </a:solidFill>
                    <a:latin typeface="Cambria Math" panose="02040503050406030204" pitchFamily="18" charset="0"/>
                  </a:rPr>
                  <a:t>$-t-\frac2t=3$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$t^2+3t+2=0$</a:t>
                </a:r>
                <a:r>
                  <a:rPr sz="2400" b="0">
                    <a:solidFill>
                      <a:srgbClr val="111827"/>
                    </a:solidFill>
                    <a:latin typeface="Arial"/>
                  </a:rPr>
                  <a:t>, i.e. </a:t>
                </a:r>
                <a:r>
                  <a:rPr lang="en-IN" sz="2400">
                    <a:solidFill>
                      <a:srgbClr val="111827"/>
                    </a:solidFill>
                    <a:latin typeface="Cambria Math" panose="02040503050406030204" pitchFamily="18" charset="0"/>
                  </a:rPr>
                  <a:t>$t=-1$</a:t>
                </a:r>
                <a:r>
                  <a:rPr sz="2400" b="0">
                    <a:solidFill>
                      <a:srgbClr val="111827"/>
                    </a:solidFill>
                    <a:latin typeface="Arial"/>
                  </a:rPr>
                  <a:t> or </a:t>
                </a:r>
                <a:r>
                  <a:rPr lang="en-IN" sz="2400">
                    <a:solidFill>
                      <a:srgbClr val="111827"/>
                    </a:solidFill>
                    <a:latin typeface="Cambria Math" panose="02040503050406030204" pitchFamily="18" charset="0"/>
                  </a:rPr>
                  <a:t>$t=-2$</a:t>
                </a:r>
                <a:r>
                  <a:rPr sz="2400" b="0">
                    <a:solidFill>
                      <a:srgbClr val="111827"/>
                    </a:solidFill>
                    <a:latin typeface="Arial"/>
                  </a:rPr>
                  <a:t>: these are the parameters of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$P=(2,-4)$</a:t>
                </a:r>
                <a:r>
                  <a:rPr sz="2400" b="0">
                    <a:solidFill>
                      <a:srgbClr val="111827"/>
                    </a:solidFill>
                    <a:latin typeface="Arial"/>
                  </a:rPr>
                  <a:t> and </a:t>
                </a:r>
                <a:r>
                  <a:rPr lang="en-IN" sz="2400">
                    <a:solidFill>
                      <a:srgbClr val="111827"/>
                    </a:solidFill>
                    <a:latin typeface="Cambria Math" panose="02040503050406030204" pitchFamily="18" charset="0"/>
                  </a:rPr>
                  <a:t>$Q=(8,-8)$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$abcd=2\cdot(-4)\cdot8\cdot(-8)=512$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512</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$512$</a:t>
                </a:r>
                <a:endParaRPr sz="2800">
                  <a:solidFill>
                    <a:srgbClr val="15803D"/>
                  </a:solidFill>
                </a:endParaRPr>
              </a:p>
            </p:txBody>
          </p:sp>
        </mc:Fallback>
      </mc:AlternateContent>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meets the parabola again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𝑡</m:t>
                        </m:r>
                      </m:den>
                    </m:f>
                  </m:oMath>
                </a14:m>
                <a:r>
                  <a:rPr sz="2400" b="0">
                    <a:solidFill>
                      <a:srgbClr val="111827"/>
                    </a:solidFill>
                    <a:latin typeface="Arial"/>
                  </a:rPr>
                  <a:t>, i.e. normals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meet on the curve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iff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the roots of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meet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Three normals from a point are concurrent iff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here the third foot is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itself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feet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are negative, so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lie below the axis: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$t$</a:t>
                </a:r>
                <a:r>
                  <a:rPr sz="2400" b="0">
                    <a:solidFill>
                      <a:srgbClr val="111827"/>
                    </a:solidFill>
                    <a:latin typeface="Arial"/>
                  </a:rPr>
                  <a:t> meets the parabola again at </a:t>
                </a:r>
                <a:r>
                  <a:rPr lang="en-IN" sz="2400">
                    <a:solidFill>
                      <a:srgbClr val="111827"/>
                    </a:solidFill>
                    <a:latin typeface="Cambria Math" panose="02040503050406030204" pitchFamily="18" charset="0"/>
                  </a:rPr>
                  <a:t>$-t-\frac2t$</a:t>
                </a:r>
                <a:r>
                  <a:rPr sz="2400" b="0">
                    <a:solidFill>
                      <a:srgbClr val="111827"/>
                    </a:solidFill>
                    <a:latin typeface="Arial"/>
                  </a:rPr>
                  <a:t>, i.e. normals at </a:t>
                </a:r>
                <a:r>
                  <a:rPr lang="en-IN" sz="2400">
                    <a:solidFill>
                      <a:srgbClr val="111827"/>
                    </a:solidFill>
                    <a:latin typeface="Cambria Math" panose="02040503050406030204" pitchFamily="18" charset="0"/>
                  </a:rPr>
                  <a:t>$t_1,t_2$</a:t>
                </a:r>
                <a:r>
                  <a:rPr sz="2400" b="0">
                    <a:solidFill>
                      <a:srgbClr val="111827"/>
                    </a:solidFill>
                    <a:latin typeface="Arial"/>
                  </a:rPr>
                  <a:t> meet on the curve at </a:t>
                </a:r>
                <a:r>
                  <a:rPr lang="en-IN" sz="2400">
                    <a:solidFill>
                      <a:srgbClr val="111827"/>
                    </a:solidFill>
                    <a:latin typeface="Cambria Math" panose="02040503050406030204" pitchFamily="18" charset="0"/>
                  </a:rPr>
                  <a:t>$t_3$</a:t>
                </a:r>
                <a:r>
                  <a:rPr sz="2400" b="0">
                    <a:solidFill>
                      <a:srgbClr val="111827"/>
                    </a:solidFill>
                    <a:latin typeface="Arial"/>
                  </a:rPr>
                  <a:t> iff </a:t>
                </a:r>
                <a:r>
                  <a:rPr lang="en-IN" sz="2400">
                    <a:solidFill>
                      <a:srgbClr val="111827"/>
                    </a:solidFill>
                    <a:latin typeface="Cambria Math" panose="02040503050406030204" pitchFamily="18" charset="0"/>
                  </a:rPr>
                  <a:t>$t_1,t_2$</a:t>
                </a:r>
                <a:r>
                  <a:rPr sz="2400" b="0">
                    <a:solidFill>
                      <a:srgbClr val="111827"/>
                    </a:solidFill>
                    <a:latin typeface="Arial"/>
                  </a:rPr>
                  <a:t> are the roots of </a:t>
                </a:r>
                <a:r>
                  <a:rPr lang="en-IN" sz="2400">
                    <a:solidFill>
                      <a:srgbClr val="111827"/>
                    </a:solidFill>
                    <a:latin typeface="Cambria Math" panose="02040503050406030204" pitchFamily="18" charset="0"/>
                  </a:rPr>
                  <a:t>$t^2+t_3t+2=0$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Normals at </a:t>
                </a:r>
                <a:r>
                  <a:rPr lang="en-IN" sz="2400">
                    <a:solidFill>
                      <a:srgbClr val="111827"/>
                    </a:solidFill>
                    <a:latin typeface="Cambria Math" panose="02040503050406030204" pitchFamily="18" charset="0"/>
                  </a:rPr>
                  <a:t>$t_1,t_2$</a:t>
                </a:r>
                <a:r>
                  <a:rPr sz="2400" b="0">
                    <a:solidFill>
                      <a:srgbClr val="111827"/>
                    </a:solidFill>
                    <a:latin typeface="Arial"/>
                  </a:rPr>
                  <a:t> of </a:t>
                </a:r>
                <a:r>
                  <a:rPr lang="en-IN" sz="2400">
                    <a:solidFill>
                      <a:srgbClr val="111827"/>
                    </a:solidFill>
                    <a:latin typeface="Cambria Math" panose="02040503050406030204" pitchFamily="18" charset="0"/>
                  </a:rPr>
                  <a:t>$y^2=4ax$</a:t>
                </a:r>
                <a:r>
                  <a:rPr sz="2400" b="0">
                    <a:solidFill>
                      <a:srgbClr val="111827"/>
                    </a:solidFill>
                    <a:latin typeface="Arial"/>
                  </a:rPr>
                  <a:t> meet at </a:t>
                </a:r>
                <a:r>
                  <a:rPr lang="en-IN" sz="2400">
                    <a:solidFill>
                      <a:srgbClr val="111827"/>
                    </a:solidFill>
                    <a:latin typeface="Cambria Math" panose="02040503050406030204" pitchFamily="18" charset="0"/>
                  </a:rPr>
                  <a:t>$\left(a(t_1^2+t_2^2+t_1t_2+2),\ -at_1t_2(t_1+t_2)\right)$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Three normals from a point are concurrent iff </a:t>
                </a:r>
                <a:r>
                  <a:rPr lang="en-IN" sz="2400">
                    <a:solidFill>
                      <a:srgbClr val="111827"/>
                    </a:solidFill>
                    <a:latin typeface="Cambria Math" panose="02040503050406030204" pitchFamily="18" charset="0"/>
                  </a:rPr>
                  <a:t>$t_1+t_2+t_3=0$</a:t>
                </a:r>
                <a:r>
                  <a:rPr sz="2400" b="0">
                    <a:solidFill>
                      <a:srgbClr val="111827"/>
                    </a:solidFill>
                    <a:latin typeface="Arial"/>
                  </a:rPr>
                  <a:t>; here the third foot is </a:t>
                </a:r>
                <a:r>
                  <a:rPr lang="en-IN" sz="2400">
                    <a:solidFill>
                      <a:srgbClr val="111827"/>
                    </a:solidFill>
                    <a:latin typeface="Cambria Math" panose="02040503050406030204" pitchFamily="18" charset="0"/>
                  </a:rPr>
                  <a:t>$R$</a:t>
                </a:r>
                <a:r>
                  <a:rPr sz="2400" b="0">
                    <a:solidFill>
                      <a:srgbClr val="111827"/>
                    </a:solidFill>
                    <a:latin typeface="Arial"/>
                  </a:rPr>
                  <a:t> itself (</a:t>
                </a:r>
                <a:r>
                  <a:rPr lang="en-IN" sz="2400">
                    <a:solidFill>
                      <a:srgbClr val="111827"/>
                    </a:solidFill>
                    <a:latin typeface="Cambria Math" panose="02040503050406030204" pitchFamily="18" charset="0"/>
                  </a:rPr>
                  <a:t>$t_3=3=-(t_1+t_2)$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feet </a:t>
                </a:r>
                <a:r>
                  <a:rPr lang="en-IN" sz="2400">
                    <a:solidFill>
                      <a:srgbClr val="111827"/>
                    </a:solidFill>
                    <a:latin typeface="Cambria Math" panose="02040503050406030204" pitchFamily="18" charset="0"/>
                  </a:rPr>
                  <a:t>$t=-1,-2$</a:t>
                </a:r>
                <a:r>
                  <a:rPr sz="2400" b="0">
                    <a:solidFill>
                      <a:srgbClr val="111827"/>
                    </a:solidFill>
                    <a:latin typeface="Arial"/>
                  </a:rPr>
                  <a:t> are negative, so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lie below the axis: </a:t>
                </a:r>
                <a:r>
                  <a:rPr lang="en-IN" sz="2400">
                    <a:solidFill>
                      <a:srgbClr val="111827"/>
                    </a:solidFill>
                    <a:latin typeface="Cambria Math" panose="02040503050406030204" pitchFamily="18" charset="0"/>
                  </a:rPr>
                  <a:t>$b,d&lt;0$</a:t>
                </a:r>
                <a:r>
                  <a:rPr sz="2400" b="0">
                    <a:solidFill>
                      <a:srgbClr val="111827"/>
                    </a:solidFill>
                    <a:latin typeface="Arial"/>
                  </a:rPr>
                  <a:t> and </a:t>
                </a:r>
                <a:r>
                  <a:rPr lang="en-IN" sz="2400">
                    <a:solidFill>
                      <a:srgbClr val="111827"/>
                    </a:solidFill>
                    <a:latin typeface="Cambria Math" panose="02040503050406030204" pitchFamily="18" charset="0"/>
                  </a:rPr>
                  <a:t>$abcd&gt;0$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fixed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touches a variable parabola. Find the equation to the locus of the vertex of the variable parabola. Assume that the two parabolas are equal and the axis of the variable parabola remains parallel to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fixed parabola </a:t>
                </a:r>
                <a:r>
                  <a:rPr lang="en-IN" sz="2400">
                    <a:solidFill>
                      <a:srgbClr val="111827"/>
                    </a:solidFill>
                    <a:latin typeface="Cambria Math" panose="02040503050406030204" pitchFamily="18" charset="0"/>
                  </a:rPr>
                  <a:t>$y^2=4ax$</a:t>
                </a:r>
                <a:r>
                  <a:rPr sz="2400" b="0">
                    <a:solidFill>
                      <a:srgbClr val="111827"/>
                    </a:solidFill>
                    <a:latin typeface="Arial"/>
                  </a:rPr>
                  <a:t> touches a variable parabola. Find the equation to the locus of the vertex of the variable parabola. Assume that the two parabolas are equal and the axis of the variable parabola remains parallel to the </a:t>
                </a:r>
                <a:r>
                  <a:rPr lang="en-IN" sz="2400">
                    <a:solidFill>
                      <a:srgbClr val="111827"/>
                    </a:solidFill>
                    <a:latin typeface="Cambria Math" panose="02040503050406030204" pitchFamily="18" charset="0"/>
                  </a:rPr>
                  <a:t>$x$</a:t>
                </a:r>
                <a:r>
                  <a:rPr sz="2400" b="0">
                    <a:solidFill>
                      <a:srgbClr val="111827"/>
                    </a:solidFill>
                    <a:latin typeface="Arial"/>
                  </a:rPr>
                  <a:t>-axis.</a:t>
                </a:r>
                <a:endParaRPr sz="2400">
                  <a:solidFill>
                    <a:srgbClr val="111827"/>
                  </a:solidFill>
                </a:endParaRPr>
              </a:p>
            </p:txBody>
          </p:sp>
        </mc:Fallback>
      </mc:AlternateContent>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Contact of two congruent parabolas, Locus of the vertex of a variable parabola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731520" y="1280160"/>
            <a:ext cx="10725912" cy="18531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Two equal parabolas that touch (with parallel axes) are point-reflections of each other about the point of contact, so the vertex is twice as far from the origin as the point of contact; alternatively set the discriminant to zero.</a:t>
            </a:r>
            <a:endParaRPr sz="24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3270504"/>
                <a:ext cx="10725912" cy="34046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Fixed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Variable parabola (equal, opposite opening, axis parallel to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vertex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Solve (1) and (2): substituting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den>
                    </m:f>
                  </m:oMath>
                </a14:m>
                <a:r>
                  <a:rPr sz="2400" b="0">
                    <a:solidFill>
                      <a:srgbClr val="111827"/>
                    </a:solidFill>
                    <a:latin typeface="Arial"/>
                  </a:rPr>
                  <a:t> in (2):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270504"/>
                <a:ext cx="10725912" cy="34046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Fixed parabola: </a:t>
                </a:r>
                <a:r>
                  <a:rPr lang="en-IN" sz="2400">
                    <a:solidFill>
                      <a:srgbClr val="111827"/>
                    </a:solidFill>
                    <a:latin typeface="Cambria Math" panose="02040503050406030204" pitchFamily="18" charset="0"/>
                  </a:rPr>
                  <a:t>$y^2=4ax$</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Variable parabola (equal, opposite opening, axis parallel to the </a:t>
                </a:r>
                <a:r>
                  <a:rPr lang="en-IN" sz="2400">
                    <a:solidFill>
                      <a:srgbClr val="111827"/>
                    </a:solidFill>
                    <a:latin typeface="Cambria Math" panose="02040503050406030204" pitchFamily="18" charset="0"/>
                  </a:rPr>
                  <a:t>$x$</a:t>
                </a:r>
                <a:r>
                  <a:rPr sz="2400" b="0">
                    <a:solidFill>
                      <a:srgbClr val="111827"/>
                    </a:solidFill>
                    <a:latin typeface="Arial"/>
                  </a:rPr>
                  <a:t>-axis, vertex </a:t>
                </a:r>
                <a:r>
                  <a:rPr lang="en-IN" sz="2400">
                    <a:solidFill>
                      <a:srgbClr val="111827"/>
                    </a:solidFill>
                    <a:latin typeface="Cambria Math" panose="02040503050406030204" pitchFamily="18" charset="0"/>
                  </a:rPr>
                  <a:t>$(h,k)$</a:t>
                </a:r>
                <a:r>
                  <a:rPr sz="2400" b="0">
                    <a:solidFill>
                      <a:srgbClr val="111827"/>
                    </a:solidFill>
                    <a:latin typeface="Arial"/>
                  </a:rPr>
                  <a:t>): </a:t>
                </a:r>
                <a:r>
                  <a:rPr lang="en-IN" sz="2400">
                    <a:solidFill>
                      <a:srgbClr val="111827"/>
                    </a:solidFill>
                    <a:latin typeface="Cambria Math" panose="02040503050406030204" pitchFamily="18" charset="0"/>
                  </a:rPr>
                  <a:t>$(y-k)^2=-4a(x-h)$</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Solve (1) and (2): substituting </a:t>
                </a:r>
                <a:r>
                  <a:rPr lang="en-IN" sz="2400">
                    <a:solidFill>
                      <a:srgbClr val="111827"/>
                    </a:solidFill>
                    <a:latin typeface="Cambria Math" panose="02040503050406030204" pitchFamily="18" charset="0"/>
                  </a:rPr>
                  <a:t>$x=\frac{y^2}{4a}$</a:t>
                </a:r>
                <a:r>
                  <a:rPr sz="2400" b="0">
                    <a:solidFill>
                      <a:srgbClr val="111827"/>
                    </a:solidFill>
                    <a:latin typeface="Arial"/>
                  </a:rPr>
                  <a:t> in (2): </a:t>
                </a:r>
                <a:r>
                  <a:rPr lang="en-IN" sz="2400">
                    <a:solidFill>
                      <a:srgbClr val="111827"/>
                    </a:solidFill>
                    <a:latin typeface="Cambria Math" panose="02040503050406030204" pitchFamily="18" charset="0"/>
                  </a:rPr>
                  <a:t>$(y-k)^2=-y^2+4ah$</a:t>
                </a:r>
                <a:r>
                  <a:rPr sz="2400" b="0">
                    <a:solidFill>
                      <a:srgbClr val="111827"/>
                    </a:solidFill>
                    <a:latin typeface="Arial"/>
                  </a:rPr>
                  <a:t>, i.e. </a:t>
                </a:r>
                <a:r>
                  <a:rPr lang="en-IN" sz="2400">
                    <a:solidFill>
                      <a:srgbClr val="111827"/>
                    </a:solidFill>
                    <a:latin typeface="Cambria Math" panose="02040503050406030204" pitchFamily="18" charset="0"/>
                  </a:rPr>
                  <a:t>$2y^2-2yk+k^2-4ah=0$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Tangency means equal roots, so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Tangency means equal roots, so </a:t>
                </a:r>
                <a:r>
                  <a:rPr lang="en-IN" sz="2400">
                    <a:solidFill>
                      <a:srgbClr val="111827"/>
                    </a:solidFill>
                    <a:latin typeface="Cambria Math" panose="02040503050406030204" pitchFamily="18" charset="0"/>
                  </a:rPr>
                  <a:t>$D=0$</a:t>
                </a:r>
                <a:r>
                  <a:rPr sz="2400" b="0">
                    <a:solidFill>
                      <a:srgbClr val="111827"/>
                    </a:solidFill>
                    <a:latin typeface="Arial"/>
                  </a:rPr>
                  <a:t>: </a:t>
                </a:r>
                <a:r>
                  <a:rPr lang="en-IN" sz="2400">
                    <a:solidFill>
                      <a:srgbClr val="111827"/>
                    </a:solidFill>
                    <a:latin typeface="Cambria Math" panose="02040503050406030204" pitchFamily="18" charset="0"/>
                  </a:rPr>
                  <a:t>$4k^2-8(k^2-4ah)=0$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$-4k^2+32ah=0$</a:t>
                </a:r>
                <a:r>
                  <a:rPr sz="2400" b="0">
                    <a:solidFill>
                      <a:srgbClr val="111827"/>
                    </a:solidFill>
                    <a:latin typeface="Arial"/>
                  </a:rPr>
                  <a:t>, i.e. </a:t>
                </a:r>
                <a:r>
                  <a:rPr lang="en-IN" sz="2400">
                    <a:solidFill>
                      <a:srgbClr val="111827"/>
                    </a:solidFill>
                    <a:latin typeface="Cambria Math" panose="02040503050406030204" pitchFamily="18" charset="0"/>
                  </a:rPr>
                  <a:t>$k^2=8ah$</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t>
                </a:r>
                <a:r>
                  <a:rPr lang="en-IN" sz="2400">
                    <a:solidFill>
                      <a:srgbClr val="111827"/>
                    </a:solidFill>
                    <a:latin typeface="Cambria Math" panose="02040503050406030204" pitchFamily="18" charset="0"/>
                  </a:rPr>
                  <a:t>$(h,k)$</a:t>
                </a:r>
                <a:r>
                  <a:rPr sz="2400" b="0">
                    <a:solidFill>
                      <a:srgbClr val="111827"/>
                    </a:solidFill>
                    <a:latin typeface="Arial"/>
                  </a:rPr>
                  <a:t> is </a:t>
                </a:r>
                <a:r>
                  <a:rPr lang="en-IN" sz="2400">
                    <a:solidFill>
                      <a:srgbClr val="111827"/>
                    </a:solidFill>
                    <a:latin typeface="Cambria Math" panose="02040503050406030204" pitchFamily="18" charset="0"/>
                  </a:rPr>
                  <a:t>$y^2=8ax$</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8</m:t>
                    </m:r>
                    <m:r>
                      <a:rPr lang="en-IN" sz="2800" i="1">
                        <a:solidFill>
                          <a:srgbClr val="15803D"/>
                        </a:solidFill>
                        <a:latin typeface="Cambria Math" panose="02040503050406030204" pitchFamily="18" charset="0"/>
                      </a:rPr>
                      <m:t>𝑎</m:t>
                    </m:r>
                    <m:r>
                      <a:rPr lang="en-IN" sz="2800" i="1">
                        <a:solidFill>
                          <a:srgbClr val="15803D"/>
                        </a:solidFill>
                        <a:latin typeface="Cambria Math" panose="02040503050406030204" pitchFamily="18" charset="0"/>
                      </a:rPr>
                      <m:t>𝑥</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$y^2=8ax$</a:t>
                </a:r>
                <a:endParaRPr sz="2800">
                  <a:solidFill>
                    <a:srgbClr val="15803D"/>
                  </a:solidFill>
                </a:endParaRPr>
              </a:p>
            </p:txBody>
          </p:sp>
        </mc:Fallback>
      </mc:AlternateContent>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contact point </a:t>
                </a:r>
                <a14:m>
                  <m:oMath xmlns:m="http://schemas.openxmlformats.org/officeDocument/2006/math">
                    <m:r>
                      <a:rPr lang="en-IN" sz="2400" i="1">
                        <a:solidFill>
                          <a:srgbClr val="78350F"/>
                        </a:solidFill>
                        <a:latin typeface="Cambria Math" panose="02040503050406030204" pitchFamily="18" charset="0"/>
                      </a:rPr>
                      <m:t>𝑀</m:t>
                    </m:r>
                  </m:oMath>
                </a14:m>
                <a:r>
                  <a:rPr sz="2400" b="0">
                    <a:solidFill>
                      <a:srgbClr val="78350F"/>
                    </a:solidFill>
                    <a:latin typeface="Arial"/>
                  </a:rPr>
                  <a:t> is the midpoint of the two vertices: reflecting the fixed parabola in </a:t>
                </a:r>
                <a14:m>
                  <m:oMath xmlns:m="http://schemas.openxmlformats.org/officeDocument/2006/math">
                    <m:r>
                      <a:rPr lang="en-IN" sz="2400" i="1">
                        <a:solidFill>
                          <a:srgbClr val="78350F"/>
                        </a:solidFill>
                        <a:latin typeface="Cambria Math" panose="02040503050406030204" pitchFamily="18" charset="0"/>
                      </a:rPr>
                      <m:t>𝑀</m:t>
                    </m:r>
                  </m:oMath>
                </a14:m>
                <a:r>
                  <a:rPr sz="2400" b="0">
                    <a:solidFill>
                      <a:srgbClr val="78350F"/>
                    </a:solidFill>
                    <a:latin typeface="Arial"/>
                  </a:rPr>
                  <a:t> gives the variable one.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contact point </a:t>
                </a:r>
                <a:r>
                  <a:rPr lang="en-IN" sz="2400">
                    <a:solidFill>
                      <a:srgbClr val="78350F"/>
                    </a:solidFill>
                    <a:latin typeface="Cambria Math" panose="02040503050406030204" pitchFamily="18" charset="0"/>
                  </a:rPr>
                  <a:t>$M$</a:t>
                </a:r>
                <a:r>
                  <a:rPr sz="2400" b="0">
                    <a:solidFill>
                      <a:srgbClr val="78350F"/>
                    </a:solidFill>
                    <a:latin typeface="Arial"/>
                  </a:rPr>
                  <a:t> is the midpoint of the two vertices: reflecting the fixed parabola in </a:t>
                </a:r>
                <a:r>
                  <a:rPr lang="en-IN" sz="2400">
                    <a:solidFill>
                      <a:srgbClr val="78350F"/>
                    </a:solidFill>
                    <a:latin typeface="Cambria Math" panose="02040503050406030204" pitchFamily="18" charset="0"/>
                  </a:rPr>
                  <a:t>$M$</a:t>
                </a:r>
                <a:r>
                  <a:rPr sz="2400" b="0">
                    <a:solidFill>
                      <a:srgbClr val="78350F"/>
                    </a:solidFill>
                    <a:latin typeface="Arial"/>
                  </a:rPr>
                  <a:t> gives the variable one.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point reflection in the point of contact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preserves the tangent line at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and maps the fixed parabola to an equal parabola, opening the other way, with axis parallel to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and touching the fixed one at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variable parabola (unique with this orientation) is that image, and its vertex </a:t>
                </a:r>
                <a14:m>
                  <m:oMath xmlns:m="http://schemas.openxmlformats.org/officeDocument/2006/math">
                    <m:sSup>
                      <m:e>
                        <m:r>
                          <a:rPr lang="en-IN" sz="2400" i="1">
                            <a:solidFill>
                              <a:srgbClr val="111827"/>
                            </a:solidFill>
                            <a:latin typeface="Cambria Math" panose="02040503050406030204" pitchFamily="18" charset="0"/>
                          </a:rPr>
                          <m:t>𝑉</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is the image of the origin: </a:t>
                </a:r>
                <a14:m>
                  <m:oMath xmlns:m="http://schemas.openxmlformats.org/officeDocument/2006/math">
                    <m:sSup>
                      <m:e>
                        <m:r>
                          <a:rPr lang="en-IN" sz="2400" i="1">
                            <a:solidFill>
                              <a:srgbClr val="111827"/>
                            </a:solidFill>
                            <a:latin typeface="Cambria Math" panose="02040503050406030204" pitchFamily="18" charset="0"/>
                          </a:rPr>
                          <m:t>𝑉</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point reflection in the point of contact </a:t>
                </a:r>
                <a:r>
                  <a:rPr lang="en-IN" sz="2400">
                    <a:solidFill>
                      <a:srgbClr val="111827"/>
                    </a:solidFill>
                    <a:latin typeface="Cambria Math" panose="02040503050406030204" pitchFamily="18" charset="0"/>
                  </a:rPr>
                  <a:t>$M$</a:t>
                </a:r>
                <a:r>
                  <a:rPr sz="2400" b="0">
                    <a:solidFill>
                      <a:srgbClr val="111827"/>
                    </a:solidFill>
                    <a:latin typeface="Arial"/>
                  </a:rPr>
                  <a:t> preserves the tangent line at </a:t>
                </a:r>
                <a:r>
                  <a:rPr lang="en-IN" sz="2400">
                    <a:solidFill>
                      <a:srgbClr val="111827"/>
                    </a:solidFill>
                    <a:latin typeface="Cambria Math" panose="02040503050406030204" pitchFamily="18" charset="0"/>
                  </a:rPr>
                  <a:t>$M$</a:t>
                </a:r>
                <a:r>
                  <a:rPr sz="2400" b="0">
                    <a:solidFill>
                      <a:srgbClr val="111827"/>
                    </a:solidFill>
                    <a:latin typeface="Arial"/>
                  </a:rPr>
                  <a:t> and maps the fixed parabola to an equal parabola, opening the other way, with axis parallel to the </a:t>
                </a:r>
                <a:r>
                  <a:rPr lang="en-IN" sz="2400">
                    <a:solidFill>
                      <a:srgbClr val="111827"/>
                    </a:solidFill>
                    <a:latin typeface="Cambria Math" panose="02040503050406030204" pitchFamily="18" charset="0"/>
                  </a:rPr>
                  <a:t>$x$</a:t>
                </a:r>
                <a:r>
                  <a:rPr sz="2400" b="0">
                    <a:solidFill>
                      <a:srgbClr val="111827"/>
                    </a:solidFill>
                    <a:latin typeface="Arial"/>
                  </a:rPr>
                  <a:t>-axis and touching the fixed one at </a:t>
                </a:r>
                <a:r>
                  <a:rPr lang="en-IN" sz="2400">
                    <a:solidFill>
                      <a:srgbClr val="111827"/>
                    </a:solidFill>
                    <a:latin typeface="Cambria Math" panose="02040503050406030204" pitchFamily="18" charset="0"/>
                  </a:rPr>
                  <a:t>$M$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variable parabola (unique with this orientation) is that image, and its vertex </a:t>
                </a:r>
                <a:r>
                  <a:rPr lang="en-IN" sz="2400">
                    <a:solidFill>
                      <a:srgbClr val="111827"/>
                    </a:solidFill>
                    <a:latin typeface="Cambria Math" panose="02040503050406030204" pitchFamily="18" charset="0"/>
                  </a:rPr>
                  <a:t>$V'$</a:t>
                </a:r>
                <a:r>
                  <a:rPr sz="2400" b="0">
                    <a:solidFill>
                      <a:srgbClr val="111827"/>
                    </a:solidFill>
                    <a:latin typeface="Arial"/>
                  </a:rPr>
                  <a:t> is the image of the origin: </a:t>
                </a:r>
                <a:r>
                  <a:rPr lang="en-IN" sz="2400">
                    <a:solidFill>
                      <a:srgbClr val="111827"/>
                    </a:solidFill>
                    <a:latin typeface="Cambria Math" panose="02040503050406030204" pitchFamily="18" charset="0"/>
                  </a:rPr>
                  <a:t>$V'=2M-O=2M$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$M=(x_0,y_0)$</a:t>
                </a:r>
                <a:r>
                  <a:rPr sz="2400" b="0">
                    <a:solidFill>
                      <a:srgbClr val="111827"/>
                    </a:solidFill>
                    <a:latin typeface="Arial"/>
                  </a:rPr>
                  <a:t> with </a:t>
                </a:r>
                <a:r>
                  <a:rPr lang="en-IN" sz="2400">
                    <a:solidFill>
                      <a:srgbClr val="111827"/>
                    </a:solidFill>
                    <a:latin typeface="Cambria Math" panose="02040503050406030204" pitchFamily="18" charset="0"/>
                  </a:rPr>
                  <a:t>$y_0^2=4ax_0$</a:t>
                </a:r>
                <a:r>
                  <a:rPr sz="2400" b="0">
                    <a:solidFill>
                      <a:srgbClr val="111827"/>
                    </a:solidFill>
                    <a:latin typeface="Arial"/>
                  </a:rPr>
                  <a:t>. Then </a:t>
                </a:r>
                <a:r>
                  <a:rPr lang="en-IN" sz="2400">
                    <a:solidFill>
                      <a:srgbClr val="111827"/>
                    </a:solidFill>
                    <a:latin typeface="Cambria Math" panose="02040503050406030204" pitchFamily="18" charset="0"/>
                  </a:rPr>
                  <a:t>$(h,k)=(2x_0,2y_0)$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the vertex is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$\left(\frac k2\right)^2=4a\cdot\frac h2$</a:t>
                </a:r>
                <a:r>
                  <a:rPr sz="2400" b="0">
                    <a:solidFill>
                      <a:srgbClr val="111827"/>
                    </a:solidFill>
                    <a:latin typeface="Arial"/>
                  </a:rPr>
                  <a:t>, i.e. </a:t>
                </a:r>
                <a:r>
                  <a:rPr lang="en-IN" sz="2400">
                    <a:solidFill>
                      <a:srgbClr val="111827"/>
                    </a:solidFill>
                    <a:latin typeface="Cambria Math" panose="02040503050406030204" pitchFamily="18" charset="0"/>
                  </a:rPr>
                  <a:t>$k^2=8ah$</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the vertex is </a:t>
                </a:r>
                <a:r>
                  <a:rPr lang="en-IN" sz="2400">
                    <a:solidFill>
                      <a:srgbClr val="111827"/>
                    </a:solidFill>
                    <a:latin typeface="Cambria Math" panose="02040503050406030204" pitchFamily="18" charset="0"/>
                  </a:rPr>
                  <a:t>$y^2=8ax$</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8</m:t>
                    </m:r>
                    <m:r>
                      <a:rPr lang="en-IN" sz="2800" i="1">
                        <a:solidFill>
                          <a:srgbClr val="15803D"/>
                        </a:solidFill>
                        <a:latin typeface="Cambria Math" panose="02040503050406030204" pitchFamily="18" charset="0"/>
                      </a:rPr>
                      <m:t>𝑎</m:t>
                    </m:r>
                    <m:r>
                      <a:rPr lang="en-IN" sz="2800" i="1">
                        <a:solidFill>
                          <a:srgbClr val="15803D"/>
                        </a:solidFill>
                        <a:latin typeface="Cambria Math" panose="02040503050406030204" pitchFamily="18" charset="0"/>
                      </a:rPr>
                      <m:t>𝑥</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$y^2=8ax$</a:t>
                </a:r>
                <a:endParaRPr sz="2800">
                  <a:solidFill>
                    <a:srgbClr val="15803D"/>
                  </a:solidFill>
                </a:endParaRPr>
              </a:p>
            </p:txBody>
          </p:sp>
        </mc:Fallback>
      </mc:AlternateContent>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equal parabolas with parallel axes touch at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iff each is the reflection of the other in the point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(opposite openings); the vertices are symmetric about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rule: if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𝐴</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are the two congruent curves touching at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with a common tangent, a point reflection about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swaps them.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parabolas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touch iff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dilation by factor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about the origin turns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into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the locus is the original curve scaled by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equal parabolas with parallel axes touch at </a:t>
                </a:r>
                <a:r>
                  <a:rPr lang="en-IN" sz="2400">
                    <a:solidFill>
                      <a:srgbClr val="111827"/>
                    </a:solidFill>
                    <a:latin typeface="Cambria Math" panose="02040503050406030204" pitchFamily="18" charset="0"/>
                  </a:rPr>
                  <a:t>$M$</a:t>
                </a:r>
                <a:r>
                  <a:rPr sz="2400" b="0">
                    <a:solidFill>
                      <a:srgbClr val="111827"/>
                    </a:solidFill>
                    <a:latin typeface="Arial"/>
                  </a:rPr>
                  <a:t> iff each is the reflection of the other in the point </a:t>
                </a:r>
                <a:r>
                  <a:rPr lang="en-IN" sz="2400">
                    <a:solidFill>
                      <a:srgbClr val="111827"/>
                    </a:solidFill>
                    <a:latin typeface="Cambria Math" panose="02040503050406030204" pitchFamily="18" charset="0"/>
                  </a:rPr>
                  <a:t>$M$</a:t>
                </a:r>
                <a:r>
                  <a:rPr sz="2400" b="0">
                    <a:solidFill>
                      <a:srgbClr val="111827"/>
                    </a:solidFill>
                    <a:latin typeface="Arial"/>
                  </a:rPr>
                  <a:t> (opposite openings); the vertices are symmetric about </a:t>
                </a:r>
                <a:r>
                  <a:rPr lang="en-IN" sz="2400">
                    <a:solidFill>
                      <a:srgbClr val="111827"/>
                    </a:solidFill>
                    <a:latin typeface="Cambria Math" panose="02040503050406030204" pitchFamily="18" charset="0"/>
                  </a:rPr>
                  <a:t>$M$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rule: if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$A'$</a:t>
                </a:r>
                <a:r>
                  <a:rPr sz="2400" b="0">
                    <a:solidFill>
                      <a:srgbClr val="111827"/>
                    </a:solidFill>
                    <a:latin typeface="Arial"/>
                  </a:rPr>
                  <a:t> are the two congruent curves touching at </a:t>
                </a:r>
                <a:r>
                  <a:rPr lang="en-IN" sz="2400">
                    <a:solidFill>
                      <a:srgbClr val="111827"/>
                    </a:solidFill>
                    <a:latin typeface="Cambria Math" panose="02040503050406030204" pitchFamily="18" charset="0"/>
                  </a:rPr>
                  <a:t>$M$</a:t>
                </a:r>
                <a:r>
                  <a:rPr sz="2400" b="0">
                    <a:solidFill>
                      <a:srgbClr val="111827"/>
                    </a:solidFill>
                    <a:latin typeface="Arial"/>
                  </a:rPr>
                  <a:t> with a common tangent, a point reflection about </a:t>
                </a:r>
                <a:r>
                  <a:rPr lang="en-IN" sz="2400">
                    <a:solidFill>
                      <a:srgbClr val="111827"/>
                    </a:solidFill>
                    <a:latin typeface="Cambria Math" panose="02040503050406030204" pitchFamily="18" charset="0"/>
                  </a:rPr>
                  <a:t>$M$</a:t>
                </a:r>
                <a:r>
                  <a:rPr sz="2400" b="0">
                    <a:solidFill>
                      <a:srgbClr val="111827"/>
                    </a:solidFill>
                    <a:latin typeface="Arial"/>
                  </a:rPr>
                  <a:t> swaps them.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parabolas </a:t>
                </a:r>
                <a:r>
                  <a:rPr lang="en-IN" sz="2400">
                    <a:solidFill>
                      <a:srgbClr val="111827"/>
                    </a:solidFill>
                    <a:latin typeface="Cambria Math" panose="02040503050406030204" pitchFamily="18" charset="0"/>
                  </a:rPr>
                  <a:t>$y^2=4ax$</a:t>
                </a:r>
                <a:r>
                  <a:rPr sz="2400" b="0">
                    <a:solidFill>
                      <a:srgbClr val="111827"/>
                    </a:solidFill>
                    <a:latin typeface="Arial"/>
                  </a:rPr>
                  <a:t> and </a:t>
                </a:r>
                <a:r>
                  <a:rPr lang="en-IN" sz="2400">
                    <a:solidFill>
                      <a:srgbClr val="111827"/>
                    </a:solidFill>
                    <a:latin typeface="Cambria Math" panose="02040503050406030204" pitchFamily="18" charset="0"/>
                  </a:rPr>
                  <a:t>$(y-k)^2=-4a(x-h)$</a:t>
                </a:r>
                <a:r>
                  <a:rPr sz="2400" b="0">
                    <a:solidFill>
                      <a:srgbClr val="111827"/>
                    </a:solidFill>
                    <a:latin typeface="Arial"/>
                  </a:rPr>
                  <a:t> touch iff </a:t>
                </a:r>
                <a:r>
                  <a:rPr lang="en-IN" sz="2400">
                    <a:solidFill>
                      <a:srgbClr val="111827"/>
                    </a:solidFill>
                    <a:latin typeface="Cambria Math" panose="02040503050406030204" pitchFamily="18" charset="0"/>
                  </a:rPr>
                  <a:t>$k^2=8ah$</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dilation by factor </a:t>
                </a:r>
                <a:r>
                  <a:rPr lang="en-IN" sz="2400">
                    <a:solidFill>
                      <a:srgbClr val="111827"/>
                    </a:solidFill>
                    <a:latin typeface="Cambria Math" panose="02040503050406030204" pitchFamily="18" charset="0"/>
                  </a:rPr>
                  <a:t>$2$</a:t>
                </a:r>
                <a:r>
                  <a:rPr sz="2400" b="0">
                    <a:solidFill>
                      <a:srgbClr val="111827"/>
                    </a:solidFill>
                    <a:latin typeface="Arial"/>
                  </a:rPr>
                  <a:t> about the origin turns </a:t>
                </a:r>
                <a:r>
                  <a:rPr lang="en-IN" sz="2400">
                    <a:solidFill>
                      <a:srgbClr val="111827"/>
                    </a:solidFill>
                    <a:latin typeface="Cambria Math" panose="02040503050406030204" pitchFamily="18" charset="0"/>
                  </a:rPr>
                  <a:t>$y^2=4ax$</a:t>
                </a:r>
                <a:r>
                  <a:rPr sz="2400" b="0">
                    <a:solidFill>
                      <a:srgbClr val="111827"/>
                    </a:solidFill>
                    <a:latin typeface="Arial"/>
                  </a:rPr>
                  <a:t> into </a:t>
                </a:r>
                <a:r>
                  <a:rPr lang="en-IN" sz="2400">
                    <a:solidFill>
                      <a:srgbClr val="111827"/>
                    </a:solidFill>
                    <a:latin typeface="Cambria Math" panose="02040503050406030204" pitchFamily="18" charset="0"/>
                  </a:rPr>
                  <a:t>$y^2=8ax$</a:t>
                </a:r>
                <a:r>
                  <a:rPr sz="2400" b="0">
                    <a:solidFill>
                      <a:srgbClr val="111827"/>
                    </a:solidFill>
                    <a:latin typeface="Arial"/>
                  </a:rPr>
                  <a:t>: the locus is the original curve scaled by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Prove that the locus of the centre of the circle which passes through the vertex of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and through its intersection with a normal chord is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Prove that the locus of the centre of the circle which passes through the vertex of the parabola </a:t>
                </a:r>
                <a:r>
                  <a:rPr lang="en-IN" sz="2400">
                    <a:solidFill>
                      <a:srgbClr val="111827"/>
                    </a:solidFill>
                    <a:latin typeface="Cambria Math" panose="02040503050406030204" pitchFamily="18" charset="0"/>
                  </a:rPr>
                  <a:t>$y^2=4ax$</a:t>
                </a:r>
                <a:r>
                  <a:rPr sz="2400" b="0">
                    <a:solidFill>
                      <a:srgbClr val="111827"/>
                    </a:solidFill>
                    <a:latin typeface="Arial"/>
                  </a:rPr>
                  <a:t> and through its intersection with a normal chord is </a:t>
                </a:r>
                <a:r>
                  <a:rPr lang="en-IN" sz="2400">
                    <a:solidFill>
                      <a:srgbClr val="111827"/>
                    </a:solidFill>
                    <a:latin typeface="Cambria Math" panose="02040503050406030204" pitchFamily="18" charset="0"/>
                  </a:rPr>
                  <a:t>$2y^2=ax-a^2$</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 chord of a parabola, Circle through the vertex and the ends of a normal chord (locus of centre)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normal chord has </a:t>
                </a:r>
                <a14:m>
                  <m:oMath xmlns:m="http://schemas.openxmlformats.org/officeDocument/2006/math">
                    <m:sSubSup>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up>
                        <m:r>
                          <a:rPr lang="en-IN" sz="2400" i="1">
                            <a:solidFill>
                              <a:srgbClr val="78350F"/>
                            </a:solidFill>
                            <a:latin typeface="Cambria Math" panose="02040503050406030204" pitchFamily="18" charset="0"/>
                          </a:rPr>
                          <m:t>2</m:t>
                        </m:r>
                      </m:sup>
                    </m:sSubSup>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the circle through the vertex gives one cubic relation in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and one in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eliminate them.</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normal chord has </a:t>
                </a:r>
                <a:r>
                  <a:rPr lang="en-IN" sz="2400">
                    <a:solidFill>
                      <a:srgbClr val="78350F"/>
                    </a:solidFill>
                    <a:latin typeface="Cambria Math" panose="02040503050406030204" pitchFamily="18" charset="0"/>
                  </a:rPr>
                  <a:t>$t_1^2+t_1t_2=-2$</a:t>
                </a:r>
                <a:r>
                  <a:rPr sz="2400" b="0">
                    <a:solidFill>
                      <a:srgbClr val="78350F"/>
                    </a:solidFill>
                    <a:latin typeface="Arial"/>
                  </a:rPr>
                  <a:t>; the circle through the vertex gives one cubic relation in </a:t>
                </a:r>
                <a:r>
                  <a:rPr lang="en-IN" sz="2400">
                    <a:solidFill>
                      <a:srgbClr val="78350F"/>
                    </a:solidFill>
                    <a:latin typeface="Cambria Math" panose="02040503050406030204" pitchFamily="18" charset="0"/>
                  </a:rPr>
                  <a:t>$t_1$</a:t>
                </a:r>
                <a:r>
                  <a:rPr sz="2400" b="0">
                    <a:solidFill>
                      <a:srgbClr val="78350F"/>
                    </a:solidFill>
                    <a:latin typeface="Arial"/>
                  </a:rPr>
                  <a:t> and one in </a:t>
                </a:r>
                <a:r>
                  <a:rPr lang="en-IN" sz="2400">
                    <a:solidFill>
                      <a:srgbClr val="78350F"/>
                    </a:solidFill>
                    <a:latin typeface="Cambria Math" panose="02040503050406030204" pitchFamily="18" charset="0"/>
                  </a:rPr>
                  <a:t>$t_2$</a:t>
                </a:r>
                <a:r>
                  <a:rPr sz="2400" b="0">
                    <a:solidFill>
                      <a:srgbClr val="78350F"/>
                    </a:solidFill>
                    <a:latin typeface="Arial"/>
                  </a:rPr>
                  <a:t>; eliminate them.</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normal chord be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 i.e.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Circle through the vertex with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passes through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....(1) and </a:t>
                </a:r>
                <a14:m>
                  <m:oMath xmlns:m="http://schemas.openxmlformats.org/officeDocument/2006/math">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....(2) (after dividing by </a:t>
                </a:r>
                <a14:m>
                  <m:oMath xmlns:m="http://schemas.openxmlformats.org/officeDocument/2006/math">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(1)</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(2):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normal chord be </a:t>
                </a:r>
                <a:r>
                  <a:rPr lang="en-IN" sz="2400">
                    <a:solidFill>
                      <a:srgbClr val="111827"/>
                    </a:solidFill>
                    <a:latin typeface="Cambria Math" panose="02040503050406030204" pitchFamily="18" charset="0"/>
                  </a:rPr>
                  <a:t>$PQ$</a:t>
                </a:r>
                <a:r>
                  <a:rPr sz="2400" b="0">
                    <a:solidFill>
                      <a:srgbClr val="111827"/>
                    </a:solidFill>
                    <a:latin typeface="Arial"/>
                  </a:rPr>
                  <a:t> with </a:t>
                </a:r>
                <a:r>
                  <a:rPr lang="en-IN" sz="2400">
                    <a:solidFill>
                      <a:srgbClr val="111827"/>
                    </a:solidFill>
                    <a:latin typeface="Cambria Math" panose="02040503050406030204" pitchFamily="18" charset="0"/>
                  </a:rPr>
                  <a:t>$P(t_1)$</a:t>
                </a:r>
                <a:r>
                  <a:rPr sz="2400" b="0">
                    <a:solidFill>
                      <a:srgbClr val="111827"/>
                    </a:solidFill>
                    <a:latin typeface="Arial"/>
                  </a:rPr>
                  <a:t>, </a:t>
                </a:r>
                <a:r>
                  <a:rPr lang="en-IN" sz="2400">
                    <a:solidFill>
                      <a:srgbClr val="111827"/>
                    </a:solidFill>
                    <a:latin typeface="Cambria Math" panose="02040503050406030204" pitchFamily="18" charset="0"/>
                  </a:rPr>
                  <a:t>$Q(t_2)$</a:t>
                </a:r>
                <a:r>
                  <a:rPr sz="2400" b="0">
                    <a:solidFill>
                      <a:srgbClr val="111827"/>
                    </a:solidFill>
                    <a:latin typeface="Arial"/>
                  </a:rPr>
                  <a:t> on </a:t>
                </a:r>
                <a:r>
                  <a:rPr lang="en-IN" sz="2400">
                    <a:solidFill>
                      <a:srgbClr val="111827"/>
                    </a:solidFill>
                    <a:latin typeface="Cambria Math" panose="02040503050406030204" pitchFamily="18" charset="0"/>
                  </a:rPr>
                  <a:t>$y^2=4ax$</a:t>
                </a:r>
                <a:r>
                  <a:rPr sz="2400" b="0">
                    <a:solidFill>
                      <a:srgbClr val="111827"/>
                    </a:solidFill>
                    <a:latin typeface="Arial"/>
                  </a:rPr>
                  <a:t>. Then </a:t>
                </a:r>
                <a:r>
                  <a:rPr lang="en-IN" sz="2400">
                    <a:solidFill>
                      <a:srgbClr val="111827"/>
                    </a:solidFill>
                    <a:latin typeface="Cambria Math" panose="02040503050406030204" pitchFamily="18" charset="0"/>
                  </a:rPr>
                  <a:t>$t_2=-t_1-\frac{2}{t_1}$</a:t>
                </a:r>
                <a:r>
                  <a:rPr sz="2400" b="0">
                    <a:solidFill>
                      <a:srgbClr val="111827"/>
                    </a:solidFill>
                    <a:latin typeface="Arial"/>
                  </a:rPr>
                  <a:t>, i.e. </a:t>
                </a:r>
                <a:r>
                  <a:rPr lang="en-IN" sz="2400">
                    <a:solidFill>
                      <a:srgbClr val="111827"/>
                    </a:solidFill>
                    <a:latin typeface="Cambria Math" panose="02040503050406030204" pitchFamily="18" charset="0"/>
                  </a:rPr>
                  <a:t>$t_1^2+t_1t_2=-2$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Circle through the vertex with centre </a:t>
                </a:r>
                <a:r>
                  <a:rPr lang="en-IN" sz="2400">
                    <a:solidFill>
                      <a:srgbClr val="111827"/>
                    </a:solidFill>
                    <a:latin typeface="Cambria Math" panose="02040503050406030204" pitchFamily="18" charset="0"/>
                  </a:rPr>
                  <a:t>$(h,k)$</a:t>
                </a:r>
                <a:r>
                  <a:rPr sz="2400" b="0">
                    <a:solidFill>
                      <a:srgbClr val="111827"/>
                    </a:solidFill>
                    <a:latin typeface="Arial"/>
                  </a:rPr>
                  <a:t>: </a:t>
                </a:r>
                <a:r>
                  <a:rPr lang="en-IN" sz="2400">
                    <a:solidFill>
                      <a:srgbClr val="111827"/>
                    </a:solidFill>
                    <a:latin typeface="Cambria Math" panose="02040503050406030204" pitchFamily="18" charset="0"/>
                  </a:rPr>
                  <a:t>$x^2+y^2-2hx-2ky=0$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passes through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t>
                </a:r>
                <a:r>
                  <a:rPr lang="en-IN" sz="2400">
                    <a:solidFill>
                      <a:srgbClr val="111827"/>
                    </a:solidFill>
                    <a:latin typeface="Cambria Math" panose="02040503050406030204" pitchFamily="18" charset="0"/>
                  </a:rPr>
                  <a:t>$at_1^3+4at_1-2ht_1-4k=0$</a:t>
                </a:r>
                <a:r>
                  <a:rPr sz="2400" b="0">
                    <a:solidFill>
                      <a:srgbClr val="111827"/>
                    </a:solidFill>
                    <a:latin typeface="Arial"/>
                  </a:rPr>
                  <a:t> ....(1) and </a:t>
                </a:r>
                <a:r>
                  <a:rPr lang="en-IN" sz="2400">
                    <a:solidFill>
                      <a:srgbClr val="111827"/>
                    </a:solidFill>
                    <a:latin typeface="Cambria Math" panose="02040503050406030204" pitchFamily="18" charset="0"/>
                  </a:rPr>
                  <a:t>$at_2^3+4at_2-2ht_2-4k=0$</a:t>
                </a:r>
                <a:r>
                  <a:rPr sz="2400" b="0">
                    <a:solidFill>
                      <a:srgbClr val="111827"/>
                    </a:solidFill>
                    <a:latin typeface="Arial"/>
                  </a:rPr>
                  <a:t> ....(2) (after dividing by </a:t>
                </a:r>
                <a:r>
                  <a:rPr lang="en-IN" sz="2400">
                    <a:solidFill>
                      <a:srgbClr val="111827"/>
                    </a:solidFill>
                    <a:latin typeface="Cambria Math" panose="02040503050406030204" pitchFamily="18" charset="0"/>
                  </a:rPr>
                  <a:t>$at_i$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(1)</a:t>
                </a:r>
                <a:r>
                  <a:rPr lang="en-IN" sz="2400">
                    <a:solidFill>
                      <a:srgbClr val="111827"/>
                    </a:solidFill>
                    <a:latin typeface="Cambria Math" panose="02040503050406030204" pitchFamily="18" charset="0"/>
                  </a:rPr>
                  <a:t>$-$</a:t>
                </a:r>
                <a:r>
                  <a:rPr sz="2400" b="0">
                    <a:solidFill>
                      <a:srgbClr val="111827"/>
                    </a:solidFill>
                    <a:latin typeface="Arial"/>
                  </a:rPr>
                  <a:t>(2): </a:t>
                </a:r>
                <a:r>
                  <a:rPr lang="en-IN" sz="2400">
                    <a:solidFill>
                      <a:srgbClr val="111827"/>
                    </a:solidFill>
                    <a:latin typeface="Cambria Math" panose="02040503050406030204" pitchFamily="18" charset="0"/>
                  </a:rPr>
                  <a:t>$a(t_1^3-t_2^3)+4a(t_1-t_2)-2h(t_1-t_2)=0$</a:t>
                </a:r>
                <a:r>
                  <a:rPr sz="2400" b="0">
                    <a:solidFill>
                      <a:srgbClr val="111827"/>
                    </a:solidFill>
                    <a:latin typeface="Arial"/>
                  </a:rPr>
                  <a:t>, so </a:t>
                </a:r>
                <a:r>
                  <a:rPr lang="en-IN" sz="2400">
                    <a:solidFill>
                      <a:srgbClr val="111827"/>
                    </a:solidFill>
                    <a:latin typeface="Cambria Math" panose="02040503050406030204" pitchFamily="18" charset="0"/>
                  </a:rPr>
                  <a:t>$a(t_1^2+t_2^2+t_1t_2)+4a-2h=0$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Use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....(3).</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(1)</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(2)</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in (3):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Use </a:t>
                </a:r>
                <a:r>
                  <a:rPr lang="en-IN" sz="2400">
                    <a:solidFill>
                      <a:srgbClr val="111827"/>
                    </a:solidFill>
                    <a:latin typeface="Cambria Math" panose="02040503050406030204" pitchFamily="18" charset="0"/>
                  </a:rPr>
                  <a:t>$t_1^2+t_1t_2=-2$</a:t>
                </a:r>
                <a:r>
                  <a:rPr sz="2400" b="0">
                    <a:solidFill>
                      <a:srgbClr val="111827"/>
                    </a:solidFill>
                    <a:latin typeface="Arial"/>
                  </a:rPr>
                  <a:t>: </a:t>
                </a:r>
                <a:r>
                  <a:rPr lang="en-IN" sz="2400">
                    <a:solidFill>
                      <a:srgbClr val="111827"/>
                    </a:solidFill>
                    <a:latin typeface="Cambria Math" panose="02040503050406030204" pitchFamily="18" charset="0"/>
                  </a:rPr>
                  <a:t>$a(t_2^2-2)+4a-2h=0$</a:t>
                </a:r>
                <a:r>
                  <a:rPr sz="2400" b="0">
                    <a:solidFill>
                      <a:srgbClr val="111827"/>
                    </a:solidFill>
                    <a:latin typeface="Arial"/>
                  </a:rPr>
                  <a:t>, i.e. </a:t>
                </a:r>
                <a:r>
                  <a:rPr lang="en-IN" sz="2400">
                    <a:solidFill>
                      <a:srgbClr val="111827"/>
                    </a:solidFill>
                    <a:latin typeface="Cambria Math" panose="02040503050406030204" pitchFamily="18" charset="0"/>
                  </a:rPr>
                  <a:t>$at_2^2+2a-2h=0$</a:t>
                </a:r>
                <a:r>
                  <a:rPr sz="2400" b="0">
                    <a:solidFill>
                      <a:srgbClr val="111827"/>
                    </a:solidFill>
                    <a:latin typeface="Arial"/>
                  </a:rPr>
                  <a:t> ....(3).</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(1)</a:t>
                </a:r>
                <a:r>
                  <a:rPr lang="en-IN" sz="2400">
                    <a:solidFill>
                      <a:srgbClr val="111827"/>
                    </a:solidFill>
                    <a:latin typeface="Cambria Math" panose="02040503050406030204" pitchFamily="18" charset="0"/>
                  </a:rPr>
                  <a:t>$\times t_2-$</a:t>
                </a:r>
                <a:r>
                  <a:rPr sz="2400" b="0">
                    <a:solidFill>
                      <a:srgbClr val="111827"/>
                    </a:solidFill>
                    <a:latin typeface="Arial"/>
                  </a:rPr>
                  <a:t>(2)</a:t>
                </a:r>
                <a:r>
                  <a:rPr lang="en-IN" sz="2400">
                    <a:solidFill>
                      <a:srgbClr val="111827"/>
                    </a:solidFill>
                    <a:latin typeface="Cambria Math" panose="02040503050406030204" pitchFamily="18" charset="0"/>
                  </a:rPr>
                  <a:t>$\times t_1$</a:t>
                </a:r>
                <a:r>
                  <a:rPr sz="2400" b="0">
                    <a:solidFill>
                      <a:srgbClr val="111827"/>
                    </a:solidFill>
                    <a:latin typeface="Arial"/>
                  </a:rPr>
                  <a:t>: </a:t>
                </a:r>
                <a:r>
                  <a:rPr lang="en-IN" sz="2400">
                    <a:solidFill>
                      <a:srgbClr val="111827"/>
                    </a:solidFill>
                    <a:latin typeface="Cambria Math" panose="02040503050406030204" pitchFamily="18" charset="0"/>
                  </a:rPr>
                  <a:t>$at_1t_2(t_1^2-t_2^2)+4k(t_1-t_2)=0$</a:t>
                </a:r>
                <a:r>
                  <a:rPr sz="2400" b="0">
                    <a:solidFill>
                      <a:srgbClr val="111827"/>
                    </a:solidFill>
                    <a:latin typeface="Arial"/>
                  </a:rPr>
                  <a:t>, so </a:t>
                </a:r>
                <a:r>
                  <a:rPr lang="en-IN" sz="2400">
                    <a:solidFill>
                      <a:srgbClr val="111827"/>
                    </a:solidFill>
                    <a:latin typeface="Cambria Math" panose="02040503050406030204" pitchFamily="18" charset="0"/>
                  </a:rPr>
                  <a:t>$at_1t_2(t_1+t_2)+4k=0$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$t_1(t_1+t_2)=-2$</a:t>
                </a:r>
                <a:r>
                  <a:rPr sz="2400" b="0">
                    <a:solidFill>
                      <a:srgbClr val="111827"/>
                    </a:solidFill>
                    <a:latin typeface="Arial"/>
                  </a:rPr>
                  <a:t>, </a:t>
                </a:r>
                <a:r>
                  <a:rPr lang="en-IN" sz="2400">
                    <a:solidFill>
                      <a:srgbClr val="111827"/>
                    </a:solidFill>
                    <a:latin typeface="Cambria Math" panose="02040503050406030204" pitchFamily="18" charset="0"/>
                  </a:rPr>
                  <a:t>$t_1t_2(t_1+t_2)=-2t_2$</a:t>
                </a:r>
                <a:r>
                  <a:rPr sz="2400" b="0">
                    <a:solidFill>
                      <a:srgbClr val="111827"/>
                    </a:solidFill>
                    <a:latin typeface="Arial"/>
                  </a:rPr>
                  <a:t>: </a:t>
                </a:r>
                <a:r>
                  <a:rPr lang="en-IN" sz="2400">
                    <a:solidFill>
                      <a:srgbClr val="111827"/>
                    </a:solidFill>
                    <a:latin typeface="Cambria Math" panose="02040503050406030204" pitchFamily="18" charset="0"/>
                  </a:rPr>
                  <a:t>$-2at_2+4k=0$</a:t>
                </a:r>
                <a:r>
                  <a:rPr sz="2400" b="0">
                    <a:solidFill>
                      <a:srgbClr val="111827"/>
                    </a:solidFill>
                    <a:latin typeface="Arial"/>
                  </a:rPr>
                  <a:t>, so </a:t>
                </a:r>
                <a:r>
                  <a:rPr lang="en-IN" sz="2400">
                    <a:solidFill>
                      <a:srgbClr val="111827"/>
                    </a:solidFill>
                    <a:latin typeface="Cambria Math" panose="02040503050406030204" pitchFamily="18" charset="0"/>
                  </a:rPr>
                  <a:t>$t_2=\frac{2k}{a}$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in (3): </a:t>
                </a:r>
                <a:r>
                  <a:rPr lang="en-IN" sz="2400">
                    <a:solidFill>
                      <a:srgbClr val="111827"/>
                    </a:solidFill>
                    <a:latin typeface="Cambria Math" panose="02040503050406030204" pitchFamily="18" charset="0"/>
                  </a:rPr>
                  <a:t>$a\cdot\frac{4k^2}{a^2}+2a-2h=0$</a:t>
                </a:r>
                <a:r>
                  <a:rPr sz="2400" b="0">
                    <a:solidFill>
                      <a:srgbClr val="111827"/>
                    </a:solidFill>
                    <a:latin typeface="Arial"/>
                  </a:rPr>
                  <a:t>, i.e. </a:t>
                </a:r>
                <a:r>
                  <a:rPr lang="en-IN" sz="2400">
                    <a:solidFill>
                      <a:srgbClr val="111827"/>
                    </a:solidFill>
                    <a:latin typeface="Cambria Math" panose="02040503050406030204" pitchFamily="18" charset="0"/>
                  </a:rPr>
                  <a:t>$2k^2+a^2-ah=0$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t>
                </a:r>
                <a:r>
                  <a:rPr lang="en-IN" sz="2400">
                    <a:solidFill>
                      <a:srgbClr val="111827"/>
                    </a:solidFill>
                    <a:latin typeface="Cambria Math" panose="02040503050406030204" pitchFamily="18" charset="0"/>
                  </a:rPr>
                  <a:t>$(h,k)$</a:t>
                </a:r>
                <a:r>
                  <a:rPr sz="2400" b="0">
                    <a:solidFill>
                      <a:srgbClr val="111827"/>
                    </a:solidFill>
                    <a:latin typeface="Arial"/>
                  </a:rPr>
                  <a:t> is </a:t>
                </a:r>
                <a:r>
                  <a:rPr lang="en-IN" sz="2400">
                    <a:solidFill>
                      <a:srgbClr val="111827"/>
                    </a:solidFill>
                    <a:latin typeface="Cambria Math" panose="02040503050406030204" pitchFamily="18" charset="0"/>
                  </a:rPr>
                  <a:t>$2y^2=ax-a^2$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2</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𝑎</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$2y^2=ax-a^2$</a:t>
                </a:r>
                <a:endParaRPr sz="2800">
                  <a:solidFill>
                    <a:srgbClr val="15803D"/>
                  </a:solidFill>
                </a:endParaRPr>
              </a:p>
            </p:txBody>
          </p:sp>
        </mc:Fallback>
      </mc:AlternateContent>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cubic </a:t>
                </a:r>
                <a14:m>
                  <m:oMath xmlns:m="http://schemas.openxmlformats.org/officeDocument/2006/math">
                    <m:r>
                      <a:rPr lang="en-IN" sz="2400" i="1">
                        <a:solidFill>
                          <a:srgbClr val="78350F"/>
                        </a:solidFill>
                        <a:latin typeface="Cambria Math" panose="02040503050406030204" pitchFamily="18" charset="0"/>
                      </a:rPr>
                      <m:t>𝑎</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gives the three intersections of the circle with the parabola other than the vertex; Vieta on it gives the locus with no elimination.</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cubic </a:t>
                </a:r>
                <a:r>
                  <a:rPr lang="en-IN" sz="2400">
                    <a:solidFill>
                      <a:srgbClr val="78350F"/>
                    </a:solidFill>
                    <a:latin typeface="Cambria Math" panose="02040503050406030204" pitchFamily="18" charset="0"/>
                  </a:rPr>
                  <a:t>$at^3+(4a-2h)t-4k=0$</a:t>
                </a:r>
                <a:r>
                  <a:rPr sz="2400" b="0">
                    <a:solidFill>
                      <a:srgbClr val="78350F"/>
                    </a:solidFill>
                    <a:latin typeface="Arial"/>
                  </a:rPr>
                  <a:t> gives the three intersections of the circle with the parabola other than the vertex; Vieta on it gives the locus with no elimination.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Circle through the vertex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meets the parabola at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(vertex) and at the roots of </a:t>
                </a:r>
                <a14:m>
                  <m:oMath xmlns:m="http://schemas.openxmlformats.org/officeDocument/2006/math">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 (substituting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dividing by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are two roots; let the third be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 has no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term, 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Vieta: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Circle through the vertex </a:t>
                </a:r>
                <a:r>
                  <a:rPr lang="en-IN" sz="2400">
                    <a:solidFill>
                      <a:srgbClr val="111827"/>
                    </a:solidFill>
                    <a:latin typeface="Cambria Math" panose="02040503050406030204" pitchFamily="18" charset="0"/>
                  </a:rPr>
                  <a:t>$x^2+y^2-2hx-2ky=0$</a:t>
                </a:r>
                <a:r>
                  <a:rPr sz="2400" b="0">
                    <a:solidFill>
                      <a:srgbClr val="111827"/>
                    </a:solidFill>
                    <a:latin typeface="Arial"/>
                  </a:rPr>
                  <a:t> meets the parabola at </a:t>
                </a:r>
                <a:r>
                  <a:rPr lang="en-IN" sz="2400">
                    <a:solidFill>
                      <a:srgbClr val="111827"/>
                    </a:solidFill>
                    <a:latin typeface="Cambria Math" panose="02040503050406030204" pitchFamily="18" charset="0"/>
                  </a:rPr>
                  <a:t>$t=0$</a:t>
                </a:r>
                <a:r>
                  <a:rPr sz="2400" b="0">
                    <a:solidFill>
                      <a:srgbClr val="111827"/>
                    </a:solidFill>
                    <a:latin typeface="Arial"/>
                  </a:rPr>
                  <a:t> (vertex) and at the roots of </a:t>
                </a:r>
                <a:r>
                  <a:rPr lang="en-IN" sz="2400">
                    <a:solidFill>
                      <a:srgbClr val="111827"/>
                    </a:solidFill>
                    <a:latin typeface="Cambria Math" panose="02040503050406030204" pitchFamily="18" charset="0"/>
                  </a:rPr>
                  <a:t>$at^3+(4a-2h)t-4k=0$</a:t>
                </a:r>
                <a:r>
                  <a:rPr sz="2400" b="0">
                    <a:solidFill>
                      <a:srgbClr val="111827"/>
                    </a:solidFill>
                    <a:latin typeface="Arial"/>
                  </a:rPr>
                  <a:t> ....(*) (substituting </a:t>
                </a:r>
                <a:r>
                  <a:rPr lang="en-IN" sz="2400">
                    <a:solidFill>
                      <a:srgbClr val="111827"/>
                    </a:solidFill>
                    <a:latin typeface="Cambria Math" panose="02040503050406030204" pitchFamily="18" charset="0"/>
                  </a:rPr>
                  <a:t>$(at^2,2at)$</a:t>
                </a:r>
                <a:r>
                  <a:rPr sz="2400" b="0">
                    <a:solidFill>
                      <a:srgbClr val="111827"/>
                    </a:solidFill>
                    <a:latin typeface="Arial"/>
                  </a:rPr>
                  <a:t> and dividing by </a:t>
                </a:r>
                <a:r>
                  <a:rPr lang="en-IN" sz="2400">
                    <a:solidFill>
                      <a:srgbClr val="111827"/>
                    </a:solidFill>
                    <a:latin typeface="Cambria Math" panose="02040503050406030204" pitchFamily="18" charset="0"/>
                  </a:rPr>
                  <a:t>$at$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two roots; let the third be </a:t>
                </a:r>
                <a:r>
                  <a:rPr lang="en-IN" sz="2400">
                    <a:solidFill>
                      <a:srgbClr val="111827"/>
                    </a:solidFill>
                    <a:latin typeface="Cambria Math" panose="02040503050406030204" pitchFamily="18" charset="0"/>
                  </a:rPr>
                  <a:t>$t_3$</a:t>
                </a:r>
                <a:r>
                  <a:rPr sz="2400" b="0">
                    <a:solidFill>
                      <a:srgbClr val="111827"/>
                    </a:solidFill>
                    <a:latin typeface="Arial"/>
                  </a:rPr>
                  <a:t>. (*) has no </a:t>
                </a:r>
                <a:r>
                  <a:rPr lang="en-IN" sz="2400">
                    <a:solidFill>
                      <a:srgbClr val="111827"/>
                    </a:solidFill>
                    <a:latin typeface="Cambria Math" panose="02040503050406030204" pitchFamily="18" charset="0"/>
                  </a:rPr>
                  <a:t>$t^2$</a:t>
                </a:r>
                <a:r>
                  <a:rPr sz="2400" b="0">
                    <a:solidFill>
                      <a:srgbClr val="111827"/>
                    </a:solidFill>
                    <a:latin typeface="Arial"/>
                  </a:rPr>
                  <a:t> term, so </a:t>
                </a:r>
                <a:r>
                  <a:rPr lang="en-IN" sz="2400">
                    <a:solidFill>
                      <a:srgbClr val="111827"/>
                    </a:solidFill>
                    <a:latin typeface="Cambria Math" panose="02040503050406030204" pitchFamily="18" charset="0"/>
                  </a:rPr>
                  <a:t>$t_1+t_2+t_3=0$</a:t>
                </a:r>
                <a:r>
                  <a:rPr sz="2400" b="0">
                    <a:solidFill>
                      <a:srgbClr val="111827"/>
                    </a:solidFill>
                    <a:latin typeface="Arial"/>
                  </a:rPr>
                  <a:t> and </a:t>
                </a:r>
                <a:r>
                  <a:rPr lang="en-IN" sz="2400">
                    <a:solidFill>
                      <a:srgbClr val="111827"/>
                    </a:solidFill>
                    <a:latin typeface="Cambria Math" panose="02040503050406030204" pitchFamily="18" charset="0"/>
                  </a:rPr>
                  <a:t>$t_3=-(t_1+t_2)$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Vieta: </a:t>
                </a:r>
                <a:r>
                  <a:rPr lang="en-IN" sz="2400">
                    <a:solidFill>
                      <a:srgbClr val="111827"/>
                    </a:solidFill>
                    <a:latin typeface="Cambria Math" panose="02040503050406030204" pitchFamily="18" charset="0"/>
                  </a:rPr>
                  <a:t>$t_1t_2t_3=\frac{4k}{a}$</a:t>
                </a:r>
                <a:r>
                  <a:rPr sz="2400" b="0">
                    <a:solidFill>
                      <a:srgbClr val="111827"/>
                    </a:solidFill>
                    <a:latin typeface="Arial"/>
                  </a:rPr>
                  <a:t> and </a:t>
                </a:r>
                <a:r>
                  <a:rPr lang="en-IN" sz="2400">
                    <a:solidFill>
                      <a:srgbClr val="111827"/>
                    </a:solidFill>
                    <a:latin typeface="Cambria Math" panose="02040503050406030204" pitchFamily="18" charset="0"/>
                  </a:rPr>
                  <a:t>$t_1t_2+t_2t_3+t_3t_1=\frac{4a-2h}{a}$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chord: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and this equals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chord: </a:t>
                </a:r>
                <a:r>
                  <a:rPr lang="en-IN" sz="2400">
                    <a:solidFill>
                      <a:srgbClr val="111827"/>
                    </a:solidFill>
                    <a:latin typeface="Cambria Math" panose="02040503050406030204" pitchFamily="18" charset="0"/>
                  </a:rPr>
                  <a:t>$t_1(t_1+t_2)=-2$</a:t>
                </a:r>
                <a:r>
                  <a:rPr sz="2400" b="0">
                    <a:solidFill>
                      <a:srgbClr val="111827"/>
                    </a:solidFill>
                    <a:latin typeface="Arial"/>
                  </a:rPr>
                  <a:t>. Then </a:t>
                </a:r>
                <a:r>
                  <a:rPr lang="en-IN" sz="2400">
                    <a:solidFill>
                      <a:srgbClr val="111827"/>
                    </a:solidFill>
                    <a:latin typeface="Cambria Math" panose="02040503050406030204" pitchFamily="18" charset="0"/>
                  </a:rPr>
                  <a:t>$t_1t_2t_3=-t_1t_2(t_1+t_2)=2t_2=\frac{4k}{a}$</a:t>
                </a:r>
                <a:r>
                  <a:rPr sz="2400" b="0">
                    <a:solidFill>
                      <a:srgbClr val="111827"/>
                    </a:solidFill>
                    <a:latin typeface="Arial"/>
                  </a:rPr>
                  <a:t>, so </a:t>
                </a:r>
                <a:r>
                  <a:rPr lang="en-IN" sz="2400">
                    <a:solidFill>
                      <a:srgbClr val="111827"/>
                    </a:solidFill>
                    <a:latin typeface="Cambria Math" panose="02040503050406030204" pitchFamily="18" charset="0"/>
                  </a:rPr>
                  <a:t>$t_2=\frac{2k}{a}$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$t_1t_2+t_3(t_1+t_2)=t_1t_2-(t_1+t_2)^2=-(t_1^2+t_1t_2+t_2^2)=-(t_2^2-2)=2-t_2^2$</a:t>
                </a:r>
                <a:r>
                  <a:rPr sz="2400" b="0">
                    <a:solidFill>
                      <a:srgbClr val="111827"/>
                    </a:solidFill>
                    <a:latin typeface="Arial"/>
                  </a:rPr>
                  <a:t>, and this equals </a:t>
                </a:r>
                <a:r>
                  <a:rPr lang="en-IN" sz="2400">
                    <a:solidFill>
                      <a:srgbClr val="111827"/>
                    </a:solidFill>
                    <a:latin typeface="Cambria Math" panose="02040503050406030204" pitchFamily="18" charset="0"/>
                  </a:rPr>
                  <a:t>$4-\frac{2h}{a}$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$\frac{2h}{a}=2+t_2^2=2+\frac{4k^2}{a^2}$</a:t>
                </a:r>
                <a:r>
                  <a:rPr sz="2400" b="0">
                    <a:solidFill>
                      <a:srgbClr val="111827"/>
                    </a:solidFill>
                    <a:latin typeface="Arial"/>
                  </a:rPr>
                  <a:t>, i.e. </a:t>
                </a:r>
                <a:r>
                  <a:rPr lang="en-IN" sz="2400">
                    <a:solidFill>
                      <a:srgbClr val="111827"/>
                    </a:solidFill>
                    <a:latin typeface="Cambria Math" panose="02040503050406030204" pitchFamily="18" charset="0"/>
                  </a:rPr>
                  <a:t>$2k^2=ah-a^2$</a:t>
                </a:r>
                <a:r>
                  <a:rPr sz="2400" b="0">
                    <a:solidFill>
                      <a:srgbClr val="111827"/>
                    </a:solidFill>
                    <a:latin typeface="Arial"/>
                  </a:rPr>
                  <a:t>: </a:t>
                </a:r>
                <a:r>
                  <a:rPr lang="en-IN" sz="2400">
                    <a:solidFill>
                      <a:srgbClr val="111827"/>
                    </a:solidFill>
                    <a:latin typeface="Cambria Math" panose="02040503050406030204" pitchFamily="18" charset="0"/>
                  </a:rPr>
                  <a:t>$2y^2=ax-a^2$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2</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𝑎</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$2y^2=ax-a^2$</a:t>
                </a:r>
                <a:endParaRPr sz="2800">
                  <a:solidFill>
                    <a:srgbClr val="15803D"/>
                  </a:solidFill>
                </a:endParaRPr>
              </a:p>
            </p:txBody>
          </p:sp>
        </mc:Fallback>
      </mc:AlternateContent>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Circle through the vertex meets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again at three points with parameters summing to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(the four intersection parameters of a circle and the parabola always add to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chord: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Cubic </a:t>
                </a:r>
                <a14:m>
                  <m:oMath xmlns:m="http://schemas.openxmlformats.org/officeDocument/2006/math">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as the locus requires.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Circle through the vertex meets </a:t>
                </a:r>
                <a:r>
                  <a:rPr lang="en-IN" sz="2400">
                    <a:solidFill>
                      <a:srgbClr val="111827"/>
                    </a:solidFill>
                    <a:latin typeface="Cambria Math" panose="02040503050406030204" pitchFamily="18" charset="0"/>
                  </a:rPr>
                  <a:t>$y^2=4ax$</a:t>
                </a:r>
                <a:r>
                  <a:rPr sz="2400" b="0">
                    <a:solidFill>
                      <a:srgbClr val="111827"/>
                    </a:solidFill>
                    <a:latin typeface="Arial"/>
                  </a:rPr>
                  <a:t> again at three points with parameters summing to </a:t>
                </a:r>
                <a:r>
                  <a:rPr lang="en-IN" sz="2400">
                    <a:solidFill>
                      <a:srgbClr val="111827"/>
                    </a:solidFill>
                    <a:latin typeface="Cambria Math" panose="02040503050406030204" pitchFamily="18" charset="0"/>
                  </a:rPr>
                  <a:t>$0$</a:t>
                </a:r>
                <a:r>
                  <a:rPr sz="2400" b="0">
                    <a:solidFill>
                      <a:srgbClr val="111827"/>
                    </a:solidFill>
                    <a:latin typeface="Arial"/>
                  </a:rPr>
                  <a:t> (the four intersection parameters of a circle and the parabola always add to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chord: </a:t>
                </a:r>
                <a:r>
                  <a:rPr lang="en-IN" sz="2400">
                    <a:solidFill>
                      <a:srgbClr val="111827"/>
                    </a:solidFill>
                    <a:latin typeface="Cambria Math" panose="02040503050406030204" pitchFamily="18" charset="0"/>
                  </a:rPr>
                  <a:t>$t_2=-t_1-\frac{2}{t_1}$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Cubic </a:t>
                </a:r>
                <a:r>
                  <a:rPr lang="en-IN" sz="2400">
                    <a:solidFill>
                      <a:srgbClr val="111827"/>
                    </a:solidFill>
                    <a:latin typeface="Cambria Math" panose="02040503050406030204" pitchFamily="18" charset="0"/>
                  </a:rPr>
                  <a:t>$at^3+(4a-2h)t-4k=0$</a:t>
                </a:r>
                <a:r>
                  <a:rPr sz="2400" b="0">
                    <a:solidFill>
                      <a:srgbClr val="111827"/>
                    </a:solidFill>
                    <a:latin typeface="Arial"/>
                  </a:rPr>
                  <a:t> has </a:t>
                </a:r>
                <a:r>
                  <a:rPr lang="en-IN" sz="2400">
                    <a:solidFill>
                      <a:srgbClr val="111827"/>
                    </a:solidFill>
                    <a:latin typeface="Cambria Math" panose="02040503050406030204" pitchFamily="18" charset="0"/>
                  </a:rPr>
                  <a:t>$\sum t=0$</a:t>
                </a:r>
                <a:r>
                  <a:rPr sz="2400" b="0">
                    <a:solidFill>
                      <a:srgbClr val="111827"/>
                    </a:solidFill>
                    <a:latin typeface="Arial"/>
                  </a:rPr>
                  <a:t>, </a:t>
                </a:r>
                <a:r>
                  <a:rPr lang="en-IN" sz="2400">
                    <a:solidFill>
                      <a:srgbClr val="111827"/>
                    </a:solidFill>
                    <a:latin typeface="Cambria Math" panose="02040503050406030204" pitchFamily="18" charset="0"/>
                  </a:rPr>
                  <a:t>$\sum t_it_j=\frac{4a-2h}{a}$</a:t>
                </a:r>
                <a:r>
                  <a:rPr sz="2400" b="0">
                    <a:solidFill>
                      <a:srgbClr val="111827"/>
                    </a:solidFill>
                    <a:latin typeface="Arial"/>
                  </a:rPr>
                  <a:t>, </a:t>
                </a:r>
                <a:r>
                  <a:rPr lang="en-IN" sz="2400">
                    <a:solidFill>
                      <a:srgbClr val="111827"/>
                    </a:solidFill>
                    <a:latin typeface="Cambria Math" panose="02040503050406030204" pitchFamily="18" charset="0"/>
                  </a:rPr>
                  <a:t>$\prod t_i=\frac{4k}{a}$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a:t>
                </a:r>
                <a:r>
                  <a:rPr lang="en-IN" sz="2400">
                    <a:solidFill>
                      <a:srgbClr val="111827"/>
                    </a:solidFill>
                    <a:latin typeface="Cambria Math" panose="02040503050406030204" pitchFamily="18" charset="0"/>
                  </a:rPr>
                  <a:t>$a=1$</a:t>
                </a:r>
                <a:r>
                  <a:rPr sz="2400" b="0">
                    <a:solidFill>
                      <a:srgbClr val="111827"/>
                    </a:solidFill>
                    <a:latin typeface="Arial"/>
                  </a:rPr>
                  <a:t>, </a:t>
                </a:r>
                <a:r>
                  <a:rPr lang="en-IN" sz="2400">
                    <a:solidFill>
                      <a:srgbClr val="111827"/>
                    </a:solidFill>
                    <a:latin typeface="Cambria Math" panose="02040503050406030204" pitchFamily="18" charset="0"/>
                  </a:rPr>
                  <a:t>$t_1=1$</a:t>
                </a:r>
                <a:r>
                  <a:rPr sz="2400" b="0">
                    <a:solidFill>
                      <a:srgbClr val="111827"/>
                    </a:solidFill>
                    <a:latin typeface="Arial"/>
                  </a:rPr>
                  <a:t>, </a:t>
                </a:r>
                <a:r>
                  <a:rPr lang="en-IN" sz="2400">
                    <a:solidFill>
                      <a:srgbClr val="111827"/>
                    </a:solidFill>
                    <a:latin typeface="Cambria Math" panose="02040503050406030204" pitchFamily="18" charset="0"/>
                  </a:rPr>
                  <a:t>$t_2=-3$</a:t>
                </a:r>
                <a:r>
                  <a:rPr sz="2400" b="0">
                    <a:solidFill>
                      <a:srgbClr val="111827"/>
                    </a:solidFill>
                    <a:latin typeface="Arial"/>
                  </a:rPr>
                  <a:t>): </a:t>
                </a:r>
                <a:r>
                  <a:rPr lang="en-IN" sz="2400">
                    <a:solidFill>
                      <a:srgbClr val="111827"/>
                    </a:solidFill>
                    <a:latin typeface="Cambria Math" panose="02040503050406030204" pitchFamily="18" charset="0"/>
                  </a:rPr>
                  <a:t>$t_3=2$</a:t>
                </a:r>
                <a:r>
                  <a:rPr sz="2400" b="0">
                    <a:solidFill>
                      <a:srgbClr val="111827"/>
                    </a:solidFill>
                    <a:latin typeface="Arial"/>
                  </a:rPr>
                  <a:t>, </a:t>
                </a:r>
                <a:r>
                  <a:rPr lang="en-IN" sz="2400">
                    <a:solidFill>
                      <a:srgbClr val="111827"/>
                    </a:solidFill>
                    <a:latin typeface="Cambria Math" panose="02040503050406030204" pitchFamily="18" charset="0"/>
                  </a:rPr>
                  <a:t>$\sum t_it_j=-3-6+2=-7$</a:t>
                </a:r>
                <a:r>
                  <a:rPr sz="2400" b="0">
                    <a:solidFill>
                      <a:srgbClr val="111827"/>
                    </a:solidFill>
                    <a:latin typeface="Arial"/>
                  </a:rPr>
                  <a:t> gives </a:t>
                </a:r>
                <a:r>
                  <a:rPr lang="en-IN" sz="2400">
                    <a:solidFill>
                      <a:srgbClr val="111827"/>
                    </a:solidFill>
                    <a:latin typeface="Cambria Math" panose="02040503050406030204" pitchFamily="18" charset="0"/>
                  </a:rPr>
                  <a:t>$h=\frac{11}{2}$</a:t>
                </a:r>
                <a:r>
                  <a:rPr sz="2400" b="0">
                    <a:solidFill>
                      <a:srgbClr val="111827"/>
                    </a:solidFill>
                    <a:latin typeface="Arial"/>
                  </a:rPr>
                  <a:t> and </a:t>
                </a:r>
                <a:r>
                  <a:rPr lang="en-IN" sz="2400">
                    <a:solidFill>
                      <a:srgbClr val="111827"/>
                    </a:solidFill>
                    <a:latin typeface="Cambria Math" panose="02040503050406030204" pitchFamily="18" charset="0"/>
                  </a:rPr>
                  <a:t>$\prod t_i=-6$</a:t>
                </a:r>
                <a:r>
                  <a:rPr sz="2400" b="0">
                    <a:solidFill>
                      <a:srgbClr val="111827"/>
                    </a:solidFill>
                    <a:latin typeface="Arial"/>
                  </a:rPr>
                  <a:t> gives </a:t>
                </a:r>
                <a:r>
                  <a:rPr lang="en-IN" sz="2400">
                    <a:solidFill>
                      <a:srgbClr val="111827"/>
                    </a:solidFill>
                    <a:latin typeface="Cambria Math" panose="02040503050406030204" pitchFamily="18" charset="0"/>
                  </a:rPr>
                  <a:t>$k=-\frac32$</a:t>
                </a:r>
                <a:r>
                  <a:rPr sz="2400" b="0">
                    <a:solidFill>
                      <a:srgbClr val="111827"/>
                    </a:solidFill>
                    <a:latin typeface="Arial"/>
                  </a:rPr>
                  <a:t>; then </a:t>
                </a:r>
                <a:r>
                  <a:rPr lang="en-IN" sz="2400">
                    <a:solidFill>
                      <a:srgbClr val="111827"/>
                    </a:solidFill>
                    <a:latin typeface="Cambria Math" panose="02040503050406030204" pitchFamily="18" charset="0"/>
                  </a:rPr>
                  <a:t>$2k^2=\frac92=h-1$</a:t>
                </a:r>
                <a:r>
                  <a:rPr sz="2400" b="0">
                    <a:solidFill>
                      <a:srgbClr val="111827"/>
                    </a:solidFill>
                    <a:latin typeface="Arial"/>
                  </a:rPr>
                  <a:t>, as the locus requires.</a:t>
                </a:r>
                <a:endParaRPr sz="2400">
                  <a:solidFill>
                    <a:srgbClr val="111827"/>
                  </a:solidFill>
                </a:endParaRPr>
              </a:p>
            </p:txBody>
          </p:sp>
        </mc:Fallback>
      </mc:AlternateContent>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94030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equations of two tangents to a parabola are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one more tangent at the vertex is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straight line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𝑚</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a variable chord of the parabola.\n(a) Find the minimum length of the focal chord.\n(b) Find the locus of the point of intersection of the tangents drawn at the extremities of the variable chord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.\n(c) If </a:t>
                </a:r>
                <a14:m>
                  <m:oMath xmlns:m="http://schemas.openxmlformats.org/officeDocument/2006/math">
                    <m:sSup>
                      <m:e>
                        <m:r>
                          <a:rPr lang="en-IN" sz="2400" i="1">
                            <a:solidFill>
                              <a:srgbClr val="111827"/>
                            </a:solidFill>
                            <a:latin typeface="Cambria Math" panose="02040503050406030204" pitchFamily="18" charset="0"/>
                          </a:rPr>
                          <m:t>𝐿</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is the family of lines perpendicular to the variable chord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which pass through the point of concurrency of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find the locus of the middle point of the point of intersection of </a:t>
                </a:r>
                <a14:m>
                  <m:oMath xmlns:m="http://schemas.openxmlformats.org/officeDocument/2006/math">
                    <m:sSup>
                      <m:e>
                        <m:r>
                          <a:rPr lang="en-IN" sz="2400" i="1">
                            <a:solidFill>
                              <a:srgbClr val="111827"/>
                            </a:solidFill>
                            <a:latin typeface="Cambria Math" panose="02040503050406030204" pitchFamily="18" charset="0"/>
                          </a:rPr>
                          <m:t>𝐿</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with the directrix of the parabola and the point of concurrency of </a:t>
                </a:r>
                <a14:m>
                  <m:oMath xmlns:m="http://schemas.openxmlformats.org/officeDocument/2006/math">
                    <m:sSup>
                      <m:e>
                        <m:r>
                          <a:rPr lang="en-IN" sz="2400" i="1">
                            <a:solidFill>
                              <a:srgbClr val="111827"/>
                            </a:solidFill>
                            <a:latin typeface="Cambria Math" panose="02040503050406030204" pitchFamily="18" charset="0"/>
                          </a:rPr>
                          <m:t>𝐿</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494030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equations of two tangents to a parabola are </a:t>
                </a:r>
                <a:r>
                  <a:rPr lang="en-IN" sz="2400">
                    <a:solidFill>
                      <a:srgbClr val="111827"/>
                    </a:solidFill>
                    <a:latin typeface="Cambria Math" panose="02040503050406030204" pitchFamily="18" charset="0"/>
                  </a:rPr>
                  <a:t>$L_1:\ y+3=-\frac13(x+1)$</a:t>
                </a:r>
                <a:r>
                  <a:rPr sz="2400" b="0">
                    <a:solidFill>
                      <a:srgbClr val="111827"/>
                    </a:solidFill>
                    <a:latin typeface="Arial"/>
                  </a:rPr>
                  <a:t> and </a:t>
                </a:r>
                <a:r>
                  <a:rPr lang="en-IN" sz="2400">
                    <a:solidFill>
                      <a:srgbClr val="111827"/>
                    </a:solidFill>
                    <a:latin typeface="Cambria Math" panose="02040503050406030204" pitchFamily="18" charset="0"/>
                  </a:rPr>
                  <a:t>$L_2:\ y-4=\frac14(x+1)$</a:t>
                </a:r>
                <a:r>
                  <a:rPr sz="2400" b="0">
                    <a:solidFill>
                      <a:srgbClr val="111827"/>
                    </a:solidFill>
                    <a:latin typeface="Arial"/>
                  </a:rPr>
                  <a:t>, and one more tangent at the vertex is </a:t>
                </a:r>
                <a:r>
                  <a:rPr lang="en-IN" sz="2400">
                    <a:solidFill>
                      <a:srgbClr val="111827"/>
                    </a:solidFill>
                    <a:latin typeface="Cambria Math" panose="02040503050406030204" pitchFamily="18" charset="0"/>
                  </a:rPr>
                  <a:t>$L_3:\ x+1=0$</a:t>
                </a:r>
                <a:r>
                  <a:rPr sz="2400" b="0">
                    <a:solidFill>
                      <a:srgbClr val="111827"/>
                    </a:solidFill>
                    <a:latin typeface="Arial"/>
                  </a:rPr>
                  <a:t>. The straight line </a:t>
                </a:r>
                <a:r>
                  <a:rPr lang="en-IN" sz="2400">
                    <a:solidFill>
                      <a:srgbClr val="111827"/>
                    </a:solidFill>
                    <a:latin typeface="Cambria Math" panose="02040503050406030204" pitchFamily="18" charset="0"/>
                  </a:rPr>
                  <a:t>$L:\ y-3=m\left(x-\frac3m\right),\ m\neq0$</a:t>
                </a:r>
                <a:r>
                  <a:rPr sz="2400" b="0">
                    <a:solidFill>
                      <a:srgbClr val="111827"/>
                    </a:solidFill>
                    <a:latin typeface="Arial"/>
                  </a:rPr>
                  <a:t> is a variable chord of the parabola.\n(a) Find the minimum length of the focal chord.\n(b) Find the locus of the point of intersection of the tangents drawn at the extremities of the variable chord </a:t>
                </a:r>
                <a:r>
                  <a:rPr lang="en-IN" sz="2400">
                    <a:solidFill>
                      <a:srgbClr val="111827"/>
                    </a:solidFill>
                    <a:latin typeface="Cambria Math" panose="02040503050406030204" pitchFamily="18" charset="0"/>
                  </a:rPr>
                  <a:t>$L$</a:t>
                </a:r>
                <a:r>
                  <a:rPr sz="2400" b="0">
                    <a:solidFill>
                      <a:srgbClr val="111827"/>
                    </a:solidFill>
                    <a:latin typeface="Arial"/>
                  </a:rPr>
                  <a:t>.\n(c) If </a:t>
                </a:r>
                <a:r>
                  <a:rPr lang="en-IN" sz="2400">
                    <a:solidFill>
                      <a:srgbClr val="111827"/>
                    </a:solidFill>
                    <a:latin typeface="Cambria Math" panose="02040503050406030204" pitchFamily="18" charset="0"/>
                  </a:rPr>
                  <a:t>$L'$</a:t>
                </a:r>
                <a:r>
                  <a:rPr sz="2400" b="0">
                    <a:solidFill>
                      <a:srgbClr val="111827"/>
                    </a:solidFill>
                    <a:latin typeface="Arial"/>
                  </a:rPr>
                  <a:t> is the family of lines perpendicular to the variable chord </a:t>
                </a:r>
                <a:r>
                  <a:rPr lang="en-IN" sz="2400">
                    <a:solidFill>
                      <a:srgbClr val="111827"/>
                    </a:solidFill>
                    <a:latin typeface="Cambria Math" panose="02040503050406030204" pitchFamily="18" charset="0"/>
                  </a:rPr>
                  <a:t>$L$</a:t>
                </a:r>
                <a:r>
                  <a:rPr sz="2400" b="0">
                    <a:solidFill>
                      <a:srgbClr val="111827"/>
                    </a:solidFill>
                    <a:latin typeface="Arial"/>
                  </a:rPr>
                  <a:t> which pass through the point of concurrency of </a:t>
                </a:r>
                <a:r>
                  <a:rPr lang="en-IN" sz="2400">
                    <a:solidFill>
                      <a:srgbClr val="111827"/>
                    </a:solidFill>
                    <a:latin typeface="Cambria Math" panose="02040503050406030204" pitchFamily="18" charset="0"/>
                  </a:rPr>
                  <a:t>$L$</a:t>
                </a:r>
                <a:r>
                  <a:rPr sz="2400" b="0">
                    <a:solidFill>
                      <a:srgbClr val="111827"/>
                    </a:solidFill>
                    <a:latin typeface="Arial"/>
                  </a:rPr>
                  <a:t>, find the locus of the middle point of the point of intersection of </a:t>
                </a:r>
                <a:r>
                  <a:rPr lang="en-IN" sz="2400">
                    <a:solidFill>
                      <a:srgbClr val="111827"/>
                    </a:solidFill>
                    <a:latin typeface="Cambria Math" panose="02040503050406030204" pitchFamily="18" charset="0"/>
                  </a:rPr>
                  <a:t>$L'$</a:t>
                </a:r>
                <a:r>
                  <a:rPr sz="2400" b="0">
                    <a:solidFill>
                      <a:srgbClr val="111827"/>
                    </a:solidFill>
                    <a:latin typeface="Arial"/>
                  </a:rPr>
                  <a:t> with the directrix of the parabola and the point of concurrency of </a:t>
                </a:r>
                <a:r>
                  <a:rPr lang="en-IN" sz="2400">
                    <a:solidFill>
                      <a:srgbClr val="111827"/>
                    </a:solidFill>
                    <a:latin typeface="Cambria Math" panose="02040503050406030204" pitchFamily="18" charset="0"/>
                  </a:rPr>
                  <a:t>$L'$</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Tangents to a parabola (foot of perpendicular from the focus), Focal chords and directrix</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foot of the perpendicular from the focus on any tangent lies on the vertex tangent, so the perpendiculars at </a:t>
                </a:r>
                <a14:m>
                  <m:oMath xmlns:m="http://schemas.openxmlformats.org/officeDocument/2006/math">
                    <m:sSub>
                      <m:e>
                        <m:r>
                          <a:rPr lang="en-IN" sz="2400" i="1">
                            <a:solidFill>
                              <a:srgbClr val="78350F"/>
                            </a:solidFill>
                            <a:latin typeface="Cambria Math" panose="02040503050406030204" pitchFamily="18" charset="0"/>
                          </a:rPr>
                          <m:t>𝐿</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𝐿</m:t>
                        </m:r>
                      </m:e>
                      <m:sub>
                        <m:r>
                          <a:rPr lang="en-IN" sz="2400" i="1">
                            <a:solidFill>
                              <a:srgbClr val="78350F"/>
                            </a:solidFill>
                            <a:latin typeface="Cambria Math" panose="02040503050406030204" pitchFamily="18" charset="0"/>
                          </a:rPr>
                          <m:t>3</m:t>
                        </m:r>
                      </m:sub>
                    </m:sSub>
                  </m:oMath>
                </a14:m>
                <a:r>
                  <a:rPr sz="2400" b="0">
                    <a:solidFill>
                      <a:srgbClr val="78350F"/>
                    </a:solidFill>
                    <a:latin typeface="Arial"/>
                  </a:rPr>
                  <a:t> and </a:t>
                </a:r>
                <a14:m>
                  <m:oMath xmlns:m="http://schemas.openxmlformats.org/officeDocument/2006/math">
                    <m:sSub>
                      <m:e>
                        <m:r>
                          <a:rPr lang="en-IN" sz="2400" i="1">
                            <a:solidFill>
                              <a:srgbClr val="78350F"/>
                            </a:solidFill>
                            <a:latin typeface="Cambria Math" panose="02040503050406030204" pitchFamily="18" charset="0"/>
                          </a:rPr>
                          <m:t>𝐿</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𝐿</m:t>
                        </m:r>
                      </m:e>
                      <m:sub>
                        <m:r>
                          <a:rPr lang="en-IN" sz="2400" i="1">
                            <a:solidFill>
                              <a:srgbClr val="78350F"/>
                            </a:solidFill>
                            <a:latin typeface="Cambria Math" panose="02040503050406030204" pitchFamily="18" charset="0"/>
                          </a:rPr>
                          <m:t>3</m:t>
                        </m:r>
                      </m:sub>
                    </m:sSub>
                  </m:oMath>
                </a14:m>
                <a:r>
                  <a:rPr sz="2400" b="0">
                    <a:solidFill>
                      <a:srgbClr val="78350F"/>
                    </a:solidFill>
                    <a:latin typeface="Arial"/>
                  </a:rPr>
                  <a:t> meet at the focus.</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foot of the perpendicular from the focus on any tangent lies on the vertex tangent, so the perpendiculars at </a:t>
                </a:r>
                <a:r>
                  <a:rPr lang="en-IN" sz="2400">
                    <a:solidFill>
                      <a:srgbClr val="78350F"/>
                    </a:solidFill>
                    <a:latin typeface="Cambria Math" panose="02040503050406030204" pitchFamily="18" charset="0"/>
                  </a:rPr>
                  <a:t>$L_1\cap L_3$</a:t>
                </a:r>
                <a:r>
                  <a:rPr sz="2400" b="0">
                    <a:solidFill>
                      <a:srgbClr val="78350F"/>
                    </a:solidFill>
                    <a:latin typeface="Arial"/>
                  </a:rPr>
                  <a:t> and </a:t>
                </a:r>
                <a:r>
                  <a:rPr lang="en-IN" sz="2400">
                    <a:solidFill>
                      <a:srgbClr val="78350F"/>
                    </a:solidFill>
                    <a:latin typeface="Cambria Math" panose="02040503050406030204" pitchFamily="18" charset="0"/>
                  </a:rPr>
                  <a:t>$L_2\cap L_3$</a:t>
                </a:r>
                <a:r>
                  <a:rPr sz="2400" b="0">
                    <a:solidFill>
                      <a:srgbClr val="78350F"/>
                    </a:solidFill>
                    <a:latin typeface="Arial"/>
                  </a:rPr>
                  <a:t> meet at the focus.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the tangent at the vertex.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$L_3:\ x+1=0$</a:t>
                </a:r>
                <a:r>
                  <a:rPr sz="2400" b="0">
                    <a:solidFill>
                      <a:srgbClr val="111827"/>
                    </a:solidFill>
                    <a:latin typeface="Arial"/>
                  </a:rPr>
                  <a:t> is the tangent at the vertex. </a:t>
                </a:r>
                <a:r>
                  <a:rPr lang="en-IN" sz="2400">
                    <a:solidFill>
                      <a:srgbClr val="111827"/>
                    </a:solidFill>
                    <a:latin typeface="Cambria Math" panose="02040503050406030204" pitchFamily="18" charset="0"/>
                  </a:rPr>
                  <a:t>$L_1\cap L_3=(-1,-3)$</a:t>
                </a:r>
                <a:r>
                  <a:rPr sz="2400" b="0">
                    <a:solidFill>
                      <a:srgbClr val="111827"/>
                    </a:solidFill>
                    <a:latin typeface="Arial"/>
                  </a:rPr>
                  <a:t> and </a:t>
                </a:r>
                <a:r>
                  <a:rPr lang="en-IN" sz="2400">
                    <a:solidFill>
                      <a:srgbClr val="111827"/>
                    </a:solidFill>
                    <a:latin typeface="Cambria Math" panose="02040503050406030204" pitchFamily="18" charset="0"/>
                  </a:rPr>
                  <a:t>$L_2\cap L_3=(-1,4)$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foot of the perpendicular from the focus to a tangent lies on the vertex tangent. So the focus lies on the perpendicular to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through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slope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oMath>
                </a14:m>
                <a:r>
                  <a:rPr sz="2400" b="0">
                    <a:solidFill>
                      <a:srgbClr val="111827"/>
                    </a:solidFill>
                    <a:latin typeface="Arial"/>
                  </a:rPr>
                  <a:t> ....(i).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also lies on the perpendicular to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through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slope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....(ii).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 and (ii) meet at the focus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The minimum focal chord is the latus rectum: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𝑑𝑖𝑠𝑡𝑎𝑛𝑐𝑒 𝑓𝑟𝑜𝑚 𝑡ℎ𝑒 𝑓𝑜𝑐𝑢𝑠 𝑡𝑜 𝑡ℎ𝑒 𝑣𝑒𝑟𝑡𝑒𝑥 𝑡𝑎𝑛𝑔𝑒𝑛𝑡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variable chord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𝑚</m:t>
                            </m:r>
                          </m:den>
                        </m:f>
                      </m:e>
                    </m:d>
                  </m:oMath>
                </a14:m>
                <a:r>
                  <a:rPr sz="2400" b="0">
                    <a:solidFill>
                      <a:srgbClr val="111827"/>
                    </a:solidFill>
                    <a:latin typeface="Arial"/>
                  </a:rPr>
                  <a:t> simplifies to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oMath>
                </a14:m>
                <a:r>
                  <a:rPr sz="2400" b="0">
                    <a:solidFill>
                      <a:srgbClr val="111827"/>
                    </a:solidFill>
                    <a:latin typeface="Arial"/>
                  </a:rPr>
                  <a:t>, which passes through the focus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it is a focal chord.</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foot of the perpendicular from the focus to a tangent lies on the vertex tangent. So the focus lies on the perpendicular to </a:t>
                </a:r>
                <a:r>
                  <a:rPr lang="en-IN" sz="2400">
                    <a:solidFill>
                      <a:srgbClr val="111827"/>
                    </a:solidFill>
                    <a:latin typeface="Cambria Math" panose="02040503050406030204" pitchFamily="18" charset="0"/>
                  </a:rPr>
                  <a:t>$L_1$</a:t>
                </a:r>
                <a:r>
                  <a:rPr sz="2400" b="0">
                    <a:solidFill>
                      <a:srgbClr val="111827"/>
                    </a:solidFill>
                    <a:latin typeface="Arial"/>
                  </a:rPr>
                  <a:t> through </a:t>
                </a:r>
                <a:r>
                  <a:rPr lang="en-IN" sz="2400">
                    <a:solidFill>
                      <a:srgbClr val="111827"/>
                    </a:solidFill>
                    <a:latin typeface="Cambria Math" panose="02040503050406030204" pitchFamily="18" charset="0"/>
                  </a:rPr>
                  <a:t>$(-1,-3)$</a:t>
                </a:r>
                <a:r>
                  <a:rPr sz="2400" b="0">
                    <a:solidFill>
                      <a:srgbClr val="111827"/>
                    </a:solidFill>
                    <a:latin typeface="Arial"/>
                  </a:rPr>
                  <a:t>: slope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$y+3=3(x+1)$</a:t>
                </a:r>
                <a:r>
                  <a:rPr sz="2400" b="0">
                    <a:solidFill>
                      <a:srgbClr val="111827"/>
                    </a:solidFill>
                    <a:latin typeface="Arial"/>
                  </a:rPr>
                  <a:t>, i.e. </a:t>
                </a:r>
                <a:r>
                  <a:rPr lang="en-IN" sz="2400">
                    <a:solidFill>
                      <a:srgbClr val="111827"/>
                    </a:solidFill>
                    <a:latin typeface="Cambria Math" panose="02040503050406030204" pitchFamily="18" charset="0"/>
                  </a:rPr>
                  <a:t>$y=3x$</a:t>
                </a:r>
                <a:r>
                  <a:rPr sz="2400" b="0">
                    <a:solidFill>
                      <a:srgbClr val="111827"/>
                    </a:solidFill>
                    <a:latin typeface="Arial"/>
                  </a:rPr>
                  <a:t> ....(i).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also lies on the perpendicular to </a:t>
                </a:r>
                <a:r>
                  <a:rPr lang="en-IN" sz="2400">
                    <a:solidFill>
                      <a:srgbClr val="111827"/>
                    </a:solidFill>
                    <a:latin typeface="Cambria Math" panose="02040503050406030204" pitchFamily="18" charset="0"/>
                  </a:rPr>
                  <a:t>$L_2$</a:t>
                </a:r>
                <a:r>
                  <a:rPr sz="2400" b="0">
                    <a:solidFill>
                      <a:srgbClr val="111827"/>
                    </a:solidFill>
                    <a:latin typeface="Arial"/>
                  </a:rPr>
                  <a:t> through </a:t>
                </a:r>
                <a:r>
                  <a:rPr lang="en-IN" sz="2400">
                    <a:solidFill>
                      <a:srgbClr val="111827"/>
                    </a:solidFill>
                    <a:latin typeface="Cambria Math" panose="02040503050406030204" pitchFamily="18" charset="0"/>
                  </a:rPr>
                  <a:t>$(-1,4)$</a:t>
                </a:r>
                <a:r>
                  <a:rPr sz="2400" b="0">
                    <a:solidFill>
                      <a:srgbClr val="111827"/>
                    </a:solidFill>
                    <a:latin typeface="Arial"/>
                  </a:rPr>
                  <a:t>: slope </a:t>
                </a:r>
                <a:r>
                  <a:rPr lang="en-IN" sz="2400">
                    <a:solidFill>
                      <a:srgbClr val="111827"/>
                    </a:solidFill>
                    <a:latin typeface="Cambria Math" panose="02040503050406030204" pitchFamily="18" charset="0"/>
                  </a:rPr>
                  <a:t>$-4$</a:t>
                </a:r>
                <a:r>
                  <a:rPr sz="2400" b="0">
                    <a:solidFill>
                      <a:srgbClr val="111827"/>
                    </a:solidFill>
                    <a:latin typeface="Arial"/>
                  </a:rPr>
                  <a:t>, </a:t>
                </a:r>
                <a:r>
                  <a:rPr lang="en-IN" sz="2400">
                    <a:solidFill>
                      <a:srgbClr val="111827"/>
                    </a:solidFill>
                    <a:latin typeface="Cambria Math" panose="02040503050406030204" pitchFamily="18" charset="0"/>
                  </a:rPr>
                  <a:t>$y-4=-4(x+1)$</a:t>
                </a:r>
                <a:r>
                  <a:rPr sz="2400" b="0">
                    <a:solidFill>
                      <a:srgbClr val="111827"/>
                    </a:solidFill>
                    <a:latin typeface="Arial"/>
                  </a:rPr>
                  <a:t>, i.e. </a:t>
                </a:r>
                <a:r>
                  <a:rPr lang="en-IN" sz="2400">
                    <a:solidFill>
                      <a:srgbClr val="111827"/>
                    </a:solidFill>
                    <a:latin typeface="Cambria Math" panose="02040503050406030204" pitchFamily="18" charset="0"/>
                  </a:rPr>
                  <a:t>$y=-4x$</a:t>
                </a:r>
                <a:r>
                  <a:rPr sz="2400" b="0">
                    <a:solidFill>
                      <a:srgbClr val="111827"/>
                    </a:solidFill>
                    <a:latin typeface="Arial"/>
                  </a:rPr>
                  <a:t> ....(ii).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 and (ii) meet at the focus </a:t>
                </a:r>
                <a:r>
                  <a:rPr lang="en-IN" sz="2400">
                    <a:solidFill>
                      <a:srgbClr val="111827"/>
                    </a:solidFill>
                    <a:latin typeface="Cambria Math" panose="02040503050406030204" pitchFamily="18" charset="0"/>
                  </a:rPr>
                  <a:t>$S(0,0)$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The minimum focal chord is the latus rectum: </a:t>
                </a:r>
                <a:r>
                  <a:rPr lang="en-IN" sz="2400">
                    <a:solidFill>
                      <a:srgbClr val="111827"/>
                    </a:solidFill>
                    <a:latin typeface="Cambria Math" panose="02040503050406030204" pitchFamily="18" charset="0"/>
                  </a:rPr>
                  <a:t>$4a=4\times(\text{distance from the focus to the vertex tangent})=4\times1=4$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variable chord </a:t>
                </a:r>
                <a:r>
                  <a:rPr lang="en-IN" sz="2400">
                    <a:solidFill>
                      <a:srgbClr val="111827"/>
                    </a:solidFill>
                    <a:latin typeface="Cambria Math" panose="02040503050406030204" pitchFamily="18" charset="0"/>
                  </a:rPr>
                  <a:t>$L:\ y-3=m\left(x-\frac3m\right)$</a:t>
                </a:r>
                <a:r>
                  <a:rPr sz="2400" b="0">
                    <a:solidFill>
                      <a:srgbClr val="111827"/>
                    </a:solidFill>
                    <a:latin typeface="Arial"/>
                  </a:rPr>
                  <a:t> simplifies to </a:t>
                </a:r>
                <a:r>
                  <a:rPr lang="en-IN" sz="2400">
                    <a:solidFill>
                      <a:srgbClr val="111827"/>
                    </a:solidFill>
                    <a:latin typeface="Cambria Math" panose="02040503050406030204" pitchFamily="18" charset="0"/>
                  </a:rPr>
                  <a:t>$y=mx$</a:t>
                </a:r>
                <a:r>
                  <a:rPr sz="2400" b="0">
                    <a:solidFill>
                      <a:srgbClr val="111827"/>
                    </a:solidFill>
                    <a:latin typeface="Arial"/>
                  </a:rPr>
                  <a:t>, which passes through the focus </a:t>
                </a:r>
                <a:r>
                  <a:rPr lang="en-IN" sz="2400">
                    <a:solidFill>
                      <a:srgbClr val="111827"/>
                    </a:solidFill>
                    <a:latin typeface="Cambria Math" panose="02040503050406030204" pitchFamily="18" charset="0"/>
                  </a:rPr>
                  <a:t>$(0,0)$</a:t>
                </a:r>
                <a:r>
                  <a:rPr sz="2400" b="0">
                    <a:solidFill>
                      <a:srgbClr val="111827"/>
                    </a:solidFill>
                    <a:latin typeface="Arial"/>
                  </a:rPr>
                  <a:t>: it is a focal chord.</a:t>
                </a:r>
                <a:endParaRPr sz="2400">
                  <a:solidFill>
                    <a:srgbClr val="111827"/>
                  </a:solidFill>
                </a:endParaRPr>
              </a:p>
            </p:txBody>
          </p:sp>
        </mc:Fallback>
      </mc:AlternateContent>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The tangents at the ends of a focal chord meet on the directrix. The vertex tangent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distance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from the focus, so the directrix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sSup>
                      <m:e>
                        <m:r>
                          <a:rPr lang="en-IN" sz="2400" i="1">
                            <a:solidFill>
                              <a:srgbClr val="111827"/>
                            </a:solidFill>
                            <a:latin typeface="Cambria Math" panose="02040503050406030204" pitchFamily="18" charset="0"/>
                          </a:rPr>
                          <m:t>𝐿</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is perpendicular to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through the focus; as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varies, </a:t>
                </a:r>
                <a14:m>
                  <m:oMath xmlns:m="http://schemas.openxmlformats.org/officeDocument/2006/math">
                    <m:sSup>
                      <m:e>
                        <m:r>
                          <a:rPr lang="en-IN" sz="2400" i="1">
                            <a:solidFill>
                              <a:srgbClr val="111827"/>
                            </a:solidFill>
                            <a:latin typeface="Cambria Math" panose="02040503050406030204" pitchFamily="18" charset="0"/>
                          </a:rPr>
                          <m:t>𝐿</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again runs over all the lines through the focus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(the same family as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the midpoint of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and the point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where </a:t>
                </a:r>
                <a14:m>
                  <m:oMath xmlns:m="http://schemas.openxmlformats.org/officeDocument/2006/math">
                    <m:sSup>
                      <m:e>
                        <m:r>
                          <a:rPr lang="en-IN" sz="2400" i="1">
                            <a:solidFill>
                              <a:srgbClr val="111827"/>
                            </a:solidFill>
                            <a:latin typeface="Cambria Math" panose="02040503050406030204" pitchFamily="18" charset="0"/>
                          </a:rPr>
                          <m:t>𝐿</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meets the directrix. Then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lies on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The tangents at the ends of a focal chord meet on the directrix. The vertex tangent </a:t>
                </a:r>
                <a:r>
                  <a:rPr lang="en-IN" sz="2400">
                    <a:solidFill>
                      <a:srgbClr val="111827"/>
                    </a:solidFill>
                    <a:latin typeface="Cambria Math" panose="02040503050406030204" pitchFamily="18" charset="0"/>
                  </a:rPr>
                  <a:t>$x=-1$</a:t>
                </a:r>
                <a:r>
                  <a:rPr sz="2400" b="0">
                    <a:solidFill>
                      <a:srgbClr val="111827"/>
                    </a:solidFill>
                    <a:latin typeface="Arial"/>
                  </a:rPr>
                  <a:t> is at distance </a:t>
                </a:r>
                <a:r>
                  <a:rPr lang="en-IN" sz="2400">
                    <a:solidFill>
                      <a:srgbClr val="111827"/>
                    </a:solidFill>
                    <a:latin typeface="Cambria Math" panose="02040503050406030204" pitchFamily="18" charset="0"/>
                  </a:rPr>
                  <a:t>$a=1$</a:t>
                </a:r>
                <a:r>
                  <a:rPr sz="2400" b="0">
                    <a:solidFill>
                      <a:srgbClr val="111827"/>
                    </a:solidFill>
                    <a:latin typeface="Arial"/>
                  </a:rPr>
                  <a:t> from the focus, so the directrix is </a:t>
                </a:r>
                <a:r>
                  <a:rPr lang="en-IN" sz="2400">
                    <a:solidFill>
                      <a:srgbClr val="111827"/>
                    </a:solidFill>
                    <a:latin typeface="Cambria Math" panose="02040503050406030204" pitchFamily="18" charset="0"/>
                  </a:rPr>
                  <a:t>$x+2=0$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$L'$</a:t>
                </a:r>
                <a:r>
                  <a:rPr sz="2400" b="0">
                    <a:solidFill>
                      <a:srgbClr val="111827"/>
                    </a:solidFill>
                    <a:latin typeface="Arial"/>
                  </a:rPr>
                  <a:t> is perpendicular to </a:t>
                </a:r>
                <a:r>
                  <a:rPr lang="en-IN" sz="2400">
                    <a:solidFill>
                      <a:srgbClr val="111827"/>
                    </a:solidFill>
                    <a:latin typeface="Cambria Math" panose="02040503050406030204" pitchFamily="18" charset="0"/>
                  </a:rPr>
                  <a:t>$L$</a:t>
                </a:r>
                <a:r>
                  <a:rPr sz="2400" b="0">
                    <a:solidFill>
                      <a:srgbClr val="111827"/>
                    </a:solidFill>
                    <a:latin typeface="Arial"/>
                  </a:rPr>
                  <a:t> through the focus; as </a:t>
                </a:r>
                <a:r>
                  <a:rPr lang="en-IN" sz="2400">
                    <a:solidFill>
                      <a:srgbClr val="111827"/>
                    </a:solidFill>
                    <a:latin typeface="Cambria Math" panose="02040503050406030204" pitchFamily="18" charset="0"/>
                  </a:rPr>
                  <a:t>$m$</a:t>
                </a:r>
                <a:r>
                  <a:rPr sz="2400" b="0">
                    <a:solidFill>
                      <a:srgbClr val="111827"/>
                    </a:solidFill>
                    <a:latin typeface="Arial"/>
                  </a:rPr>
                  <a:t> varies, </a:t>
                </a:r>
                <a:r>
                  <a:rPr lang="en-IN" sz="2400">
                    <a:solidFill>
                      <a:srgbClr val="111827"/>
                    </a:solidFill>
                    <a:latin typeface="Cambria Math" panose="02040503050406030204" pitchFamily="18" charset="0"/>
                  </a:rPr>
                  <a:t>$L'$</a:t>
                </a:r>
                <a:r>
                  <a:rPr sz="2400" b="0">
                    <a:solidFill>
                      <a:srgbClr val="111827"/>
                    </a:solidFill>
                    <a:latin typeface="Arial"/>
                  </a:rPr>
                  <a:t> again runs over all the lines through the focus </a:t>
                </a:r>
                <a:r>
                  <a:rPr lang="en-IN" sz="2400">
                    <a:solidFill>
                      <a:srgbClr val="111827"/>
                    </a:solidFill>
                    <a:latin typeface="Cambria Math" panose="02040503050406030204" pitchFamily="18" charset="0"/>
                  </a:rPr>
                  <a:t>$S$</a:t>
                </a:r>
                <a:r>
                  <a:rPr sz="2400" b="0">
                    <a:solidFill>
                      <a:srgbClr val="111827"/>
                    </a:solidFill>
                    <a:latin typeface="Arial"/>
                  </a:rPr>
                  <a:t> (the same family as </a:t>
                </a:r>
                <a:r>
                  <a:rPr lang="en-IN" sz="2400">
                    <a:solidFill>
                      <a:srgbClr val="111827"/>
                    </a:solidFill>
                    <a:latin typeface="Cambria Math" panose="02040503050406030204" pitchFamily="18" charset="0"/>
                  </a:rPr>
                  <a:t>$L$</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$P(h,k)$</a:t>
                </a:r>
                <a:r>
                  <a:rPr sz="2400" b="0">
                    <a:solidFill>
                      <a:srgbClr val="111827"/>
                    </a:solidFill>
                    <a:latin typeface="Arial"/>
                  </a:rPr>
                  <a:t> be the midpoint of </a:t>
                </a:r>
                <a:r>
                  <a:rPr lang="en-IN" sz="2400">
                    <a:solidFill>
                      <a:srgbClr val="111827"/>
                    </a:solidFill>
                    <a:latin typeface="Cambria Math" panose="02040503050406030204" pitchFamily="18" charset="0"/>
                  </a:rPr>
                  <a:t>$S$</a:t>
                </a:r>
                <a:r>
                  <a:rPr sz="2400" b="0">
                    <a:solidFill>
                      <a:srgbClr val="111827"/>
                    </a:solidFill>
                    <a:latin typeface="Arial"/>
                  </a:rPr>
                  <a:t> and the point </a:t>
                </a:r>
                <a:r>
                  <a:rPr lang="en-IN" sz="2400">
                    <a:solidFill>
                      <a:srgbClr val="111827"/>
                    </a:solidFill>
                    <a:latin typeface="Cambria Math" panose="02040503050406030204" pitchFamily="18" charset="0"/>
                  </a:rPr>
                  <a:t>$T$</a:t>
                </a:r>
                <a:r>
                  <a:rPr sz="2400" b="0">
                    <a:solidFill>
                      <a:srgbClr val="111827"/>
                    </a:solidFill>
                    <a:latin typeface="Arial"/>
                  </a:rPr>
                  <a:t> where </a:t>
                </a:r>
                <a:r>
                  <a:rPr lang="en-IN" sz="2400">
                    <a:solidFill>
                      <a:srgbClr val="111827"/>
                    </a:solidFill>
                    <a:latin typeface="Cambria Math" panose="02040503050406030204" pitchFamily="18" charset="0"/>
                  </a:rPr>
                  <a:t>$L'$</a:t>
                </a:r>
                <a:r>
                  <a:rPr sz="2400" b="0">
                    <a:solidFill>
                      <a:srgbClr val="111827"/>
                    </a:solidFill>
                    <a:latin typeface="Arial"/>
                  </a:rPr>
                  <a:t> meets the directrix. Then </a:t>
                </a:r>
                <a:r>
                  <a:rPr lang="en-IN" sz="2400">
                    <a:solidFill>
                      <a:srgbClr val="111827"/>
                    </a:solidFill>
                    <a:latin typeface="Cambria Math" panose="02040503050406030204" pitchFamily="18" charset="0"/>
                  </a:rPr>
                  <a:t>$T=(2h,2k)$</a:t>
                </a:r>
                <a:r>
                  <a:rPr sz="2400" b="0">
                    <a:solidFill>
                      <a:srgbClr val="111827"/>
                    </a:solidFill>
                    <a:latin typeface="Arial"/>
                  </a:rPr>
                  <a:t> lies on </a:t>
                </a:r>
                <a:r>
                  <a:rPr lang="en-IN" sz="2400">
                    <a:solidFill>
                      <a:srgbClr val="111827"/>
                    </a:solidFill>
                    <a:latin typeface="Cambria Math" panose="02040503050406030204" pitchFamily="18" charset="0"/>
                  </a:rPr>
                  <a:t>$x=-2$</a:t>
                </a:r>
                <a:r>
                  <a:rPr sz="2400" b="0">
                    <a:solidFill>
                      <a:srgbClr val="111827"/>
                    </a:solidFill>
                    <a:latin typeface="Arial"/>
                  </a:rPr>
                  <a:t>: </a:t>
                </a:r>
                <a:r>
                  <a:rPr lang="en-IN" sz="2400">
                    <a:solidFill>
                      <a:srgbClr val="111827"/>
                    </a:solidFill>
                    <a:latin typeface="Cambria Math" panose="02040503050406030204" pitchFamily="18" charset="0"/>
                  </a:rPr>
                  <a:t>$2h=-2$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$x+1=0$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r>
                      <a:rPr lang="en-IN" sz="2800" i="1">
                        <a:solidFill>
                          <a:srgbClr val="15803D"/>
                        </a:solidFill>
                        <a:latin typeface="Cambria Math" panose="02040503050406030204" pitchFamily="18" charset="0"/>
                      </a:rPr>
                      <m:t>4</m:t>
                    </m:r>
                  </m:oMath>
                </a14:m>
                <a:r>
                  <a:rPr sz="2800" b="1">
                    <a:solidFill>
                      <a:srgbClr val="15803D"/>
                    </a:solidFill>
                    <a:latin typeface="Arial"/>
                  </a:rPr>
                  <a:t>; (b)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r>
                  <a:rPr sz="2800" b="1">
                    <a:solidFill>
                      <a:srgbClr val="15803D"/>
                    </a:solidFill>
                    <a:latin typeface="Arial"/>
                  </a:rPr>
                  <a:t>; (c)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$4$</a:t>
                </a:r>
                <a:r>
                  <a:rPr sz="2800" b="1">
                    <a:solidFill>
                      <a:srgbClr val="15803D"/>
                    </a:solidFill>
                    <a:latin typeface="Arial"/>
                  </a:rPr>
                  <a:t>; (b) </a:t>
                </a:r>
                <a:r>
                  <a:rPr lang="en-IN" sz="2800">
                    <a:solidFill>
                      <a:srgbClr val="15803D"/>
                    </a:solidFill>
                    <a:latin typeface="Cambria Math" panose="02040503050406030204" pitchFamily="18" charset="0"/>
                  </a:rPr>
                  <a:t>$x+2=0$</a:t>
                </a:r>
                <a:r>
                  <a:rPr sz="2800" b="1">
                    <a:solidFill>
                      <a:srgbClr val="15803D"/>
                    </a:solidFill>
                    <a:latin typeface="Arial"/>
                  </a:rPr>
                  <a:t>; (c) </a:t>
                </a:r>
                <a:r>
                  <a:rPr lang="en-IN" sz="2800">
                    <a:solidFill>
                      <a:srgbClr val="15803D"/>
                    </a:solidFill>
                    <a:latin typeface="Cambria Math" panose="02040503050406030204" pitchFamily="18" charset="0"/>
                  </a:rPr>
                  <a:t>$x+1=0$</a:t>
                </a:r>
                <a:endParaRPr sz="2800">
                  <a:solidFill>
                    <a:srgbClr val="15803D"/>
                  </a:solidFill>
                </a:endParaRPr>
              </a:p>
            </p:txBody>
          </p:sp>
        </mc:Fallback>
      </mc:AlternateContent>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orthocentre of the triangle formed by three tangents lies on the directrix: find it from the three given tangents.</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put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𝑋</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𝑋</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so the point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triangle has vertices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vertical, so the altitude from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horizontal line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altitude from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perpendicular to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(slope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this gives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orthocentre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$L_1\cap L_2$</a:t>
                </a:r>
                <a:r>
                  <a:rPr sz="2400" b="0">
                    <a:solidFill>
                      <a:srgbClr val="111827"/>
                    </a:solidFill>
                    <a:latin typeface="Arial"/>
                  </a:rPr>
                  <a:t>: put </a:t>
                </a:r>
                <a:r>
                  <a:rPr lang="en-IN" sz="2400">
                    <a:solidFill>
                      <a:srgbClr val="111827"/>
                    </a:solidFill>
                    <a:latin typeface="Cambria Math" panose="02040503050406030204" pitchFamily="18" charset="0"/>
                  </a:rPr>
                  <a:t>$X=x+1$</a:t>
                </a:r>
                <a:r>
                  <a:rPr sz="2400" b="0">
                    <a:solidFill>
                      <a:srgbClr val="111827"/>
                    </a:solidFill>
                    <a:latin typeface="Arial"/>
                  </a:rPr>
                  <a:t>; </a:t>
                </a:r>
                <a:r>
                  <a:rPr lang="en-IN" sz="2400">
                    <a:solidFill>
                      <a:srgbClr val="111827"/>
                    </a:solidFill>
                    <a:latin typeface="Cambria Math" panose="02040503050406030204" pitchFamily="18" charset="0"/>
                  </a:rPr>
                  <a:t>$-\frac X3-3=\frac X4+4$</a:t>
                </a:r>
                <a:r>
                  <a:rPr sz="2400" b="0">
                    <a:solidFill>
                      <a:srgbClr val="111827"/>
                    </a:solidFill>
                    <a:latin typeface="Arial"/>
                  </a:rPr>
                  <a:t> gives </a:t>
                </a:r>
                <a:r>
                  <a:rPr lang="en-IN" sz="2400">
                    <a:solidFill>
                      <a:srgbClr val="111827"/>
                    </a:solidFill>
                    <a:latin typeface="Cambria Math" panose="02040503050406030204" pitchFamily="18" charset="0"/>
                  </a:rPr>
                  <a:t>$X=-12$</a:t>
                </a:r>
                <a:r>
                  <a:rPr sz="2400" b="0">
                    <a:solidFill>
                      <a:srgbClr val="111827"/>
                    </a:solidFill>
                    <a:latin typeface="Arial"/>
                  </a:rPr>
                  <a:t>, so the point is </a:t>
                </a:r>
                <a:r>
                  <a:rPr lang="en-IN" sz="2400">
                    <a:solidFill>
                      <a:srgbClr val="111827"/>
                    </a:solidFill>
                    <a:latin typeface="Cambria Math" panose="02040503050406030204" pitchFamily="18" charset="0"/>
                  </a:rPr>
                  <a:t>$(-13,1)$</a:t>
                </a:r>
                <a:r>
                  <a:rPr sz="2400" b="0">
                    <a:solidFill>
                      <a:srgbClr val="111827"/>
                    </a:solidFill>
                    <a:latin typeface="Arial"/>
                  </a:rPr>
                  <a:t>. The triangle has vertices </a:t>
                </a:r>
                <a:r>
                  <a:rPr lang="en-IN" sz="2400">
                    <a:solidFill>
                      <a:srgbClr val="111827"/>
                    </a:solidFill>
                    <a:latin typeface="Cambria Math" panose="02040503050406030204" pitchFamily="18" charset="0"/>
                  </a:rPr>
                  <a:t>$(-1,-3),(-1,4),(-13,1)$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$L_3$</a:t>
                </a:r>
                <a:r>
                  <a:rPr sz="2400" b="0">
                    <a:solidFill>
                      <a:srgbClr val="111827"/>
                    </a:solidFill>
                    <a:latin typeface="Arial"/>
                  </a:rPr>
                  <a:t> is vertical, so the altitude from </a:t>
                </a:r>
                <a:r>
                  <a:rPr lang="en-IN" sz="2400">
                    <a:solidFill>
                      <a:srgbClr val="111827"/>
                    </a:solidFill>
                    <a:latin typeface="Cambria Math" panose="02040503050406030204" pitchFamily="18" charset="0"/>
                  </a:rPr>
                  <a:t>$(-13,1)$</a:t>
                </a:r>
                <a:r>
                  <a:rPr sz="2400" b="0">
                    <a:solidFill>
                      <a:srgbClr val="111827"/>
                    </a:solidFill>
                    <a:latin typeface="Arial"/>
                  </a:rPr>
                  <a:t> is the horizontal line </a:t>
                </a:r>
                <a:r>
                  <a:rPr lang="en-IN" sz="2400">
                    <a:solidFill>
                      <a:srgbClr val="111827"/>
                    </a:solidFill>
                    <a:latin typeface="Cambria Math" panose="02040503050406030204" pitchFamily="18" charset="0"/>
                  </a:rPr>
                  <a:t>$y=1$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altitude from </a:t>
                </a:r>
                <a:r>
                  <a:rPr lang="en-IN" sz="2400">
                    <a:solidFill>
                      <a:srgbClr val="111827"/>
                    </a:solidFill>
                    <a:latin typeface="Cambria Math" panose="02040503050406030204" pitchFamily="18" charset="0"/>
                  </a:rPr>
                  <a:t>$(-1,-3)$</a:t>
                </a:r>
                <a:r>
                  <a:rPr sz="2400" b="0">
                    <a:solidFill>
                      <a:srgbClr val="111827"/>
                    </a:solidFill>
                    <a:latin typeface="Arial"/>
                  </a:rPr>
                  <a:t> is perpendicular to </a:t>
                </a:r>
                <a:r>
                  <a:rPr lang="en-IN" sz="2400">
                    <a:solidFill>
                      <a:srgbClr val="111827"/>
                    </a:solidFill>
                    <a:latin typeface="Cambria Math" panose="02040503050406030204" pitchFamily="18" charset="0"/>
                  </a:rPr>
                  <a:t>$L_2$</a:t>
                </a:r>
                <a:r>
                  <a:rPr sz="2400" b="0">
                    <a:solidFill>
                      <a:srgbClr val="111827"/>
                    </a:solidFill>
                    <a:latin typeface="Arial"/>
                  </a:rPr>
                  <a:t> (slope </a:t>
                </a:r>
                <a:r>
                  <a:rPr lang="en-IN" sz="2400">
                    <a:solidFill>
                      <a:srgbClr val="111827"/>
                    </a:solidFill>
                    <a:latin typeface="Cambria Math" panose="02040503050406030204" pitchFamily="18" charset="0"/>
                  </a:rPr>
                  <a:t>$\frac14$</a:t>
                </a:r>
                <a:r>
                  <a:rPr sz="2400" b="0">
                    <a:solidFill>
                      <a:srgbClr val="111827"/>
                    </a:solidFill>
                    <a:latin typeface="Arial"/>
                  </a:rPr>
                  <a:t>): </a:t>
                </a:r>
                <a:r>
                  <a:rPr lang="en-IN" sz="2400">
                    <a:solidFill>
                      <a:srgbClr val="111827"/>
                    </a:solidFill>
                    <a:latin typeface="Cambria Math" panose="02040503050406030204" pitchFamily="18" charset="0"/>
                  </a:rPr>
                  <a:t>$y+3=-4(x+1)$</a:t>
                </a:r>
                <a:r>
                  <a:rPr sz="2400" b="0">
                    <a:solidFill>
                      <a:srgbClr val="111827"/>
                    </a:solidFill>
                    <a:latin typeface="Arial"/>
                  </a:rPr>
                  <a:t>; at </a:t>
                </a:r>
                <a:r>
                  <a:rPr lang="en-IN" sz="2400">
                    <a:solidFill>
                      <a:srgbClr val="111827"/>
                    </a:solidFill>
                    <a:latin typeface="Cambria Math" panose="02040503050406030204" pitchFamily="18" charset="0"/>
                  </a:rPr>
                  <a:t>$y=1$</a:t>
                </a:r>
                <a:r>
                  <a:rPr sz="2400" b="0">
                    <a:solidFill>
                      <a:srgbClr val="111827"/>
                    </a:solidFill>
                    <a:latin typeface="Arial"/>
                  </a:rPr>
                  <a:t> this gives </a:t>
                </a:r>
                <a:r>
                  <a:rPr lang="en-IN" sz="2400">
                    <a:solidFill>
                      <a:srgbClr val="111827"/>
                    </a:solidFill>
                    <a:latin typeface="Cambria Math" panose="02040503050406030204" pitchFamily="18" charset="0"/>
                  </a:rPr>
                  <a:t>$x=-2$</a:t>
                </a:r>
                <a:r>
                  <a:rPr sz="2400" b="0">
                    <a:solidFill>
                      <a:srgbClr val="111827"/>
                    </a:solidFill>
                    <a:latin typeface="Arial"/>
                  </a:rPr>
                  <a:t>. The orthocentre is </a:t>
                </a:r>
                <a:r>
                  <a:rPr lang="en-IN" sz="2400">
                    <a:solidFill>
                      <a:srgbClr val="111827"/>
                    </a:solidFill>
                    <a:latin typeface="Cambria Math" panose="02040503050406030204" pitchFamily="18" charset="0"/>
                  </a:rPr>
                  <a:t>$(-2,1)$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orthocentre of a triangle formed by three tangents of a parabola lies on its directrix, so the directrix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(perpendicular to the axis): (b)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vertex tangent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midway between the focus and the directrix,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minimum focal chord (latus rectum) is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orthocentre of a triangle formed by three tangents of a parabola lies on its directrix, so the directrix is </a:t>
                </a:r>
                <a:r>
                  <a:rPr lang="en-IN" sz="2400">
                    <a:solidFill>
                      <a:srgbClr val="111827"/>
                    </a:solidFill>
                    <a:latin typeface="Cambria Math" panose="02040503050406030204" pitchFamily="18" charset="0"/>
                  </a:rPr>
                  <a:t>$x=-2$</a:t>
                </a:r>
                <a:r>
                  <a:rPr sz="2400" b="0">
                    <a:solidFill>
                      <a:srgbClr val="111827"/>
                    </a:solidFill>
                    <a:latin typeface="Arial"/>
                  </a:rPr>
                  <a:t> (perpendicular to the axis): (b) </a:t>
                </a:r>
                <a:r>
                  <a:rPr lang="en-IN" sz="2400">
                    <a:solidFill>
                      <a:srgbClr val="111827"/>
                    </a:solidFill>
                    <a:latin typeface="Cambria Math" panose="02040503050406030204" pitchFamily="18" charset="0"/>
                  </a:rPr>
                  <a:t>$x+2=0$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vertex tangent </a:t>
                </a:r>
                <a:r>
                  <a:rPr lang="en-IN" sz="2400">
                    <a:solidFill>
                      <a:srgbClr val="111827"/>
                    </a:solidFill>
                    <a:latin typeface="Cambria Math" panose="02040503050406030204" pitchFamily="18" charset="0"/>
                  </a:rPr>
                  <a:t>$x=-1$</a:t>
                </a:r>
                <a:r>
                  <a:rPr sz="2400" b="0">
                    <a:solidFill>
                      <a:srgbClr val="111827"/>
                    </a:solidFill>
                    <a:latin typeface="Arial"/>
                  </a:rPr>
                  <a:t> is midway between the focus and the directrix, so </a:t>
                </a:r>
                <a:r>
                  <a:rPr lang="en-IN" sz="2400">
                    <a:solidFill>
                      <a:srgbClr val="111827"/>
                    </a:solidFill>
                    <a:latin typeface="Cambria Math" panose="02040503050406030204" pitchFamily="18" charset="0"/>
                  </a:rPr>
                  <a:t>$a=1$</a:t>
                </a:r>
                <a:r>
                  <a:rPr sz="2400" b="0">
                    <a:solidFill>
                      <a:srgbClr val="111827"/>
                    </a:solidFill>
                    <a:latin typeface="Arial"/>
                  </a:rPr>
                  <a:t> and the minimum focal chord (latus rectum) is </a:t>
                </a:r>
                <a:r>
                  <a:rPr lang="en-IN" sz="2400">
                    <a:solidFill>
                      <a:srgbClr val="111827"/>
                    </a:solidFill>
                    <a:latin typeface="Cambria Math" panose="02040503050406030204" pitchFamily="18" charset="0"/>
                  </a:rPr>
                  <a:t>$4a=4$</a:t>
                </a:r>
                <a:r>
                  <a:rPr sz="2400" b="0">
                    <a:solidFill>
                      <a:srgbClr val="111827"/>
                    </a:solidFill>
                    <a:latin typeface="Arial"/>
                  </a:rPr>
                  <a:t>: (a) </a:t>
                </a:r>
                <a:r>
                  <a:rPr lang="en-IN" sz="2400">
                    <a:solidFill>
                      <a:srgbClr val="111827"/>
                    </a:solidFill>
                    <a:latin typeface="Cambria Math" panose="02040503050406030204" pitchFamily="18" charset="0"/>
                  </a:rPr>
                  <a:t>$4$</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r>
                      <a:rPr lang="en-IN" sz="2800" i="1">
                        <a:solidFill>
                          <a:srgbClr val="15803D"/>
                        </a:solidFill>
                        <a:latin typeface="Cambria Math" panose="02040503050406030204" pitchFamily="18" charset="0"/>
                      </a:rPr>
                      <m:t>4</m:t>
                    </m:r>
                  </m:oMath>
                </a14:m>
                <a:r>
                  <a:rPr sz="2800" b="1">
                    <a:solidFill>
                      <a:srgbClr val="15803D"/>
                    </a:solidFill>
                    <a:latin typeface="Arial"/>
                  </a:rPr>
                  <a:t>; (b)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r>
                  <a:rPr sz="2800" b="1">
                    <a:solidFill>
                      <a:srgbClr val="15803D"/>
                    </a:solidFill>
                    <a:latin typeface="Arial"/>
                  </a:rPr>
                  <a:t>; (c)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$4$</a:t>
                </a:r>
                <a:r>
                  <a:rPr sz="2800" b="1">
                    <a:solidFill>
                      <a:srgbClr val="15803D"/>
                    </a:solidFill>
                    <a:latin typeface="Arial"/>
                  </a:rPr>
                  <a:t>; (b) </a:t>
                </a:r>
                <a:r>
                  <a:rPr lang="en-IN" sz="2800">
                    <a:solidFill>
                      <a:srgbClr val="15803D"/>
                    </a:solidFill>
                    <a:latin typeface="Cambria Math" panose="02040503050406030204" pitchFamily="18" charset="0"/>
                  </a:rPr>
                  <a:t>$x+2=0$</a:t>
                </a:r>
                <a:r>
                  <a:rPr sz="2800" b="1">
                    <a:solidFill>
                      <a:srgbClr val="15803D"/>
                    </a:solidFill>
                    <a:latin typeface="Arial"/>
                  </a:rPr>
                  <a:t>; (c) </a:t>
                </a:r>
                <a:r>
                  <a:rPr lang="en-IN" sz="2800">
                    <a:solidFill>
                      <a:srgbClr val="15803D"/>
                    </a:solidFill>
                    <a:latin typeface="Cambria Math" panose="02040503050406030204" pitchFamily="18" charset="0"/>
                  </a:rPr>
                  <a:t>$x+1=0$</a:t>
                </a:r>
                <a:endParaRPr sz="2800">
                  <a:solidFill>
                    <a:srgbClr val="15803D"/>
                  </a:solidFill>
                </a:endParaRPr>
              </a:p>
            </p:txBody>
          </p:sp>
        </mc:Fallback>
      </mc:AlternateContent>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foot of the perpendicular from the focus to any tangent lies on the tangent at the vertex.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orthocentre of the triangle formed by any three tangents to a parabola lies on the directrix.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Tangents at the ends of a focal chord are perpendicular and meet on the directrix; the least focal chord is the latus rectum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Distances along the axis: focus to vertex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vertex to directrix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so latus rectum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(focus-directrix distance).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foot of the perpendicular from the focus to any tangent lies on the tangent at the vertex.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orthocentre of the triangle formed by any three tangents to a parabola lies on the directrix.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Tangents at the ends of a focal chord are perpendicular and meet on the directrix; the least focal chord is the latus rectum </a:t>
                </a:r>
                <a:r>
                  <a:rPr lang="en-IN" sz="2400">
                    <a:solidFill>
                      <a:srgbClr val="111827"/>
                    </a:solidFill>
                    <a:latin typeface="Cambria Math" panose="02040503050406030204" pitchFamily="18" charset="0"/>
                  </a:rPr>
                  <a:t>$4a$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Distances along the axis: focus to vertex </a:t>
                </a:r>
                <a:r>
                  <a:rPr lang="en-IN" sz="2400">
                    <a:solidFill>
                      <a:srgbClr val="111827"/>
                    </a:solidFill>
                    <a:latin typeface="Cambria Math" panose="02040503050406030204" pitchFamily="18" charset="0"/>
                  </a:rPr>
                  <a:t>$=a$</a:t>
                </a:r>
                <a:r>
                  <a:rPr sz="2400" b="0">
                    <a:solidFill>
                      <a:srgbClr val="111827"/>
                    </a:solidFill>
                    <a:latin typeface="Arial"/>
                  </a:rPr>
                  <a:t>, vertex to directrix </a:t>
                </a:r>
                <a:r>
                  <a:rPr lang="en-IN" sz="2400">
                    <a:solidFill>
                      <a:srgbClr val="111827"/>
                    </a:solidFill>
                    <a:latin typeface="Cambria Math" panose="02040503050406030204" pitchFamily="18" charset="0"/>
                  </a:rPr>
                  <a:t>$=a$</a:t>
                </a:r>
                <a:r>
                  <a:rPr sz="2400" b="0">
                    <a:solidFill>
                      <a:srgbClr val="111827"/>
                    </a:solidFill>
                    <a:latin typeface="Arial"/>
                  </a:rPr>
                  <a:t>; so latus rectum </a:t>
                </a:r>
                <a:r>
                  <a:rPr lang="en-IN" sz="2400">
                    <a:solidFill>
                      <a:srgbClr val="111827"/>
                    </a:solidFill>
                    <a:latin typeface="Cambria Math" panose="02040503050406030204" pitchFamily="18" charset="0"/>
                  </a:rPr>
                  <a:t>$=4a=2\times$</a:t>
                </a:r>
                <a:r>
                  <a:rPr sz="2400" b="0">
                    <a:solidFill>
                      <a:srgbClr val="111827"/>
                    </a:solidFill>
                    <a:latin typeface="Arial"/>
                  </a:rPr>
                  <a:t> (focus-directrix distance).</a:t>
                </a:r>
                <a:endParaRPr sz="2400">
                  <a:solidFill>
                    <a:srgbClr val="111827"/>
                  </a:solidFill>
                </a:endParaRPr>
              </a:p>
            </p:txBody>
          </p:sp>
        </mc:Fallback>
      </mc:AlternateContent>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𝑄</m:t>
                    </m:r>
                  </m:oMath>
                </a14:m>
                <a:r>
                  <a:rPr sz="2400" b="0">
                    <a:solidFill>
                      <a:srgbClr val="111827"/>
                    </a:solidFill>
                    <a:latin typeface="Arial"/>
                  </a:rPr>
                  <a:t> are two tangents to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such that the normals at the points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intersect the curve at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.\n(a) Find the locus of the middle points of the chord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.\n(b) The chord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always passes through a fixed point </a:t>
                </a:r>
                <a14:m>
                  <m:oMath xmlns:m="http://schemas.openxmlformats.org/officeDocument/2006/math">
                    <m:r>
                      <a:rPr lang="en-IN" sz="2400" i="1">
                        <a:solidFill>
                          <a:srgbClr val="111827"/>
                        </a:solidFill>
                        <a:latin typeface="Cambria Math" panose="02040503050406030204" pitchFamily="18" charset="0"/>
                      </a:rPr>
                      <m:t>𝐹</m:t>
                    </m:r>
                  </m:oMath>
                </a14:m>
                <a:r>
                  <a:rPr sz="2400" b="0">
                    <a:solidFill>
                      <a:srgbClr val="111827"/>
                    </a:solidFill>
                    <a:latin typeface="Arial"/>
                  </a:rPr>
                  <a:t>. Find the distance of </a:t>
                </a:r>
                <a14:m>
                  <m:oMath xmlns:m="http://schemas.openxmlformats.org/officeDocument/2006/math">
                    <m:r>
                      <a:rPr lang="en-IN" sz="2400" i="1">
                        <a:solidFill>
                          <a:srgbClr val="111827"/>
                        </a:solidFill>
                        <a:latin typeface="Cambria Math" panose="02040503050406030204" pitchFamily="18" charset="0"/>
                      </a:rPr>
                      <m:t>𝐹</m:t>
                    </m:r>
                  </m:oMath>
                </a14:m>
                <a:r>
                  <a:rPr sz="2400" b="0">
                    <a:solidFill>
                      <a:srgbClr val="111827"/>
                    </a:solidFill>
                    <a:latin typeface="Arial"/>
                  </a:rPr>
                  <a:t> from the focus of the given parabola.\n(c) Find the locus of the centre of the circle circumscribing the triangle </a:t>
                </a: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$TP$</a:t>
                </a:r>
                <a:r>
                  <a:rPr sz="2400" b="0">
                    <a:solidFill>
                      <a:srgbClr val="111827"/>
                    </a:solidFill>
                    <a:latin typeface="Arial"/>
                  </a:rPr>
                  <a:t> and </a:t>
                </a:r>
                <a:r>
                  <a:rPr lang="en-IN" sz="2400">
                    <a:solidFill>
                      <a:srgbClr val="111827"/>
                    </a:solidFill>
                    <a:latin typeface="Cambria Math" panose="02040503050406030204" pitchFamily="18" charset="0"/>
                  </a:rPr>
                  <a:t>$TQ$</a:t>
                </a:r>
                <a:r>
                  <a:rPr sz="2400" b="0">
                    <a:solidFill>
                      <a:srgbClr val="111827"/>
                    </a:solidFill>
                    <a:latin typeface="Arial"/>
                  </a:rPr>
                  <a:t> are two tangents to the parabola </a:t>
                </a:r>
                <a:r>
                  <a:rPr lang="en-IN" sz="2400">
                    <a:solidFill>
                      <a:srgbClr val="111827"/>
                    </a:solidFill>
                    <a:latin typeface="Cambria Math" panose="02040503050406030204" pitchFamily="18" charset="0"/>
                  </a:rPr>
                  <a:t>$y^2=8x$</a:t>
                </a:r>
                <a:r>
                  <a:rPr sz="2400" b="0">
                    <a:solidFill>
                      <a:srgbClr val="111827"/>
                    </a:solidFill>
                    <a:latin typeface="Arial"/>
                  </a:rPr>
                  <a:t> such that the normals at the points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intersect the curve at </a:t>
                </a:r>
                <a:r>
                  <a:rPr lang="en-IN" sz="2400">
                    <a:solidFill>
                      <a:srgbClr val="111827"/>
                    </a:solidFill>
                    <a:latin typeface="Cambria Math" panose="02040503050406030204" pitchFamily="18" charset="0"/>
                  </a:rPr>
                  <a:t>$R$</a:t>
                </a:r>
                <a:r>
                  <a:rPr sz="2400" b="0">
                    <a:solidFill>
                      <a:srgbClr val="111827"/>
                    </a:solidFill>
                    <a:latin typeface="Arial"/>
                  </a:rPr>
                  <a:t>.\n(a) Find the locus of the middle points of the chord </a:t>
                </a:r>
                <a:r>
                  <a:rPr lang="en-IN" sz="2400">
                    <a:solidFill>
                      <a:srgbClr val="111827"/>
                    </a:solidFill>
                    <a:latin typeface="Cambria Math" panose="02040503050406030204" pitchFamily="18" charset="0"/>
                  </a:rPr>
                  <a:t>$PQ$</a:t>
                </a:r>
                <a:r>
                  <a:rPr sz="2400" b="0">
                    <a:solidFill>
                      <a:srgbClr val="111827"/>
                    </a:solidFill>
                    <a:latin typeface="Arial"/>
                  </a:rPr>
                  <a:t>.\n(b) The chord </a:t>
                </a:r>
                <a:r>
                  <a:rPr lang="en-IN" sz="2400">
                    <a:solidFill>
                      <a:srgbClr val="111827"/>
                    </a:solidFill>
                    <a:latin typeface="Cambria Math" panose="02040503050406030204" pitchFamily="18" charset="0"/>
                  </a:rPr>
                  <a:t>$PQ$</a:t>
                </a:r>
                <a:r>
                  <a:rPr sz="2400" b="0">
                    <a:solidFill>
                      <a:srgbClr val="111827"/>
                    </a:solidFill>
                    <a:latin typeface="Arial"/>
                  </a:rPr>
                  <a:t> always passes through a fixed point </a:t>
                </a:r>
                <a:r>
                  <a:rPr lang="en-IN" sz="2400">
                    <a:solidFill>
                      <a:srgbClr val="111827"/>
                    </a:solidFill>
                    <a:latin typeface="Cambria Math" panose="02040503050406030204" pitchFamily="18" charset="0"/>
                  </a:rPr>
                  <a:t>$F$</a:t>
                </a:r>
                <a:r>
                  <a:rPr sz="2400" b="0">
                    <a:solidFill>
                      <a:srgbClr val="111827"/>
                    </a:solidFill>
                    <a:latin typeface="Arial"/>
                  </a:rPr>
                  <a:t>. Find the distance of </a:t>
                </a:r>
                <a:r>
                  <a:rPr lang="en-IN" sz="2400">
                    <a:solidFill>
                      <a:srgbClr val="111827"/>
                    </a:solidFill>
                    <a:latin typeface="Cambria Math" panose="02040503050406030204" pitchFamily="18" charset="0"/>
                  </a:rPr>
                  <a:t>$F$</a:t>
                </a:r>
                <a:r>
                  <a:rPr sz="2400" b="0">
                    <a:solidFill>
                      <a:srgbClr val="111827"/>
                    </a:solidFill>
                    <a:latin typeface="Arial"/>
                  </a:rPr>
                  <a:t> from the focus of the given parabola.\n(c) Find the locus of the centre of the circle circumscribing the triangle </a:t>
                </a:r>
                <a:r>
                  <a:rPr lang="en-IN" sz="2400">
                    <a:solidFill>
                      <a:srgbClr val="111827"/>
                    </a:solidFill>
                    <a:latin typeface="Cambria Math" panose="02040503050406030204" pitchFamily="18" charset="0"/>
                  </a:rPr>
                  <a:t>$TPQ$</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2605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Normals at the ends of a chord of contact (parabola), Concyclic points and circumcentre of a tangent triangle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Normals at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𝑄</m:t>
                    </m:r>
                  </m:oMath>
                </a14:m>
                <a:r>
                  <a:rPr sz="2400" b="0">
                    <a:solidFill>
                      <a:srgbClr val="78350F"/>
                    </a:solidFill>
                    <a:latin typeface="Arial"/>
                  </a:rPr>
                  <a:t> meeting on the curve force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and since </a:t>
                </a:r>
                <a14:m>
                  <m:oMath xmlns:m="http://schemas.openxmlformats.org/officeDocument/2006/math">
                    <m:r>
                      <a:rPr lang="en-IN" sz="2400" i="1">
                        <a:solidFill>
                          <a:srgbClr val="78350F"/>
                        </a:solidFill>
                        <a:latin typeface="Cambria Math" panose="02040503050406030204" pitchFamily="18" charset="0"/>
                      </a:rPr>
                      <m:t>𝑇</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𝑅</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𝑇</m:t>
                    </m:r>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𝑄</m:t>
                    </m:r>
                    <m:r>
                      <a:rPr lang="en-IN" sz="2400" i="1">
                        <a:solidFill>
                          <a:srgbClr val="78350F"/>
                        </a:solidFill>
                        <a:latin typeface="Cambria Math" panose="02040503050406030204" pitchFamily="18" charset="0"/>
                      </a:rPr>
                      <m:t>𝑅</m:t>
                    </m:r>
                  </m:oMath>
                </a14:m>
                <a:r>
                  <a:rPr sz="2400" b="0">
                    <a:solidFill>
                      <a:srgbClr val="78350F"/>
                    </a:solidFill>
                    <a:latin typeface="Arial"/>
                  </a:rPr>
                  <a:t> the circle on </a:t>
                </a:r>
                <a14:m>
                  <m:oMath xmlns:m="http://schemas.openxmlformats.org/officeDocument/2006/math">
                    <m:r>
                      <a:rPr lang="en-IN" sz="2400" i="1">
                        <a:solidFill>
                          <a:srgbClr val="78350F"/>
                        </a:solidFill>
                        <a:latin typeface="Cambria Math" panose="02040503050406030204" pitchFamily="18" charset="0"/>
                      </a:rPr>
                      <m:t>𝑇</m:t>
                    </m:r>
                    <m:r>
                      <a:rPr lang="en-IN" sz="2400" i="1">
                        <a:solidFill>
                          <a:srgbClr val="78350F"/>
                        </a:solidFill>
                        <a:latin typeface="Cambria Math" panose="02040503050406030204" pitchFamily="18" charset="0"/>
                      </a:rPr>
                      <m:t>𝑅</m:t>
                    </m:r>
                  </m:oMath>
                </a14:m>
                <a:r>
                  <a:rPr sz="2400" b="0">
                    <a:solidFill>
                      <a:srgbClr val="78350F"/>
                    </a:solidFill>
                    <a:latin typeface="Arial"/>
                  </a:rPr>
                  <a:t> as diameter passes through </a:t>
                </a:r>
                <a14:m>
                  <m:oMath xmlns:m="http://schemas.openxmlformats.org/officeDocument/2006/math">
                    <m:r>
                      <a:rPr lang="en-IN" sz="2400" i="1">
                        <a:solidFill>
                          <a:srgbClr val="78350F"/>
                        </a:solidFill>
                        <a:latin typeface="Cambria Math" panose="02040503050406030204" pitchFamily="18" charset="0"/>
                      </a:rPr>
                      <m:t>𝑇</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𝑅</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Normals at </a:t>
                </a:r>
                <a:r>
                  <a:rPr lang="en-IN" sz="2400">
                    <a:solidFill>
                      <a:srgbClr val="78350F"/>
                    </a:solidFill>
                    <a:latin typeface="Cambria Math" panose="02040503050406030204" pitchFamily="18" charset="0"/>
                  </a:rPr>
                  <a:t>$P,Q$</a:t>
                </a:r>
                <a:r>
                  <a:rPr sz="2400" b="0">
                    <a:solidFill>
                      <a:srgbClr val="78350F"/>
                    </a:solidFill>
                    <a:latin typeface="Arial"/>
                  </a:rPr>
                  <a:t> meeting on the curve force </a:t>
                </a:r>
                <a:r>
                  <a:rPr lang="en-IN" sz="2400">
                    <a:solidFill>
                      <a:srgbClr val="78350F"/>
                    </a:solidFill>
                    <a:latin typeface="Cambria Math" panose="02040503050406030204" pitchFamily="18" charset="0"/>
                  </a:rPr>
                  <a:t>$t_1t_2=2$</a:t>
                </a:r>
                <a:r>
                  <a:rPr sz="2400" b="0">
                    <a:solidFill>
                      <a:srgbClr val="78350F"/>
                    </a:solidFill>
                    <a:latin typeface="Arial"/>
                  </a:rPr>
                  <a:t>; and since </a:t>
                </a:r>
                <a:r>
                  <a:rPr lang="en-IN" sz="2400">
                    <a:solidFill>
                      <a:srgbClr val="78350F"/>
                    </a:solidFill>
                    <a:latin typeface="Cambria Math" panose="02040503050406030204" pitchFamily="18" charset="0"/>
                  </a:rPr>
                  <a:t>$TP\perp PR$</a:t>
                </a:r>
                <a:r>
                  <a:rPr sz="2400" b="0">
                    <a:solidFill>
                      <a:srgbClr val="78350F"/>
                    </a:solidFill>
                    <a:latin typeface="Arial"/>
                  </a:rPr>
                  <a:t>, </a:t>
                </a:r>
                <a:r>
                  <a:rPr lang="en-IN" sz="2400">
                    <a:solidFill>
                      <a:srgbClr val="78350F"/>
                    </a:solidFill>
                    <a:latin typeface="Cambria Math" panose="02040503050406030204" pitchFamily="18" charset="0"/>
                  </a:rPr>
                  <a:t>$TQ\perp QR$</a:t>
                </a:r>
                <a:r>
                  <a:rPr sz="2400" b="0">
                    <a:solidFill>
                      <a:srgbClr val="78350F"/>
                    </a:solidFill>
                    <a:latin typeface="Arial"/>
                  </a:rPr>
                  <a:t> the circle on </a:t>
                </a:r>
                <a:r>
                  <a:rPr lang="en-IN" sz="2400">
                    <a:solidFill>
                      <a:srgbClr val="78350F"/>
                    </a:solidFill>
                    <a:latin typeface="Cambria Math" panose="02040503050406030204" pitchFamily="18" charset="0"/>
                  </a:rPr>
                  <a:t>$TR$</a:t>
                </a:r>
                <a:r>
                  <a:rPr sz="2400" b="0">
                    <a:solidFill>
                      <a:srgbClr val="78350F"/>
                    </a:solidFill>
                    <a:latin typeface="Arial"/>
                  </a:rPr>
                  <a:t> as diameter passes through </a:t>
                </a:r>
                <a:r>
                  <a:rPr lang="en-IN" sz="2400">
                    <a:solidFill>
                      <a:srgbClr val="78350F"/>
                    </a:solidFill>
                    <a:latin typeface="Cambria Math" panose="02040503050406030204" pitchFamily="18" charset="0"/>
                  </a:rPr>
                  <a:t>$T,P,Q,R$</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normals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meet the parabola again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the roots of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Midpoint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$y^2=8x$</a:t>
                </a:r>
                <a:r>
                  <a:rPr sz="2400" b="0">
                    <a:solidFill>
                      <a:srgbClr val="111827"/>
                    </a:solidFill>
                    <a:latin typeface="Arial"/>
                  </a:rPr>
                  <a:t> gives </a:t>
                </a:r>
                <a:r>
                  <a:rPr lang="en-IN" sz="2400">
                    <a:solidFill>
                      <a:srgbClr val="111827"/>
                    </a:solidFill>
                    <a:latin typeface="Cambria Math" panose="02040503050406030204" pitchFamily="18" charset="0"/>
                  </a:rPr>
                  <a:t>$a=2$</a:t>
                </a:r>
                <a:r>
                  <a:rPr sz="2400" b="0">
                    <a:solidFill>
                      <a:srgbClr val="111827"/>
                    </a:solidFill>
                    <a:latin typeface="Arial"/>
                  </a:rPr>
                  <a:t>. The normals at </a:t>
                </a:r>
                <a:r>
                  <a:rPr lang="en-IN" sz="2400">
                    <a:solidFill>
                      <a:srgbClr val="111827"/>
                    </a:solidFill>
                    <a:latin typeface="Cambria Math" panose="02040503050406030204" pitchFamily="18" charset="0"/>
                  </a:rPr>
                  <a:t>$P(t_1)$</a:t>
                </a:r>
                <a:r>
                  <a:rPr sz="2400" b="0">
                    <a:solidFill>
                      <a:srgbClr val="111827"/>
                    </a:solidFill>
                    <a:latin typeface="Arial"/>
                  </a:rPr>
                  <a:t> and </a:t>
                </a:r>
                <a:r>
                  <a:rPr lang="en-IN" sz="2400">
                    <a:solidFill>
                      <a:srgbClr val="111827"/>
                    </a:solidFill>
                    <a:latin typeface="Cambria Math" panose="02040503050406030204" pitchFamily="18" charset="0"/>
                  </a:rPr>
                  <a:t>$Q(t_2)$</a:t>
                </a:r>
                <a:r>
                  <a:rPr sz="2400" b="0">
                    <a:solidFill>
                      <a:srgbClr val="111827"/>
                    </a:solidFill>
                    <a:latin typeface="Arial"/>
                  </a:rPr>
                  <a:t> meet the parabola again at </a:t>
                </a:r>
                <a:r>
                  <a:rPr lang="en-IN" sz="2400">
                    <a:solidFill>
                      <a:srgbClr val="111827"/>
                    </a:solidFill>
                    <a:latin typeface="Cambria Math" panose="02040503050406030204" pitchFamily="18" charset="0"/>
                  </a:rPr>
                  <a:t>$R(t_3)$</a:t>
                </a:r>
                <a:r>
                  <a:rPr sz="2400" b="0">
                    <a:solidFill>
                      <a:srgbClr val="111827"/>
                    </a:solidFill>
                    <a:latin typeface="Arial"/>
                  </a:rPr>
                  <a:t>, so </a:t>
                </a:r>
                <a:r>
                  <a:rPr lang="en-IN" sz="2400">
                    <a:solidFill>
                      <a:srgbClr val="111827"/>
                    </a:solidFill>
                    <a:latin typeface="Cambria Math" panose="02040503050406030204" pitchFamily="18" charset="0"/>
                  </a:rPr>
                  <a:t>$t_1,t_2$</a:t>
                </a:r>
                <a:r>
                  <a:rPr sz="2400" b="0">
                    <a:solidFill>
                      <a:srgbClr val="111827"/>
                    </a:solidFill>
                    <a:latin typeface="Arial"/>
                  </a:rPr>
                  <a:t> are the roots of </a:t>
                </a:r>
                <a:r>
                  <a:rPr lang="en-IN" sz="2400">
                    <a:solidFill>
                      <a:srgbClr val="111827"/>
                    </a:solidFill>
                    <a:latin typeface="Cambria Math" panose="02040503050406030204" pitchFamily="18" charset="0"/>
                  </a:rPr>
                  <a:t>$t^2+t_3t+2=0$</a:t>
                </a:r>
                <a:r>
                  <a:rPr sz="2400" b="0">
                    <a:solidFill>
                      <a:srgbClr val="111827"/>
                    </a:solidFill>
                    <a:latin typeface="Arial"/>
                  </a:rPr>
                  <a:t>: </a:t>
                </a:r>
                <a:r>
                  <a:rPr lang="en-IN" sz="2400">
                    <a:solidFill>
                      <a:srgbClr val="111827"/>
                    </a:solidFill>
                    <a:latin typeface="Cambria Math" panose="02040503050406030204" pitchFamily="18" charset="0"/>
                  </a:rPr>
                  <a:t>$t_1t_2=2$</a:t>
                </a:r>
                <a:r>
                  <a:rPr sz="2400" b="0">
                    <a:solidFill>
                      <a:srgbClr val="111827"/>
                    </a:solidFill>
                    <a:latin typeface="Arial"/>
                  </a:rPr>
                  <a:t> and </a:t>
                </a:r>
                <a:r>
                  <a:rPr lang="en-IN" sz="2400">
                    <a:solidFill>
                      <a:srgbClr val="111827"/>
                    </a:solidFill>
                    <a:latin typeface="Cambria Math" panose="02040503050406030204" pitchFamily="18" charset="0"/>
                  </a:rPr>
                  <a:t>$t_1+t_2+t_3=0$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Midpoint </a:t>
                </a:r>
                <a:r>
                  <a:rPr lang="en-IN" sz="2400">
                    <a:solidFill>
                      <a:srgbClr val="111827"/>
                    </a:solidFill>
                    <a:latin typeface="Cambria Math" panose="02040503050406030204" pitchFamily="18" charset="0"/>
                  </a:rPr>
                  <a:t>$(h,k)$</a:t>
                </a:r>
                <a:r>
                  <a:rPr sz="2400" b="0">
                    <a:solidFill>
                      <a:srgbClr val="111827"/>
                    </a:solidFill>
                    <a:latin typeface="Arial"/>
                  </a:rPr>
                  <a:t>: </a:t>
                </a:r>
                <a:r>
                  <a:rPr lang="en-IN" sz="2400">
                    <a:solidFill>
                      <a:srgbClr val="111827"/>
                    </a:solidFill>
                    <a:latin typeface="Cambria Math" panose="02040503050406030204" pitchFamily="18" charset="0"/>
                  </a:rPr>
                  <a:t>$2h=a(t_1^2+t_2^2)$</a:t>
                </a:r>
                <a:r>
                  <a:rPr sz="2400" b="0">
                    <a:solidFill>
                      <a:srgbClr val="111827"/>
                    </a:solidFill>
                    <a:latin typeface="Arial"/>
                  </a:rPr>
                  <a:t> and </a:t>
                </a:r>
                <a:r>
                  <a:rPr lang="en-IN" sz="2400">
                    <a:solidFill>
                      <a:srgbClr val="111827"/>
                    </a:solidFill>
                    <a:latin typeface="Cambria Math" panose="02040503050406030204" pitchFamily="18" charset="0"/>
                  </a:rPr>
                  <a:t>$2k=2a(t_1+t_2)$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$k^2=a^2(t_1+t_2)^2=a^2\left[(t_1^2+t_2^2)+2t_1t_2\right]=a^2\left[\frac{2h}{a}+4\right]$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$k^2=2ah+4a^2=2a(h+2a)$</a:t>
                </a:r>
                <a:r>
                  <a:rPr sz="2400" b="0">
                    <a:solidFill>
                      <a:srgbClr val="111827"/>
                    </a:solidFill>
                    <a:latin typeface="Arial"/>
                  </a:rPr>
                  <a:t>, i.e. </a:t>
                </a:r>
                <a:r>
                  <a:rPr lang="en-IN" sz="2400">
                    <a:solidFill>
                      <a:srgbClr val="111827"/>
                    </a:solidFill>
                    <a:latin typeface="Cambria Math" panose="02040503050406030204" pitchFamily="18" charset="0"/>
                  </a:rPr>
                  <a:t>$y^2=4(x+4)$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The chord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Rewrite: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it passes through the fixed point </a:t>
                </a:r>
                <a14:m>
                  <m:oMath xmlns:m="http://schemas.openxmlformats.org/officeDocument/2006/math">
                    <m:r>
                      <a:rPr lang="en-IN" sz="2400" i="1">
                        <a:solidFill>
                          <a:srgbClr val="111827"/>
                        </a:solidFill>
                        <a:latin typeface="Cambria Math" panose="02040503050406030204" pitchFamily="18" charset="0"/>
                      </a:rPr>
                      <m:t>𝐹</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focus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𝐹</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𝑃</m:t>
                    </m:r>
                  </m:oMath>
                </a14:m>
                <a:r>
                  <a:rPr sz="2400" b="0">
                    <a:solidFill>
                      <a:srgbClr val="111827"/>
                    </a:solidFill>
                    <a:latin typeface="Arial"/>
                  </a:rPr>
                  <a:t> is a tangent and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oMath>
                </a14:m>
                <a:r>
                  <a:rPr sz="2400" b="0">
                    <a:solidFill>
                      <a:srgbClr val="111827"/>
                    </a:solidFill>
                    <a:latin typeface="Arial"/>
                  </a:rPr>
                  <a:t> is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likewise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Hence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oMath>
                </a14:m>
                <a:r>
                  <a:rPr sz="2400" b="0">
                    <a:solidFill>
                      <a:srgbClr val="111827"/>
                    </a:solidFill>
                    <a:latin typeface="Arial"/>
                  </a:rPr>
                  <a:t> are concyclic with </a:t>
                </a: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𝑅</m:t>
                    </m:r>
                  </m:oMath>
                </a14:m>
                <a:r>
                  <a:rPr sz="2400" b="0">
                    <a:solidFill>
                      <a:srgbClr val="111827"/>
                    </a:solidFill>
                    <a:latin typeface="Arial"/>
                  </a:rPr>
                  <a:t> as diameter.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meet at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Let the centre (midpoint of </a:t>
                </a: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𝑅</m:t>
                    </m:r>
                  </m:oMath>
                </a14:m>
                <a:r>
                  <a:rPr sz="2400" b="0">
                    <a:solidFill>
                      <a:srgbClr val="111827"/>
                    </a:solidFill>
                    <a:latin typeface="Arial"/>
                  </a:rPr>
                  <a:t>) be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....(1).</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The chord </a:t>
                </a:r>
                <a:r>
                  <a:rPr lang="en-IN" sz="2400">
                    <a:solidFill>
                      <a:srgbClr val="111827"/>
                    </a:solidFill>
                    <a:latin typeface="Cambria Math" panose="02040503050406030204" pitchFamily="18" charset="0"/>
                  </a:rPr>
                  <a:t>$PQ$</a:t>
                </a:r>
                <a:r>
                  <a:rPr sz="2400" b="0">
                    <a:solidFill>
                      <a:srgbClr val="111827"/>
                    </a:solidFill>
                    <a:latin typeface="Arial"/>
                  </a:rPr>
                  <a:t>: </a:t>
                </a:r>
                <a:r>
                  <a:rPr lang="en-IN" sz="2400">
                    <a:solidFill>
                      <a:srgbClr val="111827"/>
                    </a:solidFill>
                    <a:latin typeface="Cambria Math" panose="02040503050406030204" pitchFamily="18" charset="0"/>
                  </a:rPr>
                  <a:t>$2x-(t_1+t_2)y+2at_1t_2=0$</a:t>
                </a:r>
                <a:r>
                  <a:rPr sz="2400" b="0">
                    <a:solidFill>
                      <a:srgbClr val="111827"/>
                    </a:solidFill>
                    <a:latin typeface="Arial"/>
                  </a:rPr>
                  <a:t>, i.e. </a:t>
                </a:r>
                <a:r>
                  <a:rPr lang="en-IN" sz="2400">
                    <a:solidFill>
                      <a:srgbClr val="111827"/>
                    </a:solidFill>
                    <a:latin typeface="Cambria Math" panose="02040503050406030204" pitchFamily="18" charset="0"/>
                  </a:rPr>
                  <a:t>$2x-(t_1+t_2)y+8=0$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Rewrite: </a:t>
                </a:r>
                <a:r>
                  <a:rPr lang="en-IN" sz="2400">
                    <a:solidFill>
                      <a:srgbClr val="111827"/>
                    </a:solidFill>
                    <a:latin typeface="Cambria Math" panose="02040503050406030204" pitchFamily="18" charset="0"/>
                  </a:rPr>
                  <a:t>$2(x+4)=(t_1+t_2)y$</a:t>
                </a:r>
                <a:r>
                  <a:rPr sz="2400" b="0">
                    <a:solidFill>
                      <a:srgbClr val="111827"/>
                    </a:solidFill>
                    <a:latin typeface="Arial"/>
                  </a:rPr>
                  <a:t>, i.e. </a:t>
                </a:r>
                <a:r>
                  <a:rPr lang="en-IN" sz="2400">
                    <a:solidFill>
                      <a:srgbClr val="111827"/>
                    </a:solidFill>
                    <a:latin typeface="Cambria Math" panose="02040503050406030204" pitchFamily="18" charset="0"/>
                  </a:rPr>
                  <a:t>$(x+4)+\lambda y=0$</a:t>
                </a:r>
                <a:r>
                  <a:rPr sz="2400" b="0">
                    <a:solidFill>
                      <a:srgbClr val="111827"/>
                    </a:solidFill>
                    <a:latin typeface="Arial"/>
                  </a:rPr>
                  <a:t>: it passes through the fixed point </a:t>
                </a:r>
                <a:r>
                  <a:rPr lang="en-IN" sz="2400">
                    <a:solidFill>
                      <a:srgbClr val="111827"/>
                    </a:solidFill>
                    <a:latin typeface="Cambria Math" panose="02040503050406030204" pitchFamily="18" charset="0"/>
                  </a:rPr>
                  <a:t>$F(-4,0)$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focus is </a:t>
                </a:r>
                <a:r>
                  <a:rPr lang="en-IN" sz="2400">
                    <a:solidFill>
                      <a:srgbClr val="111827"/>
                    </a:solidFill>
                    <a:latin typeface="Cambria Math" panose="02040503050406030204" pitchFamily="18" charset="0"/>
                  </a:rPr>
                  <a:t>$(2,0)$</a:t>
                </a:r>
                <a:r>
                  <a:rPr sz="2400" b="0">
                    <a:solidFill>
                      <a:srgbClr val="111827"/>
                    </a:solidFill>
                    <a:latin typeface="Arial"/>
                  </a:rPr>
                  <a:t>, so </a:t>
                </a:r>
                <a:r>
                  <a:rPr lang="en-IN" sz="2400">
                    <a:solidFill>
                      <a:srgbClr val="111827"/>
                    </a:solidFill>
                    <a:latin typeface="Cambria Math" panose="02040503050406030204" pitchFamily="18" charset="0"/>
                  </a:rPr>
                  <a:t>$FS=6$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$TP$</a:t>
                </a:r>
                <a:r>
                  <a:rPr sz="2400" b="0">
                    <a:solidFill>
                      <a:srgbClr val="111827"/>
                    </a:solidFill>
                    <a:latin typeface="Arial"/>
                  </a:rPr>
                  <a:t> is a tangent and </a:t>
                </a:r>
                <a:r>
                  <a:rPr lang="en-IN" sz="2400">
                    <a:solidFill>
                      <a:srgbClr val="111827"/>
                    </a:solidFill>
                    <a:latin typeface="Cambria Math" panose="02040503050406030204" pitchFamily="18" charset="0"/>
                  </a:rPr>
                  <a:t>$PR$</a:t>
                </a:r>
                <a:r>
                  <a:rPr sz="2400" b="0">
                    <a:solidFill>
                      <a:srgbClr val="111827"/>
                    </a:solidFill>
                    <a:latin typeface="Arial"/>
                  </a:rPr>
                  <a:t> is the normal at </a:t>
                </a:r>
                <a:r>
                  <a:rPr lang="en-IN" sz="2400">
                    <a:solidFill>
                      <a:srgbClr val="111827"/>
                    </a:solidFill>
                    <a:latin typeface="Cambria Math" panose="02040503050406030204" pitchFamily="18" charset="0"/>
                  </a:rPr>
                  <a:t>$P$</a:t>
                </a:r>
                <a:r>
                  <a:rPr sz="2400" b="0">
                    <a:solidFill>
                      <a:srgbClr val="111827"/>
                    </a:solidFill>
                    <a:latin typeface="Arial"/>
                  </a:rPr>
                  <a:t>, so </a:t>
                </a:r>
                <a:r>
                  <a:rPr lang="en-IN" sz="2400">
                    <a:solidFill>
                      <a:srgbClr val="111827"/>
                    </a:solidFill>
                    <a:latin typeface="Cambria Math" panose="02040503050406030204" pitchFamily="18" charset="0"/>
                  </a:rPr>
                  <a:t>$\angle TPR=90^\circ$</a:t>
                </a:r>
                <a:r>
                  <a:rPr sz="2400" b="0">
                    <a:solidFill>
                      <a:srgbClr val="111827"/>
                    </a:solidFill>
                    <a:latin typeface="Arial"/>
                  </a:rPr>
                  <a:t>; likewise </a:t>
                </a:r>
                <a:r>
                  <a:rPr lang="en-IN" sz="2400">
                    <a:solidFill>
                      <a:srgbClr val="111827"/>
                    </a:solidFill>
                    <a:latin typeface="Cambria Math" panose="02040503050406030204" pitchFamily="18" charset="0"/>
                  </a:rPr>
                  <a:t>$\angle TQR=90^\circ$</a:t>
                </a:r>
                <a:r>
                  <a:rPr sz="2400" b="0">
                    <a:solidFill>
                      <a:srgbClr val="111827"/>
                    </a:solidFill>
                    <a:latin typeface="Arial"/>
                  </a:rPr>
                  <a:t>. Hence </a:t>
                </a:r>
                <a:r>
                  <a:rPr lang="en-IN" sz="2400">
                    <a:solidFill>
                      <a:srgbClr val="111827"/>
                    </a:solidFill>
                    <a:latin typeface="Cambria Math" panose="02040503050406030204" pitchFamily="18" charset="0"/>
                  </a:rPr>
                  <a:t>$T,P,R,Q$</a:t>
                </a:r>
                <a:r>
                  <a:rPr sz="2400" b="0">
                    <a:solidFill>
                      <a:srgbClr val="111827"/>
                    </a:solidFill>
                    <a:latin typeface="Arial"/>
                  </a:rPr>
                  <a:t> are concyclic with </a:t>
                </a:r>
                <a:r>
                  <a:rPr lang="en-IN" sz="2400">
                    <a:solidFill>
                      <a:srgbClr val="111827"/>
                    </a:solidFill>
                    <a:latin typeface="Cambria Math" panose="02040503050406030204" pitchFamily="18" charset="0"/>
                  </a:rPr>
                  <a:t>$TR$</a:t>
                </a:r>
                <a:r>
                  <a:rPr sz="2400" b="0">
                    <a:solidFill>
                      <a:srgbClr val="111827"/>
                    </a:solidFill>
                    <a:latin typeface="Arial"/>
                  </a:rPr>
                  <a:t> as diameter.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tangents at </a:t>
                </a:r>
                <a:r>
                  <a:rPr lang="en-IN" sz="2400">
                    <a:solidFill>
                      <a:srgbClr val="111827"/>
                    </a:solidFill>
                    <a:latin typeface="Cambria Math" panose="02040503050406030204" pitchFamily="18" charset="0"/>
                  </a:rPr>
                  <a:t>$t_1,t_2$</a:t>
                </a:r>
                <a:r>
                  <a:rPr sz="2400" b="0">
                    <a:solidFill>
                      <a:srgbClr val="111827"/>
                    </a:solidFill>
                    <a:latin typeface="Arial"/>
                  </a:rPr>
                  <a:t> meet at </a:t>
                </a:r>
                <a:r>
                  <a:rPr lang="en-IN" sz="2400">
                    <a:solidFill>
                      <a:srgbClr val="111827"/>
                    </a:solidFill>
                    <a:latin typeface="Cambria Math" panose="02040503050406030204" pitchFamily="18" charset="0"/>
                  </a:rPr>
                  <a:t>$T=(at_1t_2,\ a(t_1+t_2))=(2a,\ -at_3)$</a:t>
                </a:r>
                <a:r>
                  <a:rPr sz="2400" b="0">
                    <a:solidFill>
                      <a:srgbClr val="111827"/>
                    </a:solidFill>
                    <a:latin typeface="Arial"/>
                  </a:rPr>
                  <a:t> and </a:t>
                </a:r>
                <a:r>
                  <a:rPr lang="en-IN" sz="2400">
                    <a:solidFill>
                      <a:srgbClr val="111827"/>
                    </a:solidFill>
                    <a:latin typeface="Cambria Math" panose="02040503050406030204" pitchFamily="18" charset="0"/>
                  </a:rPr>
                  <a:t>$R=(at_3^2,\ 2at_3)$</a:t>
                </a:r>
                <a:r>
                  <a:rPr sz="2400" b="0">
                    <a:solidFill>
                      <a:srgbClr val="111827"/>
                    </a:solidFill>
                    <a:latin typeface="Arial"/>
                  </a:rPr>
                  <a:t>. Let the centre (midpoint of </a:t>
                </a:r>
                <a:r>
                  <a:rPr lang="en-IN" sz="2400">
                    <a:solidFill>
                      <a:srgbClr val="111827"/>
                    </a:solidFill>
                    <a:latin typeface="Cambria Math" panose="02040503050406030204" pitchFamily="18" charset="0"/>
                  </a:rPr>
                  <a:t>$TR$</a:t>
                </a:r>
                <a:r>
                  <a:rPr sz="2400" b="0">
                    <a:solidFill>
                      <a:srgbClr val="111827"/>
                    </a:solidFill>
                    <a:latin typeface="Arial"/>
                  </a:rPr>
                  <a:t>) be </a:t>
                </a:r>
                <a:r>
                  <a:rPr lang="en-IN" sz="2400">
                    <a:solidFill>
                      <a:srgbClr val="111827"/>
                    </a:solidFill>
                    <a:latin typeface="Cambria Math" panose="02040503050406030204" pitchFamily="18" charset="0"/>
                  </a:rPr>
                  <a:t>$(x_1,y_1)$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$2x_1=at_1t_2+at_3^2=2a+at_3^2$</a:t>
                </a:r>
                <a:r>
                  <a:rPr sz="2400" b="0">
                    <a:solidFill>
                      <a:srgbClr val="111827"/>
                    </a:solidFill>
                    <a:latin typeface="Arial"/>
                  </a:rPr>
                  <a:t> ....(1).</a:t>
                </a:r>
                <a:endParaRPr sz="2400">
                  <a:solidFill>
                    <a:srgbClr val="111827"/>
                  </a:solidFill>
                </a:endParaRPr>
              </a:p>
            </p:txBody>
          </p:sp>
        </mc:Fallback>
      </mc:AlternateContent>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in (1):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locus is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$2y_1=a(t_1+t_2)+2at_3=-at_3+2at_3=at_3$</a:t>
                </a:r>
                <a:r>
                  <a:rPr sz="2400" b="0">
                    <a:solidFill>
                      <a:srgbClr val="111827"/>
                    </a:solidFill>
                    <a:latin typeface="Arial"/>
                  </a:rPr>
                  <a:t>, so </a:t>
                </a:r>
                <a:r>
                  <a:rPr lang="en-IN" sz="2400">
                    <a:solidFill>
                      <a:srgbClr val="111827"/>
                    </a:solidFill>
                    <a:latin typeface="Cambria Math" panose="02040503050406030204" pitchFamily="18" charset="0"/>
                  </a:rPr>
                  <a:t>$t_3=\frac{2y_1}{a}$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in (1): </a:t>
                </a:r>
                <a:r>
                  <a:rPr lang="en-IN" sz="2400">
                    <a:solidFill>
                      <a:srgbClr val="111827"/>
                    </a:solidFill>
                    <a:latin typeface="Cambria Math" panose="02040503050406030204" pitchFamily="18" charset="0"/>
                  </a:rPr>
                  <a:t>$2x_1=2a+\frac{4y_1^2}{a}$</a:t>
                </a:r>
                <a:r>
                  <a:rPr sz="2400" b="0">
                    <a:solidFill>
                      <a:srgbClr val="111827"/>
                    </a:solidFill>
                    <a:latin typeface="Arial"/>
                  </a:rPr>
                  <a:t>, so </a:t>
                </a:r>
                <a:r>
                  <a:rPr lang="en-IN" sz="2400">
                    <a:solidFill>
                      <a:srgbClr val="111827"/>
                    </a:solidFill>
                    <a:latin typeface="Cambria Math" panose="02040503050406030204" pitchFamily="18" charset="0"/>
                  </a:rPr>
                  <a:t>$ax_1=a^2+2y_1^2$</a:t>
                </a:r>
                <a:r>
                  <a:rPr sz="2400" b="0">
                    <a:solidFill>
                      <a:srgbClr val="111827"/>
                    </a:solidFill>
                    <a:latin typeface="Arial"/>
                  </a:rPr>
                  <a:t>, i.e. </a:t>
                </a:r>
                <a:r>
                  <a:rPr lang="en-IN" sz="2400">
                    <a:solidFill>
                      <a:srgbClr val="111827"/>
                    </a:solidFill>
                    <a:latin typeface="Cambria Math" panose="02040503050406030204" pitchFamily="18" charset="0"/>
                  </a:rPr>
                  <a:t>$2y_1^2=a(x_1-a)$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$a=2$</a:t>
                </a:r>
                <a:r>
                  <a:rPr sz="2400" b="0">
                    <a:solidFill>
                      <a:srgbClr val="111827"/>
                    </a:solidFill>
                    <a:latin typeface="Arial"/>
                  </a:rPr>
                  <a:t>: </a:t>
                </a:r>
                <a:r>
                  <a:rPr lang="en-IN" sz="2400">
                    <a:solidFill>
                      <a:srgbClr val="111827"/>
                    </a:solidFill>
                    <a:latin typeface="Cambria Math" panose="02040503050406030204" pitchFamily="18" charset="0"/>
                  </a:rPr>
                  <a:t>$y_1^2=x_1-2$</a:t>
                </a:r>
                <a:r>
                  <a:rPr sz="2400" b="0">
                    <a:solidFill>
                      <a:srgbClr val="111827"/>
                    </a:solidFill>
                    <a:latin typeface="Arial"/>
                  </a:rPr>
                  <a:t>. The locus is </a:t>
                </a:r>
                <a:r>
                  <a:rPr lang="en-IN" sz="2400">
                    <a:solidFill>
                      <a:srgbClr val="111827"/>
                    </a:solidFill>
                    <a:latin typeface="Cambria Math" panose="02040503050406030204" pitchFamily="18" charset="0"/>
                  </a:rPr>
                  <a:t>$y^2=x-2$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m:t>
                    </m:r>
                    <m:r>
                      <m:rPr>
                        <m:sty m:val="p"/>
                      </m:rPr>
                      <a:rPr lang="en-IN" sz="2800">
                        <a:solidFill>
                          <a:srgbClr val="15803D"/>
                        </a:solidFill>
                        <a:latin typeface="Cambria Math" panose="02040503050406030204" pitchFamily="18" charset="0"/>
                      </a:rPr>
                      <m:t>)</m:t>
                    </m:r>
                  </m:oMath>
                </a14:m>
                <a:r>
                  <a:rPr sz="2800" b="1">
                    <a:solidFill>
                      <a:srgbClr val="15803D"/>
                    </a:solidFill>
                    <a:latin typeface="Arial"/>
                  </a:rPr>
                  <a:t>; (b) </a:t>
                </a:r>
                <a14:m>
                  <m:oMath xmlns:m="http://schemas.openxmlformats.org/officeDocument/2006/math">
                    <m:r>
                      <a:rPr lang="en-IN" sz="2800" i="1">
                        <a:solidFill>
                          <a:srgbClr val="15803D"/>
                        </a:solidFill>
                        <a:latin typeface="Cambria Math" panose="02040503050406030204" pitchFamily="18" charset="0"/>
                      </a:rPr>
                      <m:t>6</m:t>
                    </m:r>
                  </m:oMath>
                </a14:m>
                <a:r>
                  <a:rPr sz="2800" b="1">
                    <a:solidFill>
                      <a:srgbClr val="15803D"/>
                    </a:solidFill>
                    <a:latin typeface="Arial"/>
                  </a:rPr>
                  <a:t>; (c) </a:t>
                </a:r>
                <a14:m>
                  <m:oMath xmlns:m="http://schemas.openxmlformats.org/officeDocument/2006/math">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$y^2=4(x+4)$</a:t>
                </a:r>
                <a:r>
                  <a:rPr sz="2800" b="1">
                    <a:solidFill>
                      <a:srgbClr val="15803D"/>
                    </a:solidFill>
                    <a:latin typeface="Arial"/>
                  </a:rPr>
                  <a:t>; (b) </a:t>
                </a:r>
                <a:r>
                  <a:rPr lang="en-IN" sz="2800">
                    <a:solidFill>
                      <a:srgbClr val="15803D"/>
                    </a:solidFill>
                    <a:latin typeface="Cambria Math" panose="02040503050406030204" pitchFamily="18" charset="0"/>
                  </a:rPr>
                  <a:t>$6$</a:t>
                </a:r>
                <a:r>
                  <a:rPr sz="2800" b="1">
                    <a:solidFill>
                      <a:srgbClr val="15803D"/>
                    </a:solidFill>
                    <a:latin typeface="Arial"/>
                  </a:rPr>
                  <a:t>; (c) </a:t>
                </a:r>
                <a:r>
                  <a:rPr lang="en-IN" sz="2800">
                    <a:solidFill>
                      <a:srgbClr val="15803D"/>
                    </a:solidFill>
                    <a:latin typeface="Cambria Math" panose="02040503050406030204" pitchFamily="18" charset="0"/>
                  </a:rPr>
                  <a:t>$y^2=x-2$</a:t>
                </a:r>
                <a:endParaRPr sz="2800">
                  <a:solidFill>
                    <a:srgbClr val="15803D"/>
                  </a:solidFill>
                </a:endParaRPr>
              </a:p>
            </p:txBody>
          </p:sp>
        </mc:Fallback>
      </mc:AlternateContent>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Pole-polar view: </a:t>
                </a:r>
                <a14:m>
                  <m:oMath xmlns:m="http://schemas.openxmlformats.org/officeDocument/2006/math">
                    <m:r>
                      <a:rPr lang="en-IN" sz="2400" i="1">
                        <a:solidFill>
                          <a:srgbClr val="78350F"/>
                        </a:solidFill>
                        <a:latin typeface="Cambria Math" panose="02040503050406030204" pitchFamily="18" charset="0"/>
                      </a:rPr>
                      <m:t>𝑇</m:t>
                    </m:r>
                  </m:oMath>
                </a14:m>
                <a:r>
                  <a:rPr sz="2400" b="0">
                    <a:solidFill>
                      <a:srgbClr val="78350F"/>
                    </a:solidFill>
                    <a:latin typeface="Arial"/>
                  </a:rPr>
                  <a:t> lies on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 so its polar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oMath>
                </a14:m>
                <a:r>
                  <a:rPr sz="2400" b="0">
                    <a:solidFill>
                      <a:srgbClr val="78350F"/>
                    </a:solidFill>
                    <a:latin typeface="Arial"/>
                  </a:rPr>
                  <a:t> passes through the pole of the line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 namely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then use the midpoint-chord equation </a:t>
                </a:r>
                <a14:m>
                  <m:oMath xmlns:m="http://schemas.openxmlformats.org/officeDocument/2006/math">
                    <m:r>
                      <a:rPr lang="en-IN" sz="2400" i="1">
                        <a:solidFill>
                          <a:srgbClr val="78350F"/>
                        </a:solidFill>
                        <a:latin typeface="Cambria Math" panose="02040503050406030204" pitchFamily="18" charset="0"/>
                      </a:rPr>
                      <m:t>𝑇</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Pole-polar view: </a:t>
                </a:r>
                <a:r>
                  <a:rPr lang="en-IN" sz="2400">
                    <a:solidFill>
                      <a:srgbClr val="78350F"/>
                    </a:solidFill>
                    <a:latin typeface="Cambria Math" panose="02040503050406030204" pitchFamily="18" charset="0"/>
                  </a:rPr>
                  <a:t>$T$</a:t>
                </a:r>
                <a:r>
                  <a:rPr sz="2400" b="0">
                    <a:solidFill>
                      <a:srgbClr val="78350F"/>
                    </a:solidFill>
                    <a:latin typeface="Arial"/>
                  </a:rPr>
                  <a:t> lies on </a:t>
                </a:r>
                <a:r>
                  <a:rPr lang="en-IN" sz="2400">
                    <a:solidFill>
                      <a:srgbClr val="78350F"/>
                    </a:solidFill>
                    <a:latin typeface="Cambria Math" panose="02040503050406030204" pitchFamily="18" charset="0"/>
                  </a:rPr>
                  <a:t>$x=at_1t_2=4$</a:t>
                </a:r>
                <a:r>
                  <a:rPr sz="2400" b="0">
                    <a:solidFill>
                      <a:srgbClr val="78350F"/>
                    </a:solidFill>
                    <a:latin typeface="Arial"/>
                  </a:rPr>
                  <a:t>, so its polar </a:t>
                </a:r>
                <a:r>
                  <a:rPr lang="en-IN" sz="2400">
                    <a:solidFill>
                      <a:srgbClr val="78350F"/>
                    </a:solidFill>
                    <a:latin typeface="Cambria Math" panose="02040503050406030204" pitchFamily="18" charset="0"/>
                  </a:rPr>
                  <a:t>$PQ$</a:t>
                </a:r>
                <a:r>
                  <a:rPr sz="2400" b="0">
                    <a:solidFill>
                      <a:srgbClr val="78350F"/>
                    </a:solidFill>
                    <a:latin typeface="Arial"/>
                  </a:rPr>
                  <a:t> passes through the pole of the line </a:t>
                </a:r>
                <a:r>
                  <a:rPr lang="en-IN" sz="2400">
                    <a:solidFill>
                      <a:srgbClr val="78350F"/>
                    </a:solidFill>
                    <a:latin typeface="Cambria Math" panose="02040503050406030204" pitchFamily="18" charset="0"/>
                  </a:rPr>
                  <a:t>$x=4$</a:t>
                </a:r>
                <a:r>
                  <a:rPr sz="2400" b="0">
                    <a:solidFill>
                      <a:srgbClr val="78350F"/>
                    </a:solidFill>
                    <a:latin typeface="Arial"/>
                  </a:rPr>
                  <a:t>, namely </a:t>
                </a:r>
                <a:r>
                  <a:rPr lang="en-IN" sz="2400">
                    <a:solidFill>
                      <a:srgbClr val="78350F"/>
                    </a:solidFill>
                    <a:latin typeface="Cambria Math" panose="02040503050406030204" pitchFamily="18" charset="0"/>
                  </a:rPr>
                  <a:t>$(-4,0)$</a:t>
                </a:r>
                <a:r>
                  <a:rPr sz="2400" b="0">
                    <a:solidFill>
                      <a:srgbClr val="78350F"/>
                    </a:solidFill>
                    <a:latin typeface="Arial"/>
                  </a:rPr>
                  <a:t>; then use the midpoint-chord equation </a:t>
                </a:r>
                <a:r>
                  <a:rPr lang="en-IN" sz="2400">
                    <a:solidFill>
                      <a:srgbClr val="78350F"/>
                    </a:solidFill>
                    <a:latin typeface="Cambria Math" panose="02040503050406030204" pitchFamily="18" charset="0"/>
                  </a:rPr>
                  <a:t>$T=S_1$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tangents meet at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with abscissa </a:t>
                </a:r>
                <a14:m>
                  <m:oMath xmlns:m="http://schemas.openxmlformats.org/officeDocument/2006/math">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lies on the line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the polar of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τ</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τ</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This passes through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every </a:t>
                </a:r>
                <a14:m>
                  <m:oMath xmlns:m="http://schemas.openxmlformats.org/officeDocument/2006/math">
                    <m:r>
                      <a:rPr lang="en-IN" sz="2400" i="1">
                        <a:solidFill>
                          <a:srgbClr val="111827"/>
                        </a:solidFill>
                        <a:latin typeface="Cambria Math" panose="02040503050406030204" pitchFamily="18" charset="0"/>
                      </a:rPr>
                      <m:t>τ</m:t>
                    </m:r>
                  </m:oMath>
                </a14:m>
                <a:r>
                  <a:rPr sz="2400" b="0">
                    <a:solidFill>
                      <a:srgbClr val="111827"/>
                    </a:solidFill>
                    <a:latin typeface="Arial"/>
                  </a:rPr>
                  <a:t> - the fixed point </a:t>
                </a:r>
                <a14:m>
                  <m:oMath xmlns:m="http://schemas.openxmlformats.org/officeDocument/2006/math">
                    <m:r>
                      <a:rPr lang="en-IN" sz="2400" i="1">
                        <a:solidFill>
                          <a:srgbClr val="111827"/>
                        </a:solidFill>
                        <a:latin typeface="Cambria Math" panose="02040503050406030204" pitchFamily="18" charset="0"/>
                      </a:rPr>
                      <m:t>𝐹</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𝐹</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The chord with midpoint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has equation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ℎ</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$t_1t_2=2$</a:t>
                </a:r>
                <a:r>
                  <a:rPr sz="2400" b="0">
                    <a:solidFill>
                      <a:srgbClr val="111827"/>
                    </a:solidFill>
                    <a:latin typeface="Arial"/>
                  </a:rPr>
                  <a:t>, the tangents meet at </a:t>
                </a:r>
                <a:r>
                  <a:rPr lang="en-IN" sz="2400">
                    <a:solidFill>
                      <a:srgbClr val="111827"/>
                    </a:solidFill>
                    <a:latin typeface="Cambria Math" panose="02040503050406030204" pitchFamily="18" charset="0"/>
                  </a:rPr>
                  <a:t>$T$</a:t>
                </a:r>
                <a:r>
                  <a:rPr sz="2400" b="0">
                    <a:solidFill>
                      <a:srgbClr val="111827"/>
                    </a:solidFill>
                    <a:latin typeface="Arial"/>
                  </a:rPr>
                  <a:t> with abscissa </a:t>
                </a:r>
                <a:r>
                  <a:rPr lang="en-IN" sz="2400">
                    <a:solidFill>
                      <a:srgbClr val="111827"/>
                    </a:solidFill>
                    <a:latin typeface="Cambria Math" panose="02040503050406030204" pitchFamily="18" charset="0"/>
                  </a:rPr>
                  <a:t>$at_1t_2=4$</a:t>
                </a:r>
                <a:r>
                  <a:rPr sz="2400" b="0">
                    <a:solidFill>
                      <a:srgbClr val="111827"/>
                    </a:solidFill>
                    <a:latin typeface="Arial"/>
                  </a:rPr>
                  <a:t>: </a:t>
                </a:r>
                <a:r>
                  <a:rPr lang="en-IN" sz="2400">
                    <a:solidFill>
                      <a:srgbClr val="111827"/>
                    </a:solidFill>
                    <a:latin typeface="Cambria Math" panose="02040503050406030204" pitchFamily="18" charset="0"/>
                  </a:rPr>
                  <a:t>$T$</a:t>
                </a:r>
                <a:r>
                  <a:rPr sz="2400" b="0">
                    <a:solidFill>
                      <a:srgbClr val="111827"/>
                    </a:solidFill>
                    <a:latin typeface="Arial"/>
                  </a:rPr>
                  <a:t> lies on the line </a:t>
                </a:r>
                <a:r>
                  <a:rPr lang="en-IN" sz="2400">
                    <a:solidFill>
                      <a:srgbClr val="111827"/>
                    </a:solidFill>
                    <a:latin typeface="Cambria Math" panose="02040503050406030204" pitchFamily="18" charset="0"/>
                  </a:rPr>
                  <a:t>$x=4$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$PQ$</a:t>
                </a:r>
                <a:r>
                  <a:rPr sz="2400" b="0">
                    <a:solidFill>
                      <a:srgbClr val="111827"/>
                    </a:solidFill>
                    <a:latin typeface="Arial"/>
                  </a:rPr>
                  <a:t> is the polar of </a:t>
                </a:r>
                <a:r>
                  <a:rPr lang="en-IN" sz="2400">
                    <a:solidFill>
                      <a:srgbClr val="111827"/>
                    </a:solidFill>
                    <a:latin typeface="Cambria Math" panose="02040503050406030204" pitchFamily="18" charset="0"/>
                  </a:rPr>
                  <a:t>$T(4,\tau)$</a:t>
                </a:r>
                <a:r>
                  <a:rPr sz="2400" b="0">
                    <a:solidFill>
                      <a:srgbClr val="111827"/>
                    </a:solidFill>
                    <a:latin typeface="Arial"/>
                  </a:rPr>
                  <a:t>: </a:t>
                </a:r>
                <a:r>
                  <a:rPr lang="en-IN" sz="2400">
                    <a:solidFill>
                      <a:srgbClr val="111827"/>
                    </a:solidFill>
                    <a:latin typeface="Cambria Math" panose="02040503050406030204" pitchFamily="18" charset="0"/>
                  </a:rPr>
                  <a:t>$\tau y=4(x+4)$</a:t>
                </a:r>
                <a:r>
                  <a:rPr sz="2400" b="0">
                    <a:solidFill>
                      <a:srgbClr val="111827"/>
                    </a:solidFill>
                    <a:latin typeface="Arial"/>
                  </a:rPr>
                  <a:t>. This passes through </a:t>
                </a:r>
                <a:r>
                  <a:rPr lang="en-IN" sz="2400">
                    <a:solidFill>
                      <a:srgbClr val="111827"/>
                    </a:solidFill>
                    <a:latin typeface="Cambria Math" panose="02040503050406030204" pitchFamily="18" charset="0"/>
                  </a:rPr>
                  <a:t>$(-4,0)$</a:t>
                </a:r>
                <a:r>
                  <a:rPr sz="2400" b="0">
                    <a:solidFill>
                      <a:srgbClr val="111827"/>
                    </a:solidFill>
                    <a:latin typeface="Arial"/>
                  </a:rPr>
                  <a:t> for every </a:t>
                </a:r>
                <a:r>
                  <a:rPr lang="en-IN" sz="2400">
                    <a:solidFill>
                      <a:srgbClr val="111827"/>
                    </a:solidFill>
                    <a:latin typeface="Cambria Math" panose="02040503050406030204" pitchFamily="18" charset="0"/>
                  </a:rPr>
                  <a:t>$\tau$</a:t>
                </a:r>
                <a:r>
                  <a:rPr sz="2400" b="0">
                    <a:solidFill>
                      <a:srgbClr val="111827"/>
                    </a:solidFill>
                    <a:latin typeface="Arial"/>
                  </a:rPr>
                  <a:t> - the fixed point </a:t>
                </a:r>
                <a:r>
                  <a:rPr lang="en-IN" sz="2400">
                    <a:solidFill>
                      <a:srgbClr val="111827"/>
                    </a:solidFill>
                    <a:latin typeface="Cambria Math" panose="02040503050406030204" pitchFamily="18" charset="0"/>
                  </a:rPr>
                  <a:t>$F$</a:t>
                </a:r>
                <a:r>
                  <a:rPr sz="2400" b="0">
                    <a:solidFill>
                      <a:srgbClr val="111827"/>
                    </a:solidFill>
                    <a:latin typeface="Arial"/>
                  </a:rPr>
                  <a:t> (b). </a:t>
                </a:r>
                <a:r>
                  <a:rPr lang="en-IN" sz="2400">
                    <a:solidFill>
                      <a:srgbClr val="111827"/>
                    </a:solidFill>
                    <a:latin typeface="Cambria Math" panose="02040503050406030204" pitchFamily="18" charset="0"/>
                  </a:rPr>
                  <a:t>$FS=2-(-4)=6$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The chord with midpoint </a:t>
                </a:r>
                <a:r>
                  <a:rPr lang="en-IN" sz="2400">
                    <a:solidFill>
                      <a:srgbClr val="111827"/>
                    </a:solidFill>
                    <a:latin typeface="Cambria Math" panose="02040503050406030204" pitchFamily="18" charset="0"/>
                  </a:rPr>
                  <a:t>$(h,k)$</a:t>
                </a:r>
                <a:r>
                  <a:rPr sz="2400" b="0">
                    <a:solidFill>
                      <a:srgbClr val="111827"/>
                    </a:solidFill>
                    <a:latin typeface="Arial"/>
                  </a:rPr>
                  <a:t> of </a:t>
                </a:r>
                <a:r>
                  <a:rPr lang="en-IN" sz="2400">
                    <a:solidFill>
                      <a:srgbClr val="111827"/>
                    </a:solidFill>
                    <a:latin typeface="Cambria Math" panose="02040503050406030204" pitchFamily="18" charset="0"/>
                  </a:rPr>
                  <a:t>$y^2=8x$</a:t>
                </a:r>
                <a:r>
                  <a:rPr sz="2400" b="0">
                    <a:solidFill>
                      <a:srgbClr val="111827"/>
                    </a:solidFill>
                    <a:latin typeface="Arial"/>
                  </a:rPr>
                  <a:t> has equation </a:t>
                </a:r>
                <a:r>
                  <a:rPr lang="en-IN" sz="2400">
                    <a:solidFill>
                      <a:srgbClr val="111827"/>
                    </a:solidFill>
                    <a:latin typeface="Cambria Math" panose="02040503050406030204" pitchFamily="18" charset="0"/>
                  </a:rPr>
                  <a:t>$T=S_1$</a:t>
                </a:r>
                <a:r>
                  <a:rPr sz="2400" b="0">
                    <a:solidFill>
                      <a:srgbClr val="111827"/>
                    </a:solidFill>
                    <a:latin typeface="Arial"/>
                  </a:rPr>
                  <a:t>: </a:t>
                </a:r>
                <a:r>
                  <a:rPr lang="en-IN" sz="2400">
                    <a:solidFill>
                      <a:srgbClr val="111827"/>
                    </a:solidFill>
                    <a:latin typeface="Cambria Math" panose="02040503050406030204" pitchFamily="18" charset="0"/>
                  </a:rPr>
                  <a:t>$ky-4(x+h)=k^2-8h$</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 passes through </a:t>
                </a:r>
                <a14:m>
                  <m:oMath xmlns:m="http://schemas.openxmlformats.org/officeDocument/2006/math">
                    <m:r>
                      <a:rPr lang="en-IN" sz="2400" i="1">
                        <a:solidFill>
                          <a:srgbClr val="111827"/>
                        </a:solidFill>
                        <a:latin typeface="Cambria Math" panose="02040503050406030204" pitchFamily="18" charset="0"/>
                      </a:rPr>
                      <m:t>𝐹</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ℎ</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ℎ</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 passes through </a:t>
                </a:r>
                <a:r>
                  <a:rPr lang="en-IN" sz="2400">
                    <a:solidFill>
                      <a:srgbClr val="111827"/>
                    </a:solidFill>
                    <a:latin typeface="Cambria Math" panose="02040503050406030204" pitchFamily="18" charset="0"/>
                  </a:rPr>
                  <a:t>$F(-4,0)$</a:t>
                </a:r>
                <a:r>
                  <a:rPr sz="2400" b="0">
                    <a:solidFill>
                      <a:srgbClr val="111827"/>
                    </a:solidFill>
                    <a:latin typeface="Arial"/>
                  </a:rPr>
                  <a:t>: </a:t>
                </a:r>
                <a:r>
                  <a:rPr lang="en-IN" sz="2400">
                    <a:solidFill>
                      <a:srgbClr val="111827"/>
                    </a:solidFill>
                    <a:latin typeface="Cambria Math" panose="02040503050406030204" pitchFamily="18" charset="0"/>
                  </a:rPr>
                  <a:t>$-4(h-4)=k^2-8h$</a:t>
                </a:r>
                <a:r>
                  <a:rPr sz="2400" b="0">
                    <a:solidFill>
                      <a:srgbClr val="111827"/>
                    </a:solidFill>
                    <a:latin typeface="Arial"/>
                  </a:rPr>
                  <a:t>, i.e. </a:t>
                </a:r>
                <a:r>
                  <a:rPr lang="en-IN" sz="2400">
                    <a:solidFill>
                      <a:srgbClr val="111827"/>
                    </a:solidFill>
                    <a:latin typeface="Cambria Math" panose="02040503050406030204" pitchFamily="18" charset="0"/>
                  </a:rPr>
                  <a:t>$16-4h=k^2-8h$</a:t>
                </a:r>
                <a:r>
                  <a:rPr sz="2400" b="0">
                    <a:solidFill>
                      <a:srgbClr val="111827"/>
                    </a:solidFill>
                    <a:latin typeface="Arial"/>
                  </a:rPr>
                  <a:t>, so </a:t>
                </a:r>
                <a:r>
                  <a:rPr lang="en-IN" sz="2400">
                    <a:solidFill>
                      <a:srgbClr val="111827"/>
                    </a:solidFill>
                    <a:latin typeface="Cambria Math" panose="02040503050406030204" pitchFamily="18" charset="0"/>
                  </a:rPr>
                  <a:t>$k^2=4h+16$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a:t>
                </a:r>
                <a:r>
                  <a:rPr lang="en-IN" sz="2400">
                    <a:solidFill>
                      <a:srgbClr val="111827"/>
                    </a:solidFill>
                    <a:latin typeface="Cambria Math" panose="02040503050406030204" pitchFamily="18" charset="0"/>
                  </a:rPr>
                  <a:t>$y^2=4(x+4)$</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m:t>
                    </m:r>
                    <m:r>
                      <m:rPr>
                        <m:sty m:val="p"/>
                      </m:rPr>
                      <a:rPr lang="en-IN" sz="2800">
                        <a:solidFill>
                          <a:srgbClr val="15803D"/>
                        </a:solidFill>
                        <a:latin typeface="Cambria Math" panose="02040503050406030204" pitchFamily="18" charset="0"/>
                      </a:rPr>
                      <m:t>)</m:t>
                    </m:r>
                  </m:oMath>
                </a14:m>
                <a:r>
                  <a:rPr sz="2800" b="1">
                    <a:solidFill>
                      <a:srgbClr val="15803D"/>
                    </a:solidFill>
                    <a:latin typeface="Arial"/>
                  </a:rPr>
                  <a:t>; (b) </a:t>
                </a:r>
                <a14:m>
                  <m:oMath xmlns:m="http://schemas.openxmlformats.org/officeDocument/2006/math">
                    <m:r>
                      <a:rPr lang="en-IN" sz="2800" i="1">
                        <a:solidFill>
                          <a:srgbClr val="15803D"/>
                        </a:solidFill>
                        <a:latin typeface="Cambria Math" panose="02040503050406030204" pitchFamily="18" charset="0"/>
                      </a:rPr>
                      <m:t>6</m:t>
                    </m:r>
                  </m:oMath>
                </a14:m>
                <a:r>
                  <a:rPr sz="2800" b="1">
                    <a:solidFill>
                      <a:srgbClr val="15803D"/>
                    </a:solidFill>
                    <a:latin typeface="Arial"/>
                  </a:rPr>
                  <a:t>; (c) </a:t>
                </a:r>
                <a14:m>
                  <m:oMath xmlns:m="http://schemas.openxmlformats.org/officeDocument/2006/math">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$y^2=4(x+4)$</a:t>
                </a:r>
                <a:r>
                  <a:rPr sz="2800" b="1">
                    <a:solidFill>
                      <a:srgbClr val="15803D"/>
                    </a:solidFill>
                    <a:latin typeface="Arial"/>
                  </a:rPr>
                  <a:t>; (b) </a:t>
                </a:r>
                <a:r>
                  <a:rPr lang="en-IN" sz="2800">
                    <a:solidFill>
                      <a:srgbClr val="15803D"/>
                    </a:solidFill>
                    <a:latin typeface="Cambria Math" panose="02040503050406030204" pitchFamily="18" charset="0"/>
                  </a:rPr>
                  <a:t>$6$</a:t>
                </a:r>
                <a:r>
                  <a:rPr sz="2800" b="1">
                    <a:solidFill>
                      <a:srgbClr val="15803D"/>
                    </a:solidFill>
                    <a:latin typeface="Arial"/>
                  </a:rPr>
                  <a:t>; (c) </a:t>
                </a:r>
                <a:r>
                  <a:rPr lang="en-IN" sz="2800">
                    <a:solidFill>
                      <a:srgbClr val="15803D"/>
                    </a:solidFill>
                    <a:latin typeface="Cambria Math" panose="02040503050406030204" pitchFamily="18" charset="0"/>
                  </a:rPr>
                  <a:t>$y^2=x-2$</a:t>
                </a:r>
                <a:endParaRPr sz="2800">
                  <a:solidFill>
                    <a:srgbClr val="15803D"/>
                  </a:solidFill>
                </a:endParaRPr>
              </a:p>
            </p:txBody>
          </p:sp>
        </mc:Fallback>
      </mc:AlternateContent>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meet on the curve iff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they then meet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tangents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meet on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and the chord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passes through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𝐹</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are perpendicular, so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 are concyclic on the circle with diameter </a:t>
                </a: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𝑅</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Circumcentre of </a:t>
                </a: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here </a:t>
                </a:r>
                <a14:m>
                  <m:oMath xmlns:m="http://schemas.openxmlformats.org/officeDocument/2006/math">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which traces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(check: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Normals at </a:t>
                </a:r>
                <a:r>
                  <a:rPr lang="en-IN" sz="2400">
                    <a:solidFill>
                      <a:srgbClr val="111827"/>
                    </a:solidFill>
                    <a:latin typeface="Cambria Math" panose="02040503050406030204" pitchFamily="18" charset="0"/>
                  </a:rPr>
                  <a:t>$t_1,t_2$</a:t>
                </a:r>
                <a:r>
                  <a:rPr sz="2400" b="0">
                    <a:solidFill>
                      <a:srgbClr val="111827"/>
                    </a:solidFill>
                    <a:latin typeface="Arial"/>
                  </a:rPr>
                  <a:t> of </a:t>
                </a:r>
                <a:r>
                  <a:rPr lang="en-IN" sz="2400">
                    <a:solidFill>
                      <a:srgbClr val="111827"/>
                    </a:solidFill>
                    <a:latin typeface="Cambria Math" panose="02040503050406030204" pitchFamily="18" charset="0"/>
                  </a:rPr>
                  <a:t>$y^2=4ax$</a:t>
                </a:r>
                <a:r>
                  <a:rPr sz="2400" b="0">
                    <a:solidFill>
                      <a:srgbClr val="111827"/>
                    </a:solidFill>
                    <a:latin typeface="Arial"/>
                  </a:rPr>
                  <a:t> meet on the curve iff </a:t>
                </a:r>
                <a:r>
                  <a:rPr lang="en-IN" sz="2400">
                    <a:solidFill>
                      <a:srgbClr val="111827"/>
                    </a:solidFill>
                    <a:latin typeface="Cambria Math" panose="02040503050406030204" pitchFamily="18" charset="0"/>
                  </a:rPr>
                  <a:t>$t_1t_2=2$</a:t>
                </a:r>
                <a:r>
                  <a:rPr sz="2400" b="0">
                    <a:solidFill>
                      <a:srgbClr val="111827"/>
                    </a:solidFill>
                    <a:latin typeface="Arial"/>
                  </a:rPr>
                  <a:t>; they then meet at </a:t>
                </a:r>
                <a:r>
                  <a:rPr lang="en-IN" sz="2400">
                    <a:solidFill>
                      <a:srgbClr val="111827"/>
                    </a:solidFill>
                    <a:latin typeface="Cambria Math" panose="02040503050406030204" pitchFamily="18" charset="0"/>
                  </a:rPr>
                  <a:t>$t_3=-(t_1+t_2)$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$t_1t_2=2$</a:t>
                </a:r>
                <a:r>
                  <a:rPr sz="2400" b="0">
                    <a:solidFill>
                      <a:srgbClr val="111827"/>
                    </a:solidFill>
                    <a:latin typeface="Arial"/>
                  </a:rPr>
                  <a:t>: tangents at </a:t>
                </a:r>
                <a:r>
                  <a:rPr lang="en-IN" sz="2400">
                    <a:solidFill>
                      <a:srgbClr val="111827"/>
                    </a:solidFill>
                    <a:latin typeface="Cambria Math" panose="02040503050406030204" pitchFamily="18" charset="0"/>
                  </a:rPr>
                  <a:t>$t_1,t_2$</a:t>
                </a:r>
                <a:r>
                  <a:rPr sz="2400" b="0">
                    <a:solidFill>
                      <a:srgbClr val="111827"/>
                    </a:solidFill>
                    <a:latin typeface="Arial"/>
                  </a:rPr>
                  <a:t> meet on </a:t>
                </a:r>
                <a:r>
                  <a:rPr lang="en-IN" sz="2400">
                    <a:solidFill>
                      <a:srgbClr val="111827"/>
                    </a:solidFill>
                    <a:latin typeface="Cambria Math" panose="02040503050406030204" pitchFamily="18" charset="0"/>
                  </a:rPr>
                  <a:t>$x=2a$</a:t>
                </a:r>
                <a:r>
                  <a:rPr sz="2400" b="0">
                    <a:solidFill>
                      <a:srgbClr val="111827"/>
                    </a:solidFill>
                    <a:latin typeface="Arial"/>
                  </a:rPr>
                  <a:t>, and the chord </a:t>
                </a:r>
                <a:r>
                  <a:rPr lang="en-IN" sz="2400">
                    <a:solidFill>
                      <a:srgbClr val="111827"/>
                    </a:solidFill>
                    <a:latin typeface="Cambria Math" panose="02040503050406030204" pitchFamily="18" charset="0"/>
                  </a:rPr>
                  <a:t>$t_1t_2$</a:t>
                </a:r>
                <a:r>
                  <a:rPr sz="2400" b="0">
                    <a:solidFill>
                      <a:srgbClr val="111827"/>
                    </a:solidFill>
                    <a:latin typeface="Arial"/>
                  </a:rPr>
                  <a:t> passes through </a:t>
                </a:r>
                <a:r>
                  <a:rPr lang="en-IN" sz="2400">
                    <a:solidFill>
                      <a:srgbClr val="111827"/>
                    </a:solidFill>
                    <a:latin typeface="Cambria Math" panose="02040503050406030204" pitchFamily="18" charset="0"/>
                  </a:rPr>
                  <a:t>$(-2a,0)$</a:t>
                </a:r>
                <a:r>
                  <a:rPr sz="2400" b="0">
                    <a:solidFill>
                      <a:srgbClr val="111827"/>
                    </a:solidFill>
                    <a:latin typeface="Arial"/>
                  </a:rPr>
                  <a:t> (here </a:t>
                </a:r>
                <a:r>
                  <a:rPr lang="en-IN" sz="2400">
                    <a:solidFill>
                      <a:srgbClr val="111827"/>
                    </a:solidFill>
                    <a:latin typeface="Cambria Math" panose="02040503050406030204" pitchFamily="18" charset="0"/>
                  </a:rPr>
                  <a:t>$F=(-4,0)$</a:t>
                </a:r>
                <a:r>
                  <a:rPr sz="2400" b="0">
                    <a:solidFill>
                      <a:srgbClr val="111827"/>
                    </a:solidFill>
                    <a:latin typeface="Arial"/>
                  </a:rPr>
                  <a:t> for </a:t>
                </a:r>
                <a:r>
                  <a:rPr lang="en-IN" sz="2400">
                    <a:solidFill>
                      <a:srgbClr val="111827"/>
                    </a:solidFill>
                    <a:latin typeface="Cambria Math" panose="02040503050406030204" pitchFamily="18" charset="0"/>
                  </a:rPr>
                  <a:t>$a=2$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a:t>
                </a:r>
                <a:r>
                  <a:rPr sz="2400" b="0">
                    <a:solidFill>
                      <a:srgbClr val="111827"/>
                    </a:solidFill>
                    <a:latin typeface="Arial"/>
                  </a:rPr>
                  <a:t> and normal at </a:t>
                </a:r>
                <a:r>
                  <a:rPr lang="en-IN" sz="2400">
                    <a:solidFill>
                      <a:srgbClr val="111827"/>
                    </a:solidFill>
                    <a:latin typeface="Cambria Math" panose="02040503050406030204" pitchFamily="18" charset="0"/>
                  </a:rPr>
                  <a:t>$P$</a:t>
                </a:r>
                <a:r>
                  <a:rPr sz="2400" b="0">
                    <a:solidFill>
                      <a:srgbClr val="111827"/>
                    </a:solidFill>
                    <a:latin typeface="Arial"/>
                  </a:rPr>
                  <a:t> are perpendicular, so </a:t>
                </a:r>
                <a:r>
                  <a:rPr lang="en-IN" sz="2400">
                    <a:solidFill>
                      <a:srgbClr val="111827"/>
                    </a:solidFill>
                    <a:latin typeface="Cambria Math" panose="02040503050406030204" pitchFamily="18" charset="0"/>
                  </a:rPr>
                  <a:t>$T,P,R,Q$</a:t>
                </a:r>
                <a:r>
                  <a:rPr sz="2400" b="0">
                    <a:solidFill>
                      <a:srgbClr val="111827"/>
                    </a:solidFill>
                    <a:latin typeface="Arial"/>
                  </a:rPr>
                  <a:t> (with </a:t>
                </a:r>
                <a:r>
                  <a:rPr lang="en-IN" sz="2400">
                    <a:solidFill>
                      <a:srgbClr val="111827"/>
                    </a:solidFill>
                    <a:latin typeface="Cambria Math" panose="02040503050406030204" pitchFamily="18" charset="0"/>
                  </a:rPr>
                  <a:t>$TP\perp PR$</a:t>
                </a:r>
                <a:r>
                  <a:rPr sz="2400" b="0">
                    <a:solidFill>
                      <a:srgbClr val="111827"/>
                    </a:solidFill>
                    <a:latin typeface="Arial"/>
                  </a:rPr>
                  <a:t>, </a:t>
                </a:r>
                <a:r>
                  <a:rPr lang="en-IN" sz="2400">
                    <a:solidFill>
                      <a:srgbClr val="111827"/>
                    </a:solidFill>
                    <a:latin typeface="Cambria Math" panose="02040503050406030204" pitchFamily="18" charset="0"/>
                  </a:rPr>
                  <a:t>$TQ\perp QR$</a:t>
                </a:r>
                <a:r>
                  <a:rPr sz="2400" b="0">
                    <a:solidFill>
                      <a:srgbClr val="111827"/>
                    </a:solidFill>
                    <a:latin typeface="Arial"/>
                  </a:rPr>
                  <a:t>) are concyclic on the circle with diameter </a:t>
                </a:r>
                <a:r>
                  <a:rPr lang="en-IN" sz="2400">
                    <a:solidFill>
                      <a:srgbClr val="111827"/>
                    </a:solidFill>
                    <a:latin typeface="Cambria Math" panose="02040503050406030204" pitchFamily="18" charset="0"/>
                  </a:rPr>
                  <a:t>$TR$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Circumcentre of </a:t>
                </a:r>
                <a:r>
                  <a:rPr lang="en-IN" sz="2400">
                    <a:solidFill>
                      <a:srgbClr val="111827"/>
                    </a:solidFill>
                    <a:latin typeface="Cambria Math" panose="02040503050406030204" pitchFamily="18" charset="0"/>
                  </a:rPr>
                  <a:t>$TPQ$</a:t>
                </a:r>
                <a:r>
                  <a:rPr sz="2400" b="0">
                    <a:solidFill>
                      <a:srgbClr val="111827"/>
                    </a:solidFill>
                    <a:latin typeface="Arial"/>
                  </a:rPr>
                  <a:t> here </a:t>
                </a:r>
                <a:r>
                  <a:rPr lang="en-IN" sz="2400">
                    <a:solidFill>
                      <a:srgbClr val="111827"/>
                    </a:solidFill>
                    <a:latin typeface="Cambria Math" panose="02040503050406030204" pitchFamily="18" charset="0"/>
                  </a:rPr>
                  <a:t>$=\left(a+\frac{at_3^2}{2},\ \frac{at_3}{2}\right)$</a:t>
                </a:r>
                <a:r>
                  <a:rPr sz="2400" b="0">
                    <a:solidFill>
                      <a:srgbClr val="111827"/>
                    </a:solidFill>
                    <a:latin typeface="Arial"/>
                  </a:rPr>
                  <a:t>, which traces </a:t>
                </a:r>
                <a:r>
                  <a:rPr lang="en-IN" sz="2400">
                    <a:solidFill>
                      <a:srgbClr val="111827"/>
                    </a:solidFill>
                    <a:latin typeface="Cambria Math" panose="02040503050406030204" pitchFamily="18" charset="0"/>
                  </a:rPr>
                  <a:t>$y^2=\frac a2\,(x-a)$</a:t>
                </a:r>
                <a:r>
                  <a:rPr sz="2400" b="0">
                    <a:solidFill>
                      <a:srgbClr val="111827"/>
                    </a:solidFill>
                    <a:latin typeface="Arial"/>
                  </a:rPr>
                  <a:t> i.e. </a:t>
                </a:r>
                <a:r>
                  <a:rPr lang="en-IN" sz="2400">
                    <a:solidFill>
                      <a:srgbClr val="111827"/>
                    </a:solidFill>
                    <a:latin typeface="Cambria Math" panose="02040503050406030204" pitchFamily="18" charset="0"/>
                  </a:rPr>
                  <a:t>$y^2=x-2$</a:t>
                </a:r>
                <a:r>
                  <a:rPr sz="2400" b="0">
                    <a:solidFill>
                      <a:srgbClr val="111827"/>
                    </a:solidFill>
                    <a:latin typeface="Arial"/>
                  </a:rPr>
                  <a:t> for </a:t>
                </a:r>
                <a:r>
                  <a:rPr lang="en-IN" sz="2400">
                    <a:solidFill>
                      <a:srgbClr val="111827"/>
                    </a:solidFill>
                    <a:latin typeface="Cambria Math" panose="02040503050406030204" pitchFamily="18" charset="0"/>
                  </a:rPr>
                  <a:t>$a=2$</a:t>
                </a:r>
                <a:r>
                  <a:rPr sz="2400" b="0">
                    <a:solidFill>
                      <a:srgbClr val="111827"/>
                    </a:solidFill>
                    <a:latin typeface="Arial"/>
                  </a:rPr>
                  <a:t> (check: </a:t>
                </a:r>
                <a:r>
                  <a:rPr lang="en-IN" sz="2400">
                    <a:solidFill>
                      <a:srgbClr val="111827"/>
                    </a:solidFill>
                    <a:latin typeface="Cambria Math" panose="02040503050406030204" pitchFamily="18" charset="0"/>
                  </a:rPr>
                  <a:t>$t_1=1,t_2=2$</a:t>
                </a:r>
                <a:r>
                  <a:rPr sz="2400" b="0">
                    <a:solidFill>
                      <a:srgbClr val="111827"/>
                    </a:solidFill>
                    <a:latin typeface="Arial"/>
                  </a:rPr>
                  <a:t> gives </a:t>
                </a:r>
                <a:r>
                  <a:rPr lang="en-IN" sz="2400">
                    <a:solidFill>
                      <a:srgbClr val="111827"/>
                    </a:solidFill>
                    <a:latin typeface="Cambria Math" panose="02040503050406030204" pitchFamily="18" charset="0"/>
                  </a:rPr>
                  <a:t>$T(4,6),R(18,-12)$</a:t>
                </a:r>
                <a:r>
                  <a:rPr sz="2400" b="0">
                    <a:solidFill>
                      <a:srgbClr val="111827"/>
                    </a:solidFill>
                    <a:latin typeface="Arial"/>
                  </a:rPr>
                  <a:t>, centre </a:t>
                </a:r>
                <a:r>
                  <a:rPr lang="en-IN" sz="2400">
                    <a:solidFill>
                      <a:srgbClr val="111827"/>
                    </a:solidFill>
                    <a:latin typeface="Cambria Math" panose="02040503050406030204" pitchFamily="18" charset="0"/>
                  </a:rPr>
                  <a:t>$(11,-3)$</a:t>
                </a:r>
                <a:r>
                  <a:rPr sz="2400" b="0">
                    <a:solidFill>
                      <a:srgbClr val="111827"/>
                    </a:solidFill>
                    <a:latin typeface="Arial"/>
                  </a:rPr>
                  <a:t>, and </a:t>
                </a:r>
                <a:r>
                  <a:rPr lang="en-IN" sz="2400">
                    <a:solidFill>
                      <a:srgbClr val="111827"/>
                    </a:solidFill>
                    <a:latin typeface="Cambria Math" panose="02040503050406030204" pitchFamily="18" charset="0"/>
                  </a:rPr>
                  <a:t>$9=11-2$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Two equal parabolas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have their vertices at </a:t>
                </a:r>
                <a14:m>
                  <m:oMath xmlns:m="http://schemas.openxmlformats.org/officeDocument/2006/math">
                    <m:sSub>
                      <m:e>
                        <m:r>
                          <a:rPr lang="en-IN" sz="2400" i="1">
                            <a:solidFill>
                              <a:srgbClr val="111827"/>
                            </a:solidFill>
                            <a:latin typeface="Cambria Math" panose="02040503050406030204" pitchFamily="18" charset="0"/>
                          </a:rPr>
                          <m:t>𝑉</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𝑉</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respectively.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tangent to each other and have vertical axes of symmetry.\n(a) Find the sum of the abscissa and ordinate of their point of contact.\n(b) Find the length of the latus rectum.\n(c) Find the area of the region enclosed by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a:t>
                </a:r>
                <a:endParaRPr sz="2400">
                  <a:solidFill>
                    <a:srgbClr val="111827"/>
                  </a:solidFill>
                </a:endParaRPr>
              </a:p>
            </p:txBody>
          </p:sp>
        </mc:Choice>
        <mc:Fallback>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Two equal parabolas </a:t>
                </a:r>
                <a:r>
                  <a:rPr lang="en-IN" sz="2400">
                    <a:solidFill>
                      <a:srgbClr val="111827"/>
                    </a:solidFill>
                    <a:latin typeface="Cambria Math" panose="02040503050406030204" pitchFamily="18" charset="0"/>
                  </a:rPr>
                  <a:t>$P_1$</a:t>
                </a:r>
                <a:r>
                  <a:rPr sz="2400" b="0">
                    <a:solidFill>
                      <a:srgbClr val="111827"/>
                    </a:solidFill>
                    <a:latin typeface="Arial"/>
                  </a:rPr>
                  <a:t> and </a:t>
                </a:r>
                <a:r>
                  <a:rPr lang="en-IN" sz="2400">
                    <a:solidFill>
                      <a:srgbClr val="111827"/>
                    </a:solidFill>
                    <a:latin typeface="Cambria Math" panose="02040503050406030204" pitchFamily="18" charset="0"/>
                  </a:rPr>
                  <a:t>$P_2$</a:t>
                </a:r>
                <a:r>
                  <a:rPr sz="2400" b="0">
                    <a:solidFill>
                      <a:srgbClr val="111827"/>
                    </a:solidFill>
                    <a:latin typeface="Arial"/>
                  </a:rPr>
                  <a:t> have their vertices at </a:t>
                </a:r>
                <a:r>
                  <a:rPr lang="en-IN" sz="2400">
                    <a:solidFill>
                      <a:srgbClr val="111827"/>
                    </a:solidFill>
                    <a:latin typeface="Cambria Math" panose="02040503050406030204" pitchFamily="18" charset="0"/>
                  </a:rPr>
                  <a:t>$V_1(0,4)$</a:t>
                </a:r>
                <a:r>
                  <a:rPr sz="2400" b="0">
                    <a:solidFill>
                      <a:srgbClr val="111827"/>
                    </a:solidFill>
                    <a:latin typeface="Arial"/>
                  </a:rPr>
                  <a:t> and </a:t>
                </a:r>
                <a:r>
                  <a:rPr lang="en-IN" sz="2400">
                    <a:solidFill>
                      <a:srgbClr val="111827"/>
                    </a:solidFill>
                    <a:latin typeface="Cambria Math" panose="02040503050406030204" pitchFamily="18" charset="0"/>
                  </a:rPr>
                  <a:t>$V_2(6,0)$</a:t>
                </a:r>
                <a:r>
                  <a:rPr sz="2400" b="0">
                    <a:solidFill>
                      <a:srgbClr val="111827"/>
                    </a:solidFill>
                    <a:latin typeface="Arial"/>
                  </a:rPr>
                  <a:t> respectively. </a:t>
                </a:r>
                <a:r>
                  <a:rPr lang="en-IN" sz="2400">
                    <a:solidFill>
                      <a:srgbClr val="111827"/>
                    </a:solidFill>
                    <a:latin typeface="Cambria Math" panose="02040503050406030204" pitchFamily="18" charset="0"/>
                  </a:rPr>
                  <a:t>$P_1$</a:t>
                </a:r>
                <a:r>
                  <a:rPr sz="2400" b="0">
                    <a:solidFill>
                      <a:srgbClr val="111827"/>
                    </a:solidFill>
                    <a:latin typeface="Arial"/>
                  </a:rPr>
                  <a:t> and </a:t>
                </a:r>
                <a:r>
                  <a:rPr lang="en-IN" sz="2400">
                    <a:solidFill>
                      <a:srgbClr val="111827"/>
                    </a:solidFill>
                    <a:latin typeface="Cambria Math" panose="02040503050406030204" pitchFamily="18" charset="0"/>
                  </a:rPr>
                  <a:t>$P_2$</a:t>
                </a:r>
                <a:r>
                  <a:rPr sz="2400" b="0">
                    <a:solidFill>
                      <a:srgbClr val="111827"/>
                    </a:solidFill>
                    <a:latin typeface="Arial"/>
                  </a:rPr>
                  <a:t> are tangent to each other and have vertical axes of symmetry.\n(a) Find the sum of the abscissa and ordinate of their point of contact.\n(b) Find the length of the latus rectum.\n(c) Find the area of the region enclosed by </a:t>
                </a:r>
                <a:r>
                  <a:rPr lang="en-IN" sz="2400">
                    <a:solidFill>
                      <a:srgbClr val="111827"/>
                    </a:solidFill>
                    <a:latin typeface="Cambria Math" panose="02040503050406030204" pitchFamily="18" charset="0"/>
                  </a:rPr>
                  <a:t>$P_1$</a:t>
                </a:r>
                <a:r>
                  <a:rPr sz="2400" b="0">
                    <a:solidFill>
                      <a:srgbClr val="111827"/>
                    </a:solidFill>
                    <a:latin typeface="Arial"/>
                  </a:rPr>
                  <a:t>, </a:t>
                </a:r>
                <a:r>
                  <a:rPr lang="en-IN" sz="2400">
                    <a:solidFill>
                      <a:srgbClr val="111827"/>
                    </a:solidFill>
                    <a:latin typeface="Cambria Math" panose="02040503050406030204" pitchFamily="18" charset="0"/>
                  </a:rPr>
                  <a:t>$P_2$</a:t>
                </a:r>
                <a:r>
                  <a:rPr sz="2400" b="0">
                    <a:solidFill>
                      <a:srgbClr val="111827"/>
                    </a:solidFill>
                    <a:latin typeface="Arial"/>
                  </a:rPr>
                  <a:t> and the </a:t>
                </a:r>
                <a:r>
                  <a:rPr lang="en-IN" sz="2400">
                    <a:solidFill>
                      <a:srgbClr val="111827"/>
                    </a:solidFill>
                    <a:latin typeface="Cambria Math" panose="02040503050406030204" pitchFamily="18" charset="0"/>
                  </a:rPr>
                  <a:t>$x$</a:t>
                </a:r>
                <a:r>
                  <a:rPr sz="2400" b="0">
                    <a:solidFill>
                      <a:srgbClr val="111827"/>
                    </a:solidFill>
                    <a:latin typeface="Arial"/>
                  </a:rPr>
                  <a:t>-axis.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4260596"/>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Two equal parabolas touching each other, Area bounded by parabolas and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Choice>
        <mc:Fallback>
          <p:sp>
            <p:nvSpPr>
              <p:cNvPr id="5" name="Rectangle 4"/>
              <p:cNvSpPr/>
              <p:nvPr/>
            </p:nvSpPr>
            <p:spPr>
              <a:xfrm>
                <a:off x="731520" y="4260596"/>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Two equal parabolas touching each other, Area bounded by parabolas and the </a:t>
                </a:r>
                <a:r>
                  <a:rPr lang="en-IN" sz="2400">
                    <a:solidFill>
                      <a:srgbClr val="111827"/>
                    </a:solidFill>
                    <a:latin typeface="Cambria Math" panose="02040503050406030204" pitchFamily="18" charset="0"/>
                  </a:rPr>
                  <a:t>$x$</a:t>
                </a:r>
                <a:r>
                  <a:rPr sz="2400" b="0">
                    <a:solidFill>
                      <a:srgbClr val="111827"/>
                    </a:solidFill>
                    <a:latin typeface="Arial"/>
                  </a:rPr>
                  <a:t>-axis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Fallback>
      </mc:AlternateContent>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Equal touching parabolas with vertical axes open in opposite directions, so equating the slopes at the contact point fixes it at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Equal touching parabolas with vertical axes open in opposite directions, so equating the slopes at the contact point fixes it at </a:t>
                </a:r>
                <a:r>
                  <a:rPr lang="en-IN" sz="2400">
                    <a:solidFill>
                      <a:srgbClr val="78350F"/>
                    </a:solidFill>
                    <a:latin typeface="Cambria Math" panose="02040503050406030204" pitchFamily="18" charset="0"/>
                  </a:rPr>
                  <a:t>$x=3$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parabolas are equal with vertical axes, and touch each other, so they open in opposite directions: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(vertex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opens downwards,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(vertex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opens upwards.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Differentiating,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den>
                    </m:f>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𝑦</m:t>
                    </m:r>
                  </m:oMath>
                </a14:m>
                <a:r>
                  <a:rPr sz="2400" b="0">
                    <a:solidFill>
                      <a:srgbClr val="111827"/>
                    </a:solidFill>
                    <a:latin typeface="Arial"/>
                  </a:rPr>
                  <a:t>. Differentiating,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den>
                    </m:f>
                  </m:oMath>
                </a14:m>
                <a:r>
                  <a:rPr sz="2400" b="0">
                    <a:solidFill>
                      <a:srgbClr val="111827"/>
                    </a:solidFill>
                    <a:latin typeface="Arial"/>
                  </a:rPr>
                  <a:t> ....(2).</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parabolas are equal with vertical axes, and touch each other, so they open in opposite directions: </a:t>
                </a:r>
                <a:r>
                  <a:rPr lang="en-IN" sz="2400">
                    <a:solidFill>
                      <a:srgbClr val="111827"/>
                    </a:solidFill>
                    <a:latin typeface="Cambria Math" panose="02040503050406030204" pitchFamily="18" charset="0"/>
                  </a:rPr>
                  <a:t>$P_1$</a:t>
                </a:r>
                <a:r>
                  <a:rPr sz="2400" b="0">
                    <a:solidFill>
                      <a:srgbClr val="111827"/>
                    </a:solidFill>
                    <a:latin typeface="Arial"/>
                  </a:rPr>
                  <a:t> (vertex </a:t>
                </a:r>
                <a:r>
                  <a:rPr lang="en-IN" sz="2400">
                    <a:solidFill>
                      <a:srgbClr val="111827"/>
                    </a:solidFill>
                    <a:latin typeface="Cambria Math" panose="02040503050406030204" pitchFamily="18" charset="0"/>
                  </a:rPr>
                  <a:t>$(0,4)$</a:t>
                </a:r>
                <a:r>
                  <a:rPr sz="2400" b="0">
                    <a:solidFill>
                      <a:srgbClr val="111827"/>
                    </a:solidFill>
                    <a:latin typeface="Arial"/>
                  </a:rPr>
                  <a:t>) opens downwards, </a:t>
                </a:r>
                <a:r>
                  <a:rPr lang="en-IN" sz="2400">
                    <a:solidFill>
                      <a:srgbClr val="111827"/>
                    </a:solidFill>
                    <a:latin typeface="Cambria Math" panose="02040503050406030204" pitchFamily="18" charset="0"/>
                  </a:rPr>
                  <a:t>$P_2$</a:t>
                </a:r>
                <a:r>
                  <a:rPr sz="2400" b="0">
                    <a:solidFill>
                      <a:srgbClr val="111827"/>
                    </a:solidFill>
                    <a:latin typeface="Arial"/>
                  </a:rPr>
                  <a:t> (vertex </a:t>
                </a:r>
                <a:r>
                  <a:rPr lang="en-IN" sz="2400">
                    <a:solidFill>
                      <a:srgbClr val="111827"/>
                    </a:solidFill>
                    <a:latin typeface="Cambria Math" panose="02040503050406030204" pitchFamily="18" charset="0"/>
                  </a:rPr>
                  <a:t>$(6,0)$</a:t>
                </a:r>
                <a:r>
                  <a:rPr sz="2400" b="0">
                    <a:solidFill>
                      <a:srgbClr val="111827"/>
                    </a:solidFill>
                    <a:latin typeface="Arial"/>
                  </a:rPr>
                  <a:t>) opens upwards.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$P_1:\ x^2=-4a(y-4)$</a:t>
                </a:r>
                <a:r>
                  <a:rPr sz="2400" b="0">
                    <a:solidFill>
                      <a:srgbClr val="111827"/>
                    </a:solidFill>
                    <a:latin typeface="Arial"/>
                  </a:rPr>
                  <a:t>. Differentiating, </a:t>
                </a:r>
                <a:r>
                  <a:rPr lang="en-IN" sz="2400">
                    <a:solidFill>
                      <a:srgbClr val="111827"/>
                    </a:solidFill>
                    <a:latin typeface="Cambria Math" panose="02040503050406030204" pitchFamily="18" charset="0"/>
                  </a:rPr>
                  <a:t>$2x=-4ay'$</a:t>
                </a:r>
                <a:r>
                  <a:rPr sz="2400" b="0">
                    <a:solidFill>
                      <a:srgbClr val="111827"/>
                    </a:solidFill>
                    <a:latin typeface="Arial"/>
                  </a:rPr>
                  <a:t>, so </a:t>
                </a:r>
                <a:r>
                  <a:rPr lang="en-IN" sz="2400">
                    <a:solidFill>
                      <a:srgbClr val="111827"/>
                    </a:solidFill>
                    <a:latin typeface="Cambria Math" panose="02040503050406030204" pitchFamily="18" charset="0"/>
                  </a:rPr>
                  <a:t>$y'=-\frac{x}{2a}$</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$P_2:\ (x-6)^2=4ay$</a:t>
                </a:r>
                <a:r>
                  <a:rPr sz="2400" b="0">
                    <a:solidFill>
                      <a:srgbClr val="111827"/>
                    </a:solidFill>
                    <a:latin typeface="Arial"/>
                  </a:rPr>
                  <a:t>. Differentiating, </a:t>
                </a:r>
                <a:r>
                  <a:rPr lang="en-IN" sz="2400">
                    <a:solidFill>
                      <a:srgbClr val="111827"/>
                    </a:solidFill>
                    <a:latin typeface="Cambria Math" panose="02040503050406030204" pitchFamily="18" charset="0"/>
                  </a:rPr>
                  <a:t>$2(x-6)=4ay'$</a:t>
                </a:r>
                <a:r>
                  <a:rPr sz="2400" b="0">
                    <a:solidFill>
                      <a:srgbClr val="111827"/>
                    </a:solidFill>
                    <a:latin typeface="Arial"/>
                  </a:rPr>
                  <a:t>, so </a:t>
                </a:r>
                <a:r>
                  <a:rPr lang="en-IN" sz="2400">
                    <a:solidFill>
                      <a:srgbClr val="111827"/>
                    </a:solidFill>
                    <a:latin typeface="Cambria Math" panose="02040503050406030204" pitchFamily="18" charset="0"/>
                  </a:rPr>
                  <a:t>$y'=\frac{x-6}{2a}$</a:t>
                </a:r>
                <a:r>
                  <a:rPr sz="2400" b="0">
                    <a:solidFill>
                      <a:srgbClr val="111827"/>
                    </a:solidFill>
                    <a:latin typeface="Arial"/>
                  </a:rPr>
                  <a:t> ....(2).</a:t>
                </a:r>
                <a:endParaRPr sz="2400">
                  <a:solidFill>
                    <a:srgbClr val="111827"/>
                  </a:solidFill>
                </a:endParaRPr>
              </a:p>
            </p:txBody>
          </p:sp>
        </mc:Fallback>
      </mc:AlternateContent>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tangency (1) = (2):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in both parabolas: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𝑦</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lies on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Latus rectum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oMath>
                </a14:m>
                <a:r>
                  <a:rPr sz="2400" b="0">
                    <a:solidFill>
                      <a:srgbClr val="111827"/>
                    </a:solidFill>
                    <a:latin typeface="Arial"/>
                  </a:rPr>
                  <a:t> meets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oMath>
                </a14:m>
                <a:r>
                  <a:rPr sz="2400" b="0">
                    <a:solidFill>
                      <a:srgbClr val="111827"/>
                    </a:solidFill>
                    <a:latin typeface="Arial"/>
                  </a:rPr>
                  <a:t> touches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tangency (1) = (2): </a:t>
                </a:r>
                <a:r>
                  <a:rPr lang="en-IN" sz="2400">
                    <a:solidFill>
                      <a:srgbClr val="111827"/>
                    </a:solidFill>
                    <a:latin typeface="Cambria Math" panose="02040503050406030204" pitchFamily="18" charset="0"/>
                  </a:rPr>
                  <a:t>$-x=x-6$</a:t>
                </a:r>
                <a:r>
                  <a:rPr sz="2400" b="0">
                    <a:solidFill>
                      <a:srgbClr val="111827"/>
                    </a:solidFill>
                    <a:latin typeface="Arial"/>
                  </a:rPr>
                  <a:t>, so </a:t>
                </a:r>
                <a:r>
                  <a:rPr lang="en-IN" sz="2400">
                    <a:solidFill>
                      <a:srgbClr val="111827"/>
                    </a:solidFill>
                    <a:latin typeface="Cambria Math" panose="02040503050406030204" pitchFamily="18" charset="0"/>
                  </a:rPr>
                  <a:t>$x=3$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$x=3$</a:t>
                </a:r>
                <a:r>
                  <a:rPr sz="2400" b="0">
                    <a:solidFill>
                      <a:srgbClr val="111827"/>
                    </a:solidFill>
                    <a:latin typeface="Arial"/>
                  </a:rPr>
                  <a:t> in both parabolas: </a:t>
                </a:r>
                <a:r>
                  <a:rPr lang="en-IN" sz="2400">
                    <a:solidFill>
                      <a:srgbClr val="111827"/>
                    </a:solidFill>
                    <a:latin typeface="Cambria Math" panose="02040503050406030204" pitchFamily="18" charset="0"/>
                  </a:rPr>
                  <a:t>$-4a(y-4)=4ay$</a:t>
                </a:r>
                <a:r>
                  <a:rPr sz="2400" b="0">
                    <a:solidFill>
                      <a:srgbClr val="111827"/>
                    </a:solidFill>
                    <a:latin typeface="Arial"/>
                  </a:rPr>
                  <a:t>, so </a:t>
                </a:r>
                <a:r>
                  <a:rPr lang="en-IN" sz="2400">
                    <a:solidFill>
                      <a:srgbClr val="111827"/>
                    </a:solidFill>
                    <a:latin typeface="Cambria Math" panose="02040503050406030204" pitchFamily="18" charset="0"/>
                  </a:rPr>
                  <a:t>$4-y=y$</a:t>
                </a:r>
                <a:r>
                  <a:rPr sz="2400" b="0">
                    <a:solidFill>
                      <a:srgbClr val="111827"/>
                    </a:solidFill>
                    <a:latin typeface="Arial"/>
                  </a:rPr>
                  <a:t> and </a:t>
                </a:r>
                <a:r>
                  <a:rPr lang="en-IN" sz="2400">
                    <a:solidFill>
                      <a:srgbClr val="111827"/>
                    </a:solidFill>
                    <a:latin typeface="Cambria Math" panose="02040503050406030204" pitchFamily="18" charset="0"/>
                  </a:rPr>
                  <a:t>$y=2$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 </a:t>
                </a:r>
                <a:r>
                  <a:rPr lang="en-IN" sz="2400">
                    <a:solidFill>
                      <a:srgbClr val="111827"/>
                    </a:solidFill>
                    <a:latin typeface="Cambria Math" panose="02040503050406030204" pitchFamily="18" charset="0"/>
                  </a:rPr>
                  <a:t>$(3,2)$</a:t>
                </a:r>
                <a:r>
                  <a:rPr sz="2400" b="0">
                    <a:solidFill>
                      <a:srgbClr val="111827"/>
                    </a:solidFill>
                    <a:latin typeface="Arial"/>
                  </a:rPr>
                  <a:t> lies on </a:t>
                </a:r>
                <a:r>
                  <a:rPr lang="en-IN" sz="2400">
                    <a:solidFill>
                      <a:srgbClr val="111827"/>
                    </a:solidFill>
                    <a:latin typeface="Cambria Math" panose="02040503050406030204" pitchFamily="18" charset="0"/>
                  </a:rPr>
                  <a:t>$P_2$</a:t>
                </a:r>
                <a:r>
                  <a:rPr sz="2400" b="0">
                    <a:solidFill>
                      <a:srgbClr val="111827"/>
                    </a:solidFill>
                    <a:latin typeface="Arial"/>
                  </a:rPr>
                  <a:t>: </a:t>
                </a:r>
                <a:r>
                  <a:rPr lang="en-IN" sz="2400">
                    <a:solidFill>
                      <a:srgbClr val="111827"/>
                    </a:solidFill>
                    <a:latin typeface="Cambria Math" panose="02040503050406030204" pitchFamily="18" charset="0"/>
                  </a:rPr>
                  <a:t>$9=4a\cdot2$</a:t>
                </a:r>
                <a:r>
                  <a:rPr sz="2400" b="0">
                    <a:solidFill>
                      <a:srgbClr val="111827"/>
                    </a:solidFill>
                    <a:latin typeface="Arial"/>
                  </a:rPr>
                  <a:t>, so </a:t>
                </a:r>
                <a:r>
                  <a:rPr lang="en-IN" sz="2400">
                    <a:solidFill>
                      <a:srgbClr val="111827"/>
                    </a:solidFill>
                    <a:latin typeface="Cambria Math" panose="02040503050406030204" pitchFamily="18" charset="0"/>
                  </a:rPr>
                  <a:t>$a=\frac98$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$3+2=5$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Latus rectum </a:t>
                </a:r>
                <a:r>
                  <a:rPr lang="en-IN" sz="2400">
                    <a:solidFill>
                      <a:srgbClr val="111827"/>
                    </a:solidFill>
                    <a:latin typeface="Cambria Math" panose="02040503050406030204" pitchFamily="18" charset="0"/>
                  </a:rPr>
                  <a:t>$=4a=\frac92$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$P_1:\ y=4-\frac{2x^2}{9}$</a:t>
                </a:r>
                <a:r>
                  <a:rPr sz="2400" b="0">
                    <a:solidFill>
                      <a:srgbClr val="111827"/>
                    </a:solidFill>
                    <a:latin typeface="Arial"/>
                  </a:rPr>
                  <a:t> meets the </a:t>
                </a:r>
                <a:r>
                  <a:rPr lang="en-IN" sz="2400">
                    <a:solidFill>
                      <a:srgbClr val="111827"/>
                    </a:solidFill>
                    <a:latin typeface="Cambria Math" panose="02040503050406030204" pitchFamily="18" charset="0"/>
                  </a:rPr>
                  <a:t>$x$</a:t>
                </a:r>
                <a:r>
                  <a:rPr sz="2400" b="0">
                    <a:solidFill>
                      <a:srgbClr val="111827"/>
                    </a:solidFill>
                    <a:latin typeface="Arial"/>
                  </a:rPr>
                  <a:t>-axis at </a:t>
                </a:r>
                <a:r>
                  <a:rPr lang="en-IN" sz="2400">
                    <a:solidFill>
                      <a:srgbClr val="111827"/>
                    </a:solidFill>
                    <a:latin typeface="Cambria Math" panose="02040503050406030204" pitchFamily="18" charset="0"/>
                  </a:rPr>
                  <a:t>$x=3\sqrt2$</a:t>
                </a:r>
                <a:r>
                  <a:rPr sz="2400" b="0">
                    <a:solidFill>
                      <a:srgbClr val="111827"/>
                    </a:solidFill>
                    <a:latin typeface="Arial"/>
                  </a:rPr>
                  <a:t>; </a:t>
                </a:r>
                <a:r>
                  <a:rPr lang="en-IN" sz="2400">
                    <a:solidFill>
                      <a:srgbClr val="111827"/>
                    </a:solidFill>
                    <a:latin typeface="Cambria Math" panose="02040503050406030204" pitchFamily="18" charset="0"/>
                  </a:rPr>
                  <a:t>$P_2:\ y=\frac{2(x-6)^2}{9}$</a:t>
                </a:r>
                <a:r>
                  <a:rPr sz="2400" b="0">
                    <a:solidFill>
                      <a:srgbClr val="111827"/>
                    </a:solidFill>
                    <a:latin typeface="Arial"/>
                  </a:rPr>
                  <a:t> touches the </a:t>
                </a:r>
                <a:r>
                  <a:rPr lang="en-IN" sz="2400">
                    <a:solidFill>
                      <a:srgbClr val="111827"/>
                    </a:solidFill>
                    <a:latin typeface="Cambria Math" panose="02040503050406030204" pitchFamily="18" charset="0"/>
                  </a:rPr>
                  <a:t>$x$</a:t>
                </a:r>
                <a:r>
                  <a:rPr sz="2400" b="0">
                    <a:solidFill>
                      <a:srgbClr val="111827"/>
                    </a:solidFill>
                    <a:latin typeface="Arial"/>
                  </a:rPr>
                  <a:t>-axis at </a:t>
                </a:r>
                <a:r>
                  <a:rPr lang="en-IN" sz="2400">
                    <a:solidFill>
                      <a:srgbClr val="111827"/>
                    </a:solidFill>
                    <a:latin typeface="Cambria Math" panose="02040503050406030204" pitchFamily="18" charset="0"/>
                  </a:rPr>
                  <a:t>$x=6$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region lies under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and above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subSup"/>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6</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e>
                    </m:nary>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nary>
                      <m:naryPr>
                        <m:chr m:val="∫"/>
                        <m:limLoc m:val="subSup"/>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e>
                        </m:d>
                      </m:e>
                    </m:nary>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First integral: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27</m:t>
                        </m:r>
                      </m:den>
                    </m:f>
                    <m:sSubSup>
                      <m:e>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e>
                        </m:d>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6</m:t>
                        </m:r>
                      </m:sup>
                    </m:sSub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Second: </a:t>
                </a:r>
                <a14:m>
                  <m:oMath xmlns:m="http://schemas.openxmlformats.org/officeDocument/2006/math">
                    <m:sSub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27</m:t>
                                </m:r>
                              </m:den>
                            </m:f>
                          </m:e>
                        </m:d>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e>
                    </m:d>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region lies under </a:t>
                </a:r>
                <a:r>
                  <a:rPr lang="en-IN" sz="2400">
                    <a:solidFill>
                      <a:srgbClr val="111827"/>
                    </a:solidFill>
                    <a:latin typeface="Cambria Math" panose="02040503050406030204" pitchFamily="18" charset="0"/>
                  </a:rPr>
                  <a:t>$P_2$</a:t>
                </a:r>
                <a:r>
                  <a:rPr sz="2400" b="0">
                    <a:solidFill>
                      <a:srgbClr val="111827"/>
                    </a:solidFill>
                    <a:latin typeface="Arial"/>
                  </a:rPr>
                  <a:t> for </a:t>
                </a:r>
                <a:r>
                  <a:rPr lang="en-IN" sz="2400">
                    <a:solidFill>
                      <a:srgbClr val="111827"/>
                    </a:solidFill>
                    <a:latin typeface="Cambria Math" panose="02040503050406030204" pitchFamily="18" charset="0"/>
                  </a:rPr>
                  <a:t>$3\le x\le6$</a:t>
                </a:r>
                <a:r>
                  <a:rPr sz="2400" b="0">
                    <a:solidFill>
                      <a:srgbClr val="111827"/>
                    </a:solidFill>
                    <a:latin typeface="Arial"/>
                  </a:rPr>
                  <a:t> and above </a:t>
                </a:r>
                <a:r>
                  <a:rPr lang="en-IN" sz="2400">
                    <a:solidFill>
                      <a:srgbClr val="111827"/>
                    </a:solidFill>
                    <a:latin typeface="Cambria Math" panose="02040503050406030204" pitchFamily="18" charset="0"/>
                  </a:rPr>
                  <a:t>$P_1$</a:t>
                </a:r>
                <a:r>
                  <a:rPr sz="2400" b="0">
                    <a:solidFill>
                      <a:srgbClr val="111827"/>
                    </a:solidFill>
                    <a:latin typeface="Arial"/>
                  </a:rPr>
                  <a:t>: Area </a:t>
                </a:r>
                <a:r>
                  <a:rPr lang="en-IN" sz="2400">
                    <a:solidFill>
                      <a:srgbClr val="111827"/>
                    </a:solidFill>
                    <a:latin typeface="Cambria Math" panose="02040503050406030204" pitchFamily="18" charset="0"/>
                  </a:rPr>
                  <a:t>$=\int_3^6\frac{2(x-6)^2}{9}dx-\int_3^{3\sqrt2}\left(4-\frac{2x^2}{9}\right)dx$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First integral: </a:t>
                </a:r>
                <a:r>
                  <a:rPr lang="en-IN" sz="2400">
                    <a:solidFill>
                      <a:srgbClr val="111827"/>
                    </a:solidFill>
                    <a:latin typeface="Cambria Math" panose="02040503050406030204" pitchFamily="18" charset="0"/>
                  </a:rPr>
                  <a:t>$\frac{2}{27}\left[(x-6)^3\right]_3^6=\frac{2}{27}\cdot27=2$</a:t>
                </a:r>
                <a:r>
                  <a:rPr sz="2400" b="0">
                    <a:solidFill>
                      <a:srgbClr val="111827"/>
                    </a:solidFill>
                    <a:latin typeface="Arial"/>
                  </a:rPr>
                  <a:t>. Second: </a:t>
                </a:r>
                <a:r>
                  <a:rPr lang="en-IN" sz="2400">
                    <a:solidFill>
                      <a:srgbClr val="111827"/>
                    </a:solidFill>
                    <a:latin typeface="Cambria Math" panose="02040503050406030204" pitchFamily="18" charset="0"/>
                  </a:rPr>
                  <a:t>$\left[4x-\frac{2x^3}{27}\right]_3^{3\sqrt2}=8\sqrt2-10$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$=2-(8\sqrt2-10)=12-8\sqrt2=4\left(3-2\sqrt2\right)$</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r>
                      <a:rPr lang="en-IN" sz="2800" i="1">
                        <a:solidFill>
                          <a:srgbClr val="15803D"/>
                        </a:solidFill>
                        <a:latin typeface="Cambria Math" panose="02040503050406030204" pitchFamily="18" charset="0"/>
                      </a:rPr>
                      <m:t>5</m:t>
                    </m:r>
                  </m:oMath>
                </a14:m>
                <a:r>
                  <a:rPr sz="2800" b="1">
                    <a:solidFill>
                      <a:srgbClr val="15803D"/>
                    </a:solidFill>
                    <a:latin typeface="Arial"/>
                  </a:rPr>
                  <a:t>; (b)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9</m:t>
                        </m:r>
                      </m:num>
                      <m:den>
                        <m:r>
                          <a:rPr lang="en-IN" sz="2800" i="1">
                            <a:solidFill>
                              <a:srgbClr val="15803D"/>
                            </a:solidFill>
                            <a:latin typeface="Cambria Math" panose="02040503050406030204" pitchFamily="18" charset="0"/>
                          </a:rPr>
                          <m:t>2</m:t>
                        </m:r>
                      </m:den>
                    </m:f>
                  </m:oMath>
                </a14:m>
                <a:r>
                  <a:rPr sz="2800" b="1">
                    <a:solidFill>
                      <a:srgbClr val="15803D"/>
                    </a:solidFill>
                    <a:latin typeface="Arial"/>
                  </a:rPr>
                  <a:t>; (c) </a:t>
                </a:r>
                <a14:m>
                  <m:oMath xmlns:m="http://schemas.openxmlformats.org/officeDocument/2006/math">
                    <m:r>
                      <a:rPr lang="en-IN" sz="2800" i="1">
                        <a:solidFill>
                          <a:srgbClr val="15803D"/>
                        </a:solidFill>
                        <a:latin typeface="Cambria Math" panose="02040503050406030204" pitchFamily="18" charset="0"/>
                      </a:rPr>
                      <m:t>4</m:t>
                    </m:r>
                    <m:d>
                      <m:dPr>
                        <m:begChr m:val="("/>
                        <m:sepChr m:val=""/>
                        <m:endChr m:val=")"/>
                        <m:grow/>
                        <m:ctrlPr>
                          <a:rPr lang="en-IN" sz="2800" i="1">
                            <a:solidFill>
                              <a:srgbClr val="15803D"/>
                            </a:solidFill>
                            <a:latin typeface="Cambria Math" panose="02040503050406030204" pitchFamily="18" charset="0"/>
                          </a:rPr>
                        </m:ctrlPr>
                      </m:dPr>
                      <m:e>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e>
                    </m:d>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$5$</a:t>
                </a:r>
                <a:r>
                  <a:rPr sz="2800" b="1">
                    <a:solidFill>
                      <a:srgbClr val="15803D"/>
                    </a:solidFill>
                    <a:latin typeface="Arial"/>
                  </a:rPr>
                  <a:t>; (b) </a:t>
                </a:r>
                <a:r>
                  <a:rPr lang="en-IN" sz="2800">
                    <a:solidFill>
                      <a:srgbClr val="15803D"/>
                    </a:solidFill>
                    <a:latin typeface="Cambria Math" panose="02040503050406030204" pitchFamily="18" charset="0"/>
                  </a:rPr>
                  <a:t>$\frac92$</a:t>
                </a:r>
                <a:r>
                  <a:rPr sz="2800" b="1">
                    <a:solidFill>
                      <a:srgbClr val="15803D"/>
                    </a:solidFill>
                    <a:latin typeface="Arial"/>
                  </a:rPr>
                  <a:t>; (c) </a:t>
                </a:r>
                <a:r>
                  <a:rPr lang="en-IN" sz="2800">
                    <a:solidFill>
                      <a:srgbClr val="15803D"/>
                    </a:solidFill>
                    <a:latin typeface="Cambria Math" panose="02040503050406030204" pitchFamily="18" charset="0"/>
                  </a:rPr>
                  <a:t>$4\left(3-2\sqrt2\right)$</a:t>
                </a:r>
                <a:endParaRPr sz="2800">
                  <a:solidFill>
                    <a:srgbClr val="15803D"/>
                  </a:solidFill>
                </a:endParaRPr>
              </a:p>
            </p:txBody>
          </p:sp>
        </mc:Fallback>
      </mc:AlternateContent>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Equal touching parabolas are point-reflections in the contact point, so the contact point is the midpoint of the vertices; for the area, integrate over horizontal strips.</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contact point of two equal parabolas with parallel axes is the midpoint of their vertices: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𝑦</m:t>
                    </m:r>
                  </m:oMath>
                </a14:m>
                <a:r>
                  <a:rPr sz="2400" b="0">
                    <a:solidFill>
                      <a:srgbClr val="111827"/>
                    </a:solidFill>
                    <a:latin typeface="Arial"/>
                  </a:rPr>
                  <a: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𝑎</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and (b) the latus rectum is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contact point of two equal parabolas with parallel axes is the midpoint of their vertices: </a:t>
                </a:r>
                <a:r>
                  <a:rPr lang="en-IN" sz="2400">
                    <a:solidFill>
                      <a:srgbClr val="111827"/>
                    </a:solidFill>
                    <a:latin typeface="Cambria Math" panose="02040503050406030204" pitchFamily="18" charset="0"/>
                  </a:rPr>
                  <a:t>$\left(\frac{0+6}{2},\frac{4+0}{2}\right)=(3,2)$</a:t>
                </a:r>
                <a:r>
                  <a:rPr sz="2400" b="0">
                    <a:solidFill>
                      <a:srgbClr val="111827"/>
                    </a:solidFill>
                    <a:latin typeface="Arial"/>
                  </a:rPr>
                  <a:t>. (a) </a:t>
                </a:r>
                <a:r>
                  <a:rPr lang="en-IN" sz="2400">
                    <a:solidFill>
                      <a:srgbClr val="111827"/>
                    </a:solidFill>
                    <a:latin typeface="Cambria Math" panose="02040503050406030204" pitchFamily="18" charset="0"/>
                  </a:rPr>
                  <a:t>$3+2=5$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$P_2:\ (x-6)^2=4ay$</a:t>
                </a:r>
                <a:r>
                  <a:rPr sz="2400" b="0">
                    <a:solidFill>
                      <a:srgbClr val="111827"/>
                    </a:solidFill>
                    <a:latin typeface="Arial"/>
                  </a:rPr>
                  <a:t> passes through </a:t>
                </a:r>
                <a:r>
                  <a:rPr lang="en-IN" sz="2400">
                    <a:solidFill>
                      <a:srgbClr val="111827"/>
                    </a:solidFill>
                    <a:latin typeface="Cambria Math" panose="02040503050406030204" pitchFamily="18" charset="0"/>
                  </a:rPr>
                  <a:t>$(3,2)$</a:t>
                </a:r>
                <a:r>
                  <a:rPr sz="2400" b="0">
                    <a:solidFill>
                      <a:srgbClr val="111827"/>
                    </a:solidFill>
                    <a:latin typeface="Arial"/>
                  </a:rPr>
                  <a:t>: </a:t>
                </a:r>
                <a:r>
                  <a:rPr lang="en-IN" sz="2400">
                    <a:solidFill>
                      <a:srgbClr val="111827"/>
                    </a:solidFill>
                    <a:latin typeface="Cambria Math" panose="02040503050406030204" pitchFamily="18" charset="0"/>
                  </a:rPr>
                  <a:t>$9=8a$</a:t>
                </a:r>
                <a:r>
                  <a:rPr sz="2400" b="0">
                    <a:solidFill>
                      <a:srgbClr val="111827"/>
                    </a:solidFill>
                    <a:latin typeface="Arial"/>
                  </a:rPr>
                  <a:t>, so </a:t>
                </a:r>
                <a:r>
                  <a:rPr lang="en-IN" sz="2400">
                    <a:solidFill>
                      <a:srgbClr val="111827"/>
                    </a:solidFill>
                    <a:latin typeface="Cambria Math" panose="02040503050406030204" pitchFamily="18" charset="0"/>
                  </a:rPr>
                  <a:t>$a=\frac98$</a:t>
                </a:r>
                <a:r>
                  <a:rPr sz="2400" b="0">
                    <a:solidFill>
                      <a:srgbClr val="111827"/>
                    </a:solidFill>
                    <a:latin typeface="Arial"/>
                  </a:rPr>
                  <a:t> and (b) the latus rectum is </a:t>
                </a:r>
                <a:r>
                  <a:rPr lang="en-IN" sz="2400">
                    <a:solidFill>
                      <a:srgbClr val="111827"/>
                    </a:solidFill>
                    <a:latin typeface="Cambria Math" panose="02040503050406030204" pitchFamily="18" charset="0"/>
                  </a:rPr>
                  <a:t>$4a=\frac92$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Horizontal strips for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left boundary is the right branch of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e>
                    </m:rad>
                  </m:oMath>
                </a14:m>
                <a:r>
                  <a:rPr sz="2400" b="0">
                    <a:solidFill>
                      <a:srgbClr val="111827"/>
                    </a:solidFill>
                    <a:latin typeface="Arial"/>
                  </a:rPr>
                  <a:t> (from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right boundary is the left branch of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𝑦</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subSup"/>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e>
                        <m:r>
                          <m:rPr>
                            <m:sty m:val="p"/>
                          </m:rPr>
                          <a:rPr lang="en-IN" sz="2400">
                            <a:solidFill>
                              <a:srgbClr val="111827"/>
                            </a:solidFill>
                            <a:latin typeface="Cambria Math" panose="02040503050406030204" pitchFamily="18" charset="0"/>
                          </a:rPr>
                          <m:t>(</m:t>
                        </m:r>
                      </m:e>
                    </m:nary>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sSub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e>
                        </m:d>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sSubSup>
                      <m:e>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e>
                        </m:d>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Horizontal strips for </a:t>
                </a:r>
                <a:r>
                  <a:rPr lang="en-IN" sz="2400">
                    <a:solidFill>
                      <a:srgbClr val="111827"/>
                    </a:solidFill>
                    <a:latin typeface="Cambria Math" panose="02040503050406030204" pitchFamily="18" charset="0"/>
                  </a:rPr>
                  <a:t>$0\le y\le2$</a:t>
                </a:r>
                <a:r>
                  <a:rPr sz="2400" b="0">
                    <a:solidFill>
                      <a:srgbClr val="111827"/>
                    </a:solidFill>
                    <a:latin typeface="Arial"/>
                  </a:rPr>
                  <a:t>: left boundary is the right branch of </a:t>
                </a:r>
                <a:r>
                  <a:rPr lang="en-IN" sz="2400">
                    <a:solidFill>
                      <a:srgbClr val="111827"/>
                    </a:solidFill>
                    <a:latin typeface="Cambria Math" panose="02040503050406030204" pitchFamily="18" charset="0"/>
                  </a:rPr>
                  <a:t>$P_1$</a:t>
                </a:r>
                <a:r>
                  <a:rPr sz="2400" b="0">
                    <a:solidFill>
                      <a:srgbClr val="111827"/>
                    </a:solidFill>
                    <a:latin typeface="Arial"/>
                  </a:rPr>
                  <a:t>, </a:t>
                </a:r>
                <a:r>
                  <a:rPr lang="en-IN" sz="2400">
                    <a:solidFill>
                      <a:srgbClr val="111827"/>
                    </a:solidFill>
                    <a:latin typeface="Cambria Math" panose="02040503050406030204" pitchFamily="18" charset="0"/>
                  </a:rPr>
                  <a:t>$x_1=\frac{3}{\sqrt2}\sqrt{4-y}$</a:t>
                </a:r>
                <a:r>
                  <a:rPr sz="2400" b="0">
                    <a:solidFill>
                      <a:srgbClr val="111827"/>
                    </a:solidFill>
                    <a:latin typeface="Arial"/>
                  </a:rPr>
                  <a:t> (from </a:t>
                </a:r>
                <a:r>
                  <a:rPr lang="en-IN" sz="2400">
                    <a:solidFill>
                      <a:srgbClr val="111827"/>
                    </a:solidFill>
                    <a:latin typeface="Cambria Math" panose="02040503050406030204" pitchFamily="18" charset="0"/>
                  </a:rPr>
                  <a:t>$x^2=\frac92(4-y)$</a:t>
                </a:r>
                <a:r>
                  <a:rPr sz="2400" b="0">
                    <a:solidFill>
                      <a:srgbClr val="111827"/>
                    </a:solidFill>
                    <a:latin typeface="Arial"/>
                  </a:rPr>
                  <a:t>); right boundary is the left branch of </a:t>
                </a:r>
                <a:r>
                  <a:rPr lang="en-IN" sz="2400">
                    <a:solidFill>
                      <a:srgbClr val="111827"/>
                    </a:solidFill>
                    <a:latin typeface="Cambria Math" panose="02040503050406030204" pitchFamily="18" charset="0"/>
                  </a:rPr>
                  <a:t>$P_2$</a:t>
                </a:r>
                <a:r>
                  <a:rPr sz="2400" b="0">
                    <a:solidFill>
                      <a:srgbClr val="111827"/>
                    </a:solidFill>
                    <a:latin typeface="Arial"/>
                  </a:rPr>
                  <a:t>, </a:t>
                </a:r>
                <a:r>
                  <a:rPr lang="en-IN" sz="2400">
                    <a:solidFill>
                      <a:srgbClr val="111827"/>
                    </a:solidFill>
                    <a:latin typeface="Cambria Math" panose="02040503050406030204" pitchFamily="18" charset="0"/>
                  </a:rPr>
                  <a:t>$x_2=6-\frac{3}{\sqrt2}\sqrt 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$=\int_0^2(x_2-x_1)\,dy=12-\frac{3}{\sqrt2}\cdot\frac23\left[y^{3/2}\right]_0^2-\frac{3}{\sqrt2}\cdot\frac23\left[-(4-y)^{3/2}\right]_0^2$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$=12-4-\sqrt2\,(8-2\sqrt2)=8-8\sqrt2+4=12-8\sqrt2=4\left(3-2\sqrt2\right)$</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r>
                      <a:rPr lang="en-IN" sz="2800" i="1">
                        <a:solidFill>
                          <a:srgbClr val="15803D"/>
                        </a:solidFill>
                        <a:latin typeface="Cambria Math" panose="02040503050406030204" pitchFamily="18" charset="0"/>
                      </a:rPr>
                      <m:t>5</m:t>
                    </m:r>
                  </m:oMath>
                </a14:m>
                <a:r>
                  <a:rPr sz="2800" b="1">
                    <a:solidFill>
                      <a:srgbClr val="15803D"/>
                    </a:solidFill>
                    <a:latin typeface="Arial"/>
                  </a:rPr>
                  <a:t>; (b)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9</m:t>
                        </m:r>
                      </m:num>
                      <m:den>
                        <m:r>
                          <a:rPr lang="en-IN" sz="2800" i="1">
                            <a:solidFill>
                              <a:srgbClr val="15803D"/>
                            </a:solidFill>
                            <a:latin typeface="Cambria Math" panose="02040503050406030204" pitchFamily="18" charset="0"/>
                          </a:rPr>
                          <m:t>2</m:t>
                        </m:r>
                      </m:den>
                    </m:f>
                  </m:oMath>
                </a14:m>
                <a:r>
                  <a:rPr sz="2800" b="1">
                    <a:solidFill>
                      <a:srgbClr val="15803D"/>
                    </a:solidFill>
                    <a:latin typeface="Arial"/>
                  </a:rPr>
                  <a:t>; (c) </a:t>
                </a:r>
                <a14:m>
                  <m:oMath xmlns:m="http://schemas.openxmlformats.org/officeDocument/2006/math">
                    <m:r>
                      <a:rPr lang="en-IN" sz="2800" i="1">
                        <a:solidFill>
                          <a:srgbClr val="15803D"/>
                        </a:solidFill>
                        <a:latin typeface="Cambria Math" panose="02040503050406030204" pitchFamily="18" charset="0"/>
                      </a:rPr>
                      <m:t>4</m:t>
                    </m:r>
                    <m:d>
                      <m:dPr>
                        <m:begChr m:val="("/>
                        <m:sepChr m:val=""/>
                        <m:endChr m:val=")"/>
                        <m:grow/>
                        <m:ctrlPr>
                          <a:rPr lang="en-IN" sz="2800" i="1">
                            <a:solidFill>
                              <a:srgbClr val="15803D"/>
                            </a:solidFill>
                            <a:latin typeface="Cambria Math" panose="02040503050406030204" pitchFamily="18" charset="0"/>
                          </a:rPr>
                        </m:ctrlPr>
                      </m:dPr>
                      <m:e>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e>
                    </m:d>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$5$</a:t>
                </a:r>
                <a:r>
                  <a:rPr sz="2800" b="1">
                    <a:solidFill>
                      <a:srgbClr val="15803D"/>
                    </a:solidFill>
                    <a:latin typeface="Arial"/>
                  </a:rPr>
                  <a:t>; (b) </a:t>
                </a:r>
                <a:r>
                  <a:rPr lang="en-IN" sz="2800">
                    <a:solidFill>
                      <a:srgbClr val="15803D"/>
                    </a:solidFill>
                    <a:latin typeface="Cambria Math" panose="02040503050406030204" pitchFamily="18" charset="0"/>
                  </a:rPr>
                  <a:t>$\frac92$</a:t>
                </a:r>
                <a:r>
                  <a:rPr sz="2800" b="1">
                    <a:solidFill>
                      <a:srgbClr val="15803D"/>
                    </a:solidFill>
                    <a:latin typeface="Arial"/>
                  </a:rPr>
                  <a:t>; (c) </a:t>
                </a:r>
                <a:r>
                  <a:rPr lang="en-IN" sz="2800">
                    <a:solidFill>
                      <a:srgbClr val="15803D"/>
                    </a:solidFill>
                    <a:latin typeface="Cambria Math" panose="02040503050406030204" pitchFamily="18" charset="0"/>
                  </a:rPr>
                  <a:t>$4\left(3-2\sqrt2\right)$</a:t>
                </a:r>
                <a:endParaRPr sz="2800">
                  <a:solidFill>
                    <a:srgbClr val="15803D"/>
                  </a:solidFill>
                </a:endParaRPr>
              </a:p>
            </p:txBody>
          </p:sp>
        </mc:Fallback>
      </mc:AlternateContent>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equal parabolas with parallel axes that touch are point-reflections of each other in the contact point, so the contact point is the midpoint of the two vertices.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under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between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sSup>
                          <m:e>
                            <m:r>
                              <a:rPr lang="en-IN" sz="2400" i="1">
                                <a:solidFill>
                                  <a:srgbClr val="111827"/>
                                </a:solidFill>
                                <a:latin typeface="Cambria Math" panose="02040503050406030204" pitchFamily="18" charset="0"/>
                              </a:rPr>
                              <m:t>𝑤</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3</m:t>
                        </m:r>
                      </m:den>
                    </m:f>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Chord-parabola area: the region between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 chord meeting it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Choose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-strips or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-strips according to which gives single-valued boundaries; here both work,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-strips avoid splitting.</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equal parabolas with parallel axes that touch are point-reflections of each other in the contact point, so the contact point is the midpoint of the two vertices.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under </a:t>
                </a:r>
                <a:r>
                  <a:rPr lang="en-IN" sz="2400">
                    <a:solidFill>
                      <a:srgbClr val="111827"/>
                    </a:solidFill>
                    <a:latin typeface="Cambria Math" panose="02040503050406030204" pitchFamily="18" charset="0"/>
                  </a:rPr>
                  <a:t>$y=k(x-p)^2$</a:t>
                </a:r>
                <a:r>
                  <a:rPr sz="2400" b="0">
                    <a:solidFill>
                      <a:srgbClr val="111827"/>
                    </a:solidFill>
                    <a:latin typeface="Arial"/>
                  </a:rPr>
                  <a:t> between </a:t>
                </a:r>
                <a:r>
                  <a:rPr lang="en-IN" sz="2400">
                    <a:solidFill>
                      <a:srgbClr val="111827"/>
                    </a:solidFill>
                    <a:latin typeface="Cambria Math" panose="02040503050406030204" pitchFamily="18" charset="0"/>
                  </a:rPr>
                  <a:t>$x=p$</a:t>
                </a:r>
                <a:r>
                  <a:rPr sz="2400" b="0">
                    <a:solidFill>
                      <a:srgbClr val="111827"/>
                    </a:solidFill>
                    <a:latin typeface="Arial"/>
                  </a:rPr>
                  <a:t> and </a:t>
                </a:r>
                <a:r>
                  <a:rPr lang="en-IN" sz="2400">
                    <a:solidFill>
                      <a:srgbClr val="111827"/>
                    </a:solidFill>
                    <a:latin typeface="Cambria Math" panose="02040503050406030204" pitchFamily="18" charset="0"/>
                  </a:rPr>
                  <a:t>$x=p+w$</a:t>
                </a:r>
                <a:r>
                  <a:rPr sz="2400" b="0">
                    <a:solidFill>
                      <a:srgbClr val="111827"/>
                    </a:solidFill>
                    <a:latin typeface="Arial"/>
                  </a:rPr>
                  <a:t> is </a:t>
                </a:r>
                <a:r>
                  <a:rPr lang="en-IN" sz="2400">
                    <a:solidFill>
                      <a:srgbClr val="111827"/>
                    </a:solidFill>
                    <a:latin typeface="Cambria Math" panose="02040503050406030204" pitchFamily="18" charset="0"/>
                  </a:rPr>
                  <a:t>$\frac{kw^3}{3}$</a:t>
                </a:r>
                <a:r>
                  <a:rPr sz="2400" b="0">
                    <a:solidFill>
                      <a:srgbClr val="111827"/>
                    </a:solidFill>
                    <a:latin typeface="Arial"/>
                  </a:rPr>
                  <a:t> (here </a:t>
                </a:r>
                <a:r>
                  <a:rPr lang="en-IN" sz="2400">
                    <a:solidFill>
                      <a:srgbClr val="111827"/>
                    </a:solidFill>
                    <a:latin typeface="Cambria Math" panose="02040503050406030204" pitchFamily="18" charset="0"/>
                  </a:rPr>
                  <a:t>$k=\frac29$</a:t>
                </a:r>
                <a:r>
                  <a:rPr sz="2400" b="0">
                    <a:solidFill>
                      <a:srgbClr val="111827"/>
                    </a:solidFill>
                    <a:latin typeface="Arial"/>
                  </a:rPr>
                  <a:t>, </a:t>
                </a:r>
                <a:r>
                  <a:rPr lang="en-IN" sz="2400">
                    <a:solidFill>
                      <a:srgbClr val="111827"/>
                    </a:solidFill>
                    <a:latin typeface="Cambria Math" panose="02040503050406030204" pitchFamily="18" charset="0"/>
                  </a:rPr>
                  <a:t>$w=3$</a:t>
                </a:r>
                <a:r>
                  <a:rPr sz="2400" b="0">
                    <a:solidFill>
                      <a:srgbClr val="111827"/>
                    </a:solidFill>
                    <a:latin typeface="Arial"/>
                  </a:rPr>
                  <a:t> gives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Chord-parabola area: the region between </a:t>
                </a:r>
                <a:r>
                  <a:rPr lang="en-IN" sz="2400">
                    <a:solidFill>
                      <a:srgbClr val="111827"/>
                    </a:solidFill>
                    <a:latin typeface="Cambria Math" panose="02040503050406030204" pitchFamily="18" charset="0"/>
                  </a:rPr>
                  <a:t>$y=kx^2$</a:t>
                </a:r>
                <a:r>
                  <a:rPr sz="2400" b="0">
                    <a:solidFill>
                      <a:srgbClr val="111827"/>
                    </a:solidFill>
                    <a:latin typeface="Arial"/>
                  </a:rPr>
                  <a:t> and a chord meeting it at </a:t>
                </a:r>
                <a:r>
                  <a:rPr lang="en-IN" sz="2400">
                    <a:solidFill>
                      <a:srgbClr val="111827"/>
                    </a:solidFill>
                    <a:latin typeface="Cambria Math" panose="02040503050406030204" pitchFamily="18" charset="0"/>
                  </a:rPr>
                  <a:t>$x=\alpha,\beta$</a:t>
                </a:r>
                <a:r>
                  <a:rPr sz="2400" b="0">
                    <a:solidFill>
                      <a:srgbClr val="111827"/>
                    </a:solidFill>
                    <a:latin typeface="Arial"/>
                  </a:rPr>
                  <a:t> is </a:t>
                </a:r>
                <a:r>
                  <a:rPr lang="en-IN" sz="2400">
                    <a:solidFill>
                      <a:srgbClr val="111827"/>
                    </a:solidFill>
                    <a:latin typeface="Cambria Math" panose="02040503050406030204" pitchFamily="18" charset="0"/>
                  </a:rPr>
                  <a:t>$\frac{k(\beta-\alpha)^3}{6}$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Choose </a:t>
                </a:r>
                <a:r>
                  <a:rPr lang="en-IN" sz="2400">
                    <a:solidFill>
                      <a:srgbClr val="111827"/>
                    </a:solidFill>
                    <a:latin typeface="Cambria Math" panose="02040503050406030204" pitchFamily="18" charset="0"/>
                  </a:rPr>
                  <a:t>$x$</a:t>
                </a:r>
                <a:r>
                  <a:rPr sz="2400" b="0">
                    <a:solidFill>
                      <a:srgbClr val="111827"/>
                    </a:solidFill>
                    <a:latin typeface="Arial"/>
                  </a:rPr>
                  <a:t>-strips or </a:t>
                </a:r>
                <a:r>
                  <a:rPr lang="en-IN" sz="2400">
                    <a:solidFill>
                      <a:srgbClr val="111827"/>
                    </a:solidFill>
                    <a:latin typeface="Cambria Math" panose="02040503050406030204" pitchFamily="18" charset="0"/>
                  </a:rPr>
                  <a:t>$y$</a:t>
                </a:r>
                <a:r>
                  <a:rPr sz="2400" b="0">
                    <a:solidFill>
                      <a:srgbClr val="111827"/>
                    </a:solidFill>
                    <a:latin typeface="Arial"/>
                  </a:rPr>
                  <a:t>-strips according to which gives single-valued boundaries; here both work, </a:t>
                </a:r>
                <a:r>
                  <a:rPr lang="en-IN" sz="2400">
                    <a:solidFill>
                      <a:srgbClr val="111827"/>
                    </a:solidFill>
                    <a:latin typeface="Cambria Math" panose="02040503050406030204" pitchFamily="18" charset="0"/>
                  </a:rPr>
                  <a:t>$y$</a:t>
                </a:r>
                <a:r>
                  <a:rPr sz="2400" b="0">
                    <a:solidFill>
                      <a:srgbClr val="111827"/>
                    </a:solidFill>
                    <a:latin typeface="Arial"/>
                  </a:rPr>
                  <a:t>-strips avoid splitting.</a:t>
                </a:r>
                <a:endParaRPr sz="2400">
                  <a:solidFill>
                    <a:srgbClr val="111827"/>
                  </a:solidFill>
                </a:endParaRPr>
              </a:p>
            </p:txBody>
          </p:sp>
        </mc:Fallback>
      </mc:AlternateContent>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Find the locus of the points of intersection of tangents drawn at the ends of all normal chords of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Find the locus of the points of intersection of tangents drawn at the ends of all normal chords of the parabola </a:t>
                </a:r>
                <a:r>
                  <a:rPr lang="en-IN" sz="2400">
                    <a:solidFill>
                      <a:srgbClr val="111827"/>
                    </a:solidFill>
                    <a:latin typeface="Cambria Math" panose="02040503050406030204" pitchFamily="18" charset="0"/>
                  </a:rPr>
                  <a:t>$y^2=8(x-1)$</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 chords of a parabola, Locus of the pole (intersection of tangents at the ends of a chord)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Shift to </a:t>
                </a:r>
                <a14:m>
                  <m:oMath xmlns:m="http://schemas.openxmlformats.org/officeDocument/2006/math">
                    <m:sSup>
                      <m:e>
                        <m:r>
                          <a:rPr lang="en-IN" sz="2400" i="1">
                            <a:solidFill>
                              <a:srgbClr val="78350F"/>
                            </a:solidFill>
                            <a:latin typeface="Cambria Math" panose="02040503050406030204" pitchFamily="18" charset="0"/>
                          </a:rPr>
                          <m:t>𝑌</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𝑋</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𝑋</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for a normal chord </a:t>
                </a:r>
                <a14:m>
                  <m:oMath xmlns:m="http://schemas.openxmlformats.org/officeDocument/2006/math">
                    <m:sSubSup>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up>
                        <m:r>
                          <a:rPr lang="en-IN" sz="2400" i="1">
                            <a:solidFill>
                              <a:srgbClr val="78350F"/>
                            </a:solidFill>
                            <a:latin typeface="Cambria Math" panose="02040503050406030204" pitchFamily="18" charset="0"/>
                          </a:rPr>
                          <m:t>2</m:t>
                        </m:r>
                      </m:sup>
                    </m:sSubSup>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so both </a:t>
                </a:r>
                <a14:m>
                  <m:oMath xmlns:m="http://schemas.openxmlformats.org/officeDocument/2006/math">
                    <m:r>
                      <a:rPr lang="en-IN" sz="2400" i="1">
                        <a:solidFill>
                          <a:srgbClr val="78350F"/>
                        </a:solidFill>
                        <a:latin typeface="Cambria Math" panose="02040503050406030204" pitchFamily="18" charset="0"/>
                      </a:rPr>
                      <m:t>ℎ</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𝑘</m:t>
                    </m:r>
                  </m:oMath>
                </a14:m>
                <a:r>
                  <a:rPr sz="2400" b="0">
                    <a:solidFill>
                      <a:srgbClr val="78350F"/>
                    </a:solidFill>
                    <a:latin typeface="Arial"/>
                  </a:rPr>
                  <a:t> become functions of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alone.</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Shift to </a:t>
                </a:r>
                <a:r>
                  <a:rPr lang="en-IN" sz="2400">
                    <a:solidFill>
                      <a:srgbClr val="78350F"/>
                    </a:solidFill>
                    <a:latin typeface="Cambria Math" panose="02040503050406030204" pitchFamily="18" charset="0"/>
                  </a:rPr>
                  <a:t>$Y^2=4aX$</a:t>
                </a:r>
                <a:r>
                  <a:rPr sz="2400" b="0">
                    <a:solidFill>
                      <a:srgbClr val="78350F"/>
                    </a:solidFill>
                    <a:latin typeface="Arial"/>
                  </a:rPr>
                  <a:t> with </a:t>
                </a:r>
                <a:r>
                  <a:rPr lang="en-IN" sz="2400">
                    <a:solidFill>
                      <a:srgbClr val="78350F"/>
                    </a:solidFill>
                    <a:latin typeface="Cambria Math" panose="02040503050406030204" pitchFamily="18" charset="0"/>
                  </a:rPr>
                  <a:t>$X=x-1$</a:t>
                </a:r>
                <a:r>
                  <a:rPr sz="2400" b="0">
                    <a:solidFill>
                      <a:srgbClr val="78350F"/>
                    </a:solidFill>
                    <a:latin typeface="Arial"/>
                  </a:rPr>
                  <a:t>; for a normal chord </a:t>
                </a:r>
                <a:r>
                  <a:rPr lang="en-IN" sz="2400">
                    <a:solidFill>
                      <a:srgbClr val="78350F"/>
                    </a:solidFill>
                    <a:latin typeface="Cambria Math" panose="02040503050406030204" pitchFamily="18" charset="0"/>
                  </a:rPr>
                  <a:t>$t_1^2+t_1t_2=-2$</a:t>
                </a:r>
                <a:r>
                  <a:rPr sz="2400" b="0">
                    <a:solidFill>
                      <a:srgbClr val="78350F"/>
                    </a:solidFill>
                    <a:latin typeface="Arial"/>
                  </a:rPr>
                  <a:t>, so both </a:t>
                </a:r>
                <a:r>
                  <a:rPr lang="en-IN" sz="2400">
                    <a:solidFill>
                      <a:srgbClr val="78350F"/>
                    </a:solidFill>
                    <a:latin typeface="Cambria Math" panose="02040503050406030204" pitchFamily="18" charset="0"/>
                  </a:rPr>
                  <a:t>$h$</a:t>
                </a:r>
                <a:r>
                  <a:rPr sz="2400" b="0">
                    <a:solidFill>
                      <a:srgbClr val="78350F"/>
                    </a:solidFill>
                    <a:latin typeface="Arial"/>
                  </a:rPr>
                  <a:t> and </a:t>
                </a:r>
                <a:r>
                  <a:rPr lang="en-IN" sz="2400">
                    <a:solidFill>
                      <a:srgbClr val="78350F"/>
                    </a:solidFill>
                    <a:latin typeface="Cambria Math" panose="02040503050406030204" pitchFamily="18" charset="0"/>
                  </a:rPr>
                  <a:t>$k$</a:t>
                </a:r>
                <a:r>
                  <a:rPr sz="2400" b="0">
                    <a:solidFill>
                      <a:srgbClr val="78350F"/>
                    </a:solidFill>
                    <a:latin typeface="Arial"/>
                  </a:rPr>
                  <a:t> become functions of </a:t>
                </a:r>
                <a:r>
                  <a:rPr lang="en-IN" sz="2400">
                    <a:solidFill>
                      <a:srgbClr val="78350F"/>
                    </a:solidFill>
                    <a:latin typeface="Cambria Math" panose="02040503050406030204" pitchFamily="18" charset="0"/>
                  </a:rPr>
                  <a:t>$t_1$</a:t>
                </a:r>
                <a:r>
                  <a:rPr sz="2400" b="0">
                    <a:solidFill>
                      <a:srgbClr val="78350F"/>
                    </a:solidFill>
                    <a:latin typeface="Arial"/>
                  </a:rPr>
                  <a:t> alone.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parabola be </a:t>
                </a:r>
                <a14:m>
                  <m:oMath xmlns:m="http://schemas.openxmlformats.org/officeDocument/2006/math">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𝑋</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normal chord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(normal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meeting the curve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 i.e.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tangents at the ends meet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oMath>
                </a14:m>
                <a:r>
                  <a:rPr sz="2400" b="0">
                    <a:solidFill>
                      <a:srgbClr val="111827"/>
                    </a:solidFill>
                    <a:latin typeface="Arial"/>
                  </a:rPr>
                  <a:t> coordinates).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e>
                    </m: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parabola be </a:t>
                </a:r>
                <a:r>
                  <a:rPr lang="en-IN" sz="2400">
                    <a:solidFill>
                      <a:srgbClr val="111827"/>
                    </a:solidFill>
                    <a:latin typeface="Cambria Math" panose="02040503050406030204" pitchFamily="18" charset="0"/>
                  </a:rPr>
                  <a:t>$Y^2=4aX$</a:t>
                </a:r>
                <a:r>
                  <a:rPr sz="2400" b="0">
                    <a:solidFill>
                      <a:srgbClr val="111827"/>
                    </a:solidFill>
                    <a:latin typeface="Arial"/>
                  </a:rPr>
                  <a:t> with </a:t>
                </a:r>
                <a:r>
                  <a:rPr lang="en-IN" sz="2400">
                    <a:solidFill>
                      <a:srgbClr val="111827"/>
                    </a:solidFill>
                    <a:latin typeface="Cambria Math" panose="02040503050406030204" pitchFamily="18" charset="0"/>
                  </a:rPr>
                  <a:t>$X=x-1,\ Y=y,\ 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normal chord </a:t>
                </a:r>
                <a:r>
                  <a:rPr lang="en-IN" sz="2400">
                    <a:solidFill>
                      <a:srgbClr val="111827"/>
                    </a:solidFill>
                    <a:latin typeface="Cambria Math" panose="02040503050406030204" pitchFamily="18" charset="0"/>
                  </a:rPr>
                  <a:t>$PQ$</a:t>
                </a:r>
                <a:r>
                  <a:rPr sz="2400" b="0">
                    <a:solidFill>
                      <a:srgbClr val="111827"/>
                    </a:solidFill>
                    <a:latin typeface="Arial"/>
                  </a:rPr>
                  <a:t> (normal at </a:t>
                </a:r>
                <a:r>
                  <a:rPr lang="en-IN" sz="2400">
                    <a:solidFill>
                      <a:srgbClr val="111827"/>
                    </a:solidFill>
                    <a:latin typeface="Cambria Math" panose="02040503050406030204" pitchFamily="18" charset="0"/>
                  </a:rPr>
                  <a:t>$P(t_1)$</a:t>
                </a:r>
                <a:r>
                  <a:rPr sz="2400" b="0">
                    <a:solidFill>
                      <a:srgbClr val="111827"/>
                    </a:solidFill>
                    <a:latin typeface="Arial"/>
                  </a:rPr>
                  <a:t> meeting the curve at </a:t>
                </a:r>
                <a:r>
                  <a:rPr lang="en-IN" sz="2400">
                    <a:solidFill>
                      <a:srgbClr val="111827"/>
                    </a:solidFill>
                    <a:latin typeface="Cambria Math" panose="02040503050406030204" pitchFamily="18" charset="0"/>
                  </a:rPr>
                  <a:t>$Q(t_2)$</a:t>
                </a:r>
                <a:r>
                  <a:rPr sz="2400" b="0">
                    <a:solidFill>
                      <a:srgbClr val="111827"/>
                    </a:solidFill>
                    <a:latin typeface="Arial"/>
                  </a:rPr>
                  <a:t>): </a:t>
                </a:r>
                <a:r>
                  <a:rPr lang="en-IN" sz="2400">
                    <a:solidFill>
                      <a:srgbClr val="111827"/>
                    </a:solidFill>
                    <a:latin typeface="Cambria Math" panose="02040503050406030204" pitchFamily="18" charset="0"/>
                  </a:rPr>
                  <a:t>$t_1+t_2=-\frac{2}{t_1}$</a:t>
                </a:r>
                <a:r>
                  <a:rPr sz="2400" b="0">
                    <a:solidFill>
                      <a:srgbClr val="111827"/>
                    </a:solidFill>
                    <a:latin typeface="Arial"/>
                  </a:rPr>
                  <a:t>, i.e. </a:t>
                </a:r>
                <a:r>
                  <a:rPr lang="en-IN" sz="2400">
                    <a:solidFill>
                      <a:srgbClr val="111827"/>
                    </a:solidFill>
                    <a:latin typeface="Cambria Math" panose="02040503050406030204" pitchFamily="18" charset="0"/>
                  </a:rPr>
                  <a:t>$t_1^2+t_1t_2=-2$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tangents at the ends meet at </a:t>
                </a:r>
                <a:r>
                  <a:rPr lang="en-IN" sz="2400">
                    <a:solidFill>
                      <a:srgbClr val="111827"/>
                    </a:solidFill>
                    <a:latin typeface="Cambria Math" panose="02040503050406030204" pitchFamily="18" charset="0"/>
                  </a:rPr>
                  <a:t>$(h,k)$</a:t>
                </a:r>
                <a:r>
                  <a:rPr sz="2400" b="0">
                    <a:solidFill>
                      <a:srgbClr val="111827"/>
                    </a:solidFill>
                    <a:latin typeface="Arial"/>
                  </a:rPr>
                  <a:t> with </a:t>
                </a:r>
                <a:r>
                  <a:rPr lang="en-IN" sz="2400">
                    <a:solidFill>
                      <a:srgbClr val="111827"/>
                    </a:solidFill>
                    <a:latin typeface="Cambria Math" panose="02040503050406030204" pitchFamily="18" charset="0"/>
                  </a:rPr>
                  <a:t>$h=at_1t_2$</a:t>
                </a:r>
                <a:r>
                  <a:rPr sz="2400" b="0">
                    <a:solidFill>
                      <a:srgbClr val="111827"/>
                    </a:solidFill>
                    <a:latin typeface="Arial"/>
                  </a:rPr>
                  <a:t>, </a:t>
                </a:r>
                <a:r>
                  <a:rPr lang="en-IN" sz="2400">
                    <a:solidFill>
                      <a:srgbClr val="111827"/>
                    </a:solidFill>
                    <a:latin typeface="Cambria Math" panose="02040503050406030204" pitchFamily="18" charset="0"/>
                  </a:rPr>
                  <a:t>$k=a(t_1+t_2)$</a:t>
                </a:r>
                <a:r>
                  <a:rPr sz="2400" b="0">
                    <a:solidFill>
                      <a:srgbClr val="111827"/>
                    </a:solidFill>
                    <a:latin typeface="Arial"/>
                  </a:rPr>
                  <a:t> (in </a:t>
                </a:r>
                <a:r>
                  <a:rPr lang="en-IN" sz="2400">
                    <a:solidFill>
                      <a:srgbClr val="111827"/>
                    </a:solidFill>
                    <a:latin typeface="Cambria Math" panose="02040503050406030204" pitchFamily="18" charset="0"/>
                  </a:rPr>
                  <a:t>$X,Y$</a:t>
                </a:r>
                <a:r>
                  <a:rPr sz="2400" b="0">
                    <a:solidFill>
                      <a:srgbClr val="111827"/>
                    </a:solidFill>
                    <a:latin typeface="Arial"/>
                  </a:rPr>
                  <a:t> coordinates).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$h=a\left(-2-t_1^2\right)$</a:t>
                </a:r>
                <a:r>
                  <a:rPr sz="2400" b="0">
                    <a:solidFill>
                      <a:srgbClr val="111827"/>
                    </a:solidFill>
                    <a:latin typeface="Arial"/>
                  </a:rPr>
                  <a:t> and </a:t>
                </a:r>
                <a:r>
                  <a:rPr lang="en-IN" sz="2400">
                    <a:solidFill>
                      <a:srgbClr val="111827"/>
                    </a:solidFill>
                    <a:latin typeface="Cambria Math" panose="02040503050406030204" pitchFamily="18" charset="0"/>
                  </a:rPr>
                  <a:t>$k=-\frac{2a}{t_1}$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the second,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Substitute: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𝑘</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num>
                      <m:den>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32</m:t>
                        </m:r>
                      </m:num>
                      <m:den>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32</m:t>
                        </m:r>
                      </m:num>
                      <m:den>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32</m:t>
                        </m:r>
                      </m:num>
                      <m:den>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the locus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the second, </a:t>
                </a:r>
                <a:r>
                  <a:rPr lang="en-IN" sz="2400">
                    <a:solidFill>
                      <a:srgbClr val="111827"/>
                    </a:solidFill>
                    <a:latin typeface="Cambria Math" panose="02040503050406030204" pitchFamily="18" charset="0"/>
                  </a:rPr>
                  <a:t>$t_1=-\frac{2a}{k}$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Substitute: </a:t>
                </a:r>
                <a:r>
                  <a:rPr lang="en-IN" sz="2400">
                    <a:solidFill>
                      <a:srgbClr val="111827"/>
                    </a:solidFill>
                    <a:latin typeface="Cambria Math" panose="02040503050406030204" pitchFamily="18" charset="0"/>
                  </a:rPr>
                  <a:t>$h=-2a-a\left(-\frac{2a}{k}\right)^2=-2a-\frac{4a^3}{k^2}$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$a=2$</a:t>
                </a:r>
                <a:r>
                  <a:rPr sz="2400" b="0">
                    <a:solidFill>
                      <a:srgbClr val="111827"/>
                    </a:solidFill>
                    <a:latin typeface="Arial"/>
                  </a:rPr>
                  <a:t>: </a:t>
                </a:r>
                <a:r>
                  <a:rPr lang="en-IN" sz="2400">
                    <a:solidFill>
                      <a:srgbClr val="111827"/>
                    </a:solidFill>
                    <a:latin typeface="Cambria Math" panose="02040503050406030204" pitchFamily="18" charset="0"/>
                  </a:rPr>
                  <a:t>$X=-4-\frac{32}{Y^2}$</a:t>
                </a:r>
                <a:r>
                  <a:rPr sz="2400" b="0">
                    <a:solidFill>
                      <a:srgbClr val="111827"/>
                    </a:solidFill>
                    <a:latin typeface="Arial"/>
                  </a:rPr>
                  <a:t>, i.e. </a:t>
                </a:r>
                <a:r>
                  <a:rPr lang="en-IN" sz="2400">
                    <a:solidFill>
                      <a:srgbClr val="111827"/>
                    </a:solidFill>
                    <a:latin typeface="Cambria Math" panose="02040503050406030204" pitchFamily="18" charset="0"/>
                  </a:rPr>
                  <a:t>$x-1=-4-\frac{32}{y^2}$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$x+3=-\frac{32}{y^2}$</a:t>
                </a:r>
                <a:r>
                  <a:rPr sz="2400" b="0">
                    <a:solidFill>
                      <a:srgbClr val="111827"/>
                    </a:solidFill>
                    <a:latin typeface="Arial"/>
                  </a:rPr>
                  <a:t>: the locus is </a:t>
                </a:r>
                <a:r>
                  <a:rPr lang="en-IN" sz="2400">
                    <a:solidFill>
                      <a:srgbClr val="111827"/>
                    </a:solidFill>
                    <a:latin typeface="Cambria Math" panose="02040503050406030204" pitchFamily="18" charset="0"/>
                  </a:rPr>
                  <a:t>$(x+3)y^2+32=0$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32</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$(x+3)y^2+32=0$</a:t>
                </a:r>
                <a:endParaRPr sz="2800">
                  <a:solidFill>
                    <a:srgbClr val="15803D"/>
                  </a:solidFill>
                </a:endParaRPr>
              </a:p>
            </p:txBody>
          </p:sp>
        </mc:Fallback>
      </mc:AlternateContent>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chord is the polar of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 line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oMath>
                </a14:m>
                <a:r>
                  <a:rPr sz="2400" b="0">
                    <a:solidFill>
                      <a:srgbClr val="78350F"/>
                    </a:solidFill>
                    <a:latin typeface="Arial"/>
                  </a:rPr>
                  <a:t> is a normal of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𝑥</m:t>
                    </m:r>
                  </m:oMath>
                </a14:m>
                <a:r>
                  <a:rPr sz="2400" b="0">
                    <a:solidFill>
                      <a:srgbClr val="78350F"/>
                    </a:solidFill>
                    <a:latin typeface="Arial"/>
                  </a:rPr>
                  <a:t> iff </a:t>
                </a:r>
                <a14:m>
                  <m:oMath xmlns:m="http://schemas.openxmlformats.org/officeDocument/2006/math">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sSup>
                      <m:e>
                        <m:r>
                          <a:rPr lang="en-IN" sz="2400" i="1">
                            <a:solidFill>
                              <a:srgbClr val="78350F"/>
                            </a:solidFill>
                            <a:latin typeface="Cambria Math" panose="02040503050406030204" pitchFamily="18" charset="0"/>
                          </a:rPr>
                          <m:t>𝑚</m:t>
                        </m:r>
                      </m:e>
                      <m:sup>
                        <m:r>
                          <a:rPr lang="en-IN" sz="2400" i="1">
                            <a:solidFill>
                              <a:srgbClr val="78350F"/>
                            </a:solidFill>
                            <a:latin typeface="Cambria Math" panose="02040503050406030204" pitchFamily="18" charset="0"/>
                          </a:rPr>
                          <m:t>3</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chord is the polar of </a:t>
                </a:r>
                <a:r>
                  <a:rPr lang="en-IN" sz="2400">
                    <a:solidFill>
                      <a:srgbClr val="78350F"/>
                    </a:solidFill>
                    <a:latin typeface="Cambria Math" panose="02040503050406030204" pitchFamily="18" charset="0"/>
                  </a:rPr>
                  <a:t>$(h,k)$</a:t>
                </a:r>
                <a:r>
                  <a:rPr sz="2400" b="0">
                    <a:solidFill>
                      <a:srgbClr val="78350F"/>
                    </a:solidFill>
                    <a:latin typeface="Arial"/>
                  </a:rPr>
                  <a:t>; a line </a:t>
                </a:r>
                <a:r>
                  <a:rPr lang="en-IN" sz="2400">
                    <a:solidFill>
                      <a:srgbClr val="78350F"/>
                    </a:solidFill>
                    <a:latin typeface="Cambria Math" panose="02040503050406030204" pitchFamily="18" charset="0"/>
                  </a:rPr>
                  <a:t>$y=mx+c$</a:t>
                </a:r>
                <a:r>
                  <a:rPr sz="2400" b="0">
                    <a:solidFill>
                      <a:srgbClr val="78350F"/>
                    </a:solidFill>
                    <a:latin typeface="Arial"/>
                  </a:rPr>
                  <a:t> is a normal of </a:t>
                </a:r>
                <a:r>
                  <a:rPr lang="en-IN" sz="2400">
                    <a:solidFill>
                      <a:srgbClr val="78350F"/>
                    </a:solidFill>
                    <a:latin typeface="Cambria Math" panose="02040503050406030204" pitchFamily="18" charset="0"/>
                  </a:rPr>
                  <a:t>$y^2=4ax$</a:t>
                </a:r>
                <a:r>
                  <a:rPr sz="2400" b="0">
                    <a:solidFill>
                      <a:srgbClr val="78350F"/>
                    </a:solidFill>
                    <a:latin typeface="Arial"/>
                  </a:rPr>
                  <a:t> iff </a:t>
                </a:r>
                <a:r>
                  <a:rPr lang="en-IN" sz="2400">
                    <a:solidFill>
                      <a:srgbClr val="78350F"/>
                    </a:solidFill>
                    <a:latin typeface="Cambria Math" panose="02040503050406030204" pitchFamily="18" charset="0"/>
                  </a:rPr>
                  <a:t>$c=-2am-am^3$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shifted coordinates </a:t>
                </a:r>
                <a14:m>
                  <m:oMath xmlns:m="http://schemas.openxmlformats.org/officeDocument/2006/math">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𝑋</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chord with the tangents meeting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polar </a:t>
                </a:r>
                <a14:m>
                  <m:oMath xmlns:m="http://schemas.openxmlformats.org/officeDocument/2006/math">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slope is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and its intercept is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a:t>
                </a:r>
                <a14:m>
                  <m:oMath xmlns:m="http://schemas.openxmlformats.org/officeDocument/2006/math">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is a normal to </a:t>
                </a:r>
                <a14:m>
                  <m:oMath xmlns:m="http://schemas.openxmlformats.org/officeDocument/2006/math">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𝑋</m:t>
                    </m:r>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𝑘</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𝑘</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4</m:t>
                            </m:r>
                          </m:sup>
                        </m:sSup>
                      </m:num>
                      <m:den>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3</m:t>
                            </m:r>
                          </m:sup>
                        </m:sSup>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shifted coordinates </a:t>
                </a:r>
                <a:r>
                  <a:rPr lang="en-IN" sz="2400">
                    <a:solidFill>
                      <a:srgbClr val="111827"/>
                    </a:solidFill>
                    <a:latin typeface="Cambria Math" panose="02040503050406030204" pitchFamily="18" charset="0"/>
                  </a:rPr>
                  <a:t>$Y^2=4aX$</a:t>
                </a:r>
                <a:r>
                  <a:rPr sz="2400" b="0">
                    <a:solidFill>
                      <a:srgbClr val="111827"/>
                    </a:solidFill>
                    <a:latin typeface="Arial"/>
                  </a:rPr>
                  <a:t> (</a:t>
                </a:r>
                <a:r>
                  <a:rPr lang="en-IN" sz="2400">
                    <a:solidFill>
                      <a:srgbClr val="111827"/>
                    </a:solidFill>
                    <a:latin typeface="Cambria Math" panose="02040503050406030204" pitchFamily="18" charset="0"/>
                  </a:rPr>
                  <a:t>$a=2$</a:t>
                </a:r>
                <a:r>
                  <a:rPr sz="2400" b="0">
                    <a:solidFill>
                      <a:srgbClr val="111827"/>
                    </a:solidFill>
                    <a:latin typeface="Arial"/>
                  </a:rPr>
                  <a:t>), the chord with the tangents meeting at </a:t>
                </a:r>
                <a:r>
                  <a:rPr lang="en-IN" sz="2400">
                    <a:solidFill>
                      <a:srgbClr val="111827"/>
                    </a:solidFill>
                    <a:latin typeface="Cambria Math" panose="02040503050406030204" pitchFamily="18" charset="0"/>
                  </a:rPr>
                  <a:t>$(h,k)$</a:t>
                </a:r>
                <a:r>
                  <a:rPr sz="2400" b="0">
                    <a:solidFill>
                      <a:srgbClr val="111827"/>
                    </a:solidFill>
                    <a:latin typeface="Arial"/>
                  </a:rPr>
                  <a:t> is the polar </a:t>
                </a:r>
                <a:r>
                  <a:rPr lang="en-IN" sz="2400">
                    <a:solidFill>
                      <a:srgbClr val="111827"/>
                    </a:solidFill>
                    <a:latin typeface="Cambria Math" panose="02040503050406030204" pitchFamily="18" charset="0"/>
                  </a:rPr>
                  <a:t>$kY=2a(X+h)$</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slope is </a:t>
                </a:r>
                <a:r>
                  <a:rPr lang="en-IN" sz="2400">
                    <a:solidFill>
                      <a:srgbClr val="111827"/>
                    </a:solidFill>
                    <a:latin typeface="Cambria Math" panose="02040503050406030204" pitchFamily="18" charset="0"/>
                  </a:rPr>
                  <a:t>$m=\frac{2a}{k}$</a:t>
                </a:r>
                <a:r>
                  <a:rPr sz="2400" b="0">
                    <a:solidFill>
                      <a:srgbClr val="111827"/>
                    </a:solidFill>
                    <a:latin typeface="Arial"/>
                  </a:rPr>
                  <a:t> and its intercept is </a:t>
                </a:r>
                <a:r>
                  <a:rPr lang="en-IN" sz="2400">
                    <a:solidFill>
                      <a:srgbClr val="111827"/>
                    </a:solidFill>
                    <a:latin typeface="Cambria Math" panose="02040503050406030204" pitchFamily="18" charset="0"/>
                  </a:rPr>
                  <a:t>$c=\frac{2ah}{k}$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a:t>
                </a:r>
                <a:r>
                  <a:rPr lang="en-IN" sz="2400">
                    <a:solidFill>
                      <a:srgbClr val="111827"/>
                    </a:solidFill>
                    <a:latin typeface="Cambria Math" panose="02040503050406030204" pitchFamily="18" charset="0"/>
                  </a:rPr>
                  <a:t>$Y=mX+c$</a:t>
                </a:r>
                <a:r>
                  <a:rPr sz="2400" b="0">
                    <a:solidFill>
                      <a:srgbClr val="111827"/>
                    </a:solidFill>
                    <a:latin typeface="Arial"/>
                  </a:rPr>
                  <a:t> is a normal to </a:t>
                </a:r>
                <a:r>
                  <a:rPr lang="en-IN" sz="2400">
                    <a:solidFill>
                      <a:srgbClr val="111827"/>
                    </a:solidFill>
                    <a:latin typeface="Cambria Math" panose="02040503050406030204" pitchFamily="18" charset="0"/>
                  </a:rPr>
                  <a:t>$Y^2=4aX$</a:t>
                </a:r>
                <a:r>
                  <a:rPr sz="2400" b="0">
                    <a:solidFill>
                      <a:srgbClr val="111827"/>
                    </a:solidFill>
                    <a:latin typeface="Arial"/>
                  </a:rPr>
                  <a:t> iff </a:t>
                </a:r>
                <a:r>
                  <a:rPr lang="en-IN" sz="2400">
                    <a:solidFill>
                      <a:srgbClr val="111827"/>
                    </a:solidFill>
                    <a:latin typeface="Cambria Math" panose="02040503050406030204" pitchFamily="18" charset="0"/>
                  </a:rPr>
                  <a:t>$c=-2am-am^3$</a:t>
                </a:r>
                <a:r>
                  <a:rPr sz="2400" b="0">
                    <a:solidFill>
                      <a:srgbClr val="111827"/>
                    </a:solidFill>
                    <a:latin typeface="Arial"/>
                  </a:rPr>
                  <a:t>, so </a:t>
                </a:r>
                <a:r>
                  <a:rPr lang="en-IN" sz="2400">
                    <a:solidFill>
                      <a:srgbClr val="111827"/>
                    </a:solidFill>
                    <a:latin typeface="Cambria Math" panose="02040503050406030204" pitchFamily="18" charset="0"/>
                  </a:rPr>
                  <a:t>$\frac{2ah}{k}=-\frac{4a^2}{k}-\frac{8a^4}{k^3}$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Multiply by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num>
                      <m:den>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32</m:t>
                        </m:r>
                      </m:num>
                      <m:den>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Multiply by </a:t>
                </a:r>
                <a:r>
                  <a:rPr lang="en-IN" sz="2400">
                    <a:solidFill>
                      <a:srgbClr val="111827"/>
                    </a:solidFill>
                    <a:latin typeface="Cambria Math" panose="02040503050406030204" pitchFamily="18" charset="0"/>
                  </a:rPr>
                  <a:t>$\frac{k}{2a}$</a:t>
                </a:r>
                <a:r>
                  <a:rPr sz="2400" b="0">
                    <a:solidFill>
                      <a:srgbClr val="111827"/>
                    </a:solidFill>
                    <a:latin typeface="Arial"/>
                  </a:rPr>
                  <a:t>: </a:t>
                </a:r>
                <a:r>
                  <a:rPr lang="en-IN" sz="2400">
                    <a:solidFill>
                      <a:srgbClr val="111827"/>
                    </a:solidFill>
                    <a:latin typeface="Cambria Math" panose="02040503050406030204" pitchFamily="18" charset="0"/>
                  </a:rPr>
                  <a:t>$h=-2a-\frac{4a^3}{k^2}$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$a=2$</a:t>
                </a:r>
                <a:r>
                  <a:rPr sz="2400" b="0">
                    <a:solidFill>
                      <a:srgbClr val="111827"/>
                    </a:solidFill>
                    <a:latin typeface="Arial"/>
                  </a:rPr>
                  <a:t>: </a:t>
                </a:r>
                <a:r>
                  <a:rPr lang="en-IN" sz="2400">
                    <a:solidFill>
                      <a:srgbClr val="111827"/>
                    </a:solidFill>
                    <a:latin typeface="Cambria Math" panose="02040503050406030204" pitchFamily="18" charset="0"/>
                  </a:rPr>
                  <a:t>$(x-1)=-4-\frac{32}{y^2}$</a:t>
                </a:r>
                <a:r>
                  <a:rPr sz="2400" b="0">
                    <a:solidFill>
                      <a:srgbClr val="111827"/>
                    </a:solidFill>
                    <a:latin typeface="Arial"/>
                  </a:rPr>
                  <a:t>, i.e. </a:t>
                </a:r>
                <a:r>
                  <a:rPr lang="en-IN" sz="2400">
                    <a:solidFill>
                      <a:srgbClr val="111827"/>
                    </a:solidFill>
                    <a:latin typeface="Cambria Math" panose="02040503050406030204" pitchFamily="18" charset="0"/>
                  </a:rPr>
                  <a:t>$(x+3)y^2+32=0$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32</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$(x+3)y^2+32=0$</a:t>
                </a:r>
                <a:endParaRPr sz="2800">
                  <a:solidFill>
                    <a:srgbClr val="15803D"/>
                  </a:solidFill>
                </a:endParaRPr>
              </a:p>
            </p:txBody>
          </p:sp>
        </mc:Fallback>
      </mc:AlternateContent>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line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in slope form: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(equivalently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chord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 and the tangents at its ends meet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itself the locus of the poles of normal chords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here, in the shifted coordinates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shift the vertex to the origin first: replace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by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and restore it at the end.</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line of </a:t>
                </a:r>
                <a:r>
                  <a:rPr lang="en-IN" sz="2400">
                    <a:solidFill>
                      <a:srgbClr val="111827"/>
                    </a:solidFill>
                    <a:latin typeface="Cambria Math" panose="02040503050406030204" pitchFamily="18" charset="0"/>
                  </a:rPr>
                  <a:t>$y^2=4ax$</a:t>
                </a:r>
                <a:r>
                  <a:rPr sz="2400" b="0">
                    <a:solidFill>
                      <a:srgbClr val="111827"/>
                    </a:solidFill>
                    <a:latin typeface="Arial"/>
                  </a:rPr>
                  <a:t> in slope form: </a:t>
                </a:r>
                <a:r>
                  <a:rPr lang="en-IN" sz="2400">
                    <a:solidFill>
                      <a:srgbClr val="111827"/>
                    </a:solidFill>
                    <a:latin typeface="Cambria Math" panose="02040503050406030204" pitchFamily="18" charset="0"/>
                  </a:rPr>
                  <a:t>$y=mx-2am-am^3$</a:t>
                </a:r>
                <a:r>
                  <a:rPr sz="2400" b="0">
                    <a:solidFill>
                      <a:srgbClr val="111827"/>
                    </a:solidFill>
                    <a:latin typeface="Arial"/>
                  </a:rPr>
                  <a:t> (equivalently </a:t>
                </a:r>
                <a:r>
                  <a:rPr lang="en-IN" sz="2400">
                    <a:solidFill>
                      <a:srgbClr val="111827"/>
                    </a:solidFill>
                    <a:latin typeface="Cambria Math" panose="02040503050406030204" pitchFamily="18" charset="0"/>
                  </a:rPr>
                  <a:t>$c=-2am-am^3$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chord at </a:t>
                </a:r>
                <a:r>
                  <a:rPr lang="en-IN" sz="2400">
                    <a:solidFill>
                      <a:srgbClr val="111827"/>
                    </a:solidFill>
                    <a:latin typeface="Cambria Math" panose="02040503050406030204" pitchFamily="18" charset="0"/>
                  </a:rPr>
                  <a:t>$t_1$</a:t>
                </a:r>
                <a:r>
                  <a:rPr sz="2400" b="0">
                    <a:solidFill>
                      <a:srgbClr val="111827"/>
                    </a:solidFill>
                    <a:latin typeface="Arial"/>
                  </a:rPr>
                  <a:t>: </a:t>
                </a:r>
                <a:r>
                  <a:rPr lang="en-IN" sz="2400">
                    <a:solidFill>
                      <a:srgbClr val="111827"/>
                    </a:solidFill>
                    <a:latin typeface="Cambria Math" panose="02040503050406030204" pitchFamily="18" charset="0"/>
                  </a:rPr>
                  <a:t>$t_2=-t_1-\frac{2}{t_1}$</a:t>
                </a:r>
                <a:r>
                  <a:rPr sz="2400" b="0">
                    <a:solidFill>
                      <a:srgbClr val="111827"/>
                    </a:solidFill>
                    <a:latin typeface="Arial"/>
                  </a:rPr>
                  <a:t>, and the tangents at its ends meet at </a:t>
                </a:r>
                <a:r>
                  <a:rPr lang="en-IN" sz="2400">
                    <a:solidFill>
                      <a:srgbClr val="111827"/>
                    </a:solidFill>
                    <a:latin typeface="Cambria Math" panose="02040503050406030204" pitchFamily="18" charset="0"/>
                  </a:rPr>
                  <a:t>$\left(-a(2+t_1^2),\,-\frac{2a}{t_1}\right)$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$y^2=4ax$</a:t>
                </a:r>
                <a:r>
                  <a:rPr sz="2400" b="0">
                    <a:solidFill>
                      <a:srgbClr val="111827"/>
                    </a:solidFill>
                    <a:latin typeface="Arial"/>
                  </a:rPr>
                  <a:t> itself the locus of the poles of normal chords is </a:t>
                </a:r>
                <a:r>
                  <a:rPr lang="en-IN" sz="2400">
                    <a:solidFill>
                      <a:srgbClr val="111827"/>
                    </a:solidFill>
                    <a:latin typeface="Cambria Math" panose="02040503050406030204" pitchFamily="18" charset="0"/>
                  </a:rPr>
                  <a:t>$(x+2a)y^2+4a^3=0$</a:t>
                </a:r>
                <a:r>
                  <a:rPr sz="2400" b="0">
                    <a:solidFill>
                      <a:srgbClr val="111827"/>
                    </a:solidFill>
                    <a:latin typeface="Arial"/>
                  </a:rPr>
                  <a:t>; here, in the shifted coordinates </a:t>
                </a:r>
                <a:r>
                  <a:rPr lang="en-IN" sz="2400">
                    <a:solidFill>
                      <a:srgbClr val="111827"/>
                    </a:solidFill>
                    <a:latin typeface="Cambria Math" panose="02040503050406030204" pitchFamily="18" charset="0"/>
                  </a:rPr>
                  <a:t>$X=x-1,\ Y=y$</a:t>
                </a:r>
                <a:r>
                  <a:rPr sz="2400" b="0">
                    <a:solidFill>
                      <a:srgbClr val="111827"/>
                    </a:solidFill>
                    <a:latin typeface="Arial"/>
                  </a:rPr>
                  <a:t> with </a:t>
                </a:r>
                <a:r>
                  <a:rPr lang="en-IN" sz="2400">
                    <a:solidFill>
                      <a:srgbClr val="111827"/>
                    </a:solidFill>
                    <a:latin typeface="Cambria Math" panose="02040503050406030204" pitchFamily="18" charset="0"/>
                  </a:rPr>
                  <a:t>$a=2$</a:t>
                </a:r>
                <a:r>
                  <a:rPr sz="2400" b="0">
                    <a:solidFill>
                      <a:srgbClr val="111827"/>
                    </a:solidFill>
                    <a:latin typeface="Arial"/>
                  </a:rPr>
                  <a:t>, it is </a:t>
                </a:r>
                <a:r>
                  <a:rPr lang="en-IN" sz="2400">
                    <a:solidFill>
                      <a:srgbClr val="111827"/>
                    </a:solidFill>
                    <a:latin typeface="Cambria Math" panose="02040503050406030204" pitchFamily="18" charset="0"/>
                  </a:rPr>
                  <a:t>$(X+4)Y^2+32=0$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shift the vertex to the origin first: replace </a:t>
                </a:r>
                <a:r>
                  <a:rPr lang="en-IN" sz="2400">
                    <a:solidFill>
                      <a:srgbClr val="111827"/>
                    </a:solidFill>
                    <a:latin typeface="Cambria Math" panose="02040503050406030204" pitchFamily="18" charset="0"/>
                  </a:rPr>
                  <a:t>$x$</a:t>
                </a:r>
                <a:r>
                  <a:rPr sz="2400" b="0">
                    <a:solidFill>
                      <a:srgbClr val="111827"/>
                    </a:solidFill>
                    <a:latin typeface="Arial"/>
                  </a:rPr>
                  <a:t> by </a:t>
                </a:r>
                <a:r>
                  <a:rPr lang="en-IN" sz="2400">
                    <a:solidFill>
                      <a:srgbClr val="111827"/>
                    </a:solidFill>
                    <a:latin typeface="Cambria Math" panose="02040503050406030204" pitchFamily="18" charset="0"/>
                  </a:rPr>
                  <a:t>$x-x_0$</a:t>
                </a:r>
                <a:r>
                  <a:rPr sz="2400" b="0">
                    <a:solidFill>
                      <a:srgbClr val="111827"/>
                    </a:solidFill>
                    <a:latin typeface="Arial"/>
                  </a:rPr>
                  <a:t> and restore it at the end.</a:t>
                </a:r>
                <a:endParaRPr sz="2400">
                  <a:solidFill>
                    <a:srgbClr val="111827"/>
                  </a:solidFill>
                </a:endParaRPr>
              </a:p>
            </p:txBody>
          </p:sp>
        </mc:Fallback>
      </mc:AlternateContent>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Normals are drawn from the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with slopes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to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If the locus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 is a part of the parabola itself, then find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Normals are drawn from the point </a:t>
                </a:r>
                <a:r>
                  <a:rPr lang="en-IN" sz="2400">
                    <a:solidFill>
                      <a:srgbClr val="111827"/>
                    </a:solidFill>
                    <a:latin typeface="Cambria Math" panose="02040503050406030204" pitchFamily="18" charset="0"/>
                  </a:rPr>
                  <a:t>$P$</a:t>
                </a:r>
                <a:r>
                  <a:rPr sz="2400" b="0">
                    <a:solidFill>
                      <a:srgbClr val="111827"/>
                    </a:solidFill>
                    <a:latin typeface="Arial"/>
                  </a:rPr>
                  <a:t> with slopes </a:t>
                </a:r>
                <a:r>
                  <a:rPr lang="en-IN" sz="2400">
                    <a:solidFill>
                      <a:srgbClr val="111827"/>
                    </a:solidFill>
                    <a:latin typeface="Cambria Math" panose="02040503050406030204" pitchFamily="18" charset="0"/>
                  </a:rPr>
                  <a:t>$m_1,m_2,m_3$</a:t>
                </a:r>
                <a:r>
                  <a:rPr sz="2400" b="0">
                    <a:solidFill>
                      <a:srgbClr val="111827"/>
                    </a:solidFill>
                    <a:latin typeface="Arial"/>
                  </a:rPr>
                  <a:t> to the parabola </a:t>
                </a:r>
                <a:r>
                  <a:rPr lang="en-IN" sz="2400">
                    <a:solidFill>
                      <a:srgbClr val="111827"/>
                    </a:solidFill>
                    <a:latin typeface="Cambria Math" panose="02040503050406030204" pitchFamily="18" charset="0"/>
                  </a:rPr>
                  <a:t>$y^2=4x$</a:t>
                </a:r>
                <a:r>
                  <a:rPr sz="2400" b="0">
                    <a:solidFill>
                      <a:srgbClr val="111827"/>
                    </a:solidFill>
                    <a:latin typeface="Arial"/>
                  </a:rPr>
                  <a:t>. If the locus of </a:t>
                </a:r>
                <a:r>
                  <a:rPr lang="en-IN" sz="2400">
                    <a:solidFill>
                      <a:srgbClr val="111827"/>
                    </a:solidFill>
                    <a:latin typeface="Cambria Math" panose="02040503050406030204" pitchFamily="18" charset="0"/>
                  </a:rPr>
                  <a:t>$P$</a:t>
                </a:r>
                <a:r>
                  <a:rPr sz="2400" b="0">
                    <a:solidFill>
                      <a:srgbClr val="111827"/>
                    </a:solidFill>
                    <a:latin typeface="Arial"/>
                  </a:rPr>
                  <a:t> with </a:t>
                </a:r>
                <a:r>
                  <a:rPr lang="en-IN" sz="2400">
                    <a:solidFill>
                      <a:srgbClr val="111827"/>
                    </a:solidFill>
                    <a:latin typeface="Cambria Math" panose="02040503050406030204" pitchFamily="18" charset="0"/>
                  </a:rPr>
                  <a:t>$m_1m_2=\alpha$</a:t>
                </a:r>
                <a:r>
                  <a:rPr sz="2400" b="0">
                    <a:solidFill>
                      <a:srgbClr val="111827"/>
                    </a:solidFill>
                    <a:latin typeface="Arial"/>
                  </a:rPr>
                  <a:t> is a part of the parabola itself, then find </a:t>
                </a:r>
                <a:r>
                  <a:rPr lang="en-IN" sz="2400">
                    <a:solidFill>
                      <a:srgbClr val="111827"/>
                    </a:solidFill>
                    <a:latin typeface="Cambria Math" panose="02040503050406030204" pitchFamily="18" charset="0"/>
                  </a:rPr>
                  <a:t>$\alpha$</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Normals from a point to a parabola (slope form), Relations between the roots of a cubic</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normals from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have slopes that are the three roots of </a:t>
                </a:r>
                <a14:m>
                  <m:oMath xmlns:m="http://schemas.openxmlformats.org/officeDocument/2006/math">
                    <m:sSup>
                      <m:e>
                        <m:r>
                          <a:rPr lang="en-IN" sz="2400" i="1">
                            <a:solidFill>
                              <a:srgbClr val="78350F"/>
                            </a:solidFill>
                            <a:latin typeface="Cambria Math" panose="02040503050406030204" pitchFamily="18" charset="0"/>
                          </a:rPr>
                          <m:t>𝑚</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with </a:t>
                </a:r>
                <a14:m>
                  <m:oMath xmlns:m="http://schemas.openxmlformats.org/officeDocument/2006/math">
                    <m:sSub>
                      <m:e>
                        <m:r>
                          <a:rPr lang="en-IN" sz="2400" i="1">
                            <a:solidFill>
                              <a:srgbClr val="78350F"/>
                            </a:solidFill>
                            <a:latin typeface="Cambria Math" panose="02040503050406030204" pitchFamily="18" charset="0"/>
                          </a:rPr>
                          <m:t>𝑚</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𝑚</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α</m:t>
                    </m:r>
                  </m:oMath>
                </a14:m>
                <a:r>
                  <a:rPr sz="2400" b="0">
                    <a:solidFill>
                      <a:srgbClr val="78350F"/>
                    </a:solidFill>
                    <a:latin typeface="Arial"/>
                  </a:rPr>
                  <a:t> the third root is </a:t>
                </a:r>
                <a14:m>
                  <m:oMath xmlns:m="http://schemas.openxmlformats.org/officeDocument/2006/math">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𝑘</m:t>
                        </m:r>
                      </m:num>
                      <m:den>
                        <m:r>
                          <a:rPr lang="en-IN" sz="2400" i="1">
                            <a:solidFill>
                              <a:srgbClr val="78350F"/>
                            </a:solidFill>
                            <a:latin typeface="Cambria Math" panose="02040503050406030204" pitchFamily="18" charset="0"/>
                          </a:rPr>
                          <m:t>α</m:t>
                        </m:r>
                      </m:den>
                    </m:f>
                  </m:oMath>
                </a14:m>
                <a:r>
                  <a:rPr sz="2400" b="0">
                    <a:solidFill>
                      <a:srgbClr val="78350F"/>
                    </a:solidFill>
                    <a:latin typeface="Arial"/>
                  </a:rPr>
                  <a:t>, and substituting it gives the locus.</a:t>
                </a:r>
                <a:endParaRPr sz="2400">
                  <a:solidFill>
                    <a:srgbClr val="78350F"/>
                  </a:solidFill>
                </a:endParaRPr>
              </a:p>
            </p:txBody>
          </p:sp>
        </mc:Choice>
        <mc:Fallback>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normals from </a:t>
                </a:r>
                <a:r>
                  <a:rPr lang="en-IN" sz="2400">
                    <a:solidFill>
                      <a:srgbClr val="78350F"/>
                    </a:solidFill>
                    <a:latin typeface="Cambria Math" panose="02040503050406030204" pitchFamily="18" charset="0"/>
                  </a:rPr>
                  <a:t>$P(h,k)$</a:t>
                </a:r>
                <a:r>
                  <a:rPr sz="2400" b="0">
                    <a:solidFill>
                      <a:srgbClr val="78350F"/>
                    </a:solidFill>
                    <a:latin typeface="Arial"/>
                  </a:rPr>
                  <a:t> have slopes that are the three roots of </a:t>
                </a:r>
                <a:r>
                  <a:rPr lang="en-IN" sz="2400">
                    <a:solidFill>
                      <a:srgbClr val="78350F"/>
                    </a:solidFill>
                    <a:latin typeface="Cambria Math" panose="02040503050406030204" pitchFamily="18" charset="0"/>
                  </a:rPr>
                  <a:t>$m^3+(2-h)m+k=0$</a:t>
                </a:r>
                <a:r>
                  <a:rPr sz="2400" b="0">
                    <a:solidFill>
                      <a:srgbClr val="78350F"/>
                    </a:solidFill>
                    <a:latin typeface="Arial"/>
                  </a:rPr>
                  <a:t>; with </a:t>
                </a:r>
                <a:r>
                  <a:rPr lang="en-IN" sz="2400">
                    <a:solidFill>
                      <a:srgbClr val="78350F"/>
                    </a:solidFill>
                    <a:latin typeface="Cambria Math" panose="02040503050406030204" pitchFamily="18" charset="0"/>
                  </a:rPr>
                  <a:t>$m_1m_2=\alpha$</a:t>
                </a:r>
                <a:r>
                  <a:rPr sz="2400" b="0">
                    <a:solidFill>
                      <a:srgbClr val="78350F"/>
                    </a:solidFill>
                    <a:latin typeface="Arial"/>
                  </a:rPr>
                  <a:t> the third root is </a:t>
                </a:r>
                <a:r>
                  <a:rPr lang="en-IN" sz="2400">
                    <a:solidFill>
                      <a:srgbClr val="78350F"/>
                    </a:solidFill>
                    <a:latin typeface="Cambria Math" panose="02040503050406030204" pitchFamily="18" charset="0"/>
                  </a:rPr>
                  <a:t>$-\frac{k}{\alpha}$</a:t>
                </a:r>
                <a:r>
                  <a:rPr sz="2400" b="0">
                    <a:solidFill>
                      <a:srgbClr val="78350F"/>
                    </a:solidFill>
                    <a:latin typeface="Arial"/>
                  </a:rPr>
                  <a:t>, and substituting it gives the locus.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normal of slope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cubic has three roots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Given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α</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satisfies (1):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3</m:t>
                            </m:r>
                          </m:sup>
                        </m:sSup>
                      </m:num>
                      <m:den>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3</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α</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$P=(h,k)$</a:t>
                </a:r>
                <a:r>
                  <a:rPr sz="2400" b="0">
                    <a:solidFill>
                      <a:srgbClr val="111827"/>
                    </a:solidFill>
                    <a:latin typeface="Arial"/>
                  </a:rPr>
                  <a:t>. The normal of slope </a:t>
                </a:r>
                <a:r>
                  <a:rPr lang="en-IN" sz="2400">
                    <a:solidFill>
                      <a:srgbClr val="111827"/>
                    </a:solidFill>
                    <a:latin typeface="Cambria Math" panose="02040503050406030204" pitchFamily="18" charset="0"/>
                  </a:rPr>
                  <a:t>$m$</a:t>
                </a:r>
                <a:r>
                  <a:rPr sz="2400" b="0">
                    <a:solidFill>
                      <a:srgbClr val="111827"/>
                    </a:solidFill>
                    <a:latin typeface="Arial"/>
                  </a:rPr>
                  <a:t> to </a:t>
                </a:r>
                <a:r>
                  <a:rPr lang="en-IN" sz="2400">
                    <a:solidFill>
                      <a:srgbClr val="111827"/>
                    </a:solidFill>
                    <a:latin typeface="Cambria Math" panose="02040503050406030204" pitchFamily="18" charset="0"/>
                  </a:rPr>
                  <a:t>$y^2=4x$</a:t>
                </a:r>
                <a:r>
                  <a:rPr sz="2400" b="0">
                    <a:solidFill>
                      <a:srgbClr val="111827"/>
                    </a:solidFill>
                    <a:latin typeface="Arial"/>
                  </a:rPr>
                  <a:t> is </a:t>
                </a:r>
                <a:r>
                  <a:rPr lang="en-IN" sz="2400">
                    <a:solidFill>
                      <a:srgbClr val="111827"/>
                    </a:solidFill>
                    <a:latin typeface="Cambria Math" panose="02040503050406030204" pitchFamily="18" charset="0"/>
                  </a:rPr>
                  <a:t>$y=mx-2m-m^3$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passes through </a:t>
                </a:r>
                <a:r>
                  <a:rPr lang="en-IN" sz="2400">
                    <a:solidFill>
                      <a:srgbClr val="111827"/>
                    </a:solidFill>
                    <a:latin typeface="Cambria Math" panose="02040503050406030204" pitchFamily="18" charset="0"/>
                  </a:rPr>
                  <a:t>$(h,k)$</a:t>
                </a:r>
                <a:r>
                  <a:rPr sz="2400" b="0">
                    <a:solidFill>
                      <a:srgbClr val="111827"/>
                    </a:solidFill>
                    <a:latin typeface="Arial"/>
                  </a:rPr>
                  <a:t>: </a:t>
                </a:r>
                <a:r>
                  <a:rPr lang="en-IN" sz="2400">
                    <a:solidFill>
                      <a:srgbClr val="111827"/>
                    </a:solidFill>
                    <a:latin typeface="Cambria Math" panose="02040503050406030204" pitchFamily="18" charset="0"/>
                  </a:rPr>
                  <a:t>$mh-k-2m-m^3=0$</a:t>
                </a:r>
                <a:r>
                  <a:rPr sz="2400" b="0">
                    <a:solidFill>
                      <a:srgbClr val="111827"/>
                    </a:solidFill>
                    <a:latin typeface="Arial"/>
                  </a:rPr>
                  <a:t>, i.e. </a:t>
                </a:r>
                <a:r>
                  <a:rPr lang="en-IN" sz="2400">
                    <a:solidFill>
                      <a:srgbClr val="111827"/>
                    </a:solidFill>
                    <a:latin typeface="Cambria Math" panose="02040503050406030204" pitchFamily="18" charset="0"/>
                  </a:rPr>
                  <a:t>$m^3+(2-h)m+k=0$</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cubic has three roots </a:t>
                </a:r>
                <a:r>
                  <a:rPr lang="en-IN" sz="2400">
                    <a:solidFill>
                      <a:srgbClr val="111827"/>
                    </a:solidFill>
                    <a:latin typeface="Cambria Math" panose="02040503050406030204" pitchFamily="18" charset="0"/>
                  </a:rPr>
                  <a:t>$m_1,m_2,m_3$</a:t>
                </a:r>
                <a:r>
                  <a:rPr sz="2400" b="0">
                    <a:solidFill>
                      <a:srgbClr val="111827"/>
                    </a:solidFill>
                    <a:latin typeface="Arial"/>
                  </a:rPr>
                  <a:t>, and </a:t>
                </a:r>
                <a:r>
                  <a:rPr lang="en-IN" sz="2400">
                    <a:solidFill>
                      <a:srgbClr val="111827"/>
                    </a:solidFill>
                    <a:latin typeface="Cambria Math" panose="02040503050406030204" pitchFamily="18" charset="0"/>
                  </a:rPr>
                  <a:t>$m_1m_2m_3=-k$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Given </a:t>
                </a:r>
                <a:r>
                  <a:rPr lang="en-IN" sz="2400">
                    <a:solidFill>
                      <a:srgbClr val="111827"/>
                    </a:solidFill>
                    <a:latin typeface="Cambria Math" panose="02040503050406030204" pitchFamily="18" charset="0"/>
                  </a:rPr>
                  <a:t>$m_1m_2=\alpha$</a:t>
                </a:r>
                <a:r>
                  <a:rPr sz="2400" b="0">
                    <a:solidFill>
                      <a:srgbClr val="111827"/>
                    </a:solidFill>
                    <a:latin typeface="Arial"/>
                  </a:rPr>
                  <a:t>: </a:t>
                </a:r>
                <a:r>
                  <a:rPr lang="en-IN" sz="2400">
                    <a:solidFill>
                      <a:srgbClr val="111827"/>
                    </a:solidFill>
                    <a:latin typeface="Cambria Math" panose="02040503050406030204" pitchFamily="18" charset="0"/>
                  </a:rPr>
                  <a:t>$m_3=-\frac{k}{\alpha}$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$m_3$</a:t>
                </a:r>
                <a:r>
                  <a:rPr sz="2400" b="0">
                    <a:solidFill>
                      <a:srgbClr val="111827"/>
                    </a:solidFill>
                    <a:latin typeface="Arial"/>
                  </a:rPr>
                  <a:t> satisfies (1): </a:t>
                </a:r>
                <a:r>
                  <a:rPr lang="en-IN" sz="2400">
                    <a:solidFill>
                      <a:srgbClr val="111827"/>
                    </a:solidFill>
                    <a:latin typeface="Cambria Math" panose="02040503050406030204" pitchFamily="18" charset="0"/>
                  </a:rPr>
                  <a:t>$-\frac{k^3}{\alpha^3}-\frac{(2-h)k}{\alpha}+k=0$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Divide by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multiply by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the locus is a part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so comparing: </a:t>
                </a: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second gives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with </a:t>
                </a: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we get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Divide by </a:t>
                </a:r>
                <a:r>
                  <a:rPr lang="en-IN" sz="2400">
                    <a:solidFill>
                      <a:srgbClr val="111827"/>
                    </a:solidFill>
                    <a:latin typeface="Cambria Math" panose="02040503050406030204" pitchFamily="18" charset="0"/>
                  </a:rPr>
                  <a:t>$k$</a:t>
                </a:r>
                <a:r>
                  <a:rPr sz="2400" b="0">
                    <a:solidFill>
                      <a:srgbClr val="111827"/>
                    </a:solidFill>
                    <a:latin typeface="Arial"/>
                  </a:rPr>
                  <a:t> (</a:t>
                </a:r>
                <a:r>
                  <a:rPr lang="en-IN" sz="2400">
                    <a:solidFill>
                      <a:srgbClr val="111827"/>
                    </a:solidFill>
                    <a:latin typeface="Cambria Math" panose="02040503050406030204" pitchFamily="18" charset="0"/>
                  </a:rPr>
                  <a:t>$k\ne0$</a:t>
                </a:r>
                <a:r>
                  <a:rPr sz="2400" b="0">
                    <a:solidFill>
                      <a:srgbClr val="111827"/>
                    </a:solidFill>
                    <a:latin typeface="Arial"/>
                  </a:rPr>
                  <a:t>) and multiply by </a:t>
                </a:r>
                <a:r>
                  <a:rPr lang="en-IN" sz="2400">
                    <a:solidFill>
                      <a:srgbClr val="111827"/>
                    </a:solidFill>
                    <a:latin typeface="Cambria Math" panose="02040503050406030204" pitchFamily="18" charset="0"/>
                  </a:rPr>
                  <a:t>$-\alpha^3$</a:t>
                </a:r>
                <a:r>
                  <a:rPr sz="2400" b="0">
                    <a:solidFill>
                      <a:srgbClr val="111827"/>
                    </a:solidFill>
                    <a:latin typeface="Arial"/>
                  </a:rPr>
                  <a:t>: </a:t>
                </a:r>
                <a:r>
                  <a:rPr lang="en-IN" sz="2400">
                    <a:solidFill>
                      <a:srgbClr val="111827"/>
                    </a:solidFill>
                    <a:latin typeface="Cambria Math" panose="02040503050406030204" pitchFamily="18" charset="0"/>
                  </a:rPr>
                  <a:t>$k^2+(2-h)\alpha^2-\alpha^3=0$</a:t>
                </a:r>
                <a:r>
                  <a:rPr sz="2400" b="0">
                    <a:solidFill>
                      <a:srgbClr val="111827"/>
                    </a:solidFill>
                    <a:latin typeface="Arial"/>
                  </a:rPr>
                  <a:t>, i.e. </a:t>
                </a:r>
                <a:r>
                  <a:rPr lang="en-IN" sz="2400">
                    <a:solidFill>
                      <a:srgbClr val="111827"/>
                    </a:solidFill>
                    <a:latin typeface="Cambria Math" panose="02040503050406030204" pitchFamily="18" charset="0"/>
                  </a:rPr>
                  <a:t>$k^2=\alpha^2h+\alpha^3-2\alpha^2$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t>
                </a:r>
                <a:r>
                  <a:rPr lang="en-IN" sz="2400">
                    <a:solidFill>
                      <a:srgbClr val="111827"/>
                    </a:solidFill>
                    <a:latin typeface="Cambria Math" panose="02040503050406030204" pitchFamily="18" charset="0"/>
                  </a:rPr>
                  <a:t>$P(h,k)$</a:t>
                </a:r>
                <a:r>
                  <a:rPr sz="2400" b="0">
                    <a:solidFill>
                      <a:srgbClr val="111827"/>
                    </a:solidFill>
                    <a:latin typeface="Arial"/>
                  </a:rPr>
                  <a:t> is </a:t>
                </a:r>
                <a:r>
                  <a:rPr lang="en-IN" sz="2400">
                    <a:solidFill>
                      <a:srgbClr val="111827"/>
                    </a:solidFill>
                    <a:latin typeface="Cambria Math" panose="02040503050406030204" pitchFamily="18" charset="0"/>
                  </a:rPr>
                  <a:t>$y^2=\alpha^2x+(\alpha^3-2\alpha^2)$</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the locus is a part of </a:t>
                </a:r>
                <a:r>
                  <a:rPr lang="en-IN" sz="2400">
                    <a:solidFill>
                      <a:srgbClr val="111827"/>
                    </a:solidFill>
                    <a:latin typeface="Cambria Math" panose="02040503050406030204" pitchFamily="18" charset="0"/>
                  </a:rPr>
                  <a:t>$y^2=4x$</a:t>
                </a:r>
                <a:r>
                  <a:rPr sz="2400" b="0">
                    <a:solidFill>
                      <a:srgbClr val="111827"/>
                    </a:solidFill>
                    <a:latin typeface="Arial"/>
                  </a:rPr>
                  <a:t>, so comparing: </a:t>
                </a:r>
                <a:r>
                  <a:rPr lang="en-IN" sz="2400">
                    <a:solidFill>
                      <a:srgbClr val="111827"/>
                    </a:solidFill>
                    <a:latin typeface="Cambria Math" panose="02040503050406030204" pitchFamily="18" charset="0"/>
                  </a:rPr>
                  <a:t>$\alpha^2=4$</a:t>
                </a:r>
                <a:r>
                  <a:rPr sz="2400" b="0">
                    <a:solidFill>
                      <a:srgbClr val="111827"/>
                    </a:solidFill>
                    <a:latin typeface="Arial"/>
                  </a:rPr>
                  <a:t> and </a:t>
                </a:r>
                <a:r>
                  <a:rPr lang="en-IN" sz="2400">
                    <a:solidFill>
                      <a:srgbClr val="111827"/>
                    </a:solidFill>
                    <a:latin typeface="Cambria Math" panose="02040503050406030204" pitchFamily="18" charset="0"/>
                  </a:rPr>
                  <a:t>$\alpha^3-2\alpha^2=0$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second gives </a:t>
                </a:r>
                <a:r>
                  <a:rPr lang="en-IN" sz="2400">
                    <a:solidFill>
                      <a:srgbClr val="111827"/>
                    </a:solidFill>
                    <a:latin typeface="Cambria Math" panose="02040503050406030204" pitchFamily="18" charset="0"/>
                  </a:rPr>
                  <a:t>$\alpha=2$</a:t>
                </a:r>
                <a:r>
                  <a:rPr sz="2400" b="0">
                    <a:solidFill>
                      <a:srgbClr val="111827"/>
                    </a:solidFill>
                    <a:latin typeface="Arial"/>
                  </a:rPr>
                  <a:t> (or </a:t>
                </a:r>
                <a:r>
                  <a:rPr lang="en-IN" sz="2400">
                    <a:solidFill>
                      <a:srgbClr val="111827"/>
                    </a:solidFill>
                    <a:latin typeface="Cambria Math" panose="02040503050406030204" pitchFamily="18" charset="0"/>
                  </a:rPr>
                  <a:t>$0$</a:t>
                </a:r>
                <a:r>
                  <a:rPr sz="2400" b="0">
                    <a:solidFill>
                      <a:srgbClr val="111827"/>
                    </a:solidFill>
                    <a:latin typeface="Arial"/>
                  </a:rPr>
                  <a:t>), and with </a:t>
                </a:r>
                <a:r>
                  <a:rPr lang="en-IN" sz="2400">
                    <a:solidFill>
                      <a:srgbClr val="111827"/>
                    </a:solidFill>
                    <a:latin typeface="Cambria Math" panose="02040503050406030204" pitchFamily="18" charset="0"/>
                  </a:rPr>
                  <a:t>$\alpha^2=4$</a:t>
                </a:r>
                <a:r>
                  <a:rPr sz="2400" b="0">
                    <a:solidFill>
                      <a:srgbClr val="111827"/>
                    </a:solidFill>
                    <a:latin typeface="Arial"/>
                  </a:rPr>
                  <a:t> we get </a:t>
                </a:r>
                <a:r>
                  <a:rPr lang="en-IN" sz="2400">
                    <a:solidFill>
                      <a:srgbClr val="111827"/>
                    </a:solidFill>
                    <a:latin typeface="Cambria Math" panose="02040503050406030204" pitchFamily="18" charset="0"/>
                  </a:rPr>
                  <a:t>$\alpha=2$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α</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$\alpha=2$</a:t>
                </a:r>
                <a:endParaRPr sz="2800">
                  <a:solidFill>
                    <a:srgbClr val="15803D"/>
                  </a:solidFill>
                </a:endParaRPr>
              </a:p>
            </p:txBody>
          </p:sp>
        </mc:Fallback>
      </mc:AlternateContent>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a point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on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𝑥</m:t>
                    </m:r>
                  </m:oMath>
                </a14:m>
                <a:r>
                  <a:rPr sz="2400" b="0">
                    <a:solidFill>
                      <a:srgbClr val="78350F"/>
                    </a:solidFill>
                    <a:latin typeface="Arial"/>
                  </a:rPr>
                  <a:t> one normal is the normal at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itself; the other two feet have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𝑖</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𝑗</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so those two slopes multiply to a constant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a point </a:t>
                </a:r>
                <a:r>
                  <a:rPr lang="en-IN" sz="2400">
                    <a:solidFill>
                      <a:srgbClr val="78350F"/>
                    </a:solidFill>
                    <a:latin typeface="Cambria Math" panose="02040503050406030204" pitchFamily="18" charset="0"/>
                  </a:rPr>
                  <a:t>$P$</a:t>
                </a:r>
                <a:r>
                  <a:rPr sz="2400" b="0">
                    <a:solidFill>
                      <a:srgbClr val="78350F"/>
                    </a:solidFill>
                    <a:latin typeface="Arial"/>
                  </a:rPr>
                  <a:t> on </a:t>
                </a:r>
                <a:r>
                  <a:rPr lang="en-IN" sz="2400">
                    <a:solidFill>
                      <a:srgbClr val="78350F"/>
                    </a:solidFill>
                    <a:latin typeface="Cambria Math" panose="02040503050406030204" pitchFamily="18" charset="0"/>
                  </a:rPr>
                  <a:t>$y^2=4x$</a:t>
                </a:r>
                <a:r>
                  <a:rPr sz="2400" b="0">
                    <a:solidFill>
                      <a:srgbClr val="78350F"/>
                    </a:solidFill>
                    <a:latin typeface="Arial"/>
                  </a:rPr>
                  <a:t> one normal is the normal at </a:t>
                </a:r>
                <a:r>
                  <a:rPr lang="en-IN" sz="2400">
                    <a:solidFill>
                      <a:srgbClr val="78350F"/>
                    </a:solidFill>
                    <a:latin typeface="Cambria Math" panose="02040503050406030204" pitchFamily="18" charset="0"/>
                  </a:rPr>
                  <a:t>$P$</a:t>
                </a:r>
                <a:r>
                  <a:rPr sz="2400" b="0">
                    <a:solidFill>
                      <a:srgbClr val="78350F"/>
                    </a:solidFill>
                    <a:latin typeface="Arial"/>
                  </a:rPr>
                  <a:t> itself; the other two feet have </a:t>
                </a:r>
                <a:r>
                  <a:rPr lang="en-IN" sz="2400">
                    <a:solidFill>
                      <a:srgbClr val="78350F"/>
                    </a:solidFill>
                    <a:latin typeface="Cambria Math" panose="02040503050406030204" pitchFamily="18" charset="0"/>
                  </a:rPr>
                  <a:t>$t_it_j=2$</a:t>
                </a:r>
                <a:r>
                  <a:rPr sz="2400" b="0">
                    <a:solidFill>
                      <a:srgbClr val="78350F"/>
                    </a:solidFill>
                    <a:latin typeface="Arial"/>
                  </a:rPr>
                  <a:t>, so those two slopes multiply to a constant </a:t>
                </a:r>
                <a:r>
                  <a:rPr lang="en-IN" sz="2400">
                    <a:solidFill>
                      <a:srgbClr val="78350F"/>
                    </a:solidFill>
                    <a:latin typeface="Cambria Math" panose="02040503050406030204" pitchFamily="18" charset="0"/>
                  </a:rPr>
                  <a:t>$2$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Normals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have feet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(slopes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𝑠</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lies on the parabola, the normal at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passes through it: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oMath>
                </a14:m>
                <a:r>
                  <a:rPr sz="2400" b="0">
                    <a:solidFill>
                      <a:srgbClr val="111827"/>
                    </a:solidFill>
                    <a:latin typeface="Arial"/>
                  </a:rPr>
                  <a:t>, and the other two feet satisfy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relation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product of those two feet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and the product of their slopes is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independent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Normals from </a:t>
                </a:r>
                <a:r>
                  <a:rPr lang="en-IN" sz="2400">
                    <a:solidFill>
                      <a:srgbClr val="111827"/>
                    </a:solidFill>
                    <a:latin typeface="Cambria Math" panose="02040503050406030204" pitchFamily="18" charset="0"/>
                  </a:rPr>
                  <a:t>$(h,k)$</a:t>
                </a:r>
                <a:r>
                  <a:rPr sz="2400" b="0">
                    <a:solidFill>
                      <a:srgbClr val="111827"/>
                    </a:solidFill>
                    <a:latin typeface="Arial"/>
                  </a:rPr>
                  <a:t> have feet </a:t>
                </a:r>
                <a:r>
                  <a:rPr lang="en-IN" sz="2400">
                    <a:solidFill>
                      <a:srgbClr val="111827"/>
                    </a:solidFill>
                    <a:latin typeface="Cambria Math" panose="02040503050406030204" pitchFamily="18" charset="0"/>
                  </a:rPr>
                  <a:t>$t_i$</a:t>
                </a:r>
                <a:r>
                  <a:rPr sz="2400" b="0">
                    <a:solidFill>
                      <a:srgbClr val="111827"/>
                    </a:solidFill>
                    <a:latin typeface="Arial"/>
                  </a:rPr>
                  <a:t> with </a:t>
                </a:r>
                <a:r>
                  <a:rPr lang="en-IN" sz="2400">
                    <a:solidFill>
                      <a:srgbClr val="111827"/>
                    </a:solidFill>
                    <a:latin typeface="Cambria Math" panose="02040503050406030204" pitchFamily="18" charset="0"/>
                  </a:rPr>
                  <a:t>$t_1+t_2+t_3=0$</a:t>
                </a:r>
                <a:r>
                  <a:rPr sz="2400" b="0">
                    <a:solidFill>
                      <a:srgbClr val="111827"/>
                    </a:solidFill>
                    <a:latin typeface="Arial"/>
                  </a:rPr>
                  <a:t>, </a:t>
                </a:r>
                <a:r>
                  <a:rPr lang="en-IN" sz="2400">
                    <a:solidFill>
                      <a:srgbClr val="111827"/>
                    </a:solidFill>
                    <a:latin typeface="Cambria Math" panose="02040503050406030204" pitchFamily="18" charset="0"/>
                  </a:rPr>
                  <a:t>$\sum t_it_j=2-h$</a:t>
                </a:r>
                <a:r>
                  <a:rPr sz="2400" b="0">
                    <a:solidFill>
                      <a:srgbClr val="111827"/>
                    </a:solidFill>
                    <a:latin typeface="Arial"/>
                  </a:rPr>
                  <a:t> and </a:t>
                </a:r>
                <a:r>
                  <a:rPr lang="en-IN" sz="2400">
                    <a:solidFill>
                      <a:srgbClr val="111827"/>
                    </a:solidFill>
                    <a:latin typeface="Cambria Math" panose="02040503050406030204" pitchFamily="18" charset="0"/>
                  </a:rPr>
                  <a:t>$t_1t_2t_3=k$</a:t>
                </a:r>
                <a:r>
                  <a:rPr sz="2400" b="0">
                    <a:solidFill>
                      <a:srgbClr val="111827"/>
                    </a:solidFill>
                    <a:latin typeface="Arial"/>
                  </a:rPr>
                  <a:t> (slopes </a:t>
                </a:r>
                <a:r>
                  <a:rPr lang="en-IN" sz="2400">
                    <a:solidFill>
                      <a:srgbClr val="111827"/>
                    </a:solidFill>
                    <a:latin typeface="Cambria Math" panose="02040503050406030204" pitchFamily="18" charset="0"/>
                  </a:rPr>
                  <a:t>$m_i=-t_i$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$P(s^2,2s)$</a:t>
                </a:r>
                <a:r>
                  <a:rPr sz="2400" b="0">
                    <a:solidFill>
                      <a:srgbClr val="111827"/>
                    </a:solidFill>
                    <a:latin typeface="Arial"/>
                  </a:rPr>
                  <a:t> lies on the parabola, the normal at </a:t>
                </a:r>
                <a:r>
                  <a:rPr lang="en-IN" sz="2400">
                    <a:solidFill>
                      <a:srgbClr val="111827"/>
                    </a:solidFill>
                    <a:latin typeface="Cambria Math" panose="02040503050406030204" pitchFamily="18" charset="0"/>
                  </a:rPr>
                  <a:t>$s$</a:t>
                </a:r>
                <a:r>
                  <a:rPr sz="2400" b="0">
                    <a:solidFill>
                      <a:srgbClr val="111827"/>
                    </a:solidFill>
                    <a:latin typeface="Arial"/>
                  </a:rPr>
                  <a:t> passes through it: </a:t>
                </a:r>
                <a:r>
                  <a:rPr lang="en-IN" sz="2400">
                    <a:solidFill>
                      <a:srgbClr val="111827"/>
                    </a:solidFill>
                    <a:latin typeface="Cambria Math" panose="02040503050406030204" pitchFamily="18" charset="0"/>
                  </a:rPr>
                  <a:t>$t_3=s$</a:t>
                </a:r>
                <a:r>
                  <a:rPr sz="2400" b="0">
                    <a:solidFill>
                      <a:srgbClr val="111827"/>
                    </a:solidFill>
                    <a:latin typeface="Arial"/>
                  </a:rPr>
                  <a:t>, and the other two feet satisfy </a:t>
                </a:r>
                <a:r>
                  <a:rPr lang="en-IN" sz="2400">
                    <a:solidFill>
                      <a:srgbClr val="111827"/>
                    </a:solidFill>
                    <a:latin typeface="Cambria Math" panose="02040503050406030204" pitchFamily="18" charset="0"/>
                  </a:rPr>
                  <a:t>$t^2+st+2=0$</a:t>
                </a:r>
                <a:r>
                  <a:rPr sz="2400" b="0">
                    <a:solidFill>
                      <a:srgbClr val="111827"/>
                    </a:solidFill>
                    <a:latin typeface="Arial"/>
                  </a:rPr>
                  <a:t> (the relation </a:t>
                </a:r>
                <a:r>
                  <a:rPr lang="en-IN" sz="2400">
                    <a:solidFill>
                      <a:srgbClr val="111827"/>
                    </a:solidFill>
                    <a:latin typeface="Cambria Math" panose="02040503050406030204" pitchFamily="18" charset="0"/>
                  </a:rPr>
                  <a:t>$t_i^2+t_it_j+2=0$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product of those two feet is </a:t>
                </a:r>
                <a:r>
                  <a:rPr lang="en-IN" sz="2400">
                    <a:solidFill>
                      <a:srgbClr val="111827"/>
                    </a:solidFill>
                    <a:latin typeface="Cambria Math" panose="02040503050406030204" pitchFamily="18" charset="0"/>
                  </a:rPr>
                  <a:t>$2$</a:t>
                </a:r>
                <a:r>
                  <a:rPr sz="2400" b="0">
                    <a:solidFill>
                      <a:srgbClr val="111827"/>
                    </a:solidFill>
                    <a:latin typeface="Arial"/>
                  </a:rPr>
                  <a:t>, and the product of their slopes is </a:t>
                </a:r>
                <a:r>
                  <a:rPr lang="en-IN" sz="2400">
                    <a:solidFill>
                      <a:srgbClr val="111827"/>
                    </a:solidFill>
                    <a:latin typeface="Cambria Math" panose="02040503050406030204" pitchFamily="18" charset="0"/>
                  </a:rPr>
                  <a:t>$m_1m_2=t_1t_2=2$</a:t>
                </a:r>
                <a:r>
                  <a:rPr sz="2400" b="0">
                    <a:solidFill>
                      <a:srgbClr val="111827"/>
                    </a:solidFill>
                    <a:latin typeface="Arial"/>
                  </a:rPr>
                  <a:t>, independent of </a:t>
                </a:r>
                <a:r>
                  <a:rPr lang="en-IN" sz="2400">
                    <a:solidFill>
                      <a:srgbClr val="111827"/>
                    </a:solidFill>
                    <a:latin typeface="Cambria Math" panose="02040503050406030204" pitchFamily="18" charset="0"/>
                  </a:rPr>
                  <a:t>$P$</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the locus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 can lie along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only for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(2):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exactly.</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the locus </a:t>
                </a:r>
                <a:r>
                  <a:rPr lang="en-IN" sz="2400">
                    <a:solidFill>
                      <a:srgbClr val="111827"/>
                    </a:solidFill>
                    <a:latin typeface="Cambria Math" panose="02040503050406030204" pitchFamily="18" charset="0"/>
                  </a:rPr>
                  <a:t>$m_1m_2=\alpha$</a:t>
                </a:r>
                <a:r>
                  <a:rPr sz="2400" b="0">
                    <a:solidFill>
                      <a:srgbClr val="111827"/>
                    </a:solidFill>
                    <a:latin typeface="Arial"/>
                  </a:rPr>
                  <a:t> can lie along </a:t>
                </a:r>
                <a:r>
                  <a:rPr lang="en-IN" sz="2400">
                    <a:solidFill>
                      <a:srgbClr val="111827"/>
                    </a:solidFill>
                    <a:latin typeface="Cambria Math" panose="02040503050406030204" pitchFamily="18" charset="0"/>
                  </a:rPr>
                  <a:t>$y^2=4x$</a:t>
                </a:r>
                <a:r>
                  <a:rPr sz="2400" b="0">
                    <a:solidFill>
                      <a:srgbClr val="111827"/>
                    </a:solidFill>
                    <a:latin typeface="Arial"/>
                  </a:rPr>
                  <a:t> only for </a:t>
                </a:r>
                <a:r>
                  <a:rPr lang="en-IN" sz="2400">
                    <a:solidFill>
                      <a:srgbClr val="111827"/>
                    </a:solidFill>
                    <a:latin typeface="Cambria Math" panose="02040503050406030204" pitchFamily="18" charset="0"/>
                  </a:rPr>
                  <a:t>$\alpha=2$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(2): </a:t>
                </a:r>
                <a:r>
                  <a:rPr lang="en-IN" sz="2400">
                    <a:solidFill>
                      <a:srgbClr val="111827"/>
                    </a:solidFill>
                    <a:latin typeface="Cambria Math" panose="02040503050406030204" pitchFamily="18" charset="0"/>
                  </a:rPr>
                  <a:t>$\alpha=2$</a:t>
                </a:r>
                <a:r>
                  <a:rPr sz="2400" b="0">
                    <a:solidFill>
                      <a:srgbClr val="111827"/>
                    </a:solidFill>
                    <a:latin typeface="Arial"/>
                  </a:rPr>
                  <a:t> gives </a:t>
                </a:r>
                <a:r>
                  <a:rPr lang="en-IN" sz="2400">
                    <a:solidFill>
                      <a:srgbClr val="111827"/>
                    </a:solidFill>
                    <a:latin typeface="Cambria Math" panose="02040503050406030204" pitchFamily="18" charset="0"/>
                  </a:rPr>
                  <a:t>$y^2=4x+(8-8)=4x$</a:t>
                </a:r>
                <a:r>
                  <a:rPr sz="2400" b="0">
                    <a:solidFill>
                      <a:srgbClr val="111827"/>
                    </a:solidFill>
                    <a:latin typeface="Arial"/>
                  </a:rPr>
                  <a:t> exactly.</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α</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$\alpha=2$</a:t>
                </a:r>
                <a:endParaRPr sz="2800">
                  <a:solidFill>
                    <a:srgbClr val="15803D"/>
                  </a:solidFill>
                </a:endParaRPr>
              </a:p>
            </p:txBody>
          </p:sp>
        </mc:Fallback>
      </mc:AlternateContent>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with slope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it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three normal slopes satisfy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Normals from a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of the parabola: one is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the other two have feet with product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(so slopes with product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for which two normals have slopes with a fixed product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to </a:t>
                </a:r>
                <a:r>
                  <a:rPr lang="en-IN" sz="2400">
                    <a:solidFill>
                      <a:srgbClr val="111827"/>
                    </a:solidFill>
                    <a:latin typeface="Cambria Math" panose="02040503050406030204" pitchFamily="18" charset="0"/>
                  </a:rPr>
                  <a:t>$y^2=4x$</a:t>
                </a:r>
                <a:r>
                  <a:rPr sz="2400" b="0">
                    <a:solidFill>
                      <a:srgbClr val="111827"/>
                    </a:solidFill>
                    <a:latin typeface="Arial"/>
                  </a:rPr>
                  <a:t> with slope </a:t>
                </a:r>
                <a:r>
                  <a:rPr lang="en-IN" sz="2400">
                    <a:solidFill>
                      <a:srgbClr val="111827"/>
                    </a:solidFill>
                    <a:latin typeface="Cambria Math" panose="02040503050406030204" pitchFamily="18" charset="0"/>
                  </a:rPr>
                  <a:t>$m$</a:t>
                </a:r>
                <a:r>
                  <a:rPr sz="2400" b="0">
                    <a:solidFill>
                      <a:srgbClr val="111827"/>
                    </a:solidFill>
                    <a:latin typeface="Arial"/>
                  </a:rPr>
                  <a:t> is </a:t>
                </a:r>
                <a:r>
                  <a:rPr lang="en-IN" sz="2400">
                    <a:solidFill>
                      <a:srgbClr val="111827"/>
                    </a:solidFill>
                    <a:latin typeface="Cambria Math" panose="02040503050406030204" pitchFamily="18" charset="0"/>
                  </a:rPr>
                  <a:t>$y=mx-2m-m^3$</a:t>
                </a:r>
                <a:r>
                  <a:rPr sz="2400" b="0">
                    <a:solidFill>
                      <a:srgbClr val="111827"/>
                    </a:solidFill>
                    <a:latin typeface="Arial"/>
                  </a:rPr>
                  <a:t>; for </a:t>
                </a:r>
                <a:r>
                  <a:rPr lang="en-IN" sz="2400">
                    <a:solidFill>
                      <a:srgbClr val="111827"/>
                    </a:solidFill>
                    <a:latin typeface="Cambria Math" panose="02040503050406030204" pitchFamily="18" charset="0"/>
                  </a:rPr>
                  <a:t>$y^2=4ax$</a:t>
                </a:r>
                <a:r>
                  <a:rPr sz="2400" b="0">
                    <a:solidFill>
                      <a:srgbClr val="111827"/>
                    </a:solidFill>
                    <a:latin typeface="Arial"/>
                  </a:rPr>
                  <a:t> it is </a:t>
                </a:r>
                <a:r>
                  <a:rPr lang="en-IN" sz="2400">
                    <a:solidFill>
                      <a:srgbClr val="111827"/>
                    </a:solidFill>
                    <a:latin typeface="Cambria Math" panose="02040503050406030204" pitchFamily="18" charset="0"/>
                  </a:rPr>
                  <a:t>$y=mx-2am-am^3$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 point </a:t>
                </a:r>
                <a:r>
                  <a:rPr lang="en-IN" sz="2400">
                    <a:solidFill>
                      <a:srgbClr val="111827"/>
                    </a:solidFill>
                    <a:latin typeface="Cambria Math" panose="02040503050406030204" pitchFamily="18" charset="0"/>
                  </a:rPr>
                  <a:t>$(h,k)$</a:t>
                </a:r>
                <a:r>
                  <a:rPr sz="2400" b="0">
                    <a:solidFill>
                      <a:srgbClr val="111827"/>
                    </a:solidFill>
                    <a:latin typeface="Arial"/>
                  </a:rPr>
                  <a:t> the three normal slopes satisfy </a:t>
                </a:r>
                <a:r>
                  <a:rPr lang="en-IN" sz="2400">
                    <a:solidFill>
                      <a:srgbClr val="111827"/>
                    </a:solidFill>
                    <a:latin typeface="Cambria Math" panose="02040503050406030204" pitchFamily="18" charset="0"/>
                  </a:rPr>
                  <a:t>$m_1+m_2+m_3=0$</a:t>
                </a:r>
                <a:r>
                  <a:rPr sz="2400" b="0">
                    <a:solidFill>
                      <a:srgbClr val="111827"/>
                    </a:solidFill>
                    <a:latin typeface="Arial"/>
                  </a:rPr>
                  <a:t>, </a:t>
                </a:r>
                <a:r>
                  <a:rPr lang="en-IN" sz="2400">
                    <a:solidFill>
                      <a:srgbClr val="111827"/>
                    </a:solidFill>
                    <a:latin typeface="Cambria Math" panose="02040503050406030204" pitchFamily="18" charset="0"/>
                  </a:rPr>
                  <a:t>$\sum m_im_j=2a-h$</a:t>
                </a:r>
                <a:r>
                  <a:rPr sz="2400" b="0">
                    <a:solidFill>
                      <a:srgbClr val="111827"/>
                    </a:solidFill>
                    <a:latin typeface="Arial"/>
                  </a:rPr>
                  <a:t>, </a:t>
                </a:r>
                <a:r>
                  <a:rPr lang="en-IN" sz="2400">
                    <a:solidFill>
                      <a:srgbClr val="111827"/>
                    </a:solidFill>
                    <a:latin typeface="Cambria Math" panose="02040503050406030204" pitchFamily="18" charset="0"/>
                  </a:rPr>
                  <a:t>$m_1m_2m_3=-k$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Normals from a point </a:t>
                </a:r>
                <a:r>
                  <a:rPr lang="en-IN" sz="2400">
                    <a:solidFill>
                      <a:srgbClr val="111827"/>
                    </a:solidFill>
                    <a:latin typeface="Cambria Math" panose="02040503050406030204" pitchFamily="18" charset="0"/>
                  </a:rPr>
                  <a:t>$P$</a:t>
                </a:r>
                <a:r>
                  <a:rPr sz="2400" b="0">
                    <a:solidFill>
                      <a:srgbClr val="111827"/>
                    </a:solidFill>
                    <a:latin typeface="Arial"/>
                  </a:rPr>
                  <a:t> of the parabola: one is at </a:t>
                </a:r>
                <a:r>
                  <a:rPr lang="en-IN" sz="2400">
                    <a:solidFill>
                      <a:srgbClr val="111827"/>
                    </a:solidFill>
                    <a:latin typeface="Cambria Math" panose="02040503050406030204" pitchFamily="18" charset="0"/>
                  </a:rPr>
                  <a:t>$P$</a:t>
                </a:r>
                <a:r>
                  <a:rPr sz="2400" b="0">
                    <a:solidFill>
                      <a:srgbClr val="111827"/>
                    </a:solidFill>
                    <a:latin typeface="Arial"/>
                  </a:rPr>
                  <a:t>, the other two have feet with product </a:t>
                </a:r>
                <a:r>
                  <a:rPr lang="en-IN" sz="2400">
                    <a:solidFill>
                      <a:srgbClr val="111827"/>
                    </a:solidFill>
                    <a:latin typeface="Cambria Math" panose="02040503050406030204" pitchFamily="18" charset="0"/>
                  </a:rPr>
                  <a:t>$2$</a:t>
                </a:r>
                <a:r>
                  <a:rPr sz="2400" b="0">
                    <a:solidFill>
                      <a:srgbClr val="111827"/>
                    </a:solidFill>
                    <a:latin typeface="Arial"/>
                  </a:rPr>
                  <a:t> (so slopes with product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of </a:t>
                </a:r>
                <a:r>
                  <a:rPr lang="en-IN" sz="2400">
                    <a:solidFill>
                      <a:srgbClr val="111827"/>
                    </a:solidFill>
                    <a:latin typeface="Cambria Math" panose="02040503050406030204" pitchFamily="18" charset="0"/>
                  </a:rPr>
                  <a:t>$P$</a:t>
                </a:r>
                <a:r>
                  <a:rPr sz="2400" b="0">
                    <a:solidFill>
                      <a:srgbClr val="111827"/>
                    </a:solidFill>
                    <a:latin typeface="Arial"/>
                  </a:rPr>
                  <a:t> for which two normals have slopes with a fixed product </a:t>
                </a:r>
                <a:r>
                  <a:rPr lang="en-IN" sz="2400">
                    <a:solidFill>
                      <a:srgbClr val="111827"/>
                    </a:solidFill>
                    <a:latin typeface="Cambria Math" panose="02040503050406030204" pitchFamily="18" charset="0"/>
                  </a:rPr>
                  <a:t>$\alpha$</a:t>
                </a:r>
                <a:r>
                  <a:rPr sz="2400" b="0">
                    <a:solidFill>
                      <a:srgbClr val="111827"/>
                    </a:solidFill>
                    <a:latin typeface="Arial"/>
                  </a:rPr>
                  <a:t>: </a:t>
                </a:r>
                <a:r>
                  <a:rPr lang="en-IN" sz="2400">
                    <a:solidFill>
                      <a:srgbClr val="111827"/>
                    </a:solidFill>
                    <a:latin typeface="Cambria Math" panose="02040503050406030204" pitchFamily="18" charset="0"/>
                  </a:rPr>
                  <a:t>$y^2=\alpha^2(x-2+\alpha)$</a:t>
                </a:r>
                <a:r>
                  <a:rPr sz="2400" b="0">
                    <a:solidFill>
                      <a:srgbClr val="111827"/>
                    </a:solidFill>
                    <a:latin typeface="Arial"/>
                  </a:rPr>
                  <a:t> for </a:t>
                </a:r>
                <a:r>
                  <a:rPr lang="en-IN" sz="2400">
                    <a:solidFill>
                      <a:srgbClr val="111827"/>
                    </a:solidFill>
                    <a:latin typeface="Cambria Math" panose="02040503050406030204" pitchFamily="18" charset="0"/>
                  </a:rPr>
                  <a:t>$y^2=4x$</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𝐺</m:t>
                    </m:r>
                  </m:oMath>
                </a14:m>
                <a:r>
                  <a:rPr sz="2400" b="0">
                    <a:solidFill>
                      <a:srgbClr val="111827"/>
                    </a:solidFill>
                    <a:latin typeface="Arial"/>
                  </a:rPr>
                  <a:t> is the normal to a standard ellipse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being on the major axis. </a:t>
                </a:r>
                <a14:m>
                  <m:oMath xmlns:m="http://schemas.openxmlformats.org/officeDocument/2006/math">
                    <m:r>
                      <a:rPr lang="en-IN" sz="2400" i="1">
                        <a:solidFill>
                          <a:srgbClr val="111827"/>
                        </a:solidFill>
                        <a:latin typeface="Cambria Math" panose="02040503050406030204" pitchFamily="18" charset="0"/>
                      </a:rPr>
                      <m:t>𝐺</m:t>
                    </m:r>
                    <m:r>
                      <a:rPr lang="en-IN" sz="2400" i="1">
                        <a:solidFill>
                          <a:srgbClr val="111827"/>
                        </a:solidFill>
                        <a:latin typeface="Cambria Math" panose="02040503050406030204" pitchFamily="18" charset="0"/>
                      </a:rPr>
                      <m:t>𝑃</m:t>
                    </m:r>
                  </m:oMath>
                </a14:m>
                <a:r>
                  <a:rPr sz="2400" b="0">
                    <a:solidFill>
                      <a:srgbClr val="111827"/>
                    </a:solidFill>
                    <a:latin typeface="Arial"/>
                  </a:rPr>
                  <a:t> is produced outwards to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so that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𝐺</m:t>
                    </m:r>
                    <m:r>
                      <a:rPr lang="en-IN" sz="2400" i="1">
                        <a:solidFill>
                          <a:srgbClr val="111827"/>
                        </a:solidFill>
                        <a:latin typeface="Cambria Math" panose="02040503050406030204" pitchFamily="18" charset="0"/>
                      </a:rPr>
                      <m:t>𝑃</m:t>
                    </m:r>
                  </m:oMath>
                </a14:m>
                <a:r>
                  <a:rPr sz="2400" b="0">
                    <a:solidFill>
                      <a:srgbClr val="111827"/>
                    </a:solidFill>
                    <a:latin typeface="Arial"/>
                  </a:rPr>
                  <a:t>. Show that the locus of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is an ellipse whose eccentricity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$PG$</a:t>
                </a:r>
                <a:r>
                  <a:rPr sz="2400" b="0">
                    <a:solidFill>
                      <a:srgbClr val="111827"/>
                    </a:solidFill>
                    <a:latin typeface="Arial"/>
                  </a:rPr>
                  <a:t> is the normal to a standard ellipse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$G$</a:t>
                </a:r>
                <a:r>
                  <a:rPr sz="2400" b="0">
                    <a:solidFill>
                      <a:srgbClr val="111827"/>
                    </a:solidFill>
                    <a:latin typeface="Arial"/>
                  </a:rPr>
                  <a:t> being on the major axis. </a:t>
                </a:r>
                <a:r>
                  <a:rPr lang="en-IN" sz="2400">
                    <a:solidFill>
                      <a:srgbClr val="111827"/>
                    </a:solidFill>
                    <a:latin typeface="Cambria Math" panose="02040503050406030204" pitchFamily="18" charset="0"/>
                  </a:rPr>
                  <a:t>$GP$</a:t>
                </a:r>
                <a:r>
                  <a:rPr sz="2400" b="0">
                    <a:solidFill>
                      <a:srgbClr val="111827"/>
                    </a:solidFill>
                    <a:latin typeface="Arial"/>
                  </a:rPr>
                  <a:t> is produced outwards to </a:t>
                </a:r>
                <a:r>
                  <a:rPr lang="en-IN" sz="2400">
                    <a:solidFill>
                      <a:srgbClr val="111827"/>
                    </a:solidFill>
                    <a:latin typeface="Cambria Math" panose="02040503050406030204" pitchFamily="18" charset="0"/>
                  </a:rPr>
                  <a:t>$Q$</a:t>
                </a:r>
                <a:r>
                  <a:rPr sz="2400" b="0">
                    <a:solidFill>
                      <a:srgbClr val="111827"/>
                    </a:solidFill>
                    <a:latin typeface="Arial"/>
                  </a:rPr>
                  <a:t> so that </a:t>
                </a:r>
                <a:r>
                  <a:rPr lang="en-IN" sz="2400">
                    <a:solidFill>
                      <a:srgbClr val="111827"/>
                    </a:solidFill>
                    <a:latin typeface="Cambria Math" panose="02040503050406030204" pitchFamily="18" charset="0"/>
                  </a:rPr>
                  <a:t>$PQ=GP$</a:t>
                </a:r>
                <a:r>
                  <a:rPr sz="2400" b="0">
                    <a:solidFill>
                      <a:srgbClr val="111827"/>
                    </a:solidFill>
                    <a:latin typeface="Arial"/>
                  </a:rPr>
                  <a:t>. Show that the locus of </a:t>
                </a:r>
                <a:r>
                  <a:rPr lang="en-IN" sz="2400">
                    <a:solidFill>
                      <a:srgbClr val="111827"/>
                    </a:solidFill>
                    <a:latin typeface="Cambria Math" panose="02040503050406030204" pitchFamily="18" charset="0"/>
                  </a:rPr>
                  <a:t>$Q$</a:t>
                </a:r>
                <a:r>
                  <a:rPr sz="2400" b="0">
                    <a:solidFill>
                      <a:srgbClr val="111827"/>
                    </a:solidFill>
                    <a:latin typeface="Arial"/>
                  </a:rPr>
                  <a:t> is an ellipse whose eccentricity is </a:t>
                </a:r>
                <a:r>
                  <a:rPr lang="en-IN" sz="2400">
                    <a:solidFill>
                      <a:srgbClr val="111827"/>
                    </a:solidFill>
                    <a:latin typeface="Cambria Math" panose="02040503050406030204" pitchFamily="18" charset="0"/>
                  </a:rPr>
                  <a:t>$\frac{a^2-b^2}{a^2+b^2}$</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626611"/>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 to an ellipse (point on the major axis), Locus of a point defined by a midpoint relation (ellipse eccentricity)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the midpoint of </a:t>
                </a:r>
                <a14:m>
                  <m:oMath xmlns:m="http://schemas.openxmlformats.org/officeDocument/2006/math">
                    <m:r>
                      <a:rPr lang="en-IN" sz="2400" i="1">
                        <a:solidFill>
                          <a:srgbClr val="78350F"/>
                        </a:solidFill>
                        <a:latin typeface="Cambria Math" panose="02040503050406030204" pitchFamily="18" charset="0"/>
                      </a:rPr>
                      <m:t>𝐺</m:t>
                    </m:r>
                    <m:r>
                      <a:rPr lang="en-IN" sz="2400" i="1">
                        <a:solidFill>
                          <a:srgbClr val="78350F"/>
                        </a:solidFill>
                        <a:latin typeface="Cambria Math" panose="02040503050406030204" pitchFamily="18" charset="0"/>
                      </a:rPr>
                      <m:t>𝑄</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𝐺</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has coordinates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θ</m:t>
                        </m:r>
                      </m:e>
                    </m:d>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$P$</a:t>
                </a:r>
                <a:r>
                  <a:rPr sz="2400" b="0">
                    <a:solidFill>
                      <a:srgbClr val="78350F"/>
                    </a:solidFill>
                    <a:latin typeface="Arial"/>
                  </a:rPr>
                  <a:t> is the midpoint of </a:t>
                </a:r>
                <a:r>
                  <a:rPr lang="en-IN" sz="2400">
                    <a:solidFill>
                      <a:srgbClr val="78350F"/>
                    </a:solidFill>
                    <a:latin typeface="Cambria Math" panose="02040503050406030204" pitchFamily="18" charset="0"/>
                  </a:rPr>
                  <a:t>$GQ$</a:t>
                </a:r>
                <a:r>
                  <a:rPr sz="2400" b="0">
                    <a:solidFill>
                      <a:srgbClr val="78350F"/>
                    </a:solidFill>
                    <a:latin typeface="Arial"/>
                  </a:rPr>
                  <a:t> and </a:t>
                </a:r>
                <a:r>
                  <a:rPr lang="en-IN" sz="2400">
                    <a:solidFill>
                      <a:srgbClr val="78350F"/>
                    </a:solidFill>
                    <a:latin typeface="Cambria Math" panose="02040503050406030204" pitchFamily="18" charset="0"/>
                  </a:rPr>
                  <a:t>$G=(ae^2\cos\theta,0)$</a:t>
                </a:r>
                <a:r>
                  <a:rPr sz="2400" b="0">
                    <a:solidFill>
                      <a:srgbClr val="78350F"/>
                    </a:solidFill>
                    <a:latin typeface="Arial"/>
                  </a:rPr>
                  <a:t>, so </a:t>
                </a:r>
                <a:r>
                  <a:rPr lang="en-IN" sz="2400">
                    <a:solidFill>
                      <a:srgbClr val="78350F"/>
                    </a:solidFill>
                    <a:latin typeface="Cambria Math" panose="02040503050406030204" pitchFamily="18" charset="0"/>
                  </a:rPr>
                  <a:t>$Q$</a:t>
                </a:r>
                <a:r>
                  <a:rPr sz="2400" b="0">
                    <a:solidFill>
                      <a:srgbClr val="78350F"/>
                    </a:solidFill>
                    <a:latin typeface="Arial"/>
                  </a:rPr>
                  <a:t> has coordinates </a:t>
                </a:r>
                <a:r>
                  <a:rPr lang="en-IN" sz="2400">
                    <a:solidFill>
                      <a:srgbClr val="78350F"/>
                    </a:solidFill>
                    <a:latin typeface="Cambria Math" panose="02040503050406030204" pitchFamily="18" charset="0"/>
                  </a:rPr>
                  <a:t>$\left(a(2-e^2)\cos\theta,\ 2b\sin\theta\right)$</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cosec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(since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midpoint of </a:t>
                </a:r>
                <a14:m>
                  <m:oMath xmlns:m="http://schemas.openxmlformats.org/officeDocument/2006/math">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𝐺</m:t>
                    </m:r>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𝐺</m:t>
                    </m:r>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beyond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$P(a\cos\theta,b\sin\theta)$</a:t>
                </a:r>
                <a:r>
                  <a:rPr sz="2400" b="0">
                    <a:solidFill>
                      <a:srgbClr val="111827"/>
                    </a:solidFill>
                    <a:latin typeface="Arial"/>
                  </a:rPr>
                  <a:t>: </a:t>
                </a:r>
                <a:r>
                  <a:rPr lang="en-IN" sz="2400">
                    <a:solidFill>
                      <a:srgbClr val="111827"/>
                    </a:solidFill>
                    <a:latin typeface="Cambria Math" panose="02040503050406030204" pitchFamily="18" charset="0"/>
                  </a:rPr>
                  <a:t>$ax\sec\theta-by\operatorname{cosec}\theta=a^2e^2$</a:t>
                </a:r>
                <a:r>
                  <a:rPr sz="2400" b="0">
                    <a:solidFill>
                      <a:srgbClr val="111827"/>
                    </a:solidFill>
                    <a:latin typeface="Arial"/>
                  </a:rPr>
                  <a:t> (since </a:t>
                </a:r>
                <a:r>
                  <a:rPr lang="en-IN" sz="2400">
                    <a:solidFill>
                      <a:srgbClr val="111827"/>
                    </a:solidFill>
                    <a:latin typeface="Cambria Math" panose="02040503050406030204" pitchFamily="18" charset="0"/>
                  </a:rPr>
                  <a:t>$a^2-b^2=a^2e^2$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$y=0$</a:t>
                </a:r>
                <a:r>
                  <a:rPr sz="2400" b="0">
                    <a:solidFill>
                      <a:srgbClr val="111827"/>
                    </a:solidFill>
                    <a:latin typeface="Arial"/>
                  </a:rPr>
                  <a:t>: </a:t>
                </a:r>
                <a:r>
                  <a:rPr lang="en-IN" sz="2400">
                    <a:solidFill>
                      <a:srgbClr val="111827"/>
                    </a:solidFill>
                    <a:latin typeface="Cambria Math" panose="02040503050406030204" pitchFamily="18" charset="0"/>
                  </a:rPr>
                  <a:t>$x=ae^2\cos\theta$</a:t>
                </a:r>
                <a:r>
                  <a:rPr sz="2400" b="0">
                    <a:solidFill>
                      <a:srgbClr val="111827"/>
                    </a:solidFill>
                    <a:latin typeface="Arial"/>
                  </a:rPr>
                  <a:t>, so </a:t>
                </a:r>
                <a:r>
                  <a:rPr lang="en-IN" sz="2400">
                    <a:solidFill>
                      <a:srgbClr val="111827"/>
                    </a:solidFill>
                    <a:latin typeface="Cambria Math" panose="02040503050406030204" pitchFamily="18" charset="0"/>
                  </a:rPr>
                  <a:t>$G\equiv(ae^2\cos\theta,0)$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$Q=(h,k)$</a:t>
                </a:r>
                <a:r>
                  <a:rPr sz="2400" b="0">
                    <a:solidFill>
                      <a:srgbClr val="111827"/>
                    </a:solidFill>
                    <a:latin typeface="Arial"/>
                  </a:rPr>
                  <a:t>. </a:t>
                </a:r>
                <a:r>
                  <a:rPr lang="en-IN" sz="2400">
                    <a:solidFill>
                      <a:srgbClr val="111827"/>
                    </a:solidFill>
                    <a:latin typeface="Cambria Math" panose="02040503050406030204" pitchFamily="18" charset="0"/>
                  </a:rPr>
                  <a:t>$P$</a:t>
                </a:r>
                <a:r>
                  <a:rPr sz="2400" b="0">
                    <a:solidFill>
                      <a:srgbClr val="111827"/>
                    </a:solidFill>
                    <a:latin typeface="Arial"/>
                  </a:rPr>
                  <a:t> is the midpoint of </a:t>
                </a:r>
                <a:r>
                  <a:rPr lang="en-IN" sz="2400">
                    <a:solidFill>
                      <a:srgbClr val="111827"/>
                    </a:solidFill>
                    <a:latin typeface="Cambria Math" panose="02040503050406030204" pitchFamily="18" charset="0"/>
                  </a:rPr>
                  <a:t>$QG$</a:t>
                </a:r>
                <a:r>
                  <a:rPr sz="2400" b="0">
                    <a:solidFill>
                      <a:srgbClr val="111827"/>
                    </a:solidFill>
                    <a:latin typeface="Arial"/>
                  </a:rPr>
                  <a:t> (as </a:t>
                </a:r>
                <a:r>
                  <a:rPr lang="en-IN" sz="2400">
                    <a:solidFill>
                      <a:srgbClr val="111827"/>
                    </a:solidFill>
                    <a:latin typeface="Cambria Math" panose="02040503050406030204" pitchFamily="18" charset="0"/>
                  </a:rPr>
                  <a:t>$PQ=GP$</a:t>
                </a:r>
                <a:r>
                  <a:rPr sz="2400" b="0">
                    <a:solidFill>
                      <a:srgbClr val="111827"/>
                    </a:solidFill>
                    <a:latin typeface="Arial"/>
                  </a:rPr>
                  <a:t>, </a:t>
                </a:r>
                <a:r>
                  <a:rPr lang="en-IN" sz="2400">
                    <a:solidFill>
                      <a:srgbClr val="111827"/>
                    </a:solidFill>
                    <a:latin typeface="Cambria Math" panose="02040503050406030204" pitchFamily="18" charset="0"/>
                  </a:rPr>
                  <a:t>$Q$</a:t>
                </a:r>
                <a:r>
                  <a:rPr sz="2400" b="0">
                    <a:solidFill>
                      <a:srgbClr val="111827"/>
                    </a:solidFill>
                    <a:latin typeface="Arial"/>
                  </a:rPr>
                  <a:t> beyond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$a\cos\theta=\frac{h+ae^2\cos\theta}{2}$</a:t>
                </a:r>
                <a:r>
                  <a:rPr sz="2400" b="0">
                    <a:solidFill>
                      <a:srgbClr val="111827"/>
                    </a:solidFill>
                    <a:latin typeface="Arial"/>
                  </a:rPr>
                  <a:t> and </a:t>
                </a:r>
                <a:r>
                  <a:rPr lang="en-IN" sz="2400">
                    <a:solidFill>
                      <a:srgbClr val="111827"/>
                    </a:solidFill>
                    <a:latin typeface="Cambria Math" panose="02040503050406030204" pitchFamily="18" charset="0"/>
                  </a:rPr>
                  <a:t>$b\sin\theta=\frac{k}{2}$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$h=(2a-ae^2)\cos\theta=a(2-e^2)\cos\theta$</a:t>
                </a:r>
                <a:r>
                  <a:rPr sz="2400" b="0">
                    <a:solidFill>
                      <a:srgbClr val="111827"/>
                    </a:solidFill>
                    <a:latin typeface="Arial"/>
                  </a:rPr>
                  <a:t> and </a:t>
                </a:r>
                <a:r>
                  <a:rPr lang="en-IN" sz="2400">
                    <a:solidFill>
                      <a:srgbClr val="111827"/>
                    </a:solidFill>
                    <a:latin typeface="Cambria Math" panose="02040503050406030204" pitchFamily="18" charset="0"/>
                  </a:rPr>
                  <a:t>$\sin\theta=\frac{k}{2b}$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Using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 an ellipse.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its semi-axes are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(along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because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𝐸</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Using </a:t>
                </a:r>
                <a:r>
                  <a:rPr lang="en-IN" sz="2400">
                    <a:solidFill>
                      <a:srgbClr val="111827"/>
                    </a:solidFill>
                    <a:latin typeface="Cambria Math" panose="02040503050406030204" pitchFamily="18" charset="0"/>
                  </a:rPr>
                  <a:t>$\cos^2\theta+\sin^2\theta=1$</a:t>
                </a:r>
                <a:r>
                  <a:rPr sz="2400" b="0">
                    <a:solidFill>
                      <a:srgbClr val="111827"/>
                    </a:solidFill>
                    <a:latin typeface="Arial"/>
                  </a:rPr>
                  <a:t>: </a:t>
                </a:r>
                <a:r>
                  <a:rPr lang="en-IN" sz="2400">
                    <a:solidFill>
                      <a:srgbClr val="111827"/>
                    </a:solidFill>
                    <a:latin typeface="Cambria Math" panose="02040503050406030204" pitchFamily="18" charset="0"/>
                  </a:rPr>
                  <a:t>$\frac{h^2}{a^2(2-e^2)^2}+\frac{k^2}{4b^2}=1$</a:t>
                </a:r>
                <a:r>
                  <a:rPr sz="2400" b="0">
                    <a:solidFill>
                      <a:srgbClr val="111827"/>
                    </a:solidFill>
                    <a:latin typeface="Arial"/>
                  </a:rPr>
                  <a:t> - an ellipse.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$2-e^2=\frac{a^2+b^2}{a^2}$</a:t>
                </a:r>
                <a:r>
                  <a:rPr sz="2400" b="0">
                    <a:solidFill>
                      <a:srgbClr val="111827"/>
                    </a:solidFill>
                    <a:latin typeface="Arial"/>
                  </a:rPr>
                  <a:t>, its semi-axes are </a:t>
                </a:r>
                <a:r>
                  <a:rPr lang="en-IN" sz="2400">
                    <a:solidFill>
                      <a:srgbClr val="111827"/>
                    </a:solidFill>
                    <a:latin typeface="Cambria Math" panose="02040503050406030204" pitchFamily="18" charset="0"/>
                  </a:rPr>
                  <a:t>$A=\frac{a^2+b^2}{a}$</a:t>
                </a:r>
                <a:r>
                  <a:rPr sz="2400" b="0">
                    <a:solidFill>
                      <a:srgbClr val="111827"/>
                    </a:solidFill>
                    <a:latin typeface="Arial"/>
                  </a:rPr>
                  <a:t> (along </a:t>
                </a:r>
                <a:r>
                  <a:rPr lang="en-IN" sz="2400">
                    <a:solidFill>
                      <a:srgbClr val="111827"/>
                    </a:solidFill>
                    <a:latin typeface="Cambria Math" panose="02040503050406030204" pitchFamily="18" charset="0"/>
                  </a:rPr>
                  <a:t>$x$</a:t>
                </a:r>
                <a:r>
                  <a:rPr sz="2400" b="0">
                    <a:solidFill>
                      <a:srgbClr val="111827"/>
                    </a:solidFill>
                    <a:latin typeface="Arial"/>
                  </a:rPr>
                  <a:t>) and </a:t>
                </a:r>
                <a:r>
                  <a:rPr lang="en-IN" sz="2400">
                    <a:solidFill>
                      <a:srgbClr val="111827"/>
                    </a:solidFill>
                    <a:latin typeface="Cambria Math" panose="02040503050406030204" pitchFamily="18" charset="0"/>
                  </a:rPr>
                  <a:t>$B=2b$</a:t>
                </a:r>
                <a:r>
                  <a:rPr sz="2400" b="0">
                    <a:solidFill>
                      <a:srgbClr val="111827"/>
                    </a:solidFill>
                    <a:latin typeface="Arial"/>
                  </a:rPr>
                  <a:t>, with </a:t>
                </a:r>
                <a:r>
                  <a:rPr lang="en-IN" sz="2400">
                    <a:solidFill>
                      <a:srgbClr val="111827"/>
                    </a:solidFill>
                    <a:latin typeface="Cambria Math" panose="02040503050406030204" pitchFamily="18" charset="0"/>
                  </a:rPr>
                  <a:t>$A\ge B$</a:t>
                </a:r>
                <a:r>
                  <a:rPr sz="2400" b="0">
                    <a:solidFill>
                      <a:srgbClr val="111827"/>
                    </a:solidFill>
                    <a:latin typeface="Arial"/>
                  </a:rPr>
                  <a:t> because </a:t>
                </a:r>
                <a:r>
                  <a:rPr lang="en-IN" sz="2400">
                    <a:solidFill>
                      <a:srgbClr val="111827"/>
                    </a:solidFill>
                    <a:latin typeface="Cambria Math" panose="02040503050406030204" pitchFamily="18" charset="0"/>
                  </a:rPr>
                  <a:t>$a^2+b^2\ge2ab$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$E^2=1-\frac{B^2}{A^2}=1-\frac{4a^2b^2}{(a^2+b^2)^2}=\frac{(a^2+b^2)^2-4a^2b^2}{(a^2+b^2)^2}=\frac{(a^2-b^2)^2}{(a^2+b^2)^2}$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$E=\frac{a^2-b^2}{a^2+b^2}$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Locus is an ellipse with eccentricity </a:t>
                </a:r>
                <a14:m>
                  <m:oMath xmlns:m="http://schemas.openxmlformats.org/officeDocument/2006/math">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num>
                      <m:den>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Locus is an ellipse with eccentricity </a:t>
                </a:r>
                <a:r>
                  <a:rPr lang="en-IN" sz="2800">
                    <a:solidFill>
                      <a:srgbClr val="15803D"/>
                    </a:solidFill>
                    <a:latin typeface="Cambria Math" panose="02040503050406030204" pitchFamily="18" charset="0"/>
                  </a:rPr>
                  <a:t>$\frac{a^2-b^2}{a^2+b^2}$</a:t>
                </a:r>
                <a:endParaRPr sz="2800">
                  <a:solidFill>
                    <a:srgbClr val="15803D"/>
                  </a:solidFill>
                </a:endParaRPr>
              </a:p>
            </p:txBody>
          </p:sp>
        </mc:Fallback>
      </mc:AlternateContent>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14:m>
                  <m:oMath xmlns:m="http://schemas.openxmlformats.org/officeDocument/2006/math">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𝐺</m:t>
                    </m:r>
                  </m:oMath>
                </a14:m>
                <a:r>
                  <a:rPr sz="2400" b="0">
                    <a:solidFill>
                      <a:srgbClr val="78350F"/>
                    </a:solidFill>
                    <a:latin typeface="Arial"/>
                  </a:rPr>
                  <a:t> is the image of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under the axis-scaling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because </a:t>
                </a:r>
                <a14:m>
                  <m:oMath xmlns:m="http://schemas.openxmlformats.org/officeDocument/2006/math">
                    <m:r>
                      <a:rPr lang="en-IN" sz="2400" i="1">
                        <a:solidFill>
                          <a:srgbClr val="78350F"/>
                        </a:solidFill>
                        <a:latin typeface="Cambria Math" panose="02040503050406030204" pitchFamily="18" charset="0"/>
                      </a:rPr>
                      <m:t>𝐺</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2</m:t>
                        </m:r>
                      </m:sup>
                    </m:sSup>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𝑃</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the locus is the ellipse with semi-axes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𝑏</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lang="en-IN" sz="2400">
                    <a:solidFill>
                      <a:srgbClr val="78350F"/>
                    </a:solidFill>
                    <a:latin typeface="Cambria Math" panose="02040503050406030204" pitchFamily="18" charset="0"/>
                  </a:rPr>
                  <a:t>$Q=2P-G$</a:t>
                </a:r>
                <a:r>
                  <a:rPr sz="2400" b="0">
                    <a:solidFill>
                      <a:srgbClr val="78350F"/>
                    </a:solidFill>
                    <a:latin typeface="Arial"/>
                  </a:rPr>
                  <a:t> is the image of </a:t>
                </a:r>
                <a:r>
                  <a:rPr lang="en-IN" sz="2400">
                    <a:solidFill>
                      <a:srgbClr val="78350F"/>
                    </a:solidFill>
                    <a:latin typeface="Cambria Math" panose="02040503050406030204" pitchFamily="18" charset="0"/>
                  </a:rPr>
                  <a:t>$P$</a:t>
                </a:r>
                <a:r>
                  <a:rPr sz="2400" b="0">
                    <a:solidFill>
                      <a:srgbClr val="78350F"/>
                    </a:solidFill>
                    <a:latin typeface="Arial"/>
                  </a:rPr>
                  <a:t> under the axis-scaling </a:t>
                </a:r>
                <a:r>
                  <a:rPr lang="en-IN" sz="2400">
                    <a:solidFill>
                      <a:srgbClr val="78350F"/>
                    </a:solidFill>
                    <a:latin typeface="Cambria Math" panose="02040503050406030204" pitchFamily="18" charset="0"/>
                  </a:rPr>
                  <a:t>$(x,y)\mapsto((2-e^2)x,\ 2y)$</a:t>
                </a:r>
                <a:r>
                  <a:rPr sz="2400" b="0">
                    <a:solidFill>
                      <a:srgbClr val="78350F"/>
                    </a:solidFill>
                    <a:latin typeface="Arial"/>
                  </a:rPr>
                  <a:t>, because </a:t>
                </a:r>
                <a:r>
                  <a:rPr lang="en-IN" sz="2400">
                    <a:solidFill>
                      <a:srgbClr val="78350F"/>
                    </a:solidFill>
                    <a:latin typeface="Cambria Math" panose="02040503050406030204" pitchFamily="18" charset="0"/>
                  </a:rPr>
                  <a:t>$G=(e^2x_P,0)$</a:t>
                </a:r>
                <a:r>
                  <a:rPr sz="2400" b="0">
                    <a:solidFill>
                      <a:srgbClr val="78350F"/>
                    </a:solidFill>
                    <a:latin typeface="Arial"/>
                  </a:rPr>
                  <a:t>; so the locus is the ellipse with semi-axes </a:t>
                </a:r>
                <a:r>
                  <a:rPr lang="en-IN" sz="2400">
                    <a:solidFill>
                      <a:srgbClr val="78350F"/>
                    </a:solidFill>
                    <a:latin typeface="Cambria Math" panose="02040503050406030204" pitchFamily="18" charset="0"/>
                  </a:rPr>
                  <a:t>$(2-e^2)a$</a:t>
                </a:r>
                <a:r>
                  <a:rPr sz="2400" b="0">
                    <a:solidFill>
                      <a:srgbClr val="78350F"/>
                    </a:solidFill>
                    <a:latin typeface="Arial"/>
                  </a:rPr>
                  <a:t> and </a:t>
                </a:r>
                <a:r>
                  <a:rPr lang="en-IN" sz="2400">
                    <a:solidFill>
                      <a:srgbClr val="78350F"/>
                    </a:solidFill>
                    <a:latin typeface="Cambria Math" panose="02040503050406030204" pitchFamily="18" charset="0"/>
                  </a:rPr>
                  <a:t>$2b$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the ellipse the normal meets the major axis at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midpoint of </a:t>
                </a:r>
                <a14:m>
                  <m:oMath xmlns:m="http://schemas.openxmlformats.org/officeDocument/2006/math">
                    <m:r>
                      <a:rPr lang="en-IN" sz="2400" i="1">
                        <a:solidFill>
                          <a:srgbClr val="111827"/>
                        </a:solidFill>
                        <a:latin typeface="Cambria Math" panose="02040503050406030204" pitchFamily="18" charset="0"/>
                      </a:rPr>
                      <m:t>𝐺</m:t>
                    </m:r>
                    <m:r>
                      <a:rPr lang="en-IN" sz="2400" i="1">
                        <a:solidFill>
                          <a:srgbClr val="111827"/>
                        </a:solidFill>
                        <a:latin typeface="Cambria Math" panose="02040503050406030204" pitchFamily="18" charset="0"/>
                      </a:rPr>
                      <m:t>𝑄</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𝑃</m:t>
                            </m:r>
                          </m:sub>
                        </m:sSub>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is the image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under the scaling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oMath>
                </a14:m>
                <a:r>
                  <a:rPr sz="2400" b="0">
                    <a:solidFill>
                      <a:srgbClr val="111827"/>
                    </a:solidFill>
                    <a:latin typeface="Arial"/>
                  </a:rPr>
                  <a:t>; the image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$P(x_P,y_P)$</a:t>
                </a:r>
                <a:r>
                  <a:rPr sz="2400" b="0">
                    <a:solidFill>
                      <a:srgbClr val="111827"/>
                    </a:solidFill>
                    <a:latin typeface="Arial"/>
                  </a:rPr>
                  <a:t> on the ellipse the normal meets the major axis at </a:t>
                </a:r>
                <a:r>
                  <a:rPr lang="en-IN" sz="2400">
                    <a:solidFill>
                      <a:srgbClr val="111827"/>
                    </a:solidFill>
                    <a:latin typeface="Cambria Math" panose="02040503050406030204" pitchFamily="18" charset="0"/>
                  </a:rPr>
                  <a:t>$G=(e^2x_P,0)$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$P$</a:t>
                </a:r>
                <a:r>
                  <a:rPr sz="2400" b="0">
                    <a:solidFill>
                      <a:srgbClr val="111827"/>
                    </a:solidFill>
                    <a:latin typeface="Arial"/>
                  </a:rPr>
                  <a:t> is the midpoint of </a:t>
                </a:r>
                <a:r>
                  <a:rPr lang="en-IN" sz="2400">
                    <a:solidFill>
                      <a:srgbClr val="111827"/>
                    </a:solidFill>
                    <a:latin typeface="Cambria Math" panose="02040503050406030204" pitchFamily="18" charset="0"/>
                  </a:rPr>
                  <a:t>$GQ$</a:t>
                </a:r>
                <a:r>
                  <a:rPr sz="2400" b="0">
                    <a:solidFill>
                      <a:srgbClr val="111827"/>
                    </a:solidFill>
                    <a:latin typeface="Arial"/>
                  </a:rPr>
                  <a:t>: </a:t>
                </a:r>
                <a:r>
                  <a:rPr lang="en-IN" sz="2400">
                    <a:solidFill>
                      <a:srgbClr val="111827"/>
                    </a:solidFill>
                    <a:latin typeface="Cambria Math" panose="02040503050406030204" pitchFamily="18" charset="0"/>
                  </a:rPr>
                  <a:t>$Q=2P-G=\left((2-e^2)x_P,\ 2y_P\right)$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$Q$</a:t>
                </a:r>
                <a:r>
                  <a:rPr sz="2400" b="0">
                    <a:solidFill>
                      <a:srgbClr val="111827"/>
                    </a:solidFill>
                    <a:latin typeface="Arial"/>
                  </a:rPr>
                  <a:t> is the image of </a:t>
                </a:r>
                <a:r>
                  <a:rPr lang="en-IN" sz="2400">
                    <a:solidFill>
                      <a:srgbClr val="111827"/>
                    </a:solidFill>
                    <a:latin typeface="Cambria Math" panose="02040503050406030204" pitchFamily="18" charset="0"/>
                  </a:rPr>
                  <a:t>$P$</a:t>
                </a:r>
                <a:r>
                  <a:rPr sz="2400" b="0">
                    <a:solidFill>
                      <a:srgbClr val="111827"/>
                    </a:solidFill>
                    <a:latin typeface="Arial"/>
                  </a:rPr>
                  <a:t> under the scaling </a:t>
                </a:r>
                <a:r>
                  <a:rPr lang="en-IN" sz="2400">
                    <a:solidFill>
                      <a:srgbClr val="111827"/>
                    </a:solidFill>
                    <a:latin typeface="Cambria Math" panose="02040503050406030204" pitchFamily="18" charset="0"/>
                  </a:rPr>
                  <a:t>$x\to(2-e^2)x$</a:t>
                </a:r>
                <a:r>
                  <a:rPr sz="2400" b="0">
                    <a:solidFill>
                      <a:srgbClr val="111827"/>
                    </a:solidFill>
                    <a:latin typeface="Arial"/>
                  </a:rPr>
                  <a:t>, </a:t>
                </a:r>
                <a:r>
                  <a:rPr lang="en-IN" sz="2400">
                    <a:solidFill>
                      <a:srgbClr val="111827"/>
                    </a:solidFill>
                    <a:latin typeface="Cambria Math" panose="02040503050406030204" pitchFamily="18" charset="0"/>
                  </a:rPr>
                  <a:t>$y\to2y$</a:t>
                </a:r>
                <a:r>
                  <a:rPr sz="2400" b="0">
                    <a:solidFill>
                      <a:srgbClr val="111827"/>
                    </a:solidFill>
                    <a:latin typeface="Arial"/>
                  </a:rPr>
                  <a:t>; the image of </a:t>
                </a:r>
                <a:r>
                  <a:rPr lang="en-IN" sz="2400">
                    <a:solidFill>
                      <a:srgbClr val="111827"/>
                    </a:solidFill>
                    <a:latin typeface="Cambria Math" panose="02040503050406030204" pitchFamily="18" charset="0"/>
                  </a:rPr>
                  <a:t>$\frac{x^2}{a^2}+\frac{y^2}{b^2}=1$</a:t>
                </a:r>
                <a:r>
                  <a:rPr sz="2400" b="0">
                    <a:solidFill>
                      <a:srgbClr val="111827"/>
                    </a:solidFill>
                    <a:latin typeface="Arial"/>
                  </a:rPr>
                  <a:t> is </a:t>
                </a:r>
                <a:r>
                  <a:rPr lang="en-IN" sz="2400">
                    <a:solidFill>
                      <a:srgbClr val="111827"/>
                    </a:solidFill>
                    <a:latin typeface="Cambria Math" panose="02040503050406030204" pitchFamily="18" charset="0"/>
                  </a:rPr>
                  <a:t>$\frac{x^2}{a^2(2-e^2)^2}+\frac{y^2}{4b^2}=1$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oMath>
                </a14:m>
                <a:r>
                  <a:rPr sz="2400" b="0">
                    <a:solidFill>
                      <a:srgbClr val="111827"/>
                    </a:solidFill>
                    <a:latin typeface="Arial"/>
                  </a:rPr>
                  <a:t>, so the major semi-axis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and the minor is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𝐸</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$a(2-e^2)=\frac{a^2+b^2}{a}\ge2b$</a:t>
                </a:r>
                <a:r>
                  <a:rPr sz="2400" b="0">
                    <a:solidFill>
                      <a:srgbClr val="111827"/>
                    </a:solidFill>
                    <a:latin typeface="Arial"/>
                  </a:rPr>
                  <a:t>, so the major semi-axis is </a:t>
                </a:r>
                <a:r>
                  <a:rPr lang="en-IN" sz="2400">
                    <a:solidFill>
                      <a:srgbClr val="111827"/>
                    </a:solidFill>
                    <a:latin typeface="Cambria Math" panose="02040503050406030204" pitchFamily="18" charset="0"/>
                  </a:rPr>
                  <a:t>$\frac{a^2+b^2}{a}$</a:t>
                </a:r>
                <a:r>
                  <a:rPr sz="2400" b="0">
                    <a:solidFill>
                      <a:srgbClr val="111827"/>
                    </a:solidFill>
                    <a:latin typeface="Arial"/>
                  </a:rPr>
                  <a:t> and the minor is </a:t>
                </a:r>
                <a:r>
                  <a:rPr lang="en-IN" sz="2400">
                    <a:solidFill>
                      <a:srgbClr val="111827"/>
                    </a:solidFill>
                    <a:latin typeface="Cambria Math" panose="02040503050406030204" pitchFamily="18" charset="0"/>
                  </a:rPr>
                  <a:t>$2b$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$E^2=1-\frac{4a^2b^2}{(a^2+b^2)^2}=\left(\frac{a^2-b^2}{a^2+b^2}\right)^2$</a:t>
                </a:r>
                <a:r>
                  <a:rPr sz="2400" b="0">
                    <a:solidFill>
                      <a:srgbClr val="111827"/>
                    </a:solidFill>
                    <a:latin typeface="Arial"/>
                  </a:rPr>
                  <a:t>, so </a:t>
                </a:r>
                <a:r>
                  <a:rPr lang="en-IN" sz="2400">
                    <a:solidFill>
                      <a:srgbClr val="111827"/>
                    </a:solidFill>
                    <a:latin typeface="Cambria Math" panose="02040503050406030204" pitchFamily="18" charset="0"/>
                  </a:rPr>
                  <a:t>$E=\frac{a^2-b^2}{a^2+b^2}$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Locus is an ellipse with eccentricity </a:t>
                </a:r>
                <a14:m>
                  <m:oMath xmlns:m="http://schemas.openxmlformats.org/officeDocument/2006/math">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num>
                      <m:den>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Locus is an ellipse with eccentricity </a:t>
                </a:r>
                <a:r>
                  <a:rPr lang="en-IN" sz="2800">
                    <a:solidFill>
                      <a:srgbClr val="15803D"/>
                    </a:solidFill>
                    <a:latin typeface="Cambria Math" panose="02040503050406030204" pitchFamily="18" charset="0"/>
                  </a:rPr>
                  <a:t>$\frac{a^2-b^2}{a^2+b^2}$</a:t>
                </a:r>
                <a:endParaRPr sz="2800">
                  <a:solidFill>
                    <a:srgbClr val="15803D"/>
                  </a:solidFill>
                </a:endParaRPr>
              </a:p>
            </p:txBody>
          </p:sp>
        </mc:Fallback>
      </mc:AlternateContent>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meets the major axis at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the subnormal is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linear (axis-scaling) map sends an ellipse to an ellipse; the image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under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𝑦</m:t>
                    </m:r>
                  </m:oMath>
                </a14:m>
                <a:r>
                  <a:rPr sz="2400" b="0">
                    <a:solidFill>
                      <a:srgbClr val="111827"/>
                    </a:solidFill>
                    <a:latin typeface="Arial"/>
                  </a:rPr>
                  <a:t> has semi-axes </a:t>
                </a:r>
                <a14:m>
                  <m:oMath xmlns:m="http://schemas.openxmlformats.org/officeDocument/2006/math">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Eccentricity of an ellipse with semi-axes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den>
                        </m:f>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the identity that makes the eccentricity a perfect square.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at </a:t>
                </a:r>
                <a:r>
                  <a:rPr lang="en-IN" sz="2400">
                    <a:solidFill>
                      <a:srgbClr val="111827"/>
                    </a:solidFill>
                    <a:latin typeface="Cambria Math" panose="02040503050406030204" pitchFamily="18" charset="0"/>
                  </a:rPr>
                  <a:t>$P(x_P,y_P)$</a:t>
                </a:r>
                <a:r>
                  <a:rPr sz="2400" b="0">
                    <a:solidFill>
                      <a:srgbClr val="111827"/>
                    </a:solidFill>
                    <a:latin typeface="Arial"/>
                  </a:rPr>
                  <a:t> to </a:t>
                </a:r>
                <a:r>
                  <a:rPr lang="en-IN" sz="2400">
                    <a:solidFill>
                      <a:srgbClr val="111827"/>
                    </a:solidFill>
                    <a:latin typeface="Cambria Math" panose="02040503050406030204" pitchFamily="18" charset="0"/>
                  </a:rPr>
                  <a:t>$\frac{x^2}{a^2}+\frac{y^2}{b^2}=1$</a:t>
                </a:r>
                <a:r>
                  <a:rPr sz="2400" b="0">
                    <a:solidFill>
                      <a:srgbClr val="111827"/>
                    </a:solidFill>
                    <a:latin typeface="Arial"/>
                  </a:rPr>
                  <a:t> meets the major axis at </a:t>
                </a:r>
                <a:r>
                  <a:rPr lang="en-IN" sz="2400">
                    <a:solidFill>
                      <a:srgbClr val="111827"/>
                    </a:solidFill>
                    <a:latin typeface="Cambria Math" panose="02040503050406030204" pitchFamily="18" charset="0"/>
                  </a:rPr>
                  <a:t>$G=(e^2x_P,0)$</a:t>
                </a:r>
                <a:r>
                  <a:rPr sz="2400" b="0">
                    <a:solidFill>
                      <a:srgbClr val="111827"/>
                    </a:solidFill>
                    <a:latin typeface="Arial"/>
                  </a:rPr>
                  <a:t>, so the subnormal is </a:t>
                </a:r>
                <a:r>
                  <a:rPr lang="en-IN" sz="2400">
                    <a:solidFill>
                      <a:srgbClr val="111827"/>
                    </a:solidFill>
                    <a:latin typeface="Cambria Math" panose="02040503050406030204" pitchFamily="18" charset="0"/>
                  </a:rPr>
                  <a:t>$x_P-e^2x_P=\frac{b^2}{a^2}x_P$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linear (axis-scaling) map sends an ellipse to an ellipse; the image of </a:t>
                </a:r>
                <a:r>
                  <a:rPr lang="en-IN" sz="2400">
                    <a:solidFill>
                      <a:srgbClr val="111827"/>
                    </a:solidFill>
                    <a:latin typeface="Cambria Math" panose="02040503050406030204" pitchFamily="18" charset="0"/>
                  </a:rPr>
                  <a:t>$\frac{x^2}{a^2}+\frac{y^2}{b^2}=1$</a:t>
                </a:r>
                <a:r>
                  <a:rPr sz="2400" b="0">
                    <a:solidFill>
                      <a:srgbClr val="111827"/>
                    </a:solidFill>
                    <a:latin typeface="Arial"/>
                  </a:rPr>
                  <a:t> under </a:t>
                </a:r>
                <a:r>
                  <a:rPr lang="en-IN" sz="2400">
                    <a:solidFill>
                      <a:srgbClr val="111827"/>
                    </a:solidFill>
                    <a:latin typeface="Cambria Math" panose="02040503050406030204" pitchFamily="18" charset="0"/>
                  </a:rPr>
                  <a:t>$x\to px,\ y\to qy$</a:t>
                </a:r>
                <a:r>
                  <a:rPr sz="2400" b="0">
                    <a:solidFill>
                      <a:srgbClr val="111827"/>
                    </a:solidFill>
                    <a:latin typeface="Arial"/>
                  </a:rPr>
                  <a:t> has semi-axes </a:t>
                </a:r>
                <a:r>
                  <a:rPr lang="en-IN" sz="2400">
                    <a:solidFill>
                      <a:srgbClr val="111827"/>
                    </a:solidFill>
                    <a:latin typeface="Cambria Math" panose="02040503050406030204" pitchFamily="18" charset="0"/>
                  </a:rPr>
                  <a:t>$pa,\ qb$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Eccentricity of an ellipse with semi-axes </a:t>
                </a:r>
                <a:r>
                  <a:rPr lang="en-IN" sz="2400">
                    <a:solidFill>
                      <a:srgbClr val="111827"/>
                    </a:solidFill>
                    <a:latin typeface="Cambria Math" panose="02040503050406030204" pitchFamily="18" charset="0"/>
                  </a:rPr>
                  <a:t>$A\ge B$</a:t>
                </a:r>
                <a:r>
                  <a:rPr sz="2400" b="0">
                    <a:solidFill>
                      <a:srgbClr val="111827"/>
                    </a:solidFill>
                    <a:latin typeface="Arial"/>
                  </a:rPr>
                  <a:t>: </a:t>
                </a:r>
                <a:r>
                  <a:rPr lang="en-IN" sz="2400">
                    <a:solidFill>
                      <a:srgbClr val="111827"/>
                    </a:solidFill>
                    <a:latin typeface="Cambria Math" panose="02040503050406030204" pitchFamily="18" charset="0"/>
                  </a:rPr>
                  <a:t>$E=\sqrt{1-\frac{B^2}{A^2}}$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$\left(a^2+b^2\right)^2-4a^2b^2=(a^2-b^2)^2$</a:t>
                </a:r>
                <a:r>
                  <a:rPr sz="2400" b="0">
                    <a:solidFill>
                      <a:srgbClr val="111827"/>
                    </a:solidFill>
                    <a:latin typeface="Arial"/>
                  </a:rPr>
                  <a:t> is the identity that makes the eccentricity a perfect square.</a:t>
                </a:r>
                <a:endParaRPr sz="2400">
                  <a:solidFill>
                    <a:srgbClr val="111827"/>
                  </a:solidFill>
                </a:endParaRPr>
              </a:p>
            </p:txBody>
          </p:sp>
        </mc:Fallback>
      </mc:AlternateContent>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091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normal inclined at </a:t>
                </a:r>
                <a14:m>
                  <m:oMath xmlns:m="http://schemas.openxmlformats.org/officeDocument/2006/math">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to the axis of the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drawn. It meets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and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in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respectively. If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is the centre of the ellipse, show that the area of triangle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sq. units.</a:t>
                </a:r>
                <a:endParaRPr sz="2400">
                  <a:solidFill>
                    <a:srgbClr val="111827"/>
                  </a:solidFill>
                </a:endParaRPr>
              </a:p>
            </p:txBody>
          </p:sp>
        </mc:Choice>
        <mc:Fallback>
          <p:sp>
            <p:nvSpPr>
              <p:cNvPr id="4" name="Rounded Rectangle 3"/>
              <p:cNvSpPr/>
              <p:nvPr/>
            </p:nvSpPr>
            <p:spPr>
              <a:xfrm>
                <a:off x="731520" y="1280160"/>
                <a:ext cx="10725912" cy="27091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normal inclined at </a:t>
                </a:r>
                <a:r>
                  <a:rPr lang="en-IN" sz="2400">
                    <a:solidFill>
                      <a:srgbClr val="111827"/>
                    </a:solidFill>
                    <a:latin typeface="Cambria Math" panose="02040503050406030204" pitchFamily="18" charset="0"/>
                  </a:rPr>
                  <a:t>$45^\circ$</a:t>
                </a:r>
                <a:r>
                  <a:rPr sz="2400" b="0">
                    <a:solidFill>
                      <a:srgbClr val="111827"/>
                    </a:solidFill>
                    <a:latin typeface="Arial"/>
                  </a:rPr>
                  <a:t> to the axis of the ellipse </a:t>
                </a:r>
                <a:r>
                  <a:rPr lang="en-IN" sz="2400">
                    <a:solidFill>
                      <a:srgbClr val="111827"/>
                    </a:solidFill>
                    <a:latin typeface="Cambria Math" panose="02040503050406030204" pitchFamily="18" charset="0"/>
                  </a:rPr>
                  <a:t>$\frac{x^2}{a^2}+\frac{y^2}{b^2}=1$</a:t>
                </a:r>
                <a:r>
                  <a:rPr sz="2400" b="0">
                    <a:solidFill>
                      <a:srgbClr val="111827"/>
                    </a:solidFill>
                    <a:latin typeface="Arial"/>
                  </a:rPr>
                  <a:t> is drawn. It meets the </a:t>
                </a:r>
                <a:r>
                  <a:rPr lang="en-IN" sz="2400">
                    <a:solidFill>
                      <a:srgbClr val="111827"/>
                    </a:solidFill>
                    <a:latin typeface="Cambria Math" panose="02040503050406030204" pitchFamily="18" charset="0"/>
                  </a:rPr>
                  <a:t>$x$</a:t>
                </a:r>
                <a:r>
                  <a:rPr sz="2400" b="0">
                    <a:solidFill>
                      <a:srgbClr val="111827"/>
                    </a:solidFill>
                    <a:latin typeface="Arial"/>
                  </a:rPr>
                  <a:t>-axis and the </a:t>
                </a:r>
                <a:r>
                  <a:rPr lang="en-IN" sz="2400">
                    <a:solidFill>
                      <a:srgbClr val="111827"/>
                    </a:solidFill>
                    <a:latin typeface="Cambria Math" panose="02040503050406030204" pitchFamily="18" charset="0"/>
                  </a:rPr>
                  <a:t>$y$</a:t>
                </a:r>
                <a:r>
                  <a:rPr sz="2400" b="0">
                    <a:solidFill>
                      <a:srgbClr val="111827"/>
                    </a:solidFill>
                    <a:latin typeface="Arial"/>
                  </a:rPr>
                  <a:t>-axis in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respectively. If </a:t>
                </a:r>
                <a:r>
                  <a:rPr lang="en-IN" sz="2400">
                    <a:solidFill>
                      <a:srgbClr val="111827"/>
                    </a:solidFill>
                    <a:latin typeface="Cambria Math" panose="02040503050406030204" pitchFamily="18" charset="0"/>
                  </a:rPr>
                  <a:t>$C$</a:t>
                </a:r>
                <a:r>
                  <a:rPr sz="2400" b="0">
                    <a:solidFill>
                      <a:srgbClr val="111827"/>
                    </a:solidFill>
                    <a:latin typeface="Arial"/>
                  </a:rPr>
                  <a:t> is the centre of the ellipse, show that the area of triangle </a:t>
                </a:r>
                <a:r>
                  <a:rPr lang="en-IN" sz="2400">
                    <a:solidFill>
                      <a:srgbClr val="111827"/>
                    </a:solidFill>
                    <a:latin typeface="Cambria Math" panose="02040503050406030204" pitchFamily="18" charset="0"/>
                  </a:rPr>
                  <a:t>$CPQ$</a:t>
                </a:r>
                <a:r>
                  <a:rPr sz="2400" b="0">
                    <a:solidFill>
                      <a:srgbClr val="111827"/>
                    </a:solidFill>
                    <a:latin typeface="Arial"/>
                  </a:rPr>
                  <a:t> is </a:t>
                </a:r>
                <a:r>
                  <a:rPr lang="en-IN" sz="2400">
                    <a:solidFill>
                      <a:srgbClr val="111827"/>
                    </a:solidFill>
                    <a:latin typeface="Cambria Math" panose="02040503050406030204" pitchFamily="18" charset="0"/>
                  </a:rPr>
                  <a:t>$\frac{(a^2-b^2)^2}{2(a^2+b^2)}$</a:t>
                </a:r>
                <a:r>
                  <a:rPr sz="2400" b="0">
                    <a:solidFill>
                      <a:srgbClr val="111827"/>
                    </a:solidFill>
                    <a:latin typeface="Arial"/>
                  </a:rPr>
                  <a:t> sq. units.</a:t>
                </a:r>
                <a:endParaRPr sz="2400">
                  <a:solidFill>
                    <a:srgbClr val="111827"/>
                  </a:solidFill>
                </a:endParaRPr>
              </a:p>
            </p:txBody>
          </p:sp>
        </mc:Fallback>
      </mc:AlternateContent>
      <p:sp>
        <p:nvSpPr>
          <p:cNvPr id="5" name="Rectangle 4"/>
          <p:cNvSpPr/>
          <p:nvPr/>
        </p:nvSpPr>
        <p:spPr>
          <a:xfrm>
            <a:off x="731520" y="4217924"/>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 to an ellipse at an eccentric angle, Area of the triangle formed by the axes and a normal</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normal at </a:t>
                </a:r>
                <a14:m>
                  <m:oMath xmlns:m="http://schemas.openxmlformats.org/officeDocument/2006/math">
                    <m:r>
                      <a:rPr lang="en-IN" sz="2400" i="1">
                        <a:solidFill>
                          <a:srgbClr val="78350F"/>
                        </a:solidFill>
                        <a:latin typeface="Cambria Math" panose="02040503050406030204" pitchFamily="18" charset="0"/>
                      </a:rPr>
                      <m:t>θ</m:t>
                    </m:r>
                  </m:oMath>
                </a14:m>
                <a:r>
                  <a:rPr sz="2400" b="0">
                    <a:solidFill>
                      <a:srgbClr val="78350F"/>
                    </a:solidFill>
                    <a:latin typeface="Arial"/>
                  </a:rPr>
                  <a:t> cuts the axes at distances </a:t>
                </a:r>
                <a14:m>
                  <m:oMath xmlns:m="http://schemas.openxmlformats.org/officeDocument/2006/math">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num>
                      <m:den>
                        <m:r>
                          <a:rPr lang="en-IN" sz="2400" i="1">
                            <a:solidFill>
                              <a:srgbClr val="78350F"/>
                            </a:solidFill>
                            <a:latin typeface="Cambria Math" panose="02040503050406030204" pitchFamily="18" charset="0"/>
                          </a:rPr>
                          <m:t>𝑎</m:t>
                        </m:r>
                      </m:den>
                    </m:f>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a:t>
                </a:r>
                <a14:m>
                  <m:oMath xmlns:m="http://schemas.openxmlformats.org/officeDocument/2006/math">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num>
                      <m:den>
                        <m:r>
                          <a:rPr lang="en-IN" sz="2400" i="1">
                            <a:solidFill>
                              <a:srgbClr val="78350F"/>
                            </a:solidFill>
                            <a:latin typeface="Cambria Math" panose="02040503050406030204" pitchFamily="18" charset="0"/>
                          </a:rPr>
                          <m:t>𝑏</m:t>
                        </m:r>
                      </m:den>
                    </m:f>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slope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gives </a:t>
                </a:r>
                <a14:m>
                  <m:oMath xmlns:m="http://schemas.openxmlformats.org/officeDocument/2006/math">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num>
                      <m:den>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normal at </a:t>
                </a:r>
                <a:r>
                  <a:rPr lang="en-IN" sz="2400">
                    <a:solidFill>
                      <a:srgbClr val="78350F"/>
                    </a:solidFill>
                    <a:latin typeface="Cambria Math" panose="02040503050406030204" pitchFamily="18" charset="0"/>
                  </a:rPr>
                  <a:t>$\theta$</a:t>
                </a:r>
                <a:r>
                  <a:rPr sz="2400" b="0">
                    <a:solidFill>
                      <a:srgbClr val="78350F"/>
                    </a:solidFill>
                    <a:latin typeface="Arial"/>
                  </a:rPr>
                  <a:t> cuts the axes at distances </a:t>
                </a:r>
                <a:r>
                  <a:rPr lang="en-IN" sz="2400">
                    <a:solidFill>
                      <a:srgbClr val="78350F"/>
                    </a:solidFill>
                    <a:latin typeface="Cambria Math" panose="02040503050406030204" pitchFamily="18" charset="0"/>
                  </a:rPr>
                  <a:t>$\frac{a^2-b^2}{a}|\cos\theta|$</a:t>
                </a:r>
                <a:r>
                  <a:rPr sz="2400" b="0">
                    <a:solidFill>
                      <a:srgbClr val="78350F"/>
                    </a:solidFill>
                    <a:latin typeface="Arial"/>
                  </a:rPr>
                  <a:t> and </a:t>
                </a:r>
                <a:r>
                  <a:rPr lang="en-IN" sz="2400">
                    <a:solidFill>
                      <a:srgbClr val="78350F"/>
                    </a:solidFill>
                    <a:latin typeface="Cambria Math" panose="02040503050406030204" pitchFamily="18" charset="0"/>
                  </a:rPr>
                  <a:t>$\frac{a^2-b^2}{b}|\sin\theta|$</a:t>
                </a:r>
                <a:r>
                  <a:rPr sz="2400" b="0">
                    <a:solidFill>
                      <a:srgbClr val="78350F"/>
                    </a:solidFill>
                    <a:latin typeface="Arial"/>
                  </a:rPr>
                  <a:t>; slope </a:t>
                </a:r>
                <a:r>
                  <a:rPr lang="en-IN" sz="2400">
                    <a:solidFill>
                      <a:srgbClr val="78350F"/>
                    </a:solidFill>
                    <a:latin typeface="Cambria Math" panose="02040503050406030204" pitchFamily="18" charset="0"/>
                  </a:rPr>
                  <a:t>$\pm1$</a:t>
                </a:r>
                <a:r>
                  <a:rPr sz="2400" b="0">
                    <a:solidFill>
                      <a:srgbClr val="78350F"/>
                    </a:solidFill>
                    <a:latin typeface="Arial"/>
                  </a:rPr>
                  <a:t> gives </a:t>
                </a:r>
                <a:r>
                  <a:rPr lang="en-IN" sz="2400">
                    <a:solidFill>
                      <a:srgbClr val="78350F"/>
                    </a:solidFill>
                    <a:latin typeface="Cambria Math" panose="02040503050406030204" pitchFamily="18" charset="0"/>
                  </a:rPr>
                  <a:t>$\sin2\theta=\frac{2ab}{a^2+b^2}$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the point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cosec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Putting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0</m:t>
                        </m:r>
                      </m:e>
                    </m:d>
                  </m:oMath>
                </a14:m>
                <a:r>
                  <a:rPr sz="2400" b="0">
                    <a:solidFill>
                      <a:srgbClr val="111827"/>
                    </a:solidFill>
                    <a:latin typeface="Arial"/>
                  </a:rPr>
                  <a:t>. Putting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right-angled at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den>
                    </m:f>
                  </m:oMath>
                </a14:m>
                <a:r>
                  <a:rPr sz="2400" b="0">
                    <a:solidFill>
                      <a:srgbClr val="111827"/>
                    </a:solidFill>
                    <a:latin typeface="Arial"/>
                  </a:rPr>
                  <a:t> ....(1).</a:t>
                </a:r>
                <a:endParaRPr sz="2400">
                  <a:solidFill>
                    <a:srgbClr val="111827"/>
                  </a:solidFill>
                </a:endParaRPr>
              </a:p>
            </p:txBody>
          </p:sp>
        </mc:Choice>
        <mc:Fallback>
          <p:sp>
            <p:nvSpPr>
              <p:cNvPr id="5" name="Rectangle 4"/>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the point </a:t>
                </a:r>
                <a:r>
                  <a:rPr lang="en-IN" sz="2400">
                    <a:solidFill>
                      <a:srgbClr val="111827"/>
                    </a:solidFill>
                    <a:latin typeface="Cambria Math" panose="02040503050406030204" pitchFamily="18" charset="0"/>
                  </a:rPr>
                  <a:t>$R(a\cos\theta,b\sin\theta)$</a:t>
                </a:r>
                <a:r>
                  <a:rPr sz="2400" b="0">
                    <a:solidFill>
                      <a:srgbClr val="111827"/>
                    </a:solidFill>
                    <a:latin typeface="Arial"/>
                  </a:rPr>
                  <a:t>: </a:t>
                </a:r>
                <a:r>
                  <a:rPr lang="en-IN" sz="2400">
                    <a:solidFill>
                      <a:srgbClr val="111827"/>
                    </a:solidFill>
                    <a:latin typeface="Cambria Math" panose="02040503050406030204" pitchFamily="18" charset="0"/>
                  </a:rPr>
                  <a:t>$ax\sec\theta-by\operatorname{cosec}\theta=a^2-b^2$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Putting </a:t>
                </a:r>
                <a:r>
                  <a:rPr lang="en-IN" sz="2400">
                    <a:solidFill>
                      <a:srgbClr val="111827"/>
                    </a:solidFill>
                    <a:latin typeface="Cambria Math" panose="02040503050406030204" pitchFamily="18" charset="0"/>
                  </a:rPr>
                  <a:t>$y=0$</a:t>
                </a:r>
                <a:r>
                  <a:rPr sz="2400" b="0">
                    <a:solidFill>
                      <a:srgbClr val="111827"/>
                    </a:solidFill>
                    <a:latin typeface="Arial"/>
                  </a:rPr>
                  <a:t>: </a:t>
                </a:r>
                <a:r>
                  <a:rPr lang="en-IN" sz="2400">
                    <a:solidFill>
                      <a:srgbClr val="111827"/>
                    </a:solidFill>
                    <a:latin typeface="Cambria Math" panose="02040503050406030204" pitchFamily="18" charset="0"/>
                  </a:rPr>
                  <a:t>$P\left(\frac{a^2-b^2}{a}\cos\theta,\ 0\right)$</a:t>
                </a:r>
                <a:r>
                  <a:rPr sz="2400" b="0">
                    <a:solidFill>
                      <a:srgbClr val="111827"/>
                    </a:solidFill>
                    <a:latin typeface="Arial"/>
                  </a:rPr>
                  <a:t>. Putting </a:t>
                </a:r>
                <a:r>
                  <a:rPr lang="en-IN" sz="2400">
                    <a:solidFill>
                      <a:srgbClr val="111827"/>
                    </a:solidFill>
                    <a:latin typeface="Cambria Math" panose="02040503050406030204" pitchFamily="18" charset="0"/>
                  </a:rPr>
                  <a:t>$x=0$</a:t>
                </a:r>
                <a:r>
                  <a:rPr sz="2400" b="0">
                    <a:solidFill>
                      <a:srgbClr val="111827"/>
                    </a:solidFill>
                    <a:latin typeface="Arial"/>
                  </a:rPr>
                  <a:t>: </a:t>
                </a:r>
                <a:r>
                  <a:rPr lang="en-IN" sz="2400">
                    <a:solidFill>
                      <a:srgbClr val="111827"/>
                    </a:solidFill>
                    <a:latin typeface="Cambria Math" panose="02040503050406030204" pitchFamily="18" charset="0"/>
                  </a:rPr>
                  <a:t>$Q\left(0,\ -\frac{a^2-b^2}{b}\sin\theta\right)$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$\triangle CPQ$</a:t>
                </a:r>
                <a:r>
                  <a:rPr sz="2400" b="0">
                    <a:solidFill>
                      <a:srgbClr val="111827"/>
                    </a:solidFill>
                    <a:latin typeface="Arial"/>
                  </a:rPr>
                  <a:t> is right-angled at </a:t>
                </a:r>
                <a:r>
                  <a:rPr lang="en-IN" sz="2400">
                    <a:solidFill>
                      <a:srgbClr val="111827"/>
                    </a:solidFill>
                    <a:latin typeface="Cambria Math" panose="02040503050406030204" pitchFamily="18" charset="0"/>
                  </a:rPr>
                  <a:t>$C$</a:t>
                </a:r>
                <a:r>
                  <a:rPr sz="2400" b="0">
                    <a:solidFill>
                      <a:srgbClr val="111827"/>
                    </a:solidFill>
                    <a:latin typeface="Arial"/>
                  </a:rPr>
                  <a:t>: area </a:t>
                </a:r>
                <a:r>
                  <a:rPr lang="en-IN" sz="2400">
                    <a:solidFill>
                      <a:srgbClr val="111827"/>
                    </a:solidFill>
                    <a:latin typeface="Cambria Math" panose="02040503050406030204" pitchFamily="18" charset="0"/>
                  </a:rPr>
                  <a:t>$=\frac12CP\times CQ=\frac{(a^2-b^2)^2\,|\sin\theta\cos\theta|}{2ab}$</a:t>
                </a:r>
                <a:r>
                  <a:rPr sz="2400" b="0">
                    <a:solidFill>
                      <a:srgbClr val="111827"/>
                    </a:solidFill>
                    <a:latin typeface="Arial"/>
                  </a:rPr>
                  <a:t> ....(1).</a:t>
                </a:r>
                <a:endParaRPr sz="2400">
                  <a:solidFill>
                    <a:srgbClr val="111827"/>
                  </a:solidFill>
                </a:endParaRPr>
              </a:p>
            </p:txBody>
          </p:sp>
        </mc:Fallback>
      </mc:AlternateContent>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Slope of the normal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 and it is inclined at </a:t>
                </a:r>
                <a14:m>
                  <m:oMath xmlns:m="http://schemas.openxmlformats.org/officeDocument/2006/math">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slope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only the sign of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 changes).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Put in (1):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Slope of the normal is </a:t>
                </a:r>
                <a:r>
                  <a:rPr lang="en-IN" sz="2400">
                    <a:solidFill>
                      <a:srgbClr val="111827"/>
                    </a:solidFill>
                    <a:latin typeface="Cambria Math" panose="02040503050406030204" pitchFamily="18" charset="0"/>
                  </a:rPr>
                  <a:t>$\frac ab\tan\theta$</a:t>
                </a:r>
                <a:r>
                  <a:rPr sz="2400" b="0">
                    <a:solidFill>
                      <a:srgbClr val="111827"/>
                    </a:solidFill>
                    <a:latin typeface="Arial"/>
                  </a:rPr>
                  <a:t>, and it is inclined at </a:t>
                </a:r>
                <a:r>
                  <a:rPr lang="en-IN" sz="2400">
                    <a:solidFill>
                      <a:srgbClr val="111827"/>
                    </a:solidFill>
                    <a:latin typeface="Cambria Math" panose="02040503050406030204" pitchFamily="18" charset="0"/>
                  </a:rPr>
                  <a:t>$45^\circ$</a:t>
                </a:r>
                <a:r>
                  <a:rPr sz="2400" b="0">
                    <a:solidFill>
                      <a:srgbClr val="111827"/>
                    </a:solidFill>
                    <a:latin typeface="Arial"/>
                  </a:rPr>
                  <a:t>: </a:t>
                </a:r>
                <a:r>
                  <a:rPr lang="en-IN" sz="2400">
                    <a:solidFill>
                      <a:srgbClr val="111827"/>
                    </a:solidFill>
                    <a:latin typeface="Cambria Math" panose="02040503050406030204" pitchFamily="18" charset="0"/>
                  </a:rPr>
                  <a:t>$\frac ab\tan\theta=\tan45^\circ=1$</a:t>
                </a:r>
                <a:r>
                  <a:rPr sz="2400" b="0">
                    <a:solidFill>
                      <a:srgbClr val="111827"/>
                    </a:solidFill>
                    <a:latin typeface="Arial"/>
                  </a:rPr>
                  <a:t> (for slope </a:t>
                </a:r>
                <a:r>
                  <a:rPr lang="en-IN" sz="2400">
                    <a:solidFill>
                      <a:srgbClr val="111827"/>
                    </a:solidFill>
                    <a:latin typeface="Cambria Math" panose="02040503050406030204" pitchFamily="18" charset="0"/>
                  </a:rPr>
                  <a:t>$-1$</a:t>
                </a:r>
                <a:r>
                  <a:rPr sz="2400" b="0">
                    <a:solidFill>
                      <a:srgbClr val="111827"/>
                    </a:solidFill>
                    <a:latin typeface="Arial"/>
                  </a:rPr>
                  <a:t> only the sign of </a:t>
                </a:r>
                <a:r>
                  <a:rPr lang="en-IN" sz="2400">
                    <a:solidFill>
                      <a:srgbClr val="111827"/>
                    </a:solidFill>
                    <a:latin typeface="Cambria Math" panose="02040503050406030204" pitchFamily="18" charset="0"/>
                  </a:rPr>
                  <a:t>$\tan\theta$</a:t>
                </a:r>
                <a:r>
                  <a:rPr sz="2400" b="0">
                    <a:solidFill>
                      <a:srgbClr val="111827"/>
                    </a:solidFill>
                    <a:latin typeface="Arial"/>
                  </a:rPr>
                  <a:t> changes).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$|\tan\theta|=\frac ba$</a:t>
                </a:r>
                <a:r>
                  <a:rPr sz="2400" b="0">
                    <a:solidFill>
                      <a:srgbClr val="111827"/>
                    </a:solidFill>
                    <a:latin typeface="Arial"/>
                  </a:rPr>
                  <a:t> and </a:t>
                </a:r>
                <a:r>
                  <a:rPr lang="en-IN" sz="2400">
                    <a:solidFill>
                      <a:srgbClr val="111827"/>
                    </a:solidFill>
                    <a:latin typeface="Cambria Math" panose="02040503050406030204" pitchFamily="18" charset="0"/>
                  </a:rPr>
                  <a:t>$\sin2\theta=\frac{2\tan\theta}{1+\tan^2\theta}=\frac{2ab}{a^2+b^2}$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$|\sin\theta\cos\theta|=\frac{ab}{a^2+b^2}$</a:t>
                </a:r>
                <a:r>
                  <a:rPr sz="2400" b="0">
                    <a:solidFill>
                      <a:srgbClr val="111827"/>
                    </a:solidFill>
                    <a:latin typeface="Arial"/>
                  </a:rPr>
                  <a:t>. Put in (1): Area </a:t>
                </a:r>
                <a:r>
                  <a:rPr lang="en-IN" sz="2400">
                    <a:solidFill>
                      <a:srgbClr val="111827"/>
                    </a:solidFill>
                    <a:latin typeface="Cambria Math" panose="02040503050406030204" pitchFamily="18" charset="0"/>
                  </a:rPr>
                  <a:t>$=\frac{(a^2-b^2)^2\cdot\frac{ab}{a^2+b^2}}{2ab}=\frac{(a^2-b^2)^2}{2(a^2+b^2)}$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Area of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𝐶</m:t>
                    </m:r>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𝑄</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sSup>
                          <m:e>
                            <m:r>
                              <m:rPr>
                                <m:sty m:val="p"/>
                              </m:rPr>
                              <a:rPr lang="en-IN" sz="2800">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2</m:t>
                            </m:r>
                          </m:sup>
                        </m:sSup>
                      </m:num>
                      <m:den>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Area of </a:t>
                </a:r>
                <a:r>
                  <a:rPr lang="en-IN" sz="2800">
                    <a:solidFill>
                      <a:srgbClr val="15803D"/>
                    </a:solidFill>
                    <a:latin typeface="Cambria Math" panose="02040503050406030204" pitchFamily="18" charset="0"/>
                  </a:rPr>
                  <a:t>$\triangle CPQ=\frac{(a^2-b^2)^2}{2(a^2+b^2)}$</a:t>
                </a:r>
                <a:endParaRPr sz="2800">
                  <a:solidFill>
                    <a:srgbClr val="15803D"/>
                  </a:solidFill>
                </a:endParaRPr>
              </a:p>
            </p:txBody>
          </p:sp>
        </mc:Fallback>
      </mc:AlternateContent>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slope form of the normal: for slope </a:t>
                </a:r>
                <a14:m>
                  <m:oMath xmlns:m="http://schemas.openxmlformats.org/officeDocument/2006/math">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the intercepts on both axes have the same magnitude, so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oMath>
                </a14:m>
                <a:r>
                  <a:rPr sz="2400" b="0">
                    <a:solidFill>
                      <a:srgbClr val="78350F"/>
                    </a:solidFill>
                    <a:latin typeface="Arial"/>
                  </a:rPr>
                  <a:t> is right isosceles.</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slope form of the normal: for slope </a:t>
                </a:r>
                <a:r>
                  <a:rPr lang="en-IN" sz="2400">
                    <a:solidFill>
                      <a:srgbClr val="78350F"/>
                    </a:solidFill>
                    <a:latin typeface="Cambria Math" panose="02040503050406030204" pitchFamily="18" charset="0"/>
                  </a:rPr>
                  <a:t>$m=\pm1$</a:t>
                </a:r>
                <a:r>
                  <a:rPr sz="2400" b="0">
                    <a:solidFill>
                      <a:srgbClr val="78350F"/>
                    </a:solidFill>
                    <a:latin typeface="Arial"/>
                  </a:rPr>
                  <a:t> the intercepts on both axes have the same magnitude, so </a:t>
                </a:r>
                <a:r>
                  <a:rPr lang="en-IN" sz="2400">
                    <a:solidFill>
                      <a:srgbClr val="78350F"/>
                    </a:solidFill>
                    <a:latin typeface="Cambria Math" panose="02040503050406030204" pitchFamily="18" charset="0"/>
                  </a:rPr>
                  <a:t>$\triangle CPQ$</a:t>
                </a:r>
                <a:r>
                  <a:rPr sz="2400" b="0">
                    <a:solidFill>
                      <a:srgbClr val="78350F"/>
                    </a:solidFill>
                    <a:latin typeface="Arial"/>
                  </a:rPr>
                  <a:t> is right isosceles.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normal of slope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to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e>
                        </m:rad>
                      </m:den>
                    </m:f>
                  </m:oMath>
                </a14:m>
                <a:r>
                  <a:rPr sz="2400" b="0">
                    <a:solidFill>
                      <a:srgbClr val="111827"/>
                    </a:solidFill>
                    <a:latin typeface="Arial"/>
                  </a:rPr>
                  <a:t>, so both intercepts have magnitude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e>
                        </m:rad>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normal of slope </a:t>
                </a:r>
                <a:r>
                  <a:rPr lang="en-IN" sz="2400">
                    <a:solidFill>
                      <a:srgbClr val="111827"/>
                    </a:solidFill>
                    <a:latin typeface="Cambria Math" panose="02040503050406030204" pitchFamily="18" charset="0"/>
                  </a:rPr>
                  <a:t>$m$</a:t>
                </a:r>
                <a:r>
                  <a:rPr sz="2400" b="0">
                    <a:solidFill>
                      <a:srgbClr val="111827"/>
                    </a:solidFill>
                    <a:latin typeface="Arial"/>
                  </a:rPr>
                  <a:t> to </a:t>
                </a:r>
                <a:r>
                  <a:rPr lang="en-IN" sz="2400">
                    <a:solidFill>
                      <a:srgbClr val="111827"/>
                    </a:solidFill>
                    <a:latin typeface="Cambria Math" panose="02040503050406030204" pitchFamily="18" charset="0"/>
                  </a:rPr>
                  <a:t>$\frac{x^2}{a^2}+\frac{y^2}{b^2}=1$</a:t>
                </a:r>
                <a:r>
                  <a:rPr sz="2400" b="0">
                    <a:solidFill>
                      <a:srgbClr val="111827"/>
                    </a:solidFill>
                    <a:latin typeface="Arial"/>
                  </a:rPr>
                  <a:t> is </a:t>
                </a:r>
                <a:r>
                  <a:rPr lang="en-IN" sz="2400">
                    <a:solidFill>
                      <a:srgbClr val="111827"/>
                    </a:solidFill>
                    <a:latin typeface="Cambria Math" panose="02040503050406030204" pitchFamily="18" charset="0"/>
                  </a:rPr>
                  <a:t>$y=mx\mp\frac{(a^2-b^2)m}{\sqrt{a^2+b^2m^2}}$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$m=\pm1$</a:t>
                </a:r>
                <a:r>
                  <a:rPr sz="2400" b="0">
                    <a:solidFill>
                      <a:srgbClr val="111827"/>
                    </a:solidFill>
                    <a:latin typeface="Arial"/>
                  </a:rPr>
                  <a:t>: </a:t>
                </a:r>
                <a:r>
                  <a:rPr lang="en-IN" sz="2400">
                    <a:solidFill>
                      <a:srgbClr val="111827"/>
                    </a:solidFill>
                    <a:latin typeface="Cambria Math" panose="02040503050406030204" pitchFamily="18" charset="0"/>
                  </a:rPr>
                  <a:t>$y=\pm x\mp\frac{a^2-b^2}{\sqrt{a^2+b^2}}$</a:t>
                </a:r>
                <a:r>
                  <a:rPr sz="2400" b="0">
                    <a:solidFill>
                      <a:srgbClr val="111827"/>
                    </a:solidFill>
                    <a:latin typeface="Arial"/>
                  </a:rPr>
                  <a:t>, so both intercepts have magnitude </a:t>
                </a:r>
                <a:r>
                  <a:rPr lang="en-IN" sz="2400">
                    <a:solidFill>
                      <a:srgbClr val="111827"/>
                    </a:solidFill>
                    <a:latin typeface="Cambria Math" panose="02040503050406030204" pitchFamily="18" charset="0"/>
                  </a:rPr>
                  <a:t>$c=\frac{a^2-b^2}{\sqrt{a^2+b^2}}$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$CP=CQ=c$</a:t>
                </a:r>
                <a:r>
                  <a:rPr sz="2400" b="0">
                    <a:solidFill>
                      <a:srgbClr val="111827"/>
                    </a:solidFill>
                    <a:latin typeface="Arial"/>
                  </a:rPr>
                  <a:t> and </a:t>
                </a:r>
                <a:r>
                  <a:rPr lang="en-IN" sz="2400">
                    <a:solidFill>
                      <a:srgbClr val="111827"/>
                    </a:solidFill>
                    <a:latin typeface="Cambria Math" panose="02040503050406030204" pitchFamily="18" charset="0"/>
                  </a:rPr>
                  <a:t>$\angle PCQ=90^\circ$</a:t>
                </a:r>
                <a:r>
                  <a:rPr sz="2400" b="0">
                    <a:solidFill>
                      <a:srgbClr val="111827"/>
                    </a:solidFill>
                    <a:latin typeface="Arial"/>
                  </a:rPr>
                  <a:t>: area </a:t>
                </a:r>
                <a:r>
                  <a:rPr lang="en-IN" sz="2400">
                    <a:solidFill>
                      <a:srgbClr val="111827"/>
                    </a:solidFill>
                    <a:latin typeface="Cambria Math" panose="02040503050406030204" pitchFamily="18" charset="0"/>
                  </a:rPr>
                  <a:t>$=\frac{c^2}{2}$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$=\frac{(a^2-b^2)^2}{2(a^2+b^2)}$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Area of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𝐶</m:t>
                    </m:r>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𝑄</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sSup>
                          <m:e>
                            <m:r>
                              <m:rPr>
                                <m:sty m:val="p"/>
                              </m:rPr>
                              <a:rPr lang="en-IN" sz="2800">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2</m:t>
                            </m:r>
                          </m:sup>
                        </m:sSup>
                      </m:num>
                      <m:den>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Area of </a:t>
                </a:r>
                <a:r>
                  <a:rPr lang="en-IN" sz="2800">
                    <a:solidFill>
                      <a:srgbClr val="15803D"/>
                    </a:solidFill>
                    <a:latin typeface="Cambria Math" panose="02040503050406030204" pitchFamily="18" charset="0"/>
                  </a:rPr>
                  <a:t>$\triangle CPQ=\frac{(a^2-b^2)^2}{2(a^2+b^2)}$</a:t>
                </a:r>
                <a:endParaRPr sz="2800">
                  <a:solidFill>
                    <a:srgbClr val="15803D"/>
                  </a:solidFill>
                </a:endParaRPr>
              </a:p>
            </p:txBody>
          </p:sp>
        </mc:Fallback>
      </mc:AlternateContent>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of slope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to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den>
                    </m:f>
                  </m:oMath>
                </a14:m>
                <a:r>
                  <a:rPr sz="2400" b="0">
                    <a:solidFill>
                      <a:srgbClr val="111827"/>
                    </a:solidFill>
                    <a:latin typeface="Arial"/>
                  </a:rPr>
                  <a:t>; tangent of slope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meets the axes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and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with slope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cuts equal intercepts, so the triangle with the axes is right isosceles with area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den>
                    </m:f>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 formula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of slope </a:t>
                </a:r>
                <a:r>
                  <a:rPr lang="en-IN" sz="2400">
                    <a:solidFill>
                      <a:srgbClr val="111827"/>
                    </a:solidFill>
                    <a:latin typeface="Cambria Math" panose="02040503050406030204" pitchFamily="18" charset="0"/>
                  </a:rPr>
                  <a:t>$m$</a:t>
                </a:r>
                <a:r>
                  <a:rPr sz="2400" b="0">
                    <a:solidFill>
                      <a:srgbClr val="111827"/>
                    </a:solidFill>
                    <a:latin typeface="Arial"/>
                  </a:rPr>
                  <a:t> to </a:t>
                </a:r>
                <a:r>
                  <a:rPr lang="en-IN" sz="2400">
                    <a:solidFill>
                      <a:srgbClr val="111827"/>
                    </a:solidFill>
                    <a:latin typeface="Cambria Math" panose="02040503050406030204" pitchFamily="18" charset="0"/>
                  </a:rPr>
                  <a:t>$\frac{x^2}{a^2}+\frac{y^2}{b^2}=1$</a:t>
                </a:r>
                <a:r>
                  <a:rPr sz="2400" b="0">
                    <a:solidFill>
                      <a:srgbClr val="111827"/>
                    </a:solidFill>
                    <a:latin typeface="Arial"/>
                  </a:rPr>
                  <a:t>: </a:t>
                </a:r>
                <a:r>
                  <a:rPr lang="en-IN" sz="2400">
                    <a:solidFill>
                      <a:srgbClr val="111827"/>
                    </a:solidFill>
                    <a:latin typeface="Cambria Math" panose="02040503050406030204" pitchFamily="18" charset="0"/>
                  </a:rPr>
                  <a:t>$y=mx\mp\frac{(a^2-b^2)m}{\sqrt{a^2+b^2m^2}}$</a:t>
                </a:r>
                <a:r>
                  <a:rPr sz="2400" b="0">
                    <a:solidFill>
                      <a:srgbClr val="111827"/>
                    </a:solidFill>
                    <a:latin typeface="Arial"/>
                  </a:rPr>
                  <a:t>; tangent of slope </a:t>
                </a:r>
                <a:r>
                  <a:rPr lang="en-IN" sz="2400">
                    <a:solidFill>
                      <a:srgbClr val="111827"/>
                    </a:solidFill>
                    <a:latin typeface="Cambria Math" panose="02040503050406030204" pitchFamily="18" charset="0"/>
                  </a:rPr>
                  <a:t>$m$</a:t>
                </a:r>
                <a:r>
                  <a:rPr sz="2400" b="0">
                    <a:solidFill>
                      <a:srgbClr val="111827"/>
                    </a:solidFill>
                    <a:latin typeface="Arial"/>
                  </a:rPr>
                  <a:t>: </a:t>
                </a:r>
                <a:r>
                  <a:rPr lang="en-IN" sz="2400">
                    <a:solidFill>
                      <a:srgbClr val="111827"/>
                    </a:solidFill>
                    <a:latin typeface="Cambria Math" panose="02040503050406030204" pitchFamily="18" charset="0"/>
                  </a:rPr>
                  <a:t>$y=mx\pm\sqrt{a^2m^2+b^2}$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$\theta$</a:t>
                </a:r>
                <a:r>
                  <a:rPr sz="2400" b="0">
                    <a:solidFill>
                      <a:srgbClr val="111827"/>
                    </a:solidFill>
                    <a:latin typeface="Arial"/>
                  </a:rPr>
                  <a:t> meets the axes at </a:t>
                </a:r>
                <a:r>
                  <a:rPr lang="en-IN" sz="2400">
                    <a:solidFill>
                      <a:srgbClr val="111827"/>
                    </a:solidFill>
                    <a:latin typeface="Cambria Math" panose="02040503050406030204" pitchFamily="18" charset="0"/>
                  </a:rPr>
                  <a:t>$\left(\frac{a^2-b^2}{a}\cos\theta,0\right)$</a:t>
                </a:r>
                <a:r>
                  <a:rPr sz="2400" b="0">
                    <a:solidFill>
                      <a:srgbClr val="111827"/>
                    </a:solidFill>
                    <a:latin typeface="Arial"/>
                  </a:rPr>
                  <a:t> and </a:t>
                </a:r>
                <a:r>
                  <a:rPr lang="en-IN" sz="2400">
                    <a:solidFill>
                      <a:srgbClr val="111827"/>
                    </a:solidFill>
                    <a:latin typeface="Cambria Math" panose="02040503050406030204" pitchFamily="18" charset="0"/>
                  </a:rPr>
                  <a:t>$\left(0,-\frac{a^2-b^2}{b}\sin\theta\right)$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with slope </a:t>
                </a:r>
                <a:r>
                  <a:rPr lang="en-IN" sz="2400">
                    <a:solidFill>
                      <a:srgbClr val="111827"/>
                    </a:solidFill>
                    <a:latin typeface="Cambria Math" panose="02040503050406030204" pitchFamily="18" charset="0"/>
                  </a:rPr>
                  <a:t>$\pm1$</a:t>
                </a:r>
                <a:r>
                  <a:rPr sz="2400" b="0">
                    <a:solidFill>
                      <a:srgbClr val="111827"/>
                    </a:solidFill>
                    <a:latin typeface="Arial"/>
                  </a:rPr>
                  <a:t> cuts equal intercepts, so the triangle with the axes is right isosceles with area </a:t>
                </a:r>
                <a:r>
                  <a:rPr lang="en-IN" sz="2400">
                    <a:solidFill>
                      <a:srgbClr val="111827"/>
                    </a:solidFill>
                    <a:latin typeface="Cambria Math" panose="02040503050406030204" pitchFamily="18" charset="0"/>
                  </a:rPr>
                  <a:t>$\frac{c^2}2$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$a=2,b=1$</a:t>
                </a:r>
                <a:r>
                  <a:rPr sz="2400" b="0">
                    <a:solidFill>
                      <a:srgbClr val="111827"/>
                    </a:solidFill>
                    <a:latin typeface="Arial"/>
                  </a:rPr>
                  <a:t>): </a:t>
                </a:r>
                <a:r>
                  <a:rPr lang="en-IN" sz="2400">
                    <a:solidFill>
                      <a:srgbClr val="111827"/>
                    </a:solidFill>
                    <a:latin typeface="Cambria Math" panose="02040503050406030204" pitchFamily="18" charset="0"/>
                  </a:rPr>
                  <a:t>$c=\frac{3}{\sqrt5}$</a:t>
                </a:r>
                <a:r>
                  <a:rPr sz="2400" b="0">
                    <a:solidFill>
                      <a:srgbClr val="111827"/>
                    </a:solidFill>
                    <a:latin typeface="Arial"/>
                  </a:rPr>
                  <a:t>, area </a:t>
                </a:r>
                <a:r>
                  <a:rPr lang="en-IN" sz="2400">
                    <a:solidFill>
                      <a:srgbClr val="111827"/>
                    </a:solidFill>
                    <a:latin typeface="Cambria Math" panose="02040503050406030204" pitchFamily="18" charset="0"/>
                  </a:rPr>
                  <a:t>$=\frac{9}{10}$</a:t>
                </a:r>
                <a:r>
                  <a:rPr sz="2400" b="0">
                    <a:solidFill>
                      <a:srgbClr val="111827"/>
                    </a:solidFill>
                    <a:latin typeface="Arial"/>
                  </a:rPr>
                  <a:t>; formula gives </a:t>
                </a:r>
                <a:r>
                  <a:rPr lang="en-IN" sz="2400">
                    <a:solidFill>
                      <a:srgbClr val="111827"/>
                    </a:solidFill>
                    <a:latin typeface="Cambria Math" panose="02040503050406030204" pitchFamily="18" charset="0"/>
                  </a:rPr>
                  <a:t>$\frac{9}{2\cdot5}=\frac{9}{10}$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tangent to the ellipse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meets the ellipse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Prove that the tangents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of the ellipse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are at right angles.</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tangent to the ellipse </a:t>
                </a:r>
                <a:r>
                  <a:rPr lang="en-IN" sz="2400">
                    <a:solidFill>
                      <a:srgbClr val="111827"/>
                    </a:solidFill>
                    <a:latin typeface="Cambria Math" panose="02040503050406030204" pitchFamily="18" charset="0"/>
                  </a:rPr>
                  <a:t>$x^2+4y^2=4$</a:t>
                </a:r>
                <a:r>
                  <a:rPr sz="2400" b="0">
                    <a:solidFill>
                      <a:srgbClr val="111827"/>
                    </a:solidFill>
                    <a:latin typeface="Arial"/>
                  </a:rPr>
                  <a:t> meets the ellipse </a:t>
                </a:r>
                <a:r>
                  <a:rPr lang="en-IN" sz="2400">
                    <a:solidFill>
                      <a:srgbClr val="111827"/>
                    </a:solidFill>
                    <a:latin typeface="Cambria Math" panose="02040503050406030204" pitchFamily="18" charset="0"/>
                  </a:rPr>
                  <a:t>$x^2+2y^2=6$</a:t>
                </a:r>
                <a:r>
                  <a:rPr sz="2400" b="0">
                    <a:solidFill>
                      <a:srgbClr val="111827"/>
                    </a:solidFill>
                    <a:latin typeface="Arial"/>
                  </a:rPr>
                  <a:t>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Prove that the tangents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of the ellipse </a:t>
                </a:r>
                <a:r>
                  <a:rPr lang="en-IN" sz="2400">
                    <a:solidFill>
                      <a:srgbClr val="111827"/>
                    </a:solidFill>
                    <a:latin typeface="Cambria Math" panose="02040503050406030204" pitchFamily="18" charset="0"/>
                  </a:rPr>
                  <a:t>$x^2+2y^2=6$</a:t>
                </a:r>
                <a:r>
                  <a:rPr sz="2400" b="0">
                    <a:solidFill>
                      <a:srgbClr val="111827"/>
                    </a:solidFill>
                    <a:latin typeface="Arial"/>
                  </a:rPr>
                  <a:t> are at right angles.</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Chord of contact and tangents to an ellipse, Director circle of an ellipse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Let </a:t>
                </a:r>
                <a14:m>
                  <m:oMath xmlns:m="http://schemas.openxmlformats.org/officeDocument/2006/math">
                    <m:r>
                      <a:rPr lang="en-IN" sz="2400" i="1">
                        <a:solidFill>
                          <a:srgbClr val="78350F"/>
                        </a:solidFill>
                        <a:latin typeface="Cambria Math" panose="02040503050406030204" pitchFamily="18" charset="0"/>
                      </a:rPr>
                      <m:t>𝑅</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be the point where the tangents at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𝑄</m:t>
                    </m:r>
                  </m:oMath>
                </a14:m>
                <a:r>
                  <a:rPr sz="2400" b="0">
                    <a:solidFill>
                      <a:srgbClr val="78350F"/>
                    </a:solidFill>
                    <a:latin typeface="Arial"/>
                  </a:rPr>
                  <a:t> meet: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oMath>
                </a14:m>
                <a:r>
                  <a:rPr sz="2400" b="0">
                    <a:solidFill>
                      <a:srgbClr val="78350F"/>
                    </a:solidFill>
                    <a:latin typeface="Arial"/>
                  </a:rPr>
                  <a:t> is its chord of contact, and as it touches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 comparing coefficients gives </a:t>
                </a:r>
                <a14:m>
                  <m:oMath xmlns:m="http://schemas.openxmlformats.org/officeDocument/2006/math">
                    <m:sSup>
                      <m:e>
                        <m:r>
                          <a:rPr lang="en-IN" sz="2400" i="1">
                            <a:solidFill>
                              <a:srgbClr val="78350F"/>
                            </a:solidFill>
                            <a:latin typeface="Cambria Math" panose="02040503050406030204" pitchFamily="18" charset="0"/>
                          </a:rPr>
                          <m:t>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𝑘</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9</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Let </a:t>
                </a:r>
                <a:r>
                  <a:rPr lang="en-IN" sz="2400">
                    <a:solidFill>
                      <a:srgbClr val="78350F"/>
                    </a:solidFill>
                    <a:latin typeface="Cambria Math" panose="02040503050406030204" pitchFamily="18" charset="0"/>
                  </a:rPr>
                  <a:t>$R(h,k)$</a:t>
                </a:r>
                <a:r>
                  <a:rPr sz="2400" b="0">
                    <a:solidFill>
                      <a:srgbClr val="78350F"/>
                    </a:solidFill>
                    <a:latin typeface="Arial"/>
                  </a:rPr>
                  <a:t> be the point where the tangents at </a:t>
                </a:r>
                <a:r>
                  <a:rPr lang="en-IN" sz="2400">
                    <a:solidFill>
                      <a:srgbClr val="78350F"/>
                    </a:solidFill>
                    <a:latin typeface="Cambria Math" panose="02040503050406030204" pitchFamily="18" charset="0"/>
                  </a:rPr>
                  <a:t>$P,Q$</a:t>
                </a:r>
                <a:r>
                  <a:rPr sz="2400" b="0">
                    <a:solidFill>
                      <a:srgbClr val="78350F"/>
                    </a:solidFill>
                    <a:latin typeface="Arial"/>
                  </a:rPr>
                  <a:t> meet: </a:t>
                </a:r>
                <a:r>
                  <a:rPr lang="en-IN" sz="2400">
                    <a:solidFill>
                      <a:srgbClr val="78350F"/>
                    </a:solidFill>
                    <a:latin typeface="Cambria Math" panose="02040503050406030204" pitchFamily="18" charset="0"/>
                  </a:rPr>
                  <a:t>$PQ$</a:t>
                </a:r>
                <a:r>
                  <a:rPr sz="2400" b="0">
                    <a:solidFill>
                      <a:srgbClr val="78350F"/>
                    </a:solidFill>
                    <a:latin typeface="Arial"/>
                  </a:rPr>
                  <a:t> is its chord of contact, and as it touches </a:t>
                </a:r>
                <a:r>
                  <a:rPr lang="en-IN" sz="2400">
                    <a:solidFill>
                      <a:srgbClr val="78350F"/>
                    </a:solidFill>
                    <a:latin typeface="Cambria Math" panose="02040503050406030204" pitchFamily="18" charset="0"/>
                  </a:rPr>
                  <a:t>$x^2+4y^2=4$</a:t>
                </a:r>
                <a:r>
                  <a:rPr sz="2400" b="0">
                    <a:solidFill>
                      <a:srgbClr val="78350F"/>
                    </a:solidFill>
                    <a:latin typeface="Arial"/>
                  </a:rPr>
                  <a:t>, comparing coefficients gives </a:t>
                </a:r>
                <a:r>
                  <a:rPr lang="en-IN" sz="2400">
                    <a:solidFill>
                      <a:srgbClr val="78350F"/>
                    </a:solidFill>
                    <a:latin typeface="Cambria Math" panose="02040503050406030204" pitchFamily="18" charset="0"/>
                  </a:rPr>
                  <a:t>$h^2+k^2=9$</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tangents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to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meet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the chord of contact of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(equation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a tangent to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some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(1) and (2):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tangents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to </a:t>
                </a:r>
                <a:r>
                  <a:rPr lang="en-IN" sz="2400">
                    <a:solidFill>
                      <a:srgbClr val="111827"/>
                    </a:solidFill>
                    <a:latin typeface="Cambria Math" panose="02040503050406030204" pitchFamily="18" charset="0"/>
                  </a:rPr>
                  <a:t>$x^2+2y^2=6$</a:t>
                </a:r>
                <a:r>
                  <a:rPr sz="2400" b="0">
                    <a:solidFill>
                      <a:srgbClr val="111827"/>
                    </a:solidFill>
                    <a:latin typeface="Arial"/>
                  </a:rPr>
                  <a:t> meet at </a:t>
                </a:r>
                <a:r>
                  <a:rPr lang="en-IN" sz="2400">
                    <a:solidFill>
                      <a:srgbClr val="111827"/>
                    </a:solidFill>
                    <a:latin typeface="Cambria Math" panose="02040503050406030204" pitchFamily="18" charset="0"/>
                  </a:rPr>
                  <a:t>$R(h,k)$</a:t>
                </a:r>
                <a:r>
                  <a:rPr sz="2400" b="0">
                    <a:solidFill>
                      <a:srgbClr val="111827"/>
                    </a:solidFill>
                    <a:latin typeface="Arial"/>
                  </a:rPr>
                  <a:t>. Then </a:t>
                </a:r>
                <a:r>
                  <a:rPr lang="en-IN" sz="2400">
                    <a:solidFill>
                      <a:srgbClr val="111827"/>
                    </a:solidFill>
                    <a:latin typeface="Cambria Math" panose="02040503050406030204" pitchFamily="18" charset="0"/>
                  </a:rPr>
                  <a:t>$PQ$</a:t>
                </a:r>
                <a:r>
                  <a:rPr sz="2400" b="0">
                    <a:solidFill>
                      <a:srgbClr val="111827"/>
                    </a:solidFill>
                    <a:latin typeface="Arial"/>
                  </a:rPr>
                  <a:t> is the chord of contact of </a:t>
                </a:r>
                <a:r>
                  <a:rPr lang="en-IN" sz="2400">
                    <a:solidFill>
                      <a:srgbClr val="111827"/>
                    </a:solidFill>
                    <a:latin typeface="Cambria Math" panose="02040503050406030204" pitchFamily="18" charset="0"/>
                  </a:rPr>
                  <a:t>$R$</a:t>
                </a:r>
                <a:r>
                  <a:rPr sz="2400" b="0">
                    <a:solidFill>
                      <a:srgbClr val="111827"/>
                    </a:solidFill>
                    <a:latin typeface="Arial"/>
                  </a:rPr>
                  <a:t> (equation </a:t>
                </a:r>
                <a:r>
                  <a:rPr lang="en-IN" sz="2400">
                    <a:solidFill>
                      <a:srgbClr val="111827"/>
                    </a:solidFill>
                    <a:latin typeface="Cambria Math" panose="02040503050406030204" pitchFamily="18" charset="0"/>
                  </a:rPr>
                  <a:t>$T=0$</a:t>
                </a:r>
                <a:r>
                  <a:rPr sz="2400" b="0">
                    <a:solidFill>
                      <a:srgbClr val="111827"/>
                    </a:solidFill>
                    <a:latin typeface="Arial"/>
                  </a:rPr>
                  <a:t>): </a:t>
                </a:r>
                <a:r>
                  <a:rPr lang="en-IN" sz="2400">
                    <a:solidFill>
                      <a:srgbClr val="111827"/>
                    </a:solidFill>
                    <a:latin typeface="Cambria Math" panose="02040503050406030204" pitchFamily="18" charset="0"/>
                  </a:rPr>
                  <a:t>$hx+2ky-6=0$</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$PQ$</a:t>
                </a:r>
                <a:r>
                  <a:rPr sz="2400" b="0">
                    <a:solidFill>
                      <a:srgbClr val="111827"/>
                    </a:solidFill>
                    <a:latin typeface="Arial"/>
                  </a:rPr>
                  <a:t> is a tangent to </a:t>
                </a:r>
                <a:r>
                  <a:rPr lang="en-IN" sz="2400">
                    <a:solidFill>
                      <a:srgbClr val="111827"/>
                    </a:solidFill>
                    <a:latin typeface="Cambria Math" panose="02040503050406030204" pitchFamily="18" charset="0"/>
                  </a:rPr>
                  <a:t>$x^2+4y^2=4$</a:t>
                </a:r>
                <a:r>
                  <a:rPr sz="2400" b="0">
                    <a:solidFill>
                      <a:srgbClr val="111827"/>
                    </a:solidFill>
                    <a:latin typeface="Arial"/>
                  </a:rPr>
                  <a:t>, i.e. </a:t>
                </a:r>
                <a:r>
                  <a:rPr lang="en-IN" sz="2400">
                    <a:solidFill>
                      <a:srgbClr val="111827"/>
                    </a:solidFill>
                    <a:latin typeface="Cambria Math" panose="02040503050406030204" pitchFamily="18" charset="0"/>
                  </a:rPr>
                  <a:t>$\frac{x^2}{4}+y^2=1$</a:t>
                </a:r>
                <a:r>
                  <a:rPr sz="2400" b="0">
                    <a:solidFill>
                      <a:srgbClr val="111827"/>
                    </a:solidFill>
                    <a:latin typeface="Arial"/>
                  </a:rPr>
                  <a:t>, at some point </a:t>
                </a:r>
                <a:r>
                  <a:rPr lang="en-IN" sz="2400">
                    <a:solidFill>
                      <a:srgbClr val="111827"/>
                    </a:solidFill>
                    <a:latin typeface="Cambria Math" panose="02040503050406030204" pitchFamily="18" charset="0"/>
                  </a:rPr>
                  <a:t>$(2\cos\theta,\sin\theta)$</a:t>
                </a:r>
                <a:r>
                  <a:rPr sz="2400" b="0">
                    <a:solidFill>
                      <a:srgbClr val="111827"/>
                    </a:solidFill>
                    <a:latin typeface="Arial"/>
                  </a:rPr>
                  <a:t>: </a:t>
                </a:r>
                <a:r>
                  <a:rPr lang="en-IN" sz="2400">
                    <a:solidFill>
                      <a:srgbClr val="111827"/>
                    </a:solidFill>
                    <a:latin typeface="Cambria Math" panose="02040503050406030204" pitchFamily="18" charset="0"/>
                  </a:rPr>
                  <a:t>$2\cos\theta\,x+4\sin\theta\,y-4=0$</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(1) and (2): </a:t>
                </a:r>
                <a:r>
                  <a:rPr lang="en-IN" sz="2400">
                    <a:solidFill>
                      <a:srgbClr val="111827"/>
                    </a:solidFill>
                    <a:latin typeface="Cambria Math" panose="02040503050406030204" pitchFamily="18" charset="0"/>
                  </a:rPr>
                  <a:t>$\frac{h}{2\cos\theta}=\frac{2k}{4\sin\theta}=\frac{-6}{-4}=\frac32$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 hence </a:t>
                </a:r>
                <a14:m>
                  <m:oMath xmlns:m="http://schemas.openxmlformats.org/officeDocument/2006/math">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director circle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lies on the director circle; the tangents from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(those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are at right angles.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$h=3\cos\theta$</a:t>
                </a:r>
                <a:r>
                  <a:rPr sz="2400" b="0">
                    <a:solidFill>
                      <a:srgbClr val="111827"/>
                    </a:solidFill>
                    <a:latin typeface="Arial"/>
                  </a:rPr>
                  <a:t> and </a:t>
                </a:r>
                <a:r>
                  <a:rPr lang="en-IN" sz="2400">
                    <a:solidFill>
                      <a:srgbClr val="111827"/>
                    </a:solidFill>
                    <a:latin typeface="Cambria Math" panose="02040503050406030204" pitchFamily="18" charset="0"/>
                  </a:rPr>
                  <a:t>$k=3\sin\theta$</a:t>
                </a:r>
                <a:r>
                  <a:rPr sz="2400" b="0">
                    <a:solidFill>
                      <a:srgbClr val="111827"/>
                    </a:solidFill>
                    <a:latin typeface="Arial"/>
                  </a:rPr>
                  <a:t>, hence </a:t>
                </a:r>
                <a:r>
                  <a:rPr lang="en-IN" sz="2400">
                    <a:solidFill>
                      <a:srgbClr val="111827"/>
                    </a:solidFill>
                    <a:latin typeface="Cambria Math" panose="02040503050406030204" pitchFamily="18" charset="0"/>
                  </a:rPr>
                  <a:t>$h^2+k^2=9$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director circle of </a:t>
                </a:r>
                <a:r>
                  <a:rPr lang="en-IN" sz="2400">
                    <a:solidFill>
                      <a:srgbClr val="111827"/>
                    </a:solidFill>
                    <a:latin typeface="Cambria Math" panose="02040503050406030204" pitchFamily="18" charset="0"/>
                  </a:rPr>
                  <a:t>$\frac{x^2}{6}+\frac{y^2}{3}=1$</a:t>
                </a:r>
                <a:r>
                  <a:rPr sz="2400" b="0">
                    <a:solidFill>
                      <a:srgbClr val="111827"/>
                    </a:solidFill>
                    <a:latin typeface="Arial"/>
                  </a:rPr>
                  <a:t> is </a:t>
                </a:r>
                <a:r>
                  <a:rPr lang="en-IN" sz="2400">
                    <a:solidFill>
                      <a:srgbClr val="111827"/>
                    </a:solidFill>
                    <a:latin typeface="Cambria Math" panose="02040503050406030204" pitchFamily="18" charset="0"/>
                  </a:rPr>
                  <a:t>$x^2+y^2=6+3=9$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$R(h,k)$</a:t>
                </a:r>
                <a:r>
                  <a:rPr sz="2400" b="0">
                    <a:solidFill>
                      <a:srgbClr val="111827"/>
                    </a:solidFill>
                    <a:latin typeface="Arial"/>
                  </a:rPr>
                  <a:t> lies on the director circle; the tangents from </a:t>
                </a:r>
                <a:r>
                  <a:rPr lang="en-IN" sz="2400">
                    <a:solidFill>
                      <a:srgbClr val="111827"/>
                    </a:solidFill>
                    <a:latin typeface="Cambria Math" panose="02040503050406030204" pitchFamily="18" charset="0"/>
                  </a:rPr>
                  <a:t>$R$</a:t>
                </a:r>
                <a:r>
                  <a:rPr sz="2400" b="0">
                    <a:solidFill>
                      <a:srgbClr val="111827"/>
                    </a:solidFill>
                    <a:latin typeface="Arial"/>
                  </a:rPr>
                  <a:t> (those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at right angles.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The tangents at </a:t>
                </a:r>
                <a14:m>
                  <m:oMath xmlns:m="http://schemas.openxmlformats.org/officeDocument/2006/math">
                    <m:r>
                      <a:rPr lang="en-IN" sz="2800" i="1">
                        <a:solidFill>
                          <a:srgbClr val="15803D"/>
                        </a:solidFill>
                        <a:latin typeface="Cambria Math" panose="02040503050406030204" pitchFamily="18" charset="0"/>
                      </a:rPr>
                      <m:t>𝑃</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𝑄</m:t>
                    </m:r>
                  </m:oMath>
                </a14:m>
                <a:r>
                  <a:rPr sz="2800" b="1">
                    <a:solidFill>
                      <a:srgbClr val="15803D"/>
                    </a:solidFill>
                    <a:latin typeface="Arial"/>
                  </a:rPr>
                  <a:t> meet on </a:t>
                </a:r>
                <a14:m>
                  <m:oMath xmlns:m="http://schemas.openxmlformats.org/officeDocument/2006/math">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9</m:t>
                    </m:r>
                  </m:oMath>
                </a14:m>
                <a:r>
                  <a:rPr sz="2800" b="1">
                    <a:solidFill>
                      <a:srgbClr val="15803D"/>
                    </a:solidFill>
                    <a:latin typeface="Arial"/>
                  </a:rPr>
                  <a:t>, the director circle of </a:t>
                </a:r>
                <a14:m>
                  <m:oMath xmlns:m="http://schemas.openxmlformats.org/officeDocument/2006/math">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6</m:t>
                    </m:r>
                  </m:oMath>
                </a14:m>
                <a:r>
                  <a:rPr sz="2800" b="1">
                    <a:solidFill>
                      <a:srgbClr val="15803D"/>
                    </a:solidFill>
                    <a:latin typeface="Arial"/>
                  </a:rPr>
                  <a:t>, so they are perpendicular</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The tangents at </a:t>
                </a:r>
                <a:r>
                  <a:rPr lang="en-IN" sz="2800">
                    <a:solidFill>
                      <a:srgbClr val="15803D"/>
                    </a:solidFill>
                    <a:latin typeface="Cambria Math" panose="02040503050406030204" pitchFamily="18" charset="0"/>
                  </a:rPr>
                  <a:t>$P,Q$</a:t>
                </a:r>
                <a:r>
                  <a:rPr sz="2800" b="1">
                    <a:solidFill>
                      <a:srgbClr val="15803D"/>
                    </a:solidFill>
                    <a:latin typeface="Arial"/>
                  </a:rPr>
                  <a:t> meet on </a:t>
                </a:r>
                <a:r>
                  <a:rPr lang="en-IN" sz="2800">
                    <a:solidFill>
                      <a:srgbClr val="15803D"/>
                    </a:solidFill>
                    <a:latin typeface="Cambria Math" panose="02040503050406030204" pitchFamily="18" charset="0"/>
                  </a:rPr>
                  <a:t>$x^2+y^2=9$</a:t>
                </a:r>
                <a:r>
                  <a:rPr sz="2800" b="1">
                    <a:solidFill>
                      <a:srgbClr val="15803D"/>
                    </a:solidFill>
                    <a:latin typeface="Arial"/>
                  </a:rPr>
                  <a:t>, the director circle of </a:t>
                </a:r>
                <a:r>
                  <a:rPr lang="en-IN" sz="2800">
                    <a:solidFill>
                      <a:srgbClr val="15803D"/>
                    </a:solidFill>
                    <a:latin typeface="Cambria Math" panose="02040503050406030204" pitchFamily="18" charset="0"/>
                  </a:rPr>
                  <a:t>$x^2+2y^2=6$</a:t>
                </a:r>
                <a:r>
                  <a:rPr sz="2800" b="1">
                    <a:solidFill>
                      <a:srgbClr val="15803D"/>
                    </a:solidFill>
                    <a:latin typeface="Arial"/>
                  </a:rPr>
                  <a:t>, so they are perpendicular</a:t>
                </a:r>
                <a:endParaRPr sz="2800">
                  <a:solidFill>
                    <a:srgbClr val="15803D"/>
                  </a:solidFill>
                </a:endParaRPr>
              </a:p>
            </p:txBody>
          </p:sp>
        </mc:Fallback>
      </mc:AlternateContent>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line </a:t>
                </a:r>
                <a14:m>
                  <m:oMath xmlns:m="http://schemas.openxmlformats.org/officeDocument/2006/math">
                    <m:r>
                      <a:rPr lang="en-IN" sz="2400" i="1">
                        <a:solidFill>
                          <a:srgbClr val="78350F"/>
                        </a:solidFill>
                        <a:latin typeface="Cambria Math" panose="02040503050406030204" pitchFamily="18" charset="0"/>
                      </a:rPr>
                      <m:t>𝑙</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touches </a:t>
                </a:r>
                <a14:m>
                  <m:oMath xmlns:m="http://schemas.openxmlformats.org/officeDocument/2006/math">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num>
                      <m:den>
                        <m:sSup>
                          <m:e>
                            <m:r>
                              <a:rPr lang="en-IN" sz="2400" i="1">
                                <a:solidFill>
                                  <a:srgbClr val="78350F"/>
                                </a:solidFill>
                                <a:latin typeface="Cambria Math" panose="02040503050406030204" pitchFamily="18" charset="0"/>
                              </a:rPr>
                              <m:t>𝐴</m:t>
                            </m:r>
                          </m:e>
                          <m:sup>
                            <m:r>
                              <a:rPr lang="en-IN" sz="2400" i="1">
                                <a:solidFill>
                                  <a:srgbClr val="78350F"/>
                                </a:solidFill>
                                <a:latin typeface="Cambria Math" panose="02040503050406030204" pitchFamily="18" charset="0"/>
                              </a:rPr>
                              <m:t>2</m:t>
                            </m:r>
                          </m:sup>
                        </m:sSup>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num>
                      <m:den>
                        <m:sSup>
                          <m:e>
                            <m:r>
                              <a:rPr lang="en-IN" sz="2400" i="1">
                                <a:solidFill>
                                  <a:srgbClr val="78350F"/>
                                </a:solidFill>
                                <a:latin typeface="Cambria Math" panose="02040503050406030204" pitchFamily="18" charset="0"/>
                              </a:rPr>
                              <m:t>𝐵</m:t>
                            </m:r>
                          </m:e>
                          <m:sup>
                            <m:r>
                              <a:rPr lang="en-IN" sz="2400" i="1">
                                <a:solidFill>
                                  <a:srgbClr val="78350F"/>
                                </a:solidFill>
                                <a:latin typeface="Cambria Math" panose="02040503050406030204" pitchFamily="18" charset="0"/>
                              </a:rPr>
                              <m:t>2</m:t>
                            </m:r>
                          </m:sup>
                        </m:sSup>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iff </a:t>
                </a:r>
                <a14:m>
                  <m:oMath xmlns:m="http://schemas.openxmlformats.org/officeDocument/2006/math">
                    <m:sSup>
                      <m:e>
                        <m:r>
                          <a:rPr lang="en-IN" sz="2400" i="1">
                            <a:solidFill>
                              <a:srgbClr val="78350F"/>
                            </a:solidFill>
                            <a:latin typeface="Cambria Math" panose="02040503050406030204" pitchFamily="18" charset="0"/>
                          </a:rPr>
                          <m:t>𝐴</m:t>
                        </m:r>
                      </m:e>
                      <m:sup>
                        <m:r>
                          <a:rPr lang="en-IN" sz="2400" i="1">
                            <a:solidFill>
                              <a:srgbClr val="78350F"/>
                            </a:solidFill>
                            <a:latin typeface="Cambria Math" panose="02040503050406030204" pitchFamily="18" charset="0"/>
                          </a:rPr>
                          <m:t>2</m:t>
                        </m:r>
                      </m:sup>
                    </m:sSup>
                    <m:sSup>
                      <m:e>
                        <m:r>
                          <a:rPr lang="en-IN" sz="2400" i="1">
                            <a:solidFill>
                              <a:srgbClr val="78350F"/>
                            </a:solidFill>
                            <a:latin typeface="Cambria Math" panose="02040503050406030204" pitchFamily="18" charset="0"/>
                          </a:rPr>
                          <m:t>𝑙</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𝐵</m:t>
                        </m:r>
                      </m:e>
                      <m:sup>
                        <m:r>
                          <a:rPr lang="en-IN" sz="2400" i="1">
                            <a:solidFill>
                              <a:srgbClr val="78350F"/>
                            </a:solidFill>
                            <a:latin typeface="Cambria Math" panose="02040503050406030204" pitchFamily="18" charset="0"/>
                          </a:rPr>
                          <m:t>2</m:t>
                        </m:r>
                      </m:sup>
                    </m:sSup>
                    <m:sSup>
                      <m:e>
                        <m:r>
                          <a:rPr lang="en-IN" sz="2400" i="1">
                            <a:solidFill>
                              <a:srgbClr val="78350F"/>
                            </a:solidFill>
                            <a:latin typeface="Cambria Math" panose="02040503050406030204" pitchFamily="18" charset="0"/>
                          </a:rPr>
                          <m:t>𝑚</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write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oMath>
                </a14:m>
                <a:r>
                  <a:rPr sz="2400" b="0">
                    <a:solidFill>
                      <a:srgbClr val="78350F"/>
                    </a:solidFill>
                    <a:latin typeface="Arial"/>
                  </a:rPr>
                  <a:t> as the polar of </a:t>
                </a:r>
                <a14:m>
                  <m:oMath xmlns:m="http://schemas.openxmlformats.org/officeDocument/2006/math">
                    <m:r>
                      <a:rPr lang="en-IN" sz="2400" i="1">
                        <a:solidFill>
                          <a:srgbClr val="78350F"/>
                        </a:solidFill>
                        <a:latin typeface="Cambria Math" panose="02040503050406030204" pitchFamily="18" charset="0"/>
                      </a:rPr>
                      <m:t>𝑅</m:t>
                    </m:r>
                  </m:oMath>
                </a14:m>
                <a:r>
                  <a:rPr sz="2400" b="0">
                    <a:solidFill>
                      <a:srgbClr val="78350F"/>
                    </a:solidFill>
                    <a:latin typeface="Arial"/>
                  </a:rPr>
                  <a:t> and apply this to the inner ellipse.</a:t>
                </a:r>
                <a:endParaRPr sz="2400">
                  <a:solidFill>
                    <a:srgbClr val="78350F"/>
                  </a:solidFill>
                </a:endParaRPr>
              </a:p>
            </p:txBody>
          </p:sp>
        </mc:Choice>
        <mc:Fallback>
          <p:sp>
            <p:nvSpPr>
              <p:cNvPr id="5" name="Rounded Rectangle 4"/>
              <p:cNvSpPr/>
              <p:nvPr/>
            </p:nvSpPr>
            <p:spPr>
              <a:xfrm>
                <a:off x="731520" y="128016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line </a:t>
                </a:r>
                <a:r>
                  <a:rPr lang="en-IN" sz="2400">
                    <a:solidFill>
                      <a:srgbClr val="78350F"/>
                    </a:solidFill>
                    <a:latin typeface="Cambria Math" panose="02040503050406030204" pitchFamily="18" charset="0"/>
                  </a:rPr>
                  <a:t>$lx+my=1$</a:t>
                </a:r>
                <a:r>
                  <a:rPr sz="2400" b="0">
                    <a:solidFill>
                      <a:srgbClr val="78350F"/>
                    </a:solidFill>
                    <a:latin typeface="Arial"/>
                  </a:rPr>
                  <a:t> touches </a:t>
                </a:r>
                <a:r>
                  <a:rPr lang="en-IN" sz="2400">
                    <a:solidFill>
                      <a:srgbClr val="78350F"/>
                    </a:solidFill>
                    <a:latin typeface="Cambria Math" panose="02040503050406030204" pitchFamily="18" charset="0"/>
                  </a:rPr>
                  <a:t>$\frac{x^2}{A^2}+\frac{y^2}{B^2}=1$</a:t>
                </a:r>
                <a:r>
                  <a:rPr sz="2400" b="0">
                    <a:solidFill>
                      <a:srgbClr val="78350F"/>
                    </a:solidFill>
                    <a:latin typeface="Arial"/>
                  </a:rPr>
                  <a:t> iff </a:t>
                </a:r>
                <a:r>
                  <a:rPr lang="en-IN" sz="2400">
                    <a:solidFill>
                      <a:srgbClr val="78350F"/>
                    </a:solidFill>
                    <a:latin typeface="Cambria Math" panose="02040503050406030204" pitchFamily="18" charset="0"/>
                  </a:rPr>
                  <a:t>$A^2l^2+B^2m^2=1$</a:t>
                </a:r>
                <a:r>
                  <a:rPr sz="2400" b="0">
                    <a:solidFill>
                      <a:srgbClr val="78350F"/>
                    </a:solidFill>
                    <a:latin typeface="Arial"/>
                  </a:rPr>
                  <a:t>; write </a:t>
                </a:r>
                <a:r>
                  <a:rPr lang="en-IN" sz="2400">
                    <a:solidFill>
                      <a:srgbClr val="78350F"/>
                    </a:solidFill>
                    <a:latin typeface="Cambria Math" panose="02040503050406030204" pitchFamily="18" charset="0"/>
                  </a:rPr>
                  <a:t>$PQ$</a:t>
                </a:r>
                <a:r>
                  <a:rPr sz="2400" b="0">
                    <a:solidFill>
                      <a:srgbClr val="78350F"/>
                    </a:solidFill>
                    <a:latin typeface="Arial"/>
                  </a:rPr>
                  <a:t> as the polar of </a:t>
                </a:r>
                <a:r>
                  <a:rPr lang="en-IN" sz="2400">
                    <a:solidFill>
                      <a:srgbClr val="78350F"/>
                    </a:solidFill>
                    <a:latin typeface="Cambria Math" panose="02040503050406030204" pitchFamily="18" charset="0"/>
                  </a:rPr>
                  <a:t>$R$</a:t>
                </a:r>
                <a:r>
                  <a:rPr sz="2400" b="0">
                    <a:solidFill>
                      <a:srgbClr val="78350F"/>
                    </a:solidFill>
                    <a:latin typeface="Arial"/>
                  </a:rPr>
                  <a:t> and apply this to the inner ellipse.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118103"/>
                <a:ext cx="10725912" cy="35570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of contact of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inner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line </a:t>
                </a:r>
                <a14:m>
                  <m:oMath xmlns:m="http://schemas.openxmlformats.org/officeDocument/2006/math">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 tangent iff </a:t>
                </a:r>
                <a14:m>
                  <m:oMath xmlns:m="http://schemas.openxmlformats.org/officeDocument/2006/math">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118103"/>
                <a:ext cx="10725912" cy="35570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of contact of </a:t>
                </a:r>
                <a:r>
                  <a:rPr lang="en-IN" sz="2400">
                    <a:solidFill>
                      <a:srgbClr val="111827"/>
                    </a:solidFill>
                    <a:latin typeface="Cambria Math" panose="02040503050406030204" pitchFamily="18" charset="0"/>
                  </a:rPr>
                  <a:t>$R(h,k)$</a:t>
                </a:r>
                <a:r>
                  <a:rPr sz="2400" b="0">
                    <a:solidFill>
                      <a:srgbClr val="111827"/>
                    </a:solidFill>
                    <a:latin typeface="Arial"/>
                  </a:rPr>
                  <a:t> for </a:t>
                </a:r>
                <a:r>
                  <a:rPr lang="en-IN" sz="2400">
                    <a:solidFill>
                      <a:srgbClr val="111827"/>
                    </a:solidFill>
                    <a:latin typeface="Cambria Math" panose="02040503050406030204" pitchFamily="18" charset="0"/>
                  </a:rPr>
                  <a:t>$\frac{x^2}{6}+\frac{y^2}{3}=1$</a:t>
                </a:r>
                <a:r>
                  <a:rPr sz="2400" b="0">
                    <a:solidFill>
                      <a:srgbClr val="111827"/>
                    </a:solidFill>
                    <a:latin typeface="Arial"/>
                  </a:rPr>
                  <a:t> is </a:t>
                </a:r>
                <a:r>
                  <a:rPr lang="en-IN" sz="2400">
                    <a:solidFill>
                      <a:srgbClr val="111827"/>
                    </a:solidFill>
                    <a:latin typeface="Cambria Math" panose="02040503050406030204" pitchFamily="18" charset="0"/>
                  </a:rPr>
                  <a:t>$\frac{hx}{6}+\frac{ky}{3}=1$</a:t>
                </a:r>
                <a:r>
                  <a:rPr sz="2400" b="0">
                    <a:solidFill>
                      <a:srgbClr val="111827"/>
                    </a:solidFill>
                    <a:latin typeface="Arial"/>
                  </a:rPr>
                  <a:t>, i.e. </a:t>
                </a:r>
                <a:r>
                  <a:rPr lang="en-IN" sz="2400">
                    <a:solidFill>
                      <a:srgbClr val="111827"/>
                    </a:solidFill>
                    <a:latin typeface="Cambria Math" panose="02040503050406030204" pitchFamily="18" charset="0"/>
                  </a:rPr>
                  <a:t>$lx+my=1$</a:t>
                </a:r>
                <a:r>
                  <a:rPr sz="2400" b="0">
                    <a:solidFill>
                      <a:srgbClr val="111827"/>
                    </a:solidFill>
                    <a:latin typeface="Arial"/>
                  </a:rPr>
                  <a:t> with </a:t>
                </a:r>
                <a:r>
                  <a:rPr lang="en-IN" sz="2400">
                    <a:solidFill>
                      <a:srgbClr val="111827"/>
                    </a:solidFill>
                    <a:latin typeface="Cambria Math" panose="02040503050406030204" pitchFamily="18" charset="0"/>
                  </a:rPr>
                  <a:t>$l=\frac h6,\ m=\frac k3$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inner ellipse </a:t>
                </a:r>
                <a:r>
                  <a:rPr lang="en-IN" sz="2400">
                    <a:solidFill>
                      <a:srgbClr val="111827"/>
                    </a:solidFill>
                    <a:latin typeface="Cambria Math" panose="02040503050406030204" pitchFamily="18" charset="0"/>
                  </a:rPr>
                  <a:t>$\frac{x^2}{4}+\frac{y^2}{1}=1$</a:t>
                </a:r>
                <a:r>
                  <a:rPr sz="2400" b="0">
                    <a:solidFill>
                      <a:srgbClr val="111827"/>
                    </a:solidFill>
                    <a:latin typeface="Arial"/>
                  </a:rPr>
                  <a:t> the line </a:t>
                </a:r>
                <a:r>
                  <a:rPr lang="en-IN" sz="2400">
                    <a:solidFill>
                      <a:srgbClr val="111827"/>
                    </a:solidFill>
                    <a:latin typeface="Cambria Math" panose="02040503050406030204" pitchFamily="18" charset="0"/>
                  </a:rPr>
                  <a:t>$lx+my=1$</a:t>
                </a:r>
                <a:r>
                  <a:rPr sz="2400" b="0">
                    <a:solidFill>
                      <a:srgbClr val="111827"/>
                    </a:solidFill>
                    <a:latin typeface="Arial"/>
                  </a:rPr>
                  <a:t> is a tangent iff </a:t>
                </a:r>
                <a:r>
                  <a:rPr lang="en-IN" sz="2400">
                    <a:solidFill>
                      <a:srgbClr val="111827"/>
                    </a:solidFill>
                    <a:latin typeface="Cambria Math" panose="02040503050406030204" pitchFamily="18" charset="0"/>
                  </a:rPr>
                  <a:t>$4l^2+1\cdot m^2=1$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is the director circle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the tangents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are perpendicular.</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$4\cdot\frac{h^2}{36}+\frac{k^2}{9}=1$</a:t>
                </a:r>
                <a:r>
                  <a:rPr sz="2400" b="0">
                    <a:solidFill>
                      <a:srgbClr val="111827"/>
                    </a:solidFill>
                    <a:latin typeface="Arial"/>
                  </a:rPr>
                  <a:t>, i.e. </a:t>
                </a:r>
                <a:r>
                  <a:rPr lang="en-IN" sz="2400">
                    <a:solidFill>
                      <a:srgbClr val="111827"/>
                    </a:solidFill>
                    <a:latin typeface="Cambria Math" panose="02040503050406030204" pitchFamily="18" charset="0"/>
                  </a:rPr>
                  <a:t>$\frac{h^2}{9}+\frac{k^2}{9}=1$</a:t>
                </a:r>
                <a:r>
                  <a:rPr sz="2400" b="0">
                    <a:solidFill>
                      <a:srgbClr val="111827"/>
                    </a:solidFill>
                    <a:latin typeface="Arial"/>
                  </a:rPr>
                  <a:t> and </a:t>
                </a:r>
                <a:r>
                  <a:rPr lang="en-IN" sz="2400">
                    <a:solidFill>
                      <a:srgbClr val="111827"/>
                    </a:solidFill>
                    <a:latin typeface="Cambria Math" panose="02040503050406030204" pitchFamily="18" charset="0"/>
                  </a:rPr>
                  <a:t>$h^2+k^2=9$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is the director circle of </a:t>
                </a:r>
                <a:r>
                  <a:rPr lang="en-IN" sz="2400">
                    <a:solidFill>
                      <a:srgbClr val="111827"/>
                    </a:solidFill>
                    <a:latin typeface="Cambria Math" panose="02040503050406030204" pitchFamily="18" charset="0"/>
                  </a:rPr>
                  <a:t>$x^2+2y^2=6$</a:t>
                </a:r>
                <a:r>
                  <a:rPr sz="2400" b="0">
                    <a:solidFill>
                      <a:srgbClr val="111827"/>
                    </a:solidFill>
                    <a:latin typeface="Arial"/>
                  </a:rPr>
                  <a:t> (</a:t>
                </a:r>
                <a:r>
                  <a:rPr lang="en-IN" sz="2400">
                    <a:solidFill>
                      <a:srgbClr val="111827"/>
                    </a:solidFill>
                    <a:latin typeface="Cambria Math" panose="02040503050406030204" pitchFamily="18" charset="0"/>
                  </a:rPr>
                  <a:t>$x^2+y^2=6+3$</a:t>
                </a:r>
                <a:r>
                  <a:rPr sz="2400" b="0">
                    <a:solidFill>
                      <a:srgbClr val="111827"/>
                    </a:solidFill>
                    <a:latin typeface="Arial"/>
                  </a:rPr>
                  <a:t>), so the tangents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perpendicular.</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The tangents at </a:t>
                </a:r>
                <a14:m>
                  <m:oMath xmlns:m="http://schemas.openxmlformats.org/officeDocument/2006/math">
                    <m:r>
                      <a:rPr lang="en-IN" sz="2800" i="1">
                        <a:solidFill>
                          <a:srgbClr val="15803D"/>
                        </a:solidFill>
                        <a:latin typeface="Cambria Math" panose="02040503050406030204" pitchFamily="18" charset="0"/>
                      </a:rPr>
                      <m:t>𝑃</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𝑄</m:t>
                    </m:r>
                  </m:oMath>
                </a14:m>
                <a:r>
                  <a:rPr sz="2800" b="1">
                    <a:solidFill>
                      <a:srgbClr val="15803D"/>
                    </a:solidFill>
                    <a:latin typeface="Arial"/>
                  </a:rPr>
                  <a:t> meet on </a:t>
                </a:r>
                <a14:m>
                  <m:oMath xmlns:m="http://schemas.openxmlformats.org/officeDocument/2006/math">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9</m:t>
                    </m:r>
                  </m:oMath>
                </a14:m>
                <a:r>
                  <a:rPr sz="2800" b="1">
                    <a:solidFill>
                      <a:srgbClr val="15803D"/>
                    </a:solidFill>
                    <a:latin typeface="Arial"/>
                  </a:rPr>
                  <a:t>, the director circle of </a:t>
                </a:r>
                <a14:m>
                  <m:oMath xmlns:m="http://schemas.openxmlformats.org/officeDocument/2006/math">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6</m:t>
                    </m:r>
                  </m:oMath>
                </a14:m>
                <a:r>
                  <a:rPr sz="2800" b="1">
                    <a:solidFill>
                      <a:srgbClr val="15803D"/>
                    </a:solidFill>
                    <a:latin typeface="Arial"/>
                  </a:rPr>
                  <a:t>, so they are perpendicular</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The tangents at </a:t>
                </a:r>
                <a:r>
                  <a:rPr lang="en-IN" sz="2800">
                    <a:solidFill>
                      <a:srgbClr val="15803D"/>
                    </a:solidFill>
                    <a:latin typeface="Cambria Math" panose="02040503050406030204" pitchFamily="18" charset="0"/>
                  </a:rPr>
                  <a:t>$P,Q$</a:t>
                </a:r>
                <a:r>
                  <a:rPr sz="2800" b="1">
                    <a:solidFill>
                      <a:srgbClr val="15803D"/>
                    </a:solidFill>
                    <a:latin typeface="Arial"/>
                  </a:rPr>
                  <a:t> meet on </a:t>
                </a:r>
                <a:r>
                  <a:rPr lang="en-IN" sz="2800">
                    <a:solidFill>
                      <a:srgbClr val="15803D"/>
                    </a:solidFill>
                    <a:latin typeface="Cambria Math" panose="02040503050406030204" pitchFamily="18" charset="0"/>
                  </a:rPr>
                  <a:t>$x^2+y^2=9$</a:t>
                </a:r>
                <a:r>
                  <a:rPr sz="2800" b="1">
                    <a:solidFill>
                      <a:srgbClr val="15803D"/>
                    </a:solidFill>
                    <a:latin typeface="Arial"/>
                  </a:rPr>
                  <a:t>, the director circle of </a:t>
                </a:r>
                <a:r>
                  <a:rPr lang="en-IN" sz="2800">
                    <a:solidFill>
                      <a:srgbClr val="15803D"/>
                    </a:solidFill>
                    <a:latin typeface="Cambria Math" panose="02040503050406030204" pitchFamily="18" charset="0"/>
                  </a:rPr>
                  <a:t>$x^2+2y^2=6$</a:t>
                </a:r>
                <a:r>
                  <a:rPr sz="2800" b="1">
                    <a:solidFill>
                      <a:srgbClr val="15803D"/>
                    </a:solidFill>
                    <a:latin typeface="Arial"/>
                  </a:rPr>
                  <a:t>, so they are perpendicular</a:t>
                </a:r>
                <a:endParaRPr sz="2800">
                  <a:solidFill>
                    <a:srgbClr val="15803D"/>
                  </a:solidFill>
                </a:endParaRPr>
              </a:p>
            </p:txBody>
          </p:sp>
        </mc:Fallback>
      </mc:AlternateContent>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of contact (polar) of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respect to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a:t>
                </a:r>
                <a14:m>
                  <m:oMath xmlns:m="http://schemas.openxmlformats.org/officeDocument/2006/math">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touches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iff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director circle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from any point on it the two tangents are perpendicular, and conversely.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the pole locus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 circle because both coefficients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36</m:t>
                        </m:r>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are equal; for general data it would be a conic.</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of contact (polar) of </a:t>
                </a:r>
                <a:r>
                  <a:rPr lang="en-IN" sz="2400">
                    <a:solidFill>
                      <a:srgbClr val="111827"/>
                    </a:solidFill>
                    <a:latin typeface="Cambria Math" panose="02040503050406030204" pitchFamily="18" charset="0"/>
                  </a:rPr>
                  <a:t>$R(h,k)$</a:t>
                </a:r>
                <a:r>
                  <a:rPr sz="2400" b="0">
                    <a:solidFill>
                      <a:srgbClr val="111827"/>
                    </a:solidFill>
                    <a:latin typeface="Arial"/>
                  </a:rPr>
                  <a:t> with respect to </a:t>
                </a:r>
                <a:r>
                  <a:rPr lang="en-IN" sz="2400">
                    <a:solidFill>
                      <a:srgbClr val="111827"/>
                    </a:solidFill>
                    <a:latin typeface="Cambria Math" panose="02040503050406030204" pitchFamily="18" charset="0"/>
                  </a:rPr>
                  <a:t>$\frac{x^2}{a^2}+\frac{y^2}{b^2}=1$</a:t>
                </a:r>
                <a:r>
                  <a:rPr sz="2400" b="0">
                    <a:solidFill>
                      <a:srgbClr val="111827"/>
                    </a:solidFill>
                    <a:latin typeface="Arial"/>
                  </a:rPr>
                  <a:t> is </a:t>
                </a:r>
                <a:r>
                  <a:rPr lang="en-IN" sz="2400">
                    <a:solidFill>
                      <a:srgbClr val="111827"/>
                    </a:solidFill>
                    <a:latin typeface="Cambria Math" panose="02040503050406030204" pitchFamily="18" charset="0"/>
                  </a:rPr>
                  <a:t>$\frac{hx}{a^2}+\frac{ky}{b^2}=1$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a:t>
                </a:r>
                <a:r>
                  <a:rPr lang="en-IN" sz="2400">
                    <a:solidFill>
                      <a:srgbClr val="111827"/>
                    </a:solidFill>
                    <a:latin typeface="Cambria Math" panose="02040503050406030204" pitchFamily="18" charset="0"/>
                  </a:rPr>
                  <a:t>$lx+my=1$</a:t>
                </a:r>
                <a:r>
                  <a:rPr sz="2400" b="0">
                    <a:solidFill>
                      <a:srgbClr val="111827"/>
                    </a:solidFill>
                    <a:latin typeface="Arial"/>
                  </a:rPr>
                  <a:t> touches </a:t>
                </a:r>
                <a:r>
                  <a:rPr lang="en-IN" sz="2400">
                    <a:solidFill>
                      <a:srgbClr val="111827"/>
                    </a:solidFill>
                    <a:latin typeface="Cambria Math" panose="02040503050406030204" pitchFamily="18" charset="0"/>
                  </a:rPr>
                  <a:t>$\frac{x^2}{a^2}+\frac{y^2}{b^2}=1$</a:t>
                </a:r>
                <a:r>
                  <a:rPr sz="2400" b="0">
                    <a:solidFill>
                      <a:srgbClr val="111827"/>
                    </a:solidFill>
                    <a:latin typeface="Arial"/>
                  </a:rPr>
                  <a:t> iff </a:t>
                </a:r>
                <a:r>
                  <a:rPr lang="en-IN" sz="2400">
                    <a:solidFill>
                      <a:srgbClr val="111827"/>
                    </a:solidFill>
                    <a:latin typeface="Cambria Math" panose="02040503050406030204" pitchFamily="18" charset="0"/>
                  </a:rPr>
                  <a:t>$a^2l^2+b^2m^2=1$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director circle of </a:t>
                </a:r>
                <a:r>
                  <a:rPr lang="en-IN" sz="2400">
                    <a:solidFill>
                      <a:srgbClr val="111827"/>
                    </a:solidFill>
                    <a:latin typeface="Cambria Math" panose="02040503050406030204" pitchFamily="18" charset="0"/>
                  </a:rPr>
                  <a:t>$\frac{x^2}{a^2}+\frac{y^2}{b^2}=1$</a:t>
                </a:r>
                <a:r>
                  <a:rPr sz="2400" b="0">
                    <a:solidFill>
                      <a:srgbClr val="111827"/>
                    </a:solidFill>
                    <a:latin typeface="Arial"/>
                  </a:rPr>
                  <a:t> is </a:t>
                </a:r>
                <a:r>
                  <a:rPr lang="en-IN" sz="2400">
                    <a:solidFill>
                      <a:srgbClr val="111827"/>
                    </a:solidFill>
                    <a:latin typeface="Cambria Math" panose="02040503050406030204" pitchFamily="18" charset="0"/>
                  </a:rPr>
                  <a:t>$x^2+y^2=a^2+b^2$</a:t>
                </a:r>
                <a:r>
                  <a:rPr sz="2400" b="0">
                    <a:solidFill>
                      <a:srgbClr val="111827"/>
                    </a:solidFill>
                    <a:latin typeface="Arial"/>
                  </a:rPr>
                  <a:t>: from any point on it the two tangents are perpendicular, and conversely.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the pole locus </a:t>
                </a:r>
                <a:r>
                  <a:rPr lang="en-IN" sz="2400">
                    <a:solidFill>
                      <a:srgbClr val="111827"/>
                    </a:solidFill>
                    <a:latin typeface="Cambria Math" panose="02040503050406030204" pitchFamily="18" charset="0"/>
                  </a:rPr>
                  <a:t>$\frac{h^2}{9}+\frac{k^2}{9}=1$</a:t>
                </a:r>
                <a:r>
                  <a:rPr sz="2400" b="0">
                    <a:solidFill>
                      <a:srgbClr val="111827"/>
                    </a:solidFill>
                    <a:latin typeface="Arial"/>
                  </a:rPr>
                  <a:t> is a circle because both coefficients (</a:t>
                </a:r>
                <a:r>
                  <a:rPr lang="en-IN" sz="2400">
                    <a:solidFill>
                      <a:srgbClr val="111827"/>
                    </a:solidFill>
                    <a:latin typeface="Cambria Math" panose="02040503050406030204" pitchFamily="18" charset="0"/>
                  </a:rPr>
                  <a:t>$\frac{4}{36}$</a:t>
                </a:r>
                <a:r>
                  <a:rPr sz="2400" b="0">
                    <a:solidFill>
                      <a:srgbClr val="111827"/>
                    </a:solidFill>
                    <a:latin typeface="Arial"/>
                  </a:rPr>
                  <a:t> and </a:t>
                </a:r>
                <a:r>
                  <a:rPr lang="en-IN" sz="2400">
                    <a:solidFill>
                      <a:srgbClr val="111827"/>
                    </a:solidFill>
                    <a:latin typeface="Cambria Math" panose="02040503050406030204" pitchFamily="18" charset="0"/>
                  </a:rPr>
                  <a:t>$\frac19$</a:t>
                </a:r>
                <a:r>
                  <a:rPr sz="2400" b="0">
                    <a:solidFill>
                      <a:srgbClr val="111827"/>
                    </a:solidFill>
                    <a:latin typeface="Arial"/>
                  </a:rPr>
                  <a:t>) are equal; for general data it would be a conic.</a:t>
                </a:r>
                <a:endParaRPr sz="2400">
                  <a:solidFill>
                    <a:srgbClr val="111827"/>
                  </a:solidFill>
                </a:endParaRPr>
              </a:p>
            </p:txBody>
          </p:sp>
        </mc:Fallback>
      </mc:AlternateContent>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tangent to the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touches at the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on it in the first quadrant and meets the coordinate axes in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respectively. If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divides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in the ratio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reckoning from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find the equation of the tangent.</a:t>
                </a:r>
                <a:endParaRPr sz="2400">
                  <a:solidFill>
                    <a:srgbClr val="111827"/>
                  </a:solidFill>
                </a:endParaRPr>
              </a:p>
            </p:txBody>
          </p:sp>
        </mc:Choice>
        <mc:Fallback>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tangent to the ellipse </a:t>
                </a:r>
                <a:r>
                  <a:rPr lang="en-IN" sz="2400">
                    <a:solidFill>
                      <a:srgbClr val="111827"/>
                    </a:solidFill>
                    <a:latin typeface="Cambria Math" panose="02040503050406030204" pitchFamily="18" charset="0"/>
                  </a:rPr>
                  <a:t>$\frac{x^2}{a^2}+\frac{y^2}{b^2}=1$</a:t>
                </a:r>
                <a:r>
                  <a:rPr sz="2400" b="0">
                    <a:solidFill>
                      <a:srgbClr val="111827"/>
                    </a:solidFill>
                    <a:latin typeface="Arial"/>
                  </a:rPr>
                  <a:t> touches at the point </a:t>
                </a:r>
                <a:r>
                  <a:rPr lang="en-IN" sz="2400">
                    <a:solidFill>
                      <a:srgbClr val="111827"/>
                    </a:solidFill>
                    <a:latin typeface="Cambria Math" panose="02040503050406030204" pitchFamily="18" charset="0"/>
                  </a:rPr>
                  <a:t>$P$</a:t>
                </a:r>
                <a:r>
                  <a:rPr sz="2400" b="0">
                    <a:solidFill>
                      <a:srgbClr val="111827"/>
                    </a:solidFill>
                    <a:latin typeface="Arial"/>
                  </a:rPr>
                  <a:t> on it in the first quadrant and meets the coordinate axes in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respectively. If </a:t>
                </a:r>
                <a:r>
                  <a:rPr lang="en-IN" sz="2400">
                    <a:solidFill>
                      <a:srgbClr val="111827"/>
                    </a:solidFill>
                    <a:latin typeface="Cambria Math" panose="02040503050406030204" pitchFamily="18" charset="0"/>
                  </a:rPr>
                  <a:t>$P$</a:t>
                </a:r>
                <a:r>
                  <a:rPr sz="2400" b="0">
                    <a:solidFill>
                      <a:srgbClr val="111827"/>
                    </a:solidFill>
                    <a:latin typeface="Arial"/>
                  </a:rPr>
                  <a:t> divides </a:t>
                </a:r>
                <a:r>
                  <a:rPr lang="en-IN" sz="2400">
                    <a:solidFill>
                      <a:srgbClr val="111827"/>
                    </a:solidFill>
                    <a:latin typeface="Cambria Math" panose="02040503050406030204" pitchFamily="18" charset="0"/>
                  </a:rPr>
                  <a:t>$AB$</a:t>
                </a:r>
                <a:r>
                  <a:rPr sz="2400" b="0">
                    <a:solidFill>
                      <a:srgbClr val="111827"/>
                    </a:solidFill>
                    <a:latin typeface="Arial"/>
                  </a:rPr>
                  <a:t> in the ratio </a:t>
                </a:r>
                <a:r>
                  <a:rPr lang="en-IN" sz="2400">
                    <a:solidFill>
                      <a:srgbClr val="111827"/>
                    </a:solidFill>
                    <a:latin typeface="Cambria Math" panose="02040503050406030204" pitchFamily="18" charset="0"/>
                  </a:rPr>
                  <a:t>$3:1$</a:t>
                </a:r>
                <a:r>
                  <a:rPr sz="2400" b="0">
                    <a:solidFill>
                      <a:srgbClr val="111827"/>
                    </a:solidFill>
                    <a:latin typeface="Arial"/>
                  </a:rPr>
                  <a:t> reckoning from the </a:t>
                </a:r>
                <a:r>
                  <a:rPr lang="en-IN" sz="2400">
                    <a:solidFill>
                      <a:srgbClr val="111827"/>
                    </a:solidFill>
                    <a:latin typeface="Cambria Math" panose="02040503050406030204" pitchFamily="18" charset="0"/>
                  </a:rPr>
                  <a:t>$x$</a:t>
                </a:r>
                <a:r>
                  <a:rPr sz="2400" b="0">
                    <a:solidFill>
                      <a:srgbClr val="111827"/>
                    </a:solidFill>
                    <a:latin typeface="Arial"/>
                  </a:rPr>
                  <a:t>-axis, find the equation of the tangent.</a:t>
                </a:r>
                <a:endParaRPr sz="2400">
                  <a:solidFill>
                    <a:srgbClr val="111827"/>
                  </a:solidFill>
                </a:endParaRPr>
              </a:p>
            </p:txBody>
          </p:sp>
        </mc:Fallback>
      </mc:AlternateContent>
      <p:sp>
        <p:nvSpPr>
          <p:cNvPr id="5" name="Rectangle 4"/>
          <p:cNvSpPr/>
          <p:nvPr/>
        </p:nvSpPr>
        <p:spPr>
          <a:xfrm>
            <a:off x="731520" y="41081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to an ellipse at an eccentric angle (intercepts), Section formula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tangent at </a:t>
                </a:r>
                <a14:m>
                  <m:oMath xmlns:m="http://schemas.openxmlformats.org/officeDocument/2006/math">
                    <m:r>
                      <a:rPr lang="en-IN" sz="2400" i="1">
                        <a:solidFill>
                          <a:srgbClr val="78350F"/>
                        </a:solidFill>
                        <a:latin typeface="Cambria Math" panose="02040503050406030204" pitchFamily="18" charset="0"/>
                      </a:rPr>
                      <m:t>θ</m:t>
                    </m:r>
                  </m:oMath>
                </a14:m>
                <a:r>
                  <a:rPr sz="2400" b="0">
                    <a:solidFill>
                      <a:srgbClr val="78350F"/>
                    </a:solidFill>
                    <a:latin typeface="Arial"/>
                  </a:rPr>
                  <a:t> has intercepts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𝑎</m:t>
                        </m:r>
                      </m:num>
                      <m:den>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𝑏</m:t>
                        </m:r>
                      </m:num>
                      <m:den>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θ</m:t>
                        </m:r>
                      </m:den>
                    </m:f>
                  </m:oMath>
                </a14:m>
                <a:r>
                  <a:rPr sz="2400" b="0">
                    <a:solidFill>
                      <a:srgbClr val="78350F"/>
                    </a:solidFill>
                    <a:latin typeface="Arial"/>
                  </a:rPr>
                  <a:t>; the section formula for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gives </a:t>
                </a:r>
                <a14:m>
                  <m:oMath xmlns:m="http://schemas.openxmlformats.org/officeDocument/2006/math">
                    <m:sSup>
                      <m:e>
                        <m:r>
                          <m:rPr>
                            <m:sty m:val="p"/>
                          </m:rPr>
                          <a:rPr lang="en-IN" sz="2400">
                            <a:solidFill>
                              <a:srgbClr val="78350F"/>
                            </a:solidFill>
                            <a:latin typeface="Cambria Math" panose="02040503050406030204" pitchFamily="18" charset="0"/>
                          </a:rPr>
                          <m:t>cos</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4</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tangent at </a:t>
                </a:r>
                <a:r>
                  <a:rPr lang="en-IN" sz="2400">
                    <a:solidFill>
                      <a:srgbClr val="78350F"/>
                    </a:solidFill>
                    <a:latin typeface="Cambria Math" panose="02040503050406030204" pitchFamily="18" charset="0"/>
                  </a:rPr>
                  <a:t>$\theta$</a:t>
                </a:r>
                <a:r>
                  <a:rPr sz="2400" b="0">
                    <a:solidFill>
                      <a:srgbClr val="78350F"/>
                    </a:solidFill>
                    <a:latin typeface="Arial"/>
                  </a:rPr>
                  <a:t> has intercepts </a:t>
                </a:r>
                <a:r>
                  <a:rPr lang="en-IN" sz="2400">
                    <a:solidFill>
                      <a:srgbClr val="78350F"/>
                    </a:solidFill>
                    <a:latin typeface="Cambria Math" panose="02040503050406030204" pitchFamily="18" charset="0"/>
                  </a:rPr>
                  <a:t>$\frac a{\cos\theta},\frac b{\sin\theta}$</a:t>
                </a:r>
                <a:r>
                  <a:rPr sz="2400" b="0">
                    <a:solidFill>
                      <a:srgbClr val="78350F"/>
                    </a:solidFill>
                    <a:latin typeface="Arial"/>
                  </a:rPr>
                  <a:t>; the section formula for </a:t>
                </a:r>
                <a:r>
                  <a:rPr lang="en-IN" sz="2400">
                    <a:solidFill>
                      <a:srgbClr val="78350F"/>
                    </a:solidFill>
                    <a:latin typeface="Cambria Math" panose="02040503050406030204" pitchFamily="18" charset="0"/>
                  </a:rPr>
                  <a:t>$AP:PB=3:1$</a:t>
                </a:r>
                <a:r>
                  <a:rPr sz="2400" b="0">
                    <a:solidFill>
                      <a:srgbClr val="78350F"/>
                    </a:solidFill>
                    <a:latin typeface="Arial"/>
                  </a:rPr>
                  <a:t> gives </a:t>
                </a:r>
                <a:r>
                  <a:rPr lang="en-IN" sz="2400">
                    <a:solidFill>
                      <a:srgbClr val="78350F"/>
                    </a:solidFill>
                    <a:latin typeface="Cambria Math" panose="02040503050406030204" pitchFamily="18" charset="0"/>
                  </a:rPr>
                  <a:t>$\cos^2\theta=\frac14$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meets the axes at </a:t>
                </a:r>
                <a14:m>
                  <m:oMath xmlns:m="http://schemas.openxmlformats.org/officeDocument/2006/math">
                    <m:r>
                      <a:rPr lang="en-IN" sz="2400" i="1">
                        <a:solidFill>
                          <a:srgbClr val="111827"/>
                        </a:solidFill>
                        <a:latin typeface="Cambria Math" panose="02040503050406030204" pitchFamily="18" charset="0"/>
                      </a:rPr>
                      <m:t>𝐴</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divides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(from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Equate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$P(a\cos\theta,b\sin\theta)$</a:t>
                </a:r>
                <a:r>
                  <a:rPr sz="2400" b="0">
                    <a:solidFill>
                      <a:srgbClr val="111827"/>
                    </a:solidFill>
                    <a:latin typeface="Arial"/>
                  </a:rPr>
                  <a:t>: </a:t>
                </a:r>
                <a:r>
                  <a:rPr lang="en-IN" sz="2400">
                    <a:solidFill>
                      <a:srgbClr val="111827"/>
                    </a:solidFill>
                    <a:latin typeface="Cambria Math" panose="02040503050406030204" pitchFamily="18" charset="0"/>
                  </a:rPr>
                  <a:t>$\frac{x\cos\theta}{a}+\frac{y\sin\theta}{b}=1$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meets the axes at </a:t>
                </a:r>
                <a:r>
                  <a:rPr lang="en-IN" sz="2400">
                    <a:solidFill>
                      <a:srgbClr val="111827"/>
                    </a:solidFill>
                    <a:latin typeface="Cambria Math" panose="02040503050406030204" pitchFamily="18" charset="0"/>
                  </a:rPr>
                  <a:t>$A\left(\frac{a}{\cos\theta},0\right)$</a:t>
                </a:r>
                <a:r>
                  <a:rPr sz="2400" b="0">
                    <a:solidFill>
                      <a:srgbClr val="111827"/>
                    </a:solidFill>
                    <a:latin typeface="Arial"/>
                  </a:rPr>
                  <a:t> and </a:t>
                </a:r>
                <a:r>
                  <a:rPr lang="en-IN" sz="2400">
                    <a:solidFill>
                      <a:srgbClr val="111827"/>
                    </a:solidFill>
                    <a:latin typeface="Cambria Math" panose="02040503050406030204" pitchFamily="18" charset="0"/>
                  </a:rPr>
                  <a:t>$B\left(0,\frac{b}{\sin\theta}\right)$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t>
                </a:r>
                <a:r>
                  <a:rPr sz="2400" b="0">
                    <a:solidFill>
                      <a:srgbClr val="111827"/>
                    </a:solidFill>
                    <a:latin typeface="Arial"/>
                  </a:rPr>
                  <a:t> divides </a:t>
                </a:r>
                <a:r>
                  <a:rPr lang="en-IN" sz="2400">
                    <a:solidFill>
                      <a:srgbClr val="111827"/>
                    </a:solidFill>
                    <a:latin typeface="Cambria Math" panose="02040503050406030204" pitchFamily="18" charset="0"/>
                  </a:rPr>
                  <a:t>$AB$</a:t>
                </a:r>
                <a:r>
                  <a:rPr sz="2400" b="0">
                    <a:solidFill>
                      <a:srgbClr val="111827"/>
                    </a:solidFill>
                    <a:latin typeface="Arial"/>
                  </a:rPr>
                  <a:t> as </a:t>
                </a:r>
                <a:r>
                  <a:rPr lang="en-IN" sz="2400">
                    <a:solidFill>
                      <a:srgbClr val="111827"/>
                    </a:solidFill>
                    <a:latin typeface="Cambria Math" panose="02040503050406030204" pitchFamily="18" charset="0"/>
                  </a:rPr>
                  <a:t>$AP:PB=3:1$</a:t>
                </a:r>
                <a:r>
                  <a:rPr sz="2400" b="0">
                    <a:solidFill>
                      <a:srgbClr val="111827"/>
                    </a:solidFill>
                    <a:latin typeface="Arial"/>
                  </a:rPr>
                  <a:t> (from the </a:t>
                </a:r>
                <a:r>
                  <a:rPr lang="en-IN" sz="2400">
                    <a:solidFill>
                      <a:srgbClr val="111827"/>
                    </a:solidFill>
                    <a:latin typeface="Cambria Math" panose="02040503050406030204" pitchFamily="18" charset="0"/>
                  </a:rPr>
                  <a:t>$x$</a:t>
                </a:r>
                <a:r>
                  <a:rPr sz="2400" b="0">
                    <a:solidFill>
                      <a:srgbClr val="111827"/>
                    </a:solidFill>
                    <a:latin typeface="Arial"/>
                  </a:rPr>
                  <a:t>-axis): </a:t>
                </a:r>
                <a:r>
                  <a:rPr lang="en-IN" sz="2400">
                    <a:solidFill>
                      <a:srgbClr val="111827"/>
                    </a:solidFill>
                    <a:latin typeface="Cambria Math" panose="02040503050406030204" pitchFamily="18" charset="0"/>
                  </a:rPr>
                  <a:t>$P=\frac{1\cdot A+3\cdot B}{4}=\left(\frac{a}{4\cos\theta},\ \frac{3b}{4\sin\theta}\right)$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Equate to </a:t>
                </a:r>
                <a:r>
                  <a:rPr lang="en-IN" sz="2400">
                    <a:solidFill>
                      <a:srgbClr val="111827"/>
                    </a:solidFill>
                    <a:latin typeface="Cambria Math" panose="02040503050406030204" pitchFamily="18" charset="0"/>
                  </a:rPr>
                  <a:t>$(a\cos\theta,b\sin\theta)$</a:t>
                </a:r>
                <a:r>
                  <a:rPr sz="2400" b="0">
                    <a:solidFill>
                      <a:srgbClr val="111827"/>
                    </a:solidFill>
                    <a:latin typeface="Arial"/>
                  </a:rPr>
                  <a:t>: </a:t>
                </a:r>
                <a:r>
                  <a:rPr lang="en-IN" sz="2400">
                    <a:solidFill>
                      <a:srgbClr val="111827"/>
                    </a:solidFill>
                    <a:latin typeface="Cambria Math" panose="02040503050406030204" pitchFamily="18" charset="0"/>
                  </a:rPr>
                  <a:t>$\frac{a}{4\cos\theta}=a\cos\theta$</a:t>
                </a:r>
                <a:r>
                  <a:rPr sz="2400" b="0">
                    <a:solidFill>
                      <a:srgbClr val="111827"/>
                    </a:solidFill>
                    <a:latin typeface="Arial"/>
                  </a:rPr>
                  <a:t> and </a:t>
                </a:r>
                <a:r>
                  <a:rPr lang="en-IN" sz="2400">
                    <a:solidFill>
                      <a:srgbClr val="111827"/>
                    </a:solidFill>
                    <a:latin typeface="Cambria Math" panose="02040503050406030204" pitchFamily="18" charset="0"/>
                  </a:rPr>
                  <a:t>$\frac{3b}{4\sin\theta}=b\sin\theta$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(consistent), with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in the first quadrant: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$\cos^2\theta=\frac14$</a:t>
                </a:r>
                <a:r>
                  <a:rPr sz="2400" b="0">
                    <a:solidFill>
                      <a:srgbClr val="111827"/>
                    </a:solidFill>
                    <a:latin typeface="Arial"/>
                  </a:rPr>
                  <a:t> and </a:t>
                </a:r>
                <a:r>
                  <a:rPr lang="en-IN" sz="2400">
                    <a:solidFill>
                      <a:srgbClr val="111827"/>
                    </a:solidFill>
                    <a:latin typeface="Cambria Math" panose="02040503050406030204" pitchFamily="18" charset="0"/>
                  </a:rPr>
                  <a:t>$\sin^2\theta=\frac34$</a:t>
                </a:r>
                <a:r>
                  <a:rPr sz="2400" b="0">
                    <a:solidFill>
                      <a:srgbClr val="111827"/>
                    </a:solidFill>
                    <a:latin typeface="Arial"/>
                  </a:rPr>
                  <a:t> (consistent), with </a:t>
                </a:r>
                <a:r>
                  <a:rPr lang="en-IN" sz="2400">
                    <a:solidFill>
                      <a:srgbClr val="111827"/>
                    </a:solidFill>
                    <a:latin typeface="Cambria Math" panose="02040503050406030204" pitchFamily="18" charset="0"/>
                  </a:rPr>
                  <a:t>$P$</a:t>
                </a:r>
                <a:r>
                  <a:rPr sz="2400" b="0">
                    <a:solidFill>
                      <a:srgbClr val="111827"/>
                    </a:solidFill>
                    <a:latin typeface="Arial"/>
                  </a:rPr>
                  <a:t> in the first quadrant: </a:t>
                </a:r>
                <a:r>
                  <a:rPr lang="en-IN" sz="2400">
                    <a:solidFill>
                      <a:srgbClr val="111827"/>
                    </a:solidFill>
                    <a:latin typeface="Cambria Math" panose="02040503050406030204" pitchFamily="18" charset="0"/>
                  </a:rPr>
                  <a:t>$\cos\theta=\frac12$</a:t>
                </a:r>
                <a:r>
                  <a:rPr sz="2400" b="0">
                    <a:solidFill>
                      <a:srgbClr val="111827"/>
                    </a:solidFill>
                    <a:latin typeface="Arial"/>
                  </a:rPr>
                  <a:t>, </a:t>
                </a:r>
                <a:r>
                  <a:rPr lang="en-IN" sz="2400">
                    <a:solidFill>
                      <a:srgbClr val="111827"/>
                    </a:solidFill>
                    <a:latin typeface="Cambria Math" panose="02040503050406030204" pitchFamily="18" charset="0"/>
                  </a:rPr>
                  <a:t>$\sin\theta=\frac{\sqrt3}{2}$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r>
                <a:r>
                  <a:rPr lang="en-IN" sz="2400">
                    <a:solidFill>
                      <a:srgbClr val="111827"/>
                    </a:solidFill>
                    <a:latin typeface="Cambria Math" panose="02040503050406030204" pitchFamily="18" charset="0"/>
                  </a:rPr>
                  <a:t>$\frac{x}{2a}+\frac{\sqrt3\,y}{2b}=1$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$bx+a\sqrt3\,y=2ab$</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𝑏</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𝑎</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r>
                      <a:rPr lang="en-IN" sz="2800" i="1">
                        <a:solidFill>
                          <a:srgbClr val="15803D"/>
                        </a:solidFill>
                        <a:latin typeface="Cambria Math" panose="02040503050406030204" pitchFamily="18" charset="0"/>
                      </a:rPr>
                      <m:t> </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a:rPr lang="en-IN" sz="2800" i="1">
                        <a:solidFill>
                          <a:srgbClr val="15803D"/>
                        </a:solidFill>
                        <a:latin typeface="Cambria Math" panose="02040503050406030204" pitchFamily="18" charset="0"/>
                      </a:rPr>
                      <m:t>𝑎</m:t>
                    </m:r>
                    <m:r>
                      <a:rPr lang="en-IN" sz="2800" i="1">
                        <a:solidFill>
                          <a:srgbClr val="15803D"/>
                        </a:solidFill>
                        <a:latin typeface="Cambria Math" panose="02040503050406030204" pitchFamily="18" charset="0"/>
                      </a:rPr>
                      <m:t>𝑏</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$bx+a\sqrt3\,y=2ab$</a:t>
                </a:r>
                <a:endParaRPr sz="2800">
                  <a:solidFill>
                    <a:srgbClr val="15803D"/>
                  </a:solidFill>
                </a:endParaRPr>
              </a:p>
            </p:txBody>
          </p:sp>
        </mc:Fallback>
      </mc:AlternateContent>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point of contact divides the intercept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in the ratio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sSup>
                      <m:e>
                        <m:r>
                          <m:rPr>
                            <m:sty m:val="p"/>
                          </m:rPr>
                          <a:rPr lang="en-IN" sz="2400">
                            <a:solidFill>
                              <a:srgbClr val="78350F"/>
                            </a:solidFill>
                            <a:latin typeface="Cambria Math" panose="02040503050406030204" pitchFamily="18" charset="0"/>
                          </a:rPr>
                          <m:t>sin</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sSup>
                      <m:e>
                        <m:r>
                          <m:rPr>
                            <m:sty m:val="p"/>
                          </m:rPr>
                          <a:rPr lang="en-IN" sz="2400">
                            <a:solidFill>
                              <a:srgbClr val="78350F"/>
                            </a:solidFill>
                            <a:latin typeface="Cambria Math" panose="02040503050406030204" pitchFamily="18" charset="0"/>
                          </a:rPr>
                          <m:t>cos</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θ</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point of contact divides the intercept </a:t>
                </a:r>
                <a:r>
                  <a:rPr lang="en-IN" sz="2400">
                    <a:solidFill>
                      <a:srgbClr val="78350F"/>
                    </a:solidFill>
                    <a:latin typeface="Cambria Math" panose="02040503050406030204" pitchFamily="18" charset="0"/>
                  </a:rPr>
                  <a:t>$AB$</a:t>
                </a:r>
                <a:r>
                  <a:rPr sz="2400" b="0">
                    <a:solidFill>
                      <a:srgbClr val="78350F"/>
                    </a:solidFill>
                    <a:latin typeface="Arial"/>
                  </a:rPr>
                  <a:t> in the ratio </a:t>
                </a:r>
                <a:r>
                  <a:rPr lang="en-IN" sz="2400">
                    <a:solidFill>
                      <a:srgbClr val="78350F"/>
                    </a:solidFill>
                    <a:latin typeface="Cambria Math" panose="02040503050406030204" pitchFamily="18" charset="0"/>
                  </a:rPr>
                  <a:t>$AP:PB=\sin^2\theta:\cos^2\theta$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 the tangent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write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-coordinate gives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 the tangent </a:t>
                </a:r>
                <a:r>
                  <a:rPr lang="en-IN" sz="2400">
                    <a:solidFill>
                      <a:srgbClr val="111827"/>
                    </a:solidFill>
                    <a:latin typeface="Cambria Math" panose="02040503050406030204" pitchFamily="18" charset="0"/>
                  </a:rPr>
                  <a:t>$\frac{x\cos\theta}{a}+\frac{y\sin\theta}{b}=1$</a:t>
                </a:r>
                <a:r>
                  <a:rPr sz="2400" b="0">
                    <a:solidFill>
                      <a:srgbClr val="111827"/>
                    </a:solidFill>
                    <a:latin typeface="Arial"/>
                  </a:rPr>
                  <a:t>, write </a:t>
                </a:r>
                <a:r>
                  <a:rPr lang="en-IN" sz="2400">
                    <a:solidFill>
                      <a:srgbClr val="111827"/>
                    </a:solidFill>
                    <a:latin typeface="Cambria Math" panose="02040503050406030204" pitchFamily="18" charset="0"/>
                  </a:rPr>
                  <a:t>$P=A+t(B-A)$</a:t>
                </a:r>
                <a:r>
                  <a:rPr sz="2400" b="0">
                    <a:solidFill>
                      <a:srgbClr val="111827"/>
                    </a:solidFill>
                    <a:latin typeface="Arial"/>
                  </a:rPr>
                  <a:t> with </a:t>
                </a:r>
                <a:r>
                  <a:rPr lang="en-IN" sz="2400">
                    <a:solidFill>
                      <a:srgbClr val="111827"/>
                    </a:solidFill>
                    <a:latin typeface="Cambria Math" panose="02040503050406030204" pitchFamily="18" charset="0"/>
                  </a:rPr>
                  <a:t>$A=\left(\frac a{\cos\theta},0\right)$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r>
                  <a:rPr lang="en-IN" sz="2400">
                    <a:solidFill>
                      <a:srgbClr val="111827"/>
                    </a:solidFill>
                    <a:latin typeface="Cambria Math" panose="02040503050406030204" pitchFamily="18" charset="0"/>
                  </a:rPr>
                  <a:t>$x$</a:t>
                </a:r>
                <a:r>
                  <a:rPr sz="2400" b="0">
                    <a:solidFill>
                      <a:srgbClr val="111827"/>
                    </a:solidFill>
                    <a:latin typeface="Arial"/>
                  </a:rPr>
                  <a:t>-coordinate gives </a:t>
                </a:r>
                <a:r>
                  <a:rPr lang="en-IN" sz="2400">
                    <a:solidFill>
                      <a:srgbClr val="111827"/>
                    </a:solidFill>
                    <a:latin typeface="Cambria Math" panose="02040503050406030204" pitchFamily="18" charset="0"/>
                  </a:rPr>
                  <a:t>$a\cos\theta=(1-t)\frac{a}{\cos\theta}$</a:t>
                </a:r>
                <a:r>
                  <a:rPr sz="2400" b="0">
                    <a:solidFill>
                      <a:srgbClr val="111827"/>
                    </a:solidFill>
                    <a:latin typeface="Arial"/>
                  </a:rPr>
                  <a:t>, so </a:t>
                </a:r>
                <a:r>
                  <a:rPr lang="en-IN" sz="2400">
                    <a:solidFill>
                      <a:srgbClr val="111827"/>
                    </a:solidFill>
                    <a:latin typeface="Cambria Math" panose="02040503050406030204" pitchFamily="18" charset="0"/>
                  </a:rPr>
                  <a:t>$1-t=\cos^2\theta$</a:t>
                </a:r>
                <a:r>
                  <a:rPr sz="2400" b="0">
                    <a:solidFill>
                      <a:srgbClr val="111827"/>
                    </a:solidFill>
                    <a:latin typeface="Arial"/>
                  </a:rPr>
                  <a:t> and </a:t>
                </a:r>
                <a:r>
                  <a:rPr lang="en-IN" sz="2400">
                    <a:solidFill>
                      <a:srgbClr val="111827"/>
                    </a:solidFill>
                    <a:latin typeface="Cambria Math" panose="02040503050406030204" pitchFamily="18" charset="0"/>
                  </a:rPr>
                  <a:t>$t=\sin^2\theta$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$AP:PB=t:(1-t)=\sin^2\theta:\cos^2\theta$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Given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(first quadrant).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Given </a:t>
                </a:r>
                <a:r>
                  <a:rPr lang="en-IN" sz="2400">
                    <a:solidFill>
                      <a:srgbClr val="111827"/>
                    </a:solidFill>
                    <a:latin typeface="Cambria Math" panose="02040503050406030204" pitchFamily="18" charset="0"/>
                  </a:rPr>
                  <a:t>$AP:PB=3:1$</a:t>
                </a:r>
                <a:r>
                  <a:rPr sz="2400" b="0">
                    <a:solidFill>
                      <a:srgbClr val="111827"/>
                    </a:solidFill>
                    <a:latin typeface="Arial"/>
                  </a:rPr>
                  <a:t>: </a:t>
                </a:r>
                <a:r>
                  <a:rPr lang="en-IN" sz="2400">
                    <a:solidFill>
                      <a:srgbClr val="111827"/>
                    </a:solidFill>
                    <a:latin typeface="Cambria Math" panose="02040503050406030204" pitchFamily="18" charset="0"/>
                  </a:rPr>
                  <a:t>$\sin^2\theta=\frac34,\ \cos^2\theta=\frac14$</a:t>
                </a:r>
                <a:r>
                  <a:rPr sz="2400" b="0">
                    <a:solidFill>
                      <a:srgbClr val="111827"/>
                    </a:solidFill>
                    <a:latin typeface="Arial"/>
                  </a:rPr>
                  <a:t>, so </a:t>
                </a:r>
                <a:r>
                  <a:rPr lang="en-IN" sz="2400">
                    <a:solidFill>
                      <a:srgbClr val="111827"/>
                    </a:solidFill>
                    <a:latin typeface="Cambria Math" panose="02040503050406030204" pitchFamily="18" charset="0"/>
                  </a:rPr>
                  <a:t>$\theta=60^\circ$</a:t>
                </a:r>
                <a:r>
                  <a:rPr sz="2400" b="0">
                    <a:solidFill>
                      <a:srgbClr val="111827"/>
                    </a:solidFill>
                    <a:latin typeface="Arial"/>
                  </a:rPr>
                  <a:t> (first quadrant).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r>
                <a:r>
                  <a:rPr lang="en-IN" sz="2400">
                    <a:solidFill>
                      <a:srgbClr val="111827"/>
                    </a:solidFill>
                    <a:latin typeface="Cambria Math" panose="02040503050406030204" pitchFamily="18" charset="0"/>
                  </a:rPr>
                  <a:t>$\frac{x}{2a}+\frac{\sqrt3y}{2b}=1$</a:t>
                </a:r>
                <a:r>
                  <a:rPr sz="2400" b="0">
                    <a:solidFill>
                      <a:srgbClr val="111827"/>
                    </a:solidFill>
                    <a:latin typeface="Arial"/>
                  </a:rPr>
                  <a:t>, i.e. </a:t>
                </a:r>
                <a:r>
                  <a:rPr lang="en-IN" sz="2400">
                    <a:solidFill>
                      <a:srgbClr val="111827"/>
                    </a:solidFill>
                    <a:latin typeface="Cambria Math" panose="02040503050406030204" pitchFamily="18" charset="0"/>
                  </a:rPr>
                  <a:t>$bx+\sqrt3\,ay=2ab$</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𝑏</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𝑎</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r>
                      <a:rPr lang="en-IN" sz="2800" i="1">
                        <a:solidFill>
                          <a:srgbClr val="15803D"/>
                        </a:solidFill>
                        <a:latin typeface="Cambria Math" panose="02040503050406030204" pitchFamily="18" charset="0"/>
                      </a:rPr>
                      <m:t> </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a:rPr lang="en-IN" sz="2800" i="1">
                        <a:solidFill>
                          <a:srgbClr val="15803D"/>
                        </a:solidFill>
                        <a:latin typeface="Cambria Math" panose="02040503050406030204" pitchFamily="18" charset="0"/>
                      </a:rPr>
                      <m:t>𝑎</m:t>
                    </m:r>
                    <m:r>
                      <a:rPr lang="en-IN" sz="2800" i="1">
                        <a:solidFill>
                          <a:srgbClr val="15803D"/>
                        </a:solidFill>
                        <a:latin typeface="Cambria Math" panose="02040503050406030204" pitchFamily="18" charset="0"/>
                      </a:rPr>
                      <m:t>𝑏</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$bx+a\sqrt3\,y=2ab$</a:t>
                </a:r>
                <a:endParaRPr sz="2800">
                  <a:solidFill>
                    <a:srgbClr val="15803D"/>
                  </a:solidFill>
                </a:endParaRPr>
              </a:p>
            </p:txBody>
          </p:sp>
        </mc:Fallback>
      </mc:AlternateContent>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 at eccentric angle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to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has intercepts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oMath>
                </a14:m>
                <a:r>
                  <a:rPr sz="2400" b="0">
                    <a:solidFill>
                      <a:srgbClr val="111827"/>
                    </a:solidFill>
                    <a:latin typeface="Arial"/>
                  </a:rPr>
                  <a:t>, and the point of contact divides the intercept in the ratio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 (measured from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triangle with the axes: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least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when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(the contact point is then the midpoint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 at eccentric angle </a:t>
                </a:r>
                <a:r>
                  <a:rPr lang="en-IN" sz="2400">
                    <a:solidFill>
                      <a:srgbClr val="111827"/>
                    </a:solidFill>
                    <a:latin typeface="Cambria Math" panose="02040503050406030204" pitchFamily="18" charset="0"/>
                  </a:rPr>
                  <a:t>$\theta$</a:t>
                </a:r>
                <a:r>
                  <a:rPr sz="2400" b="0">
                    <a:solidFill>
                      <a:srgbClr val="111827"/>
                    </a:solidFill>
                    <a:latin typeface="Arial"/>
                  </a:rPr>
                  <a:t> to </a:t>
                </a:r>
                <a:r>
                  <a:rPr lang="en-IN" sz="2400">
                    <a:solidFill>
                      <a:srgbClr val="111827"/>
                    </a:solidFill>
                    <a:latin typeface="Cambria Math" panose="02040503050406030204" pitchFamily="18" charset="0"/>
                  </a:rPr>
                  <a:t>$\frac{x^2}{a^2}+\frac{y^2}{b^2}=1$</a:t>
                </a:r>
                <a:r>
                  <a:rPr sz="2400" b="0">
                    <a:solidFill>
                      <a:srgbClr val="111827"/>
                    </a:solidFill>
                    <a:latin typeface="Arial"/>
                  </a:rPr>
                  <a:t> has intercepts </a:t>
                </a:r>
                <a:r>
                  <a:rPr lang="en-IN" sz="2400">
                    <a:solidFill>
                      <a:srgbClr val="111827"/>
                    </a:solidFill>
                    <a:latin typeface="Cambria Math" panose="02040503050406030204" pitchFamily="18" charset="0"/>
                  </a:rPr>
                  <a:t>$\frac{a}{\cos\theta}$</a:t>
                </a:r>
                <a:r>
                  <a:rPr sz="2400" b="0">
                    <a:solidFill>
                      <a:srgbClr val="111827"/>
                    </a:solidFill>
                    <a:latin typeface="Arial"/>
                  </a:rPr>
                  <a:t> and </a:t>
                </a:r>
                <a:r>
                  <a:rPr lang="en-IN" sz="2400">
                    <a:solidFill>
                      <a:srgbClr val="111827"/>
                    </a:solidFill>
                    <a:latin typeface="Cambria Math" panose="02040503050406030204" pitchFamily="18" charset="0"/>
                  </a:rPr>
                  <a:t>$\frac{b}{\sin\theta}$</a:t>
                </a:r>
                <a:r>
                  <a:rPr sz="2400" b="0">
                    <a:solidFill>
                      <a:srgbClr val="111827"/>
                    </a:solidFill>
                    <a:latin typeface="Arial"/>
                  </a:rPr>
                  <a:t>, and the point of contact divides the intercept in the ratio </a:t>
                </a:r>
                <a:r>
                  <a:rPr lang="en-IN" sz="2400">
                    <a:solidFill>
                      <a:srgbClr val="111827"/>
                    </a:solidFill>
                    <a:latin typeface="Cambria Math" panose="02040503050406030204" pitchFamily="18" charset="0"/>
                  </a:rPr>
                  <a:t>$AP:PB=\sin^2\theta:\cos^2\theta$</a:t>
                </a:r>
                <a:r>
                  <a:rPr sz="2400" b="0">
                    <a:solidFill>
                      <a:srgbClr val="111827"/>
                    </a:solidFill>
                    <a:latin typeface="Arial"/>
                  </a:rPr>
                  <a:t> (measured from the </a:t>
                </a:r>
                <a:r>
                  <a:rPr lang="en-IN" sz="2400">
                    <a:solidFill>
                      <a:srgbClr val="111827"/>
                    </a:solidFill>
                    <a:latin typeface="Cambria Math" panose="02040503050406030204" pitchFamily="18" charset="0"/>
                  </a:rPr>
                  <a:t>$x$</a:t>
                </a:r>
                <a:r>
                  <a:rPr sz="2400" b="0">
                    <a:solidFill>
                      <a:srgbClr val="111827"/>
                    </a:solidFill>
                    <a:latin typeface="Arial"/>
                  </a:rPr>
                  <a:t>-axis).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triangle with the axes: </a:t>
                </a:r>
                <a:r>
                  <a:rPr lang="en-IN" sz="2400">
                    <a:solidFill>
                      <a:srgbClr val="111827"/>
                    </a:solidFill>
                    <a:latin typeface="Cambria Math" panose="02040503050406030204" pitchFamily="18" charset="0"/>
                  </a:rPr>
                  <a:t>$\frac{ab}{2\sin\theta\cos\theta}=\frac{ab}{\sin2\theta}\ge ab$</a:t>
                </a:r>
                <a:r>
                  <a:rPr sz="2400" b="0">
                    <a:solidFill>
                      <a:srgbClr val="111827"/>
                    </a:solidFill>
                    <a:latin typeface="Arial"/>
                  </a:rPr>
                  <a:t>, least (</a:t>
                </a:r>
                <a:r>
                  <a:rPr lang="en-IN" sz="2400">
                    <a:solidFill>
                      <a:srgbClr val="111827"/>
                    </a:solidFill>
                    <a:latin typeface="Cambria Math" panose="02040503050406030204" pitchFamily="18" charset="0"/>
                  </a:rPr>
                  <a:t>$=ab$</a:t>
                </a:r>
                <a:r>
                  <a:rPr sz="2400" b="0">
                    <a:solidFill>
                      <a:srgbClr val="111827"/>
                    </a:solidFill>
                    <a:latin typeface="Arial"/>
                  </a:rPr>
                  <a:t>) when </a:t>
                </a:r>
                <a:r>
                  <a:rPr lang="en-IN" sz="2400">
                    <a:solidFill>
                      <a:srgbClr val="111827"/>
                    </a:solidFill>
                    <a:latin typeface="Cambria Math" panose="02040503050406030204" pitchFamily="18" charset="0"/>
                  </a:rPr>
                  <a:t>$\theta=45^\circ$</a:t>
                </a:r>
                <a:r>
                  <a:rPr sz="2400" b="0">
                    <a:solidFill>
                      <a:srgbClr val="111827"/>
                    </a:solidFill>
                    <a:latin typeface="Arial"/>
                  </a:rPr>
                  <a:t> (the contact point is then the midpoint of </a:t>
                </a:r>
                <a:r>
                  <a:rPr lang="en-IN" sz="2400">
                    <a:solidFill>
                      <a:srgbClr val="111827"/>
                    </a:solidFill>
                    <a:latin typeface="Cambria Math" panose="02040503050406030204" pitchFamily="18" charset="0"/>
                  </a:rPr>
                  <a:t>$AB$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Length of the intercept: </a:t>
                </a:r>
                <a14:m>
                  <m:oMath xmlns:m="http://schemas.openxmlformats.org/officeDocument/2006/math">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(Cauchy-Schwarz with </a:t>
                </a:r>
                <a14:m>
                  <m:oMath xmlns:m="http://schemas.openxmlformats.org/officeDocument/2006/math">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least when </a:t>
                </a:r>
                <a14:m>
                  <m:oMath xmlns:m="http://schemas.openxmlformats.org/officeDocument/2006/math">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Section formula: the point dividing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in the ratio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𝐵</m:t>
                        </m:r>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Length of the intercept: </a:t>
                </a:r>
                <a:r>
                  <a:rPr lang="en-IN" sz="2400">
                    <a:solidFill>
                      <a:srgbClr val="111827"/>
                    </a:solidFill>
                    <a:latin typeface="Cambria Math" panose="02040503050406030204" pitchFamily="18" charset="0"/>
                  </a:rPr>
                  <a:t>$AB^2=a^2\sec^2\theta+b^2\operatorname{cosec}^2\theta\ge(a+b)^2$</a:t>
                </a:r>
                <a:r>
                  <a:rPr sz="2400" b="0">
                    <a:solidFill>
                      <a:srgbClr val="111827"/>
                    </a:solidFill>
                    <a:latin typeface="Arial"/>
                  </a:rPr>
                  <a:t> (Cauchy-Schwarz with </a:t>
                </a:r>
                <a:r>
                  <a:rPr lang="en-IN" sz="2400">
                    <a:solidFill>
                      <a:srgbClr val="111827"/>
                    </a:solidFill>
                    <a:latin typeface="Cambria Math" panose="02040503050406030204" pitchFamily="18" charset="0"/>
                  </a:rPr>
                  <a:t>$\sin^2\theta+\cos^2\theta=1$</a:t>
                </a:r>
                <a:r>
                  <a:rPr sz="2400" b="0">
                    <a:solidFill>
                      <a:srgbClr val="111827"/>
                    </a:solidFill>
                    <a:latin typeface="Arial"/>
                  </a:rPr>
                  <a:t>), least when </a:t>
                </a:r>
                <a:r>
                  <a:rPr lang="en-IN" sz="2400">
                    <a:solidFill>
                      <a:srgbClr val="111827"/>
                    </a:solidFill>
                    <a:latin typeface="Cambria Math" panose="02040503050406030204" pitchFamily="18" charset="0"/>
                  </a:rPr>
                  <a:t>$\tan^2\theta=\frac ba$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Section formula: the point dividing </a:t>
                </a:r>
                <a:r>
                  <a:rPr lang="en-IN" sz="2400">
                    <a:solidFill>
                      <a:srgbClr val="111827"/>
                    </a:solidFill>
                    <a:latin typeface="Cambria Math" panose="02040503050406030204" pitchFamily="18" charset="0"/>
                  </a:rPr>
                  <a:t>$A$</a:t>
                </a:r>
                <a:r>
                  <a:rPr sz="2400" b="0">
                    <a:solidFill>
                      <a:srgbClr val="111827"/>
                    </a:solidFill>
                    <a:latin typeface="Arial"/>
                  </a:rPr>
                  <a:t> to </a:t>
                </a:r>
                <a:r>
                  <a:rPr lang="en-IN" sz="2400">
                    <a:solidFill>
                      <a:srgbClr val="111827"/>
                    </a:solidFill>
                    <a:latin typeface="Cambria Math" panose="02040503050406030204" pitchFamily="18" charset="0"/>
                  </a:rPr>
                  <a:t>$B$</a:t>
                </a:r>
                <a:r>
                  <a:rPr sz="2400" b="0">
                    <a:solidFill>
                      <a:srgbClr val="111827"/>
                    </a:solidFill>
                    <a:latin typeface="Arial"/>
                  </a:rPr>
                  <a:t> in the ratio </a:t>
                </a:r>
                <a:r>
                  <a:rPr lang="en-IN" sz="2400">
                    <a:solidFill>
                      <a:srgbClr val="111827"/>
                    </a:solidFill>
                    <a:latin typeface="Cambria Math" panose="02040503050406030204" pitchFamily="18" charset="0"/>
                  </a:rPr>
                  <a:t>$m:n$</a:t>
                </a:r>
                <a:r>
                  <a:rPr sz="2400" b="0">
                    <a:solidFill>
                      <a:srgbClr val="111827"/>
                    </a:solidFill>
                    <a:latin typeface="Arial"/>
                  </a:rPr>
                  <a:t> is </a:t>
                </a:r>
                <a:r>
                  <a:rPr lang="en-IN" sz="2400">
                    <a:solidFill>
                      <a:srgbClr val="111827"/>
                    </a:solidFill>
                    <a:latin typeface="Cambria Math" panose="02040503050406030204" pitchFamily="18" charset="0"/>
                  </a:rPr>
                  <a:t>$\frac{nA+mB}{m+n}$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and </a:t>
                </a:r>
                <a14:m>
                  <m:oMath xmlns:m="http://schemas.openxmlformats.org/officeDocument/2006/math">
                    <m:sSubSup>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𝑖</m:t>
                        </m:r>
                      </m:sub>
                      <m:sup>
                        <m:r>
                          <m:rPr>
                            <m:sty m:val="p"/>
                          </m:rPr>
                          <a:rPr lang="en-IN" sz="2400">
                            <a:solidFill>
                              <a:srgbClr val="111827"/>
                            </a:solidFill>
                            <a:latin typeface="Cambria Math" panose="02040503050406030204" pitchFamily="18" charset="0"/>
                          </a:rPr>
                          <m:t>′</m:t>
                        </m:r>
                      </m:sup>
                    </m:sSubSup>
                  </m:oMath>
                </a14:m>
                <a:r>
                  <a:rPr sz="2400" b="0">
                    <a:solidFill>
                      <a:srgbClr val="111827"/>
                    </a:solidFill>
                    <a:latin typeface="Arial"/>
                  </a:rPr>
                  <a:t> be the feet of the perpendiculars drawn from the foci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on a tangent </a:t>
                </a:r>
                <a14:m>
                  <m:oMath xmlns:m="http://schemas.openxmlformats.org/officeDocument/2006/math">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to an ellipse whose length of semi-major axis is </a:t>
                </a:r>
                <a14:m>
                  <m:oMath xmlns:m="http://schemas.openxmlformats.org/officeDocument/2006/math">
                    <m:r>
                      <a:rPr lang="en-IN" sz="2400" i="1">
                        <a:solidFill>
                          <a:srgbClr val="111827"/>
                        </a:solidFill>
                        <a:latin typeface="Cambria Math" panose="02040503050406030204" pitchFamily="18" charset="0"/>
                      </a:rPr>
                      <m:t>20</m:t>
                    </m:r>
                  </m:oMath>
                </a14:m>
                <a:r>
                  <a:rPr sz="2400" b="0">
                    <a:solidFill>
                      <a:srgbClr val="111827"/>
                    </a:solidFill>
                    <a:latin typeface="Arial"/>
                  </a:rPr>
                  <a:t>. If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10</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𝑆</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sSubSup>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𝑖</m:t>
                        </m:r>
                      </m:sub>
                      <m:sup>
                        <m:r>
                          <m:rPr>
                            <m:sty m:val="p"/>
                          </m:rPr>
                          <a:rPr lang="en-IN" sz="2400">
                            <a:solidFill>
                              <a:srgbClr val="111827"/>
                            </a:solidFill>
                            <a:latin typeface="Cambria Math" panose="02040503050406030204" pitchFamily="18" charset="0"/>
                          </a:rPr>
                          <m:t>′</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2560</m:t>
                    </m:r>
                  </m:oMath>
                </a14:m>
                <a:r>
                  <a:rPr sz="2400" b="0">
                    <a:solidFill>
                      <a:srgbClr val="111827"/>
                    </a:solidFill>
                    <a:latin typeface="Arial"/>
                  </a:rPr>
                  <a:t>, then find the value of </a:t>
                </a:r>
                <a14:m>
                  <m:oMath xmlns:m="http://schemas.openxmlformats.org/officeDocument/2006/math">
                    <m:r>
                      <a:rPr lang="en-IN" sz="2400" i="1">
                        <a:solidFill>
                          <a:srgbClr val="111827"/>
                        </a:solidFill>
                        <a:latin typeface="Cambria Math" panose="02040503050406030204" pitchFamily="18" charset="0"/>
                      </a:rPr>
                      <m:t>100</m:t>
                    </m:r>
                    <m:r>
                      <a:rPr lang="en-IN" sz="2400" i="1">
                        <a:solidFill>
                          <a:srgbClr val="111827"/>
                        </a:solidFill>
                        <a:latin typeface="Cambria Math" panose="02040503050406030204" pitchFamily="18" charset="0"/>
                      </a:rPr>
                      <m:t>𝑒</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𝑒</m:t>
                    </m:r>
                  </m:oMath>
                </a14:m>
                <a:r>
                  <a:rPr sz="2400" b="0">
                    <a:solidFill>
                      <a:srgbClr val="111827"/>
                    </a:solidFill>
                    <a:latin typeface="Arial"/>
                  </a:rPr>
                  <a:t> denotes the eccentricity.)</a:t>
                </a:r>
                <a:endParaRPr sz="2400">
                  <a:solidFill>
                    <a:srgbClr val="111827"/>
                  </a:solidFill>
                </a:endParaRPr>
              </a:p>
            </p:txBody>
          </p:sp>
        </mc:Choice>
        <mc:Fallback>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$P_i$</a:t>
                </a:r>
                <a:r>
                  <a:rPr sz="2400" b="0">
                    <a:solidFill>
                      <a:srgbClr val="111827"/>
                    </a:solidFill>
                    <a:latin typeface="Arial"/>
                  </a:rPr>
                  <a:t> and </a:t>
                </a:r>
                <a:r>
                  <a:rPr lang="en-IN" sz="2400">
                    <a:solidFill>
                      <a:srgbClr val="111827"/>
                    </a:solidFill>
                    <a:latin typeface="Cambria Math" panose="02040503050406030204" pitchFamily="18" charset="0"/>
                  </a:rPr>
                  <a:t>$P_i'$</a:t>
                </a:r>
                <a:r>
                  <a:rPr sz="2400" b="0">
                    <a:solidFill>
                      <a:srgbClr val="111827"/>
                    </a:solidFill>
                    <a:latin typeface="Arial"/>
                  </a:rPr>
                  <a:t> be the feet of the perpendiculars drawn from the foci </a:t>
                </a:r>
                <a:r>
                  <a:rPr lang="en-IN" sz="2400">
                    <a:solidFill>
                      <a:srgbClr val="111827"/>
                    </a:solidFill>
                    <a:latin typeface="Cambria Math" panose="02040503050406030204" pitchFamily="18" charset="0"/>
                  </a:rPr>
                  <a:t>$S,S'$</a:t>
                </a:r>
                <a:r>
                  <a:rPr sz="2400" b="0">
                    <a:solidFill>
                      <a:srgbClr val="111827"/>
                    </a:solidFill>
                    <a:latin typeface="Arial"/>
                  </a:rPr>
                  <a:t> on a tangent </a:t>
                </a:r>
                <a:r>
                  <a:rPr lang="en-IN" sz="2400">
                    <a:solidFill>
                      <a:srgbClr val="111827"/>
                    </a:solidFill>
                    <a:latin typeface="Cambria Math" panose="02040503050406030204" pitchFamily="18" charset="0"/>
                  </a:rPr>
                  <a:t>$T_i$</a:t>
                </a:r>
                <a:r>
                  <a:rPr sz="2400" b="0">
                    <a:solidFill>
                      <a:srgbClr val="111827"/>
                    </a:solidFill>
                    <a:latin typeface="Arial"/>
                  </a:rPr>
                  <a:t> to an ellipse whose length of semi-major axis is </a:t>
                </a:r>
                <a:r>
                  <a:rPr lang="en-IN" sz="2400">
                    <a:solidFill>
                      <a:srgbClr val="111827"/>
                    </a:solidFill>
                    <a:latin typeface="Cambria Math" panose="02040503050406030204" pitchFamily="18" charset="0"/>
                  </a:rPr>
                  <a:t>$20$</a:t>
                </a:r>
                <a:r>
                  <a:rPr sz="2400" b="0">
                    <a:solidFill>
                      <a:srgbClr val="111827"/>
                    </a:solidFill>
                    <a:latin typeface="Arial"/>
                  </a:rPr>
                  <a:t>. If </a:t>
                </a:r>
                <a:r>
                  <a:rPr lang="en-IN" sz="2400">
                    <a:solidFill>
                      <a:srgbClr val="111827"/>
                    </a:solidFill>
                    <a:latin typeface="Cambria Math" panose="02040503050406030204" pitchFamily="18" charset="0"/>
                  </a:rPr>
                  <a:t>$\sum_{i=1}^{10}(SP_i)(S'P_i')=2560$</a:t>
                </a:r>
                <a:r>
                  <a:rPr sz="2400" b="0">
                    <a:solidFill>
                      <a:srgbClr val="111827"/>
                    </a:solidFill>
                    <a:latin typeface="Arial"/>
                  </a:rPr>
                  <a:t>, then find the value of </a:t>
                </a:r>
                <a:r>
                  <a:rPr lang="en-IN" sz="2400">
                    <a:solidFill>
                      <a:srgbClr val="111827"/>
                    </a:solidFill>
                    <a:latin typeface="Cambria Math" panose="02040503050406030204" pitchFamily="18" charset="0"/>
                  </a:rPr>
                  <a:t>$100e$</a:t>
                </a:r>
                <a:r>
                  <a:rPr sz="2400" b="0">
                    <a:solidFill>
                      <a:srgbClr val="111827"/>
                    </a:solidFill>
                    <a:latin typeface="Arial"/>
                  </a:rPr>
                  <a:t>. (Where </a:t>
                </a:r>
                <a:r>
                  <a:rPr lang="en-IN" sz="2400">
                    <a:solidFill>
                      <a:srgbClr val="111827"/>
                    </a:solidFill>
                    <a:latin typeface="Cambria Math" panose="02040503050406030204" pitchFamily="18" charset="0"/>
                  </a:rPr>
                  <a:t>$e$</a:t>
                </a:r>
                <a:r>
                  <a:rPr sz="2400" b="0">
                    <a:solidFill>
                      <a:srgbClr val="111827"/>
                    </a:solidFill>
                    <a:latin typeface="Arial"/>
                  </a:rPr>
                  <a:t> denotes the eccentricity.)</a:t>
                </a:r>
                <a:endParaRPr sz="2400">
                  <a:solidFill>
                    <a:srgbClr val="111827"/>
                  </a:solidFill>
                </a:endParaRPr>
              </a:p>
            </p:txBody>
          </p:sp>
        </mc:Fallback>
      </mc:AlternateContent>
      <p:sp>
        <p:nvSpPr>
          <p:cNvPr id="5" name="Rectangle 4"/>
          <p:cNvSpPr/>
          <p:nvPr/>
        </p:nvSpPr>
        <p:spPr>
          <a:xfrm>
            <a:off x="731520" y="3888739"/>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Product of the focal perpendiculars on a tangent of an ellipse, Eccentricity of an ellipse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product of the focal perpendiculars on every tangent equals </a:t>
                </a:r>
                <a14:m>
                  <m:oMath xmlns:m="http://schemas.openxmlformats.org/officeDocument/2006/math">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so the sum is </a:t>
                </a:r>
                <a14:m>
                  <m:oMath xmlns:m="http://schemas.openxmlformats.org/officeDocument/2006/math">
                    <m:r>
                      <a:rPr lang="en-IN" sz="2400" i="1">
                        <a:solidFill>
                          <a:srgbClr val="78350F"/>
                        </a:solidFill>
                        <a:latin typeface="Cambria Math" panose="02040503050406030204" pitchFamily="18" charset="0"/>
                      </a:rPr>
                      <m:t>10</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product of the focal perpendiculars on every tangent equals </a:t>
                </a:r>
                <a:r>
                  <a:rPr lang="en-IN" sz="2400">
                    <a:solidFill>
                      <a:srgbClr val="78350F"/>
                    </a:solidFill>
                    <a:latin typeface="Cambria Math" panose="02040503050406030204" pitchFamily="18" charset="0"/>
                  </a:rPr>
                  <a:t>$b^2$</a:t>
                </a:r>
                <a:r>
                  <a:rPr sz="2400" b="0">
                    <a:solidFill>
                      <a:srgbClr val="78350F"/>
                    </a:solidFill>
                    <a:latin typeface="Arial"/>
                  </a:rPr>
                  <a:t>, so the sum is </a:t>
                </a:r>
                <a:r>
                  <a:rPr lang="en-IN" sz="2400">
                    <a:solidFill>
                      <a:srgbClr val="78350F"/>
                    </a:solidFill>
                    <a:latin typeface="Cambria Math" panose="02040503050406030204" pitchFamily="18" charset="0"/>
                  </a:rPr>
                  <a:t>$10b^2$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10</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𝑆</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sSubSup>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𝑖</m:t>
                        </m:r>
                      </m:sub>
                      <m:sup>
                        <m:r>
                          <m:rPr>
                            <m:sty m:val="p"/>
                          </m:rPr>
                          <a:rPr lang="en-IN" sz="2400">
                            <a:solidFill>
                              <a:srgbClr val="111827"/>
                            </a:solidFill>
                            <a:latin typeface="Cambria Math" panose="02040503050406030204" pitchFamily="18" charset="0"/>
                          </a:rPr>
                          <m:t>′</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every tangent of an ellipse, </a:t>
                </a:r>
                <a14:m>
                  <m:oMath xmlns:m="http://schemas.openxmlformats.org/officeDocument/2006/math">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𝑃</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10</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256</m:t>
                            </m:r>
                          </m:num>
                          <m:den>
                            <m:r>
                              <a:rPr lang="en-IN" sz="2400" i="1">
                                <a:solidFill>
                                  <a:srgbClr val="111827"/>
                                </a:solidFill>
                                <a:latin typeface="Cambria Math" panose="02040503050406030204" pitchFamily="18" charset="0"/>
                              </a:rPr>
                              <m:t>400</m:t>
                            </m:r>
                          </m:den>
                        </m:f>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144</m:t>
                            </m:r>
                          </m:num>
                          <m:den>
                            <m:r>
                              <a:rPr lang="en-IN" sz="2400" i="1">
                                <a:solidFill>
                                  <a:srgbClr val="111827"/>
                                </a:solidFill>
                                <a:latin typeface="Cambria Math" panose="02040503050406030204" pitchFamily="18" charset="0"/>
                              </a:rPr>
                              <m:t>400</m:t>
                            </m:r>
                          </m:den>
                        </m:f>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20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100</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$\sum_{i=1}^{10}(SP_i)(S'P_i')=2560$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every tangent of an ellipse, </a:t>
                </a:r>
                <a:r>
                  <a:rPr lang="en-IN" sz="2400">
                    <a:solidFill>
                      <a:srgbClr val="111827"/>
                    </a:solidFill>
                    <a:latin typeface="Cambria Math" panose="02040503050406030204" pitchFamily="18" charset="0"/>
                  </a:rPr>
                  <a:t>$SP\cdot S'P'=b^2$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$10b^2=2560$</a:t>
                </a:r>
                <a:r>
                  <a:rPr sz="2400" b="0">
                    <a:solidFill>
                      <a:srgbClr val="111827"/>
                    </a:solidFill>
                    <a:latin typeface="Arial"/>
                  </a:rPr>
                  <a:t>, i.e. </a:t>
                </a:r>
                <a:r>
                  <a:rPr lang="en-IN" sz="2400">
                    <a:solidFill>
                      <a:srgbClr val="111827"/>
                    </a:solidFill>
                    <a:latin typeface="Cambria Math" panose="02040503050406030204" pitchFamily="18" charset="0"/>
                  </a:rPr>
                  <a:t>$b^2=256$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$a=20$</a:t>
                </a:r>
                <a:r>
                  <a:rPr sz="2400" b="0">
                    <a:solidFill>
                      <a:srgbClr val="111827"/>
                    </a:solidFill>
                    <a:latin typeface="Arial"/>
                  </a:rPr>
                  <a:t>: </a:t>
                </a:r>
                <a:r>
                  <a:rPr lang="en-IN" sz="2400">
                    <a:solidFill>
                      <a:srgbClr val="111827"/>
                    </a:solidFill>
                    <a:latin typeface="Cambria Math" panose="02040503050406030204" pitchFamily="18" charset="0"/>
                  </a:rPr>
                  <a:t>$e=\sqrt{1-\frac{b^2}{a^2}}=\sqrt{1-\frac{256}{400}}=\sqrt{\frac{144}{400}}=\frac{12}{20}=\frac35$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$100e=60$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60</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$60$</a:t>
                </a:r>
                <a:endParaRPr sz="2800">
                  <a:solidFill>
                    <a:srgbClr val="15803D"/>
                  </a:solidFill>
                </a:endParaRPr>
              </a:p>
            </p:txBody>
          </p:sp>
        </mc:Fallback>
      </mc:AlternateContent>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Since the product is the same for every tangent, evaluate it on the vertex tangent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oMath>
                </a14:m>
                <a:r>
                  <a:rPr sz="2400" b="0">
                    <a:solidFill>
                      <a:srgbClr val="78350F"/>
                    </a:solidFill>
                    <a:latin typeface="Arial"/>
                  </a:rPr>
                  <a:t>, where the feet of the perpendiculars are obvious.</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Since the product is the same for every tangent, evaluate it on the vertex tangent </a:t>
                </a:r>
                <a:r>
                  <a:rPr lang="en-IN" sz="2400">
                    <a:solidFill>
                      <a:srgbClr val="78350F"/>
                    </a:solidFill>
                    <a:latin typeface="Cambria Math" panose="02040503050406030204" pitchFamily="18" charset="0"/>
                  </a:rPr>
                  <a:t>$x=a$</a:t>
                </a:r>
                <a:r>
                  <a:rPr sz="2400" b="0">
                    <a:solidFill>
                      <a:srgbClr val="78350F"/>
                    </a:solidFill>
                    <a:latin typeface="Arial"/>
                  </a:rPr>
                  <a:t>, where the feet of the perpendiculars are obvious.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product </a:t>
                </a:r>
                <a14:m>
                  <m:oMath xmlns:m="http://schemas.openxmlformats.org/officeDocument/2006/math">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𝑃</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does not depend on the tangent, so compute it on the tangent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at the vertex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perpendicular from each focus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has its foot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𝑃</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Product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product </a:t>
                </a:r>
                <a:r>
                  <a:rPr lang="en-IN" sz="2400">
                    <a:solidFill>
                      <a:srgbClr val="111827"/>
                    </a:solidFill>
                    <a:latin typeface="Cambria Math" panose="02040503050406030204" pitchFamily="18" charset="0"/>
                  </a:rPr>
                  <a:t>$SP\cdot S'P'$</a:t>
                </a:r>
                <a:r>
                  <a:rPr sz="2400" b="0">
                    <a:solidFill>
                      <a:srgbClr val="111827"/>
                    </a:solidFill>
                    <a:latin typeface="Arial"/>
                  </a:rPr>
                  <a:t> does not depend on the tangent, so compute it on the tangent </a:t>
                </a:r>
                <a:r>
                  <a:rPr lang="en-IN" sz="2400">
                    <a:solidFill>
                      <a:srgbClr val="111827"/>
                    </a:solidFill>
                    <a:latin typeface="Cambria Math" panose="02040503050406030204" pitchFamily="18" charset="0"/>
                  </a:rPr>
                  <a:t>$x=a$</a:t>
                </a:r>
                <a:r>
                  <a:rPr sz="2400" b="0">
                    <a:solidFill>
                      <a:srgbClr val="111827"/>
                    </a:solidFill>
                    <a:latin typeface="Arial"/>
                  </a:rPr>
                  <a:t> at the vertex </a:t>
                </a:r>
                <a:r>
                  <a:rPr lang="en-IN" sz="2400">
                    <a:solidFill>
                      <a:srgbClr val="111827"/>
                    </a:solidFill>
                    <a:latin typeface="Cambria Math" panose="02040503050406030204" pitchFamily="18" charset="0"/>
                  </a:rPr>
                  <a:t>$(a,0)$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perpendicular from each focus </a:t>
                </a:r>
                <a:r>
                  <a:rPr lang="en-IN" sz="2400">
                    <a:solidFill>
                      <a:srgbClr val="111827"/>
                    </a:solidFill>
                    <a:latin typeface="Cambria Math" panose="02040503050406030204" pitchFamily="18" charset="0"/>
                  </a:rPr>
                  <a:t>$(\pm ae,0)$</a:t>
                </a:r>
                <a:r>
                  <a:rPr sz="2400" b="0">
                    <a:solidFill>
                      <a:srgbClr val="111827"/>
                    </a:solidFill>
                    <a:latin typeface="Arial"/>
                  </a:rPr>
                  <a:t> to </a:t>
                </a:r>
                <a:r>
                  <a:rPr lang="en-IN" sz="2400">
                    <a:solidFill>
                      <a:srgbClr val="111827"/>
                    </a:solidFill>
                    <a:latin typeface="Cambria Math" panose="02040503050406030204" pitchFamily="18" charset="0"/>
                  </a:rPr>
                  <a:t>$x=a$</a:t>
                </a:r>
                <a:r>
                  <a:rPr sz="2400" b="0">
                    <a:solidFill>
                      <a:srgbClr val="111827"/>
                    </a:solidFill>
                    <a:latin typeface="Arial"/>
                  </a:rPr>
                  <a:t> has its foot at </a:t>
                </a:r>
                <a:r>
                  <a:rPr lang="en-IN" sz="2400">
                    <a:solidFill>
                      <a:srgbClr val="111827"/>
                    </a:solidFill>
                    <a:latin typeface="Cambria Math" panose="02040503050406030204" pitchFamily="18" charset="0"/>
                  </a:rPr>
                  <a:t>$(a,0)$</a:t>
                </a:r>
                <a:r>
                  <a:rPr sz="2400" b="0">
                    <a:solidFill>
                      <a:srgbClr val="111827"/>
                    </a:solidFill>
                    <a:latin typeface="Arial"/>
                  </a:rPr>
                  <a:t>, so </a:t>
                </a:r>
                <a:r>
                  <a:rPr lang="en-IN" sz="2400">
                    <a:solidFill>
                      <a:srgbClr val="111827"/>
                    </a:solidFill>
                    <a:latin typeface="Cambria Math" panose="02040503050406030204" pitchFamily="18" charset="0"/>
                  </a:rPr>
                  <a:t>$SP=a-ae$</a:t>
                </a:r>
                <a:r>
                  <a:rPr sz="2400" b="0">
                    <a:solidFill>
                      <a:srgbClr val="111827"/>
                    </a:solidFill>
                    <a:latin typeface="Arial"/>
                  </a:rPr>
                  <a:t> and </a:t>
                </a:r>
                <a:r>
                  <a:rPr lang="en-IN" sz="2400">
                    <a:solidFill>
                      <a:srgbClr val="111827"/>
                    </a:solidFill>
                    <a:latin typeface="Cambria Math" panose="02040503050406030204" pitchFamily="18" charset="0"/>
                  </a:rPr>
                  <a:t>$S'P'=a+ae$</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Product </a:t>
                </a:r>
                <a:r>
                  <a:rPr lang="en-IN" sz="2400">
                    <a:solidFill>
                      <a:srgbClr val="111827"/>
                    </a:solidFill>
                    <a:latin typeface="Cambria Math" panose="02040503050406030204" pitchFamily="18" charset="0"/>
                  </a:rPr>
                  <a:t>$=a^2(1-e^2)=b^2$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10</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400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25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100</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$10a^2(1-e^2)=2560$</a:t>
                </a:r>
                <a:r>
                  <a:rPr sz="2400" b="0">
                    <a:solidFill>
                      <a:srgbClr val="111827"/>
                    </a:solidFill>
                    <a:latin typeface="Arial"/>
                  </a:rPr>
                  <a:t>, i.e. </a:t>
                </a:r>
                <a:r>
                  <a:rPr lang="en-IN" sz="2400">
                    <a:solidFill>
                      <a:srgbClr val="111827"/>
                    </a:solidFill>
                    <a:latin typeface="Cambria Math" panose="02040503050406030204" pitchFamily="18" charset="0"/>
                  </a:rPr>
                  <a:t>$400(1-e^2)=256$</a:t>
                </a:r>
                <a:r>
                  <a:rPr sz="2400" b="0">
                    <a:solidFill>
                      <a:srgbClr val="111827"/>
                    </a:solidFill>
                    <a:latin typeface="Arial"/>
                  </a:rPr>
                  <a:t> and </a:t>
                </a:r>
                <a:r>
                  <a:rPr lang="en-IN" sz="2400">
                    <a:solidFill>
                      <a:srgbClr val="111827"/>
                    </a:solidFill>
                    <a:latin typeface="Cambria Math" panose="02040503050406030204" pitchFamily="18" charset="0"/>
                  </a:rPr>
                  <a:t>$1-e^2=\frac{16}{25}$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$e=\frac35$</a:t>
                </a:r>
                <a:r>
                  <a:rPr sz="2400" b="0">
                    <a:solidFill>
                      <a:srgbClr val="111827"/>
                    </a:solidFill>
                    <a:latin typeface="Arial"/>
                  </a:rPr>
                  <a:t> and </a:t>
                </a:r>
                <a:r>
                  <a:rPr lang="en-IN" sz="2400">
                    <a:solidFill>
                      <a:srgbClr val="111827"/>
                    </a:solidFill>
                    <a:latin typeface="Cambria Math" panose="02040503050406030204" pitchFamily="18" charset="0"/>
                  </a:rPr>
                  <a:t>$100e=60$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60</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$60$</a:t>
                </a:r>
                <a:endParaRPr sz="2800">
                  <a:solidFill>
                    <a:srgbClr val="15803D"/>
                  </a:solidFill>
                </a:endParaRPr>
              </a:p>
            </p:txBody>
          </p:sp>
        </mc:Fallback>
      </mc:AlternateContent>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product of the perpendiculars from the two foci to any tangent is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Proof: tangent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product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same holds for the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(product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feet of the focal perpendiculars on all tangents lie on the auxiliary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Quick use: a constant property of all tangents can be read off from the simplest tangent (vertex tangent).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$\frac{x^2}{a^2}+\frac{y^2}{b^2}=1$</a:t>
                </a:r>
                <a:r>
                  <a:rPr sz="2400" b="0">
                    <a:solidFill>
                      <a:srgbClr val="111827"/>
                    </a:solidFill>
                    <a:latin typeface="Arial"/>
                  </a:rPr>
                  <a:t> the product of the perpendiculars from the two foci to any tangent is </a:t>
                </a:r>
                <a:r>
                  <a:rPr lang="en-IN" sz="2400">
                    <a:solidFill>
                      <a:srgbClr val="111827"/>
                    </a:solidFill>
                    <a:latin typeface="Cambria Math" panose="02040503050406030204" pitchFamily="18" charset="0"/>
                  </a:rPr>
                  <a:t>$b^2$</a:t>
                </a:r>
                <a:r>
                  <a:rPr sz="2400" b="0">
                    <a:solidFill>
                      <a:srgbClr val="111827"/>
                    </a:solidFill>
                    <a:latin typeface="Arial"/>
                  </a:rPr>
                  <a:t>. Proof: tangent </a:t>
                </a:r>
                <a:r>
                  <a:rPr lang="en-IN" sz="2400">
                    <a:solidFill>
                      <a:srgbClr val="111827"/>
                    </a:solidFill>
                    <a:latin typeface="Cambria Math" panose="02040503050406030204" pitchFamily="18" charset="0"/>
                  </a:rPr>
                  <a:t>$y=mx+c$</a:t>
                </a:r>
                <a:r>
                  <a:rPr sz="2400" b="0">
                    <a:solidFill>
                      <a:srgbClr val="111827"/>
                    </a:solidFill>
                    <a:latin typeface="Arial"/>
                  </a:rPr>
                  <a:t>, </a:t>
                </a:r>
                <a:r>
                  <a:rPr lang="en-IN" sz="2400">
                    <a:solidFill>
                      <a:srgbClr val="111827"/>
                    </a:solidFill>
                    <a:latin typeface="Cambria Math" panose="02040503050406030204" pitchFamily="18" charset="0"/>
                  </a:rPr>
                  <a:t>$c^2=a^2m^2+b^2$</a:t>
                </a:r>
                <a:r>
                  <a:rPr sz="2400" b="0">
                    <a:solidFill>
                      <a:srgbClr val="111827"/>
                    </a:solidFill>
                    <a:latin typeface="Arial"/>
                  </a:rPr>
                  <a:t>: product </a:t>
                </a:r>
                <a:r>
                  <a:rPr lang="en-IN" sz="2400">
                    <a:solidFill>
                      <a:srgbClr val="111827"/>
                    </a:solidFill>
                    <a:latin typeface="Cambria Math" panose="02040503050406030204" pitchFamily="18" charset="0"/>
                  </a:rPr>
                  <a:t>$=\frac{(c+mae)(c-mae)}{1+m^2}=\frac{c^2-m^2a^2e^2}{1+m^2}=\frac{b^2(1+m^2)}{1+m^2}=b^2$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same holds for the hyperbola </a:t>
                </a:r>
                <a:r>
                  <a:rPr lang="en-IN" sz="2400">
                    <a:solidFill>
                      <a:srgbClr val="111827"/>
                    </a:solidFill>
                    <a:latin typeface="Cambria Math" panose="02040503050406030204" pitchFamily="18" charset="0"/>
                  </a:rPr>
                  <a:t>$\frac{x^2}{a^2}-\frac{y^2}{b^2}=1$</a:t>
                </a:r>
                <a:r>
                  <a:rPr sz="2400" b="0">
                    <a:solidFill>
                      <a:srgbClr val="111827"/>
                    </a:solidFill>
                    <a:latin typeface="Arial"/>
                  </a:rPr>
                  <a:t> (product </a:t>
                </a:r>
                <a:r>
                  <a:rPr lang="en-IN" sz="2400">
                    <a:solidFill>
                      <a:srgbClr val="111827"/>
                    </a:solidFill>
                    <a:latin typeface="Cambria Math" panose="02040503050406030204" pitchFamily="18" charset="0"/>
                  </a:rPr>
                  <a:t>$b^2$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feet of the focal perpendiculars on all tangents lie on the auxiliary circle </a:t>
                </a:r>
                <a:r>
                  <a:rPr lang="en-IN" sz="2400">
                    <a:solidFill>
                      <a:srgbClr val="111827"/>
                    </a:solidFill>
                    <a:latin typeface="Cambria Math" panose="02040503050406030204" pitchFamily="18" charset="0"/>
                  </a:rPr>
                  <a:t>$x^2+y^2=a^2$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Quick use: a constant property of all tangents can be read off from the simplest tangent (vertex tangent).</a:t>
                </a:r>
                <a:endParaRPr sz="2400">
                  <a:solidFill>
                    <a:srgbClr val="111827"/>
                  </a:solidFill>
                </a:endParaRPr>
              </a:p>
            </p:txBody>
          </p:sp>
        </mc:Fallback>
      </mc:AlternateContent>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An ellipse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is rotated anticlockwise through a right angle in its own plane about its centre. If the locus of the point of intersection of a tangent to the ellipse in its original position with the tangent at the same point of the ellipse in its new position is given by the curve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μ</m:t>
                    </m:r>
                  </m:oMath>
                </a14:m>
                <a:r>
                  <a:rPr sz="2400" b="0">
                    <a:solidFill>
                      <a:srgbClr val="111827"/>
                    </a:solidFill>
                    <a:latin typeface="Arial"/>
                  </a:rPr>
                  <a:t> are positive integers, find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An ellipse </a:t>
                </a:r>
                <a:r>
                  <a:rPr lang="en-IN" sz="2400">
                    <a:solidFill>
                      <a:srgbClr val="111827"/>
                    </a:solidFill>
                    <a:latin typeface="Cambria Math" panose="02040503050406030204" pitchFamily="18" charset="0"/>
                  </a:rPr>
                  <a:t>$x^2+4y^2=4$</a:t>
                </a:r>
                <a:r>
                  <a:rPr sz="2400" b="0">
                    <a:solidFill>
                      <a:srgbClr val="111827"/>
                    </a:solidFill>
                    <a:latin typeface="Arial"/>
                  </a:rPr>
                  <a:t> is rotated anticlockwise through a right angle in its own plane about its centre. If the locus of the point of intersection of a tangent to the ellipse in its original position with the tangent at the same point of the ellipse in its new position is given by the curve </a:t>
                </a:r>
                <a:r>
                  <a:rPr lang="en-IN" sz="2400">
                    <a:solidFill>
                      <a:srgbClr val="111827"/>
                    </a:solidFill>
                    <a:latin typeface="Cambria Math" panose="02040503050406030204" pitchFamily="18" charset="0"/>
                  </a:rPr>
                  <a:t>$(x^2+y^2)^2=\lambda(x^2+y^2)+\mu xy$</a:t>
                </a:r>
                <a:r>
                  <a:rPr sz="2400" b="0">
                    <a:solidFill>
                      <a:srgbClr val="111827"/>
                    </a:solidFill>
                    <a:latin typeface="Arial"/>
                  </a:rPr>
                  <a:t>, where </a:t>
                </a:r>
                <a:r>
                  <a:rPr lang="en-IN" sz="2400">
                    <a:solidFill>
                      <a:srgbClr val="111827"/>
                    </a:solidFill>
                    <a:latin typeface="Cambria Math" panose="02040503050406030204" pitchFamily="18" charset="0"/>
                  </a:rPr>
                  <a:t>$\lambda$</a:t>
                </a:r>
                <a:r>
                  <a:rPr sz="2400" b="0">
                    <a:solidFill>
                      <a:srgbClr val="111827"/>
                    </a:solidFill>
                    <a:latin typeface="Arial"/>
                  </a:rPr>
                  <a:t> and </a:t>
                </a:r>
                <a:r>
                  <a:rPr lang="en-IN" sz="2400">
                    <a:solidFill>
                      <a:srgbClr val="111827"/>
                    </a:solidFill>
                    <a:latin typeface="Cambria Math" panose="02040503050406030204" pitchFamily="18" charset="0"/>
                  </a:rPr>
                  <a:t>$\mu$</a:t>
                </a:r>
                <a:r>
                  <a:rPr sz="2400" b="0">
                    <a:solidFill>
                      <a:srgbClr val="111827"/>
                    </a:solidFill>
                    <a:latin typeface="Arial"/>
                  </a:rPr>
                  <a:t> are positive integers, find the value of </a:t>
                </a:r>
                <a:r>
                  <a:rPr lang="en-IN" sz="2400">
                    <a:solidFill>
                      <a:srgbClr val="111827"/>
                    </a:solidFill>
                    <a:latin typeface="Cambria Math" panose="02040503050406030204" pitchFamily="18" charset="0"/>
                  </a:rPr>
                  <a:t>$(\lambda+\mu)$</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2605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Rotation of an ellipse and tangents at corresponding points, Locus by elimination of the parameter</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corresponding point of the rotated ellipse is </a:t>
                </a:r>
                <a14:m>
                  <m:oMath xmlns:m="http://schemas.openxmlformats.org/officeDocument/2006/math">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 two tangents give two linear equations in </a:t>
                </a:r>
                <a14:m>
                  <m:oMath xmlns:m="http://schemas.openxmlformats.org/officeDocument/2006/math">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θ</m:t>
                    </m:r>
                  </m:oMath>
                </a14:m>
                <a:r>
                  <a:rPr sz="2400" b="0">
                    <a:solidFill>
                      <a:srgbClr val="78350F"/>
                    </a:solidFill>
                    <a:latin typeface="Arial"/>
                  </a:rPr>
                  <a:t>, solved by Cramer's rule.</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corresponding point of the rotated ellipse is </a:t>
                </a:r>
                <a:r>
                  <a:rPr lang="en-IN" sz="2400">
                    <a:solidFill>
                      <a:srgbClr val="78350F"/>
                    </a:solidFill>
                    <a:latin typeface="Cambria Math" panose="02040503050406030204" pitchFamily="18" charset="0"/>
                  </a:rPr>
                  <a:t>$Q(-\sin\theta,2\cos\theta)$</a:t>
                </a:r>
                <a:r>
                  <a:rPr sz="2400" b="0">
                    <a:solidFill>
                      <a:srgbClr val="78350F"/>
                    </a:solidFill>
                    <a:latin typeface="Arial"/>
                  </a:rPr>
                  <a:t>; the two tangents give two linear equations in </a:t>
                </a:r>
                <a:r>
                  <a:rPr lang="en-IN" sz="2400">
                    <a:solidFill>
                      <a:srgbClr val="78350F"/>
                    </a:solidFill>
                    <a:latin typeface="Cambria Math" panose="02040503050406030204" pitchFamily="18" charset="0"/>
                  </a:rPr>
                  <a:t>$\cos\theta,\sin\theta$</a:t>
                </a:r>
                <a:r>
                  <a:rPr sz="2400" b="0">
                    <a:solidFill>
                      <a:srgbClr val="78350F"/>
                    </a:solidFill>
                    <a:latin typeface="Arial"/>
                  </a:rPr>
                  <a:t>, solved by Cramer's rule.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Original ellipse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𝑂</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rotated ellipse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𝑁</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𝑂</m:t>
                        </m:r>
                      </m:sub>
                    </m:sSub>
                  </m:oMath>
                </a14:m>
                <a:r>
                  <a:rPr sz="2400" b="0">
                    <a:solidFill>
                      <a:srgbClr val="111827"/>
                    </a:solidFill>
                    <a:latin typeface="Arial"/>
                  </a:rPr>
                  <a:t>. Its position vector is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same point after the anticlockwise right-angle rotation is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with a perpendicular position vector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Original ellipse </a:t>
                </a:r>
                <a:r>
                  <a:rPr lang="en-IN" sz="2400">
                    <a:solidFill>
                      <a:srgbClr val="111827"/>
                    </a:solidFill>
                    <a:latin typeface="Cambria Math" panose="02040503050406030204" pitchFamily="18" charset="0"/>
                  </a:rPr>
                  <a:t>$E_O:\ \frac{x^2}{4}+y^2=1$</a:t>
                </a:r>
                <a:r>
                  <a:rPr sz="2400" b="0">
                    <a:solidFill>
                      <a:srgbClr val="111827"/>
                    </a:solidFill>
                    <a:latin typeface="Arial"/>
                  </a:rPr>
                  <a:t>; rotated ellipse </a:t>
                </a:r>
                <a:r>
                  <a:rPr lang="en-IN" sz="2400">
                    <a:solidFill>
                      <a:srgbClr val="111827"/>
                    </a:solidFill>
                    <a:latin typeface="Cambria Math" panose="02040503050406030204" pitchFamily="18" charset="0"/>
                  </a:rPr>
                  <a:t>$E_N:\ x^2+\frac{y^2}{4}=1$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$P(2\cos\theta,\sin\theta)$</a:t>
                </a:r>
                <a:r>
                  <a:rPr sz="2400" b="0">
                    <a:solidFill>
                      <a:srgbClr val="111827"/>
                    </a:solidFill>
                    <a:latin typeface="Arial"/>
                  </a:rPr>
                  <a:t> on </a:t>
                </a:r>
                <a:r>
                  <a:rPr lang="en-IN" sz="2400">
                    <a:solidFill>
                      <a:srgbClr val="111827"/>
                    </a:solidFill>
                    <a:latin typeface="Cambria Math" panose="02040503050406030204" pitchFamily="18" charset="0"/>
                  </a:rPr>
                  <a:t>$E_O$</a:t>
                </a:r>
                <a:r>
                  <a:rPr sz="2400" b="0">
                    <a:solidFill>
                      <a:srgbClr val="111827"/>
                    </a:solidFill>
                    <a:latin typeface="Arial"/>
                  </a:rPr>
                  <a:t>. Its position vector is </a:t>
                </a:r>
                <a:r>
                  <a:rPr lang="en-IN" sz="2400">
                    <a:solidFill>
                      <a:srgbClr val="111827"/>
                    </a:solidFill>
                    <a:latin typeface="Cambria Math" panose="02040503050406030204" pitchFamily="18" charset="0"/>
                  </a:rPr>
                  <a:t>$2\cos\theta\,\hat i+\sin\theta\,\hat j$</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same point after the anticlockwise right-angle rotation is </a:t>
                </a:r>
                <a:r>
                  <a:rPr lang="en-IN" sz="2400">
                    <a:solidFill>
                      <a:srgbClr val="111827"/>
                    </a:solidFill>
                    <a:latin typeface="Cambria Math" panose="02040503050406030204" pitchFamily="18" charset="0"/>
                  </a:rPr>
                  <a:t>$Q$</a:t>
                </a:r>
                <a:r>
                  <a:rPr sz="2400" b="0">
                    <a:solidFill>
                      <a:srgbClr val="111827"/>
                    </a:solidFill>
                    <a:latin typeface="Arial"/>
                  </a:rPr>
                  <a:t> with a perpendicular position vector </a:t>
                </a:r>
                <a:r>
                  <a:rPr lang="en-IN" sz="2400">
                    <a:solidFill>
                      <a:srgbClr val="111827"/>
                    </a:solidFill>
                    <a:latin typeface="Cambria Math" panose="02040503050406030204" pitchFamily="18" charset="0"/>
                  </a:rPr>
                  <a:t>$\cos\alpha\,\hat i+2\sin\alpha\,\hat j$</a:t>
                </a:r>
                <a:r>
                  <a:rPr sz="2400" b="0">
                    <a:solidFill>
                      <a:srgbClr val="111827"/>
                    </a:solidFill>
                    <a:latin typeface="Arial"/>
                  </a:rPr>
                  <a:t>: </a:t>
                </a:r>
                <a:r>
                  <a:rPr lang="en-IN" sz="2400">
                    <a:solidFill>
                      <a:srgbClr val="111827"/>
                    </a:solidFill>
                    <a:latin typeface="Cambria Math" panose="02040503050406030204" pitchFamily="18" charset="0"/>
                  </a:rPr>
                  <a:t>$2\cos(\alpha-\theta)=0$</a:t>
                </a:r>
                <a:r>
                  <a:rPr sz="2400" b="0">
                    <a:solidFill>
                      <a:srgbClr val="111827"/>
                    </a:solidFill>
                    <a:latin typeface="Arial"/>
                  </a:rPr>
                  <a:t>, so </a:t>
                </a:r>
                <a:r>
                  <a:rPr lang="en-IN" sz="2400">
                    <a:solidFill>
                      <a:srgbClr val="111827"/>
                    </a:solidFill>
                    <a:latin typeface="Cambria Math" panose="02040503050406030204" pitchFamily="18" charset="0"/>
                  </a:rPr>
                  <a:t>$\alpha=\frac\pi2+\theta$</a:t>
                </a:r>
                <a:r>
                  <a:rPr sz="2400" b="0">
                    <a:solidFill>
                      <a:srgbClr val="111827"/>
                    </a:solidFill>
                    <a:latin typeface="Arial"/>
                  </a:rPr>
                  <a:t> and </a:t>
                </a:r>
                <a:r>
                  <a:rPr lang="en-IN" sz="2400">
                    <a:solidFill>
                      <a:srgbClr val="111827"/>
                    </a:solidFill>
                    <a:latin typeface="Cambria Math" panose="02040503050406030204" pitchFamily="18" charset="0"/>
                  </a:rPr>
                  <a:t>$Q=(-\sin\theta,\ 2\cos\theta)$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to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𝑂</m:t>
                        </m:r>
                      </m:sub>
                    </m:sSub>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to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𝑁</m:t>
                        </m:r>
                      </m:sub>
                    </m:sSub>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Solve (1),(2) for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 by Cramer's rule: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𝑥</m:t>
                              </m:r>
                            </m:e>
                            <m:e>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e>
                          </m:mr>
                          <m:mr>
                            <m:e>
                              <m:r>
                                <a:rPr lang="en-IN" sz="2400" i="1">
                                  <a:solidFill>
                                    <a:srgbClr val="111827"/>
                                  </a:solidFill>
                                  <a:latin typeface="Cambria Math" panose="02040503050406030204" pitchFamily="18" charset="0"/>
                                </a:rPr>
                                <m:t>𝑦</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e>
                          </m:mr>
                        </m:m>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e>
                          </m:mr>
                          <m:mr>
                            <m:e>
                              <m:r>
                                <a:rPr lang="en-IN" sz="2400" i="1">
                                  <a:solidFill>
                                    <a:srgbClr val="111827"/>
                                  </a:solidFill>
                                  <a:latin typeface="Cambria Math" panose="02040503050406030204" pitchFamily="18" charset="0"/>
                                </a:rPr>
                                <m:t>2</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e>
                          </m:mr>
                        </m:m>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𝑥</m:t>
                              </m:r>
                            </m:e>
                            <m:e>
                              <m:r>
                                <a:rPr lang="en-IN" sz="2400" i="1">
                                  <a:solidFill>
                                    <a:srgbClr val="111827"/>
                                  </a:solidFill>
                                  <a:latin typeface="Cambria Math" panose="02040503050406030204" pitchFamily="18" charset="0"/>
                                </a:rPr>
                                <m:t>2</m:t>
                              </m:r>
                            </m:e>
                          </m:mr>
                          <m:mr>
                            <m:e>
                              <m:r>
                                <a:rPr lang="en-IN" sz="2400" i="1">
                                  <a:solidFill>
                                    <a:srgbClr val="111827"/>
                                  </a:solidFill>
                                  <a:latin typeface="Cambria Math" panose="02040503050406030204" pitchFamily="18" charset="0"/>
                                </a:rPr>
                                <m:t>𝑦</m:t>
                              </m:r>
                            </m:e>
                            <m:e>
                              <m:r>
                                <a:rPr lang="en-IN" sz="2400" i="1">
                                  <a:solidFill>
                                    <a:srgbClr val="111827"/>
                                  </a:solidFill>
                                  <a:latin typeface="Cambria Math" panose="02040503050406030204" pitchFamily="18" charset="0"/>
                                </a:rPr>
                                <m:t>2</m:t>
                              </m:r>
                            </m:e>
                          </m:mr>
                        </m:m>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1</m:t>
                            </m:r>
                          </m:sub>
                        </m:sSub>
                      </m:num>
                      <m:den>
                        <m:r>
                          <a:rPr lang="en-IN" sz="2400" i="1">
                            <a:solidFill>
                              <a:srgbClr val="111827"/>
                            </a:solidFill>
                            <a:latin typeface="Cambria Math" panose="02040503050406030204" pitchFamily="18" charset="0"/>
                          </a:rPr>
                          <m:t>𝐷</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2</m:t>
                            </m:r>
                          </m:sub>
                        </m:sSub>
                      </m:num>
                      <m:den>
                        <m:r>
                          <a:rPr lang="en-IN" sz="2400" i="1">
                            <a:solidFill>
                              <a:srgbClr val="111827"/>
                            </a:solidFill>
                            <a:latin typeface="Cambria Math" panose="02040503050406030204" pitchFamily="18" charset="0"/>
                          </a:rPr>
                          <m:t>𝐷</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num>
                      <m:den>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14:m>
                  <m:oMath xmlns:m="http://schemas.openxmlformats.org/officeDocument/2006/math">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numerator is </a:t>
                </a:r>
                <a14:m>
                  <m:oMath xmlns:m="http://schemas.openxmlformats.org/officeDocument/2006/math">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a:t>
                </a:r>
                <a:r>
                  <a:rPr sz="2400" b="0">
                    <a:solidFill>
                      <a:srgbClr val="111827"/>
                    </a:solidFill>
                    <a:latin typeface="Arial"/>
                  </a:rPr>
                  <a:t> to </a:t>
                </a:r>
                <a:r>
                  <a:rPr lang="en-IN" sz="2400">
                    <a:solidFill>
                      <a:srgbClr val="111827"/>
                    </a:solidFill>
                    <a:latin typeface="Cambria Math" panose="02040503050406030204" pitchFamily="18" charset="0"/>
                  </a:rPr>
                  <a:t>$E_O$</a:t>
                </a:r>
                <a:r>
                  <a:rPr sz="2400" b="0">
                    <a:solidFill>
                      <a:srgbClr val="111827"/>
                    </a:solidFill>
                    <a:latin typeface="Arial"/>
                  </a:rPr>
                  <a:t>: </a:t>
                </a:r>
                <a:r>
                  <a:rPr lang="en-IN" sz="2400">
                    <a:solidFill>
                      <a:srgbClr val="111827"/>
                    </a:solidFill>
                    <a:latin typeface="Cambria Math" panose="02040503050406030204" pitchFamily="18" charset="0"/>
                  </a:rPr>
                  <a:t>$\frac{x\cos\theta}{2}+y\sin\theta=1$</a:t>
                </a:r>
                <a:r>
                  <a:rPr sz="2400" b="0">
                    <a:solidFill>
                      <a:srgbClr val="111827"/>
                    </a:solidFill>
                    <a:latin typeface="Arial"/>
                  </a:rPr>
                  <a:t>, i.e. </a:t>
                </a:r>
                <a:r>
                  <a:rPr lang="en-IN" sz="2400">
                    <a:solidFill>
                      <a:srgbClr val="111827"/>
                    </a:solidFill>
                    <a:latin typeface="Cambria Math" panose="02040503050406030204" pitchFamily="18" charset="0"/>
                  </a:rPr>
                  <a:t>$x\cos\theta+2y\sin\theta=2$</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$Q$</a:t>
                </a:r>
                <a:r>
                  <a:rPr sz="2400" b="0">
                    <a:solidFill>
                      <a:srgbClr val="111827"/>
                    </a:solidFill>
                    <a:latin typeface="Arial"/>
                  </a:rPr>
                  <a:t> to </a:t>
                </a:r>
                <a:r>
                  <a:rPr lang="en-IN" sz="2400">
                    <a:solidFill>
                      <a:srgbClr val="111827"/>
                    </a:solidFill>
                    <a:latin typeface="Cambria Math" panose="02040503050406030204" pitchFamily="18" charset="0"/>
                  </a:rPr>
                  <a:t>$E_N$</a:t>
                </a:r>
                <a:r>
                  <a:rPr sz="2400" b="0">
                    <a:solidFill>
                      <a:srgbClr val="111827"/>
                    </a:solidFill>
                    <a:latin typeface="Arial"/>
                  </a:rPr>
                  <a:t>: </a:t>
                </a:r>
                <a:r>
                  <a:rPr lang="en-IN" sz="2400">
                    <a:solidFill>
                      <a:srgbClr val="111827"/>
                    </a:solidFill>
                    <a:latin typeface="Cambria Math" panose="02040503050406030204" pitchFamily="18" charset="0"/>
                  </a:rPr>
                  <a:t>$\frac{xx_1}{1}+\frac{yy_1}{4}=1$</a:t>
                </a:r>
                <a:r>
                  <a:rPr sz="2400" b="0">
                    <a:solidFill>
                      <a:srgbClr val="111827"/>
                    </a:solidFill>
                    <a:latin typeface="Arial"/>
                  </a:rPr>
                  <a:t> gives </a:t>
                </a:r>
                <a:r>
                  <a:rPr lang="en-IN" sz="2400">
                    <a:solidFill>
                      <a:srgbClr val="111827"/>
                    </a:solidFill>
                    <a:latin typeface="Cambria Math" panose="02040503050406030204" pitchFamily="18" charset="0"/>
                  </a:rPr>
                  <a:t>$-x\sin\theta+\frac{y\cos\theta}{2}=1$</a:t>
                </a:r>
                <a:r>
                  <a:rPr sz="2400" b="0">
                    <a:solidFill>
                      <a:srgbClr val="111827"/>
                    </a:solidFill>
                    <a:latin typeface="Arial"/>
                  </a:rPr>
                  <a:t>, i.e. </a:t>
                </a:r>
                <a:r>
                  <a:rPr lang="en-IN" sz="2400">
                    <a:solidFill>
                      <a:srgbClr val="111827"/>
                    </a:solidFill>
                    <a:latin typeface="Cambria Math" panose="02040503050406030204" pitchFamily="18" charset="0"/>
                  </a:rPr>
                  <a:t>$y\cos\theta-2x\sin\theta=2$</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Solve (1),(2) for </a:t>
                </a:r>
                <a:r>
                  <a:rPr lang="en-IN" sz="2400">
                    <a:solidFill>
                      <a:srgbClr val="111827"/>
                    </a:solidFill>
                    <a:latin typeface="Cambria Math" panose="02040503050406030204" pitchFamily="18" charset="0"/>
                  </a:rPr>
                  <a:t>$\cos\theta,\sin\theta$</a:t>
                </a:r>
                <a:r>
                  <a:rPr sz="2400" b="0">
                    <a:solidFill>
                      <a:srgbClr val="111827"/>
                    </a:solidFill>
                    <a:latin typeface="Arial"/>
                  </a:rPr>
                  <a:t> by Cramer's rule: </a:t>
                </a:r>
                <a:r>
                  <a:rPr lang="en-IN" sz="2400">
                    <a:solidFill>
                      <a:srgbClr val="111827"/>
                    </a:solidFill>
                    <a:latin typeface="Cambria Math" panose="02040503050406030204" pitchFamily="18" charset="0"/>
                  </a:rPr>
                  <a:t>$D=\left|\begin{matrix}x&amp;2y\\y&amp;-2x\end{matrix}\right|=-2(x^2+y^2)$</a:t>
                </a:r>
                <a:r>
                  <a:rPr sz="2400" b="0">
                    <a:solidFill>
                      <a:srgbClr val="111827"/>
                    </a:solidFill>
                    <a:latin typeface="Arial"/>
                  </a:rPr>
                  <a:t>, </a:t>
                </a:r>
                <a:r>
                  <a:rPr lang="en-IN" sz="2400">
                    <a:solidFill>
                      <a:srgbClr val="111827"/>
                    </a:solidFill>
                    <a:latin typeface="Cambria Math" panose="02040503050406030204" pitchFamily="18" charset="0"/>
                  </a:rPr>
                  <a:t>$D_1=\left|\begin{matrix}2&amp;2y\\2&amp;-2x\end{matrix}\right|=-4(x+y)$</a:t>
                </a:r>
                <a:r>
                  <a:rPr sz="2400" b="0">
                    <a:solidFill>
                      <a:srgbClr val="111827"/>
                    </a:solidFill>
                    <a:latin typeface="Arial"/>
                  </a:rPr>
                  <a:t>, </a:t>
                </a:r>
                <a:r>
                  <a:rPr lang="en-IN" sz="2400">
                    <a:solidFill>
                      <a:srgbClr val="111827"/>
                    </a:solidFill>
                    <a:latin typeface="Cambria Math" panose="02040503050406030204" pitchFamily="18" charset="0"/>
                  </a:rPr>
                  <a:t>$D_2=\left|\begin{matrix}x&amp;2\\y&amp;2\end{matrix}\right|=2(x-y)$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$\cos\theta=\frac{D_1}{D}=\frac{2(x+y)}{x^2+y^2}$</a:t>
                </a:r>
                <a:r>
                  <a:rPr sz="2400" b="0">
                    <a:solidFill>
                      <a:srgbClr val="111827"/>
                    </a:solidFill>
                    <a:latin typeface="Arial"/>
                  </a:rPr>
                  <a:t> and </a:t>
                </a:r>
                <a:r>
                  <a:rPr lang="en-IN" sz="2400">
                    <a:solidFill>
                      <a:srgbClr val="111827"/>
                    </a:solidFill>
                    <a:latin typeface="Cambria Math" panose="02040503050406030204" pitchFamily="18" charset="0"/>
                  </a:rPr>
                  <a:t>$\sin\theta=\frac{D_2}{D}=-\frac{x-y}{x^2+y^2}$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r>
                  <a:rPr lang="en-IN" sz="2400">
                    <a:solidFill>
                      <a:srgbClr val="111827"/>
                    </a:solidFill>
                    <a:latin typeface="Cambria Math" panose="02040503050406030204" pitchFamily="18" charset="0"/>
                  </a:rPr>
                  <a:t>$\sin^2\theta+\cos^2\theta=1$</a:t>
                </a:r>
                <a:r>
                  <a:rPr sz="2400" b="0">
                    <a:solidFill>
                      <a:srgbClr val="111827"/>
                    </a:solidFill>
                    <a:latin typeface="Arial"/>
                  </a:rPr>
                  <a:t>: </a:t>
                </a:r>
                <a:r>
                  <a:rPr lang="en-IN" sz="2400">
                    <a:solidFill>
                      <a:srgbClr val="111827"/>
                    </a:solidFill>
                    <a:latin typeface="Cambria Math" panose="02040503050406030204" pitchFamily="18" charset="0"/>
                  </a:rPr>
                  <a:t>$\frac{(x-y)^2+4(x+y)^2}{(x^2+y^2)^2}=1$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numerator is </a:t>
                </a:r>
                <a:r>
                  <a:rPr lang="en-IN" sz="2400">
                    <a:solidFill>
                      <a:srgbClr val="111827"/>
                    </a:solidFill>
                    <a:latin typeface="Cambria Math" panose="02040503050406030204" pitchFamily="18" charset="0"/>
                  </a:rPr>
                  <a:t>$5x^2+5y^2+6xy$</a:t>
                </a:r>
                <a:r>
                  <a:rPr sz="2400" b="0">
                    <a:solidFill>
                      <a:srgbClr val="111827"/>
                    </a:solidFill>
                    <a:latin typeface="Arial"/>
                  </a:rPr>
                  <a:t>, so </a:t>
                </a:r>
                <a:r>
                  <a:rPr lang="en-IN" sz="2400">
                    <a:solidFill>
                      <a:srgbClr val="111827"/>
                    </a:solidFill>
                    <a:latin typeface="Cambria Math" panose="02040503050406030204" pitchFamily="18" charset="0"/>
                  </a:rPr>
                  <a:t>$(x^2+y^2)^2=5(x^2+y^2)+6xy$</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$\lambda=5,\ \mu=6$</a:t>
                </a:r>
                <a:r>
                  <a:rPr sz="2400" b="0">
                    <a:solidFill>
                      <a:srgbClr val="111827"/>
                    </a:solidFill>
                    <a:latin typeface="Arial"/>
                  </a:rPr>
                  <a:t> and </a:t>
                </a:r>
                <a:r>
                  <a:rPr lang="en-IN" sz="2400">
                    <a:solidFill>
                      <a:srgbClr val="111827"/>
                    </a:solidFill>
                    <a:latin typeface="Cambria Math" panose="02040503050406030204" pitchFamily="18" charset="0"/>
                  </a:rPr>
                  <a:t>$\lambda+\mu=11$</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11</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$11$</a:t>
                </a:r>
                <a:endParaRPr sz="2800">
                  <a:solidFill>
                    <a:srgbClr val="15803D"/>
                  </a:solidFill>
                </a:endParaRPr>
              </a:p>
            </p:txBody>
          </p:sp>
        </mc:Fallback>
      </mc:AlternateContent>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Rotate the second tangent back: it is the </a:t>
                </a:r>
                <a14:m>
                  <m:oMath xmlns:m="http://schemas.openxmlformats.org/officeDocument/2006/math">
                    <m:sSup>
                      <m:e>
                        <m:r>
                          <a:rPr lang="en-IN" sz="2400" i="1">
                            <a:solidFill>
                              <a:srgbClr val="78350F"/>
                            </a:solidFill>
                            <a:latin typeface="Cambria Math" panose="02040503050406030204" pitchFamily="18" charset="0"/>
                          </a:rPr>
                          <m:t>90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image of the first. The intersection of a line with its </a:t>
                </a:r>
                <a14:m>
                  <m:oMath xmlns:m="http://schemas.openxmlformats.org/officeDocument/2006/math">
                    <m:sSup>
                      <m:e>
                        <m:r>
                          <a:rPr lang="en-IN" sz="2400" i="1">
                            <a:solidFill>
                              <a:srgbClr val="78350F"/>
                            </a:solidFill>
                            <a:latin typeface="Cambria Math" panose="02040503050406030204" pitchFamily="18" charset="0"/>
                          </a:rPr>
                          <m:t>90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rotation is </a:t>
                </a:r>
                <a14:m>
                  <m:oMath xmlns:m="http://schemas.openxmlformats.org/officeDocument/2006/math">
                    <m:r>
                      <a:rPr lang="en-IN" sz="2400" i="1">
                        <a:solidFill>
                          <a:srgbClr val="78350F"/>
                        </a:solidFill>
                        <a:latin typeface="Cambria Math" panose="02040503050406030204" pitchFamily="18" charset="0"/>
                      </a:rPr>
                      <m:t>𝑝</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𝑢</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𝑅</m:t>
                    </m:r>
                    <m:r>
                      <a:rPr lang="en-IN" sz="2400" i="1">
                        <a:solidFill>
                          <a:srgbClr val="78350F"/>
                        </a:solidFill>
                        <a:latin typeface="Cambria Math" panose="02040503050406030204" pitchFamily="18" charset="0"/>
                      </a:rPr>
                      <m:t>𝑢</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at distance </a:t>
                </a:r>
                <a14:m>
                  <m:oMath xmlns:m="http://schemas.openxmlformats.org/officeDocument/2006/math">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r>
                      <a:rPr lang="en-IN" sz="2400" i="1">
                        <a:solidFill>
                          <a:srgbClr val="78350F"/>
                        </a:solidFill>
                        <a:latin typeface="Cambria Math" panose="02040503050406030204" pitchFamily="18" charset="0"/>
                      </a:rPr>
                      <m:t>𝑝</m:t>
                    </m:r>
                  </m:oMath>
                </a14:m>
                <a:r>
                  <a:rPr sz="2400" b="0">
                    <a:solidFill>
                      <a:srgbClr val="78350F"/>
                    </a:solidFill>
                    <a:latin typeface="Arial"/>
                  </a:rPr>
                  <a:t> from the centre.</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Rotate the second tangent back: it is the </a:t>
                </a:r>
                <a:r>
                  <a:rPr lang="en-IN" sz="2400">
                    <a:solidFill>
                      <a:srgbClr val="78350F"/>
                    </a:solidFill>
                    <a:latin typeface="Cambria Math" panose="02040503050406030204" pitchFamily="18" charset="0"/>
                  </a:rPr>
                  <a:t>$90^\circ$</a:t>
                </a:r>
                <a:r>
                  <a:rPr sz="2400" b="0">
                    <a:solidFill>
                      <a:srgbClr val="78350F"/>
                    </a:solidFill>
                    <a:latin typeface="Arial"/>
                  </a:rPr>
                  <a:t> image of the first. The intersection of a line with its </a:t>
                </a:r>
                <a:r>
                  <a:rPr lang="en-IN" sz="2400">
                    <a:solidFill>
                      <a:srgbClr val="78350F"/>
                    </a:solidFill>
                    <a:latin typeface="Cambria Math" panose="02040503050406030204" pitchFamily="18" charset="0"/>
                  </a:rPr>
                  <a:t>$90^\circ$</a:t>
                </a:r>
                <a:r>
                  <a:rPr sz="2400" b="0">
                    <a:solidFill>
                      <a:srgbClr val="78350F"/>
                    </a:solidFill>
                    <a:latin typeface="Arial"/>
                  </a:rPr>
                  <a:t> rotation is </a:t>
                </a:r>
                <a:r>
                  <a:rPr lang="en-IN" sz="2400">
                    <a:solidFill>
                      <a:srgbClr val="78350F"/>
                    </a:solidFill>
                    <a:latin typeface="Cambria Math" panose="02040503050406030204" pitchFamily="18" charset="0"/>
                  </a:rPr>
                  <a:t>$p(u+Ru)$</a:t>
                </a:r>
                <a:r>
                  <a:rPr sz="2400" b="0">
                    <a:solidFill>
                      <a:srgbClr val="78350F"/>
                    </a:solidFill>
                    <a:latin typeface="Arial"/>
                  </a:rPr>
                  <a:t>, at distance </a:t>
                </a:r>
                <a:r>
                  <a:rPr lang="en-IN" sz="2400">
                    <a:solidFill>
                      <a:srgbClr val="78350F"/>
                    </a:solidFill>
                    <a:latin typeface="Cambria Math" panose="02040503050406030204" pitchFamily="18" charset="0"/>
                  </a:rPr>
                  <a:t>$\sqrt2p$</a:t>
                </a:r>
                <a:r>
                  <a:rPr sz="2400" b="0">
                    <a:solidFill>
                      <a:srgbClr val="78350F"/>
                    </a:solidFill>
                    <a:latin typeface="Arial"/>
                  </a:rPr>
                  <a:t> from the centre.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Rotating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𝑁</m:t>
                        </m:r>
                      </m:sub>
                    </m:sSub>
                  </m:oMath>
                </a14:m>
                <a:r>
                  <a:rPr sz="2400" b="0">
                    <a:solidFill>
                      <a:srgbClr val="111827"/>
                    </a:solidFill>
                    <a:latin typeface="Arial"/>
                  </a:rPr>
                  <a:t> back by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gives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𝑂</m:t>
                        </m:r>
                      </m:sub>
                    </m:sSub>
                  </m:oMath>
                </a14:m>
                <a:r>
                  <a:rPr sz="2400" b="0">
                    <a:solidFill>
                      <a:srgbClr val="111827"/>
                    </a:solidFill>
                    <a:latin typeface="Arial"/>
                  </a:rPr>
                  <a:t> and the tangent at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goes to the tangent </a:t>
                </a:r>
                <a14:m>
                  <m:oMath xmlns:m="http://schemas.openxmlformats.org/officeDocument/2006/math">
                    <m:r>
                      <a:rPr lang="en-IN" sz="2400" i="1">
                        <a:solidFill>
                          <a:srgbClr val="111827"/>
                        </a:solidFill>
                        <a:latin typeface="Cambria Math" panose="02040503050406030204" pitchFamily="18" charset="0"/>
                      </a:rPr>
                      <m:t>ℓ</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So the two tangents are </a:t>
                </a:r>
                <a14:m>
                  <m:oMath xmlns:m="http://schemas.openxmlformats.org/officeDocument/2006/math">
                    <m:r>
                      <a:rPr lang="en-IN" sz="2400" i="1">
                        <a:solidFill>
                          <a:srgbClr val="111827"/>
                        </a:solidFill>
                        <a:latin typeface="Cambria Math" panose="02040503050406030204" pitchFamily="18" charset="0"/>
                      </a:rPr>
                      <m:t>ℓ</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ℓ</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is the anticlockwise rotation by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r>
                      <a:rPr lang="en-IN" sz="2400" i="1">
                        <a:solidFill>
                          <a:srgbClr val="111827"/>
                        </a:solidFill>
                        <a:latin typeface="Cambria Math" panose="02040503050406030204" pitchFamily="18" charset="0"/>
                      </a:rPr>
                      <m:t>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with unit normal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oMath>
                </a14:m>
                <a:r>
                  <a:rPr sz="2400" b="0">
                    <a:solidFill>
                      <a:srgbClr val="111827"/>
                    </a:solidFill>
                    <a:latin typeface="Arial"/>
                  </a:rPr>
                  <a:t> (support function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intersection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has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𝑢</m:t>
                    </m:r>
                  </m:oMath>
                </a14:m>
                <a:r>
                  <a:rPr sz="2400" b="0">
                    <a:solidFill>
                      <a:srgbClr val="111827"/>
                    </a:solidFill>
                    <a:latin typeface="Arial"/>
                  </a:rPr>
                  <a:t> are orthonormal,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the polar angle of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Rotating </a:t>
                </a:r>
                <a:r>
                  <a:rPr lang="en-IN" sz="2400">
                    <a:solidFill>
                      <a:srgbClr val="111827"/>
                    </a:solidFill>
                    <a:latin typeface="Cambria Math" panose="02040503050406030204" pitchFamily="18" charset="0"/>
                  </a:rPr>
                  <a:t>$E_N$</a:t>
                </a:r>
                <a:r>
                  <a:rPr sz="2400" b="0">
                    <a:solidFill>
                      <a:srgbClr val="111827"/>
                    </a:solidFill>
                    <a:latin typeface="Arial"/>
                  </a:rPr>
                  <a:t> back by </a:t>
                </a:r>
                <a:r>
                  <a:rPr lang="en-IN" sz="2400">
                    <a:solidFill>
                      <a:srgbClr val="111827"/>
                    </a:solidFill>
                    <a:latin typeface="Cambria Math" panose="02040503050406030204" pitchFamily="18" charset="0"/>
                  </a:rPr>
                  <a:t>$90^\circ$</a:t>
                </a:r>
                <a:r>
                  <a:rPr sz="2400" b="0">
                    <a:solidFill>
                      <a:srgbClr val="111827"/>
                    </a:solidFill>
                    <a:latin typeface="Arial"/>
                  </a:rPr>
                  <a:t> gives </a:t>
                </a:r>
                <a:r>
                  <a:rPr lang="en-IN" sz="2400">
                    <a:solidFill>
                      <a:srgbClr val="111827"/>
                    </a:solidFill>
                    <a:latin typeface="Cambria Math" panose="02040503050406030204" pitchFamily="18" charset="0"/>
                  </a:rPr>
                  <a:t>$E_O$</a:t>
                </a:r>
                <a:r>
                  <a:rPr sz="2400" b="0">
                    <a:solidFill>
                      <a:srgbClr val="111827"/>
                    </a:solidFill>
                    <a:latin typeface="Arial"/>
                  </a:rPr>
                  <a:t> and the tangent at </a:t>
                </a:r>
                <a:r>
                  <a:rPr lang="en-IN" sz="2400">
                    <a:solidFill>
                      <a:srgbClr val="111827"/>
                    </a:solidFill>
                    <a:latin typeface="Cambria Math" panose="02040503050406030204" pitchFamily="18" charset="0"/>
                  </a:rPr>
                  <a:t>$Q$</a:t>
                </a:r>
                <a:r>
                  <a:rPr sz="2400" b="0">
                    <a:solidFill>
                      <a:srgbClr val="111827"/>
                    </a:solidFill>
                    <a:latin typeface="Arial"/>
                  </a:rPr>
                  <a:t> goes to the tangent </a:t>
                </a:r>
                <a:r>
                  <a:rPr lang="en-IN" sz="2400">
                    <a:solidFill>
                      <a:srgbClr val="111827"/>
                    </a:solidFill>
                    <a:latin typeface="Cambria Math" panose="02040503050406030204" pitchFamily="18" charset="0"/>
                  </a:rPr>
                  <a:t>$\ell$</a:t>
                </a:r>
                <a:r>
                  <a:rPr sz="2400" b="0">
                    <a:solidFill>
                      <a:srgbClr val="111827"/>
                    </a:solidFill>
                    <a:latin typeface="Arial"/>
                  </a:rPr>
                  <a:t> at </a:t>
                </a:r>
                <a:r>
                  <a:rPr lang="en-IN" sz="2400">
                    <a:solidFill>
                      <a:srgbClr val="111827"/>
                    </a:solidFill>
                    <a:latin typeface="Cambria Math" panose="02040503050406030204" pitchFamily="18" charset="0"/>
                  </a:rPr>
                  <a:t>$P$</a:t>
                </a:r>
                <a:r>
                  <a:rPr sz="2400" b="0">
                    <a:solidFill>
                      <a:srgbClr val="111827"/>
                    </a:solidFill>
                    <a:latin typeface="Arial"/>
                  </a:rPr>
                  <a:t>. So the two tangents are </a:t>
                </a:r>
                <a:r>
                  <a:rPr lang="en-IN" sz="2400">
                    <a:solidFill>
                      <a:srgbClr val="111827"/>
                    </a:solidFill>
                    <a:latin typeface="Cambria Math" panose="02040503050406030204" pitchFamily="18" charset="0"/>
                  </a:rPr>
                  <a:t>$\ell$</a:t>
                </a:r>
                <a:r>
                  <a:rPr sz="2400" b="0">
                    <a:solidFill>
                      <a:srgbClr val="111827"/>
                    </a:solidFill>
                    <a:latin typeface="Arial"/>
                  </a:rPr>
                  <a:t> and </a:t>
                </a:r>
                <a:r>
                  <a:rPr lang="en-IN" sz="2400">
                    <a:solidFill>
                      <a:srgbClr val="111827"/>
                    </a:solidFill>
                    <a:latin typeface="Cambria Math" panose="02040503050406030204" pitchFamily="18" charset="0"/>
                  </a:rPr>
                  <a:t>$R(\ell)$</a:t>
                </a:r>
                <a:r>
                  <a:rPr sz="2400" b="0">
                    <a:solidFill>
                      <a:srgbClr val="111827"/>
                    </a:solidFill>
                    <a:latin typeface="Arial"/>
                  </a:rPr>
                  <a:t>, where </a:t>
                </a:r>
                <a:r>
                  <a:rPr lang="en-IN" sz="2400">
                    <a:solidFill>
                      <a:srgbClr val="111827"/>
                    </a:solidFill>
                    <a:latin typeface="Cambria Math" panose="02040503050406030204" pitchFamily="18" charset="0"/>
                  </a:rPr>
                  <a:t>$R$</a:t>
                </a:r>
                <a:r>
                  <a:rPr sz="2400" b="0">
                    <a:solidFill>
                      <a:srgbClr val="111827"/>
                    </a:solidFill>
                    <a:latin typeface="Arial"/>
                  </a:rPr>
                  <a:t> is the anticlockwise rotation by </a:t>
                </a:r>
                <a:r>
                  <a:rPr lang="en-IN" sz="2400">
                    <a:solidFill>
                      <a:srgbClr val="111827"/>
                    </a:solidFill>
                    <a:latin typeface="Cambria Math" panose="02040503050406030204" pitchFamily="18" charset="0"/>
                  </a:rPr>
                  <a:t>$90^\circ$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$\ell:\ u\cdot X=p$</a:t>
                </a:r>
                <a:r>
                  <a:rPr sz="2400" b="0">
                    <a:solidFill>
                      <a:srgbClr val="111827"/>
                    </a:solidFill>
                    <a:latin typeface="Arial"/>
                  </a:rPr>
                  <a:t> with unit normal </a:t>
                </a:r>
                <a:r>
                  <a:rPr lang="en-IN" sz="2400">
                    <a:solidFill>
                      <a:srgbClr val="111827"/>
                    </a:solidFill>
                    <a:latin typeface="Cambria Math" panose="02040503050406030204" pitchFamily="18" charset="0"/>
                  </a:rPr>
                  <a:t>$u=(\cos\varphi,\sin\varphi)$</a:t>
                </a:r>
                <a:r>
                  <a:rPr sz="2400" b="0">
                    <a:solidFill>
                      <a:srgbClr val="111827"/>
                    </a:solidFill>
                    <a:latin typeface="Arial"/>
                  </a:rPr>
                  <a:t>; then </a:t>
                </a:r>
                <a:r>
                  <a:rPr lang="en-IN" sz="2400">
                    <a:solidFill>
                      <a:srgbClr val="111827"/>
                    </a:solidFill>
                    <a:latin typeface="Cambria Math" panose="02040503050406030204" pitchFamily="18" charset="0"/>
                  </a:rPr>
                  <a:t>$p^2=4\cos^2\varphi+\sin^2\varphi$</a:t>
                </a:r>
                <a:r>
                  <a:rPr sz="2400" b="0">
                    <a:solidFill>
                      <a:srgbClr val="111827"/>
                    </a:solidFill>
                    <a:latin typeface="Arial"/>
                  </a:rPr>
                  <a:t> (support function of </a:t>
                </a:r>
                <a:r>
                  <a:rPr lang="en-IN" sz="2400">
                    <a:solidFill>
                      <a:srgbClr val="111827"/>
                    </a:solidFill>
                    <a:latin typeface="Cambria Math" panose="02040503050406030204" pitchFamily="18" charset="0"/>
                  </a:rPr>
                  <a:t>$\frac{x^2}{4}+y^2=1$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$R(\ell):\ (Ru)\cdot X=p$</a:t>
                </a:r>
                <a:r>
                  <a:rPr sz="2400" b="0">
                    <a:solidFill>
                      <a:srgbClr val="111827"/>
                    </a:solidFill>
                    <a:latin typeface="Arial"/>
                  </a:rPr>
                  <a:t> with </a:t>
                </a:r>
                <a:r>
                  <a:rPr lang="en-IN" sz="2400">
                    <a:solidFill>
                      <a:srgbClr val="111827"/>
                    </a:solidFill>
                    <a:latin typeface="Cambria Math" panose="02040503050406030204" pitchFamily="18" charset="0"/>
                  </a:rPr>
                  <a:t>$Ru=(-\sin\varphi,\cos\varphi)$</a:t>
                </a:r>
                <a:r>
                  <a:rPr sz="2400" b="0">
                    <a:solidFill>
                      <a:srgbClr val="111827"/>
                    </a:solidFill>
                    <a:latin typeface="Arial"/>
                  </a:rPr>
                  <a:t>. The intersection </a:t>
                </a:r>
                <a:r>
                  <a:rPr lang="en-IN" sz="2400">
                    <a:solidFill>
                      <a:srgbClr val="111827"/>
                    </a:solidFill>
                    <a:latin typeface="Cambria Math" panose="02040503050406030204" pitchFamily="18" charset="0"/>
                  </a:rPr>
                  <a:t>$M$</a:t>
                </a:r>
                <a:r>
                  <a:rPr sz="2400" b="0">
                    <a:solidFill>
                      <a:srgbClr val="111827"/>
                    </a:solidFill>
                    <a:latin typeface="Arial"/>
                  </a:rPr>
                  <a:t> has </a:t>
                </a:r>
                <a:r>
                  <a:rPr lang="en-IN" sz="2400">
                    <a:solidFill>
                      <a:srgbClr val="111827"/>
                    </a:solidFill>
                    <a:latin typeface="Cambria Math" panose="02040503050406030204" pitchFamily="18" charset="0"/>
                  </a:rPr>
                  <a:t>$u\cdot M=p$</a:t>
                </a:r>
                <a:r>
                  <a:rPr sz="2400" b="0">
                    <a:solidFill>
                      <a:srgbClr val="111827"/>
                    </a:solidFill>
                    <a:latin typeface="Arial"/>
                  </a:rPr>
                  <a:t> and </a:t>
                </a:r>
                <a:r>
                  <a:rPr lang="en-IN" sz="2400">
                    <a:solidFill>
                      <a:srgbClr val="111827"/>
                    </a:solidFill>
                    <a:latin typeface="Cambria Math" panose="02040503050406030204" pitchFamily="18" charset="0"/>
                  </a:rPr>
                  <a:t>$Ru\cdot M=p$</a:t>
                </a:r>
                <a:r>
                  <a:rPr sz="2400" b="0">
                    <a:solidFill>
                      <a:srgbClr val="111827"/>
                    </a:solidFill>
                    <a:latin typeface="Arial"/>
                  </a:rPr>
                  <a:t>; as </a:t>
                </a:r>
                <a:r>
                  <a:rPr lang="en-IN" sz="2400">
                    <a:solidFill>
                      <a:srgbClr val="111827"/>
                    </a:solidFill>
                    <a:latin typeface="Cambria Math" panose="02040503050406030204" pitchFamily="18" charset="0"/>
                  </a:rPr>
                  <a:t>$u,Ru$</a:t>
                </a:r>
                <a:r>
                  <a:rPr sz="2400" b="0">
                    <a:solidFill>
                      <a:srgbClr val="111827"/>
                    </a:solidFill>
                    <a:latin typeface="Arial"/>
                  </a:rPr>
                  <a:t> are orthonormal, </a:t>
                </a:r>
                <a:r>
                  <a:rPr lang="en-IN" sz="2400">
                    <a:solidFill>
                      <a:srgbClr val="111827"/>
                    </a:solidFill>
                    <a:latin typeface="Cambria Math" panose="02040503050406030204" pitchFamily="18" charset="0"/>
                  </a:rPr>
                  <a:t>$M=p(u+Ru)$</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$|M|^2=2p^2$</a:t>
                </a:r>
                <a:r>
                  <a:rPr sz="2400" b="0">
                    <a:solidFill>
                      <a:srgbClr val="111827"/>
                    </a:solidFill>
                    <a:latin typeface="Arial"/>
                  </a:rPr>
                  <a:t> and the polar angle of </a:t>
                </a:r>
                <a:r>
                  <a:rPr lang="en-IN" sz="2400">
                    <a:solidFill>
                      <a:srgbClr val="111827"/>
                    </a:solidFill>
                    <a:latin typeface="Cambria Math" panose="02040503050406030204" pitchFamily="18" charset="0"/>
                  </a:rPr>
                  <a:t>$M$</a:t>
                </a:r>
                <a:r>
                  <a:rPr sz="2400" b="0">
                    <a:solidFill>
                      <a:srgbClr val="111827"/>
                    </a:solidFill>
                    <a:latin typeface="Arial"/>
                  </a:rPr>
                  <a:t> is </a:t>
                </a:r>
                <a:r>
                  <a:rPr lang="en-IN" sz="2400">
                    <a:solidFill>
                      <a:srgbClr val="111827"/>
                    </a:solidFill>
                    <a:latin typeface="Cambria Math" panose="02040503050406030204" pitchFamily="18" charset="0"/>
                  </a:rPr>
                  <a:t>$\psi=\varphi+45^\circ$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ψ</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ψ</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ψ</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by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 (since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$r=|M|$</a:t>
                </a:r>
                <a:r>
                  <a:rPr sz="2400" b="0">
                    <a:solidFill>
                      <a:srgbClr val="111827"/>
                    </a:solidFill>
                    <a:latin typeface="Arial"/>
                  </a:rPr>
                  <a:t>: </a:t>
                </a:r>
                <a:r>
                  <a:rPr lang="en-IN" sz="2400">
                    <a:solidFill>
                      <a:srgbClr val="111827"/>
                    </a:solidFill>
                    <a:latin typeface="Cambria Math" panose="02040503050406030204" pitchFamily="18" charset="0"/>
                  </a:rPr>
                  <a:t>$r^2=2(4\cos^2\varphi+\sin^2\varphi)=2+6\cos^2(\psi-45^\circ)=2+3\left(1+\sin2\psi\right)=5+3\sin2\psi$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by </a:t>
                </a:r>
                <a:r>
                  <a:rPr lang="en-IN" sz="2400">
                    <a:solidFill>
                      <a:srgbClr val="111827"/>
                    </a:solidFill>
                    <a:latin typeface="Cambria Math" panose="02040503050406030204" pitchFamily="18" charset="0"/>
                  </a:rPr>
                  <a:t>$r^2$</a:t>
                </a:r>
                <a:r>
                  <a:rPr sz="2400" b="0">
                    <a:solidFill>
                      <a:srgbClr val="111827"/>
                    </a:solidFill>
                    <a:latin typeface="Arial"/>
                  </a:rPr>
                  <a:t>: </a:t>
                </a:r>
                <a:r>
                  <a:rPr lang="en-IN" sz="2400">
                    <a:solidFill>
                      <a:srgbClr val="111827"/>
                    </a:solidFill>
                    <a:latin typeface="Cambria Math" panose="02040503050406030204" pitchFamily="18" charset="0"/>
                  </a:rPr>
                  <a:t>$r^4=5r^2+3r^2\sin2\psi=5r^2+6xy$</a:t>
                </a:r>
                <a:r>
                  <a:rPr sz="2400" b="0">
                    <a:solidFill>
                      <a:srgbClr val="111827"/>
                    </a:solidFill>
                    <a:latin typeface="Arial"/>
                  </a:rPr>
                  <a:t> (since </a:t>
                </a:r>
                <a:r>
                  <a:rPr lang="en-IN" sz="2400">
                    <a:solidFill>
                      <a:srgbClr val="111827"/>
                    </a:solidFill>
                    <a:latin typeface="Cambria Math" panose="02040503050406030204" pitchFamily="18" charset="0"/>
                  </a:rPr>
                  <a:t>$r^2\sin2\psi=2xy$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$(x^2+y^2)^2=5(x^2+y^2)+6xy$</a:t>
                </a:r>
                <a:r>
                  <a:rPr sz="2400" b="0">
                    <a:solidFill>
                      <a:srgbClr val="111827"/>
                    </a:solidFill>
                    <a:latin typeface="Arial"/>
                  </a:rPr>
                  <a:t>, </a:t>
                </a:r>
                <a:r>
                  <a:rPr lang="en-IN" sz="2400">
                    <a:solidFill>
                      <a:srgbClr val="111827"/>
                    </a:solidFill>
                    <a:latin typeface="Cambria Math" panose="02040503050406030204" pitchFamily="18" charset="0"/>
                  </a:rPr>
                  <a:t>$\lambda+\mu=5+6=11$</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11</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$11$</a:t>
                </a:r>
                <a:endParaRPr sz="2800">
                  <a:solidFill>
                    <a:srgbClr val="15803D"/>
                  </a:solidFill>
                </a:endParaRPr>
              </a:p>
            </p:txBody>
          </p:sp>
        </mc:Fallback>
      </mc:AlternateContent>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Support function: the tangent to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unit normal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distance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from the centre where </a:t>
                </a:r>
                <a14:m>
                  <m:oMath xmlns:m="http://schemas.openxmlformats.org/officeDocument/2006/math">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and its rotation through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meet at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distance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𝑝</m:t>
                    </m:r>
                  </m:oMath>
                </a14:m>
                <a:r>
                  <a:rPr sz="2400" b="0">
                    <a:solidFill>
                      <a:srgbClr val="111827"/>
                    </a:solidFill>
                    <a:latin typeface="Arial"/>
                  </a:rPr>
                  <a:t> from the origin and at </a:t>
                </a:r>
                <a14:m>
                  <m:oMath xmlns:m="http://schemas.openxmlformats.org/officeDocument/2006/math">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to the normal direction.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Cramer's rule for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then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the standard way to eliminate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from two linear equations.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for the ellipse of semi-axes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the locus of the intersection of a tangent and its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rotation is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ψ</m:t>
                    </m:r>
                  </m:oMath>
                </a14:m>
                <a:r>
                  <a:rPr sz="2400" b="0">
                    <a:solidFill>
                      <a:srgbClr val="111827"/>
                    </a:solidFill>
                    <a:latin typeface="Arial"/>
                  </a:rPr>
                  <a:t>; the instance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ψ</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Support function: the tangent to </a:t>
                </a:r>
                <a:r>
                  <a:rPr lang="en-IN" sz="2400">
                    <a:solidFill>
                      <a:srgbClr val="111827"/>
                    </a:solidFill>
                    <a:latin typeface="Cambria Math" panose="02040503050406030204" pitchFamily="18" charset="0"/>
                  </a:rPr>
                  <a:t>$\frac{x^2}{a^2}+\frac{y^2}{b^2}=1$</a:t>
                </a:r>
                <a:r>
                  <a:rPr sz="2400" b="0">
                    <a:solidFill>
                      <a:srgbClr val="111827"/>
                    </a:solidFill>
                    <a:latin typeface="Arial"/>
                  </a:rPr>
                  <a:t> with unit normal </a:t>
                </a:r>
                <a:r>
                  <a:rPr lang="en-IN" sz="2400">
                    <a:solidFill>
                      <a:srgbClr val="111827"/>
                    </a:solidFill>
                    <a:latin typeface="Cambria Math" panose="02040503050406030204" pitchFamily="18" charset="0"/>
                  </a:rPr>
                  <a:t>$(\cos\varphi,\sin\varphi)$</a:t>
                </a:r>
                <a:r>
                  <a:rPr sz="2400" b="0">
                    <a:solidFill>
                      <a:srgbClr val="111827"/>
                    </a:solidFill>
                    <a:latin typeface="Arial"/>
                  </a:rPr>
                  <a:t> is at distance </a:t>
                </a:r>
                <a:r>
                  <a:rPr lang="en-IN" sz="2400">
                    <a:solidFill>
                      <a:srgbClr val="111827"/>
                    </a:solidFill>
                    <a:latin typeface="Cambria Math" panose="02040503050406030204" pitchFamily="18" charset="0"/>
                  </a:rPr>
                  <a:t>$p$</a:t>
                </a:r>
                <a:r>
                  <a:rPr sz="2400" b="0">
                    <a:solidFill>
                      <a:srgbClr val="111827"/>
                    </a:solidFill>
                    <a:latin typeface="Arial"/>
                  </a:rPr>
                  <a:t> from the centre where </a:t>
                </a:r>
                <a:r>
                  <a:rPr lang="en-IN" sz="2400">
                    <a:solidFill>
                      <a:srgbClr val="111827"/>
                    </a:solidFill>
                    <a:latin typeface="Cambria Math" panose="02040503050406030204" pitchFamily="18" charset="0"/>
                  </a:rPr>
                  <a:t>$p^2=a^2\cos^2\varphi+b^2\sin^2\varphi$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a:t>
                </a:r>
                <a:r>
                  <a:rPr lang="en-IN" sz="2400">
                    <a:solidFill>
                      <a:srgbClr val="111827"/>
                    </a:solidFill>
                    <a:latin typeface="Cambria Math" panose="02040503050406030204" pitchFamily="18" charset="0"/>
                  </a:rPr>
                  <a:t>$u\cdot X=p$</a:t>
                </a:r>
                <a:r>
                  <a:rPr sz="2400" b="0">
                    <a:solidFill>
                      <a:srgbClr val="111827"/>
                    </a:solidFill>
                    <a:latin typeface="Arial"/>
                  </a:rPr>
                  <a:t> and its rotation through </a:t>
                </a:r>
                <a:r>
                  <a:rPr lang="en-IN" sz="2400">
                    <a:solidFill>
                      <a:srgbClr val="111827"/>
                    </a:solidFill>
                    <a:latin typeface="Cambria Math" panose="02040503050406030204" pitchFamily="18" charset="0"/>
                  </a:rPr>
                  <a:t>$90^\circ$</a:t>
                </a:r>
                <a:r>
                  <a:rPr sz="2400" b="0">
                    <a:solidFill>
                      <a:srgbClr val="111827"/>
                    </a:solidFill>
                    <a:latin typeface="Arial"/>
                  </a:rPr>
                  <a:t> meet at </a:t>
                </a:r>
                <a:r>
                  <a:rPr lang="en-IN" sz="2400">
                    <a:solidFill>
                      <a:srgbClr val="111827"/>
                    </a:solidFill>
                    <a:latin typeface="Cambria Math" panose="02040503050406030204" pitchFamily="18" charset="0"/>
                  </a:rPr>
                  <a:t>$p(u+Ru)$</a:t>
                </a:r>
                <a:r>
                  <a:rPr sz="2400" b="0">
                    <a:solidFill>
                      <a:srgbClr val="111827"/>
                    </a:solidFill>
                    <a:latin typeface="Arial"/>
                  </a:rPr>
                  <a:t>, at distance </a:t>
                </a:r>
                <a:r>
                  <a:rPr lang="en-IN" sz="2400">
                    <a:solidFill>
                      <a:srgbClr val="111827"/>
                    </a:solidFill>
                    <a:latin typeface="Cambria Math" panose="02040503050406030204" pitchFamily="18" charset="0"/>
                  </a:rPr>
                  <a:t>$\sqrt2p$</a:t>
                </a:r>
                <a:r>
                  <a:rPr sz="2400" b="0">
                    <a:solidFill>
                      <a:srgbClr val="111827"/>
                    </a:solidFill>
                    <a:latin typeface="Arial"/>
                  </a:rPr>
                  <a:t> from the origin and at </a:t>
                </a:r>
                <a:r>
                  <a:rPr lang="en-IN" sz="2400">
                    <a:solidFill>
                      <a:srgbClr val="111827"/>
                    </a:solidFill>
                    <a:latin typeface="Cambria Math" panose="02040503050406030204" pitchFamily="18" charset="0"/>
                  </a:rPr>
                  <a:t>$45^\circ$</a:t>
                </a:r>
                <a:r>
                  <a:rPr sz="2400" b="0">
                    <a:solidFill>
                      <a:srgbClr val="111827"/>
                    </a:solidFill>
                    <a:latin typeface="Arial"/>
                  </a:rPr>
                  <a:t> to the normal direction.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Cramer's rule for </a:t>
                </a:r>
                <a:r>
                  <a:rPr lang="en-IN" sz="2400">
                    <a:solidFill>
                      <a:srgbClr val="111827"/>
                    </a:solidFill>
                    <a:latin typeface="Cambria Math" panose="02040503050406030204" pitchFamily="18" charset="0"/>
                  </a:rPr>
                  <a:t>$\cos\theta,\sin\theta$</a:t>
                </a:r>
                <a:r>
                  <a:rPr sz="2400" b="0">
                    <a:solidFill>
                      <a:srgbClr val="111827"/>
                    </a:solidFill>
                    <a:latin typeface="Arial"/>
                  </a:rPr>
                  <a:t> from </a:t>
                </a:r>
                <a:r>
                  <a:rPr lang="en-IN" sz="2400">
                    <a:solidFill>
                      <a:srgbClr val="111827"/>
                    </a:solidFill>
                    <a:latin typeface="Cambria Math" panose="02040503050406030204" pitchFamily="18" charset="0"/>
                  </a:rPr>
                  <a:t>$x\cos\theta+2y\sin\theta=2$</a:t>
                </a:r>
                <a:r>
                  <a:rPr sz="2400" b="0">
                    <a:solidFill>
                      <a:srgbClr val="111827"/>
                    </a:solidFill>
                    <a:latin typeface="Arial"/>
                  </a:rPr>
                  <a:t>, </a:t>
                </a:r>
                <a:r>
                  <a:rPr lang="en-IN" sz="2400">
                    <a:solidFill>
                      <a:srgbClr val="111827"/>
                    </a:solidFill>
                    <a:latin typeface="Cambria Math" panose="02040503050406030204" pitchFamily="18" charset="0"/>
                  </a:rPr>
                  <a:t>$y\cos\theta-2x\sin\theta=2$</a:t>
                </a:r>
                <a:r>
                  <a:rPr sz="2400" b="0">
                    <a:solidFill>
                      <a:srgbClr val="111827"/>
                    </a:solidFill>
                    <a:latin typeface="Arial"/>
                  </a:rPr>
                  <a:t> then </a:t>
                </a:r>
                <a:r>
                  <a:rPr lang="en-IN" sz="2400">
                    <a:solidFill>
                      <a:srgbClr val="111827"/>
                    </a:solidFill>
                    <a:latin typeface="Cambria Math" panose="02040503050406030204" pitchFamily="18" charset="0"/>
                  </a:rPr>
                  <a:t>$\cos^2+\sin^2=1$</a:t>
                </a:r>
                <a:r>
                  <a:rPr sz="2400" b="0">
                    <a:solidFill>
                      <a:srgbClr val="111827"/>
                    </a:solidFill>
                    <a:latin typeface="Arial"/>
                  </a:rPr>
                  <a:t> is the standard way to eliminate </a:t>
                </a:r>
                <a:r>
                  <a:rPr lang="en-IN" sz="2400">
                    <a:solidFill>
                      <a:srgbClr val="111827"/>
                    </a:solidFill>
                    <a:latin typeface="Cambria Math" panose="02040503050406030204" pitchFamily="18" charset="0"/>
                  </a:rPr>
                  <a:t>$\theta$</a:t>
                </a:r>
                <a:r>
                  <a:rPr sz="2400" b="0">
                    <a:solidFill>
                      <a:srgbClr val="111827"/>
                    </a:solidFill>
                    <a:latin typeface="Arial"/>
                  </a:rPr>
                  <a:t> from two linear equations.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for the ellipse of semi-axes </a:t>
                </a:r>
                <a:r>
                  <a:rPr lang="en-IN" sz="2400">
                    <a:solidFill>
                      <a:srgbClr val="111827"/>
                    </a:solidFill>
                    <a:latin typeface="Cambria Math" panose="02040503050406030204" pitchFamily="18" charset="0"/>
                  </a:rPr>
                  <a:t>$a,b$</a:t>
                </a:r>
                <a:r>
                  <a:rPr sz="2400" b="0">
                    <a:solidFill>
                      <a:srgbClr val="111827"/>
                    </a:solidFill>
                    <a:latin typeface="Arial"/>
                  </a:rPr>
                  <a:t> the locus of the intersection of a tangent and its </a:t>
                </a:r>
                <a:r>
                  <a:rPr lang="en-IN" sz="2400">
                    <a:solidFill>
                      <a:srgbClr val="111827"/>
                    </a:solidFill>
                    <a:latin typeface="Cambria Math" panose="02040503050406030204" pitchFamily="18" charset="0"/>
                  </a:rPr>
                  <a:t>$90^\circ$</a:t>
                </a:r>
                <a:r>
                  <a:rPr sz="2400" b="0">
                    <a:solidFill>
                      <a:srgbClr val="111827"/>
                    </a:solidFill>
                    <a:latin typeface="Arial"/>
                  </a:rPr>
                  <a:t> rotation is </a:t>
                </a:r>
                <a:r>
                  <a:rPr lang="en-IN" sz="2400">
                    <a:solidFill>
                      <a:srgbClr val="111827"/>
                    </a:solidFill>
                    <a:latin typeface="Cambria Math" panose="02040503050406030204" pitchFamily="18" charset="0"/>
                  </a:rPr>
                  <a:t>$r^2=(a^2+b^2)+(a^2-b^2)\sin2\psi$</a:t>
                </a:r>
                <a:r>
                  <a:rPr sz="2400" b="0">
                    <a:solidFill>
                      <a:srgbClr val="111827"/>
                    </a:solidFill>
                    <a:latin typeface="Arial"/>
                  </a:rPr>
                  <a:t>; the instance </a:t>
                </a:r>
                <a:r>
                  <a:rPr lang="en-IN" sz="2400">
                    <a:solidFill>
                      <a:srgbClr val="111827"/>
                    </a:solidFill>
                    <a:latin typeface="Cambria Math" panose="02040503050406030204" pitchFamily="18" charset="0"/>
                  </a:rPr>
                  <a:t>$a=2,b=1$</a:t>
                </a:r>
                <a:r>
                  <a:rPr sz="2400" b="0">
                    <a:solidFill>
                      <a:srgbClr val="111827"/>
                    </a:solidFill>
                    <a:latin typeface="Arial"/>
                  </a:rPr>
                  <a:t> gives </a:t>
                </a:r>
                <a:r>
                  <a:rPr lang="en-IN" sz="2400">
                    <a:solidFill>
                      <a:srgbClr val="111827"/>
                    </a:solidFill>
                    <a:latin typeface="Cambria Math" panose="02040503050406030204" pitchFamily="18" charset="0"/>
                  </a:rPr>
                  <a:t>$r^2=5+3\sin2\psi$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091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Line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parallel to the line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Slope of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Also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parallel to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4</m:t>
                        </m:r>
                      </m:sub>
                    </m:sSub>
                  </m:oMath>
                </a14:m>
                <a:r>
                  <a:rPr sz="2400" b="0">
                    <a:solidFill>
                      <a:srgbClr val="111827"/>
                    </a:solidFill>
                    <a:latin typeface="Arial"/>
                  </a:rPr>
                  <a:t>. Slope of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4</m:t>
                        </m:r>
                      </m:sub>
                    </m:sSub>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25</m:t>
                        </m:r>
                      </m:den>
                    </m:f>
                  </m:oMath>
                </a14:m>
                <a:r>
                  <a:rPr sz="2400" b="0">
                    <a:solidFill>
                      <a:srgbClr val="111827"/>
                    </a:solidFill>
                    <a:latin typeface="Arial"/>
                  </a:rPr>
                  <a:t>. All these lines touch the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Find the area of the parallelogram formed by these lines.</a:t>
                </a:r>
                <a:endParaRPr sz="2400">
                  <a:solidFill>
                    <a:srgbClr val="111827"/>
                  </a:solidFill>
                </a:endParaRPr>
              </a:p>
            </p:txBody>
          </p:sp>
        </mc:Choice>
        <mc:Fallback>
          <p:sp>
            <p:nvSpPr>
              <p:cNvPr id="4" name="Rounded Rectangle 3"/>
              <p:cNvSpPr/>
              <p:nvPr/>
            </p:nvSpPr>
            <p:spPr>
              <a:xfrm>
                <a:off x="731520" y="1280160"/>
                <a:ext cx="10725912" cy="27091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Line </a:t>
                </a:r>
                <a:r>
                  <a:rPr lang="en-IN" sz="2400">
                    <a:solidFill>
                      <a:srgbClr val="111827"/>
                    </a:solidFill>
                    <a:latin typeface="Cambria Math" panose="02040503050406030204" pitchFamily="18" charset="0"/>
                  </a:rPr>
                  <a:t>$L_1$</a:t>
                </a:r>
                <a:r>
                  <a:rPr sz="2400" b="0">
                    <a:solidFill>
                      <a:srgbClr val="111827"/>
                    </a:solidFill>
                    <a:latin typeface="Arial"/>
                  </a:rPr>
                  <a:t> is parallel to the line </a:t>
                </a:r>
                <a:r>
                  <a:rPr lang="en-IN" sz="2400">
                    <a:solidFill>
                      <a:srgbClr val="111827"/>
                    </a:solidFill>
                    <a:latin typeface="Cambria Math" panose="02040503050406030204" pitchFamily="18" charset="0"/>
                  </a:rPr>
                  <a:t>$L_2$</a:t>
                </a:r>
                <a:r>
                  <a:rPr sz="2400" b="0">
                    <a:solidFill>
                      <a:srgbClr val="111827"/>
                    </a:solidFill>
                    <a:latin typeface="Arial"/>
                  </a:rPr>
                  <a:t>. Slope of </a:t>
                </a:r>
                <a:r>
                  <a:rPr lang="en-IN" sz="2400">
                    <a:solidFill>
                      <a:srgbClr val="111827"/>
                    </a:solidFill>
                    <a:latin typeface="Cambria Math" panose="02040503050406030204" pitchFamily="18" charset="0"/>
                  </a:rPr>
                  <a:t>$L_1$</a:t>
                </a:r>
                <a:r>
                  <a:rPr sz="2400" b="0">
                    <a:solidFill>
                      <a:srgbClr val="111827"/>
                    </a:solidFill>
                    <a:latin typeface="Arial"/>
                  </a:rPr>
                  <a:t> is </a:t>
                </a:r>
                <a:r>
                  <a:rPr lang="en-IN" sz="2400">
                    <a:solidFill>
                      <a:srgbClr val="111827"/>
                    </a:solidFill>
                    <a:latin typeface="Cambria Math" panose="02040503050406030204" pitchFamily="18" charset="0"/>
                  </a:rPr>
                  <a:t>$9$</a:t>
                </a:r>
                <a:r>
                  <a:rPr sz="2400" b="0">
                    <a:solidFill>
                      <a:srgbClr val="111827"/>
                    </a:solidFill>
                    <a:latin typeface="Arial"/>
                  </a:rPr>
                  <a:t>. Also </a:t>
                </a:r>
                <a:r>
                  <a:rPr lang="en-IN" sz="2400">
                    <a:solidFill>
                      <a:srgbClr val="111827"/>
                    </a:solidFill>
                    <a:latin typeface="Cambria Math" panose="02040503050406030204" pitchFamily="18" charset="0"/>
                  </a:rPr>
                  <a:t>$L_3$</a:t>
                </a:r>
                <a:r>
                  <a:rPr sz="2400" b="0">
                    <a:solidFill>
                      <a:srgbClr val="111827"/>
                    </a:solidFill>
                    <a:latin typeface="Arial"/>
                  </a:rPr>
                  <a:t> is parallel to </a:t>
                </a:r>
                <a:r>
                  <a:rPr lang="en-IN" sz="2400">
                    <a:solidFill>
                      <a:srgbClr val="111827"/>
                    </a:solidFill>
                    <a:latin typeface="Cambria Math" panose="02040503050406030204" pitchFamily="18" charset="0"/>
                  </a:rPr>
                  <a:t>$L_4$</a:t>
                </a:r>
                <a:r>
                  <a:rPr sz="2400" b="0">
                    <a:solidFill>
                      <a:srgbClr val="111827"/>
                    </a:solidFill>
                    <a:latin typeface="Arial"/>
                  </a:rPr>
                  <a:t>. Slope of </a:t>
                </a:r>
                <a:r>
                  <a:rPr lang="en-IN" sz="2400">
                    <a:solidFill>
                      <a:srgbClr val="111827"/>
                    </a:solidFill>
                    <a:latin typeface="Cambria Math" panose="02040503050406030204" pitchFamily="18" charset="0"/>
                  </a:rPr>
                  <a:t>$L_4$</a:t>
                </a:r>
                <a:r>
                  <a:rPr sz="2400" b="0">
                    <a:solidFill>
                      <a:srgbClr val="111827"/>
                    </a:solidFill>
                    <a:latin typeface="Arial"/>
                  </a:rPr>
                  <a:t> is </a:t>
                </a:r>
                <a:r>
                  <a:rPr lang="en-IN" sz="2400">
                    <a:solidFill>
                      <a:srgbClr val="111827"/>
                    </a:solidFill>
                    <a:latin typeface="Cambria Math" panose="02040503050406030204" pitchFamily="18" charset="0"/>
                  </a:rPr>
                  <a:t>$\frac{-1}{25}$</a:t>
                </a:r>
                <a:r>
                  <a:rPr sz="2400" b="0">
                    <a:solidFill>
                      <a:srgbClr val="111827"/>
                    </a:solidFill>
                    <a:latin typeface="Arial"/>
                  </a:rPr>
                  <a:t>. All these lines touch the ellipse </a:t>
                </a:r>
                <a:r>
                  <a:rPr lang="en-IN" sz="2400">
                    <a:solidFill>
                      <a:srgbClr val="111827"/>
                    </a:solidFill>
                    <a:latin typeface="Cambria Math" panose="02040503050406030204" pitchFamily="18" charset="0"/>
                  </a:rPr>
                  <a:t>$\frac{x^2}{25}+\frac{y^2}{9}=1$</a:t>
                </a:r>
                <a:r>
                  <a:rPr sz="2400" b="0">
                    <a:solidFill>
                      <a:srgbClr val="111827"/>
                    </a:solidFill>
                    <a:latin typeface="Arial"/>
                  </a:rPr>
                  <a:t>. Find the area of the parallelogram formed by these lines.</a:t>
                </a:r>
                <a:endParaRPr sz="2400">
                  <a:solidFill>
                    <a:srgbClr val="111827"/>
                  </a:solidFill>
                </a:endParaRPr>
              </a:p>
            </p:txBody>
          </p:sp>
        </mc:Fallback>
      </mc:AlternateContent>
      <p:sp>
        <p:nvSpPr>
          <p:cNvPr id="5" name="Rectangle 4"/>
          <p:cNvSpPr/>
          <p:nvPr/>
        </p:nvSpPr>
        <p:spPr>
          <a:xfrm>
            <a:off x="731520" y="421792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Tangents of given slope to an ellipse, Area of a parallelogram formed by four lines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pair of parallel tangents has </a:t>
                </a:r>
                <a14:m>
                  <m:oMath xmlns:m="http://schemas.openxmlformats.org/officeDocument/2006/math">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sSup>
                          <m:e>
                            <m:r>
                              <a:rPr lang="en-IN" sz="2400" i="1">
                                <a:solidFill>
                                  <a:srgbClr val="78350F"/>
                                </a:solidFill>
                                <a:latin typeface="Cambria Math" panose="02040503050406030204" pitchFamily="18" charset="0"/>
                              </a:rPr>
                              <m:t>𝑚</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e>
                    </m:rad>
                  </m:oMath>
                </a14:m>
                <a:r>
                  <a:rPr sz="2400" b="0">
                    <a:solidFill>
                      <a:srgbClr val="78350F"/>
                    </a:solidFill>
                    <a:latin typeface="Arial"/>
                  </a:rPr>
                  <a:t>; the parallelogram area is </a:t>
                </a:r>
                <a14:m>
                  <m:oMath xmlns:m="http://schemas.openxmlformats.org/officeDocument/2006/math">
                    <m:f>
                      <m:fPr>
                        <m:type m:val="bar"/>
                        <m:ctrlPr>
                          <a:rPr lang="en-IN" sz="2400" i="1">
                            <a:solidFill>
                              <a:srgbClr val="78350F"/>
                            </a:solidFill>
                            <a:latin typeface="Cambria Math" panose="02040503050406030204" pitchFamily="18" charset="0"/>
                          </a:rPr>
                        </m:ctrlPr>
                      </m:fPr>
                      <m:num>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𝑐</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𝑐</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𝑑</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𝑑</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num>
                      <m:den>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𝑚</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𝑚</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pair of parallel tangents has </a:t>
                </a:r>
                <a:r>
                  <a:rPr lang="en-IN" sz="2400">
                    <a:solidFill>
                      <a:srgbClr val="78350F"/>
                    </a:solidFill>
                    <a:latin typeface="Cambria Math" panose="02040503050406030204" pitchFamily="18" charset="0"/>
                  </a:rPr>
                  <a:t>$c=\pm\sqrt{a^2m^2+b^2}$</a:t>
                </a:r>
                <a:r>
                  <a:rPr sz="2400" b="0">
                    <a:solidFill>
                      <a:srgbClr val="78350F"/>
                    </a:solidFill>
                    <a:latin typeface="Arial"/>
                  </a:rPr>
                  <a:t>; the parallelogram area is </a:t>
                </a:r>
                <a:r>
                  <a:rPr lang="en-IN" sz="2400">
                    <a:solidFill>
                      <a:srgbClr val="78350F"/>
                    </a:solidFill>
                    <a:latin typeface="Cambria Math" panose="02040503050406030204" pitchFamily="18" charset="0"/>
                  </a:rPr>
                  <a:t>$\frac{|c_1-c_2||d_1-d_2|}{|m_1-m_2|}$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touches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iff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(condition of tangency).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226</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226</m:t>
                        </m:r>
                      </m:e>
                    </m:rad>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226</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25</m:t>
                        </m:r>
                      </m:den>
                    </m:f>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𝑑</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625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226</m:t>
                        </m:r>
                      </m:num>
                      <m:den>
                        <m:r>
                          <a:rPr lang="en-IN" sz="2400" i="1">
                            <a:solidFill>
                              <a:srgbClr val="111827"/>
                            </a:solidFill>
                            <a:latin typeface="Cambria Math" panose="02040503050406030204" pitchFamily="18" charset="0"/>
                          </a:rPr>
                          <m:t>25</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226</m:t>
                            </m:r>
                          </m:e>
                        </m:rad>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226</m:t>
                            </m:r>
                          </m:e>
                        </m:rad>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$y=mx+c$</a:t>
                </a:r>
                <a:r>
                  <a:rPr sz="2400" b="0">
                    <a:solidFill>
                      <a:srgbClr val="111827"/>
                    </a:solidFill>
                    <a:latin typeface="Arial"/>
                  </a:rPr>
                  <a:t> touches </a:t>
                </a:r>
                <a:r>
                  <a:rPr lang="en-IN" sz="2400">
                    <a:solidFill>
                      <a:srgbClr val="111827"/>
                    </a:solidFill>
                    <a:latin typeface="Cambria Math" panose="02040503050406030204" pitchFamily="18" charset="0"/>
                  </a:rPr>
                  <a:t>$\frac{x^2}{a^2}+\frac{y^2}{b^2}=1$</a:t>
                </a:r>
                <a:r>
                  <a:rPr sz="2400" b="0">
                    <a:solidFill>
                      <a:srgbClr val="111827"/>
                    </a:solidFill>
                    <a:latin typeface="Arial"/>
                  </a:rPr>
                  <a:t> iff </a:t>
                </a:r>
                <a:r>
                  <a:rPr lang="en-IN" sz="2400">
                    <a:solidFill>
                      <a:srgbClr val="111827"/>
                    </a:solidFill>
                    <a:latin typeface="Cambria Math" panose="02040503050406030204" pitchFamily="18" charset="0"/>
                  </a:rPr>
                  <a:t>$c^2=a^2m^2+b^2$</a:t>
                </a:r>
                <a:r>
                  <a:rPr sz="2400" b="0">
                    <a:solidFill>
                      <a:srgbClr val="111827"/>
                    </a:solidFill>
                    <a:latin typeface="Arial"/>
                  </a:rPr>
                  <a:t> (condition of tangency).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$m=9$</a:t>
                </a:r>
                <a:r>
                  <a:rPr sz="2400" b="0">
                    <a:solidFill>
                      <a:srgbClr val="111827"/>
                    </a:solidFill>
                    <a:latin typeface="Arial"/>
                  </a:rPr>
                  <a:t>: </a:t>
                </a:r>
                <a:r>
                  <a:rPr lang="en-IN" sz="2400">
                    <a:solidFill>
                      <a:srgbClr val="111827"/>
                    </a:solidFill>
                    <a:latin typeface="Cambria Math" panose="02040503050406030204" pitchFamily="18" charset="0"/>
                  </a:rPr>
                  <a:t>$c^2=25\cdot81+9=9(225+1)=9\cdot226$</a:t>
                </a:r>
                <a:r>
                  <a:rPr sz="2400" b="0">
                    <a:solidFill>
                      <a:srgbClr val="111827"/>
                    </a:solidFill>
                    <a:latin typeface="Arial"/>
                  </a:rPr>
                  <a:t>, so </a:t>
                </a:r>
                <a:r>
                  <a:rPr lang="en-IN" sz="2400">
                    <a:solidFill>
                      <a:srgbClr val="111827"/>
                    </a:solidFill>
                    <a:latin typeface="Cambria Math" panose="02040503050406030204" pitchFamily="18" charset="0"/>
                  </a:rPr>
                  <a:t>$c=\pm3\sqrt{226}$</a:t>
                </a:r>
                <a:r>
                  <a:rPr sz="2400" b="0">
                    <a:solidFill>
                      <a:srgbClr val="111827"/>
                    </a:solidFill>
                    <a:latin typeface="Arial"/>
                  </a:rPr>
                  <a:t> and </a:t>
                </a:r>
                <a:r>
                  <a:rPr lang="en-IN" sz="2400">
                    <a:solidFill>
                      <a:srgbClr val="111827"/>
                    </a:solidFill>
                    <a:latin typeface="Cambria Math" panose="02040503050406030204" pitchFamily="18" charset="0"/>
                  </a:rPr>
                  <a:t>$|c_1-c_2|=6\sqrt{226}$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$m_2=-\frac1{25}$</a:t>
                </a:r>
                <a:r>
                  <a:rPr sz="2400" b="0">
                    <a:solidFill>
                      <a:srgbClr val="111827"/>
                    </a:solidFill>
                    <a:latin typeface="Arial"/>
                  </a:rPr>
                  <a:t>: </a:t>
                </a:r>
                <a:r>
                  <a:rPr lang="en-IN" sz="2400">
                    <a:solidFill>
                      <a:srgbClr val="111827"/>
                    </a:solidFill>
                    <a:latin typeface="Cambria Math" panose="02040503050406030204" pitchFamily="18" charset="0"/>
                  </a:rPr>
                  <a:t>$d^2=25\cdot\frac{1}{625}+9=\frac{226}{25}$</a:t>
                </a:r>
                <a:r>
                  <a:rPr sz="2400" b="0">
                    <a:solidFill>
                      <a:srgbClr val="111827"/>
                    </a:solidFill>
                    <a:latin typeface="Arial"/>
                  </a:rPr>
                  <a:t>, so </a:t>
                </a:r>
                <a:r>
                  <a:rPr lang="en-IN" sz="2400">
                    <a:solidFill>
                      <a:srgbClr val="111827"/>
                    </a:solidFill>
                    <a:latin typeface="Cambria Math" panose="02040503050406030204" pitchFamily="18" charset="0"/>
                  </a:rPr>
                  <a:t>$d=\pm\frac{\sqrt{226}}{5}$</a:t>
                </a:r>
                <a:r>
                  <a:rPr sz="2400" b="0">
                    <a:solidFill>
                      <a:srgbClr val="111827"/>
                    </a:solidFill>
                    <a:latin typeface="Arial"/>
                  </a:rPr>
                  <a:t> and </a:t>
                </a:r>
                <a:r>
                  <a:rPr lang="en-IN" sz="2400">
                    <a:solidFill>
                      <a:srgbClr val="111827"/>
                    </a:solidFill>
                    <a:latin typeface="Cambria Math" panose="02040503050406030204" pitchFamily="18" charset="0"/>
                  </a:rPr>
                  <a:t>$|d_1-d_2|=\frac{2\sqrt{226}}{5}$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parallelogram bounded by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oMath>
                </a14:m>
                <a:r>
                  <a:rPr sz="2400" b="0">
                    <a:solidFill>
                      <a:srgbClr val="111827"/>
                    </a:solidFill>
                    <a:latin typeface="Arial"/>
                  </a:rPr>
                  <a:t> has area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226</m:t>
                        </m:r>
                      </m:num>
                      <m:den>
                        <m:r>
                          <a:rPr lang="en-IN" sz="2400" i="1">
                            <a:solidFill>
                              <a:srgbClr val="111827"/>
                            </a:solidFill>
                            <a:latin typeface="Cambria Math" panose="02040503050406030204" pitchFamily="18" charset="0"/>
                          </a:rPr>
                          <m:t>25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226</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226</m:t>
                                </m:r>
                              </m:e>
                            </m:rad>
                          </m:num>
                          <m:den>
                            <m:r>
                              <a:rPr lang="en-IN" sz="2400" i="1">
                                <a:solidFill>
                                  <a:srgbClr val="111827"/>
                                </a:solidFill>
                                <a:latin typeface="Cambria Math" panose="02040503050406030204" pitchFamily="18" charset="0"/>
                              </a:rPr>
                              <m:t>5</m:t>
                            </m:r>
                          </m:den>
                        </m:f>
                      </m:num>
                      <m:den>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226</m:t>
                            </m:r>
                          </m:num>
                          <m:den>
                            <m:r>
                              <a:rPr lang="en-IN" sz="2400" i="1">
                                <a:solidFill>
                                  <a:srgbClr val="111827"/>
                                </a:solidFill>
                                <a:latin typeface="Cambria Math" panose="02040503050406030204" pitchFamily="18" charset="0"/>
                              </a:rPr>
                              <m:t>25</m:t>
                            </m:r>
                          </m:den>
                        </m:f>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oMath>
                </a14:m>
                <a:r>
                  <a:rPr sz="2400" b="0">
                    <a:solidFill>
                      <a:srgbClr val="111827"/>
                    </a:solidFill>
                    <a:latin typeface="Arial"/>
                  </a:rPr>
                  <a:t> square units.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parallelogram bounded by </a:t>
                </a:r>
                <a:r>
                  <a:rPr lang="en-IN" sz="2400">
                    <a:solidFill>
                      <a:srgbClr val="111827"/>
                    </a:solidFill>
                    <a:latin typeface="Cambria Math" panose="02040503050406030204" pitchFamily="18" charset="0"/>
                  </a:rPr>
                  <a:t>$y=m_1x+c_{1,2}$</a:t>
                </a:r>
                <a:r>
                  <a:rPr sz="2400" b="0">
                    <a:solidFill>
                      <a:srgbClr val="111827"/>
                    </a:solidFill>
                    <a:latin typeface="Arial"/>
                  </a:rPr>
                  <a:t> and </a:t>
                </a:r>
                <a:r>
                  <a:rPr lang="en-IN" sz="2400">
                    <a:solidFill>
                      <a:srgbClr val="111827"/>
                    </a:solidFill>
                    <a:latin typeface="Cambria Math" panose="02040503050406030204" pitchFamily="18" charset="0"/>
                  </a:rPr>
                  <a:t>$y=m_2x+d_{1,2}$</a:t>
                </a:r>
                <a:r>
                  <a:rPr sz="2400" b="0">
                    <a:solidFill>
                      <a:srgbClr val="111827"/>
                    </a:solidFill>
                    <a:latin typeface="Arial"/>
                  </a:rPr>
                  <a:t> has area </a:t>
                </a:r>
                <a:r>
                  <a:rPr lang="en-IN" sz="2400">
                    <a:solidFill>
                      <a:srgbClr val="111827"/>
                    </a:solidFill>
                    <a:latin typeface="Cambria Math" panose="02040503050406030204" pitchFamily="18" charset="0"/>
                  </a:rPr>
                  <a:t>$\frac{|c_1-c_2|\,|d_1-d_2|}{|m_1-m_2|}$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$|m_1-m_2|=9+\frac{1}{25}=\frac{226}{25}$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$=\frac{6\sqrt{226}\cdot\frac{2\sqrt{226}}{5}}{\frac{226}{25}}=\frac{6\cdot226\cdot2\cdot25}{5\cdot226}=60$</a:t>
                </a:r>
                <a:r>
                  <a:rPr sz="2400" b="0">
                    <a:solidFill>
                      <a:srgbClr val="111827"/>
                    </a:solidFill>
                    <a:latin typeface="Arial"/>
                  </a:rPr>
                  <a:t> square units.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60</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$60$</a:t>
                </a:r>
                <a:endParaRPr sz="2800">
                  <a:solidFill>
                    <a:srgbClr val="15803D"/>
                  </a:solidFill>
                </a:endParaRPr>
              </a:p>
            </p:txBody>
          </p:sp>
        </mc:Fallback>
      </mc:AlternateContent>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Stretch the ellipse into the unit circle with </a:t>
                </a:r>
                <a14:m>
                  <m:oMath xmlns:m="http://schemas.openxmlformats.org/officeDocument/2006/math">
                    <m:r>
                      <a:rPr lang="en-IN" sz="2400" i="1">
                        <a:solidFill>
                          <a:srgbClr val="78350F"/>
                        </a:solidFill>
                        <a:latin typeface="Cambria Math" panose="02040503050406030204" pitchFamily="18" charset="0"/>
                      </a:rPr>
                      <m:t>𝑋</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𝑥</m:t>
                        </m:r>
                      </m:num>
                      <m:den>
                        <m:r>
                          <a:rPr lang="en-IN" sz="2400" i="1">
                            <a:solidFill>
                              <a:srgbClr val="78350F"/>
                            </a:solidFill>
                            <a:latin typeface="Cambria Math" panose="02040503050406030204" pitchFamily="18" charset="0"/>
                          </a:rPr>
                          <m:t>5</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𝑌</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3</m:t>
                        </m:r>
                      </m:den>
                    </m:f>
                  </m:oMath>
                </a14:m>
                <a:r>
                  <a:rPr sz="2400" b="0">
                    <a:solidFill>
                      <a:srgbClr val="78350F"/>
                    </a:solidFill>
                    <a:latin typeface="Arial"/>
                  </a:rPr>
                  <a:t>: the slopes become </a:t>
                </a:r>
                <a14:m>
                  <m:oMath xmlns:m="http://schemas.openxmlformats.org/officeDocument/2006/math">
                    <m:r>
                      <a:rPr lang="en-IN" sz="2400" i="1">
                        <a:solidFill>
                          <a:srgbClr val="78350F"/>
                        </a:solidFill>
                        <a:latin typeface="Cambria Math" panose="02040503050406030204" pitchFamily="18" charset="0"/>
                      </a:rPr>
                      <m:t>15</m:t>
                    </m:r>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15</m:t>
                        </m:r>
                      </m:den>
                    </m:f>
                  </m:oMath>
                </a14:m>
                <a:r>
                  <a:rPr sz="2400" b="0">
                    <a:solidFill>
                      <a:srgbClr val="78350F"/>
                    </a:solidFill>
                    <a:latin typeface="Arial"/>
                  </a:rPr>
                  <a:t> (perpendicular), the parallelogram a square, and areas scale by </a:t>
                </a:r>
                <a14:m>
                  <m:oMath xmlns:m="http://schemas.openxmlformats.org/officeDocument/2006/math">
                    <m:r>
                      <a:rPr lang="en-IN" sz="2400" i="1">
                        <a:solidFill>
                          <a:srgbClr val="78350F"/>
                        </a:solidFill>
                        <a:latin typeface="Cambria Math" panose="02040503050406030204" pitchFamily="18" charset="0"/>
                      </a:rPr>
                      <m:t>15</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Stretch the ellipse into the unit circle with </a:t>
                </a:r>
                <a:r>
                  <a:rPr lang="en-IN" sz="2400">
                    <a:solidFill>
                      <a:srgbClr val="78350F"/>
                    </a:solidFill>
                    <a:latin typeface="Cambria Math" panose="02040503050406030204" pitchFamily="18" charset="0"/>
                  </a:rPr>
                  <a:t>$X=\frac x5,\ Y=\frac y3$</a:t>
                </a:r>
                <a:r>
                  <a:rPr sz="2400" b="0">
                    <a:solidFill>
                      <a:srgbClr val="78350F"/>
                    </a:solidFill>
                    <a:latin typeface="Arial"/>
                  </a:rPr>
                  <a:t>: the slopes become </a:t>
                </a:r>
                <a:r>
                  <a:rPr lang="en-IN" sz="2400">
                    <a:solidFill>
                      <a:srgbClr val="78350F"/>
                    </a:solidFill>
                    <a:latin typeface="Cambria Math" panose="02040503050406030204" pitchFamily="18" charset="0"/>
                  </a:rPr>
                  <a:t>$15$</a:t>
                </a:r>
                <a:r>
                  <a:rPr sz="2400" b="0">
                    <a:solidFill>
                      <a:srgbClr val="78350F"/>
                    </a:solidFill>
                    <a:latin typeface="Arial"/>
                  </a:rPr>
                  <a:t> and </a:t>
                </a:r>
                <a:r>
                  <a:rPr lang="en-IN" sz="2400">
                    <a:solidFill>
                      <a:srgbClr val="78350F"/>
                    </a:solidFill>
                    <a:latin typeface="Cambria Math" panose="02040503050406030204" pitchFamily="18" charset="0"/>
                  </a:rPr>
                  <a:t>$-\frac1{15}$</a:t>
                </a:r>
                <a:r>
                  <a:rPr sz="2400" b="0">
                    <a:solidFill>
                      <a:srgbClr val="78350F"/>
                    </a:solidFill>
                    <a:latin typeface="Arial"/>
                  </a:rPr>
                  <a:t> (perpendicular), the parallelogram a square, and areas scale by </a:t>
                </a:r>
                <a:r>
                  <a:rPr lang="en-IN" sz="2400">
                    <a:solidFill>
                      <a:srgbClr val="78350F"/>
                    </a:solidFill>
                    <a:latin typeface="Cambria Math" panose="02040503050406030204" pitchFamily="18" charset="0"/>
                  </a:rPr>
                  <a:t>$15$</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map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sends the ellipse to the unit circle </a:t>
                </a:r>
                <a14:m>
                  <m:oMath xmlns:m="http://schemas.openxmlformats.org/officeDocument/2006/math">
                    <m:sSup>
                      <m:e>
                        <m:r>
                          <a:rPr lang="en-IN" sz="2400" i="1">
                            <a:solidFill>
                              <a:srgbClr val="111827"/>
                            </a:solidFill>
                            <a:latin typeface="Cambria Math" panose="02040503050406030204" pitchFamily="18" charset="0"/>
                          </a:rPr>
                          <m:t>𝑋</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lines to lines, tangents to tangents.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of slope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goes to a line of slope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𝑋</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m:t>
                        </m:r>
                      </m:den>
                    </m:f>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25</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two directions are perpendicular.</a:t>
                </a:r>
                <a:endParaRPr sz="2400">
                  <a:solidFill>
                    <a:srgbClr val="111827"/>
                  </a:solidFill>
                </a:endParaRPr>
              </a:p>
            </p:txBody>
          </p:sp>
        </mc:Choice>
        <mc:Fallback>
          <p:sp>
            <p:nvSpPr>
              <p:cNvPr id="6" name="Rectangle 5"/>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map </a:t>
                </a:r>
                <a:r>
                  <a:rPr lang="en-IN" sz="2400">
                    <a:solidFill>
                      <a:srgbClr val="111827"/>
                    </a:solidFill>
                    <a:latin typeface="Cambria Math" panose="02040503050406030204" pitchFamily="18" charset="0"/>
                  </a:rPr>
                  <a:t>$(x,y)\to\left(\frac x5,\frac y3\right)$</a:t>
                </a:r>
                <a:r>
                  <a:rPr sz="2400" b="0">
                    <a:solidFill>
                      <a:srgbClr val="111827"/>
                    </a:solidFill>
                    <a:latin typeface="Arial"/>
                  </a:rPr>
                  <a:t> sends the ellipse to the unit circle </a:t>
                </a:r>
                <a:r>
                  <a:rPr lang="en-IN" sz="2400">
                    <a:solidFill>
                      <a:srgbClr val="111827"/>
                    </a:solidFill>
                    <a:latin typeface="Cambria Math" panose="02040503050406030204" pitchFamily="18" charset="0"/>
                  </a:rPr>
                  <a:t>$X^2+Y^2=1$</a:t>
                </a:r>
                <a:r>
                  <a:rPr sz="2400" b="0">
                    <a:solidFill>
                      <a:srgbClr val="111827"/>
                    </a:solidFill>
                    <a:latin typeface="Arial"/>
                  </a:rPr>
                  <a:t>, lines to lines, tangents to tangents.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of slope </a:t>
                </a:r>
                <a:r>
                  <a:rPr lang="en-IN" sz="2400">
                    <a:solidFill>
                      <a:srgbClr val="111827"/>
                    </a:solidFill>
                    <a:latin typeface="Cambria Math" panose="02040503050406030204" pitchFamily="18" charset="0"/>
                  </a:rPr>
                  <a:t>$m$</a:t>
                </a:r>
                <a:r>
                  <a:rPr sz="2400" b="0">
                    <a:solidFill>
                      <a:srgbClr val="111827"/>
                    </a:solidFill>
                    <a:latin typeface="Arial"/>
                  </a:rPr>
                  <a:t> goes to a line of slope </a:t>
                </a:r>
                <a:r>
                  <a:rPr lang="en-IN" sz="2400">
                    <a:solidFill>
                      <a:srgbClr val="111827"/>
                    </a:solidFill>
                    <a:latin typeface="Cambria Math" panose="02040503050406030204" pitchFamily="18" charset="0"/>
                  </a:rPr>
                  <a:t>$M=\frac{dY/1}{dX}=\frac{5}{3}m$</a:t>
                </a:r>
                <a:r>
                  <a:rPr sz="2400" b="0">
                    <a:solidFill>
                      <a:srgbClr val="111827"/>
                    </a:solidFill>
                    <a:latin typeface="Arial"/>
                  </a:rPr>
                  <a:t>: </a:t>
                </a:r>
                <a:r>
                  <a:rPr lang="en-IN" sz="2400">
                    <a:solidFill>
                      <a:srgbClr val="111827"/>
                    </a:solidFill>
                    <a:latin typeface="Cambria Math" panose="02040503050406030204" pitchFamily="18" charset="0"/>
                  </a:rPr>
                  <a:t>$M_1=\frac53\cdot9=15$</a:t>
                </a:r>
                <a:r>
                  <a:rPr sz="2400" b="0">
                    <a:solidFill>
                      <a:srgbClr val="111827"/>
                    </a:solidFill>
                    <a:latin typeface="Arial"/>
                  </a:rPr>
                  <a:t> and </a:t>
                </a:r>
                <a:r>
                  <a:rPr lang="en-IN" sz="2400">
                    <a:solidFill>
                      <a:srgbClr val="111827"/>
                    </a:solidFill>
                    <a:latin typeface="Cambria Math" panose="02040503050406030204" pitchFamily="18" charset="0"/>
                  </a:rPr>
                  <a:t>$M_2=\frac53\cdot\left(-\frac1{25}\right)=-\frac{1}{15}$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$M_1M_2=-1$</a:t>
                </a:r>
                <a:r>
                  <a:rPr sz="2400" b="0">
                    <a:solidFill>
                      <a:srgbClr val="111827"/>
                    </a:solidFill>
                    <a:latin typeface="Arial"/>
                  </a:rPr>
                  <a:t>: the two directions are perpendicular.</a:t>
                </a:r>
                <a:endParaRPr sz="2400">
                  <a:solidFill>
                    <a:srgbClr val="111827"/>
                  </a:solidFill>
                </a:endParaRPr>
              </a:p>
            </p:txBody>
          </p:sp>
        </mc:Fallback>
      </mc:AlternateContent>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four tangents to the unit circle form a square circumscribed about it, of side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and area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map multiplies areas by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15</m:t>
                        </m:r>
                      </m:den>
                    </m:f>
                  </m:oMath>
                </a14:m>
                <a:r>
                  <a:rPr sz="2400" b="0">
                    <a:solidFill>
                      <a:srgbClr val="111827"/>
                    </a:solidFill>
                    <a:latin typeface="Arial"/>
                  </a:rPr>
                  <a:t>, so the original parallelogram has area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four tangents to the unit circle form a square circumscribed about it, of side </a:t>
                </a:r>
                <a:r>
                  <a:rPr lang="en-IN" sz="2400">
                    <a:solidFill>
                      <a:srgbClr val="111827"/>
                    </a:solidFill>
                    <a:latin typeface="Cambria Math" panose="02040503050406030204" pitchFamily="18" charset="0"/>
                  </a:rPr>
                  <a:t>$2$</a:t>
                </a:r>
                <a:r>
                  <a:rPr sz="2400" b="0">
                    <a:solidFill>
                      <a:srgbClr val="111827"/>
                    </a:solidFill>
                    <a:latin typeface="Arial"/>
                  </a:rPr>
                  <a:t> and area </a:t>
                </a:r>
                <a:r>
                  <a:rPr lang="en-IN" sz="2400">
                    <a:solidFill>
                      <a:srgbClr val="111827"/>
                    </a:solidFill>
                    <a:latin typeface="Cambria Math" panose="02040503050406030204" pitchFamily="18" charset="0"/>
                  </a:rPr>
                  <a:t>$4$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map multiplies areas by </a:t>
                </a:r>
                <a:r>
                  <a:rPr lang="en-IN" sz="2400">
                    <a:solidFill>
                      <a:srgbClr val="111827"/>
                    </a:solidFill>
                    <a:latin typeface="Cambria Math" panose="02040503050406030204" pitchFamily="18" charset="0"/>
                  </a:rPr>
                  <a:t>$\frac1{15}$</a:t>
                </a:r>
                <a:r>
                  <a:rPr sz="2400" b="0">
                    <a:solidFill>
                      <a:srgbClr val="111827"/>
                    </a:solidFill>
                    <a:latin typeface="Arial"/>
                  </a:rPr>
                  <a:t>, so the original parallelogram has area </a:t>
                </a:r>
                <a:r>
                  <a:rPr lang="en-IN" sz="2400">
                    <a:solidFill>
                      <a:srgbClr val="111827"/>
                    </a:solidFill>
                    <a:latin typeface="Cambria Math" panose="02040503050406030204" pitchFamily="18" charset="0"/>
                  </a:rPr>
                  <a:t>$4\times15=60$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60</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$60$</a:t>
                </a:r>
                <a:endParaRPr sz="2800">
                  <a:solidFill>
                    <a:srgbClr val="15803D"/>
                  </a:solidFill>
                </a:endParaRPr>
              </a:p>
            </p:txBody>
          </p:sp>
        </mc:Fallback>
      </mc:AlternateContent>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touches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iff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Parallelogram formed by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has area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Affine map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e>
                    </m:d>
                  </m:oMath>
                </a14:m>
                <a:r>
                  <a:rPr sz="2400" b="0">
                    <a:solidFill>
                      <a:srgbClr val="111827"/>
                    </a:solidFill>
                    <a:latin typeface="Arial"/>
                  </a:rPr>
                  <a:t>: an ellipse becomes the unit circle; areas are divided by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15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directions with slopes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become perpendicular after this map iff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(conjugate directions); then the circumscribed parallelogram is the image of a square and has area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25</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so the area is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a:t>
                </a:r>
                <a:r>
                  <a:rPr lang="en-IN" sz="2400">
                    <a:solidFill>
                      <a:srgbClr val="111827"/>
                    </a:solidFill>
                    <a:latin typeface="Cambria Math" panose="02040503050406030204" pitchFamily="18" charset="0"/>
                  </a:rPr>
                  <a:t>$y=mx+c$</a:t>
                </a:r>
                <a:r>
                  <a:rPr sz="2400" b="0">
                    <a:solidFill>
                      <a:srgbClr val="111827"/>
                    </a:solidFill>
                    <a:latin typeface="Arial"/>
                  </a:rPr>
                  <a:t> touches </a:t>
                </a:r>
                <a:r>
                  <a:rPr lang="en-IN" sz="2400">
                    <a:solidFill>
                      <a:srgbClr val="111827"/>
                    </a:solidFill>
                    <a:latin typeface="Cambria Math" panose="02040503050406030204" pitchFamily="18" charset="0"/>
                  </a:rPr>
                  <a:t>$\frac{x^2}{a^2}+\frac{y^2}{b^2}=1$</a:t>
                </a:r>
                <a:r>
                  <a:rPr sz="2400" b="0">
                    <a:solidFill>
                      <a:srgbClr val="111827"/>
                    </a:solidFill>
                    <a:latin typeface="Arial"/>
                  </a:rPr>
                  <a:t> iff </a:t>
                </a:r>
                <a:r>
                  <a:rPr lang="en-IN" sz="2400">
                    <a:solidFill>
                      <a:srgbClr val="111827"/>
                    </a:solidFill>
                    <a:latin typeface="Cambria Math" panose="02040503050406030204" pitchFamily="18" charset="0"/>
                  </a:rPr>
                  <a:t>$c^2=a^2m^2+b^2$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Parallelogram formed by </a:t>
                </a:r>
                <a:r>
                  <a:rPr lang="en-IN" sz="2400">
                    <a:solidFill>
                      <a:srgbClr val="111827"/>
                    </a:solidFill>
                    <a:latin typeface="Cambria Math" panose="02040503050406030204" pitchFamily="18" charset="0"/>
                  </a:rPr>
                  <a:t>$y=m_1x+c_1,\ y=m_1x+c_2,\ y=m_2x+d_1,\ y=m_2x+d_2$</a:t>
                </a:r>
                <a:r>
                  <a:rPr sz="2400" b="0">
                    <a:solidFill>
                      <a:srgbClr val="111827"/>
                    </a:solidFill>
                    <a:latin typeface="Arial"/>
                  </a:rPr>
                  <a:t> has area </a:t>
                </a:r>
                <a:r>
                  <a:rPr lang="en-IN" sz="2400">
                    <a:solidFill>
                      <a:srgbClr val="111827"/>
                    </a:solidFill>
                    <a:latin typeface="Cambria Math" panose="02040503050406030204" pitchFamily="18" charset="0"/>
                  </a:rPr>
                  <a:t>$\frac{|c_1-c_2||d_1-d_2|}{|m_1-m_2|}$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Affine map </a:t>
                </a:r>
                <a:r>
                  <a:rPr lang="en-IN" sz="2400">
                    <a:solidFill>
                      <a:srgbClr val="111827"/>
                    </a:solidFill>
                    <a:latin typeface="Cambria Math" panose="02040503050406030204" pitchFamily="18" charset="0"/>
                  </a:rPr>
                  <a:t>$(x,y)\to\left(\frac xa,\frac yb\right)$</a:t>
                </a:r>
                <a:r>
                  <a:rPr sz="2400" b="0">
                    <a:solidFill>
                      <a:srgbClr val="111827"/>
                    </a:solidFill>
                    <a:latin typeface="Arial"/>
                  </a:rPr>
                  <a:t>: an ellipse becomes the unit circle; areas are divided by </a:t>
                </a:r>
                <a:r>
                  <a:rPr lang="en-IN" sz="2400">
                    <a:solidFill>
                      <a:srgbClr val="111827"/>
                    </a:solidFill>
                    <a:latin typeface="Cambria Math" panose="02040503050406030204" pitchFamily="18" charset="0"/>
                  </a:rPr>
                  <a:t>$ab$</a:t>
                </a:r>
                <a:r>
                  <a:rPr sz="2400" b="0">
                    <a:solidFill>
                      <a:srgbClr val="111827"/>
                    </a:solidFill>
                    <a:latin typeface="Arial"/>
                  </a:rPr>
                  <a:t> (here </a:t>
                </a:r>
                <a:r>
                  <a:rPr lang="en-IN" sz="2400">
                    <a:solidFill>
                      <a:srgbClr val="111827"/>
                    </a:solidFill>
                    <a:latin typeface="Cambria Math" panose="02040503050406030204" pitchFamily="18" charset="0"/>
                  </a:rPr>
                  <a:t>$15$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directions with slopes </a:t>
                </a:r>
                <a:r>
                  <a:rPr lang="en-IN" sz="2400">
                    <a:solidFill>
                      <a:srgbClr val="111827"/>
                    </a:solidFill>
                    <a:latin typeface="Cambria Math" panose="02040503050406030204" pitchFamily="18" charset="0"/>
                  </a:rPr>
                  <a:t>$m_1,m_2$</a:t>
                </a:r>
                <a:r>
                  <a:rPr sz="2400" b="0">
                    <a:solidFill>
                      <a:srgbClr val="111827"/>
                    </a:solidFill>
                    <a:latin typeface="Arial"/>
                  </a:rPr>
                  <a:t> become perpendicular after this map iff </a:t>
                </a:r>
                <a:r>
                  <a:rPr lang="en-IN" sz="2400">
                    <a:solidFill>
                      <a:srgbClr val="111827"/>
                    </a:solidFill>
                    <a:latin typeface="Cambria Math" panose="02040503050406030204" pitchFamily="18" charset="0"/>
                  </a:rPr>
                  <a:t>$m_1m_2=-\frac{b^2}{a^2}$</a:t>
                </a:r>
                <a:r>
                  <a:rPr sz="2400" b="0">
                    <a:solidFill>
                      <a:srgbClr val="111827"/>
                    </a:solidFill>
                    <a:latin typeface="Arial"/>
                  </a:rPr>
                  <a:t> (conjugate directions); then the circumscribed parallelogram is the image of a square and has area </a:t>
                </a:r>
                <a:r>
                  <a:rPr lang="en-IN" sz="2400">
                    <a:solidFill>
                      <a:srgbClr val="111827"/>
                    </a:solidFill>
                    <a:latin typeface="Cambria Math" panose="02040503050406030204" pitchFamily="18" charset="0"/>
                  </a:rPr>
                  <a:t>$4ab$</a:t>
                </a:r>
                <a:r>
                  <a:rPr sz="2400" b="0">
                    <a:solidFill>
                      <a:srgbClr val="111827"/>
                    </a:solidFill>
                    <a:latin typeface="Arial"/>
                  </a:rPr>
                  <a:t>. Here </a:t>
                </a:r>
                <a:r>
                  <a:rPr lang="en-IN" sz="2400">
                    <a:solidFill>
                      <a:srgbClr val="111827"/>
                    </a:solidFill>
                    <a:latin typeface="Cambria Math" panose="02040503050406030204" pitchFamily="18" charset="0"/>
                  </a:rPr>
                  <a:t>$9\cdot\left(-\frac1{25}\right)=-\frac{9}{25}=-\frac{b^2}{a^2}$</a:t>
                </a:r>
                <a:r>
                  <a:rPr sz="2400" b="0">
                    <a:solidFill>
                      <a:srgbClr val="111827"/>
                    </a:solidFill>
                    <a:latin typeface="Arial"/>
                  </a:rPr>
                  <a:t>, so the area is </a:t>
                </a:r>
                <a:r>
                  <a:rPr lang="en-IN" sz="2400">
                    <a:solidFill>
                      <a:srgbClr val="111827"/>
                    </a:solidFill>
                    <a:latin typeface="Cambria Math" panose="02040503050406030204" pitchFamily="18" charset="0"/>
                  </a:rPr>
                  <a:t>$4\cdot5\cdot3=60$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Given the equation of the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 parabola is such that its vertex is the lowest point of the ellipse and it passes through the ends of the minor axis of the ellipse. The equation of the parabola is in the form </a:t>
                </a:r>
                <a14:m>
                  <m:oMath xmlns:m="http://schemas.openxmlformats.org/officeDocument/2006/math">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Determine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Given the equation of the ellipse </a:t>
                </a:r>
                <a:r>
                  <a:rPr lang="en-IN" sz="2400">
                    <a:solidFill>
                      <a:srgbClr val="111827"/>
                    </a:solidFill>
                    <a:latin typeface="Cambria Math" panose="02040503050406030204" pitchFamily="18" charset="0"/>
                  </a:rPr>
                  <a:t>$\frac{(x-3)^2}{16}+\frac{(y+4)^2}{49}=1$</a:t>
                </a:r>
                <a:r>
                  <a:rPr sz="2400" b="0">
                    <a:solidFill>
                      <a:srgbClr val="111827"/>
                    </a:solidFill>
                    <a:latin typeface="Arial"/>
                  </a:rPr>
                  <a:t>, a parabola is such that its vertex is the lowest point of the ellipse and it passes through the ends of the minor axis of the ellipse. The equation of the parabola is in the form </a:t>
                </a:r>
                <a:r>
                  <a:rPr lang="en-IN" sz="2400">
                    <a:solidFill>
                      <a:srgbClr val="111827"/>
                    </a:solidFill>
                    <a:latin typeface="Cambria Math" panose="02040503050406030204" pitchFamily="18" charset="0"/>
                  </a:rPr>
                  <a:t>$16y=a(x-h)^2-k$</a:t>
                </a:r>
                <a:r>
                  <a:rPr sz="2400" b="0">
                    <a:solidFill>
                      <a:srgbClr val="111827"/>
                    </a:solidFill>
                    <a:latin typeface="Arial"/>
                  </a:rPr>
                  <a:t>. Determine the value of </a:t>
                </a:r>
                <a:r>
                  <a:rPr lang="en-IN" sz="2400">
                    <a:solidFill>
                      <a:srgbClr val="111827"/>
                    </a:solidFill>
                    <a:latin typeface="Cambria Math" panose="02040503050406030204" pitchFamily="18" charset="0"/>
                  </a:rPr>
                  <a:t>$(a+h+k)$</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1081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Standard form of an ellipse with shifted centre (lowest point, ends of the minor axis), Equation of a parabola from its vertex and a point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Read off the lowest point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the minor-axis ends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7</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then fit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Read off the lowest point </a:t>
                </a:r>
                <a:r>
                  <a:rPr lang="en-IN" sz="2400">
                    <a:solidFill>
                      <a:srgbClr val="78350F"/>
                    </a:solidFill>
                    <a:latin typeface="Cambria Math" panose="02040503050406030204" pitchFamily="18" charset="0"/>
                  </a:rPr>
                  <a:t>$(3,-11)$</a:t>
                </a:r>
                <a:r>
                  <a:rPr sz="2400" b="0">
                    <a:solidFill>
                      <a:srgbClr val="78350F"/>
                    </a:solidFill>
                    <a:latin typeface="Arial"/>
                  </a:rPr>
                  <a:t> and the minor-axis ends </a:t>
                </a:r>
                <a:r>
                  <a:rPr lang="en-IN" sz="2400">
                    <a:solidFill>
                      <a:srgbClr val="78350F"/>
                    </a:solidFill>
                    <a:latin typeface="Cambria Math" panose="02040503050406030204" pitchFamily="18" charset="0"/>
                  </a:rPr>
                  <a:t>$(7,-4),(-1,-4)$</a:t>
                </a:r>
                <a:r>
                  <a:rPr sz="2400" b="0">
                    <a:solidFill>
                      <a:srgbClr val="78350F"/>
                    </a:solidFill>
                    <a:latin typeface="Arial"/>
                  </a:rPr>
                  <a:t>, then fit </a:t>
                </a:r>
                <a:r>
                  <a:rPr lang="en-IN" sz="2400">
                    <a:solidFill>
                      <a:srgbClr val="78350F"/>
                    </a:solidFill>
                    <a:latin typeface="Cambria Math" panose="02040503050406030204" pitchFamily="18" charset="0"/>
                  </a:rPr>
                  <a:t>$(x-3)^2=4A(y+11)$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ellipse has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horizontal semi-axis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and vertical (major) semi-axis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lowest point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ends of the minor axis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parabola with vertex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 vertical axis (upward)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by symmetry,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ellipse has centre </a:t>
                </a:r>
                <a:r>
                  <a:rPr lang="en-IN" sz="2400">
                    <a:solidFill>
                      <a:srgbClr val="111827"/>
                    </a:solidFill>
                    <a:latin typeface="Cambria Math" panose="02040503050406030204" pitchFamily="18" charset="0"/>
                  </a:rPr>
                  <a:t>$(3,-4)$</a:t>
                </a:r>
                <a:r>
                  <a:rPr sz="2400" b="0">
                    <a:solidFill>
                      <a:srgbClr val="111827"/>
                    </a:solidFill>
                    <a:latin typeface="Arial"/>
                  </a:rPr>
                  <a:t>, horizontal semi-axis </a:t>
                </a:r>
                <a:r>
                  <a:rPr lang="en-IN" sz="2400">
                    <a:solidFill>
                      <a:srgbClr val="111827"/>
                    </a:solidFill>
                    <a:latin typeface="Cambria Math" panose="02040503050406030204" pitchFamily="18" charset="0"/>
                  </a:rPr>
                  <a:t>$4$</a:t>
                </a:r>
                <a:r>
                  <a:rPr sz="2400" b="0">
                    <a:solidFill>
                      <a:srgbClr val="111827"/>
                    </a:solidFill>
                    <a:latin typeface="Arial"/>
                  </a:rPr>
                  <a:t> and vertical (major) semi-axis </a:t>
                </a:r>
                <a:r>
                  <a:rPr lang="en-IN" sz="2400">
                    <a:solidFill>
                      <a:srgbClr val="111827"/>
                    </a:solidFill>
                    <a:latin typeface="Cambria Math" panose="02040503050406030204" pitchFamily="18" charset="0"/>
                  </a:rPr>
                  <a:t>$7$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lowest point is </a:t>
                </a:r>
                <a:r>
                  <a:rPr lang="en-IN" sz="2400">
                    <a:solidFill>
                      <a:srgbClr val="111827"/>
                    </a:solidFill>
                    <a:latin typeface="Cambria Math" panose="02040503050406030204" pitchFamily="18" charset="0"/>
                  </a:rPr>
                  <a:t>$(3,-4-7)=(3,-11)$</a:t>
                </a:r>
                <a:r>
                  <a:rPr sz="2400" b="0">
                    <a:solidFill>
                      <a:srgbClr val="111827"/>
                    </a:solidFill>
                    <a:latin typeface="Arial"/>
                  </a:rPr>
                  <a:t>; the ends of the minor axis are </a:t>
                </a:r>
                <a:r>
                  <a:rPr lang="en-IN" sz="2400">
                    <a:solidFill>
                      <a:srgbClr val="111827"/>
                    </a:solidFill>
                    <a:latin typeface="Cambria Math" panose="02040503050406030204" pitchFamily="18" charset="0"/>
                  </a:rPr>
                  <a:t>$(3\pm4,-4)$</a:t>
                </a:r>
                <a:r>
                  <a:rPr sz="2400" b="0">
                    <a:solidFill>
                      <a:srgbClr val="111827"/>
                    </a:solidFill>
                    <a:latin typeface="Arial"/>
                  </a:rPr>
                  <a:t>, i.e. </a:t>
                </a:r>
                <a:r>
                  <a:rPr lang="en-IN" sz="2400">
                    <a:solidFill>
                      <a:srgbClr val="111827"/>
                    </a:solidFill>
                    <a:latin typeface="Cambria Math" panose="02040503050406030204" pitchFamily="18" charset="0"/>
                  </a:rPr>
                  <a:t>$(7,-4)$</a:t>
                </a:r>
                <a:r>
                  <a:rPr sz="2400" b="0">
                    <a:solidFill>
                      <a:srgbClr val="111827"/>
                    </a:solidFill>
                    <a:latin typeface="Arial"/>
                  </a:rPr>
                  <a:t> and </a:t>
                </a:r>
                <a:r>
                  <a:rPr lang="en-IN" sz="2400">
                    <a:solidFill>
                      <a:srgbClr val="111827"/>
                    </a:solidFill>
                    <a:latin typeface="Cambria Math" panose="02040503050406030204" pitchFamily="18" charset="0"/>
                  </a:rPr>
                  <a:t>$(-1,-4)$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parabola with vertex </a:t>
                </a:r>
                <a:r>
                  <a:rPr lang="en-IN" sz="2400">
                    <a:solidFill>
                      <a:srgbClr val="111827"/>
                    </a:solidFill>
                    <a:latin typeface="Cambria Math" panose="02040503050406030204" pitchFamily="18" charset="0"/>
                  </a:rPr>
                  <a:t>$(3,-11)$</a:t>
                </a:r>
                <a:r>
                  <a:rPr sz="2400" b="0">
                    <a:solidFill>
                      <a:srgbClr val="111827"/>
                    </a:solidFill>
                    <a:latin typeface="Arial"/>
                  </a:rPr>
                  <a:t> and a vertical axis (upward) is </a:t>
                </a:r>
                <a:r>
                  <a:rPr lang="en-IN" sz="2400">
                    <a:solidFill>
                      <a:srgbClr val="111827"/>
                    </a:solidFill>
                    <a:latin typeface="Cambria Math" panose="02040503050406030204" pitchFamily="18" charset="0"/>
                  </a:rPr>
                  <a:t>$(x-3)^2=4A(y+11)$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passes through </a:t>
                </a:r>
                <a:r>
                  <a:rPr lang="en-IN" sz="2400">
                    <a:solidFill>
                      <a:srgbClr val="111827"/>
                    </a:solidFill>
                    <a:latin typeface="Cambria Math" panose="02040503050406030204" pitchFamily="18" charset="0"/>
                  </a:rPr>
                  <a:t>$(7,-4)$</a:t>
                </a:r>
                <a:r>
                  <a:rPr sz="2400" b="0">
                    <a:solidFill>
                      <a:srgbClr val="111827"/>
                    </a:solidFill>
                    <a:latin typeface="Arial"/>
                  </a:rPr>
                  <a:t> (and, by symmetry, </a:t>
                </a:r>
                <a:r>
                  <a:rPr lang="en-IN" sz="2400">
                    <a:solidFill>
                      <a:srgbClr val="111827"/>
                    </a:solidFill>
                    <a:latin typeface="Cambria Math" panose="02040503050406030204" pitchFamily="18" charset="0"/>
                  </a:rPr>
                  <a:t>$(-1,-4)$</a:t>
                </a:r>
                <a:r>
                  <a:rPr sz="2400" b="0">
                    <a:solidFill>
                      <a:srgbClr val="111827"/>
                    </a:solidFill>
                    <a:latin typeface="Arial"/>
                  </a:rPr>
                  <a:t>): </a:t>
                </a:r>
                <a:r>
                  <a:rPr lang="en-IN" sz="2400">
                    <a:solidFill>
                      <a:srgbClr val="111827"/>
                    </a:solidFill>
                    <a:latin typeface="Cambria Math" panose="02040503050406030204" pitchFamily="18" charset="0"/>
                  </a:rPr>
                  <a:t>$16=4A\cdot7$</a:t>
                </a:r>
                <a:r>
                  <a:rPr sz="2400" b="0">
                    <a:solidFill>
                      <a:srgbClr val="111827"/>
                    </a:solidFill>
                    <a:latin typeface="Arial"/>
                  </a:rPr>
                  <a:t>, so </a:t>
                </a:r>
                <a:r>
                  <a:rPr lang="en-IN" sz="2400">
                    <a:solidFill>
                      <a:srgbClr val="111827"/>
                    </a:solidFill>
                    <a:latin typeface="Cambria Math" panose="02040503050406030204" pitchFamily="18" charset="0"/>
                  </a:rPr>
                  <a:t>$A=\frac47$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$(x-3)^2=\frac{16}{7}(y+11)$</a:t>
                </a:r>
                <a:r>
                  <a:rPr sz="2400" b="0">
                    <a:solidFill>
                      <a:srgbClr val="111827"/>
                    </a:solidFill>
                    <a:latin typeface="Arial"/>
                  </a:rPr>
                  <a:t>, i.e. </a:t>
                </a:r>
                <a:r>
                  <a:rPr lang="en-IN" sz="2400">
                    <a:solidFill>
                      <a:srgbClr val="111827"/>
                    </a:solidFill>
                    <a:latin typeface="Cambria Math" panose="02040503050406030204" pitchFamily="18" charset="0"/>
                  </a:rPr>
                  <a:t>$7(x-3)^2=16y+176$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$16y=7(x-3)^2-176$</a:t>
                </a:r>
                <a:r>
                  <a:rPr sz="2400" b="0">
                    <a:solidFill>
                      <a:srgbClr val="111827"/>
                    </a:solidFill>
                    <a:latin typeface="Arial"/>
                  </a:rPr>
                  <a:t>: </a:t>
                </a:r>
                <a:r>
                  <a:rPr lang="en-IN" sz="2400">
                    <a:solidFill>
                      <a:srgbClr val="111827"/>
                    </a:solidFill>
                    <a:latin typeface="Cambria Math" panose="02040503050406030204" pitchFamily="18" charset="0"/>
                  </a:rPr>
                  <a:t>$a=7,\ h=3,\ k=176$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$a+h+k=7+3+176=186$</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186</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$186$</a:t>
                </a:r>
                <a:endParaRPr sz="2800">
                  <a:solidFill>
                    <a:srgbClr val="15803D"/>
                  </a:solidFill>
                </a:endParaRPr>
              </a:p>
            </p:txBody>
          </p:sp>
        </mc:Fallback>
      </mc:AlternateContent>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centre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extreme points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major axis is vertical iff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𝑝</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parabola with vertex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 vertical axis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one more point fixes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a parabola in the target form directly: vertex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16</m:t>
                            </m:r>
                          </m:den>
                        </m:f>
                      </m:e>
                    </m:d>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oMath>
                </a14:m>
                <a:r>
                  <a:rPr sz="2400" b="0">
                    <a:solidFill>
                      <a:srgbClr val="111827"/>
                    </a:solidFill>
                    <a:latin typeface="Arial"/>
                  </a:rPr>
                  <a:t> ✓.</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$\frac{(x-h)^2}{p^2}+\frac{(y-k)^2}{q^2}=1$</a:t>
                </a:r>
                <a:r>
                  <a:rPr sz="2400" b="0">
                    <a:solidFill>
                      <a:srgbClr val="111827"/>
                    </a:solidFill>
                    <a:latin typeface="Arial"/>
                  </a:rPr>
                  <a:t> the centre is </a:t>
                </a:r>
                <a:r>
                  <a:rPr lang="en-IN" sz="2400">
                    <a:solidFill>
                      <a:srgbClr val="111827"/>
                    </a:solidFill>
                    <a:latin typeface="Cambria Math" panose="02040503050406030204" pitchFamily="18" charset="0"/>
                  </a:rPr>
                  <a:t>$(h,k)$</a:t>
                </a:r>
                <a:r>
                  <a:rPr sz="2400" b="0">
                    <a:solidFill>
                      <a:srgbClr val="111827"/>
                    </a:solidFill>
                    <a:latin typeface="Arial"/>
                  </a:rPr>
                  <a:t> and the extreme points are </a:t>
                </a:r>
                <a:r>
                  <a:rPr lang="en-IN" sz="2400">
                    <a:solidFill>
                      <a:srgbClr val="111827"/>
                    </a:solidFill>
                    <a:latin typeface="Cambria Math" panose="02040503050406030204" pitchFamily="18" charset="0"/>
                  </a:rPr>
                  <a:t>$(h\pm p,k)$</a:t>
                </a:r>
                <a:r>
                  <a:rPr sz="2400" b="0">
                    <a:solidFill>
                      <a:srgbClr val="111827"/>
                    </a:solidFill>
                    <a:latin typeface="Arial"/>
                  </a:rPr>
                  <a:t> and </a:t>
                </a:r>
                <a:r>
                  <a:rPr lang="en-IN" sz="2400">
                    <a:solidFill>
                      <a:srgbClr val="111827"/>
                    </a:solidFill>
                    <a:latin typeface="Cambria Math" panose="02040503050406030204" pitchFamily="18" charset="0"/>
                  </a:rPr>
                  <a:t>$(h,k\pm q)$</a:t>
                </a:r>
                <a:r>
                  <a:rPr sz="2400" b="0">
                    <a:solidFill>
                      <a:srgbClr val="111827"/>
                    </a:solidFill>
                    <a:latin typeface="Arial"/>
                  </a:rPr>
                  <a:t>; the major axis is vertical iff </a:t>
                </a:r>
                <a:r>
                  <a:rPr lang="en-IN" sz="2400">
                    <a:solidFill>
                      <a:srgbClr val="111827"/>
                    </a:solidFill>
                    <a:latin typeface="Cambria Math" panose="02040503050406030204" pitchFamily="18" charset="0"/>
                  </a:rPr>
                  <a:t>$q&gt;p$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parabola with vertex </a:t>
                </a:r>
                <a:r>
                  <a:rPr lang="en-IN" sz="2400">
                    <a:solidFill>
                      <a:srgbClr val="111827"/>
                    </a:solidFill>
                    <a:latin typeface="Cambria Math" panose="02040503050406030204" pitchFamily="18" charset="0"/>
                  </a:rPr>
                  <a:t>$(h,v)$</a:t>
                </a:r>
                <a:r>
                  <a:rPr sz="2400" b="0">
                    <a:solidFill>
                      <a:srgbClr val="111827"/>
                    </a:solidFill>
                    <a:latin typeface="Arial"/>
                  </a:rPr>
                  <a:t> and a vertical axis is </a:t>
                </a:r>
                <a:r>
                  <a:rPr lang="en-IN" sz="2400">
                    <a:solidFill>
                      <a:srgbClr val="111827"/>
                    </a:solidFill>
                    <a:latin typeface="Cambria Math" panose="02040503050406030204" pitchFamily="18" charset="0"/>
                  </a:rPr>
                  <a:t>$(x-h)^2=4A(y-v)$</a:t>
                </a:r>
                <a:r>
                  <a:rPr sz="2400" b="0">
                    <a:solidFill>
                      <a:srgbClr val="111827"/>
                    </a:solidFill>
                    <a:latin typeface="Arial"/>
                  </a:rPr>
                  <a:t>; one more point fixes </a:t>
                </a:r>
                <a:r>
                  <a:rPr lang="en-IN" sz="2400">
                    <a:solidFill>
                      <a:srgbClr val="111827"/>
                    </a:solidFill>
                    <a:latin typeface="Cambria Math" panose="02040503050406030204" pitchFamily="18" charset="0"/>
                  </a:rPr>
                  <a: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a parabola in the target form directly: vertex </a:t>
                </a:r>
                <a:r>
                  <a:rPr lang="en-IN" sz="2400">
                    <a:solidFill>
                      <a:srgbClr val="111827"/>
                    </a:solidFill>
                    <a:latin typeface="Cambria Math" panose="02040503050406030204" pitchFamily="18" charset="0"/>
                  </a:rPr>
                  <a:t>$\left(h,-\frac{k}{16}\right)$</a:t>
                </a:r>
                <a:r>
                  <a:rPr sz="2400" b="0">
                    <a:solidFill>
                      <a:srgbClr val="111827"/>
                    </a:solidFill>
                    <a:latin typeface="Arial"/>
                  </a:rPr>
                  <a:t> for </a:t>
                </a:r>
                <a:r>
                  <a:rPr lang="en-IN" sz="2400">
                    <a:solidFill>
                      <a:srgbClr val="111827"/>
                    </a:solidFill>
                    <a:latin typeface="Cambria Math" panose="02040503050406030204" pitchFamily="18" charset="0"/>
                  </a:rPr>
                  <a:t>$16y=a(x-h)^2-k$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t>
                </a:r>
                <a:r>
                  <a:rPr lang="en-IN" sz="2400">
                    <a:solidFill>
                      <a:srgbClr val="111827"/>
                    </a:solidFill>
                    <a:latin typeface="Cambria Math" panose="02040503050406030204" pitchFamily="18" charset="0"/>
                  </a:rPr>
                  <a:t>$(7,-4)$</a:t>
                </a:r>
                <a:r>
                  <a:rPr sz="2400" b="0">
                    <a:solidFill>
                      <a:srgbClr val="111827"/>
                    </a:solidFill>
                    <a:latin typeface="Arial"/>
                  </a:rPr>
                  <a:t>, </a:t>
                </a:r>
                <a:r>
                  <a:rPr lang="en-IN" sz="2400">
                    <a:solidFill>
                      <a:srgbClr val="111827"/>
                    </a:solidFill>
                    <a:latin typeface="Cambria Math" panose="02040503050406030204" pitchFamily="18" charset="0"/>
                  </a:rPr>
                  <a:t>$16(-4)=7\cdot16-176=-64$</a:t>
                </a:r>
                <a:r>
                  <a:rPr sz="2400" b="0">
                    <a:solidFill>
                      <a:srgbClr val="111827"/>
                    </a:solidFill>
                    <a:latin typeface="Arial"/>
                  </a:rPr>
                  <a:t> ✓.</a:t>
                </a:r>
                <a:endParaRPr sz="2400">
                  <a:solidFill>
                    <a:srgbClr val="111827"/>
                  </a:solidFill>
                </a:endParaRPr>
              </a:p>
            </p:txBody>
          </p:sp>
        </mc:Fallback>
      </mc:AlternateContent>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Rectangle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has area </a:t>
                </a:r>
                <a14:m>
                  <m:oMath xmlns:m="http://schemas.openxmlformats.org/officeDocument/2006/math">
                    <m:r>
                      <a:rPr lang="en-IN" sz="2400" i="1">
                        <a:solidFill>
                          <a:srgbClr val="111827"/>
                        </a:solidFill>
                        <a:latin typeface="Cambria Math" panose="02040503050406030204" pitchFamily="18" charset="0"/>
                      </a:rPr>
                      <m:t>200</m:t>
                    </m:r>
                  </m:oMath>
                </a14:m>
                <a:r>
                  <a:rPr sz="2400" b="0">
                    <a:solidFill>
                      <a:srgbClr val="111827"/>
                    </a:solidFill>
                    <a:latin typeface="Arial"/>
                  </a:rPr>
                  <a:t>. An ellipse with area </a:t>
                </a:r>
                <a14:m>
                  <m:oMath xmlns:m="http://schemas.openxmlformats.org/officeDocument/2006/math">
                    <m:r>
                      <a:rPr lang="en-IN" sz="2400" i="1">
                        <a:solidFill>
                          <a:srgbClr val="111827"/>
                        </a:solidFill>
                        <a:latin typeface="Cambria Math" panose="02040503050406030204" pitchFamily="18" charset="0"/>
                      </a:rPr>
                      <m:t>200</m:t>
                    </m:r>
                    <m:r>
                      <a:rPr lang="en-IN" sz="2400" i="1">
                        <a:solidFill>
                          <a:srgbClr val="111827"/>
                        </a:solidFill>
                        <a:latin typeface="Cambria Math" panose="02040503050406030204" pitchFamily="18" charset="0"/>
                      </a:rPr>
                      <m:t>π</m:t>
                    </m:r>
                  </m:oMath>
                </a14:m>
                <a:r>
                  <a:rPr sz="2400" b="0">
                    <a:solidFill>
                      <a:srgbClr val="111827"/>
                    </a:solidFill>
                    <a:latin typeface="Arial"/>
                  </a:rPr>
                  <a:t> passes through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and has foci at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Find the perimeter of the rectangle.</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Rectangle </a:t>
                </a:r>
                <a:r>
                  <a:rPr lang="en-IN" sz="2400">
                    <a:solidFill>
                      <a:srgbClr val="111827"/>
                    </a:solidFill>
                    <a:latin typeface="Cambria Math" panose="02040503050406030204" pitchFamily="18" charset="0"/>
                  </a:rPr>
                  <a:t>$ABCD$</a:t>
                </a:r>
                <a:r>
                  <a:rPr sz="2400" b="0">
                    <a:solidFill>
                      <a:srgbClr val="111827"/>
                    </a:solidFill>
                    <a:latin typeface="Arial"/>
                  </a:rPr>
                  <a:t> has area </a:t>
                </a:r>
                <a:r>
                  <a:rPr lang="en-IN" sz="2400">
                    <a:solidFill>
                      <a:srgbClr val="111827"/>
                    </a:solidFill>
                    <a:latin typeface="Cambria Math" panose="02040503050406030204" pitchFamily="18" charset="0"/>
                  </a:rPr>
                  <a:t>$200$</a:t>
                </a:r>
                <a:r>
                  <a:rPr sz="2400" b="0">
                    <a:solidFill>
                      <a:srgbClr val="111827"/>
                    </a:solidFill>
                    <a:latin typeface="Arial"/>
                  </a:rPr>
                  <a:t>. An ellipse with area </a:t>
                </a:r>
                <a:r>
                  <a:rPr lang="en-IN" sz="2400">
                    <a:solidFill>
                      <a:srgbClr val="111827"/>
                    </a:solidFill>
                    <a:latin typeface="Cambria Math" panose="02040503050406030204" pitchFamily="18" charset="0"/>
                  </a:rPr>
                  <a:t>$200\pi$</a:t>
                </a:r>
                <a:r>
                  <a:rPr sz="2400" b="0">
                    <a:solidFill>
                      <a:srgbClr val="111827"/>
                    </a:solidFill>
                    <a:latin typeface="Arial"/>
                  </a:rPr>
                  <a:t> passes through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$C$</a:t>
                </a:r>
                <a:r>
                  <a:rPr sz="2400" b="0">
                    <a:solidFill>
                      <a:srgbClr val="111827"/>
                    </a:solidFill>
                    <a:latin typeface="Arial"/>
                  </a:rPr>
                  <a:t> and has foci at </a:t>
                </a:r>
                <a:r>
                  <a:rPr lang="en-IN" sz="2400">
                    <a:solidFill>
                      <a:srgbClr val="111827"/>
                    </a:solidFill>
                    <a:latin typeface="Cambria Math" panose="02040503050406030204" pitchFamily="18" charset="0"/>
                  </a:rPr>
                  <a:t>$B$</a:t>
                </a:r>
                <a:r>
                  <a:rPr sz="2400" b="0">
                    <a:solidFill>
                      <a:srgbClr val="111827"/>
                    </a:solidFill>
                    <a:latin typeface="Arial"/>
                  </a:rPr>
                  <a:t> and </a:t>
                </a:r>
                <a:r>
                  <a:rPr lang="en-IN" sz="2400">
                    <a:solidFill>
                      <a:srgbClr val="111827"/>
                    </a:solidFill>
                    <a:latin typeface="Cambria Math" panose="02040503050406030204" pitchFamily="18" charset="0"/>
                  </a:rPr>
                  <a:t>$D$</a:t>
                </a:r>
                <a:r>
                  <a:rPr sz="2400" b="0">
                    <a:solidFill>
                      <a:srgbClr val="111827"/>
                    </a:solidFill>
                    <a:latin typeface="Arial"/>
                  </a:rPr>
                  <a:t>. Find the perimeter of the rectangle.</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Focal property of an ellipse (sum of focal distances), Area of an ellipse and a rectangle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lies on the ellipse with foci </a:t>
                </a:r>
                <a14:m>
                  <m:oMath xmlns:m="http://schemas.openxmlformats.org/officeDocument/2006/math">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𝐷</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𝐷</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oMath>
                </a14:m>
                <a:r>
                  <a:rPr sz="2400" b="0">
                    <a:solidFill>
                      <a:srgbClr val="78350F"/>
                    </a:solidFill>
                    <a:latin typeface="Arial"/>
                  </a:rPr>
                  <a:t>; together with </a:t>
                </a:r>
                <a14:m>
                  <m:oMath xmlns:m="http://schemas.openxmlformats.org/officeDocument/2006/math">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𝐷</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𝑒</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𝑥</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200</m:t>
                    </m:r>
                  </m:oMath>
                </a14:m>
                <a:r>
                  <a:rPr sz="2400" b="0">
                    <a:solidFill>
                      <a:srgbClr val="78350F"/>
                    </a:solidFill>
                    <a:latin typeface="Arial"/>
                  </a:rPr>
                  <a:t> this gives </a:t>
                </a:r>
                <a14:m>
                  <m:oMath xmlns:m="http://schemas.openxmlformats.org/officeDocument/2006/math">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𝑥</m:t>
                        </m:r>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$A$</a:t>
                </a:r>
                <a:r>
                  <a:rPr sz="2400" b="0">
                    <a:solidFill>
                      <a:srgbClr val="78350F"/>
                    </a:solidFill>
                    <a:latin typeface="Arial"/>
                  </a:rPr>
                  <a:t> lies on the ellipse with foci </a:t>
                </a:r>
                <a:r>
                  <a:rPr lang="en-IN" sz="2400">
                    <a:solidFill>
                      <a:srgbClr val="78350F"/>
                    </a:solidFill>
                    <a:latin typeface="Cambria Math" panose="02040503050406030204" pitchFamily="18" charset="0"/>
                  </a:rPr>
                  <a:t>$B,D$</a:t>
                </a:r>
                <a:r>
                  <a:rPr sz="2400" b="0">
                    <a:solidFill>
                      <a:srgbClr val="78350F"/>
                    </a:solidFill>
                    <a:latin typeface="Arial"/>
                  </a:rPr>
                  <a:t>: </a:t>
                </a:r>
                <a:r>
                  <a:rPr lang="en-IN" sz="2400">
                    <a:solidFill>
                      <a:srgbClr val="78350F"/>
                    </a:solidFill>
                    <a:latin typeface="Cambria Math" panose="02040503050406030204" pitchFamily="18" charset="0"/>
                  </a:rPr>
                  <a:t>$AB+AD=2a$</a:t>
                </a:r>
                <a:r>
                  <a:rPr sz="2400" b="0">
                    <a:solidFill>
                      <a:srgbClr val="78350F"/>
                    </a:solidFill>
                    <a:latin typeface="Arial"/>
                  </a:rPr>
                  <a:t>; together with </a:t>
                </a:r>
                <a:r>
                  <a:rPr lang="en-IN" sz="2400">
                    <a:solidFill>
                      <a:srgbClr val="78350F"/>
                    </a:solidFill>
                    <a:latin typeface="Cambria Math" panose="02040503050406030204" pitchFamily="18" charset="0"/>
                  </a:rPr>
                  <a:t>$BD=2ae$</a:t>
                </a:r>
                <a:r>
                  <a:rPr sz="2400" b="0">
                    <a:solidFill>
                      <a:srgbClr val="78350F"/>
                    </a:solidFill>
                    <a:latin typeface="Arial"/>
                  </a:rPr>
                  <a:t> and </a:t>
                </a:r>
                <a:r>
                  <a:rPr lang="en-IN" sz="2400">
                    <a:solidFill>
                      <a:srgbClr val="78350F"/>
                    </a:solidFill>
                    <a:latin typeface="Cambria Math" panose="02040503050406030204" pitchFamily="18" charset="0"/>
                  </a:rPr>
                  <a:t>$xy=ab=200$</a:t>
                </a:r>
                <a:r>
                  <a:rPr sz="2400" b="0">
                    <a:solidFill>
                      <a:srgbClr val="78350F"/>
                    </a:solidFill>
                    <a:latin typeface="Arial"/>
                  </a:rPr>
                  <a:t> this gives </a:t>
                </a:r>
                <a:r>
                  <a:rPr lang="en-IN" sz="2400">
                    <a:solidFill>
                      <a:srgbClr val="78350F"/>
                    </a:solidFill>
                    <a:latin typeface="Cambria Math" panose="02040503050406030204" pitchFamily="18" charset="0"/>
                  </a:rPr>
                  <a:t>$b^2=\frac{xy}{2}$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sides of the rectangle be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the semi-axes of the ellipse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Area of the rectangle: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ellipse is </a:t>
                </a:r>
                <a14:m>
                  <m:oMath xmlns:m="http://schemas.openxmlformats.org/officeDocument/2006/math">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m:t>
                    </m:r>
                    <m:r>
                      <a:rPr lang="en-IN" sz="2400" i="1">
                        <a:solidFill>
                          <a:srgbClr val="111827"/>
                        </a:solidFill>
                        <a:latin typeface="Cambria Math" panose="02040503050406030204" pitchFamily="18" charset="0"/>
                      </a:rPr>
                      <m:t>π</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is on the ellipse with foci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between the foci is the diagonal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sides of the rectangle be </a:t>
                </a:r>
                <a:r>
                  <a:rPr lang="en-IN" sz="2400">
                    <a:solidFill>
                      <a:srgbClr val="111827"/>
                    </a:solidFill>
                    <a:latin typeface="Cambria Math" panose="02040503050406030204" pitchFamily="18" charset="0"/>
                  </a:rPr>
                  <a:t>$x$</a:t>
                </a:r>
                <a:r>
                  <a:rPr sz="2400" b="0">
                    <a:solidFill>
                      <a:srgbClr val="111827"/>
                    </a:solidFill>
                    <a:latin typeface="Arial"/>
                  </a:rPr>
                  <a:t> and </a:t>
                </a:r>
                <a:r>
                  <a:rPr lang="en-IN" sz="2400">
                    <a:solidFill>
                      <a:srgbClr val="111827"/>
                    </a:solidFill>
                    <a:latin typeface="Cambria Math" panose="02040503050406030204" pitchFamily="18" charset="0"/>
                  </a:rPr>
                  <a:t>$y$</a:t>
                </a:r>
                <a:r>
                  <a:rPr sz="2400" b="0">
                    <a:solidFill>
                      <a:srgbClr val="111827"/>
                    </a:solidFill>
                    <a:latin typeface="Arial"/>
                  </a:rPr>
                  <a:t>; the semi-axes of the ellipse </a:t>
                </a:r>
                <a:r>
                  <a:rPr lang="en-IN" sz="2400">
                    <a:solidFill>
                      <a:srgbClr val="111827"/>
                    </a:solidFill>
                    <a:latin typeface="Cambria Math" panose="02040503050406030204" pitchFamily="18" charset="0"/>
                  </a:rPr>
                  <a:t>$a,b$</a:t>
                </a:r>
                <a:r>
                  <a:rPr sz="2400" b="0">
                    <a:solidFill>
                      <a:srgbClr val="111827"/>
                    </a:solidFill>
                    <a:latin typeface="Arial"/>
                  </a:rPr>
                  <a:t>. Area of the rectangle: </a:t>
                </a:r>
                <a:r>
                  <a:rPr lang="en-IN" sz="2400">
                    <a:solidFill>
                      <a:srgbClr val="111827"/>
                    </a:solidFill>
                    <a:latin typeface="Cambria Math" panose="02040503050406030204" pitchFamily="18" charset="0"/>
                  </a:rPr>
                  <a:t>$xy=200$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ellipse is </a:t>
                </a:r>
                <a:r>
                  <a:rPr lang="en-IN" sz="2400">
                    <a:solidFill>
                      <a:srgbClr val="111827"/>
                    </a:solidFill>
                    <a:latin typeface="Cambria Math" panose="02040503050406030204" pitchFamily="18" charset="0"/>
                  </a:rPr>
                  <a:t>$\pi ab=200\pi$</a:t>
                </a:r>
                <a:r>
                  <a:rPr sz="2400" b="0">
                    <a:solidFill>
                      <a:srgbClr val="111827"/>
                    </a:solidFill>
                    <a:latin typeface="Arial"/>
                  </a:rPr>
                  <a:t>, so </a:t>
                </a:r>
                <a:r>
                  <a:rPr lang="en-IN" sz="2400">
                    <a:solidFill>
                      <a:srgbClr val="111827"/>
                    </a:solidFill>
                    <a:latin typeface="Cambria Math" panose="02040503050406030204" pitchFamily="18" charset="0"/>
                  </a:rPr>
                  <a:t>$ab=200$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a:t>
                </a:r>
                <a:r>
                  <a:rPr sz="2400" b="0">
                    <a:solidFill>
                      <a:srgbClr val="111827"/>
                    </a:solidFill>
                    <a:latin typeface="Arial"/>
                  </a:rPr>
                  <a:t> is on the ellipse with foci </a:t>
                </a:r>
                <a:r>
                  <a:rPr lang="en-IN" sz="2400">
                    <a:solidFill>
                      <a:srgbClr val="111827"/>
                    </a:solidFill>
                    <a:latin typeface="Cambria Math" panose="02040503050406030204" pitchFamily="18" charset="0"/>
                  </a:rPr>
                  <a:t>$B$</a:t>
                </a:r>
                <a:r>
                  <a:rPr sz="2400" b="0">
                    <a:solidFill>
                      <a:srgbClr val="111827"/>
                    </a:solidFill>
                    <a:latin typeface="Arial"/>
                  </a:rPr>
                  <a:t> and </a:t>
                </a:r>
                <a:r>
                  <a:rPr lang="en-IN" sz="2400">
                    <a:solidFill>
                      <a:srgbClr val="111827"/>
                    </a:solidFill>
                    <a:latin typeface="Cambria Math" panose="02040503050406030204" pitchFamily="18" charset="0"/>
                  </a:rPr>
                  <a:t>$D$</a:t>
                </a:r>
                <a:r>
                  <a:rPr sz="2400" b="0">
                    <a:solidFill>
                      <a:srgbClr val="111827"/>
                    </a:solidFill>
                    <a:latin typeface="Arial"/>
                  </a:rPr>
                  <a:t>, so </a:t>
                </a:r>
                <a:r>
                  <a:rPr lang="en-IN" sz="2400">
                    <a:solidFill>
                      <a:srgbClr val="111827"/>
                    </a:solidFill>
                    <a:latin typeface="Cambria Math" panose="02040503050406030204" pitchFamily="18" charset="0"/>
                  </a:rPr>
                  <a:t>$AB+AD=2a$</a:t>
                </a:r>
                <a:r>
                  <a:rPr sz="2400" b="0">
                    <a:solidFill>
                      <a:srgbClr val="111827"/>
                    </a:solidFill>
                    <a:latin typeface="Arial"/>
                  </a:rPr>
                  <a:t>, i.e. </a:t>
                </a:r>
                <a:r>
                  <a:rPr lang="en-IN" sz="2400">
                    <a:solidFill>
                      <a:srgbClr val="111827"/>
                    </a:solidFill>
                    <a:latin typeface="Cambria Math" panose="02040503050406030204" pitchFamily="18" charset="0"/>
                  </a:rPr>
                  <a:t>$x+y=2a$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between the foci is the diagonal </a:t>
                </a:r>
                <a:r>
                  <a:rPr lang="en-IN" sz="2400">
                    <a:solidFill>
                      <a:srgbClr val="111827"/>
                    </a:solidFill>
                    <a:latin typeface="Cambria Math" panose="02040503050406030204" pitchFamily="18" charset="0"/>
                  </a:rPr>
                  <a:t>$BD=\sqrt{x^2+y^2}=2ae$</a:t>
                </a:r>
                <a:r>
                  <a:rPr sz="2400" b="0">
                    <a:solidFill>
                      <a:srgbClr val="111827"/>
                    </a:solidFill>
                    <a:latin typeface="Arial"/>
                  </a:rPr>
                  <a:t>; so </a:t>
                </a:r>
                <a:r>
                  <a:rPr lang="en-IN" sz="2400">
                    <a:solidFill>
                      <a:srgbClr val="111827"/>
                    </a:solidFill>
                    <a:latin typeface="Cambria Math" panose="02040503050406030204" pitchFamily="18" charset="0"/>
                  </a:rPr>
                  <a:t>$a^2-b^2=\frac{x^2+y^2}{4}$</a:t>
                </a:r>
                <a:r>
                  <a:rPr sz="2400" b="0">
                    <a:solidFill>
                      <a:srgbClr val="111827"/>
                    </a:solidFill>
                    <a:latin typeface="Arial"/>
                  </a:rPr>
                  <a:t>, i.e. </a:t>
                </a:r>
                <a:r>
                  <a:rPr lang="en-IN" sz="2400">
                    <a:solidFill>
                      <a:srgbClr val="111827"/>
                    </a:solidFill>
                    <a:latin typeface="Cambria Math" panose="02040503050406030204" pitchFamily="18" charset="0"/>
                  </a:rPr>
                  <a:t>$a^2=\frac{x^2+y^2}{4}+b^2$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Replace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200</m:t>
                        </m:r>
                      </m:num>
                      <m:den>
                        <m:r>
                          <a:rPr lang="en-IN" sz="2400" i="1">
                            <a:solidFill>
                              <a:srgbClr val="111827"/>
                            </a:solidFill>
                            <a:latin typeface="Cambria Math" panose="02040503050406030204" pitchFamily="18" charset="0"/>
                          </a:rPr>
                          <m:t>10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Perimeter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Replace </a:t>
                </a:r>
                <a:r>
                  <a:rPr lang="en-IN" sz="2400">
                    <a:solidFill>
                      <a:srgbClr val="111827"/>
                    </a:solidFill>
                    <a:latin typeface="Cambria Math" panose="02040503050406030204" pitchFamily="18" charset="0"/>
                  </a:rPr>
                  <a:t>$a=\frac{x+y}{2}$</a:t>
                </a:r>
                <a:r>
                  <a:rPr sz="2400" b="0">
                    <a:solidFill>
                      <a:srgbClr val="111827"/>
                    </a:solidFill>
                    <a:latin typeface="Arial"/>
                  </a:rPr>
                  <a:t>: </a:t>
                </a:r>
                <a:r>
                  <a:rPr lang="en-IN" sz="2400">
                    <a:solidFill>
                      <a:srgbClr val="111827"/>
                    </a:solidFill>
                    <a:latin typeface="Cambria Math" panose="02040503050406030204" pitchFamily="18" charset="0"/>
                  </a:rPr>
                  <a:t>$\frac{(x+y)^2}{4}=\frac{x^2+y^2}{4}+b^2$</a:t>
                </a:r>
                <a:r>
                  <a:rPr sz="2400" b="0">
                    <a:solidFill>
                      <a:srgbClr val="111827"/>
                    </a:solidFill>
                    <a:latin typeface="Arial"/>
                  </a:rPr>
                  <a:t>, so </a:t>
                </a:r>
                <a:r>
                  <a:rPr lang="en-IN" sz="2400">
                    <a:solidFill>
                      <a:srgbClr val="111827"/>
                    </a:solidFill>
                    <a:latin typeface="Cambria Math" panose="02040503050406030204" pitchFamily="18" charset="0"/>
                  </a:rPr>
                  <a:t>$(x+y)^2=x^2+y^2+4b^2$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$2xy=4b^2$</a:t>
                </a:r>
                <a:r>
                  <a:rPr sz="2400" b="0">
                    <a:solidFill>
                      <a:srgbClr val="111827"/>
                    </a:solidFill>
                    <a:latin typeface="Arial"/>
                  </a:rPr>
                  <a:t>, i.e. </a:t>
                </a:r>
                <a:r>
                  <a:rPr lang="en-IN" sz="2400">
                    <a:solidFill>
                      <a:srgbClr val="111827"/>
                    </a:solidFill>
                    <a:latin typeface="Cambria Math" panose="02040503050406030204" pitchFamily="18" charset="0"/>
                  </a:rPr>
                  <a:t>$b^2=\frac{xy}{2}=100$</a:t>
                </a:r>
                <a:r>
                  <a:rPr sz="2400" b="0">
                    <a:solidFill>
                      <a:srgbClr val="111827"/>
                    </a:solidFill>
                    <a:latin typeface="Arial"/>
                  </a:rPr>
                  <a:t>, </a:t>
                </a:r>
                <a:r>
                  <a:rPr lang="en-IN" sz="2400">
                    <a:solidFill>
                      <a:srgbClr val="111827"/>
                    </a:solidFill>
                    <a:latin typeface="Cambria Math" panose="02040503050406030204" pitchFamily="18" charset="0"/>
                  </a:rPr>
                  <a:t>$b=10$</a:t>
                </a:r>
                <a:r>
                  <a:rPr sz="2400" b="0">
                    <a:solidFill>
                      <a:srgbClr val="111827"/>
                    </a:solidFill>
                    <a:latin typeface="Arial"/>
                  </a:rPr>
                  <a:t> and </a:t>
                </a:r>
                <a:r>
                  <a:rPr lang="en-IN" sz="2400">
                    <a:solidFill>
                      <a:srgbClr val="111827"/>
                    </a:solidFill>
                    <a:latin typeface="Cambria Math" panose="02040503050406030204" pitchFamily="18" charset="0"/>
                  </a:rPr>
                  <a:t>$a=\frac{200}{10}=20$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Perimeter </a:t>
                </a:r>
                <a:r>
                  <a:rPr lang="en-IN" sz="2400">
                    <a:solidFill>
                      <a:srgbClr val="111827"/>
                    </a:solidFill>
                    <a:latin typeface="Cambria Math" panose="02040503050406030204" pitchFamily="18" charset="0"/>
                  </a:rPr>
                  <a:t>$=2(x+y)=2\cdot2a=4a=80$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80</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$80$</a:t>
                </a:r>
                <a:endParaRPr sz="2800">
                  <a:solidFill>
                    <a:srgbClr val="15803D"/>
                  </a:solidFill>
                </a:endParaRPr>
              </a:p>
            </p:txBody>
          </p:sp>
        </mc:Fallback>
      </mc:AlternateContent>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focal triangle </a:t>
                </a:r>
                <a14:m>
                  <m:oMath xmlns:m="http://schemas.openxmlformats.org/officeDocument/2006/math">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𝐷</m:t>
                    </m:r>
                  </m:oMath>
                </a14:m>
                <a:r>
                  <a:rPr sz="2400" b="0">
                    <a:solidFill>
                      <a:srgbClr val="78350F"/>
                    </a:solidFill>
                    <a:latin typeface="Arial"/>
                  </a:rPr>
                  <a:t> has a right angle at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the area of a focal triangle is </a:t>
                </a:r>
                <a14:m>
                  <m:oMath xmlns:m="http://schemas.openxmlformats.org/officeDocument/2006/math">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tan</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γ</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γ</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90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focal triangle </a:t>
                </a:r>
                <a:r>
                  <a:rPr lang="en-IN" sz="2400">
                    <a:solidFill>
                      <a:srgbClr val="78350F"/>
                    </a:solidFill>
                    <a:latin typeface="Cambria Math" panose="02040503050406030204" pitchFamily="18" charset="0"/>
                  </a:rPr>
                  <a:t>$BAD$</a:t>
                </a:r>
                <a:r>
                  <a:rPr sz="2400" b="0">
                    <a:solidFill>
                      <a:srgbClr val="78350F"/>
                    </a:solidFill>
                    <a:latin typeface="Arial"/>
                  </a:rPr>
                  <a:t> has a right angle at </a:t>
                </a:r>
                <a:r>
                  <a:rPr lang="en-IN" sz="2400">
                    <a:solidFill>
                      <a:srgbClr val="78350F"/>
                    </a:solidFill>
                    <a:latin typeface="Cambria Math" panose="02040503050406030204" pitchFamily="18" charset="0"/>
                  </a:rPr>
                  <a:t>$A$</a:t>
                </a:r>
                <a:r>
                  <a:rPr sz="2400" b="0">
                    <a:solidFill>
                      <a:srgbClr val="78350F"/>
                    </a:solidFill>
                    <a:latin typeface="Arial"/>
                  </a:rPr>
                  <a:t>; the area of a focal triangle is </a:t>
                </a:r>
                <a:r>
                  <a:rPr lang="en-IN" sz="2400">
                    <a:solidFill>
                      <a:srgbClr val="78350F"/>
                    </a:solidFill>
                    <a:latin typeface="Cambria Math" panose="02040503050406030204" pitchFamily="18" charset="0"/>
                  </a:rPr>
                  <a:t>$b^2\tan\frac{\gamma}{2}$</a:t>
                </a:r>
                <a:r>
                  <a:rPr sz="2400" b="0">
                    <a:solidFill>
                      <a:srgbClr val="78350F"/>
                    </a:solidFill>
                    <a:latin typeface="Arial"/>
                  </a:rPr>
                  <a:t> with </a:t>
                </a:r>
                <a:r>
                  <a:rPr lang="en-IN" sz="2400">
                    <a:solidFill>
                      <a:srgbClr val="78350F"/>
                    </a:solidFill>
                    <a:latin typeface="Cambria Math" panose="02040503050406030204" pitchFamily="18" charset="0"/>
                  </a:rPr>
                  <a:t>$\gamma=90^\circ$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point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on an ellipse with foci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𝐴</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the area of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𝐴</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γ</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(angle of the rectangle) and the 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𝐷</m:t>
                    </m:r>
                  </m:oMath>
                </a14:m>
                <a:r>
                  <a:rPr sz="2400" b="0">
                    <a:solidFill>
                      <a:srgbClr val="111827"/>
                    </a:solidFill>
                    <a:latin typeface="Arial"/>
                  </a:rPr>
                  <a:t> is half the rectangle: </a:t>
                </a:r>
                <a14:m>
                  <m:oMath xmlns:m="http://schemas.openxmlformats.org/officeDocument/2006/math">
                    <m:r>
                      <a:rPr lang="en-IN" sz="2400" i="1">
                        <a:solidFill>
                          <a:srgbClr val="111827"/>
                        </a:solidFill>
                        <a:latin typeface="Cambria Math" panose="02040503050406030204" pitchFamily="18" charset="0"/>
                      </a:rPr>
                      <m:t>100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point </a:t>
                </a:r>
                <a:r>
                  <a:rPr lang="en-IN" sz="2400">
                    <a:solidFill>
                      <a:srgbClr val="111827"/>
                    </a:solidFill>
                    <a:latin typeface="Cambria Math" panose="02040503050406030204" pitchFamily="18" charset="0"/>
                  </a:rPr>
                  <a:t>$A$</a:t>
                </a:r>
                <a:r>
                  <a:rPr sz="2400" b="0">
                    <a:solidFill>
                      <a:srgbClr val="111827"/>
                    </a:solidFill>
                    <a:latin typeface="Arial"/>
                  </a:rPr>
                  <a:t> on an ellipse with foci </a:t>
                </a:r>
                <a:r>
                  <a:rPr lang="en-IN" sz="2400">
                    <a:solidFill>
                      <a:srgbClr val="111827"/>
                    </a:solidFill>
                    <a:latin typeface="Cambria Math" panose="02040503050406030204" pitchFamily="18" charset="0"/>
                  </a:rPr>
                  <a:t>$F_1,F_2$</a:t>
                </a:r>
                <a:r>
                  <a:rPr sz="2400" b="0">
                    <a:solidFill>
                      <a:srgbClr val="111827"/>
                    </a:solidFill>
                    <a:latin typeface="Arial"/>
                  </a:rPr>
                  <a:t> and </a:t>
                </a:r>
                <a:r>
                  <a:rPr lang="en-IN" sz="2400">
                    <a:solidFill>
                      <a:srgbClr val="111827"/>
                    </a:solidFill>
                    <a:latin typeface="Cambria Math" panose="02040503050406030204" pitchFamily="18" charset="0"/>
                  </a:rPr>
                  <a:t>$\angle F_1AF_2=\gamma$</a:t>
                </a:r>
                <a:r>
                  <a:rPr sz="2400" b="0">
                    <a:solidFill>
                      <a:srgbClr val="111827"/>
                    </a:solidFill>
                    <a:latin typeface="Arial"/>
                  </a:rPr>
                  <a:t>, the area of </a:t>
                </a:r>
                <a:r>
                  <a:rPr lang="en-IN" sz="2400">
                    <a:solidFill>
                      <a:srgbClr val="111827"/>
                    </a:solidFill>
                    <a:latin typeface="Cambria Math" panose="02040503050406030204" pitchFamily="18" charset="0"/>
                  </a:rPr>
                  <a:t>$\triangle F_1AF_2$</a:t>
                </a:r>
                <a:r>
                  <a:rPr sz="2400" b="0">
                    <a:solidFill>
                      <a:srgbClr val="111827"/>
                    </a:solidFill>
                    <a:latin typeface="Arial"/>
                  </a:rPr>
                  <a:t> is </a:t>
                </a:r>
                <a:r>
                  <a:rPr lang="en-IN" sz="2400">
                    <a:solidFill>
                      <a:srgbClr val="111827"/>
                    </a:solidFill>
                    <a:latin typeface="Cambria Math" panose="02040503050406030204" pitchFamily="18" charset="0"/>
                  </a:rPr>
                  <a:t>$b^2\tan\frac{\gamma}{2}$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$\angle BAD=90^\circ$</a:t>
                </a:r>
                <a:r>
                  <a:rPr sz="2400" b="0">
                    <a:solidFill>
                      <a:srgbClr val="111827"/>
                    </a:solidFill>
                    <a:latin typeface="Arial"/>
                  </a:rPr>
                  <a:t> (angle of the rectangle) and the area of </a:t>
                </a:r>
                <a:r>
                  <a:rPr lang="en-IN" sz="2400">
                    <a:solidFill>
                      <a:srgbClr val="111827"/>
                    </a:solidFill>
                    <a:latin typeface="Cambria Math" panose="02040503050406030204" pitchFamily="18" charset="0"/>
                  </a:rPr>
                  <a:t>$\triangle ABD$</a:t>
                </a:r>
                <a:r>
                  <a:rPr sz="2400" b="0">
                    <a:solidFill>
                      <a:srgbClr val="111827"/>
                    </a:solidFill>
                    <a:latin typeface="Arial"/>
                  </a:rPr>
                  <a:t> is half the rectangle: </a:t>
                </a:r>
                <a:r>
                  <a:rPr lang="en-IN" sz="2400">
                    <a:solidFill>
                      <a:srgbClr val="111827"/>
                    </a:solidFill>
                    <a:latin typeface="Cambria Math" panose="02040503050406030204" pitchFamily="18" charset="0"/>
                  </a:rPr>
                  <a:t>$100$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$b^2\tan45^\circ=100$</a:t>
                </a:r>
                <a:r>
                  <a:rPr sz="2400" b="0">
                    <a:solidFill>
                      <a:srgbClr val="111827"/>
                    </a:solidFill>
                    <a:latin typeface="Arial"/>
                  </a:rPr>
                  <a:t>, i.e. </a:t>
                </a:r>
                <a:r>
                  <a:rPr lang="en-IN" sz="2400">
                    <a:solidFill>
                      <a:srgbClr val="111827"/>
                    </a:solidFill>
                    <a:latin typeface="Cambria Math" panose="02040503050406030204" pitchFamily="18" charset="0"/>
                  </a:rPr>
                  <a:t>$b^2=100$</a:t>
                </a:r>
                <a:r>
                  <a:rPr sz="2400" b="0">
                    <a:solidFill>
                      <a:srgbClr val="111827"/>
                    </a:solidFill>
                    <a:latin typeface="Arial"/>
                  </a:rPr>
                  <a:t> and </a:t>
                </a:r>
                <a:r>
                  <a:rPr lang="en-IN" sz="2400">
                    <a:solidFill>
                      <a:srgbClr val="111827"/>
                    </a:solidFill>
                    <a:latin typeface="Cambria Math" panose="02040503050406030204" pitchFamily="18" charset="0"/>
                  </a:rPr>
                  <a:t>$b=10$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a:t>
                </a:r>
                <a14:m>
                  <m:oMath xmlns:m="http://schemas.openxmlformats.org/officeDocument/2006/math">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m:t>
                    </m:r>
                    <m:r>
                      <a:rPr lang="en-IN" sz="2400" i="1">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 so the perimeter is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a:t>
                </a:r>
                <a:r>
                  <a:rPr lang="en-IN" sz="2400">
                    <a:solidFill>
                      <a:srgbClr val="111827"/>
                    </a:solidFill>
                    <a:latin typeface="Cambria Math" panose="02040503050406030204" pitchFamily="18" charset="0"/>
                  </a:rPr>
                  <a:t>$\pi ab=200\pi$</a:t>
                </a:r>
                <a:r>
                  <a:rPr sz="2400" b="0">
                    <a:solidFill>
                      <a:srgbClr val="111827"/>
                    </a:solidFill>
                    <a:latin typeface="Arial"/>
                  </a:rPr>
                  <a:t>: </a:t>
                </a:r>
                <a:r>
                  <a:rPr lang="en-IN" sz="2400">
                    <a:solidFill>
                      <a:srgbClr val="111827"/>
                    </a:solidFill>
                    <a:latin typeface="Cambria Math" panose="02040503050406030204" pitchFamily="18" charset="0"/>
                  </a:rPr>
                  <a:t>$a=20$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$AB+AD=2a=40$</a:t>
                </a:r>
                <a:r>
                  <a:rPr sz="2400" b="0">
                    <a:solidFill>
                      <a:srgbClr val="111827"/>
                    </a:solidFill>
                    <a:latin typeface="Arial"/>
                  </a:rPr>
                  <a:t>, so the perimeter is </a:t>
                </a:r>
                <a:r>
                  <a:rPr lang="en-IN" sz="2400">
                    <a:solidFill>
                      <a:srgbClr val="111827"/>
                    </a:solidFill>
                    <a:latin typeface="Cambria Math" panose="02040503050406030204" pitchFamily="18" charset="0"/>
                  </a:rPr>
                  <a:t>$2\cdot40=80$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80</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$80$</a:t>
                </a:r>
                <a:endParaRPr sz="2800">
                  <a:solidFill>
                    <a:srgbClr val="15803D"/>
                  </a:solidFill>
                </a:endParaRPr>
              </a:p>
            </p:txBody>
          </p:sp>
        </mc:Fallback>
      </mc:AlternateContent>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on an ellipse with foci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area of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γ</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the focal distances satisfy </a:t>
                </a:r>
                <a14:m>
                  <m:oMath xmlns:m="http://schemas.openxmlformats.org/officeDocument/2006/math">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Derivation: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sSubSup>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bSup>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bSup>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γ</m:t>
                        </m:r>
                      </m:den>
                    </m:f>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γ</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ellipse is </a:t>
                </a:r>
                <a14:m>
                  <m:oMath xmlns:m="http://schemas.openxmlformats.org/officeDocument/2006/math">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rectangle corners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see the foci at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(the circle on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𝐷</m:t>
                    </m:r>
                  </m:oMath>
                </a14:m>
                <a:r>
                  <a:rPr sz="2400" b="0">
                    <a:solidFill>
                      <a:srgbClr val="111827"/>
                    </a:solidFill>
                    <a:latin typeface="Arial"/>
                  </a:rPr>
                  <a:t> passes through them); the ellipse through them has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nor/>
                          </m:rPr>
                          <a:rPr lang="en-IN" sz="2400" i="1">
                            <a:solidFill>
                              <a:srgbClr val="111827"/>
                            </a:solidFill>
                            <a:latin typeface="Cambria Math" panose="02040503050406030204" pitchFamily="18" charset="0"/>
                          </a:rPr>
                          <m:t>𝑎𝑟𝑒𝑎 𝑜𝑓 𝑟𝑒𝑐𝑡𝑎𝑛𝑔𝑙𝑒</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point </a:t>
                </a:r>
                <a:r>
                  <a:rPr lang="en-IN" sz="2400">
                    <a:solidFill>
                      <a:srgbClr val="111827"/>
                    </a:solidFill>
                    <a:latin typeface="Cambria Math" panose="02040503050406030204" pitchFamily="18" charset="0"/>
                  </a:rPr>
                  <a:t>$P$</a:t>
                </a:r>
                <a:r>
                  <a:rPr sz="2400" b="0">
                    <a:solidFill>
                      <a:srgbClr val="111827"/>
                    </a:solidFill>
                    <a:latin typeface="Arial"/>
                  </a:rPr>
                  <a:t> on an ellipse with foci </a:t>
                </a:r>
                <a:r>
                  <a:rPr lang="en-IN" sz="2400">
                    <a:solidFill>
                      <a:srgbClr val="111827"/>
                    </a:solidFill>
                    <a:latin typeface="Cambria Math" panose="02040503050406030204" pitchFamily="18" charset="0"/>
                  </a:rPr>
                  <a:t>$F_1,F_2$</a:t>
                </a:r>
                <a:r>
                  <a:rPr sz="2400" b="0">
                    <a:solidFill>
                      <a:srgbClr val="111827"/>
                    </a:solidFill>
                    <a:latin typeface="Arial"/>
                  </a:rPr>
                  <a:t> and </a:t>
                </a:r>
                <a:r>
                  <a:rPr lang="en-IN" sz="2400">
                    <a:solidFill>
                      <a:srgbClr val="111827"/>
                    </a:solidFill>
                    <a:latin typeface="Cambria Math" panose="02040503050406030204" pitchFamily="18" charset="0"/>
                  </a:rPr>
                  <a:t>$\angle F_1PF_2=\gamma$</a:t>
                </a:r>
                <a:r>
                  <a:rPr sz="2400" b="0">
                    <a:solidFill>
                      <a:srgbClr val="111827"/>
                    </a:solidFill>
                    <a:latin typeface="Arial"/>
                  </a:rPr>
                  <a:t>: area of </a:t>
                </a:r>
                <a:r>
                  <a:rPr lang="en-IN" sz="2400">
                    <a:solidFill>
                      <a:srgbClr val="111827"/>
                    </a:solidFill>
                    <a:latin typeface="Cambria Math" panose="02040503050406030204" pitchFamily="18" charset="0"/>
                  </a:rPr>
                  <a:t>$\triangle F_1PF_2=b^2\tan\frac\gamma2$</a:t>
                </a:r>
                <a:r>
                  <a:rPr sz="2400" b="0">
                    <a:solidFill>
                      <a:srgbClr val="111827"/>
                    </a:solidFill>
                    <a:latin typeface="Arial"/>
                  </a:rPr>
                  <a:t>, and the focal distances satisfy </a:t>
                </a:r>
                <a:r>
                  <a:rPr lang="en-IN" sz="2400">
                    <a:solidFill>
                      <a:srgbClr val="111827"/>
                    </a:solidFill>
                    <a:latin typeface="Cambria Math" panose="02040503050406030204" pitchFamily="18" charset="0"/>
                  </a:rPr>
                  <a:t>$PF_1+PF_2=2a$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Derivation: </a:t>
                </a:r>
                <a:r>
                  <a:rPr lang="en-IN" sz="2400">
                    <a:solidFill>
                      <a:srgbClr val="111827"/>
                    </a:solidFill>
                    <a:latin typeface="Cambria Math" panose="02040503050406030204" pitchFamily="18" charset="0"/>
                  </a:rPr>
                  <a:t>$(PF_1+PF_2)^2=4a^2$</a:t>
                </a:r>
                <a:r>
                  <a:rPr sz="2400" b="0">
                    <a:solidFill>
                      <a:srgbClr val="111827"/>
                    </a:solidFill>
                    <a:latin typeface="Arial"/>
                  </a:rPr>
                  <a:t> and </a:t>
                </a:r>
                <a:r>
                  <a:rPr lang="en-IN" sz="2400">
                    <a:solidFill>
                      <a:srgbClr val="111827"/>
                    </a:solidFill>
                    <a:latin typeface="Cambria Math" panose="02040503050406030204" pitchFamily="18" charset="0"/>
                  </a:rPr>
                  <a:t>$F_1F_2^2=PF_1^2+PF_2^2-2PF_1\cdot PF_2\cos\gamma=4a^2e^2$</a:t>
                </a:r>
                <a:r>
                  <a:rPr sz="2400" b="0">
                    <a:solidFill>
                      <a:srgbClr val="111827"/>
                    </a:solidFill>
                    <a:latin typeface="Arial"/>
                  </a:rPr>
                  <a:t>, so </a:t>
                </a:r>
                <a:r>
                  <a:rPr lang="en-IN" sz="2400">
                    <a:solidFill>
                      <a:srgbClr val="111827"/>
                    </a:solidFill>
                    <a:latin typeface="Cambria Math" panose="02040503050406030204" pitchFamily="18" charset="0"/>
                  </a:rPr>
                  <a:t>$PF_1\cdot PF_2=\frac{2b^2}{1+\cos\gamma}$</a:t>
                </a:r>
                <a:r>
                  <a:rPr sz="2400" b="0">
                    <a:solidFill>
                      <a:srgbClr val="111827"/>
                    </a:solidFill>
                    <a:latin typeface="Arial"/>
                  </a:rPr>
                  <a:t>; area </a:t>
                </a:r>
                <a:r>
                  <a:rPr lang="en-IN" sz="2400">
                    <a:solidFill>
                      <a:srgbClr val="111827"/>
                    </a:solidFill>
                    <a:latin typeface="Cambria Math" panose="02040503050406030204" pitchFamily="18" charset="0"/>
                  </a:rPr>
                  <a:t>$=\frac12PF_1PF_2\sin\gamma=b^2\tan\frac\gamma2$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ellipse is </a:t>
                </a:r>
                <a:r>
                  <a:rPr lang="en-IN" sz="2400">
                    <a:solidFill>
                      <a:srgbClr val="111827"/>
                    </a:solidFill>
                    <a:latin typeface="Cambria Math" panose="02040503050406030204" pitchFamily="18" charset="0"/>
                  </a:rPr>
                  <a:t>$\pi 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rectangle corners </a:t>
                </a:r>
                <a:r>
                  <a:rPr lang="en-IN" sz="2400">
                    <a:solidFill>
                      <a:srgbClr val="111827"/>
                    </a:solidFill>
                    <a:latin typeface="Cambria Math" panose="02040503050406030204" pitchFamily="18" charset="0"/>
                  </a:rPr>
                  <a:t>$A,C$</a:t>
                </a:r>
                <a:r>
                  <a:rPr sz="2400" b="0">
                    <a:solidFill>
                      <a:srgbClr val="111827"/>
                    </a:solidFill>
                    <a:latin typeface="Arial"/>
                  </a:rPr>
                  <a:t> see the foci at </a:t>
                </a:r>
                <a:r>
                  <a:rPr lang="en-IN" sz="2400">
                    <a:solidFill>
                      <a:srgbClr val="111827"/>
                    </a:solidFill>
                    <a:latin typeface="Cambria Math" panose="02040503050406030204" pitchFamily="18" charset="0"/>
                  </a:rPr>
                  <a:t>$90^\circ$</a:t>
                </a:r>
                <a:r>
                  <a:rPr sz="2400" b="0">
                    <a:solidFill>
                      <a:srgbClr val="111827"/>
                    </a:solidFill>
                    <a:latin typeface="Arial"/>
                  </a:rPr>
                  <a:t> (the circle on </a:t>
                </a:r>
                <a:r>
                  <a:rPr lang="en-IN" sz="2400">
                    <a:solidFill>
                      <a:srgbClr val="111827"/>
                    </a:solidFill>
                    <a:latin typeface="Cambria Math" panose="02040503050406030204" pitchFamily="18" charset="0"/>
                  </a:rPr>
                  <a:t>$BD$</a:t>
                </a:r>
                <a:r>
                  <a:rPr sz="2400" b="0">
                    <a:solidFill>
                      <a:srgbClr val="111827"/>
                    </a:solidFill>
                    <a:latin typeface="Arial"/>
                  </a:rPr>
                  <a:t> passes through them); the ellipse through them has </a:t>
                </a:r>
                <a:r>
                  <a:rPr lang="en-IN" sz="2400">
                    <a:solidFill>
                      <a:srgbClr val="111827"/>
                    </a:solidFill>
                    <a:latin typeface="Cambria Math" panose="02040503050406030204" pitchFamily="18" charset="0"/>
                  </a:rPr>
                  <a:t>$b^2=\frac{\text{area of rectangle}}{2}$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and the ellipse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intersecting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.\n(a) Prove that the two curves are orthogonal.\n(b) Find the area enclosed by the parabola and the common chord of the ellipse and the parabola.\n(c) If the tangent and normal at the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on the ellipse intersect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at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respectively, then find the area of the triangle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parabola </a:t>
                </a:r>
                <a:r>
                  <a:rPr lang="en-IN" sz="2400">
                    <a:solidFill>
                      <a:srgbClr val="111827"/>
                    </a:solidFill>
                    <a:latin typeface="Cambria Math" panose="02040503050406030204" pitchFamily="18" charset="0"/>
                  </a:rPr>
                  <a:t>$y^2=4x$</a:t>
                </a:r>
                <a:r>
                  <a:rPr sz="2400" b="0">
                    <a:solidFill>
                      <a:srgbClr val="111827"/>
                    </a:solidFill>
                    <a:latin typeface="Arial"/>
                  </a:rPr>
                  <a:t> and the ellipse </a:t>
                </a:r>
                <a:r>
                  <a:rPr lang="en-IN" sz="2400">
                    <a:solidFill>
                      <a:srgbClr val="111827"/>
                    </a:solidFill>
                    <a:latin typeface="Cambria Math" panose="02040503050406030204" pitchFamily="18" charset="0"/>
                  </a:rPr>
                  <a:t>$2x^2+y^2=6$</a:t>
                </a:r>
                <a:r>
                  <a:rPr sz="2400" b="0">
                    <a:solidFill>
                      <a:srgbClr val="111827"/>
                    </a:solidFill>
                    <a:latin typeface="Arial"/>
                  </a:rPr>
                  <a:t>, intersecting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.\n(a) Prove that the two curves are orthogonal.\n(b) Find the area enclosed by the parabola and the common chord of the ellipse and the parabola.\n(c) If the tangent and normal at the point </a:t>
                </a:r>
                <a:r>
                  <a:rPr lang="en-IN" sz="2400">
                    <a:solidFill>
                      <a:srgbClr val="111827"/>
                    </a:solidFill>
                    <a:latin typeface="Cambria Math" panose="02040503050406030204" pitchFamily="18" charset="0"/>
                  </a:rPr>
                  <a:t>$P$</a:t>
                </a:r>
                <a:r>
                  <a:rPr sz="2400" b="0">
                    <a:solidFill>
                      <a:srgbClr val="111827"/>
                    </a:solidFill>
                    <a:latin typeface="Arial"/>
                  </a:rPr>
                  <a:t> on the ellipse intersect the </a:t>
                </a:r>
                <a:r>
                  <a:rPr lang="en-IN" sz="2400">
                    <a:solidFill>
                      <a:srgbClr val="111827"/>
                    </a:solidFill>
                    <a:latin typeface="Cambria Math" panose="02040503050406030204" pitchFamily="18" charset="0"/>
                  </a:rPr>
                  <a:t>$x$</a:t>
                </a:r>
                <a:r>
                  <a:rPr sz="2400" b="0">
                    <a:solidFill>
                      <a:srgbClr val="111827"/>
                    </a:solidFill>
                    <a:latin typeface="Arial"/>
                  </a:rPr>
                  <a:t>-axis at </a:t>
                </a:r>
                <a:r>
                  <a:rPr lang="en-IN" sz="2400">
                    <a:solidFill>
                      <a:srgbClr val="111827"/>
                    </a:solidFill>
                    <a:latin typeface="Cambria Math" panose="02040503050406030204" pitchFamily="18" charset="0"/>
                  </a:rPr>
                  <a:t>$T$</a:t>
                </a:r>
                <a:r>
                  <a:rPr sz="2400" b="0">
                    <a:solidFill>
                      <a:srgbClr val="111827"/>
                    </a:solidFill>
                    <a:latin typeface="Arial"/>
                  </a:rPr>
                  <a:t> and </a:t>
                </a:r>
                <a:r>
                  <a:rPr lang="en-IN" sz="2400">
                    <a:solidFill>
                      <a:srgbClr val="111827"/>
                    </a:solidFill>
                    <a:latin typeface="Cambria Math" panose="02040503050406030204" pitchFamily="18" charset="0"/>
                  </a:rPr>
                  <a:t>$G$</a:t>
                </a:r>
                <a:r>
                  <a:rPr sz="2400" b="0">
                    <a:solidFill>
                      <a:srgbClr val="111827"/>
                    </a:solidFill>
                    <a:latin typeface="Arial"/>
                  </a:rPr>
                  <a:t> respectively, then find the area of the triangle </a:t>
                </a:r>
                <a:r>
                  <a:rPr lang="en-IN" sz="2400">
                    <a:solidFill>
                      <a:srgbClr val="111827"/>
                    </a:solidFill>
                    <a:latin typeface="Cambria Math" panose="02040503050406030204" pitchFamily="18" charset="0"/>
                  </a:rPr>
                  <a:t>$PTG$</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2605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Orthogonality of a parabola and an ellipse, Area bounded by a parabola and a chord, Tangent and normal to an ellipse (area of a triangle)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intersection is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 tangent to the ellipse at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has slope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the tangent to the parabola has slope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intersection is </a:t>
                </a:r>
                <a:r>
                  <a:rPr lang="en-IN" sz="2400">
                    <a:solidFill>
                      <a:srgbClr val="78350F"/>
                    </a:solidFill>
                    <a:latin typeface="Cambria Math" panose="02040503050406030204" pitchFamily="18" charset="0"/>
                  </a:rPr>
                  <a:t>$P(1,2)$</a:t>
                </a:r>
                <a:r>
                  <a:rPr sz="2400" b="0">
                    <a:solidFill>
                      <a:srgbClr val="78350F"/>
                    </a:solidFill>
                    <a:latin typeface="Arial"/>
                  </a:rPr>
                  <a:t>, </a:t>
                </a:r>
                <a:r>
                  <a:rPr lang="en-IN" sz="2400">
                    <a:solidFill>
                      <a:srgbClr val="78350F"/>
                    </a:solidFill>
                    <a:latin typeface="Cambria Math" panose="02040503050406030204" pitchFamily="18" charset="0"/>
                  </a:rPr>
                  <a:t>$Q(1,-2)$</a:t>
                </a:r>
                <a:r>
                  <a:rPr sz="2400" b="0">
                    <a:solidFill>
                      <a:srgbClr val="78350F"/>
                    </a:solidFill>
                    <a:latin typeface="Arial"/>
                  </a:rPr>
                  <a:t>; the tangent to the ellipse at </a:t>
                </a:r>
                <a:r>
                  <a:rPr lang="en-IN" sz="2400">
                    <a:solidFill>
                      <a:srgbClr val="78350F"/>
                    </a:solidFill>
                    <a:latin typeface="Cambria Math" panose="02040503050406030204" pitchFamily="18" charset="0"/>
                  </a:rPr>
                  <a:t>$P$</a:t>
                </a:r>
                <a:r>
                  <a:rPr sz="2400" b="0">
                    <a:solidFill>
                      <a:srgbClr val="78350F"/>
                    </a:solidFill>
                    <a:latin typeface="Arial"/>
                  </a:rPr>
                  <a:t> has slope </a:t>
                </a:r>
                <a:r>
                  <a:rPr lang="en-IN" sz="2400">
                    <a:solidFill>
                      <a:srgbClr val="78350F"/>
                    </a:solidFill>
                    <a:latin typeface="Cambria Math" panose="02040503050406030204" pitchFamily="18" charset="0"/>
                  </a:rPr>
                  <a:t>$-1$</a:t>
                </a:r>
                <a:r>
                  <a:rPr sz="2400" b="0">
                    <a:solidFill>
                      <a:srgbClr val="78350F"/>
                    </a:solidFill>
                    <a:latin typeface="Arial"/>
                  </a:rPr>
                  <a:t> and the tangent to the parabola has slope </a:t>
                </a:r>
                <a:r>
                  <a:rPr lang="en-IN" sz="2400">
                    <a:solidFill>
                      <a:srgbClr val="78350F"/>
                    </a:solidFill>
                    <a:latin typeface="Cambria Math" panose="02040503050406030204" pitchFamily="18" charset="0"/>
                  </a:rPr>
                  <a:t>$1$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Solve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Tangent to the parabola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(slope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the ellipse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(slope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Solve </a:t>
                </a:r>
                <a:r>
                  <a:rPr lang="en-IN" sz="2400">
                    <a:solidFill>
                      <a:srgbClr val="111827"/>
                    </a:solidFill>
                    <a:latin typeface="Cambria Math" panose="02040503050406030204" pitchFamily="18" charset="0"/>
                  </a:rPr>
                  <a:t>$y^2=4x$</a:t>
                </a:r>
                <a:r>
                  <a:rPr sz="2400" b="0">
                    <a:solidFill>
                      <a:srgbClr val="111827"/>
                    </a:solidFill>
                    <a:latin typeface="Arial"/>
                  </a:rPr>
                  <a:t> and </a:t>
                </a:r>
                <a:r>
                  <a:rPr lang="en-IN" sz="2400">
                    <a:solidFill>
                      <a:srgbClr val="111827"/>
                    </a:solidFill>
                    <a:latin typeface="Cambria Math" panose="02040503050406030204" pitchFamily="18" charset="0"/>
                  </a:rPr>
                  <a:t>$2x^2+y^2=6$</a:t>
                </a:r>
                <a:r>
                  <a:rPr sz="2400" b="0">
                    <a:solidFill>
                      <a:srgbClr val="111827"/>
                    </a:solidFill>
                    <a:latin typeface="Arial"/>
                  </a:rPr>
                  <a:t>: </a:t>
                </a:r>
                <a:r>
                  <a:rPr lang="en-IN" sz="2400">
                    <a:solidFill>
                      <a:srgbClr val="111827"/>
                    </a:solidFill>
                    <a:latin typeface="Cambria Math" panose="02040503050406030204" pitchFamily="18" charset="0"/>
                  </a:rPr>
                  <a:t>$2x^2+4x-6=0$</a:t>
                </a:r>
                <a:r>
                  <a:rPr sz="2400" b="0">
                    <a:solidFill>
                      <a:srgbClr val="111827"/>
                    </a:solidFill>
                    <a:latin typeface="Arial"/>
                  </a:rPr>
                  <a:t>, i.e. </a:t>
                </a:r>
                <a:r>
                  <a:rPr lang="en-IN" sz="2400">
                    <a:solidFill>
                      <a:srgbClr val="111827"/>
                    </a:solidFill>
                    <a:latin typeface="Cambria Math" panose="02040503050406030204" pitchFamily="18" charset="0"/>
                  </a:rPr>
                  <a:t>$x^2+2x-3=0$</a:t>
                </a:r>
                <a:r>
                  <a:rPr sz="2400" b="0">
                    <a:solidFill>
                      <a:srgbClr val="111827"/>
                    </a:solidFill>
                    <a:latin typeface="Arial"/>
                  </a:rPr>
                  <a:t>, so </a:t>
                </a:r>
                <a:r>
                  <a:rPr lang="en-IN" sz="2400">
                    <a:solidFill>
                      <a:srgbClr val="111827"/>
                    </a:solidFill>
                    <a:latin typeface="Cambria Math" panose="02040503050406030204" pitchFamily="18" charset="0"/>
                  </a:rPr>
                  <a:t>$x=1$</a:t>
                </a:r>
                <a:r>
                  <a:rPr sz="2400" b="0">
                    <a:solidFill>
                      <a:srgbClr val="111827"/>
                    </a:solidFill>
                    <a:latin typeface="Arial"/>
                  </a:rPr>
                  <a:t> or </a:t>
                </a:r>
                <a:r>
                  <a:rPr lang="en-IN" sz="2400">
                    <a:solidFill>
                      <a:srgbClr val="111827"/>
                    </a:solidFill>
                    <a:latin typeface="Cambria Math" panose="02040503050406030204" pitchFamily="18" charset="0"/>
                  </a:rPr>
                  <a:t>$x=-3$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$x=-3$</a:t>
                </a:r>
                <a:r>
                  <a:rPr sz="2400" b="0">
                    <a:solidFill>
                      <a:srgbClr val="111827"/>
                    </a:solidFill>
                    <a:latin typeface="Arial"/>
                  </a:rPr>
                  <a:t> gives </a:t>
                </a:r>
                <a:r>
                  <a:rPr lang="en-IN" sz="2400">
                    <a:solidFill>
                      <a:srgbClr val="111827"/>
                    </a:solidFill>
                    <a:latin typeface="Cambria Math" panose="02040503050406030204" pitchFamily="18" charset="0"/>
                  </a:rPr>
                  <a:t>$y^2&lt;0$</a:t>
                </a:r>
                <a:r>
                  <a:rPr sz="2400" b="0">
                    <a:solidFill>
                      <a:srgbClr val="111827"/>
                    </a:solidFill>
                    <a:latin typeface="Arial"/>
                  </a:rPr>
                  <a:t>, so </a:t>
                </a:r>
                <a:r>
                  <a:rPr lang="en-IN" sz="2400">
                    <a:solidFill>
                      <a:srgbClr val="111827"/>
                    </a:solidFill>
                    <a:latin typeface="Cambria Math" panose="02040503050406030204" pitchFamily="18" charset="0"/>
                  </a:rPr>
                  <a:t>$x=1$</a:t>
                </a:r>
                <a:r>
                  <a:rPr sz="2400" b="0">
                    <a:solidFill>
                      <a:srgbClr val="111827"/>
                    </a:solidFill>
                    <a:latin typeface="Arial"/>
                  </a:rPr>
                  <a:t>: </a:t>
                </a:r>
                <a:r>
                  <a:rPr lang="en-IN" sz="2400">
                    <a:solidFill>
                      <a:srgbClr val="111827"/>
                    </a:solidFill>
                    <a:latin typeface="Cambria Math" panose="02040503050406030204" pitchFamily="18" charset="0"/>
                  </a:rPr>
                  <a:t>$P(1,2)$</a:t>
                </a:r>
                <a:r>
                  <a:rPr sz="2400" b="0">
                    <a:solidFill>
                      <a:srgbClr val="111827"/>
                    </a:solidFill>
                    <a:latin typeface="Arial"/>
                  </a:rPr>
                  <a:t> and </a:t>
                </a:r>
                <a:r>
                  <a:rPr lang="en-IN" sz="2400">
                    <a:solidFill>
                      <a:srgbClr val="111827"/>
                    </a:solidFill>
                    <a:latin typeface="Cambria Math" panose="02040503050406030204" pitchFamily="18" charset="0"/>
                  </a:rPr>
                  <a:t>$Q(1,-2)$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Tangent to the parabola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$yy_1=2(x+x_1)$</a:t>
                </a:r>
                <a:r>
                  <a:rPr sz="2400" b="0">
                    <a:solidFill>
                      <a:srgbClr val="111827"/>
                    </a:solidFill>
                    <a:latin typeface="Arial"/>
                  </a:rPr>
                  <a:t>, i.e. </a:t>
                </a:r>
                <a:r>
                  <a:rPr lang="en-IN" sz="2400">
                    <a:solidFill>
                      <a:srgbClr val="111827"/>
                    </a:solidFill>
                    <a:latin typeface="Cambria Math" panose="02040503050406030204" pitchFamily="18" charset="0"/>
                  </a:rPr>
                  <a:t>$2y=2(x+1)$</a:t>
                </a:r>
                <a:r>
                  <a:rPr sz="2400" b="0">
                    <a:solidFill>
                      <a:srgbClr val="111827"/>
                    </a:solidFill>
                    <a:latin typeface="Arial"/>
                  </a:rPr>
                  <a:t>, so </a:t>
                </a:r>
                <a:r>
                  <a:rPr lang="en-IN" sz="2400">
                    <a:solidFill>
                      <a:srgbClr val="111827"/>
                    </a:solidFill>
                    <a:latin typeface="Cambria Math" panose="02040503050406030204" pitchFamily="18" charset="0"/>
                  </a:rPr>
                  <a:t>$y=x+1$</a:t>
                </a:r>
                <a:r>
                  <a:rPr sz="2400" b="0">
                    <a:solidFill>
                      <a:srgbClr val="111827"/>
                    </a:solidFill>
                    <a:latin typeface="Arial"/>
                  </a:rPr>
                  <a:t> (slope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the ellipse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$2x\cdot1+y\cdot2=6$</a:t>
                </a:r>
                <a:r>
                  <a:rPr sz="2400" b="0">
                    <a:solidFill>
                      <a:srgbClr val="111827"/>
                    </a:solidFill>
                    <a:latin typeface="Arial"/>
                  </a:rPr>
                  <a:t>, i.e. </a:t>
                </a:r>
                <a:r>
                  <a:rPr lang="en-IN" sz="2400">
                    <a:solidFill>
                      <a:srgbClr val="111827"/>
                    </a:solidFill>
                    <a:latin typeface="Cambria Math" panose="02040503050406030204" pitchFamily="18" charset="0"/>
                  </a:rPr>
                  <a:t>$x+y=3$</a:t>
                </a:r>
                <a:r>
                  <a:rPr sz="2400" b="0">
                    <a:solidFill>
                      <a:srgbClr val="111827"/>
                    </a:solidFill>
                    <a:latin typeface="Arial"/>
                  </a:rPr>
                  <a:t> (slope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product of the slopes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the tangents are perpendicular: the curves are orthogonal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by symmetry, at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The common chord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ary>
                      <m:naryPr>
                        <m:chr m:val="∫"/>
                        <m:limLoc m:val="subSup"/>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1</m:t>
                        </m:r>
                      </m:sup>
                      <m:e>
                        <m:r>
                          <a:rPr lang="en-IN" sz="2400" i="1">
                            <a:solidFill>
                              <a:srgbClr val="111827"/>
                            </a:solidFill>
                            <a:latin typeface="Cambria Math" panose="02040503050406030204" pitchFamily="18" charset="0"/>
                          </a:rPr>
                          <m:t>2</m:t>
                        </m:r>
                      </m:e>
                    </m:nary>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𝑥</m:t>
                        </m:r>
                      </m:e>
                    </m:rad>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sSub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e>
                        </m:d>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1</m:t>
                        </m:r>
                      </m:sup>
                    </m:sSub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The tangent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meets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at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perpendicular to it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meeting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at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the height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above the axis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product of the slopes is </a:t>
                </a:r>
                <a:r>
                  <a:rPr lang="en-IN" sz="2400">
                    <a:solidFill>
                      <a:srgbClr val="111827"/>
                    </a:solidFill>
                    <a:latin typeface="Cambria Math" panose="02040503050406030204" pitchFamily="18" charset="0"/>
                  </a:rPr>
                  <a:t>$-1$</a:t>
                </a:r>
                <a:r>
                  <a:rPr sz="2400" b="0">
                    <a:solidFill>
                      <a:srgbClr val="111827"/>
                    </a:solidFill>
                    <a:latin typeface="Arial"/>
                  </a:rPr>
                  <a:t>, so the tangents are perpendicular: the curves are orthogonal at </a:t>
                </a:r>
                <a:r>
                  <a:rPr lang="en-IN" sz="2400">
                    <a:solidFill>
                      <a:srgbClr val="111827"/>
                    </a:solidFill>
                    <a:latin typeface="Cambria Math" panose="02040503050406030204" pitchFamily="18" charset="0"/>
                  </a:rPr>
                  <a:t>$P$</a:t>
                </a:r>
                <a:r>
                  <a:rPr sz="2400" b="0">
                    <a:solidFill>
                      <a:srgbClr val="111827"/>
                    </a:solidFill>
                    <a:latin typeface="Arial"/>
                  </a:rPr>
                  <a:t> (and, by symmetry, at </a:t>
                </a:r>
                <a:r>
                  <a:rPr lang="en-IN" sz="2400">
                    <a:solidFill>
                      <a:srgbClr val="111827"/>
                    </a:solidFill>
                    <a:latin typeface="Cambria Math" panose="02040503050406030204" pitchFamily="18" charset="0"/>
                  </a:rPr>
                  <a:t>$Q$</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The common chord is </a:t>
                </a:r>
                <a:r>
                  <a:rPr lang="en-IN" sz="2400">
                    <a:solidFill>
                      <a:srgbClr val="111827"/>
                    </a:solidFill>
                    <a:latin typeface="Cambria Math" panose="02040503050406030204" pitchFamily="18" charset="0"/>
                  </a:rPr>
                  <a:t>$x=1$</a:t>
                </a:r>
                <a:r>
                  <a:rPr sz="2400" b="0">
                    <a:solidFill>
                      <a:srgbClr val="111827"/>
                    </a:solidFill>
                    <a:latin typeface="Arial"/>
                  </a:rPr>
                  <a:t>. Area </a:t>
                </a:r>
                <a:r>
                  <a:rPr lang="en-IN" sz="2400">
                    <a:solidFill>
                      <a:srgbClr val="111827"/>
                    </a:solidFill>
                    <a:latin typeface="Cambria Math" panose="02040503050406030204" pitchFamily="18" charset="0"/>
                  </a:rPr>
                  <a:t>$=2\int_0^1 2\sqrt x\,dx=4\cdot\frac23\left[x^{3/2}\right]_0^1=\frac83$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The tangent </a:t>
                </a:r>
                <a:r>
                  <a:rPr lang="en-IN" sz="2400">
                    <a:solidFill>
                      <a:srgbClr val="111827"/>
                    </a:solidFill>
                    <a:latin typeface="Cambria Math" panose="02040503050406030204" pitchFamily="18" charset="0"/>
                  </a:rPr>
                  <a:t>$x+y=3$</a:t>
                </a:r>
                <a:r>
                  <a:rPr sz="2400" b="0">
                    <a:solidFill>
                      <a:srgbClr val="111827"/>
                    </a:solidFill>
                    <a:latin typeface="Arial"/>
                  </a:rPr>
                  <a:t> meets the </a:t>
                </a:r>
                <a:r>
                  <a:rPr lang="en-IN" sz="2400">
                    <a:solidFill>
                      <a:srgbClr val="111827"/>
                    </a:solidFill>
                    <a:latin typeface="Cambria Math" panose="02040503050406030204" pitchFamily="18" charset="0"/>
                  </a:rPr>
                  <a:t>$x$</a:t>
                </a:r>
                <a:r>
                  <a:rPr sz="2400" b="0">
                    <a:solidFill>
                      <a:srgbClr val="111827"/>
                    </a:solidFill>
                    <a:latin typeface="Arial"/>
                  </a:rPr>
                  <a:t>-axis at </a:t>
                </a:r>
                <a:r>
                  <a:rPr lang="en-IN" sz="2400">
                    <a:solidFill>
                      <a:srgbClr val="111827"/>
                    </a:solidFill>
                    <a:latin typeface="Cambria Math" panose="02040503050406030204" pitchFamily="18" charset="0"/>
                  </a:rPr>
                  <a:t>$T(3,0)$</a:t>
                </a:r>
                <a:r>
                  <a:rPr sz="2400" b="0">
                    <a:solidFill>
                      <a:srgbClr val="111827"/>
                    </a:solidFill>
                    <a:latin typeface="Arial"/>
                  </a:rPr>
                  <a:t>. The normal at </a:t>
                </a:r>
                <a:r>
                  <a:rPr lang="en-IN" sz="2400">
                    <a:solidFill>
                      <a:srgbClr val="111827"/>
                    </a:solidFill>
                    <a:latin typeface="Cambria Math" panose="02040503050406030204" pitchFamily="18" charset="0"/>
                  </a:rPr>
                  <a:t>$P$</a:t>
                </a:r>
                <a:r>
                  <a:rPr sz="2400" b="0">
                    <a:solidFill>
                      <a:srgbClr val="111827"/>
                    </a:solidFill>
                    <a:latin typeface="Arial"/>
                  </a:rPr>
                  <a:t> is perpendicular to it through </a:t>
                </a:r>
                <a:r>
                  <a:rPr lang="en-IN" sz="2400">
                    <a:solidFill>
                      <a:srgbClr val="111827"/>
                    </a:solidFill>
                    <a:latin typeface="Cambria Math" panose="02040503050406030204" pitchFamily="18" charset="0"/>
                  </a:rPr>
                  <a:t>$(1,2)$</a:t>
                </a:r>
                <a:r>
                  <a:rPr sz="2400" b="0">
                    <a:solidFill>
                      <a:srgbClr val="111827"/>
                    </a:solidFill>
                    <a:latin typeface="Arial"/>
                  </a:rPr>
                  <a:t>: </a:t>
                </a:r>
                <a:r>
                  <a:rPr lang="en-IN" sz="2400">
                    <a:solidFill>
                      <a:srgbClr val="111827"/>
                    </a:solidFill>
                    <a:latin typeface="Cambria Math" panose="02040503050406030204" pitchFamily="18" charset="0"/>
                  </a:rPr>
                  <a:t>$y=x+1$</a:t>
                </a:r>
                <a:r>
                  <a:rPr sz="2400" b="0">
                    <a:solidFill>
                      <a:srgbClr val="111827"/>
                    </a:solidFill>
                    <a:latin typeface="Arial"/>
                  </a:rPr>
                  <a:t>, meeting the </a:t>
                </a:r>
                <a:r>
                  <a:rPr lang="en-IN" sz="2400">
                    <a:solidFill>
                      <a:srgbClr val="111827"/>
                    </a:solidFill>
                    <a:latin typeface="Cambria Math" panose="02040503050406030204" pitchFamily="18" charset="0"/>
                  </a:rPr>
                  <a:t>$x$</a:t>
                </a:r>
                <a:r>
                  <a:rPr sz="2400" b="0">
                    <a:solidFill>
                      <a:srgbClr val="111827"/>
                    </a:solidFill>
                    <a:latin typeface="Arial"/>
                  </a:rPr>
                  <a:t>-axis at </a:t>
                </a:r>
                <a:r>
                  <a:rPr lang="en-IN" sz="2400">
                    <a:solidFill>
                      <a:srgbClr val="111827"/>
                    </a:solidFill>
                    <a:latin typeface="Cambria Math" panose="02040503050406030204" pitchFamily="18" charset="0"/>
                  </a:rPr>
                  <a:t>$G(-1,0)$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$TG=4$</a:t>
                </a:r>
                <a:r>
                  <a:rPr sz="2400" b="0">
                    <a:solidFill>
                      <a:srgbClr val="111827"/>
                    </a:solidFill>
                    <a:latin typeface="Arial"/>
                  </a:rPr>
                  <a:t> and the height of </a:t>
                </a:r>
                <a:r>
                  <a:rPr lang="en-IN" sz="2400">
                    <a:solidFill>
                      <a:srgbClr val="111827"/>
                    </a:solidFill>
                    <a:latin typeface="Cambria Math" panose="02040503050406030204" pitchFamily="18" charset="0"/>
                  </a:rPr>
                  <a:t>$P$</a:t>
                </a:r>
                <a:r>
                  <a:rPr sz="2400" b="0">
                    <a:solidFill>
                      <a:srgbClr val="111827"/>
                    </a:solidFill>
                    <a:latin typeface="Arial"/>
                  </a:rPr>
                  <a:t> above the axis is </a:t>
                </a:r>
                <a:r>
                  <a:rPr lang="en-IN" sz="2400">
                    <a:solidFill>
                      <a:srgbClr val="111827"/>
                    </a:solidFill>
                    <a:latin typeface="Cambria Math" panose="02040503050406030204" pitchFamily="18" charset="0"/>
                  </a:rPr>
                  <a:t>$2$</a:t>
                </a:r>
                <a:r>
                  <a:rPr sz="2400" b="0">
                    <a:solidFill>
                      <a:srgbClr val="111827"/>
                    </a:solidFill>
                    <a:latin typeface="Arial"/>
                  </a:rPr>
                  <a:t>: area of </a:t>
                </a:r>
                <a:r>
                  <a:rPr lang="en-IN" sz="2400">
                    <a:solidFill>
                      <a:srgbClr val="111827"/>
                    </a:solidFill>
                    <a:latin typeface="Cambria Math" panose="02040503050406030204" pitchFamily="18" charset="0"/>
                  </a:rPr>
                  <a:t>$\triangle PTG=\frac12\cdot4\cdot2=4$</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shown (tangents have slopes </a:t>
                </a:r>
                <a14:m>
                  <m:oMath xmlns:m="http://schemas.openxmlformats.org/officeDocument/2006/math">
                    <m:r>
                      <a:rPr lang="en-IN" sz="2800" i="1">
                        <a:solidFill>
                          <a:srgbClr val="15803D"/>
                        </a:solidFill>
                        <a:latin typeface="Cambria Math" panose="02040503050406030204" pitchFamily="18" charset="0"/>
                      </a:rPr>
                      <m:t>1</m:t>
                    </m:r>
                  </m:oMath>
                </a14:m>
                <a:r>
                  <a:rPr sz="2800" b="1">
                    <a:solidFill>
                      <a:srgbClr val="15803D"/>
                    </a:solidFill>
                    <a:latin typeface="Arial"/>
                  </a:rPr>
                  <a:t> and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oMath>
                </a14:m>
                <a:r>
                  <a:rPr sz="2800" b="1">
                    <a:solidFill>
                      <a:srgbClr val="15803D"/>
                    </a:solidFill>
                    <a:latin typeface="Arial"/>
                  </a:rPr>
                  <a:t> at </a:t>
                </a:r>
                <a14:m>
                  <m:oMath xmlns:m="http://schemas.openxmlformats.org/officeDocument/2006/math">
                    <m:r>
                      <a:rPr lang="en-IN" sz="2800" i="1">
                        <a:solidFill>
                          <a:srgbClr val="15803D"/>
                        </a:solidFill>
                        <a:latin typeface="Cambria Math" panose="02040503050406030204" pitchFamily="18" charset="0"/>
                      </a:rPr>
                      <m:t>𝑃</m:t>
                    </m:r>
                  </m:oMath>
                </a14:m>
                <a:r>
                  <a:rPr sz="2800" b="1">
                    <a:solidFill>
                      <a:srgbClr val="15803D"/>
                    </a:solidFill>
                    <a:latin typeface="Arial"/>
                  </a:rPr>
                  <a:t>); (b)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8</m:t>
                        </m:r>
                      </m:num>
                      <m:den>
                        <m:r>
                          <a:rPr lang="en-IN" sz="2800" i="1">
                            <a:solidFill>
                              <a:srgbClr val="15803D"/>
                            </a:solidFill>
                            <a:latin typeface="Cambria Math" panose="02040503050406030204" pitchFamily="18" charset="0"/>
                          </a:rPr>
                          <m:t>3</m:t>
                        </m:r>
                      </m:den>
                    </m:f>
                  </m:oMath>
                </a14:m>
                <a:r>
                  <a:rPr sz="2800" b="1">
                    <a:solidFill>
                      <a:srgbClr val="15803D"/>
                    </a:solidFill>
                    <a:latin typeface="Arial"/>
                  </a:rPr>
                  <a:t>; (c) </a:t>
                </a:r>
                <a14:m>
                  <m:oMath xmlns:m="http://schemas.openxmlformats.org/officeDocument/2006/math">
                    <m:r>
                      <a:rPr lang="en-IN" sz="2800" i="1">
                        <a:solidFill>
                          <a:srgbClr val="15803D"/>
                        </a:solidFill>
                        <a:latin typeface="Cambria Math" panose="02040503050406030204" pitchFamily="18" charset="0"/>
                      </a:rPr>
                      <m:t>4</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shown (tangents have slopes </a:t>
                </a:r>
                <a:r>
                  <a:rPr lang="en-IN" sz="2800">
                    <a:solidFill>
                      <a:srgbClr val="15803D"/>
                    </a:solidFill>
                    <a:latin typeface="Cambria Math" panose="02040503050406030204" pitchFamily="18" charset="0"/>
                  </a:rPr>
                  <a:t>$1$</a:t>
                </a:r>
                <a:r>
                  <a:rPr sz="2800" b="1">
                    <a:solidFill>
                      <a:srgbClr val="15803D"/>
                    </a:solidFill>
                    <a:latin typeface="Arial"/>
                  </a:rPr>
                  <a:t> and </a:t>
                </a:r>
                <a:r>
                  <a:rPr lang="en-IN" sz="2800">
                    <a:solidFill>
                      <a:srgbClr val="15803D"/>
                    </a:solidFill>
                    <a:latin typeface="Cambria Math" panose="02040503050406030204" pitchFamily="18" charset="0"/>
                  </a:rPr>
                  <a:t>$-1$</a:t>
                </a:r>
                <a:r>
                  <a:rPr sz="2800" b="1">
                    <a:solidFill>
                      <a:srgbClr val="15803D"/>
                    </a:solidFill>
                    <a:latin typeface="Arial"/>
                  </a:rPr>
                  <a:t> at </a:t>
                </a:r>
                <a:r>
                  <a:rPr lang="en-IN" sz="2800">
                    <a:solidFill>
                      <a:srgbClr val="15803D"/>
                    </a:solidFill>
                    <a:latin typeface="Cambria Math" panose="02040503050406030204" pitchFamily="18" charset="0"/>
                  </a:rPr>
                  <a:t>$P$</a:t>
                </a:r>
                <a:r>
                  <a:rPr sz="2800" b="1">
                    <a:solidFill>
                      <a:srgbClr val="15803D"/>
                    </a:solidFill>
                    <a:latin typeface="Arial"/>
                  </a:rPr>
                  <a:t>); (b) </a:t>
                </a:r>
                <a:r>
                  <a:rPr lang="en-IN" sz="2800">
                    <a:solidFill>
                      <a:srgbClr val="15803D"/>
                    </a:solidFill>
                    <a:latin typeface="Cambria Math" panose="02040503050406030204" pitchFamily="18" charset="0"/>
                  </a:rPr>
                  <a:t>$\frac83$</a:t>
                </a:r>
                <a:r>
                  <a:rPr sz="2800" b="1">
                    <a:solidFill>
                      <a:srgbClr val="15803D"/>
                    </a:solidFill>
                    <a:latin typeface="Arial"/>
                  </a:rPr>
                  <a:t>; (c) </a:t>
                </a:r>
                <a:r>
                  <a:rPr lang="en-IN" sz="2800">
                    <a:solidFill>
                      <a:srgbClr val="15803D"/>
                    </a:solidFill>
                    <a:latin typeface="Cambria Math" panose="02040503050406030204" pitchFamily="18" charset="0"/>
                  </a:rPr>
                  <a:t>$4$</a:t>
                </a:r>
                <a:endParaRPr sz="2800">
                  <a:solidFill>
                    <a:srgbClr val="15803D"/>
                  </a:solidFill>
                </a:endParaRPr>
              </a:p>
            </p:txBody>
          </p:sp>
        </mc:Fallback>
      </mc:AlternateContent>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gradients for orthogonality, horizontal strips for the area, and the fact that the ellipse's normal at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the parabola's tangent at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gradients for orthogonality, horizontal strips for the area, and the fact that the ellipse's normal at </a:t>
                </a:r>
                <a:r>
                  <a:rPr lang="en-IN" sz="2400">
                    <a:solidFill>
                      <a:srgbClr val="78350F"/>
                    </a:solidFill>
                    <a:latin typeface="Cambria Math" panose="02040503050406030204" pitchFamily="18" charset="0"/>
                  </a:rPr>
                  <a:t>$P$</a:t>
                </a:r>
                <a:r>
                  <a:rPr sz="2400" b="0">
                    <a:solidFill>
                      <a:srgbClr val="78350F"/>
                    </a:solidFill>
                    <a:latin typeface="Arial"/>
                  </a:rPr>
                  <a:t> is the parabola's tangent at </a:t>
                </a:r>
                <a:r>
                  <a:rPr lang="en-IN" sz="2400">
                    <a:solidFill>
                      <a:srgbClr val="78350F"/>
                    </a:solidFill>
                    <a:latin typeface="Cambria Math" panose="02040503050406030204" pitchFamily="18" charset="0"/>
                  </a:rPr>
                  <a:t>$P$</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Normals of the two curves have directions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Their dot product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every point of the parabola, so the curves are orthogonal at both common points.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Use horizontal strips: area </a:t>
                </a: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subSup"/>
                        <m:subHide m:val="off"/>
                        <m:supHide m:val="off"/>
                        <m:ctrlPr>
                          <a:rPr lang="en-IN" sz="2400" i="1">
                            <a:solidFill>
                              <a:srgbClr val="111827"/>
                            </a:solidFill>
                            <a:latin typeface="Cambria Math" panose="02040503050406030204" pitchFamily="18" charset="0"/>
                          </a:rPr>
                        </m:ctrlPr>
                      </m:naryPr>
                      <m: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e>
                        </m:d>
                      </m:e>
                    </m:nary>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12</m:t>
                                </m:r>
                              </m:den>
                            </m:f>
                          </m:e>
                        </m:d>
                      </m:e>
                      <m: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12</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Normals of the two curves have directions </a:t>
                </a:r>
                <a:r>
                  <a:rPr lang="en-IN" sz="2400">
                    <a:solidFill>
                      <a:srgbClr val="111827"/>
                    </a:solidFill>
                    <a:latin typeface="Cambria Math" panose="02040503050406030204" pitchFamily="18" charset="0"/>
                  </a:rPr>
                  <a:t>$\nabla(y^2-4x)=(-4,2y)$</a:t>
                </a:r>
                <a:r>
                  <a:rPr sz="2400" b="0">
                    <a:solidFill>
                      <a:srgbClr val="111827"/>
                    </a:solidFill>
                    <a:latin typeface="Arial"/>
                  </a:rPr>
                  <a:t> and </a:t>
                </a:r>
                <a:r>
                  <a:rPr lang="en-IN" sz="2400">
                    <a:solidFill>
                      <a:srgbClr val="111827"/>
                    </a:solidFill>
                    <a:latin typeface="Cambria Math" panose="02040503050406030204" pitchFamily="18" charset="0"/>
                  </a:rPr>
                  <a:t>$\nabla(2x^2+y^2-6)=(4x,2y)$</a:t>
                </a:r>
                <a:r>
                  <a:rPr sz="2400" b="0">
                    <a:solidFill>
                      <a:srgbClr val="111827"/>
                    </a:solidFill>
                    <a:latin typeface="Arial"/>
                  </a:rPr>
                  <a:t>. Their dot product is </a:t>
                </a:r>
                <a:r>
                  <a:rPr lang="en-IN" sz="2400">
                    <a:solidFill>
                      <a:srgbClr val="111827"/>
                    </a:solidFill>
                    <a:latin typeface="Cambria Math" panose="02040503050406030204" pitchFamily="18" charset="0"/>
                  </a:rPr>
                  <a:t>$-16x+4y^2=-16x+16x=0$</a:t>
                </a:r>
                <a:r>
                  <a:rPr sz="2400" b="0">
                    <a:solidFill>
                      <a:srgbClr val="111827"/>
                    </a:solidFill>
                    <a:latin typeface="Arial"/>
                  </a:rPr>
                  <a:t> at every point of the parabola, so the curves are orthogonal at both common points.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Use horizontal strips: area </a:t>
                </a:r>
                <a:r>
                  <a:rPr lang="en-IN" sz="2400">
                    <a:solidFill>
                      <a:srgbClr val="111827"/>
                    </a:solidFill>
                    <a:latin typeface="Cambria Math" panose="02040503050406030204" pitchFamily="18" charset="0"/>
                  </a:rPr>
                  <a:t>$=\int_{-2}^{2}\left(1-\frac{y^2}{4}\right)dy=\left[y-\frac{y^3}{12}\right]_{-2}^{2}=2\left(2-\frac{8}{12}\right)=\frac83$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By (a) the normal to the ellipse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tangent to the parabola there,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tangent to the ellipse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By (a) the normal to the ellipse at </a:t>
                </a:r>
                <a:r>
                  <a:rPr lang="en-IN" sz="2400">
                    <a:solidFill>
                      <a:srgbClr val="111827"/>
                    </a:solidFill>
                    <a:latin typeface="Cambria Math" panose="02040503050406030204" pitchFamily="18" charset="0"/>
                  </a:rPr>
                  <a:t>$P$</a:t>
                </a:r>
                <a:r>
                  <a:rPr sz="2400" b="0">
                    <a:solidFill>
                      <a:srgbClr val="111827"/>
                    </a:solidFill>
                    <a:latin typeface="Arial"/>
                  </a:rPr>
                  <a:t> is the tangent to the parabola there, </a:t>
                </a:r>
                <a:r>
                  <a:rPr lang="en-IN" sz="2400">
                    <a:solidFill>
                      <a:srgbClr val="111827"/>
                    </a:solidFill>
                    <a:latin typeface="Cambria Math" panose="02040503050406030204" pitchFamily="18" charset="0"/>
                  </a:rPr>
                  <a:t>$y=x+1$</a:t>
                </a:r>
                <a:r>
                  <a:rPr sz="2400" b="0">
                    <a:solidFill>
                      <a:srgbClr val="111827"/>
                    </a:solidFill>
                    <a:latin typeface="Arial"/>
                  </a:rPr>
                  <a:t>, so </a:t>
                </a:r>
                <a:r>
                  <a:rPr lang="en-IN" sz="2400">
                    <a:solidFill>
                      <a:srgbClr val="111827"/>
                    </a:solidFill>
                    <a:latin typeface="Cambria Math" panose="02040503050406030204" pitchFamily="18" charset="0"/>
                  </a:rPr>
                  <a:t>$G=(-1,0)$</a:t>
                </a:r>
                <a:r>
                  <a:rPr sz="2400" b="0">
                    <a:solidFill>
                      <a:srgbClr val="111827"/>
                    </a:solidFill>
                    <a:latin typeface="Arial"/>
                  </a:rPr>
                  <a:t>; the tangent to the ellipse is </a:t>
                </a:r>
                <a:r>
                  <a:rPr lang="en-IN" sz="2400">
                    <a:solidFill>
                      <a:srgbClr val="111827"/>
                    </a:solidFill>
                    <a:latin typeface="Cambria Math" panose="02040503050406030204" pitchFamily="18" charset="0"/>
                  </a:rPr>
                  <a:t>$x+y=3$</a:t>
                </a:r>
                <a:r>
                  <a:rPr sz="2400" b="0">
                    <a:solidFill>
                      <a:srgbClr val="111827"/>
                    </a:solidFill>
                    <a:latin typeface="Arial"/>
                  </a:rPr>
                  <a:t> so </a:t>
                </a:r>
                <a:r>
                  <a:rPr lang="en-IN" sz="2400">
                    <a:solidFill>
                      <a:srgbClr val="111827"/>
                    </a:solidFill>
                    <a:latin typeface="Cambria Math" panose="02040503050406030204" pitchFamily="18" charset="0"/>
                  </a:rPr>
                  <a:t>$T=(3,0)$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t>
                </a:r>
                <a:r>
                  <a:rPr lang="en-IN" sz="2400">
                    <a:solidFill>
                      <a:srgbClr val="111827"/>
                    </a:solidFill>
                    <a:latin typeface="Cambria Math" panose="02040503050406030204" pitchFamily="18" charset="0"/>
                  </a:rPr>
                  <a:t>$\triangle PTG=\frac12\cdot TG\cdot y_P=\frac12\cdot4\cdot2=4$</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shown (tangents have slopes </a:t>
                </a:r>
                <a14:m>
                  <m:oMath xmlns:m="http://schemas.openxmlformats.org/officeDocument/2006/math">
                    <m:r>
                      <a:rPr lang="en-IN" sz="2800" i="1">
                        <a:solidFill>
                          <a:srgbClr val="15803D"/>
                        </a:solidFill>
                        <a:latin typeface="Cambria Math" panose="02040503050406030204" pitchFamily="18" charset="0"/>
                      </a:rPr>
                      <m:t>1</m:t>
                    </m:r>
                  </m:oMath>
                </a14:m>
                <a:r>
                  <a:rPr sz="2800" b="1">
                    <a:solidFill>
                      <a:srgbClr val="15803D"/>
                    </a:solidFill>
                    <a:latin typeface="Arial"/>
                  </a:rPr>
                  <a:t> and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oMath>
                </a14:m>
                <a:r>
                  <a:rPr sz="2800" b="1">
                    <a:solidFill>
                      <a:srgbClr val="15803D"/>
                    </a:solidFill>
                    <a:latin typeface="Arial"/>
                  </a:rPr>
                  <a:t> at </a:t>
                </a:r>
                <a14:m>
                  <m:oMath xmlns:m="http://schemas.openxmlformats.org/officeDocument/2006/math">
                    <m:r>
                      <a:rPr lang="en-IN" sz="2800" i="1">
                        <a:solidFill>
                          <a:srgbClr val="15803D"/>
                        </a:solidFill>
                        <a:latin typeface="Cambria Math" panose="02040503050406030204" pitchFamily="18" charset="0"/>
                      </a:rPr>
                      <m:t>𝑃</m:t>
                    </m:r>
                  </m:oMath>
                </a14:m>
                <a:r>
                  <a:rPr sz="2800" b="1">
                    <a:solidFill>
                      <a:srgbClr val="15803D"/>
                    </a:solidFill>
                    <a:latin typeface="Arial"/>
                  </a:rPr>
                  <a:t>); (b)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8</m:t>
                        </m:r>
                      </m:num>
                      <m:den>
                        <m:r>
                          <a:rPr lang="en-IN" sz="2800" i="1">
                            <a:solidFill>
                              <a:srgbClr val="15803D"/>
                            </a:solidFill>
                            <a:latin typeface="Cambria Math" panose="02040503050406030204" pitchFamily="18" charset="0"/>
                          </a:rPr>
                          <m:t>3</m:t>
                        </m:r>
                      </m:den>
                    </m:f>
                  </m:oMath>
                </a14:m>
                <a:r>
                  <a:rPr sz="2800" b="1">
                    <a:solidFill>
                      <a:srgbClr val="15803D"/>
                    </a:solidFill>
                    <a:latin typeface="Arial"/>
                  </a:rPr>
                  <a:t>; (c) </a:t>
                </a:r>
                <a14:m>
                  <m:oMath xmlns:m="http://schemas.openxmlformats.org/officeDocument/2006/math">
                    <m:r>
                      <a:rPr lang="en-IN" sz="2800" i="1">
                        <a:solidFill>
                          <a:srgbClr val="15803D"/>
                        </a:solidFill>
                        <a:latin typeface="Cambria Math" panose="02040503050406030204" pitchFamily="18" charset="0"/>
                      </a:rPr>
                      <m:t>4</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shown (tangents have slopes </a:t>
                </a:r>
                <a:r>
                  <a:rPr lang="en-IN" sz="2800">
                    <a:solidFill>
                      <a:srgbClr val="15803D"/>
                    </a:solidFill>
                    <a:latin typeface="Cambria Math" panose="02040503050406030204" pitchFamily="18" charset="0"/>
                  </a:rPr>
                  <a:t>$1$</a:t>
                </a:r>
                <a:r>
                  <a:rPr sz="2800" b="1">
                    <a:solidFill>
                      <a:srgbClr val="15803D"/>
                    </a:solidFill>
                    <a:latin typeface="Arial"/>
                  </a:rPr>
                  <a:t> and </a:t>
                </a:r>
                <a:r>
                  <a:rPr lang="en-IN" sz="2800">
                    <a:solidFill>
                      <a:srgbClr val="15803D"/>
                    </a:solidFill>
                    <a:latin typeface="Cambria Math" panose="02040503050406030204" pitchFamily="18" charset="0"/>
                  </a:rPr>
                  <a:t>$-1$</a:t>
                </a:r>
                <a:r>
                  <a:rPr sz="2800" b="1">
                    <a:solidFill>
                      <a:srgbClr val="15803D"/>
                    </a:solidFill>
                    <a:latin typeface="Arial"/>
                  </a:rPr>
                  <a:t> at </a:t>
                </a:r>
                <a:r>
                  <a:rPr lang="en-IN" sz="2800">
                    <a:solidFill>
                      <a:srgbClr val="15803D"/>
                    </a:solidFill>
                    <a:latin typeface="Cambria Math" panose="02040503050406030204" pitchFamily="18" charset="0"/>
                  </a:rPr>
                  <a:t>$P$</a:t>
                </a:r>
                <a:r>
                  <a:rPr sz="2800" b="1">
                    <a:solidFill>
                      <a:srgbClr val="15803D"/>
                    </a:solidFill>
                    <a:latin typeface="Arial"/>
                  </a:rPr>
                  <a:t>); (b) </a:t>
                </a:r>
                <a:r>
                  <a:rPr lang="en-IN" sz="2800">
                    <a:solidFill>
                      <a:srgbClr val="15803D"/>
                    </a:solidFill>
                    <a:latin typeface="Cambria Math" panose="02040503050406030204" pitchFamily="18" charset="0"/>
                  </a:rPr>
                  <a:t>$\frac83$</a:t>
                </a:r>
                <a:r>
                  <a:rPr sz="2800" b="1">
                    <a:solidFill>
                      <a:srgbClr val="15803D"/>
                    </a:solidFill>
                    <a:latin typeface="Arial"/>
                  </a:rPr>
                  <a:t>; (c) </a:t>
                </a:r>
                <a:r>
                  <a:rPr lang="en-IN" sz="2800">
                    <a:solidFill>
                      <a:srgbClr val="15803D"/>
                    </a:solidFill>
                    <a:latin typeface="Cambria Math" panose="02040503050406030204" pitchFamily="18" charset="0"/>
                  </a:rPr>
                  <a:t>$4$</a:t>
                </a:r>
                <a:endParaRPr sz="2800">
                  <a:solidFill>
                    <a:srgbClr val="15803D"/>
                  </a:solidFill>
                </a:endParaRPr>
              </a:p>
            </p:txBody>
          </p:sp>
        </mc:Fallback>
      </mc:AlternateContent>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curves meeting at a point are orthogonal iff their gradients (normals) are perpendicular there; check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𝑔</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two curves are orthogonal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the normal of one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tangent of the other.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between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and the chord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3</m:t>
                        </m:r>
                      </m:den>
                    </m:f>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𝑎</m:t>
                        </m:r>
                      </m:e>
                    </m:rad>
                    <m:r>
                      <a:rPr lang="en-IN" sz="2400" i="1">
                        <a:solidFill>
                          <a:srgbClr val="111827"/>
                        </a:solidFill>
                        <a:latin typeface="Cambria Math" panose="02040503050406030204" pitchFamily="18" charset="0"/>
                      </a:rPr>
                      <m:t> </m:t>
                    </m:r>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bSup>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Symmetry in the axis of one of the curves carries orthogonality at one common point to the mirror-image common point (here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curves meeting at a point are orthogonal iff their gradients (normals) are perpendicular there; check </a:t>
                </a:r>
                <a:r>
                  <a:rPr lang="en-IN" sz="2400">
                    <a:solidFill>
                      <a:srgbClr val="111827"/>
                    </a:solidFill>
                    <a:latin typeface="Cambria Math" panose="02040503050406030204" pitchFamily="18" charset="0"/>
                  </a:rPr>
                  <a:t>$\nabla f\cdot\nabla g=0$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two curves are orthogonal at </a:t>
                </a:r>
                <a:r>
                  <a:rPr lang="en-IN" sz="2400">
                    <a:solidFill>
                      <a:srgbClr val="111827"/>
                    </a:solidFill>
                    <a:latin typeface="Cambria Math" panose="02040503050406030204" pitchFamily="18" charset="0"/>
                  </a:rPr>
                  <a:t>$P$</a:t>
                </a:r>
                <a:r>
                  <a:rPr sz="2400" b="0">
                    <a:solidFill>
                      <a:srgbClr val="111827"/>
                    </a:solidFill>
                    <a:latin typeface="Arial"/>
                  </a:rPr>
                  <a:t>, the normal of one at </a:t>
                </a:r>
                <a:r>
                  <a:rPr lang="en-IN" sz="2400">
                    <a:solidFill>
                      <a:srgbClr val="111827"/>
                    </a:solidFill>
                    <a:latin typeface="Cambria Math" panose="02040503050406030204" pitchFamily="18" charset="0"/>
                  </a:rPr>
                  <a:t>$P$</a:t>
                </a:r>
                <a:r>
                  <a:rPr sz="2400" b="0">
                    <a:solidFill>
                      <a:srgbClr val="111827"/>
                    </a:solidFill>
                    <a:latin typeface="Arial"/>
                  </a:rPr>
                  <a:t> is the tangent of the other.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between </a:t>
                </a:r>
                <a:r>
                  <a:rPr lang="en-IN" sz="2400">
                    <a:solidFill>
                      <a:srgbClr val="111827"/>
                    </a:solidFill>
                    <a:latin typeface="Cambria Math" panose="02040503050406030204" pitchFamily="18" charset="0"/>
                  </a:rPr>
                  <a:t>$y^2=4ax$</a:t>
                </a:r>
                <a:r>
                  <a:rPr sz="2400" b="0">
                    <a:solidFill>
                      <a:srgbClr val="111827"/>
                    </a:solidFill>
                    <a:latin typeface="Arial"/>
                  </a:rPr>
                  <a:t> and the chord </a:t>
                </a:r>
                <a:r>
                  <a:rPr lang="en-IN" sz="2400">
                    <a:solidFill>
                      <a:srgbClr val="111827"/>
                    </a:solidFill>
                    <a:latin typeface="Cambria Math" panose="02040503050406030204" pitchFamily="18" charset="0"/>
                  </a:rPr>
                  <a:t>$x=x_0$</a:t>
                </a:r>
                <a:r>
                  <a:rPr sz="2400" b="0">
                    <a:solidFill>
                      <a:srgbClr val="111827"/>
                    </a:solidFill>
                    <a:latin typeface="Arial"/>
                  </a:rPr>
                  <a:t> is </a:t>
                </a:r>
                <a:r>
                  <a:rPr lang="en-IN" sz="2400">
                    <a:solidFill>
                      <a:srgbClr val="111827"/>
                    </a:solidFill>
                    <a:latin typeface="Cambria Math" panose="02040503050406030204" pitchFamily="18" charset="0"/>
                  </a:rPr>
                  <a:t>$\frac{8}{3}\sqrt{a}\,x_0^{3/2}$</a:t>
                </a:r>
                <a:r>
                  <a:rPr sz="2400" b="0">
                    <a:solidFill>
                      <a:srgbClr val="111827"/>
                    </a:solidFill>
                    <a:latin typeface="Arial"/>
                  </a:rPr>
                  <a:t> (here </a:t>
                </a:r>
                <a:r>
                  <a:rPr lang="en-IN" sz="2400">
                    <a:solidFill>
                      <a:srgbClr val="111827"/>
                    </a:solidFill>
                    <a:latin typeface="Cambria Math" panose="02040503050406030204" pitchFamily="18" charset="0"/>
                  </a:rPr>
                  <a:t>$a=1,x_0=1$</a:t>
                </a:r>
                <a:r>
                  <a:rPr sz="2400" b="0">
                    <a:solidFill>
                      <a:srgbClr val="111827"/>
                    </a:solidFill>
                    <a:latin typeface="Arial"/>
                  </a:rPr>
                  <a:t> gives </a:t>
                </a:r>
                <a:r>
                  <a:rPr lang="en-IN" sz="2400">
                    <a:solidFill>
                      <a:srgbClr val="111827"/>
                    </a:solidFill>
                    <a:latin typeface="Cambria Math" panose="02040503050406030204" pitchFamily="18" charset="0"/>
                  </a:rPr>
                  <a:t>$\frac83$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Symmetry in the axis of one of the curves carries orthogonality at one common point to the mirror-image common point (here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0868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centre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The tangent at any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on the ellipse meets the coordinate axes at </a:t>
                </a:r>
                <a14:m>
                  <m:oMath xmlns:m="http://schemas.openxmlformats.org/officeDocument/2006/math">
                    <m:r>
                      <a:rPr lang="en-IN" sz="2400" i="1">
                        <a:solidFill>
                          <a:srgbClr val="111827"/>
                        </a:solidFill>
                        <a:latin typeface="Cambria Math" panose="02040503050406030204" pitchFamily="18" charset="0"/>
                      </a:rPr>
                      <m:t>𝑋</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𝑌</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is the foot of the perpendicular from the origin on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Minimum length of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36</m:t>
                    </m:r>
                  </m:oMath>
                </a14:m>
                <a:r>
                  <a:rPr sz="2400" b="0">
                    <a:solidFill>
                      <a:srgbClr val="111827"/>
                    </a:solidFill>
                    <a:latin typeface="Arial"/>
                  </a:rPr>
                  <a:t> and maximum length of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.\n(a) Find the eccentricity of the ellipse.\n(b) Find the maximum area of an isosceles triangle inscribed in the ellipse if one of its vertices coincides with one end of the major axis of the ellipse.\n(c) Find the maximum area of the triangle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40868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ellipse </a:t>
                </a:r>
                <a:r>
                  <a:rPr lang="en-IN" sz="2400">
                    <a:solidFill>
                      <a:srgbClr val="111827"/>
                    </a:solidFill>
                    <a:latin typeface="Cambria Math" panose="02040503050406030204" pitchFamily="18" charset="0"/>
                  </a:rPr>
                  <a:t>$\frac{x^2}{a^2}+\frac{y^2}{b^2}=1$</a:t>
                </a:r>
                <a:r>
                  <a:rPr sz="2400" b="0">
                    <a:solidFill>
                      <a:srgbClr val="111827"/>
                    </a:solidFill>
                    <a:latin typeface="Arial"/>
                  </a:rPr>
                  <a:t> with centre </a:t>
                </a:r>
                <a:r>
                  <a:rPr lang="en-IN" sz="2400">
                    <a:solidFill>
                      <a:srgbClr val="111827"/>
                    </a:solidFill>
                    <a:latin typeface="Cambria Math" panose="02040503050406030204" pitchFamily="18" charset="0"/>
                  </a:rPr>
                  <a:t>$O$</a:t>
                </a:r>
                <a:r>
                  <a:rPr sz="2400" b="0">
                    <a:solidFill>
                      <a:srgbClr val="111827"/>
                    </a:solidFill>
                    <a:latin typeface="Arial"/>
                  </a:rPr>
                  <a:t> where </a:t>
                </a:r>
                <a:r>
                  <a:rPr lang="en-IN" sz="2400">
                    <a:solidFill>
                      <a:srgbClr val="111827"/>
                    </a:solidFill>
                    <a:latin typeface="Cambria Math" panose="02040503050406030204" pitchFamily="18" charset="0"/>
                  </a:rPr>
                  <a:t>$a&gt;b&gt;0$</a:t>
                </a:r>
                <a:r>
                  <a:rPr sz="2400" b="0">
                    <a:solidFill>
                      <a:srgbClr val="111827"/>
                    </a:solidFill>
                    <a:latin typeface="Arial"/>
                  </a:rPr>
                  <a:t>. The tangent at any point </a:t>
                </a:r>
                <a:r>
                  <a:rPr lang="en-IN" sz="2400">
                    <a:solidFill>
                      <a:srgbClr val="111827"/>
                    </a:solidFill>
                    <a:latin typeface="Cambria Math" panose="02040503050406030204" pitchFamily="18" charset="0"/>
                  </a:rPr>
                  <a:t>$P$</a:t>
                </a:r>
                <a:r>
                  <a:rPr sz="2400" b="0">
                    <a:solidFill>
                      <a:srgbClr val="111827"/>
                    </a:solidFill>
                    <a:latin typeface="Arial"/>
                  </a:rPr>
                  <a:t> on the ellipse meets the coordinate axes at </a:t>
                </a:r>
                <a:r>
                  <a:rPr lang="en-IN" sz="2400">
                    <a:solidFill>
                      <a:srgbClr val="111827"/>
                    </a:solidFill>
                    <a:latin typeface="Cambria Math" panose="02040503050406030204" pitchFamily="18" charset="0"/>
                  </a:rPr>
                  <a:t>$X$</a:t>
                </a:r>
                <a:r>
                  <a:rPr sz="2400" b="0">
                    <a:solidFill>
                      <a:srgbClr val="111827"/>
                    </a:solidFill>
                    <a:latin typeface="Arial"/>
                  </a:rPr>
                  <a:t> and </a:t>
                </a:r>
                <a:r>
                  <a:rPr lang="en-IN" sz="2400">
                    <a:solidFill>
                      <a:srgbClr val="111827"/>
                    </a:solidFill>
                    <a:latin typeface="Cambria Math" panose="02040503050406030204" pitchFamily="18" charset="0"/>
                  </a:rPr>
                  <a:t>$Y$</a:t>
                </a:r>
                <a:r>
                  <a:rPr sz="2400" b="0">
                    <a:solidFill>
                      <a:srgbClr val="111827"/>
                    </a:solidFill>
                    <a:latin typeface="Arial"/>
                  </a:rPr>
                  <a:t> and </a:t>
                </a:r>
                <a:r>
                  <a:rPr lang="en-IN" sz="2400">
                    <a:solidFill>
                      <a:srgbClr val="111827"/>
                    </a:solidFill>
                    <a:latin typeface="Cambria Math" panose="02040503050406030204" pitchFamily="18" charset="0"/>
                  </a:rPr>
                  <a:t>$N$</a:t>
                </a:r>
                <a:r>
                  <a:rPr sz="2400" b="0">
                    <a:solidFill>
                      <a:srgbClr val="111827"/>
                    </a:solidFill>
                    <a:latin typeface="Arial"/>
                  </a:rPr>
                  <a:t> is the foot of the perpendicular from the origin on the tangent at </a:t>
                </a:r>
                <a:r>
                  <a:rPr lang="en-IN" sz="2400">
                    <a:solidFill>
                      <a:srgbClr val="111827"/>
                    </a:solidFill>
                    <a:latin typeface="Cambria Math" panose="02040503050406030204" pitchFamily="18" charset="0"/>
                  </a:rPr>
                  <a:t>$P$</a:t>
                </a:r>
                <a:r>
                  <a:rPr sz="2400" b="0">
                    <a:solidFill>
                      <a:srgbClr val="111827"/>
                    </a:solidFill>
                    <a:latin typeface="Arial"/>
                  </a:rPr>
                  <a:t>. Minimum length of </a:t>
                </a:r>
                <a:r>
                  <a:rPr lang="en-IN" sz="2400">
                    <a:solidFill>
                      <a:srgbClr val="111827"/>
                    </a:solidFill>
                    <a:latin typeface="Cambria Math" panose="02040503050406030204" pitchFamily="18" charset="0"/>
                  </a:rPr>
                  <a:t>$XY$</a:t>
                </a:r>
                <a:r>
                  <a:rPr sz="2400" b="0">
                    <a:solidFill>
                      <a:srgbClr val="111827"/>
                    </a:solidFill>
                    <a:latin typeface="Arial"/>
                  </a:rPr>
                  <a:t> is </a:t>
                </a:r>
                <a:r>
                  <a:rPr lang="en-IN" sz="2400">
                    <a:solidFill>
                      <a:srgbClr val="111827"/>
                    </a:solidFill>
                    <a:latin typeface="Cambria Math" panose="02040503050406030204" pitchFamily="18" charset="0"/>
                  </a:rPr>
                  <a:t>$36$</a:t>
                </a:r>
                <a:r>
                  <a:rPr sz="2400" b="0">
                    <a:solidFill>
                      <a:srgbClr val="111827"/>
                    </a:solidFill>
                    <a:latin typeface="Arial"/>
                  </a:rPr>
                  <a:t> and maximum length of </a:t>
                </a:r>
                <a:r>
                  <a:rPr lang="en-IN" sz="2400">
                    <a:solidFill>
                      <a:srgbClr val="111827"/>
                    </a:solidFill>
                    <a:latin typeface="Cambria Math" panose="02040503050406030204" pitchFamily="18" charset="0"/>
                  </a:rPr>
                  <a:t>$PN$</a:t>
                </a:r>
                <a:r>
                  <a:rPr sz="2400" b="0">
                    <a:solidFill>
                      <a:srgbClr val="111827"/>
                    </a:solidFill>
                    <a:latin typeface="Arial"/>
                  </a:rPr>
                  <a:t> is </a:t>
                </a:r>
                <a:r>
                  <a:rPr lang="en-IN" sz="2400">
                    <a:solidFill>
                      <a:srgbClr val="111827"/>
                    </a:solidFill>
                    <a:latin typeface="Cambria Math" panose="02040503050406030204" pitchFamily="18" charset="0"/>
                  </a:rPr>
                  <a:t>$4$</a:t>
                </a:r>
                <a:r>
                  <a:rPr sz="2400" b="0">
                    <a:solidFill>
                      <a:srgbClr val="111827"/>
                    </a:solidFill>
                    <a:latin typeface="Arial"/>
                  </a:rPr>
                  <a:t>.\n(a) Find the eccentricity of the ellipse.\n(b) Find the maximum area of an isosceles triangle inscribed in the ellipse if one of its vertices coincides with one end of the major axis of the ellipse.\n(c) Find the maximum area of the triangle </a:t>
                </a:r>
                <a:r>
                  <a:rPr lang="en-IN" sz="2400">
                    <a:solidFill>
                      <a:srgbClr val="111827"/>
                    </a:solidFill>
                    <a:latin typeface="Cambria Math" panose="02040503050406030204" pitchFamily="18" charset="0"/>
                  </a:rPr>
                  <a:t>$OPN$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to an ellipse (intercepts and perpendicular from the centre), Maximum and minimum values (AM-GM), Area of an inscribed triangle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𝑋</m:t>
                    </m:r>
                    <m:sSup>
                      <m:e>
                        <m:r>
                          <a:rPr lang="en-IN" sz="2400" i="1">
                            <a:solidFill>
                              <a:srgbClr val="78350F"/>
                            </a:solidFill>
                            <a:latin typeface="Cambria Math" panose="02040503050406030204" pitchFamily="18" charset="0"/>
                          </a:rPr>
                          <m:t>𝑌</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sSup>
                      <m:e>
                        <m:r>
                          <m:rPr>
                            <m:sty m:val="p"/>
                          </m:rPr>
                          <a:rPr lang="en-IN" sz="2400">
                            <a:solidFill>
                              <a:srgbClr val="78350F"/>
                            </a:solidFill>
                            <a:latin typeface="Cambria Math" panose="02040503050406030204" pitchFamily="18" charset="0"/>
                          </a:rPr>
                          <m:t>tan</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sSup>
                      <m:e>
                        <m:r>
                          <m:rPr>
                            <m:sty m:val="p"/>
                          </m:rPr>
                          <a:rPr lang="en-IN" sz="2400">
                            <a:solidFill>
                              <a:srgbClr val="78350F"/>
                            </a:solidFill>
                            <a:latin typeface="Cambria Math" panose="02040503050406030204" pitchFamily="18" charset="0"/>
                          </a:rPr>
                          <m:t>cot</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𝑁</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num>
                      <m:den>
                        <m:r>
                          <a:rPr lang="en-IN" sz="2400" i="1">
                            <a:solidFill>
                              <a:srgbClr val="78350F"/>
                            </a:solidFill>
                            <a:latin typeface="Cambria Math" panose="02040503050406030204" pitchFamily="18" charset="0"/>
                          </a:rPr>
                          <m:t>𝑋</m:t>
                        </m:r>
                        <m:r>
                          <a:rPr lang="en-IN" sz="2400" i="1">
                            <a:solidFill>
                              <a:srgbClr val="78350F"/>
                            </a:solidFill>
                            <a:latin typeface="Cambria Math" panose="02040503050406030204" pitchFamily="18" charset="0"/>
                          </a:rPr>
                          <m:t>𝑌</m:t>
                        </m:r>
                      </m:den>
                    </m:f>
                  </m:oMath>
                </a14:m>
                <a:r>
                  <a:rPr sz="2400" b="0">
                    <a:solidFill>
                      <a:srgbClr val="78350F"/>
                    </a:solidFill>
                    <a:latin typeface="Arial"/>
                  </a:rPr>
                  <a:t> (since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𝑁</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𝑀</m:t>
                    </m:r>
                  </m:oMath>
                </a14:m>
                <a:r>
                  <a:rPr sz="2400" b="0">
                    <a:solidFill>
                      <a:srgbClr val="78350F"/>
                    </a:solidFill>
                    <a:latin typeface="Arial"/>
                  </a:rPr>
                  <a:t> is a rectangle), so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36</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$XY^2=a^2+b^2+a^2\tan^2\theta+b^2\cot^2\theta\ge(a+b)^2$</a:t>
                </a:r>
                <a:r>
                  <a:rPr sz="2400" b="0">
                    <a:solidFill>
                      <a:srgbClr val="78350F"/>
                    </a:solidFill>
                    <a:latin typeface="Arial"/>
                  </a:rPr>
                  <a:t>, and </a:t>
                </a:r>
                <a:r>
                  <a:rPr lang="en-IN" sz="2400">
                    <a:solidFill>
                      <a:srgbClr val="78350F"/>
                    </a:solidFill>
                    <a:latin typeface="Cambria Math" panose="02040503050406030204" pitchFamily="18" charset="0"/>
                  </a:rPr>
                  <a:t>$PN=\frac{a^2-b^2}{XY}$</a:t>
                </a:r>
                <a:r>
                  <a:rPr sz="2400" b="0">
                    <a:solidFill>
                      <a:srgbClr val="78350F"/>
                    </a:solidFill>
                    <a:latin typeface="Arial"/>
                  </a:rPr>
                  <a:t> (since </a:t>
                </a:r>
                <a:r>
                  <a:rPr lang="en-IN" sz="2400">
                    <a:solidFill>
                      <a:srgbClr val="78350F"/>
                    </a:solidFill>
                    <a:latin typeface="Cambria Math" panose="02040503050406030204" pitchFamily="18" charset="0"/>
                  </a:rPr>
                  <a:t>$ONPM$</a:t>
                </a:r>
                <a:r>
                  <a:rPr sz="2400" b="0">
                    <a:solidFill>
                      <a:srgbClr val="78350F"/>
                    </a:solidFill>
                    <a:latin typeface="Arial"/>
                  </a:rPr>
                  <a:t> is a rectangle), so </a:t>
                </a:r>
                <a:r>
                  <a:rPr lang="en-IN" sz="2400">
                    <a:solidFill>
                      <a:srgbClr val="78350F"/>
                    </a:solidFill>
                    <a:latin typeface="Cambria Math" panose="02040503050406030204" pitchFamily="18" charset="0"/>
                  </a:rPr>
                  <a:t>$a+b=36$</a:t>
                </a:r>
                <a:r>
                  <a:rPr sz="2400" b="0">
                    <a:solidFill>
                      <a:srgbClr val="78350F"/>
                    </a:solidFill>
                    <a:latin typeface="Arial"/>
                  </a:rPr>
                  <a:t> and </a:t>
                </a:r>
                <a:r>
                  <a:rPr lang="en-IN" sz="2400">
                    <a:solidFill>
                      <a:srgbClr val="78350F"/>
                    </a:solidFill>
                    <a:latin typeface="Cambria Math" panose="02040503050406030204" pitchFamily="18" charset="0"/>
                  </a:rPr>
                  <a:t>$a-b=4$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13960"/>
                <a:ext cx="10725912" cy="16611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cosec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13960"/>
                <a:ext cx="10725912" cy="16611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$P(a\cos\theta,b\sin\theta)$</a:t>
                </a:r>
                <a:r>
                  <a:rPr sz="2400" b="0">
                    <a:solidFill>
                      <a:srgbClr val="111827"/>
                    </a:solidFill>
                    <a:latin typeface="Arial"/>
                  </a:rPr>
                  <a:t>: </a:t>
                </a:r>
                <a:r>
                  <a:rPr lang="en-IN" sz="2400">
                    <a:solidFill>
                      <a:srgbClr val="111827"/>
                    </a:solidFill>
                    <a:latin typeface="Cambria Math" panose="02040503050406030204" pitchFamily="18" charset="0"/>
                  </a:rPr>
                  <a:t>$\frac xa\cos\theta+\frac yb\sin\theta=1$</a:t>
                </a:r>
                <a:r>
                  <a:rPr sz="2400" b="0">
                    <a:solidFill>
                      <a:srgbClr val="111827"/>
                    </a:solidFill>
                    <a:latin typeface="Arial"/>
                  </a:rPr>
                  <a:t>, so </a:t>
                </a:r>
                <a:r>
                  <a:rPr lang="en-IN" sz="2400">
                    <a:solidFill>
                      <a:srgbClr val="111827"/>
                    </a:solidFill>
                    <a:latin typeface="Cambria Math" panose="02040503050406030204" pitchFamily="18" charset="0"/>
                  </a:rPr>
                  <a:t>$X(a\sec\theta,0)$</a:t>
                </a:r>
                <a:r>
                  <a:rPr sz="2400" b="0">
                    <a:solidFill>
                      <a:srgbClr val="111827"/>
                    </a:solidFill>
                    <a:latin typeface="Arial"/>
                  </a:rPr>
                  <a:t> and </a:t>
                </a:r>
                <a:r>
                  <a:rPr lang="en-IN" sz="2400">
                    <a:solidFill>
                      <a:srgbClr val="111827"/>
                    </a:solidFill>
                    <a:latin typeface="Cambria Math" panose="02040503050406030204" pitchFamily="18" charset="0"/>
                  </a:rPr>
                  <a:t>$Y(0,b\operatorname{cosec}\theta)$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𝑋</m:t>
                    </m:r>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cot</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AM-GM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cot</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sSub>
                      <m:e>
                        <m:r>
                          <m:rPr>
                            <m:sty m:val="p"/>
                          </m:rPr>
                          <a:rPr lang="en-IN" sz="2400">
                            <a:solidFill>
                              <a:srgbClr val="111827"/>
                            </a:solidFill>
                            <a:latin typeface="Cambria Math" panose="02040503050406030204" pitchFamily="18" charset="0"/>
                          </a:rPr>
                          <m:t>)</m:t>
                        </m:r>
                      </m:e>
                      <m:sub>
                        <m:r>
                          <m:rPr>
                            <m:sty m:val="p"/>
                          </m:rPr>
                          <a:rPr lang="en-IN" sz="2400">
                            <a:solidFill>
                              <a:srgbClr val="111827"/>
                            </a:solidFill>
                            <a:latin typeface="Cambria Math" panose="02040503050406030204" pitchFamily="18" charset="0"/>
                          </a:rPr>
                          <m:t>min</m:t>
                        </m:r>
                      </m:sub>
                    </m:sSub>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cosec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be the foot of the perpendicular from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on the normal;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oMath>
                </a14:m>
                <a:r>
                  <a:rPr sz="2400" b="0">
                    <a:solidFill>
                      <a:srgbClr val="111827"/>
                    </a:solidFill>
                    <a:latin typeface="Arial"/>
                  </a:rPr>
                  <a:t> is a rectangle (tangent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normal), so </a:t>
                </a:r>
                <a14:m>
                  <m:oMath xmlns:m="http://schemas.openxmlformats.org/officeDocument/2006/math">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den>
                    </m:f>
                  </m:oMath>
                </a14:m>
                <a:r>
                  <a:rPr sz="2400" b="0">
                    <a:solidFill>
                      <a:srgbClr val="111827"/>
                    </a:solidFill>
                    <a:latin typeface="Arial"/>
                  </a:rPr>
                  <a:t>, which is largest when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oMath>
                </a14:m>
                <a:r>
                  <a:rPr sz="2400" b="0">
                    <a:solidFill>
                      <a:srgbClr val="111827"/>
                    </a:solidFill>
                    <a:latin typeface="Arial"/>
                  </a:rPr>
                  <a:t> is least: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𝑃</m:t>
                    </m:r>
                    <m:sSub>
                      <m:e>
                        <m:r>
                          <m:rPr>
                            <m:sty m:val="p"/>
                          </m:rPr>
                          <a:rPr lang="en-IN" sz="2400">
                            <a:solidFill>
                              <a:srgbClr val="111827"/>
                            </a:solidFill>
                            <a:latin typeface="Cambria Math" panose="02040503050406030204" pitchFamily="18" charset="0"/>
                          </a:rPr>
                          <m:t>)</m:t>
                        </m:r>
                      </m:e>
                      <m:sub>
                        <m:r>
                          <m:rPr>
                            <m:sty m:val="p"/>
                          </m:rPr>
                          <a:rPr lang="en-IN" sz="2400">
                            <a:solidFill>
                              <a:srgbClr val="111827"/>
                            </a:solidFill>
                            <a:latin typeface="Cambria Math" panose="02040503050406030204" pitchFamily="18" charset="0"/>
                          </a:rPr>
                          <m:t>max</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and (2):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16</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20</m:t>
                                </m:r>
                              </m:e>
                              <m:sup>
                                <m:r>
                                  <a:rPr lang="en-IN" sz="2400" i="1">
                                    <a:solidFill>
                                      <a:srgbClr val="111827"/>
                                    </a:solidFill>
                                    <a:latin typeface="Cambria Math" panose="02040503050406030204" pitchFamily="18" charset="0"/>
                                  </a:rPr>
                                  <m:t>2</m:t>
                                </m:r>
                              </m:sup>
                            </m:sSup>
                          </m:den>
                        </m:f>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$XY^2=a^2\sec^2\theta+b^2\operatorname{cosec}^2\theta=a^2+b^2+a^2\tan^2\theta+b^2\cot^2\theta$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AM-GM </a:t>
                </a:r>
                <a:r>
                  <a:rPr lang="en-IN" sz="2400">
                    <a:solidFill>
                      <a:srgbClr val="111827"/>
                    </a:solidFill>
                    <a:latin typeface="Cambria Math" panose="02040503050406030204" pitchFamily="18" charset="0"/>
                  </a:rPr>
                  <a:t>$a^2\tan^2\theta+b^2\cot^2\theta\ge2ab$</a:t>
                </a:r>
                <a:r>
                  <a:rPr sz="2400" b="0">
                    <a:solidFill>
                      <a:srgbClr val="111827"/>
                    </a:solidFill>
                    <a:latin typeface="Arial"/>
                  </a:rPr>
                  <a:t>, so </a:t>
                </a:r>
                <a:r>
                  <a:rPr lang="en-IN" sz="2400">
                    <a:solidFill>
                      <a:srgbClr val="111827"/>
                    </a:solidFill>
                    <a:latin typeface="Cambria Math" panose="02040503050406030204" pitchFamily="18" charset="0"/>
                  </a:rPr>
                  <a:t>$(XY)_{\min}=\sqrt{(a+b)^2}=a+b=36$</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$ax\sec\theta-by\operatorname{cosec}\theta=a^2-b^2$</a:t>
                </a:r>
                <a:r>
                  <a:rPr sz="2400" b="0">
                    <a:solidFill>
                      <a:srgbClr val="111827"/>
                    </a:solidFill>
                    <a:latin typeface="Arial"/>
                  </a:rPr>
                  <a:t>. Let </a:t>
                </a:r>
                <a:r>
                  <a:rPr lang="en-IN" sz="2400">
                    <a:solidFill>
                      <a:srgbClr val="111827"/>
                    </a:solidFill>
                    <a:latin typeface="Cambria Math" panose="02040503050406030204" pitchFamily="18" charset="0"/>
                  </a:rPr>
                  <a:t>$M$</a:t>
                </a:r>
                <a:r>
                  <a:rPr sz="2400" b="0">
                    <a:solidFill>
                      <a:srgbClr val="111827"/>
                    </a:solidFill>
                    <a:latin typeface="Arial"/>
                  </a:rPr>
                  <a:t> be the foot of the perpendicular from </a:t>
                </a:r>
                <a:r>
                  <a:rPr lang="en-IN" sz="2400">
                    <a:solidFill>
                      <a:srgbClr val="111827"/>
                    </a:solidFill>
                    <a:latin typeface="Cambria Math" panose="02040503050406030204" pitchFamily="18" charset="0"/>
                  </a:rPr>
                  <a:t>$O$</a:t>
                </a:r>
                <a:r>
                  <a:rPr sz="2400" b="0">
                    <a:solidFill>
                      <a:srgbClr val="111827"/>
                    </a:solidFill>
                    <a:latin typeface="Arial"/>
                  </a:rPr>
                  <a:t> on the normal; </a:t>
                </a:r>
                <a:r>
                  <a:rPr lang="en-IN" sz="2400">
                    <a:solidFill>
                      <a:srgbClr val="111827"/>
                    </a:solidFill>
                    <a:latin typeface="Cambria Math" panose="02040503050406030204" pitchFamily="18" charset="0"/>
                  </a:rPr>
                  <a:t>$ONPM$</a:t>
                </a:r>
                <a:r>
                  <a:rPr sz="2400" b="0">
                    <a:solidFill>
                      <a:srgbClr val="111827"/>
                    </a:solidFill>
                    <a:latin typeface="Arial"/>
                  </a:rPr>
                  <a:t> is a rectangle (tangent </a:t>
                </a:r>
                <a:r>
                  <a:rPr lang="en-IN" sz="2400">
                    <a:solidFill>
                      <a:srgbClr val="111827"/>
                    </a:solidFill>
                    <a:latin typeface="Cambria Math" panose="02040503050406030204" pitchFamily="18" charset="0"/>
                  </a:rPr>
                  <a:t>$\perp$</a:t>
                </a:r>
                <a:r>
                  <a:rPr sz="2400" b="0">
                    <a:solidFill>
                      <a:srgbClr val="111827"/>
                    </a:solidFill>
                    <a:latin typeface="Arial"/>
                  </a:rPr>
                  <a:t> normal), so </a:t>
                </a:r>
                <a:r>
                  <a:rPr lang="en-IN" sz="2400">
                    <a:solidFill>
                      <a:srgbClr val="111827"/>
                    </a:solidFill>
                    <a:latin typeface="Cambria Math" panose="02040503050406030204" pitchFamily="18" charset="0"/>
                  </a:rPr>
                  <a:t>$NP=OM$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$NP=OM=\frac{a^2-b^2}{\sqrt{a^2\sec^2\theta+b^2\operatorname{cosec}^2\theta}}=\frac{a^2-b^2}{XY}$</a:t>
                </a:r>
                <a:r>
                  <a:rPr sz="2400" b="0">
                    <a:solidFill>
                      <a:srgbClr val="111827"/>
                    </a:solidFill>
                    <a:latin typeface="Arial"/>
                  </a:rPr>
                  <a:t>, which is largest when </a:t>
                </a:r>
                <a:r>
                  <a:rPr lang="en-IN" sz="2400">
                    <a:solidFill>
                      <a:srgbClr val="111827"/>
                    </a:solidFill>
                    <a:latin typeface="Cambria Math" panose="02040503050406030204" pitchFamily="18" charset="0"/>
                  </a:rPr>
                  <a:t>$XY$</a:t>
                </a:r>
                <a:r>
                  <a:rPr sz="2400" b="0">
                    <a:solidFill>
                      <a:srgbClr val="111827"/>
                    </a:solidFill>
                    <a:latin typeface="Arial"/>
                  </a:rPr>
                  <a:t> is least: </a:t>
                </a:r>
                <a:r>
                  <a:rPr lang="en-IN" sz="2400">
                    <a:solidFill>
                      <a:srgbClr val="111827"/>
                    </a:solidFill>
                    <a:latin typeface="Cambria Math" panose="02040503050406030204" pitchFamily="18" charset="0"/>
                  </a:rPr>
                  <a:t>$(NP)_{\max}=\frac{a^2-b^2}{a+b}=a-b=4$</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and (2): </a:t>
                </a:r>
                <a:r>
                  <a:rPr lang="en-IN" sz="2400">
                    <a:solidFill>
                      <a:srgbClr val="111827"/>
                    </a:solidFill>
                    <a:latin typeface="Cambria Math" panose="02040503050406030204" pitchFamily="18" charset="0"/>
                  </a:rPr>
                  <a:t>$a=20,\ b=16$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$e=\sqrt{1-\frac{16^2}{20^2}}=\frac35$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Take the apex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base joins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base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 height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Area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 ....(3).</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𝐴</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(the maximum).</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𝐴</m:t>
                        </m:r>
                      </m:e>
                      <m:sub>
                        <m:r>
                          <m:rPr>
                            <m:sty m:val="p"/>
                          </m:rPr>
                          <a:rPr lang="en-IN" sz="2400">
                            <a:solidFill>
                              <a:srgbClr val="111827"/>
                            </a:solidFill>
                            <a:latin typeface="Cambria Math" panose="02040503050406030204" pitchFamily="18" charset="0"/>
                          </a:rPr>
                          <m:t>max</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oMath>
                </a14:m>
                <a:r>
                  <a:rPr sz="2400" b="0">
                    <a:solidFill>
                      <a:srgbClr val="111827"/>
                    </a:solidFill>
                    <a:latin typeface="Arial"/>
                  </a:rPr>
                  <a:t> is right-angled at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𝑃</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e>
                        </m:rad>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e>
                        </m:rad>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Take the apex at </a:t>
                </a:r>
                <a:r>
                  <a:rPr lang="en-IN" sz="2400">
                    <a:solidFill>
                      <a:srgbClr val="111827"/>
                    </a:solidFill>
                    <a:latin typeface="Cambria Math" panose="02040503050406030204" pitchFamily="18" charset="0"/>
                  </a:rPr>
                  <a:t>$(20,0)$</a:t>
                </a:r>
                <a:r>
                  <a:rPr sz="2400" b="0">
                    <a:solidFill>
                      <a:srgbClr val="111827"/>
                    </a:solidFill>
                    <a:latin typeface="Arial"/>
                  </a:rPr>
                  <a:t>; the base joins </a:t>
                </a:r>
                <a:r>
                  <a:rPr lang="en-IN" sz="2400">
                    <a:solidFill>
                      <a:srgbClr val="111827"/>
                    </a:solidFill>
                    <a:latin typeface="Cambria Math" panose="02040503050406030204" pitchFamily="18" charset="0"/>
                  </a:rPr>
                  <a:t>$(20\cos\theta,\pm16\sin\theta)$</a:t>
                </a:r>
                <a:r>
                  <a:rPr sz="2400" b="0">
                    <a:solidFill>
                      <a:srgbClr val="111827"/>
                    </a:solidFill>
                    <a:latin typeface="Arial"/>
                  </a:rPr>
                  <a:t> with </a:t>
                </a:r>
                <a:r>
                  <a:rPr lang="en-IN" sz="2400">
                    <a:solidFill>
                      <a:srgbClr val="111827"/>
                    </a:solidFill>
                    <a:latin typeface="Cambria Math" panose="02040503050406030204" pitchFamily="18" charset="0"/>
                  </a:rPr>
                  <a:t>$\theta\in(0,\pi)$</a:t>
                </a:r>
                <a:r>
                  <a:rPr sz="2400" b="0">
                    <a:solidFill>
                      <a:srgbClr val="111827"/>
                    </a:solidFill>
                    <a:latin typeface="Arial"/>
                  </a:rPr>
                  <a:t>: base </a:t>
                </a:r>
                <a:r>
                  <a:rPr lang="en-IN" sz="2400">
                    <a:solidFill>
                      <a:srgbClr val="111827"/>
                    </a:solidFill>
                    <a:latin typeface="Cambria Math" panose="02040503050406030204" pitchFamily="18" charset="0"/>
                  </a:rPr>
                  <a:t>$=32\sin\theta$</a:t>
                </a:r>
                <a:r>
                  <a:rPr sz="2400" b="0">
                    <a:solidFill>
                      <a:srgbClr val="111827"/>
                    </a:solidFill>
                    <a:latin typeface="Arial"/>
                  </a:rPr>
                  <a:t>, height </a:t>
                </a:r>
                <a:r>
                  <a:rPr lang="en-IN" sz="2400">
                    <a:solidFill>
                      <a:srgbClr val="111827"/>
                    </a:solidFill>
                    <a:latin typeface="Cambria Math" panose="02040503050406030204" pitchFamily="18" charset="0"/>
                  </a:rPr>
                  <a:t>$=20-20\cos\theta$</a:t>
                </a:r>
                <a:r>
                  <a:rPr sz="2400" b="0">
                    <a:solidFill>
                      <a:srgbClr val="111827"/>
                    </a:solidFill>
                    <a:latin typeface="Arial"/>
                  </a:rPr>
                  <a:t>. Area </a:t>
                </a:r>
                <a:r>
                  <a:rPr lang="en-IN" sz="2400">
                    <a:solidFill>
                      <a:srgbClr val="111827"/>
                    </a:solidFill>
                    <a:latin typeface="Cambria Math" panose="02040503050406030204" pitchFamily="18" charset="0"/>
                  </a:rPr>
                  <a:t>$A=\frac12\cdot20(1-\cos\theta)\cdot32\sin\theta=320(1-\cos\theta)\sin\theta$</a:t>
                </a:r>
                <a:r>
                  <a:rPr sz="2400" b="0">
                    <a:solidFill>
                      <a:srgbClr val="111827"/>
                    </a:solidFill>
                    <a:latin typeface="Arial"/>
                  </a:rPr>
                  <a:t> ....(3).</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$\frac{dA}{d\theta}=320(1-\cos\theta)(1+2\cos\theta)=0$</a:t>
                </a:r>
                <a:r>
                  <a:rPr sz="2400" b="0">
                    <a:solidFill>
                      <a:srgbClr val="111827"/>
                    </a:solidFill>
                    <a:latin typeface="Arial"/>
                  </a:rPr>
                  <a:t> gives </a:t>
                </a:r>
                <a:r>
                  <a:rPr lang="en-IN" sz="2400">
                    <a:solidFill>
                      <a:srgbClr val="111827"/>
                    </a:solidFill>
                    <a:latin typeface="Cambria Math" panose="02040503050406030204" pitchFamily="18" charset="0"/>
                  </a:rPr>
                  <a:t>$\cos\theta=-\frac12$</a:t>
                </a:r>
                <a:r>
                  <a:rPr sz="2400" b="0">
                    <a:solidFill>
                      <a:srgbClr val="111827"/>
                    </a:solidFill>
                    <a:latin typeface="Arial"/>
                  </a:rPr>
                  <a:t>, i.e. </a:t>
                </a:r>
                <a:r>
                  <a:rPr lang="en-IN" sz="2400">
                    <a:solidFill>
                      <a:srgbClr val="111827"/>
                    </a:solidFill>
                    <a:latin typeface="Cambria Math" panose="02040503050406030204" pitchFamily="18" charset="0"/>
                  </a:rPr>
                  <a:t>$\theta=\frac{2\pi}{3}$</a:t>
                </a:r>
                <a:r>
                  <a:rPr sz="2400" b="0">
                    <a:solidFill>
                      <a:srgbClr val="111827"/>
                    </a:solidFill>
                    <a:latin typeface="Arial"/>
                  </a:rPr>
                  <a:t> (the maximum).</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$A_{\max}=320\left(1+\frac12\right)\frac{\sqrt3}{2}=240\sqrt3$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$\triangle OPN$</a:t>
                </a:r>
                <a:r>
                  <a:rPr sz="2400" b="0">
                    <a:solidFill>
                      <a:srgbClr val="111827"/>
                    </a:solidFill>
                    <a:latin typeface="Arial"/>
                  </a:rPr>
                  <a:t> is right-angled at </a:t>
                </a:r>
                <a:r>
                  <a:rPr lang="en-IN" sz="2400">
                    <a:solidFill>
                      <a:srgbClr val="111827"/>
                    </a:solidFill>
                    <a:latin typeface="Cambria Math" panose="02040503050406030204" pitchFamily="18" charset="0"/>
                  </a:rPr>
                  <a:t>$N$</a:t>
                </a:r>
                <a:r>
                  <a:rPr sz="2400" b="0">
                    <a:solidFill>
                      <a:srgbClr val="111827"/>
                    </a:solidFill>
                    <a:latin typeface="Arial"/>
                  </a:rPr>
                  <a:t>: area </a:t>
                </a:r>
                <a:r>
                  <a:rPr lang="en-IN" sz="2400">
                    <a:solidFill>
                      <a:srgbClr val="111827"/>
                    </a:solidFill>
                    <a:latin typeface="Cambria Math" panose="02040503050406030204" pitchFamily="18" charset="0"/>
                  </a:rPr>
                  <a:t>$=\frac12ON\cdot NP$</a:t>
                </a:r>
                <a:r>
                  <a:rPr sz="2400" b="0">
                    <a:solidFill>
                      <a:srgbClr val="111827"/>
                    </a:solidFill>
                    <a:latin typeface="Arial"/>
                  </a:rPr>
                  <a:t>, with </a:t>
                </a:r>
                <a:r>
                  <a:rPr lang="en-IN" sz="2400">
                    <a:solidFill>
                      <a:srgbClr val="111827"/>
                    </a:solidFill>
                    <a:latin typeface="Cambria Math" panose="02040503050406030204" pitchFamily="18" charset="0"/>
                  </a:rPr>
                  <a:t>$ON=\frac{ab}{\sqrt{b^2\cos^2\theta+a^2\sin^2\theta}}$</a:t>
                </a:r>
                <a:r>
                  <a:rPr sz="2400" b="0">
                    <a:solidFill>
                      <a:srgbClr val="111827"/>
                    </a:solidFill>
                    <a:latin typeface="Arial"/>
                  </a:rPr>
                  <a:t> and </a:t>
                </a:r>
                <a:r>
                  <a:rPr lang="en-IN" sz="2400">
                    <a:solidFill>
                      <a:srgbClr val="111827"/>
                    </a:solidFill>
                    <a:latin typeface="Cambria Math" panose="02040503050406030204" pitchFamily="18" charset="0"/>
                  </a:rPr>
                  <a:t>$NP=\frac{a^2-b^2}{\sqrt{a^2\sec^2\theta+b^2\operatorname{cosec}^2\theta}}$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cot</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cot</m:t>
                        </m:r>
                        <m:r>
                          <a:rPr lang="en-IN" sz="2400" i="1">
                            <a:solidFill>
                              <a:srgbClr val="111827"/>
                            </a:solidFill>
                            <a:latin typeface="Cambria Math" panose="02040503050406030204" pitchFamily="18" charset="0"/>
                          </a:rPr>
                          <m:t>θ</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in the first quadrant,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so </a:t>
                </a:r>
                <a14:m>
                  <m:oMath xmlns:m="http://schemas.openxmlformats.org/officeDocument/2006/math">
                    <m:sSub>
                      <m:e>
                        <m:r>
                          <m:rPr>
                            <m:sty m:val="p"/>
                          </m:rPr>
                          <a:rPr lang="en-IN" sz="2400">
                            <a:solidFill>
                              <a:srgbClr val="111827"/>
                            </a:solidFill>
                            <a:latin typeface="Cambria Math" panose="02040503050406030204" pitchFamily="18" charset="0"/>
                          </a:rPr>
                          <m:t>Δ</m:t>
                        </m:r>
                      </m:e>
                      <m:sub>
                        <m:r>
                          <m:rPr>
                            <m:sty m:val="p"/>
                          </m:rPr>
                          <a:rPr lang="en-IN" sz="2400">
                            <a:solidFill>
                              <a:srgbClr val="111827"/>
                            </a:solidFill>
                            <a:latin typeface="Cambria Math" panose="02040503050406030204" pitchFamily="18" charset="0"/>
                          </a:rPr>
                          <m:t>max</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$(b^2\cos^2\theta+a^2\sin^2\theta)(a^2\sec^2\theta+b^2\operatorname{cosec}^2\theta)=(a^2\tan\theta+b^2\cot\theta)^2$</a:t>
                </a:r>
                <a:r>
                  <a:rPr sz="2400" b="0">
                    <a:solidFill>
                      <a:srgbClr val="111827"/>
                    </a:solidFill>
                    <a:latin typeface="Arial"/>
                  </a:rPr>
                  <a:t>: </a:t>
                </a:r>
                <a:r>
                  <a:rPr lang="en-IN" sz="2400">
                    <a:solidFill>
                      <a:srgbClr val="111827"/>
                    </a:solidFill>
                    <a:latin typeface="Cambria Math" panose="02040503050406030204" pitchFamily="18" charset="0"/>
                  </a:rPr>
                  <a:t>$\Delta=\frac12\cdot\frac{ab(a^2-b^2)}{a^2\tan\theta+b^2\cot\theta}$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$\theta$</a:t>
                </a:r>
                <a:r>
                  <a:rPr sz="2400" b="0">
                    <a:solidFill>
                      <a:srgbClr val="111827"/>
                    </a:solidFill>
                    <a:latin typeface="Arial"/>
                  </a:rPr>
                  <a:t> in the first quadrant, </a:t>
                </a:r>
                <a:r>
                  <a:rPr lang="en-IN" sz="2400">
                    <a:solidFill>
                      <a:srgbClr val="111827"/>
                    </a:solidFill>
                    <a:latin typeface="Cambria Math" panose="02040503050406030204" pitchFamily="18" charset="0"/>
                  </a:rPr>
                  <a:t>$a^2\tan\theta+b^2\cot\theta\ge2ab$</a:t>
                </a:r>
                <a:r>
                  <a:rPr sz="2400" b="0">
                    <a:solidFill>
                      <a:srgbClr val="111827"/>
                    </a:solidFill>
                    <a:latin typeface="Arial"/>
                  </a:rPr>
                  <a:t>, so </a:t>
                </a:r>
                <a:r>
                  <a:rPr lang="en-IN" sz="2400">
                    <a:solidFill>
                      <a:srgbClr val="111827"/>
                    </a:solidFill>
                    <a:latin typeface="Cambria Math" panose="02040503050406030204" pitchFamily="18" charset="0"/>
                  </a:rPr>
                  <a:t>$\Delta_{\max}=\frac12\cdot\frac{ab(a^2-b^2)}{2ab}=\frac{a^2-b^2}{4}=\frac{400-256}{4}=36$</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5</m:t>
                        </m:r>
                      </m:den>
                    </m:f>
                  </m:oMath>
                </a14:m>
                <a:r>
                  <a:rPr sz="2800" b="1">
                    <a:solidFill>
                      <a:srgbClr val="15803D"/>
                    </a:solidFill>
                    <a:latin typeface="Arial"/>
                  </a:rPr>
                  <a:t>; (b) </a:t>
                </a:r>
                <a14:m>
                  <m:oMath xmlns:m="http://schemas.openxmlformats.org/officeDocument/2006/math">
                    <m:r>
                      <a:rPr lang="en-IN" sz="2800" i="1">
                        <a:solidFill>
                          <a:srgbClr val="15803D"/>
                        </a:solidFill>
                        <a:latin typeface="Cambria Math" panose="02040503050406030204" pitchFamily="18" charset="0"/>
                      </a:rPr>
                      <m:t>240</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oMath>
                </a14:m>
                <a:r>
                  <a:rPr sz="2800" b="1">
                    <a:solidFill>
                      <a:srgbClr val="15803D"/>
                    </a:solidFill>
                    <a:latin typeface="Arial"/>
                  </a:rPr>
                  <a:t>; (c) </a:t>
                </a:r>
                <a14:m>
                  <m:oMath xmlns:m="http://schemas.openxmlformats.org/officeDocument/2006/math">
                    <m:r>
                      <a:rPr lang="en-IN" sz="2800" i="1">
                        <a:solidFill>
                          <a:srgbClr val="15803D"/>
                        </a:solidFill>
                        <a:latin typeface="Cambria Math" panose="02040503050406030204" pitchFamily="18" charset="0"/>
                      </a:rPr>
                      <m:t>36</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$\frac35$</a:t>
                </a:r>
                <a:r>
                  <a:rPr sz="2800" b="1">
                    <a:solidFill>
                      <a:srgbClr val="15803D"/>
                    </a:solidFill>
                    <a:latin typeface="Arial"/>
                  </a:rPr>
                  <a:t>; (b) </a:t>
                </a:r>
                <a:r>
                  <a:rPr lang="en-IN" sz="2800">
                    <a:solidFill>
                      <a:srgbClr val="15803D"/>
                    </a:solidFill>
                    <a:latin typeface="Cambria Math" panose="02040503050406030204" pitchFamily="18" charset="0"/>
                  </a:rPr>
                  <a:t>$240\sqrt3$</a:t>
                </a:r>
                <a:r>
                  <a:rPr sz="2800" b="1">
                    <a:solidFill>
                      <a:srgbClr val="15803D"/>
                    </a:solidFill>
                    <a:latin typeface="Arial"/>
                  </a:rPr>
                  <a:t>; (c) </a:t>
                </a:r>
                <a:r>
                  <a:rPr lang="en-IN" sz="2800">
                    <a:solidFill>
                      <a:srgbClr val="15803D"/>
                    </a:solidFill>
                    <a:latin typeface="Cambria Math" panose="02040503050406030204" pitchFamily="18" charset="0"/>
                  </a:rPr>
                  <a:t>$36$</a:t>
                </a:r>
                <a:endParaRPr sz="2800">
                  <a:solidFill>
                    <a:srgbClr val="15803D"/>
                  </a:solidFill>
                </a:endParaRPr>
              </a:p>
            </p:txBody>
          </p:sp>
        </mc:Fallback>
      </mc:AlternateContent>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Part (b): stretch the ellipse to its auxiliary circle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𝑎</m:t>
                        </m:r>
                      </m:num>
                      <m:den>
                        <m:r>
                          <a:rPr lang="en-IN" sz="2400" i="1">
                            <a:solidFill>
                              <a:srgbClr val="78350F"/>
                            </a:solidFill>
                            <a:latin typeface="Cambria Math" panose="02040503050406030204" pitchFamily="18" charset="0"/>
                          </a:rPr>
                          <m:t>𝑏</m:t>
                        </m:r>
                      </m:den>
                    </m:f>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𝑦</m:t>
                    </m:r>
                  </m:oMath>
                </a14:m>
                <a:r>
                  <a:rPr sz="2400" b="0">
                    <a:solidFill>
                      <a:srgbClr val="78350F"/>
                    </a:solidFill>
                    <a:latin typeface="Arial"/>
                  </a:rPr>
                  <a:t>), where the largest inscribed triangle with a given vertex is equilateral. Part (a) by Cauchy-Schwarz.</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Part (b): stretch the ellipse to its auxiliary circle (</a:t>
                </a:r>
                <a:r>
                  <a:rPr lang="en-IN" sz="2400">
                    <a:solidFill>
                      <a:srgbClr val="78350F"/>
                    </a:solidFill>
                    <a:latin typeface="Cambria Math" panose="02040503050406030204" pitchFamily="18" charset="0"/>
                  </a:rPr>
                  <a:t>$y\to\frac ab\,y$</a:t>
                </a:r>
                <a:r>
                  <a:rPr sz="2400" b="0">
                    <a:solidFill>
                      <a:srgbClr val="78350F"/>
                    </a:solidFill>
                    <a:latin typeface="Arial"/>
                  </a:rPr>
                  <a:t>), where the largest inscribed triangle with a given vertex is equilateral. Part (a) by Cauchy-Schwarz.</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𝑋</m:t>
                    </m:r>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e>
                    </m:d>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by Cauchy-Schwarz, so </a:t>
                </a:r>
                <a14:m>
                  <m:oMath xmlns:m="http://schemas.openxmlformats.org/officeDocument/2006/math">
                    <m:r>
                      <a:rPr lang="en-IN" sz="2400" i="1">
                        <a:solidFill>
                          <a:srgbClr val="111827"/>
                        </a:solidFill>
                        <a:latin typeface="Cambria Math" panose="02040503050406030204" pitchFamily="18" charset="0"/>
                      </a:rPr>
                      <m:t>𝑋</m:t>
                    </m:r>
                    <m:sSub>
                      <m:e>
                        <m:r>
                          <a:rPr lang="en-IN" sz="2400" i="1">
                            <a:solidFill>
                              <a:srgbClr val="111827"/>
                            </a:solidFill>
                            <a:latin typeface="Cambria Math" panose="02040503050406030204" pitchFamily="18" charset="0"/>
                          </a:rPr>
                          <m:t>𝑌</m:t>
                        </m:r>
                      </m:e>
                      <m:sub>
                        <m:r>
                          <m:rPr>
                            <m:sty m:val="p"/>
                          </m:rPr>
                          <a:rPr lang="en-IN" sz="2400">
                            <a:solidFill>
                              <a:srgbClr val="111827"/>
                            </a:solidFill>
                            <a:latin typeface="Cambria Math" panose="02040503050406030204" pitchFamily="18" charset="0"/>
                          </a:rPr>
                          <m:t>min</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den>
                    </m:f>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𝑃</m:t>
                    </m:r>
                    <m:sSub>
                      <m:e>
                        <m:r>
                          <m:rPr>
                            <m:sty m:val="p"/>
                          </m:rPr>
                          <a:rPr lang="en-IN" sz="2400">
                            <a:solidFill>
                              <a:srgbClr val="111827"/>
                            </a:solidFill>
                            <a:latin typeface="Cambria Math" panose="02040503050406030204" pitchFamily="18" charset="0"/>
                          </a:rPr>
                          <m:t>)</m:t>
                        </m:r>
                      </m:e>
                      <m:sub>
                        <m:r>
                          <m:rPr>
                            <m:sty m:val="p"/>
                          </m:rPr>
                          <a:rPr lang="en-IN" sz="2400">
                            <a:solidFill>
                              <a:srgbClr val="111827"/>
                            </a:solidFill>
                            <a:latin typeface="Cambria Math" panose="02040503050406030204" pitchFamily="18" charset="0"/>
                          </a:rPr>
                          <m:t>max</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$XY^2=\left(\frac{a^2}{\cos^2\theta}+\frac{b^2}{\sin^2\theta}\right)(\cos^2\theta+\sin^2\theta)\ge(a+b)^2$</a:t>
                </a:r>
                <a:r>
                  <a:rPr sz="2400" b="0">
                    <a:solidFill>
                      <a:srgbClr val="111827"/>
                    </a:solidFill>
                    <a:latin typeface="Arial"/>
                  </a:rPr>
                  <a:t> by Cauchy-Schwarz, so </a:t>
                </a:r>
                <a:r>
                  <a:rPr lang="en-IN" sz="2400">
                    <a:solidFill>
                      <a:srgbClr val="111827"/>
                    </a:solidFill>
                    <a:latin typeface="Cambria Math" panose="02040503050406030204" pitchFamily="18" charset="0"/>
                  </a:rPr>
                  <a:t>$XY_{\min}=a+b=36$</a:t>
                </a:r>
                <a:r>
                  <a:rPr sz="2400" b="0">
                    <a:solidFill>
                      <a:srgbClr val="111827"/>
                    </a:solidFill>
                    <a:latin typeface="Arial"/>
                  </a:rPr>
                  <a:t>; </a:t>
                </a:r>
                <a:r>
                  <a:rPr lang="en-IN" sz="2400">
                    <a:solidFill>
                      <a:srgbClr val="111827"/>
                    </a:solidFill>
                    <a:latin typeface="Cambria Math" panose="02040503050406030204" pitchFamily="18" charset="0"/>
                  </a:rPr>
                  <a:t>$NP=\frac{a^2-b^2}{XY}$</a:t>
                </a:r>
                <a:r>
                  <a:rPr sz="2400" b="0">
                    <a:solidFill>
                      <a:srgbClr val="111827"/>
                    </a:solidFill>
                    <a:latin typeface="Arial"/>
                  </a:rPr>
                  <a:t> gives </a:t>
                </a:r>
                <a:r>
                  <a:rPr lang="en-IN" sz="2400">
                    <a:solidFill>
                      <a:srgbClr val="111827"/>
                    </a:solidFill>
                    <a:latin typeface="Cambria Math" panose="02040503050406030204" pitchFamily="18" charset="0"/>
                  </a:rPr>
                  <a:t>$(NP)_{\max}=a-b=4$</a:t>
                </a:r>
                <a:r>
                  <a:rPr sz="2400" b="0">
                    <a:solidFill>
                      <a:srgbClr val="111827"/>
                    </a:solidFill>
                    <a:latin typeface="Arial"/>
                  </a:rPr>
                  <a:t>. So </a:t>
                </a:r>
                <a:r>
                  <a:rPr lang="en-IN" sz="2400">
                    <a:solidFill>
                      <a:srgbClr val="111827"/>
                    </a:solidFill>
                    <a:latin typeface="Cambria Math" panose="02040503050406030204" pitchFamily="18" charset="0"/>
                  </a:rPr>
                  <a:t>$a=20,\ b=16$</a:t>
                </a:r>
                <a:r>
                  <a:rPr sz="2400" b="0">
                    <a:solidFill>
                      <a:srgbClr val="111827"/>
                    </a:solidFill>
                    <a:latin typeface="Arial"/>
                  </a:rPr>
                  <a:t> and </a:t>
                </a:r>
                <a:r>
                  <a:rPr lang="en-IN" sz="2400">
                    <a:solidFill>
                      <a:srgbClr val="111827"/>
                    </a:solidFill>
                    <a:latin typeface="Cambria Math" panose="02040503050406030204" pitchFamily="18" charset="0"/>
                  </a:rPr>
                  <a:t>$e=\frac35$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The map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m:t>
                            </m:r>
                          </m:num>
                          <m:den>
                            <m:r>
                              <a:rPr lang="en-IN" sz="2400" i="1">
                                <a:solidFill>
                                  <a:srgbClr val="111827"/>
                                </a:solidFill>
                                <a:latin typeface="Cambria Math" panose="02040503050406030204" pitchFamily="18" charset="0"/>
                              </a:rPr>
                              <m:t>16</m:t>
                            </m:r>
                          </m:den>
                        </m:f>
                        <m:r>
                          <a:rPr lang="en-IN" sz="2400" i="1">
                            <a:solidFill>
                              <a:srgbClr val="111827"/>
                            </a:solidFill>
                            <a:latin typeface="Cambria Math" panose="02040503050406030204" pitchFamily="18" charset="0"/>
                          </a:rPr>
                          <m:t>𝑦</m:t>
                        </m:r>
                      </m:e>
                    </m:d>
                  </m:oMath>
                </a14:m>
                <a:r>
                  <a:rPr sz="2400" b="0">
                    <a:solidFill>
                      <a:srgbClr val="111827"/>
                    </a:solidFill>
                    <a:latin typeface="Arial"/>
                  </a:rPr>
                  <a:t> sends the ellipse to the auxiliary circle of radius </a:t>
                </a:r>
                <a14:m>
                  <m:oMath xmlns:m="http://schemas.openxmlformats.org/officeDocument/2006/math">
                    <m:r>
                      <a:rPr lang="en-IN" sz="2400" i="1">
                        <a:solidFill>
                          <a:srgbClr val="111827"/>
                        </a:solidFill>
                        <a:latin typeface="Cambria Math" panose="02040503050406030204" pitchFamily="18" charset="0"/>
                      </a:rPr>
                      <m:t>20</m:t>
                    </m:r>
                  </m:oMath>
                </a14:m>
                <a:r>
                  <a:rPr sz="2400" b="0">
                    <a:solidFill>
                      <a:srgbClr val="111827"/>
                    </a:solidFill>
                    <a:latin typeface="Arial"/>
                  </a:rPr>
                  <a:t> and multiplies every area by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m:t>
                        </m:r>
                      </m:num>
                      <m:den>
                        <m:r>
                          <a:rPr lang="en-IN" sz="2400" i="1">
                            <a:solidFill>
                              <a:srgbClr val="111827"/>
                            </a:solidFill>
                            <a:latin typeface="Cambria Math" panose="02040503050406030204" pitchFamily="18" charset="0"/>
                          </a:rPr>
                          <m:t>16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it keeps the isosceles property (the axis of symmetry is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and the apex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Among triangles inscribed in a circle with a fixed vertex, the largest area is that of the equilateral triangle: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sSup>
                      <m:e>
                        <m:r>
                          <a:rPr lang="en-IN" sz="2400" i="1">
                            <a:solidFill>
                              <a:srgbClr val="111827"/>
                            </a:solidFill>
                            <a:latin typeface="Cambria Math" panose="02040503050406030204" pitchFamily="18" charset="0"/>
                          </a:rPr>
                          <m:t>𝑅</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300</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Back in the ellipse the area is </a:t>
                </a:r>
                <a14:m>
                  <m:oMath xmlns:m="http://schemas.openxmlformats.org/officeDocument/2006/math">
                    <m:r>
                      <a:rPr lang="en-IN" sz="2400" i="1">
                        <a:solidFill>
                          <a:srgbClr val="111827"/>
                        </a:solidFill>
                        <a:latin typeface="Cambria Math" panose="02040503050406030204" pitchFamily="18" charset="0"/>
                      </a:rPr>
                      <m:t>300</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20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The map </a:t>
                </a:r>
                <a:r>
                  <a:rPr lang="en-IN" sz="2400">
                    <a:solidFill>
                      <a:srgbClr val="111827"/>
                    </a:solidFill>
                    <a:latin typeface="Cambria Math" panose="02040503050406030204" pitchFamily="18" charset="0"/>
                  </a:rPr>
                  <a:t>$(x,y)\to\left(x,\frac{20}{16}y\right)$</a:t>
                </a:r>
                <a:r>
                  <a:rPr sz="2400" b="0">
                    <a:solidFill>
                      <a:srgbClr val="111827"/>
                    </a:solidFill>
                    <a:latin typeface="Arial"/>
                  </a:rPr>
                  <a:t> sends the ellipse to the auxiliary circle of radius </a:t>
                </a:r>
                <a:r>
                  <a:rPr lang="en-IN" sz="2400">
                    <a:solidFill>
                      <a:srgbClr val="111827"/>
                    </a:solidFill>
                    <a:latin typeface="Cambria Math" panose="02040503050406030204" pitchFamily="18" charset="0"/>
                  </a:rPr>
                  <a:t>$20$</a:t>
                </a:r>
                <a:r>
                  <a:rPr sz="2400" b="0">
                    <a:solidFill>
                      <a:srgbClr val="111827"/>
                    </a:solidFill>
                    <a:latin typeface="Arial"/>
                  </a:rPr>
                  <a:t> and multiplies every area by </a:t>
                </a:r>
                <a:r>
                  <a:rPr lang="en-IN" sz="2400">
                    <a:solidFill>
                      <a:srgbClr val="111827"/>
                    </a:solidFill>
                    <a:latin typeface="Cambria Math" panose="02040503050406030204" pitchFamily="18" charset="0"/>
                  </a:rPr>
                  <a:t>$\frac{20}{16}=\frac54$</a:t>
                </a:r>
                <a:r>
                  <a:rPr sz="2400" b="0">
                    <a:solidFill>
                      <a:srgbClr val="111827"/>
                    </a:solidFill>
                    <a:latin typeface="Arial"/>
                  </a:rPr>
                  <a:t>; it keeps the isosceles property (the axis of symmetry is the </a:t>
                </a:r>
                <a:r>
                  <a:rPr lang="en-IN" sz="2400">
                    <a:solidFill>
                      <a:srgbClr val="111827"/>
                    </a:solidFill>
                    <a:latin typeface="Cambria Math" panose="02040503050406030204" pitchFamily="18" charset="0"/>
                  </a:rPr>
                  <a:t>$x$</a:t>
                </a:r>
                <a:r>
                  <a:rPr sz="2400" b="0">
                    <a:solidFill>
                      <a:srgbClr val="111827"/>
                    </a:solidFill>
                    <a:latin typeface="Arial"/>
                  </a:rPr>
                  <a:t>-axis) and the apex </a:t>
                </a:r>
                <a:r>
                  <a:rPr lang="en-IN" sz="2400">
                    <a:solidFill>
                      <a:srgbClr val="111827"/>
                    </a:solidFill>
                    <a:latin typeface="Cambria Math" panose="02040503050406030204" pitchFamily="18" charset="0"/>
                  </a:rPr>
                  <a:t>$(20,0)$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Among triangles inscribed in a circle with a fixed vertex, the largest area is that of the equilateral triangle: </a:t>
                </a:r>
                <a:r>
                  <a:rPr lang="en-IN" sz="2400">
                    <a:solidFill>
                      <a:srgbClr val="111827"/>
                    </a:solidFill>
                    <a:latin typeface="Cambria Math" panose="02040503050406030204" pitchFamily="18" charset="0"/>
                  </a:rPr>
                  <a:t>$\frac{3\sqrt3}{4}R^2=\frac{3\sqrt3}{4}\cdot400=300\sqrt3$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Back in the ellipse the area is </a:t>
                </a:r>
                <a:r>
                  <a:rPr lang="en-IN" sz="2400">
                    <a:solidFill>
                      <a:srgbClr val="111827"/>
                    </a:solidFill>
                    <a:latin typeface="Cambria Math" panose="02040503050406030204" pitchFamily="18" charset="0"/>
                  </a:rPr>
                  <a:t>$300\sqrt3\cdot\frac{16}{20}=240\sqrt3$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5</m:t>
                        </m:r>
                      </m:den>
                    </m:f>
                  </m:oMath>
                </a14:m>
                <a:r>
                  <a:rPr sz="2800" b="1">
                    <a:solidFill>
                      <a:srgbClr val="15803D"/>
                    </a:solidFill>
                    <a:latin typeface="Arial"/>
                  </a:rPr>
                  <a:t>; (b) </a:t>
                </a:r>
                <a14:m>
                  <m:oMath xmlns:m="http://schemas.openxmlformats.org/officeDocument/2006/math">
                    <m:r>
                      <a:rPr lang="en-IN" sz="2800" i="1">
                        <a:solidFill>
                          <a:srgbClr val="15803D"/>
                        </a:solidFill>
                        <a:latin typeface="Cambria Math" panose="02040503050406030204" pitchFamily="18" charset="0"/>
                      </a:rPr>
                      <m:t>240</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oMath>
                </a14:m>
                <a:r>
                  <a:rPr sz="2800" b="1">
                    <a:solidFill>
                      <a:srgbClr val="15803D"/>
                    </a:solidFill>
                    <a:latin typeface="Arial"/>
                  </a:rPr>
                  <a:t>; (c) </a:t>
                </a:r>
                <a14:m>
                  <m:oMath xmlns:m="http://schemas.openxmlformats.org/officeDocument/2006/math">
                    <m:r>
                      <a:rPr lang="en-IN" sz="2800" i="1">
                        <a:solidFill>
                          <a:srgbClr val="15803D"/>
                        </a:solidFill>
                        <a:latin typeface="Cambria Math" panose="02040503050406030204" pitchFamily="18" charset="0"/>
                      </a:rPr>
                      <m:t>36</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$\frac35$</a:t>
                </a:r>
                <a:r>
                  <a:rPr sz="2800" b="1">
                    <a:solidFill>
                      <a:srgbClr val="15803D"/>
                    </a:solidFill>
                    <a:latin typeface="Arial"/>
                  </a:rPr>
                  <a:t>; (b) </a:t>
                </a:r>
                <a:r>
                  <a:rPr lang="en-IN" sz="2800">
                    <a:solidFill>
                      <a:srgbClr val="15803D"/>
                    </a:solidFill>
                    <a:latin typeface="Cambria Math" panose="02040503050406030204" pitchFamily="18" charset="0"/>
                  </a:rPr>
                  <a:t>$240\sqrt3$</a:t>
                </a:r>
                <a:r>
                  <a:rPr sz="2800" b="1">
                    <a:solidFill>
                      <a:srgbClr val="15803D"/>
                    </a:solidFill>
                    <a:latin typeface="Arial"/>
                  </a:rPr>
                  <a:t>; (c) </a:t>
                </a:r>
                <a:r>
                  <a:rPr lang="en-IN" sz="2800">
                    <a:solidFill>
                      <a:srgbClr val="15803D"/>
                    </a:solidFill>
                    <a:latin typeface="Cambria Math" panose="02040503050406030204" pitchFamily="18" charset="0"/>
                  </a:rPr>
                  <a:t>$36$</a:t>
                </a:r>
                <a:endParaRPr sz="2800">
                  <a:solidFill>
                    <a:srgbClr val="15803D"/>
                  </a:solidFill>
                </a:endParaRPr>
              </a:p>
            </p:txBody>
          </p:sp>
        </mc:Fallback>
      </mc:AlternateContent>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to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intercepts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cosec</m:t>
                    </m:r>
                    <m:r>
                      <a:rPr lang="en-IN" sz="2400" i="1">
                        <a:solidFill>
                          <a:srgbClr val="111827"/>
                        </a:solidFill>
                        <a:latin typeface="Cambria Math" panose="02040503050406030204" pitchFamily="18" charset="0"/>
                      </a:rPr>
                      <m:t>θ</m:t>
                    </m:r>
                  </m:oMath>
                </a14:m>
                <a:r>
                  <a:rPr sz="2400" b="0">
                    <a:solidFill>
                      <a:srgbClr val="111827"/>
                    </a:solidFill>
                    <a:latin typeface="Arial"/>
                  </a:rPr>
                  <a:t>; intercept length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with equality at </a:t>
                </a:r>
                <a14:m>
                  <m:oMath xmlns:m="http://schemas.openxmlformats.org/officeDocument/2006/math">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with foot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from the centre: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𝑌</m:t>
                    </m:r>
                  </m:oMath>
                </a14:m>
                <a:r>
                  <a:rPr sz="2400" b="0">
                    <a:solidFill>
                      <a:srgbClr val="111827"/>
                    </a:solidFill>
                    <a:latin typeface="Arial"/>
                  </a:rPr>
                  <a:t> (altitude of the right triangle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Largest triangle inscribed in an ellipse has area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with one vertex fixed at the end of the major axis the maximum is the same,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(here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AM-GM for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needs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(first quadrant).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$\theta$</a:t>
                </a:r>
                <a:r>
                  <a:rPr sz="2400" b="0">
                    <a:solidFill>
                      <a:srgbClr val="111827"/>
                    </a:solidFill>
                    <a:latin typeface="Arial"/>
                  </a:rPr>
                  <a:t> to </a:t>
                </a:r>
                <a:r>
                  <a:rPr lang="en-IN" sz="2400">
                    <a:solidFill>
                      <a:srgbClr val="111827"/>
                    </a:solidFill>
                    <a:latin typeface="Cambria Math" panose="02040503050406030204" pitchFamily="18" charset="0"/>
                  </a:rPr>
                  <a:t>$\frac{x^2}{a^2}+\frac{y^2}{b^2}=1$</a:t>
                </a:r>
                <a:r>
                  <a:rPr sz="2400" b="0">
                    <a:solidFill>
                      <a:srgbClr val="111827"/>
                    </a:solidFill>
                    <a:latin typeface="Arial"/>
                  </a:rPr>
                  <a:t>: intercepts </a:t>
                </a:r>
                <a:r>
                  <a:rPr lang="en-IN" sz="2400">
                    <a:solidFill>
                      <a:srgbClr val="111827"/>
                    </a:solidFill>
                    <a:latin typeface="Cambria Math" panose="02040503050406030204" pitchFamily="18" charset="0"/>
                  </a:rPr>
                  <a:t>$a\sec\theta,\ b\operatorname{cosec}\theta$</a:t>
                </a:r>
                <a:r>
                  <a:rPr sz="2400" b="0">
                    <a:solidFill>
                      <a:srgbClr val="111827"/>
                    </a:solidFill>
                    <a:latin typeface="Arial"/>
                  </a:rPr>
                  <a:t>; intercept length </a:t>
                </a:r>
                <a:r>
                  <a:rPr lang="en-IN" sz="2400">
                    <a:solidFill>
                      <a:srgbClr val="111827"/>
                    </a:solidFill>
                    <a:latin typeface="Cambria Math" panose="02040503050406030204" pitchFamily="18" charset="0"/>
                  </a:rPr>
                  <a:t>$\ge a+b$</a:t>
                </a:r>
                <a:r>
                  <a:rPr sz="2400" b="0">
                    <a:solidFill>
                      <a:srgbClr val="111827"/>
                    </a:solidFill>
                    <a:latin typeface="Arial"/>
                  </a:rPr>
                  <a:t> with equality at </a:t>
                </a:r>
                <a:r>
                  <a:rPr lang="en-IN" sz="2400">
                    <a:solidFill>
                      <a:srgbClr val="111827"/>
                    </a:solidFill>
                    <a:latin typeface="Cambria Math" panose="02040503050406030204" pitchFamily="18" charset="0"/>
                  </a:rPr>
                  <a:t>$\tan^2\theta=\frac ba$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tangent at </a:t>
                </a:r>
                <a:r>
                  <a:rPr lang="en-IN" sz="2400">
                    <a:solidFill>
                      <a:srgbClr val="111827"/>
                    </a:solidFill>
                    <a:latin typeface="Cambria Math" panose="02040503050406030204" pitchFamily="18" charset="0"/>
                  </a:rPr>
                  <a:t>$P$</a:t>
                </a:r>
                <a:r>
                  <a:rPr sz="2400" b="0">
                    <a:solidFill>
                      <a:srgbClr val="111827"/>
                    </a:solidFill>
                    <a:latin typeface="Arial"/>
                  </a:rPr>
                  <a:t> with foot </a:t>
                </a:r>
                <a:r>
                  <a:rPr lang="en-IN" sz="2400">
                    <a:solidFill>
                      <a:srgbClr val="111827"/>
                    </a:solidFill>
                    <a:latin typeface="Cambria Math" panose="02040503050406030204" pitchFamily="18" charset="0"/>
                  </a:rPr>
                  <a:t>$N$</a:t>
                </a:r>
                <a:r>
                  <a:rPr sz="2400" b="0">
                    <a:solidFill>
                      <a:srgbClr val="111827"/>
                    </a:solidFill>
                    <a:latin typeface="Arial"/>
                  </a:rPr>
                  <a:t> from the centre: </a:t>
                </a:r>
                <a:r>
                  <a:rPr lang="en-IN" sz="2400">
                    <a:solidFill>
                      <a:srgbClr val="111827"/>
                    </a:solidFill>
                    <a:latin typeface="Cambria Math" panose="02040503050406030204" pitchFamily="18" charset="0"/>
                  </a:rPr>
                  <a:t>$PN\cdot XY=a^2-b^2$</a:t>
                </a:r>
                <a:r>
                  <a:rPr sz="2400" b="0">
                    <a:solidFill>
                      <a:srgbClr val="111827"/>
                    </a:solidFill>
                    <a:latin typeface="Arial"/>
                  </a:rPr>
                  <a:t>, and </a:t>
                </a:r>
                <a:r>
                  <a:rPr lang="en-IN" sz="2400">
                    <a:solidFill>
                      <a:srgbClr val="111827"/>
                    </a:solidFill>
                    <a:latin typeface="Cambria Math" panose="02040503050406030204" pitchFamily="18" charset="0"/>
                  </a:rPr>
                  <a:t>$ON\cdot XY=OX\cdot OY$</a:t>
                </a:r>
                <a:r>
                  <a:rPr sz="2400" b="0">
                    <a:solidFill>
                      <a:srgbClr val="111827"/>
                    </a:solidFill>
                    <a:latin typeface="Arial"/>
                  </a:rPr>
                  <a:t> (altitude of the right triangle </a:t>
                </a:r>
                <a:r>
                  <a:rPr lang="en-IN" sz="2400">
                    <a:solidFill>
                      <a:srgbClr val="111827"/>
                    </a:solidFill>
                    <a:latin typeface="Cambria Math" panose="02040503050406030204" pitchFamily="18" charset="0"/>
                  </a:rPr>
                  <a:t>$OXY$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Largest triangle inscribed in an ellipse has area </a:t>
                </a:r>
                <a:r>
                  <a:rPr lang="en-IN" sz="2400">
                    <a:solidFill>
                      <a:srgbClr val="111827"/>
                    </a:solidFill>
                    <a:latin typeface="Cambria Math" panose="02040503050406030204" pitchFamily="18" charset="0"/>
                  </a:rPr>
                  <a:t>$\frac{3\sqrt3}{4}ab$</a:t>
                </a:r>
                <a:r>
                  <a:rPr sz="2400" b="0">
                    <a:solidFill>
                      <a:srgbClr val="111827"/>
                    </a:solidFill>
                    <a:latin typeface="Arial"/>
                  </a:rPr>
                  <a:t>; with one vertex fixed at the end of the major axis the maximum is the same, </a:t>
                </a:r>
                <a:r>
                  <a:rPr lang="en-IN" sz="2400">
                    <a:solidFill>
                      <a:srgbClr val="111827"/>
                    </a:solidFill>
                    <a:latin typeface="Cambria Math" panose="02040503050406030204" pitchFamily="18" charset="0"/>
                  </a:rPr>
                  <a:t>$\frac{3\sqrt3}{4}ab$</a:t>
                </a:r>
                <a:r>
                  <a:rPr sz="2400" b="0">
                    <a:solidFill>
                      <a:srgbClr val="111827"/>
                    </a:solidFill>
                    <a:latin typeface="Arial"/>
                  </a:rPr>
                  <a:t> (here </a:t>
                </a:r>
                <a:r>
                  <a:rPr lang="en-IN" sz="2400">
                    <a:solidFill>
                      <a:srgbClr val="111827"/>
                    </a:solidFill>
                    <a:latin typeface="Cambria Math" panose="02040503050406030204" pitchFamily="18" charset="0"/>
                  </a:rPr>
                  <a:t>$\frac{3\sqrt3}{4}\cdot320=240\sqrt3$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AM-GM for </a:t>
                </a:r>
                <a:r>
                  <a:rPr lang="en-IN" sz="2400">
                    <a:solidFill>
                      <a:srgbClr val="111827"/>
                    </a:solidFill>
                    <a:latin typeface="Cambria Math" panose="02040503050406030204" pitchFamily="18" charset="0"/>
                  </a:rPr>
                  <a:t>$a^2\tan\theta+b^2\cot\theta\ge2ab$</a:t>
                </a:r>
                <a:r>
                  <a:rPr sz="2400" b="0">
                    <a:solidFill>
                      <a:srgbClr val="111827"/>
                    </a:solidFill>
                    <a:latin typeface="Arial"/>
                  </a:rPr>
                  <a:t> needs </a:t>
                </a:r>
                <a:r>
                  <a:rPr lang="en-IN" sz="2400">
                    <a:solidFill>
                      <a:srgbClr val="111827"/>
                    </a:solidFill>
                    <a:latin typeface="Cambria Math" panose="02040503050406030204" pitchFamily="18" charset="0"/>
                  </a:rPr>
                  <a:t>$\tan\theta&gt;0$</a:t>
                </a:r>
                <a:r>
                  <a:rPr sz="2400" b="0">
                    <a:solidFill>
                      <a:srgbClr val="111827"/>
                    </a:solidFill>
                    <a:latin typeface="Arial"/>
                  </a:rPr>
                  <a:t> (first quadrant).</a:t>
                </a:r>
                <a:endParaRPr sz="2400">
                  <a:solidFill>
                    <a:srgbClr val="111827"/>
                  </a:solidFill>
                </a:endParaRPr>
              </a:p>
            </p:txBody>
          </p:sp>
        </mc:Fallback>
      </mc:AlternateContent>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straight line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touches the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𝑏</m:t>
                    </m:r>
                  </m:oMath>
                </a14:m>
                <a:r>
                  <a:rPr sz="2400" b="0">
                    <a:solidFill>
                      <a:srgbClr val="111827"/>
                    </a:solidFill>
                    <a:latin typeface="Arial"/>
                  </a:rPr>
                  <a:t>. A focal chord of the ellipse, parallel to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intersects the circle in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Find the length of the perpendicular drawn from the centre of the ellipse to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Hence show that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straight line </a:t>
                </a:r>
                <a:r>
                  <a:rPr lang="en-IN" sz="2400">
                    <a:solidFill>
                      <a:srgbClr val="111827"/>
                    </a:solidFill>
                    <a:latin typeface="Cambria Math" panose="02040503050406030204" pitchFamily="18" charset="0"/>
                  </a:rPr>
                  <a:t>$AB$</a:t>
                </a:r>
                <a:r>
                  <a:rPr sz="2400" b="0">
                    <a:solidFill>
                      <a:srgbClr val="111827"/>
                    </a:solidFill>
                    <a:latin typeface="Arial"/>
                  </a:rPr>
                  <a:t> touches the ellipse </a:t>
                </a:r>
                <a:r>
                  <a:rPr lang="en-IN" sz="2400">
                    <a:solidFill>
                      <a:srgbClr val="111827"/>
                    </a:solidFill>
                    <a:latin typeface="Cambria Math" panose="02040503050406030204" pitchFamily="18" charset="0"/>
                  </a:rPr>
                  <a:t>$\frac{x^2}{a^2}+\frac{y^2}{b^2}=1$</a:t>
                </a:r>
                <a:r>
                  <a:rPr sz="2400" b="0">
                    <a:solidFill>
                      <a:srgbClr val="111827"/>
                    </a:solidFill>
                    <a:latin typeface="Arial"/>
                  </a:rPr>
                  <a:t> and the circle </a:t>
                </a:r>
                <a:r>
                  <a:rPr lang="en-IN" sz="2400">
                    <a:solidFill>
                      <a:srgbClr val="111827"/>
                    </a:solidFill>
                    <a:latin typeface="Cambria Math" panose="02040503050406030204" pitchFamily="18" charset="0"/>
                  </a:rPr>
                  <a:t>$x^2+y^2=r^2$</a:t>
                </a:r>
                <a:r>
                  <a:rPr sz="2400" b="0">
                    <a:solidFill>
                      <a:srgbClr val="111827"/>
                    </a:solidFill>
                    <a:latin typeface="Arial"/>
                  </a:rPr>
                  <a:t>, where </a:t>
                </a:r>
                <a:r>
                  <a:rPr lang="en-IN" sz="2400">
                    <a:solidFill>
                      <a:srgbClr val="111827"/>
                    </a:solidFill>
                    <a:latin typeface="Cambria Math" panose="02040503050406030204" pitchFamily="18" charset="0"/>
                  </a:rPr>
                  <a:t>$a&gt;r&gt;b$</a:t>
                </a:r>
                <a:r>
                  <a:rPr sz="2400" b="0">
                    <a:solidFill>
                      <a:srgbClr val="111827"/>
                    </a:solidFill>
                    <a:latin typeface="Arial"/>
                  </a:rPr>
                  <a:t>. A focal chord of the ellipse, parallel to </a:t>
                </a:r>
                <a:r>
                  <a:rPr lang="en-IN" sz="2400">
                    <a:solidFill>
                      <a:srgbClr val="111827"/>
                    </a:solidFill>
                    <a:latin typeface="Cambria Math" panose="02040503050406030204" pitchFamily="18" charset="0"/>
                  </a:rPr>
                  <a:t>$AB$</a:t>
                </a:r>
                <a:r>
                  <a:rPr sz="2400" b="0">
                    <a:solidFill>
                      <a:srgbClr val="111827"/>
                    </a:solidFill>
                    <a:latin typeface="Arial"/>
                  </a:rPr>
                  <a:t>, intersects the circle in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Find the length of the perpendicular drawn from the centre of the ellipse to </a:t>
                </a:r>
                <a:r>
                  <a:rPr lang="en-IN" sz="2400">
                    <a:solidFill>
                      <a:srgbClr val="111827"/>
                    </a:solidFill>
                    <a:latin typeface="Cambria Math" panose="02040503050406030204" pitchFamily="18" charset="0"/>
                  </a:rPr>
                  <a:t>$PQ$</a:t>
                </a:r>
                <a:r>
                  <a:rPr sz="2400" b="0">
                    <a:solidFill>
                      <a:srgbClr val="111827"/>
                    </a:solidFill>
                    <a:latin typeface="Arial"/>
                  </a:rPr>
                  <a:t>. Hence show that </a:t>
                </a:r>
                <a:r>
                  <a:rPr lang="en-IN" sz="2400">
                    <a:solidFill>
                      <a:srgbClr val="111827"/>
                    </a:solidFill>
                    <a:latin typeface="Cambria Math" panose="02040503050406030204" pitchFamily="18" charset="0"/>
                  </a:rPr>
                  <a:t>$PQ=2b$</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1081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Common tangent of an ellipse and a circle (tangency conditions), Focal chord of an ellipse and the chord it cuts on a circle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Equate the two tangency conditions to get </a:t>
                </a:r>
                <a14:m>
                  <m:oMath xmlns:m="http://schemas.openxmlformats.org/officeDocument/2006/math">
                    <m:sSup>
                      <m:e>
                        <m:r>
                          <a:rPr lang="en-IN" sz="2400" i="1">
                            <a:solidFill>
                              <a:srgbClr val="78350F"/>
                            </a:solidFill>
                            <a:latin typeface="Cambria Math" panose="02040503050406030204" pitchFamily="18" charset="0"/>
                          </a:rPr>
                          <m:t>𝑚</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𝑟</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num>
                      <m:den>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𝑟</m:t>
                            </m:r>
                          </m:e>
                          <m:sup>
                            <m:r>
                              <a:rPr lang="en-IN" sz="2400" i="1">
                                <a:solidFill>
                                  <a:srgbClr val="78350F"/>
                                </a:solidFill>
                                <a:latin typeface="Cambria Math" panose="02040503050406030204" pitchFamily="18" charset="0"/>
                              </a:rPr>
                              <m:t>2</m:t>
                            </m:r>
                          </m:sup>
                        </m:sSup>
                      </m:den>
                    </m:f>
                  </m:oMath>
                </a14:m>
                <a:r>
                  <a:rPr sz="2400" b="0">
                    <a:solidFill>
                      <a:srgbClr val="78350F"/>
                    </a:solidFill>
                    <a:latin typeface="Arial"/>
                  </a:rPr>
                  <a:t>; then the distance from the centre to the focal line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𝑒</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is </a:t>
                </a:r>
                <a14:m>
                  <m:oMath xmlns:m="http://schemas.openxmlformats.org/officeDocument/2006/math">
                    <m:rad>
                      <m:radPr>
                        <m:degHide m:val="on"/>
                        <m:ctrlPr>
                          <a:rPr lang="en-IN" sz="2400" i="1">
                            <a:solidFill>
                              <a:srgbClr val="78350F"/>
                            </a:solidFill>
                            <a:latin typeface="Cambria Math" panose="02040503050406030204" pitchFamily="18" charset="0"/>
                          </a:rPr>
                        </m:ctrlPr>
                      </m:radPr>
                      <m:deg/>
                      <m:e>
                        <m:sSup>
                          <m:e>
                            <m:r>
                              <a:rPr lang="en-IN" sz="2400" i="1">
                                <a:solidFill>
                                  <a:srgbClr val="78350F"/>
                                </a:solidFill>
                                <a:latin typeface="Cambria Math" panose="02040503050406030204" pitchFamily="18" charset="0"/>
                              </a:rPr>
                              <m:t>𝑟</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e>
                    </m:rad>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Equate the two tangency conditions to get </a:t>
                </a:r>
                <a:r>
                  <a:rPr lang="en-IN" sz="2400">
                    <a:solidFill>
                      <a:srgbClr val="78350F"/>
                    </a:solidFill>
                    <a:latin typeface="Cambria Math" panose="02040503050406030204" pitchFamily="18" charset="0"/>
                  </a:rPr>
                  <a:t>$m^2=\frac{r^2-b^2}{a^2-r^2}$</a:t>
                </a:r>
                <a:r>
                  <a:rPr sz="2400" b="0">
                    <a:solidFill>
                      <a:srgbClr val="78350F"/>
                    </a:solidFill>
                    <a:latin typeface="Arial"/>
                  </a:rPr>
                  <a:t>; then the distance from the centre to the focal line </a:t>
                </a:r>
                <a:r>
                  <a:rPr lang="en-IN" sz="2400">
                    <a:solidFill>
                      <a:srgbClr val="78350F"/>
                    </a:solidFill>
                    <a:latin typeface="Cambria Math" panose="02040503050406030204" pitchFamily="18" charset="0"/>
                  </a:rPr>
                  <a:t>$y=m(x-ae)$</a:t>
                </a:r>
                <a:r>
                  <a:rPr sz="2400" b="0">
                    <a:solidFill>
                      <a:srgbClr val="78350F"/>
                    </a:solidFill>
                    <a:latin typeface="Arial"/>
                  </a:rPr>
                  <a:t> is </a:t>
                </a:r>
                <a:r>
                  <a:rPr lang="en-IN" sz="2400">
                    <a:solidFill>
                      <a:srgbClr val="78350F"/>
                    </a:solidFill>
                    <a:latin typeface="Cambria Math" panose="02040503050406030204" pitchFamily="18" charset="0"/>
                  </a:rPr>
                  <a:t>$\sqrt{r^2-b^2}$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ellipse equation is not legible in the PDF; it is the standard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𝑏</m:t>
                    </m:r>
                  </m:oMath>
                </a14:m>
                <a:r>
                  <a:rPr sz="2400" b="0">
                    <a:solidFill>
                      <a:srgbClr val="111827"/>
                    </a:solidFill>
                    <a:latin typeface="Arial"/>
                  </a:rPr>
                  <a:t>.) Let the tangent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be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touches the ellipse: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It touches the circle: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giving </a:t>
                </a: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ellipse equation is not legible in the PDF; it is the standard ellipse </a:t>
                </a:r>
                <a:r>
                  <a:rPr lang="en-IN" sz="2400">
                    <a:solidFill>
                      <a:srgbClr val="111827"/>
                    </a:solidFill>
                    <a:latin typeface="Cambria Math" panose="02040503050406030204" pitchFamily="18" charset="0"/>
                  </a:rPr>
                  <a:t>$\frac{x^2}{a^2}+\frac{y^2}{b^2}=1$</a:t>
                </a:r>
                <a:r>
                  <a:rPr sz="2400" b="0">
                    <a:solidFill>
                      <a:srgbClr val="111827"/>
                    </a:solidFill>
                    <a:latin typeface="Arial"/>
                  </a:rPr>
                  <a:t> with </a:t>
                </a:r>
                <a:r>
                  <a:rPr lang="en-IN" sz="2400">
                    <a:solidFill>
                      <a:srgbClr val="111827"/>
                    </a:solidFill>
                    <a:latin typeface="Cambria Math" panose="02040503050406030204" pitchFamily="18" charset="0"/>
                  </a:rPr>
                  <a:t>$a&gt;r&gt;b$</a:t>
                </a:r>
                <a:r>
                  <a:rPr sz="2400" b="0">
                    <a:solidFill>
                      <a:srgbClr val="111827"/>
                    </a:solidFill>
                    <a:latin typeface="Arial"/>
                  </a:rPr>
                  <a:t>.) Let the tangent </a:t>
                </a:r>
                <a:r>
                  <a:rPr lang="en-IN" sz="2400">
                    <a:solidFill>
                      <a:srgbClr val="111827"/>
                    </a:solidFill>
                    <a:latin typeface="Cambria Math" panose="02040503050406030204" pitchFamily="18" charset="0"/>
                  </a:rPr>
                  <a:t>$AB$</a:t>
                </a:r>
                <a:r>
                  <a:rPr sz="2400" b="0">
                    <a:solidFill>
                      <a:srgbClr val="111827"/>
                    </a:solidFill>
                    <a:latin typeface="Arial"/>
                  </a:rPr>
                  <a:t> be </a:t>
                </a:r>
                <a:r>
                  <a:rPr lang="en-IN" sz="2400">
                    <a:solidFill>
                      <a:srgbClr val="111827"/>
                    </a:solidFill>
                    <a:latin typeface="Cambria Math" panose="02040503050406030204" pitchFamily="18" charset="0"/>
                  </a:rPr>
                  <a:t>$y=mx+c$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touches the ellipse: </a:t>
                </a:r>
                <a:r>
                  <a:rPr lang="en-IN" sz="2400">
                    <a:solidFill>
                      <a:srgbClr val="111827"/>
                    </a:solidFill>
                    <a:latin typeface="Cambria Math" panose="02040503050406030204" pitchFamily="18" charset="0"/>
                  </a:rPr>
                  <a:t>$c^2=a^2m^2+b^2$</a:t>
                </a:r>
                <a:r>
                  <a:rPr sz="2400" b="0">
                    <a:solidFill>
                      <a:srgbClr val="111827"/>
                    </a:solidFill>
                    <a:latin typeface="Arial"/>
                  </a:rPr>
                  <a:t>. It touches the circle: </a:t>
                </a:r>
                <a:r>
                  <a:rPr lang="en-IN" sz="2400">
                    <a:solidFill>
                      <a:srgbClr val="111827"/>
                    </a:solidFill>
                    <a:latin typeface="Cambria Math" panose="02040503050406030204" pitchFamily="18" charset="0"/>
                  </a:rPr>
                  <a:t>$c^2=r^2(m^2+1)$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$a^2m^2+b^2=r^2m^2+r^2$</a:t>
                </a:r>
                <a:r>
                  <a:rPr sz="2400" b="0">
                    <a:solidFill>
                      <a:srgbClr val="111827"/>
                    </a:solidFill>
                    <a:latin typeface="Arial"/>
                  </a:rPr>
                  <a:t>, giving </a:t>
                </a:r>
                <a:r>
                  <a:rPr lang="en-IN" sz="2400">
                    <a:solidFill>
                      <a:srgbClr val="111827"/>
                    </a:solidFill>
                    <a:latin typeface="Cambria Math" panose="02040503050406030204" pitchFamily="18" charset="0"/>
                  </a:rPr>
                  <a:t>$m^2=\frac{r^2-b^2}{a^2-r^2}$</a:t>
                </a:r>
                <a:r>
                  <a:rPr sz="2400" b="0">
                    <a:solidFill>
                      <a:srgbClr val="111827"/>
                    </a:solidFill>
                    <a:latin typeface="Arial"/>
                  </a:rPr>
                  <a:t> and </a:t>
                </a:r>
                <a:r>
                  <a:rPr lang="en-IN" sz="2400">
                    <a:solidFill>
                      <a:srgbClr val="111827"/>
                    </a:solidFill>
                    <a:latin typeface="Cambria Math" panose="02040503050406030204" pitchFamily="18" charset="0"/>
                  </a:rPr>
                  <a:t>$1+m^2=\frac{a^2-b^2}{a^2-r^2}$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focal chord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parallel to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and passes through the focus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Perpendicular from the centre to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𝐿</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(using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a chord of the circle of radius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at distance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from the centre: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𝐿</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focal chord </a:t>
                </a:r>
                <a:r>
                  <a:rPr lang="en-IN" sz="2400">
                    <a:solidFill>
                      <a:srgbClr val="111827"/>
                    </a:solidFill>
                    <a:latin typeface="Cambria Math" panose="02040503050406030204" pitchFamily="18" charset="0"/>
                  </a:rPr>
                  <a:t>$PQ$</a:t>
                </a:r>
                <a:r>
                  <a:rPr sz="2400" b="0">
                    <a:solidFill>
                      <a:srgbClr val="111827"/>
                    </a:solidFill>
                    <a:latin typeface="Arial"/>
                  </a:rPr>
                  <a:t> is parallel to </a:t>
                </a:r>
                <a:r>
                  <a:rPr lang="en-IN" sz="2400">
                    <a:solidFill>
                      <a:srgbClr val="111827"/>
                    </a:solidFill>
                    <a:latin typeface="Cambria Math" panose="02040503050406030204" pitchFamily="18" charset="0"/>
                  </a:rPr>
                  <a:t>$AB$</a:t>
                </a:r>
                <a:r>
                  <a:rPr sz="2400" b="0">
                    <a:solidFill>
                      <a:srgbClr val="111827"/>
                    </a:solidFill>
                    <a:latin typeface="Arial"/>
                  </a:rPr>
                  <a:t> and passes through the focus </a:t>
                </a:r>
                <a:r>
                  <a:rPr lang="en-IN" sz="2400">
                    <a:solidFill>
                      <a:srgbClr val="111827"/>
                    </a:solidFill>
                    <a:latin typeface="Cambria Math" panose="02040503050406030204" pitchFamily="18" charset="0"/>
                  </a:rPr>
                  <a:t>$(ae,0)$</a:t>
                </a:r>
                <a:r>
                  <a:rPr sz="2400" b="0">
                    <a:solidFill>
                      <a:srgbClr val="111827"/>
                    </a:solidFill>
                    <a:latin typeface="Arial"/>
                  </a:rPr>
                  <a:t>: </a:t>
                </a:r>
                <a:r>
                  <a:rPr lang="en-IN" sz="2400">
                    <a:solidFill>
                      <a:srgbClr val="111827"/>
                    </a:solidFill>
                    <a:latin typeface="Cambria Math" panose="02040503050406030204" pitchFamily="18" charset="0"/>
                  </a:rPr>
                  <a:t>$y=m(x-ae)$</a:t>
                </a:r>
                <a:r>
                  <a:rPr sz="2400" b="0">
                    <a:solidFill>
                      <a:srgbClr val="111827"/>
                    </a:solidFill>
                    <a:latin typeface="Arial"/>
                  </a:rPr>
                  <a:t>, i.e. </a:t>
                </a:r>
                <a:r>
                  <a:rPr lang="en-IN" sz="2400">
                    <a:solidFill>
                      <a:srgbClr val="111827"/>
                    </a:solidFill>
                    <a:latin typeface="Cambria Math" panose="02040503050406030204" pitchFamily="18" charset="0"/>
                  </a:rPr>
                  <a:t>$mx-y-mae=0$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Perpendicular from the centre to </a:t>
                </a:r>
                <a:r>
                  <a:rPr lang="en-IN" sz="2400">
                    <a:solidFill>
                      <a:srgbClr val="111827"/>
                    </a:solidFill>
                    <a:latin typeface="Cambria Math" panose="02040503050406030204" pitchFamily="18" charset="0"/>
                  </a:rPr>
                  <a:t>$PQ$</a:t>
                </a:r>
                <a:r>
                  <a:rPr sz="2400" b="0">
                    <a:solidFill>
                      <a:srgbClr val="111827"/>
                    </a:solidFill>
                    <a:latin typeface="Arial"/>
                  </a:rPr>
                  <a:t>: </a:t>
                </a:r>
                <a:r>
                  <a:rPr lang="en-IN" sz="2400">
                    <a:solidFill>
                      <a:srgbClr val="111827"/>
                    </a:solidFill>
                    <a:latin typeface="Cambria Math" panose="02040503050406030204" pitchFamily="18" charset="0"/>
                  </a:rPr>
                  <a:t>$L=\frac{|m|ae}{\sqrt{1+m^2}}$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$L^2=\frac{m^2}{1+m^2}\,a^2e^2=\frac{r^2-b^2}{a^2-b^2}\,(a^2-b^2)=r^2-b^2$</a:t>
                </a:r>
                <a:r>
                  <a:rPr sz="2400" b="0">
                    <a:solidFill>
                      <a:srgbClr val="111827"/>
                    </a:solidFill>
                    <a:latin typeface="Arial"/>
                  </a:rPr>
                  <a:t> (using </a:t>
                </a:r>
                <a:r>
                  <a:rPr lang="en-IN" sz="2400">
                    <a:solidFill>
                      <a:srgbClr val="111827"/>
                    </a:solidFill>
                    <a:latin typeface="Cambria Math" panose="02040503050406030204" pitchFamily="18" charset="0"/>
                  </a:rPr>
                  <a:t>$a^2e^2=a^2-b^2$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$L=\sqrt{r^2-b^2}$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$PQ$</a:t>
                </a:r>
                <a:r>
                  <a:rPr sz="2400" b="0">
                    <a:solidFill>
                      <a:srgbClr val="111827"/>
                    </a:solidFill>
                    <a:latin typeface="Arial"/>
                  </a:rPr>
                  <a:t> is a chord of the circle of radius </a:t>
                </a:r>
                <a:r>
                  <a:rPr lang="en-IN" sz="2400">
                    <a:solidFill>
                      <a:srgbClr val="111827"/>
                    </a:solidFill>
                    <a:latin typeface="Cambria Math" panose="02040503050406030204" pitchFamily="18" charset="0"/>
                  </a:rPr>
                  <a:t>$r$</a:t>
                </a:r>
                <a:r>
                  <a:rPr sz="2400" b="0">
                    <a:solidFill>
                      <a:srgbClr val="111827"/>
                    </a:solidFill>
                    <a:latin typeface="Arial"/>
                  </a:rPr>
                  <a:t> at distance </a:t>
                </a:r>
                <a:r>
                  <a:rPr lang="en-IN" sz="2400">
                    <a:solidFill>
                      <a:srgbClr val="111827"/>
                    </a:solidFill>
                    <a:latin typeface="Cambria Math" panose="02040503050406030204" pitchFamily="18" charset="0"/>
                  </a:rPr>
                  <a:t>$L$</a:t>
                </a:r>
                <a:r>
                  <a:rPr sz="2400" b="0">
                    <a:solidFill>
                      <a:srgbClr val="111827"/>
                    </a:solidFill>
                    <a:latin typeface="Arial"/>
                  </a:rPr>
                  <a:t> from the centre: </a:t>
                </a:r>
                <a:r>
                  <a:rPr lang="en-IN" sz="2400">
                    <a:solidFill>
                      <a:srgbClr val="111827"/>
                    </a:solidFill>
                    <a:latin typeface="Cambria Math" panose="02040503050406030204" pitchFamily="18" charset="0"/>
                  </a:rPr>
                  <a:t>$PQ=2\sqrt{r^2-L^2}=2\sqrt{b^2}=2b$</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Perpendicular length </a:t>
                </a:r>
                <a14:m>
                  <m:oMath xmlns:m="http://schemas.openxmlformats.org/officeDocument/2006/math">
                    <m:r>
                      <m:rPr>
                        <m:sty m:val="p"/>
                      </m:rPr>
                      <a:rPr lang="en-IN" sz="2800">
                        <a:solidFill>
                          <a:srgbClr val="15803D"/>
                        </a:solidFill>
                        <a:latin typeface="Cambria Math" panose="02040503050406030204" pitchFamily="18" charset="0"/>
                      </a:rPr>
                      <m:t>=</m:t>
                    </m:r>
                    <m:rad>
                      <m:radPr>
                        <m:degHide m:val="on"/>
                        <m:ctrlPr>
                          <a:rPr lang="en-IN" sz="2800" i="1">
                            <a:solidFill>
                              <a:srgbClr val="15803D"/>
                            </a:solidFill>
                            <a:latin typeface="Cambria Math" panose="02040503050406030204" pitchFamily="18" charset="0"/>
                          </a:rPr>
                        </m:ctrlPr>
                      </m:radPr>
                      <m:deg/>
                      <m:e>
                        <m:sSup>
                          <m:e>
                            <m:r>
                              <a:rPr lang="en-IN" sz="2800" i="1">
                                <a:solidFill>
                                  <a:srgbClr val="15803D"/>
                                </a:solidFill>
                                <a:latin typeface="Cambria Math" panose="02040503050406030204" pitchFamily="18" charset="0"/>
                              </a:rPr>
                              <m:t>𝑟</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e>
                    </m:rad>
                  </m:oMath>
                </a14:m>
                <a:r>
                  <a:rPr sz="2800" b="1">
                    <a:solidFill>
                      <a:srgbClr val="15803D"/>
                    </a:solidFill>
                    <a:latin typeface="Arial"/>
                  </a:rPr>
                  <a:t>; hence </a:t>
                </a:r>
                <a14:m>
                  <m:oMath xmlns:m="http://schemas.openxmlformats.org/officeDocument/2006/math">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𝑄</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a:rPr lang="en-IN" sz="2800" i="1">
                        <a:solidFill>
                          <a:srgbClr val="15803D"/>
                        </a:solidFill>
                        <a:latin typeface="Cambria Math" panose="02040503050406030204" pitchFamily="18" charset="0"/>
                      </a:rPr>
                      <m:t>𝑏</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Perpendicular length </a:t>
                </a:r>
                <a:r>
                  <a:rPr lang="en-IN" sz="2800">
                    <a:solidFill>
                      <a:srgbClr val="15803D"/>
                    </a:solidFill>
                    <a:latin typeface="Cambria Math" panose="02040503050406030204" pitchFamily="18" charset="0"/>
                  </a:rPr>
                  <a:t>$=\sqrt{r^2-b^2}$</a:t>
                </a:r>
                <a:r>
                  <a:rPr sz="2800" b="1">
                    <a:solidFill>
                      <a:srgbClr val="15803D"/>
                    </a:solidFill>
                    <a:latin typeface="Arial"/>
                  </a:rPr>
                  <a:t>; hence </a:t>
                </a:r>
                <a:r>
                  <a:rPr lang="en-IN" sz="2800">
                    <a:solidFill>
                      <a:srgbClr val="15803D"/>
                    </a:solidFill>
                    <a:latin typeface="Cambria Math" panose="02040503050406030204" pitchFamily="18" charset="0"/>
                  </a:rPr>
                  <a:t>$PQ=2b$</a:t>
                </a:r>
                <a:endParaRPr sz="2800">
                  <a:solidFill>
                    <a:srgbClr val="15803D"/>
                  </a:solidFill>
                </a:endParaRPr>
              </a:p>
            </p:txBody>
          </p:sp>
        </mc:Fallback>
      </mc:AlternateContent>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8531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focal-perpendicular product </a:t>
                </a:r>
                <a14:m>
                  <m:oMath xmlns:m="http://schemas.openxmlformats.org/officeDocument/2006/math">
                    <m:sSub>
                      <m:e>
                        <m:r>
                          <a:rPr lang="en-IN" sz="2400" i="1">
                            <a:solidFill>
                              <a:srgbClr val="78350F"/>
                            </a:solidFill>
                            <a:latin typeface="Cambria Math" panose="02040503050406030204" pitchFamily="18" charset="0"/>
                          </a:rPr>
                          <m:t>𝑝</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𝑝</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on the two tangents of the same slope: the centre lies midway between the foci, so its distance to the tangent is the mean of the focal distances.</a:t>
                </a:r>
                <a:endParaRPr sz="2400">
                  <a:solidFill>
                    <a:srgbClr val="78350F"/>
                  </a:solidFill>
                </a:endParaRPr>
              </a:p>
            </p:txBody>
          </p:sp>
        </mc:Choice>
        <mc:Fallback>
          <p:sp>
            <p:nvSpPr>
              <p:cNvPr id="5" name="Rounded Rectangle 4"/>
              <p:cNvSpPr/>
              <p:nvPr/>
            </p:nvSpPr>
            <p:spPr>
              <a:xfrm>
                <a:off x="731520" y="1280160"/>
                <a:ext cx="10725912" cy="18531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focal-perpendicular product </a:t>
                </a:r>
                <a:r>
                  <a:rPr lang="en-IN" sz="2400">
                    <a:solidFill>
                      <a:srgbClr val="78350F"/>
                    </a:solidFill>
                    <a:latin typeface="Cambria Math" panose="02040503050406030204" pitchFamily="18" charset="0"/>
                  </a:rPr>
                  <a:t>$p_1p_2=b^2$</a:t>
                </a:r>
                <a:r>
                  <a:rPr sz="2400" b="0">
                    <a:solidFill>
                      <a:srgbClr val="78350F"/>
                    </a:solidFill>
                    <a:latin typeface="Arial"/>
                  </a:rPr>
                  <a:t> on the two tangents of the same slope: the centre lies midway between the foci, so its distance to the tangent is the mean of the focal distances.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270504"/>
                <a:ext cx="10725912" cy="34046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and the parallel tangent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are at focal distances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from the focus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centre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is the midpoint of the foci, so its distance to the tangent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is the mean of the two focal distances: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num>
                      <m:den>
                        <m:r>
                          <a:rPr lang="en-IN" sz="2400" i="1">
                            <a:solidFill>
                              <a:srgbClr val="111827"/>
                            </a:solidFill>
                            <a:latin typeface="Cambria Math" panose="02040503050406030204" pitchFamily="18" charset="0"/>
                          </a:rPr>
                          <m:t>2</m:t>
                        </m:r>
                      </m:den>
                    </m:f>
                  </m:oMath>
                </a14:m>
                <a:r>
                  <a:rPr sz="2400" b="0">
                    <a:solidFill>
                      <a:srgbClr val="111827"/>
                    </a:solidFill>
                    <a:latin typeface="Arial"/>
                  </a:rPr>
                  <a:t> (foci on the same side of the tangent).</a:t>
                </a:r>
                <a:endParaRPr sz="2400">
                  <a:solidFill>
                    <a:srgbClr val="111827"/>
                  </a:solidFill>
                </a:endParaRPr>
              </a:p>
            </p:txBody>
          </p:sp>
        </mc:Choice>
        <mc:Fallback>
          <p:sp>
            <p:nvSpPr>
              <p:cNvPr id="6" name="Rectangle 5"/>
              <p:cNvSpPr/>
              <p:nvPr/>
            </p:nvSpPr>
            <p:spPr>
              <a:xfrm>
                <a:off x="731520" y="3270504"/>
                <a:ext cx="10725912" cy="34046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 </a:t>
                </a:r>
                <a:r>
                  <a:rPr lang="en-IN" sz="2400">
                    <a:solidFill>
                      <a:srgbClr val="111827"/>
                    </a:solidFill>
                    <a:latin typeface="Cambria Math" panose="02040503050406030204" pitchFamily="18" charset="0"/>
                  </a:rPr>
                  <a:t>$AB$</a:t>
                </a:r>
                <a:r>
                  <a:rPr sz="2400" b="0">
                    <a:solidFill>
                      <a:srgbClr val="111827"/>
                    </a:solidFill>
                    <a:latin typeface="Arial"/>
                  </a:rPr>
                  <a:t> (</a:t>
                </a:r>
                <a:r>
                  <a:rPr lang="en-IN" sz="2400">
                    <a:solidFill>
                      <a:srgbClr val="111827"/>
                    </a:solidFill>
                    <a:latin typeface="Cambria Math" panose="02040503050406030204" pitchFamily="18" charset="0"/>
                  </a:rPr>
                  <a:t>$y=mx+c$</a:t>
                </a:r>
                <a:r>
                  <a:rPr sz="2400" b="0">
                    <a:solidFill>
                      <a:srgbClr val="111827"/>
                    </a:solidFill>
                    <a:latin typeface="Arial"/>
                  </a:rPr>
                  <a:t>) and the parallel tangent </a:t>
                </a:r>
                <a:r>
                  <a:rPr lang="en-IN" sz="2400">
                    <a:solidFill>
                      <a:srgbClr val="111827"/>
                    </a:solidFill>
                    <a:latin typeface="Cambria Math" panose="02040503050406030204" pitchFamily="18" charset="0"/>
                  </a:rPr>
                  <a:t>$y=mx-c$</a:t>
                </a:r>
                <a:r>
                  <a:rPr sz="2400" b="0">
                    <a:solidFill>
                      <a:srgbClr val="111827"/>
                    </a:solidFill>
                    <a:latin typeface="Arial"/>
                  </a:rPr>
                  <a:t> are at focal distances </a:t>
                </a:r>
                <a:r>
                  <a:rPr lang="en-IN" sz="2400">
                    <a:solidFill>
                      <a:srgbClr val="111827"/>
                    </a:solidFill>
                    <a:latin typeface="Cambria Math" panose="02040503050406030204" pitchFamily="18" charset="0"/>
                  </a:rPr>
                  <a:t>$p_1,p_2$</a:t>
                </a:r>
                <a:r>
                  <a:rPr sz="2400" b="0">
                    <a:solidFill>
                      <a:srgbClr val="111827"/>
                    </a:solidFill>
                    <a:latin typeface="Arial"/>
                  </a:rPr>
                  <a:t> from the focus </a:t>
                </a:r>
                <a:r>
                  <a:rPr lang="en-IN" sz="2400">
                    <a:solidFill>
                      <a:srgbClr val="111827"/>
                    </a:solidFill>
                    <a:latin typeface="Cambria Math" panose="02040503050406030204" pitchFamily="18" charset="0"/>
                  </a:rPr>
                  <a:t>$S$</a:t>
                </a:r>
                <a:r>
                  <a:rPr sz="2400" b="0">
                    <a:solidFill>
                      <a:srgbClr val="111827"/>
                    </a:solidFill>
                    <a:latin typeface="Arial"/>
                  </a:rPr>
                  <a:t>, with </a:t>
                </a:r>
                <a:r>
                  <a:rPr lang="en-IN" sz="2400">
                    <a:solidFill>
                      <a:srgbClr val="111827"/>
                    </a:solidFill>
                    <a:latin typeface="Cambria Math" panose="02040503050406030204" pitchFamily="18" charset="0"/>
                  </a:rPr>
                  <a:t>$p_1p_2=b^2$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centre </a:t>
                </a:r>
                <a:r>
                  <a:rPr lang="en-IN" sz="2400">
                    <a:solidFill>
                      <a:srgbClr val="111827"/>
                    </a:solidFill>
                    <a:latin typeface="Cambria Math" panose="02040503050406030204" pitchFamily="18" charset="0"/>
                  </a:rPr>
                  <a:t>$C$</a:t>
                </a:r>
                <a:r>
                  <a:rPr sz="2400" b="0">
                    <a:solidFill>
                      <a:srgbClr val="111827"/>
                    </a:solidFill>
                    <a:latin typeface="Arial"/>
                  </a:rPr>
                  <a:t> is the midpoint of the foci, so its distance to the tangent </a:t>
                </a:r>
                <a:r>
                  <a:rPr lang="en-IN" sz="2400">
                    <a:solidFill>
                      <a:srgbClr val="111827"/>
                    </a:solidFill>
                    <a:latin typeface="Cambria Math" panose="02040503050406030204" pitchFamily="18" charset="0"/>
                  </a:rPr>
                  <a:t>$AB$</a:t>
                </a:r>
                <a:r>
                  <a:rPr sz="2400" b="0">
                    <a:solidFill>
                      <a:srgbClr val="111827"/>
                    </a:solidFill>
                    <a:latin typeface="Arial"/>
                  </a:rPr>
                  <a:t> is the mean of the two focal distances: </a:t>
                </a:r>
                <a:r>
                  <a:rPr lang="en-IN" sz="2400">
                    <a:solidFill>
                      <a:srgbClr val="111827"/>
                    </a:solidFill>
                    <a:latin typeface="Cambria Math" panose="02040503050406030204" pitchFamily="18" charset="0"/>
                  </a:rPr>
                  <a:t>$r=\frac{p_1+p_2}{2}$</a:t>
                </a:r>
                <a:r>
                  <a:rPr sz="2400" b="0">
                    <a:solidFill>
                      <a:srgbClr val="111827"/>
                    </a:solidFill>
                    <a:latin typeface="Arial"/>
                  </a:rPr>
                  <a:t> (foci on the same side of the tangent).</a:t>
                </a:r>
                <a:endParaRPr sz="2400">
                  <a:solidFill>
                    <a:srgbClr val="111827"/>
                  </a:solidFill>
                </a:endParaRPr>
              </a:p>
            </p:txBody>
          </p:sp>
        </mc:Fallback>
      </mc:AlternateContent>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focal line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parallel to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through the focus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it is at distance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so its distance from the centre is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𝐿</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𝐿</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focal line </a:t>
                </a:r>
                <a:r>
                  <a:rPr lang="en-IN" sz="2400">
                    <a:solidFill>
                      <a:srgbClr val="111827"/>
                    </a:solidFill>
                    <a:latin typeface="Cambria Math" panose="02040503050406030204" pitchFamily="18" charset="0"/>
                  </a:rPr>
                  <a:t>$PQ$</a:t>
                </a:r>
                <a:r>
                  <a:rPr sz="2400" b="0">
                    <a:solidFill>
                      <a:srgbClr val="111827"/>
                    </a:solidFill>
                    <a:latin typeface="Arial"/>
                  </a:rPr>
                  <a:t> is parallel to </a:t>
                </a:r>
                <a:r>
                  <a:rPr lang="en-IN" sz="2400">
                    <a:solidFill>
                      <a:srgbClr val="111827"/>
                    </a:solidFill>
                    <a:latin typeface="Cambria Math" panose="02040503050406030204" pitchFamily="18" charset="0"/>
                  </a:rPr>
                  <a:t>$AB$</a:t>
                </a:r>
                <a:r>
                  <a:rPr sz="2400" b="0">
                    <a:solidFill>
                      <a:srgbClr val="111827"/>
                    </a:solidFill>
                    <a:latin typeface="Arial"/>
                  </a:rPr>
                  <a:t> through the focus </a:t>
                </a:r>
                <a:r>
                  <a:rPr lang="en-IN" sz="2400">
                    <a:solidFill>
                      <a:srgbClr val="111827"/>
                    </a:solidFill>
                    <a:latin typeface="Cambria Math" panose="02040503050406030204" pitchFamily="18" charset="0"/>
                  </a:rPr>
                  <a:t>$S$</a:t>
                </a:r>
                <a:r>
                  <a:rPr sz="2400" b="0">
                    <a:solidFill>
                      <a:srgbClr val="111827"/>
                    </a:solidFill>
                    <a:latin typeface="Arial"/>
                  </a:rPr>
                  <a:t>: it is at distance </a:t>
                </a:r>
                <a:r>
                  <a:rPr lang="en-IN" sz="2400">
                    <a:solidFill>
                      <a:srgbClr val="111827"/>
                    </a:solidFill>
                    <a:latin typeface="Cambria Math" panose="02040503050406030204" pitchFamily="18" charset="0"/>
                  </a:rPr>
                  <a:t>$p_1$</a:t>
                </a:r>
                <a:r>
                  <a:rPr sz="2400" b="0">
                    <a:solidFill>
                      <a:srgbClr val="111827"/>
                    </a:solidFill>
                    <a:latin typeface="Arial"/>
                  </a:rPr>
                  <a:t> from </a:t>
                </a:r>
                <a:r>
                  <a:rPr lang="en-IN" sz="2400">
                    <a:solidFill>
                      <a:srgbClr val="111827"/>
                    </a:solidFill>
                    <a:latin typeface="Cambria Math" panose="02040503050406030204" pitchFamily="18" charset="0"/>
                  </a:rPr>
                  <a:t>$AB$</a:t>
                </a:r>
                <a:r>
                  <a:rPr sz="2400" b="0">
                    <a:solidFill>
                      <a:srgbClr val="111827"/>
                    </a:solidFill>
                    <a:latin typeface="Arial"/>
                  </a:rPr>
                  <a:t>, so its distance from the centre is </a:t>
                </a:r>
                <a:r>
                  <a:rPr lang="en-IN" sz="2400">
                    <a:solidFill>
                      <a:srgbClr val="111827"/>
                    </a:solidFill>
                    <a:latin typeface="Cambria Math" panose="02040503050406030204" pitchFamily="18" charset="0"/>
                  </a:rPr>
                  <a:t>$L=|r-p_1|=\frac{|p_2-p_1|}{2}$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$L^2=\frac{(p_1+p_2)^2-4p_1p_2}{4}=\frac{4r^2-4b^2}{4}=r^2-b^2$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$PQ=2\sqrt{r^2-L^2}=2b$</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Perpendicular length </a:t>
                </a:r>
                <a14:m>
                  <m:oMath xmlns:m="http://schemas.openxmlformats.org/officeDocument/2006/math">
                    <m:r>
                      <m:rPr>
                        <m:sty m:val="p"/>
                      </m:rPr>
                      <a:rPr lang="en-IN" sz="2800">
                        <a:solidFill>
                          <a:srgbClr val="15803D"/>
                        </a:solidFill>
                        <a:latin typeface="Cambria Math" panose="02040503050406030204" pitchFamily="18" charset="0"/>
                      </a:rPr>
                      <m:t>=</m:t>
                    </m:r>
                    <m:rad>
                      <m:radPr>
                        <m:degHide m:val="on"/>
                        <m:ctrlPr>
                          <a:rPr lang="en-IN" sz="2800" i="1">
                            <a:solidFill>
                              <a:srgbClr val="15803D"/>
                            </a:solidFill>
                            <a:latin typeface="Cambria Math" panose="02040503050406030204" pitchFamily="18" charset="0"/>
                          </a:rPr>
                        </m:ctrlPr>
                      </m:radPr>
                      <m:deg/>
                      <m:e>
                        <m:sSup>
                          <m:e>
                            <m:r>
                              <a:rPr lang="en-IN" sz="2800" i="1">
                                <a:solidFill>
                                  <a:srgbClr val="15803D"/>
                                </a:solidFill>
                                <a:latin typeface="Cambria Math" panose="02040503050406030204" pitchFamily="18" charset="0"/>
                              </a:rPr>
                              <m:t>𝑟</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e>
                    </m:rad>
                  </m:oMath>
                </a14:m>
                <a:r>
                  <a:rPr sz="2800" b="1">
                    <a:solidFill>
                      <a:srgbClr val="15803D"/>
                    </a:solidFill>
                    <a:latin typeface="Arial"/>
                  </a:rPr>
                  <a:t>; hence </a:t>
                </a:r>
                <a14:m>
                  <m:oMath xmlns:m="http://schemas.openxmlformats.org/officeDocument/2006/math">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𝑄</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a:rPr lang="en-IN" sz="2800" i="1">
                        <a:solidFill>
                          <a:srgbClr val="15803D"/>
                        </a:solidFill>
                        <a:latin typeface="Cambria Math" panose="02040503050406030204" pitchFamily="18" charset="0"/>
                      </a:rPr>
                      <m:t>𝑏</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Perpendicular length </a:t>
                </a:r>
                <a:r>
                  <a:rPr lang="en-IN" sz="2800">
                    <a:solidFill>
                      <a:srgbClr val="15803D"/>
                    </a:solidFill>
                    <a:latin typeface="Cambria Math" panose="02040503050406030204" pitchFamily="18" charset="0"/>
                  </a:rPr>
                  <a:t>$=\sqrt{r^2-b^2}$</a:t>
                </a:r>
                <a:r>
                  <a:rPr sz="2800" b="1">
                    <a:solidFill>
                      <a:srgbClr val="15803D"/>
                    </a:solidFill>
                    <a:latin typeface="Arial"/>
                  </a:rPr>
                  <a:t>; hence </a:t>
                </a:r>
                <a:r>
                  <a:rPr lang="en-IN" sz="2800">
                    <a:solidFill>
                      <a:srgbClr val="15803D"/>
                    </a:solidFill>
                    <a:latin typeface="Cambria Math" panose="02040503050406030204" pitchFamily="18" charset="0"/>
                  </a:rPr>
                  <a:t>$PQ=2b$</a:t>
                </a:r>
                <a:endParaRPr sz="2800">
                  <a:solidFill>
                    <a:srgbClr val="15803D"/>
                  </a:solidFill>
                </a:endParaRPr>
              </a:p>
            </p:txBody>
          </p:sp>
        </mc:Fallback>
      </mc:AlternateContent>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line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touches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iff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touches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iff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product of the perpendiculars from the foci on any tangent is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distance of the centre from a tangent is the mean of the two focal distances.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at distance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from the centre of a circle of radius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cuts a chord of length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𝐿</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focal chord parallel to a common tangent of the ellipse and a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has length exactly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oMath>
                </a14:m>
                <a:r>
                  <a:rPr sz="2400" b="0">
                    <a:solidFill>
                      <a:srgbClr val="111827"/>
                    </a:solidFill>
                    <a:latin typeface="Arial"/>
                  </a:rPr>
                  <a:t> for every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line </a:t>
                </a:r>
                <a:r>
                  <a:rPr lang="en-IN" sz="2400">
                    <a:solidFill>
                      <a:srgbClr val="111827"/>
                    </a:solidFill>
                    <a:latin typeface="Cambria Math" panose="02040503050406030204" pitchFamily="18" charset="0"/>
                  </a:rPr>
                  <a:t>$y=mx+c$</a:t>
                </a:r>
                <a:r>
                  <a:rPr sz="2400" b="0">
                    <a:solidFill>
                      <a:srgbClr val="111827"/>
                    </a:solidFill>
                    <a:latin typeface="Arial"/>
                  </a:rPr>
                  <a:t> touches </a:t>
                </a:r>
                <a:r>
                  <a:rPr lang="en-IN" sz="2400">
                    <a:solidFill>
                      <a:srgbClr val="111827"/>
                    </a:solidFill>
                    <a:latin typeface="Cambria Math" panose="02040503050406030204" pitchFamily="18" charset="0"/>
                  </a:rPr>
                  <a:t>$\frac{x^2}{a^2}+\frac{y^2}{b^2}=1$</a:t>
                </a:r>
                <a:r>
                  <a:rPr sz="2400" b="0">
                    <a:solidFill>
                      <a:srgbClr val="111827"/>
                    </a:solidFill>
                    <a:latin typeface="Arial"/>
                  </a:rPr>
                  <a:t> iff </a:t>
                </a:r>
                <a:r>
                  <a:rPr lang="en-IN" sz="2400">
                    <a:solidFill>
                      <a:srgbClr val="111827"/>
                    </a:solidFill>
                    <a:latin typeface="Cambria Math" panose="02040503050406030204" pitchFamily="18" charset="0"/>
                  </a:rPr>
                  <a:t>$c^2=a^2m^2+b^2$</a:t>
                </a:r>
                <a:r>
                  <a:rPr sz="2400" b="0">
                    <a:solidFill>
                      <a:srgbClr val="111827"/>
                    </a:solidFill>
                    <a:latin typeface="Arial"/>
                  </a:rPr>
                  <a:t>, and touches </a:t>
                </a:r>
                <a:r>
                  <a:rPr lang="en-IN" sz="2400">
                    <a:solidFill>
                      <a:srgbClr val="111827"/>
                    </a:solidFill>
                    <a:latin typeface="Cambria Math" panose="02040503050406030204" pitchFamily="18" charset="0"/>
                  </a:rPr>
                  <a:t>$x^2+y^2=r^2$</a:t>
                </a:r>
                <a:r>
                  <a:rPr sz="2400" b="0">
                    <a:solidFill>
                      <a:srgbClr val="111827"/>
                    </a:solidFill>
                    <a:latin typeface="Arial"/>
                  </a:rPr>
                  <a:t> iff </a:t>
                </a:r>
                <a:r>
                  <a:rPr lang="en-IN" sz="2400">
                    <a:solidFill>
                      <a:srgbClr val="111827"/>
                    </a:solidFill>
                    <a:latin typeface="Cambria Math" panose="02040503050406030204" pitchFamily="18" charset="0"/>
                  </a:rPr>
                  <a:t>$c^2=r^2(1+m^2)$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product of the perpendiculars from the foci on any tangent is </a:t>
                </a:r>
                <a:r>
                  <a:rPr lang="en-IN" sz="2400">
                    <a:solidFill>
                      <a:srgbClr val="111827"/>
                    </a:solidFill>
                    <a:latin typeface="Cambria Math" panose="02040503050406030204" pitchFamily="18" charset="0"/>
                  </a:rPr>
                  <a:t>$b^2$</a:t>
                </a:r>
                <a:r>
                  <a:rPr sz="2400" b="0">
                    <a:solidFill>
                      <a:srgbClr val="111827"/>
                    </a:solidFill>
                    <a:latin typeface="Arial"/>
                  </a:rPr>
                  <a:t>; the distance of the centre from a tangent is the mean of the two focal distances.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at distance </a:t>
                </a:r>
                <a:r>
                  <a:rPr lang="en-IN" sz="2400">
                    <a:solidFill>
                      <a:srgbClr val="111827"/>
                    </a:solidFill>
                    <a:latin typeface="Cambria Math" panose="02040503050406030204" pitchFamily="18" charset="0"/>
                  </a:rPr>
                  <a:t>$L$</a:t>
                </a:r>
                <a:r>
                  <a:rPr sz="2400" b="0">
                    <a:solidFill>
                      <a:srgbClr val="111827"/>
                    </a:solidFill>
                    <a:latin typeface="Arial"/>
                  </a:rPr>
                  <a:t> from the centre of a circle of radius </a:t>
                </a:r>
                <a:r>
                  <a:rPr lang="en-IN" sz="2400">
                    <a:solidFill>
                      <a:srgbClr val="111827"/>
                    </a:solidFill>
                    <a:latin typeface="Cambria Math" panose="02040503050406030204" pitchFamily="18" charset="0"/>
                  </a:rPr>
                  <a:t>$r$</a:t>
                </a:r>
                <a:r>
                  <a:rPr sz="2400" b="0">
                    <a:solidFill>
                      <a:srgbClr val="111827"/>
                    </a:solidFill>
                    <a:latin typeface="Arial"/>
                  </a:rPr>
                  <a:t> cuts a chord of length </a:t>
                </a:r>
                <a:r>
                  <a:rPr lang="en-IN" sz="2400">
                    <a:solidFill>
                      <a:srgbClr val="111827"/>
                    </a:solidFill>
                    <a:latin typeface="Cambria Math" panose="02040503050406030204" pitchFamily="18" charset="0"/>
                  </a:rPr>
                  <a:t>$2\sqrt{r^2-L^2}$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focal chord parallel to a common tangent of the ellipse and a circle </a:t>
                </a:r>
                <a:r>
                  <a:rPr lang="en-IN" sz="2400">
                    <a:solidFill>
                      <a:srgbClr val="111827"/>
                    </a:solidFill>
                    <a:latin typeface="Cambria Math" panose="02040503050406030204" pitchFamily="18" charset="0"/>
                  </a:rPr>
                  <a:t>$x^2+y^2=r^2$</a:t>
                </a:r>
                <a:r>
                  <a:rPr sz="2400" b="0">
                    <a:solidFill>
                      <a:srgbClr val="111827"/>
                    </a:solidFill>
                    <a:latin typeface="Arial"/>
                  </a:rPr>
                  <a:t> has length exactly </a:t>
                </a:r>
                <a:r>
                  <a:rPr lang="en-IN" sz="2400">
                    <a:solidFill>
                      <a:srgbClr val="111827"/>
                    </a:solidFill>
                    <a:latin typeface="Cambria Math" panose="02040503050406030204" pitchFamily="18" charset="0"/>
                  </a:rPr>
                  <a:t>$2b$</a:t>
                </a:r>
                <a:r>
                  <a:rPr sz="2400" b="0">
                    <a:solidFill>
                      <a:srgbClr val="111827"/>
                    </a:solidFill>
                    <a:latin typeface="Arial"/>
                  </a:rPr>
                  <a:t> for every </a:t>
                </a:r>
                <a:r>
                  <a:rPr lang="en-IN" sz="2400">
                    <a:solidFill>
                      <a:srgbClr val="111827"/>
                    </a:solidFill>
                    <a:latin typeface="Cambria Math" panose="02040503050406030204" pitchFamily="18" charset="0"/>
                  </a:rPr>
                  <a:t>$r\in(b,a)$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ray emanating from the point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incident on the ellipse </a:t>
                </a:r>
                <a14:m>
                  <m:oMath xmlns:m="http://schemas.openxmlformats.org/officeDocument/2006/math">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225</m:t>
                    </m:r>
                  </m:oMath>
                </a14:m>
                <a:r>
                  <a:rPr sz="2400" b="0">
                    <a:solidFill>
                      <a:srgbClr val="111827"/>
                    </a:solidFill>
                    <a:latin typeface="Arial"/>
                  </a:rPr>
                  <a:t> at the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with abscissa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Find the equation of the reflected ray after the first reflection.</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ray emanating from the point </a:t>
                </a:r>
                <a:r>
                  <a:rPr lang="en-IN" sz="2400">
                    <a:solidFill>
                      <a:srgbClr val="111827"/>
                    </a:solidFill>
                    <a:latin typeface="Cambria Math" panose="02040503050406030204" pitchFamily="18" charset="0"/>
                  </a:rPr>
                  <a:t>$(-4,0)$</a:t>
                </a:r>
                <a:r>
                  <a:rPr sz="2400" b="0">
                    <a:solidFill>
                      <a:srgbClr val="111827"/>
                    </a:solidFill>
                    <a:latin typeface="Arial"/>
                  </a:rPr>
                  <a:t> is incident on the ellipse </a:t>
                </a:r>
                <a:r>
                  <a:rPr lang="en-IN" sz="2400">
                    <a:solidFill>
                      <a:srgbClr val="111827"/>
                    </a:solidFill>
                    <a:latin typeface="Cambria Math" panose="02040503050406030204" pitchFamily="18" charset="0"/>
                  </a:rPr>
                  <a:t>$9x^2+25y^2=225$</a:t>
                </a:r>
                <a:r>
                  <a:rPr sz="2400" b="0">
                    <a:solidFill>
                      <a:srgbClr val="111827"/>
                    </a:solidFill>
                    <a:latin typeface="Arial"/>
                  </a:rPr>
                  <a:t> at the point </a:t>
                </a:r>
                <a:r>
                  <a:rPr lang="en-IN" sz="2400">
                    <a:solidFill>
                      <a:srgbClr val="111827"/>
                    </a:solidFill>
                    <a:latin typeface="Cambria Math" panose="02040503050406030204" pitchFamily="18" charset="0"/>
                  </a:rPr>
                  <a:t>$P$</a:t>
                </a:r>
                <a:r>
                  <a:rPr sz="2400" b="0">
                    <a:solidFill>
                      <a:srgbClr val="111827"/>
                    </a:solidFill>
                    <a:latin typeface="Arial"/>
                  </a:rPr>
                  <a:t> with abscissa </a:t>
                </a:r>
                <a:r>
                  <a:rPr lang="en-IN" sz="2400">
                    <a:solidFill>
                      <a:srgbClr val="111827"/>
                    </a:solidFill>
                    <a:latin typeface="Cambria Math" panose="02040503050406030204" pitchFamily="18" charset="0"/>
                  </a:rPr>
                  <a:t>$3$</a:t>
                </a:r>
                <a:r>
                  <a:rPr sz="2400" b="0">
                    <a:solidFill>
                      <a:srgbClr val="111827"/>
                    </a:solidFill>
                    <a:latin typeface="Arial"/>
                  </a:rPr>
                  <a:t>. Find the equation of the reflected ray after the first reflection.</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Reflection property of an ellipse (rays through the foci), Equation of a line through two points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is a focus, and a ray from one focus is reflected through the other focus.</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$(-4,0)$</a:t>
                </a:r>
                <a:r>
                  <a:rPr sz="2400" b="0">
                    <a:solidFill>
                      <a:srgbClr val="78350F"/>
                    </a:solidFill>
                    <a:latin typeface="Arial"/>
                  </a:rPr>
                  <a:t> is a focus, and a ray from one focus is reflected through the other focus.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with abscissa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225</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25</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ellipse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25</m:t>
                            </m:r>
                          </m:den>
                        </m:f>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the foci are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ray starts from the focus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by the reflection property the reflected ray passes through the other focus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$P$</a:t>
                </a:r>
                <a:r>
                  <a:rPr sz="2400" b="0">
                    <a:solidFill>
                      <a:srgbClr val="111827"/>
                    </a:solidFill>
                    <a:latin typeface="Arial"/>
                  </a:rPr>
                  <a:t> with abscissa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$9\cdot9+25y^2=225$</a:t>
                </a:r>
                <a:r>
                  <a:rPr sz="2400" b="0">
                    <a:solidFill>
                      <a:srgbClr val="111827"/>
                    </a:solidFill>
                    <a:latin typeface="Arial"/>
                  </a:rPr>
                  <a:t>, so </a:t>
                </a:r>
                <a:r>
                  <a:rPr lang="en-IN" sz="2400">
                    <a:solidFill>
                      <a:srgbClr val="111827"/>
                    </a:solidFill>
                    <a:latin typeface="Cambria Math" panose="02040503050406030204" pitchFamily="18" charset="0"/>
                  </a:rPr>
                  <a:t>$25y^2=144$</a:t>
                </a:r>
                <a:r>
                  <a:rPr sz="2400" b="0">
                    <a:solidFill>
                      <a:srgbClr val="111827"/>
                    </a:solidFill>
                    <a:latin typeface="Arial"/>
                  </a:rPr>
                  <a:t> and </a:t>
                </a:r>
                <a:r>
                  <a:rPr lang="en-IN" sz="2400">
                    <a:solidFill>
                      <a:srgbClr val="111827"/>
                    </a:solidFill>
                    <a:latin typeface="Cambria Math" panose="02040503050406030204" pitchFamily="18" charset="0"/>
                  </a:rPr>
                  <a:t>$y=\pm\frac{12}{5}$</a:t>
                </a:r>
                <a:r>
                  <a:rPr sz="2400" b="0">
                    <a:solidFill>
                      <a:srgbClr val="111827"/>
                    </a:solidFill>
                    <a:latin typeface="Arial"/>
                  </a:rPr>
                  <a:t>; </a:t>
                </a:r>
                <a:r>
                  <a:rPr lang="en-IN" sz="2400">
                    <a:solidFill>
                      <a:srgbClr val="111827"/>
                    </a:solidFill>
                    <a:latin typeface="Cambria Math" panose="02040503050406030204" pitchFamily="18" charset="0"/>
                  </a:rPr>
                  <a:t>$P=\left(3,\pm\frac{12}{5}\right)$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ellipse is </a:t>
                </a:r>
                <a:r>
                  <a:rPr lang="en-IN" sz="2400">
                    <a:solidFill>
                      <a:srgbClr val="111827"/>
                    </a:solidFill>
                    <a:latin typeface="Cambria Math" panose="02040503050406030204" pitchFamily="18" charset="0"/>
                  </a:rPr>
                  <a:t>$\frac{x^2}{25}+\frac{y^2}{9}=1$</a:t>
                </a:r>
                <a:r>
                  <a:rPr sz="2400" b="0">
                    <a:solidFill>
                      <a:srgbClr val="111827"/>
                    </a:solidFill>
                    <a:latin typeface="Arial"/>
                  </a:rPr>
                  <a:t>: </a:t>
                </a:r>
                <a:r>
                  <a:rPr lang="en-IN" sz="2400">
                    <a:solidFill>
                      <a:srgbClr val="111827"/>
                    </a:solidFill>
                    <a:latin typeface="Cambria Math" panose="02040503050406030204" pitchFamily="18" charset="0"/>
                  </a:rPr>
                  <a:t>$a=5,\ b=3$</a:t>
                </a:r>
                <a:r>
                  <a:rPr sz="2400" b="0">
                    <a:solidFill>
                      <a:srgbClr val="111827"/>
                    </a:solidFill>
                    <a:latin typeface="Arial"/>
                  </a:rPr>
                  <a:t>, </a:t>
                </a:r>
                <a:r>
                  <a:rPr lang="en-IN" sz="2400">
                    <a:solidFill>
                      <a:srgbClr val="111827"/>
                    </a:solidFill>
                    <a:latin typeface="Cambria Math" panose="02040503050406030204" pitchFamily="18" charset="0"/>
                  </a:rPr>
                  <a:t>$e=\sqrt{1-\frac{9}{25}}=\frac45$</a:t>
                </a:r>
                <a:r>
                  <a:rPr sz="2400" b="0">
                    <a:solidFill>
                      <a:srgbClr val="111827"/>
                    </a:solidFill>
                    <a:latin typeface="Arial"/>
                  </a:rPr>
                  <a:t> and </a:t>
                </a:r>
                <a:r>
                  <a:rPr lang="en-IN" sz="2400">
                    <a:solidFill>
                      <a:srgbClr val="111827"/>
                    </a:solidFill>
                    <a:latin typeface="Cambria Math" panose="02040503050406030204" pitchFamily="18" charset="0"/>
                  </a:rPr>
                  <a:t>$ae=4$</a:t>
                </a:r>
                <a:r>
                  <a:rPr sz="2400" b="0">
                    <a:solidFill>
                      <a:srgbClr val="111827"/>
                    </a:solidFill>
                    <a:latin typeface="Arial"/>
                  </a:rPr>
                  <a:t>, so the foci are </a:t>
                </a:r>
                <a:r>
                  <a:rPr lang="en-IN" sz="2400">
                    <a:solidFill>
                      <a:srgbClr val="111827"/>
                    </a:solidFill>
                    <a:latin typeface="Cambria Math" panose="02040503050406030204" pitchFamily="18" charset="0"/>
                  </a:rPr>
                  <a:t>$(\pm4,0)$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ray starts from the focus </a:t>
                </a:r>
                <a:r>
                  <a:rPr lang="en-IN" sz="2400">
                    <a:solidFill>
                      <a:srgbClr val="111827"/>
                    </a:solidFill>
                    <a:latin typeface="Cambria Math" panose="02040503050406030204" pitchFamily="18" charset="0"/>
                  </a:rPr>
                  <a:t>$(-4,0)$</a:t>
                </a:r>
                <a:r>
                  <a:rPr sz="2400" b="0">
                    <a:solidFill>
                      <a:srgbClr val="111827"/>
                    </a:solidFill>
                    <a:latin typeface="Arial"/>
                  </a:rPr>
                  <a:t>; by the reflection property the reflected ray passes through the other focus </a:t>
                </a:r>
                <a:r>
                  <a:rPr lang="en-IN" sz="2400">
                    <a:solidFill>
                      <a:srgbClr val="111827"/>
                    </a:solidFill>
                    <a:latin typeface="Cambria Math" panose="02040503050406030204" pitchFamily="18" charset="0"/>
                  </a:rPr>
                  <a:t>$S(4,0)$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𝑃</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 the reflected ray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oMath>
                </a14:m>
                <a:r>
                  <a:rPr sz="2400" b="0">
                    <a:solidFill>
                      <a:srgbClr val="111827"/>
                    </a:solidFill>
                    <a:latin typeface="Arial"/>
                  </a:rPr>
                  <a:t> has slope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𝑃</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 the slope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$P\left(3,\frac{12}{5}\right)$</a:t>
                </a:r>
                <a:r>
                  <a:rPr sz="2400" b="0">
                    <a:solidFill>
                      <a:srgbClr val="111827"/>
                    </a:solidFill>
                    <a:latin typeface="Arial"/>
                  </a:rPr>
                  <a:t> the reflected ray </a:t>
                </a:r>
                <a:r>
                  <a:rPr lang="en-IN" sz="2400">
                    <a:solidFill>
                      <a:srgbClr val="111827"/>
                    </a:solidFill>
                    <a:latin typeface="Cambria Math" panose="02040503050406030204" pitchFamily="18" charset="0"/>
                  </a:rPr>
                  <a:t>$PS$</a:t>
                </a:r>
                <a:r>
                  <a:rPr sz="2400" b="0">
                    <a:solidFill>
                      <a:srgbClr val="111827"/>
                    </a:solidFill>
                    <a:latin typeface="Arial"/>
                  </a:rPr>
                  <a:t> has slope </a:t>
                </a:r>
                <a:r>
                  <a:rPr lang="en-IN" sz="2400">
                    <a:solidFill>
                      <a:srgbClr val="111827"/>
                    </a:solidFill>
                    <a:latin typeface="Cambria Math" panose="02040503050406030204" pitchFamily="18" charset="0"/>
                  </a:rPr>
                  <a:t>$\frac{0-\frac{12}{5}}{4-3}=-\frac{12}{5}$</a:t>
                </a:r>
                <a:r>
                  <a:rPr sz="2400" b="0">
                    <a:solidFill>
                      <a:srgbClr val="111827"/>
                    </a:solidFill>
                    <a:latin typeface="Arial"/>
                  </a:rPr>
                  <a:t>: </a:t>
                </a:r>
                <a:r>
                  <a:rPr lang="en-IN" sz="2400">
                    <a:solidFill>
                      <a:srgbClr val="111827"/>
                    </a:solidFill>
                    <a:latin typeface="Cambria Math" panose="02040503050406030204" pitchFamily="18" charset="0"/>
                  </a:rPr>
                  <a:t>$12x+5y=48$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$P\left(3,-\frac{12}{5}\right)$</a:t>
                </a:r>
                <a:r>
                  <a:rPr sz="2400" b="0">
                    <a:solidFill>
                      <a:srgbClr val="111827"/>
                    </a:solidFill>
                    <a:latin typeface="Arial"/>
                  </a:rPr>
                  <a:t> the slope is </a:t>
                </a:r>
                <a:r>
                  <a:rPr lang="en-IN" sz="2400">
                    <a:solidFill>
                      <a:srgbClr val="111827"/>
                    </a:solidFill>
                    <a:latin typeface="Cambria Math" panose="02040503050406030204" pitchFamily="18" charset="0"/>
                  </a:rPr>
                  <a:t>$\frac{12}{5}$</a:t>
                </a:r>
                <a:r>
                  <a:rPr sz="2400" b="0">
                    <a:solidFill>
                      <a:srgbClr val="111827"/>
                    </a:solidFill>
                    <a:latin typeface="Arial"/>
                  </a:rPr>
                  <a:t>: </a:t>
                </a:r>
                <a:r>
                  <a:rPr lang="en-IN" sz="2400">
                    <a:solidFill>
                      <a:srgbClr val="111827"/>
                    </a:solidFill>
                    <a:latin typeface="Cambria Math" panose="02040503050406030204" pitchFamily="18" charset="0"/>
                  </a:rPr>
                  <a:t>$12x-5y=48$</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12</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5</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48</m:t>
                    </m:r>
                  </m:oMath>
                </a14:m>
                <a:r>
                  <a:rPr sz="2800" b="1">
                    <a:solidFill>
                      <a:srgbClr val="15803D"/>
                    </a:solidFill>
                    <a:latin typeface="Arial"/>
                  </a:rPr>
                  <a:t> (for </a:t>
                </a:r>
                <a14:m>
                  <m:oMath xmlns:m="http://schemas.openxmlformats.org/officeDocument/2006/math">
                    <m:r>
                      <a:rPr lang="en-IN" sz="2800" i="1">
                        <a:solidFill>
                          <a:srgbClr val="15803D"/>
                        </a:solidFill>
                        <a:latin typeface="Cambria Math" panose="02040503050406030204" pitchFamily="18" charset="0"/>
                      </a:rPr>
                      <m:t>𝑃</m:t>
                    </m:r>
                    <m:d>
                      <m:dPr>
                        <m:begChr m:val="("/>
                        <m:sepChr m:val=""/>
                        <m:endChr m:val=")"/>
                        <m:grow/>
                        <m:ctrlPr>
                          <a:rPr lang="en-IN" sz="2800" i="1">
                            <a:solidFill>
                              <a:srgbClr val="15803D"/>
                            </a:solidFill>
                            <a:latin typeface="Cambria Math" panose="02040503050406030204" pitchFamily="18" charset="0"/>
                          </a:rPr>
                        </m:ctrlPr>
                      </m:dPr>
                      <m:e>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12</m:t>
                            </m:r>
                          </m:num>
                          <m:den>
                            <m:r>
                              <a:rPr lang="en-IN" sz="2800" i="1">
                                <a:solidFill>
                                  <a:srgbClr val="15803D"/>
                                </a:solidFill>
                                <a:latin typeface="Cambria Math" panose="02040503050406030204" pitchFamily="18" charset="0"/>
                              </a:rPr>
                              <m:t>5</m:t>
                            </m:r>
                          </m:den>
                        </m:f>
                      </m:e>
                    </m:d>
                  </m:oMath>
                </a14:m>
                <a:r>
                  <a:rPr sz="2800" b="1">
                    <a:solidFill>
                      <a:srgbClr val="15803D"/>
                    </a:solidFill>
                    <a:latin typeface="Arial"/>
                  </a:rPr>
                  <a:t>) or </a:t>
                </a:r>
                <a14:m>
                  <m:oMath xmlns:m="http://schemas.openxmlformats.org/officeDocument/2006/math">
                    <m:r>
                      <a:rPr lang="en-IN" sz="2800" i="1">
                        <a:solidFill>
                          <a:srgbClr val="15803D"/>
                        </a:solidFill>
                        <a:latin typeface="Cambria Math" panose="02040503050406030204" pitchFamily="18" charset="0"/>
                      </a:rPr>
                      <m:t>12</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5</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48</m:t>
                    </m:r>
                  </m:oMath>
                </a14:m>
                <a:r>
                  <a:rPr sz="2800" b="1">
                    <a:solidFill>
                      <a:srgbClr val="15803D"/>
                    </a:solidFill>
                    <a:latin typeface="Arial"/>
                  </a:rPr>
                  <a:t> (for </a:t>
                </a:r>
                <a14:m>
                  <m:oMath xmlns:m="http://schemas.openxmlformats.org/officeDocument/2006/math">
                    <m:r>
                      <a:rPr lang="en-IN" sz="2800" i="1">
                        <a:solidFill>
                          <a:srgbClr val="15803D"/>
                        </a:solidFill>
                        <a:latin typeface="Cambria Math" panose="02040503050406030204" pitchFamily="18" charset="0"/>
                      </a:rPr>
                      <m:t>𝑃</m:t>
                    </m:r>
                    <m:d>
                      <m:dPr>
                        <m:begChr m:val="("/>
                        <m:sepChr m:val=""/>
                        <m:endChr m:val=")"/>
                        <m:grow/>
                        <m:ctrlPr>
                          <a:rPr lang="en-IN" sz="2800" i="1">
                            <a:solidFill>
                              <a:srgbClr val="15803D"/>
                            </a:solidFill>
                            <a:latin typeface="Cambria Math" panose="02040503050406030204" pitchFamily="18" charset="0"/>
                          </a:rPr>
                        </m:ctrlPr>
                      </m:dPr>
                      <m:e>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12</m:t>
                            </m:r>
                          </m:num>
                          <m:den>
                            <m:r>
                              <a:rPr lang="en-IN" sz="2800" i="1">
                                <a:solidFill>
                                  <a:srgbClr val="15803D"/>
                                </a:solidFill>
                                <a:latin typeface="Cambria Math" panose="02040503050406030204" pitchFamily="18" charset="0"/>
                              </a:rPr>
                              <m:t>5</m:t>
                            </m:r>
                          </m:den>
                        </m:f>
                      </m:e>
                    </m:d>
                  </m:oMath>
                </a14:m>
                <a:r>
                  <a:rPr sz="2800" b="1">
                    <a:solidFill>
                      <a:srgbClr val="15803D"/>
                    </a:solidFill>
                    <a:latin typeface="Arial"/>
                  </a:rPr>
                  <a:t>)</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$12x+5y=48$</a:t>
                </a:r>
                <a:r>
                  <a:rPr sz="2800" b="1">
                    <a:solidFill>
                      <a:srgbClr val="15803D"/>
                    </a:solidFill>
                    <a:latin typeface="Arial"/>
                  </a:rPr>
                  <a:t> (for </a:t>
                </a:r>
                <a:r>
                  <a:rPr lang="en-IN" sz="2800">
                    <a:solidFill>
                      <a:srgbClr val="15803D"/>
                    </a:solidFill>
                    <a:latin typeface="Cambria Math" panose="02040503050406030204" pitchFamily="18" charset="0"/>
                  </a:rPr>
                  <a:t>$P\left(3,\frac{12}{5}\right)$</a:t>
                </a:r>
                <a:r>
                  <a:rPr sz="2800" b="1">
                    <a:solidFill>
                      <a:srgbClr val="15803D"/>
                    </a:solidFill>
                    <a:latin typeface="Arial"/>
                  </a:rPr>
                  <a:t>) or </a:t>
                </a:r>
                <a:r>
                  <a:rPr lang="en-IN" sz="2800">
                    <a:solidFill>
                      <a:srgbClr val="15803D"/>
                    </a:solidFill>
                    <a:latin typeface="Cambria Math" panose="02040503050406030204" pitchFamily="18" charset="0"/>
                  </a:rPr>
                  <a:t>$12x-5y=48$</a:t>
                </a:r>
                <a:r>
                  <a:rPr sz="2800" b="1">
                    <a:solidFill>
                      <a:srgbClr val="15803D"/>
                    </a:solidFill>
                    <a:latin typeface="Arial"/>
                  </a:rPr>
                  <a:t> (for </a:t>
                </a:r>
                <a:r>
                  <a:rPr lang="en-IN" sz="2800">
                    <a:solidFill>
                      <a:srgbClr val="15803D"/>
                    </a:solidFill>
                    <a:latin typeface="Cambria Math" panose="02040503050406030204" pitchFamily="18" charset="0"/>
                  </a:rPr>
                  <a:t>$P\left(3,-\frac{12}{5}\right)$</a:t>
                </a:r>
                <a:r>
                  <a:rPr sz="2800" b="1">
                    <a:solidFill>
                      <a:srgbClr val="15803D"/>
                    </a:solidFill>
                    <a:latin typeface="Arial"/>
                  </a:rPr>
                  <a:t>)</a:t>
                </a:r>
                <a:endParaRPr sz="2800">
                  <a:solidFill>
                    <a:srgbClr val="15803D"/>
                  </a:solidFill>
                </a:endParaRPr>
              </a:p>
            </p:txBody>
          </p:sp>
        </mc:Fallback>
      </mc:AlternateContent>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Reflect the direction of the incident ray in the normal at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(vector reflection) instead of using the focus property.</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Reflect the direction of the incident ray in the normal at </a:t>
                </a:r>
                <a:r>
                  <a:rPr lang="en-IN" sz="2400">
                    <a:solidFill>
                      <a:srgbClr val="78350F"/>
                    </a:solidFill>
                    <a:latin typeface="Cambria Math" panose="02040503050406030204" pitchFamily="18" charset="0"/>
                  </a:rPr>
                  <a:t>$P$</a:t>
                </a:r>
                <a:r>
                  <a:rPr sz="2400" b="0">
                    <a:solidFill>
                      <a:srgbClr val="78350F"/>
                    </a:solidFill>
                    <a:latin typeface="Arial"/>
                  </a:rPr>
                  <a:t> (vector reflection) instead of using the focus property.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 Incident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Reflected direction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111</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481</m:t>
                    </m:r>
                  </m:oMath>
                </a14:m>
                <a:r>
                  <a:rPr sz="2400" b="0">
                    <a:solidFill>
                      <a:srgbClr val="111827"/>
                    </a:solidFill>
                    <a:latin typeface="Arial"/>
                  </a:rPr>
                  <a:t>: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1998</m:t>
                            </m:r>
                          </m:num>
                          <m:den>
                            <m:r>
                              <a:rPr lang="en-IN" sz="2400" i="1">
                                <a:solidFill>
                                  <a:srgbClr val="111827"/>
                                </a:solidFill>
                                <a:latin typeface="Cambria Math" panose="02040503050406030204" pitchFamily="18" charset="0"/>
                              </a:rPr>
                              <m:t>481</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4440</m:t>
                            </m:r>
                          </m:num>
                          <m:den>
                            <m:r>
                              <a:rPr lang="en-IN" sz="2400" i="1">
                                <a:solidFill>
                                  <a:srgbClr val="111827"/>
                                </a:solidFill>
                                <a:latin typeface="Cambria Math" panose="02040503050406030204" pitchFamily="18" charset="0"/>
                              </a:rPr>
                              <m:t>481</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1369</m:t>
                            </m:r>
                          </m:num>
                          <m:den>
                            <m:r>
                              <a:rPr lang="en-IN" sz="2400" i="1">
                                <a:solidFill>
                                  <a:srgbClr val="111827"/>
                                </a:solidFill>
                                <a:latin typeface="Cambria Math" panose="02040503050406030204" pitchFamily="18" charset="0"/>
                              </a:rPr>
                              <m:t>481</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16428</m:t>
                            </m:r>
                          </m:num>
                          <m:den>
                            <m:r>
                              <a:rPr lang="en-IN" sz="2400" i="1">
                                <a:solidFill>
                                  <a:srgbClr val="111827"/>
                                </a:solidFill>
                                <a:latin typeface="Cambria Math" panose="02040503050406030204" pitchFamily="18" charset="0"/>
                              </a:rPr>
                              <m:t>2405</m:t>
                            </m:r>
                          </m:den>
                        </m:f>
                      </m:e>
                    </m: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$P=\left(3,\frac{12}{5}\right)$</a:t>
                </a:r>
                <a:r>
                  <a:rPr sz="2400" b="0">
                    <a:solidFill>
                      <a:srgbClr val="111827"/>
                    </a:solidFill>
                    <a:latin typeface="Arial"/>
                  </a:rPr>
                  <a:t>. Incident direction </a:t>
                </a:r>
                <a:r>
                  <a:rPr lang="en-IN" sz="2400">
                    <a:solidFill>
                      <a:srgbClr val="111827"/>
                    </a:solidFill>
                    <a:latin typeface="Cambria Math" panose="02040503050406030204" pitchFamily="18" charset="0"/>
                  </a:rPr>
                  <a:t>$\vec d=P-(-4,0)=\left(7,\frac{12}{5}\right)$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$\nabla(9x^2+25y^2)=(18x,50y)=(54,120)\parallel\vec n=(9,20)$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Reflected direction </a:t>
                </a:r>
                <a:r>
                  <a:rPr lang="en-IN" sz="2400">
                    <a:solidFill>
                      <a:srgbClr val="111827"/>
                    </a:solidFill>
                    <a:latin typeface="Cambria Math" panose="02040503050406030204" pitchFamily="18" charset="0"/>
                  </a:rPr>
                  <a:t>$\vec d'=\vec d-\frac{2(\vec d\cdot\vec n)}{\vec n\cdot\vec n}\vec n$</a:t>
                </a:r>
                <a:r>
                  <a:rPr sz="2400" b="0">
                    <a:solidFill>
                      <a:srgbClr val="111827"/>
                    </a:solidFill>
                    <a:latin typeface="Arial"/>
                  </a:rPr>
                  <a:t> with </a:t>
                </a:r>
                <a:r>
                  <a:rPr lang="en-IN" sz="2400">
                    <a:solidFill>
                      <a:srgbClr val="111827"/>
                    </a:solidFill>
                    <a:latin typeface="Cambria Math" panose="02040503050406030204" pitchFamily="18" charset="0"/>
                  </a:rPr>
                  <a:t>$\vec d\cdot\vec n=63+48=111$</a:t>
                </a:r>
                <a:r>
                  <a:rPr sz="2400" b="0">
                    <a:solidFill>
                      <a:srgbClr val="111827"/>
                    </a:solidFill>
                    <a:latin typeface="Arial"/>
                  </a:rPr>
                  <a:t> and </a:t>
                </a:r>
                <a:r>
                  <a:rPr lang="en-IN" sz="2400">
                    <a:solidFill>
                      <a:srgbClr val="111827"/>
                    </a:solidFill>
                    <a:latin typeface="Cambria Math" panose="02040503050406030204" pitchFamily="18" charset="0"/>
                  </a:rPr>
                  <a:t>$\vec n\cdot\vec n=481$</a:t>
                </a:r>
                <a:r>
                  <a:rPr sz="2400" b="0">
                    <a:solidFill>
                      <a:srgbClr val="111827"/>
                    </a:solidFill>
                    <a:latin typeface="Arial"/>
                  </a:rPr>
                  <a:t>: </a:t>
                </a:r>
                <a:r>
                  <a:rPr lang="en-IN" sz="2400">
                    <a:solidFill>
                      <a:srgbClr val="111827"/>
                    </a:solidFill>
                    <a:latin typeface="Cambria Math" panose="02040503050406030204" pitchFamily="18" charset="0"/>
                  </a:rPr>
                  <a:t>$\vec d'=\left(7-\frac{1998}{481},\ \frac{12}{5}-\frac{4440}{481}\right)=\left(\frac{1369}{481},-\frac{16428}{2405}\right)$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Slope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16428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2405</m:t>
                        </m:r>
                      </m:num>
                      <m:den>
                        <m:r>
                          <a:rPr lang="en-IN" sz="2400" i="1">
                            <a:solidFill>
                              <a:srgbClr val="111827"/>
                            </a:solidFill>
                            <a:latin typeface="Cambria Math" panose="02040503050406030204" pitchFamily="18" charset="0"/>
                          </a:rPr>
                          <m:t>1369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481</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16428</m:t>
                        </m:r>
                      </m:num>
                      <m:den>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1369</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16428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1369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reflected ray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m:t>
                    </m:r>
                  </m:oMath>
                </a14:m>
                <a:r>
                  <a:rPr sz="2400" b="0">
                    <a:solidFill>
                      <a:srgbClr val="111827"/>
                    </a:solidFill>
                    <a:latin typeface="Arial"/>
                  </a:rPr>
                  <a:t>; for the lower point </a:t>
                </a:r>
                <a14:m>
                  <m:oMath xmlns:m="http://schemas.openxmlformats.org/officeDocument/2006/math">
                    <m:r>
                      <a:rPr lang="en-IN" sz="2400" i="1">
                        <a:solidFill>
                          <a:srgbClr val="111827"/>
                        </a:solidFill>
                        <a:latin typeface="Cambria Math" panose="02040503050406030204" pitchFamily="18" charset="0"/>
                      </a:rPr>
                      <m:t>𝑃</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 the mirror image gives </a:t>
                </a:r>
                <a14:m>
                  <m:oMath xmlns:m="http://schemas.openxmlformats.org/officeDocument/2006/math">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Slope </a:t>
                </a:r>
                <a:r>
                  <a:rPr lang="en-IN" sz="2400">
                    <a:solidFill>
                      <a:srgbClr val="111827"/>
                    </a:solidFill>
                    <a:latin typeface="Cambria Math" panose="02040503050406030204" pitchFamily="18" charset="0"/>
                  </a:rPr>
                  <a:t>$=\frac{-16428/2405}{1369/481}=-\frac{16428}{5\cdot1369}=-\frac{12}{5}$</a:t>
                </a:r>
                <a:r>
                  <a:rPr sz="2400" b="0">
                    <a:solidFill>
                      <a:srgbClr val="111827"/>
                    </a:solidFill>
                    <a:latin typeface="Arial"/>
                  </a:rPr>
                  <a:t> (as </a:t>
                </a:r>
                <a:r>
                  <a:rPr lang="en-IN" sz="2400">
                    <a:solidFill>
                      <a:srgbClr val="111827"/>
                    </a:solidFill>
                    <a:latin typeface="Cambria Math" panose="02040503050406030204" pitchFamily="18" charset="0"/>
                  </a:rPr>
                  <a:t>$16428=12\cdot1369$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reflected ray is </a:t>
                </a:r>
                <a:r>
                  <a:rPr lang="en-IN" sz="2400">
                    <a:solidFill>
                      <a:srgbClr val="111827"/>
                    </a:solidFill>
                    <a:latin typeface="Cambria Math" panose="02040503050406030204" pitchFamily="18" charset="0"/>
                  </a:rPr>
                  <a:t>$y-\frac{12}{5}=-\frac{12}{5}(x-3)$</a:t>
                </a:r>
                <a:r>
                  <a:rPr sz="2400" b="0">
                    <a:solidFill>
                      <a:srgbClr val="111827"/>
                    </a:solidFill>
                    <a:latin typeface="Arial"/>
                  </a:rPr>
                  <a:t>, i.e. </a:t>
                </a:r>
                <a:r>
                  <a:rPr lang="en-IN" sz="2400">
                    <a:solidFill>
                      <a:srgbClr val="111827"/>
                    </a:solidFill>
                    <a:latin typeface="Cambria Math" panose="02040503050406030204" pitchFamily="18" charset="0"/>
                  </a:rPr>
                  <a:t>$12x+5y=48$</a:t>
                </a:r>
                <a:r>
                  <a:rPr sz="2400" b="0">
                    <a:solidFill>
                      <a:srgbClr val="111827"/>
                    </a:solidFill>
                    <a:latin typeface="Arial"/>
                  </a:rPr>
                  <a:t>; for the lower point </a:t>
                </a:r>
                <a:r>
                  <a:rPr lang="en-IN" sz="2400">
                    <a:solidFill>
                      <a:srgbClr val="111827"/>
                    </a:solidFill>
                    <a:latin typeface="Cambria Math" panose="02040503050406030204" pitchFamily="18" charset="0"/>
                  </a:rPr>
                  <a:t>$P\left(3,-\frac{12}{5}\right)$</a:t>
                </a:r>
                <a:r>
                  <a:rPr sz="2400" b="0">
                    <a:solidFill>
                      <a:srgbClr val="111827"/>
                    </a:solidFill>
                    <a:latin typeface="Arial"/>
                  </a:rPr>
                  <a:t> the mirror image gives </a:t>
                </a:r>
                <a:r>
                  <a:rPr lang="en-IN" sz="2400">
                    <a:solidFill>
                      <a:srgbClr val="111827"/>
                    </a:solidFill>
                    <a:latin typeface="Cambria Math" panose="02040503050406030204" pitchFamily="18" charset="0"/>
                  </a:rPr>
                  <a:t>$12x-5y=48$</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12</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5</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48</m:t>
                    </m:r>
                  </m:oMath>
                </a14:m>
                <a:r>
                  <a:rPr sz="2800" b="1">
                    <a:solidFill>
                      <a:srgbClr val="15803D"/>
                    </a:solidFill>
                    <a:latin typeface="Arial"/>
                  </a:rPr>
                  <a:t> (for </a:t>
                </a:r>
                <a14:m>
                  <m:oMath xmlns:m="http://schemas.openxmlformats.org/officeDocument/2006/math">
                    <m:r>
                      <a:rPr lang="en-IN" sz="2800" i="1">
                        <a:solidFill>
                          <a:srgbClr val="15803D"/>
                        </a:solidFill>
                        <a:latin typeface="Cambria Math" panose="02040503050406030204" pitchFamily="18" charset="0"/>
                      </a:rPr>
                      <m:t>𝑃</m:t>
                    </m:r>
                    <m:d>
                      <m:dPr>
                        <m:begChr m:val="("/>
                        <m:sepChr m:val=""/>
                        <m:endChr m:val=")"/>
                        <m:grow/>
                        <m:ctrlPr>
                          <a:rPr lang="en-IN" sz="2800" i="1">
                            <a:solidFill>
                              <a:srgbClr val="15803D"/>
                            </a:solidFill>
                            <a:latin typeface="Cambria Math" panose="02040503050406030204" pitchFamily="18" charset="0"/>
                          </a:rPr>
                        </m:ctrlPr>
                      </m:dPr>
                      <m:e>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12</m:t>
                            </m:r>
                          </m:num>
                          <m:den>
                            <m:r>
                              <a:rPr lang="en-IN" sz="2800" i="1">
                                <a:solidFill>
                                  <a:srgbClr val="15803D"/>
                                </a:solidFill>
                                <a:latin typeface="Cambria Math" panose="02040503050406030204" pitchFamily="18" charset="0"/>
                              </a:rPr>
                              <m:t>5</m:t>
                            </m:r>
                          </m:den>
                        </m:f>
                      </m:e>
                    </m:d>
                  </m:oMath>
                </a14:m>
                <a:r>
                  <a:rPr sz="2800" b="1">
                    <a:solidFill>
                      <a:srgbClr val="15803D"/>
                    </a:solidFill>
                    <a:latin typeface="Arial"/>
                  </a:rPr>
                  <a:t>) or </a:t>
                </a:r>
                <a14:m>
                  <m:oMath xmlns:m="http://schemas.openxmlformats.org/officeDocument/2006/math">
                    <m:r>
                      <a:rPr lang="en-IN" sz="2800" i="1">
                        <a:solidFill>
                          <a:srgbClr val="15803D"/>
                        </a:solidFill>
                        <a:latin typeface="Cambria Math" panose="02040503050406030204" pitchFamily="18" charset="0"/>
                      </a:rPr>
                      <m:t>12</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5</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48</m:t>
                    </m:r>
                  </m:oMath>
                </a14:m>
                <a:r>
                  <a:rPr sz="2800" b="1">
                    <a:solidFill>
                      <a:srgbClr val="15803D"/>
                    </a:solidFill>
                    <a:latin typeface="Arial"/>
                  </a:rPr>
                  <a:t> (for </a:t>
                </a:r>
                <a14:m>
                  <m:oMath xmlns:m="http://schemas.openxmlformats.org/officeDocument/2006/math">
                    <m:r>
                      <a:rPr lang="en-IN" sz="2800" i="1">
                        <a:solidFill>
                          <a:srgbClr val="15803D"/>
                        </a:solidFill>
                        <a:latin typeface="Cambria Math" panose="02040503050406030204" pitchFamily="18" charset="0"/>
                      </a:rPr>
                      <m:t>𝑃</m:t>
                    </m:r>
                    <m:d>
                      <m:dPr>
                        <m:begChr m:val="("/>
                        <m:sepChr m:val=""/>
                        <m:endChr m:val=")"/>
                        <m:grow/>
                        <m:ctrlPr>
                          <a:rPr lang="en-IN" sz="2800" i="1">
                            <a:solidFill>
                              <a:srgbClr val="15803D"/>
                            </a:solidFill>
                            <a:latin typeface="Cambria Math" panose="02040503050406030204" pitchFamily="18" charset="0"/>
                          </a:rPr>
                        </m:ctrlPr>
                      </m:dPr>
                      <m:e>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12</m:t>
                            </m:r>
                          </m:num>
                          <m:den>
                            <m:r>
                              <a:rPr lang="en-IN" sz="2800" i="1">
                                <a:solidFill>
                                  <a:srgbClr val="15803D"/>
                                </a:solidFill>
                                <a:latin typeface="Cambria Math" panose="02040503050406030204" pitchFamily="18" charset="0"/>
                              </a:rPr>
                              <m:t>5</m:t>
                            </m:r>
                          </m:den>
                        </m:f>
                      </m:e>
                    </m:d>
                  </m:oMath>
                </a14:m>
                <a:r>
                  <a:rPr sz="2800" b="1">
                    <a:solidFill>
                      <a:srgbClr val="15803D"/>
                    </a:solidFill>
                    <a:latin typeface="Arial"/>
                  </a:rPr>
                  <a:t>)</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$12x+5y=48$</a:t>
                </a:r>
                <a:r>
                  <a:rPr sz="2800" b="1">
                    <a:solidFill>
                      <a:srgbClr val="15803D"/>
                    </a:solidFill>
                    <a:latin typeface="Arial"/>
                  </a:rPr>
                  <a:t> (for </a:t>
                </a:r>
                <a:r>
                  <a:rPr lang="en-IN" sz="2800">
                    <a:solidFill>
                      <a:srgbClr val="15803D"/>
                    </a:solidFill>
                    <a:latin typeface="Cambria Math" panose="02040503050406030204" pitchFamily="18" charset="0"/>
                  </a:rPr>
                  <a:t>$P\left(3,\frac{12}{5}\right)$</a:t>
                </a:r>
                <a:r>
                  <a:rPr sz="2800" b="1">
                    <a:solidFill>
                      <a:srgbClr val="15803D"/>
                    </a:solidFill>
                    <a:latin typeface="Arial"/>
                  </a:rPr>
                  <a:t>) or </a:t>
                </a:r>
                <a:r>
                  <a:rPr lang="en-IN" sz="2800">
                    <a:solidFill>
                      <a:srgbClr val="15803D"/>
                    </a:solidFill>
                    <a:latin typeface="Cambria Math" panose="02040503050406030204" pitchFamily="18" charset="0"/>
                  </a:rPr>
                  <a:t>$12x-5y=48$</a:t>
                </a:r>
                <a:r>
                  <a:rPr sz="2800" b="1">
                    <a:solidFill>
                      <a:srgbClr val="15803D"/>
                    </a:solidFill>
                    <a:latin typeface="Arial"/>
                  </a:rPr>
                  <a:t> (for </a:t>
                </a:r>
                <a:r>
                  <a:rPr lang="en-IN" sz="2800">
                    <a:solidFill>
                      <a:srgbClr val="15803D"/>
                    </a:solidFill>
                    <a:latin typeface="Cambria Math" panose="02040503050406030204" pitchFamily="18" charset="0"/>
                  </a:rPr>
                  <a:t>$P\left(3,-\frac{12}{5}\right)$</a:t>
                </a:r>
                <a:r>
                  <a:rPr sz="2800" b="1">
                    <a:solidFill>
                      <a:srgbClr val="15803D"/>
                    </a:solidFill>
                    <a:latin typeface="Arial"/>
                  </a:rPr>
                  <a:t>)</a:t>
                </a:r>
                <a:endParaRPr sz="2800">
                  <a:solidFill>
                    <a:srgbClr val="15803D"/>
                  </a:solidFill>
                </a:endParaRPr>
              </a:p>
            </p:txBody>
          </p:sp>
        </mc:Fallback>
      </mc:AlternateContent>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Reflection property of an ellipse: a ray from one focus is reflected through the other focus (the normal bisects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foci are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Reflection of a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in a surface with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Parabola analogue: a ray parallel to the axis passes through the focus after reflection.</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Reflection property of an ellipse: a ray from one focus is reflected through the other focus (the normal bisects </a:t>
                </a:r>
                <a:r>
                  <a:rPr lang="en-IN" sz="2400">
                    <a:solidFill>
                      <a:srgbClr val="111827"/>
                    </a:solidFill>
                    <a:latin typeface="Cambria Math" panose="02040503050406030204" pitchFamily="18" charset="0"/>
                  </a:rPr>
                  <a:t>$\angle SPS'$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$\frac{x^2}{a^2}+\frac{y^2}{b^2}=1$</a:t>
                </a:r>
                <a:r>
                  <a:rPr sz="2400" b="0">
                    <a:solidFill>
                      <a:srgbClr val="111827"/>
                    </a:solidFill>
                    <a:latin typeface="Arial"/>
                  </a:rPr>
                  <a:t> the foci are </a:t>
                </a:r>
                <a:r>
                  <a:rPr lang="en-IN" sz="2400">
                    <a:solidFill>
                      <a:srgbClr val="111827"/>
                    </a:solidFill>
                    <a:latin typeface="Cambria Math" panose="02040503050406030204" pitchFamily="18" charset="0"/>
                  </a:rPr>
                  <a:t>$(\pm ae,0)$</a:t>
                </a:r>
                <a:r>
                  <a:rPr sz="2400" b="0">
                    <a:solidFill>
                      <a:srgbClr val="111827"/>
                    </a:solidFill>
                    <a:latin typeface="Arial"/>
                  </a:rPr>
                  <a:t> with </a:t>
                </a:r>
                <a:r>
                  <a:rPr lang="en-IN" sz="2400">
                    <a:solidFill>
                      <a:srgbClr val="111827"/>
                    </a:solidFill>
                    <a:latin typeface="Cambria Math" panose="02040503050406030204" pitchFamily="18" charset="0"/>
                  </a:rPr>
                  <a:t>$ae=\sqrt{a^2-b^2}$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Reflection of a direction </a:t>
                </a:r>
                <a:r>
                  <a:rPr lang="en-IN" sz="2400">
                    <a:solidFill>
                      <a:srgbClr val="111827"/>
                    </a:solidFill>
                    <a:latin typeface="Cambria Math" panose="02040503050406030204" pitchFamily="18" charset="0"/>
                  </a:rPr>
                  <a:t>$\vec d$</a:t>
                </a:r>
                <a:r>
                  <a:rPr sz="2400" b="0">
                    <a:solidFill>
                      <a:srgbClr val="111827"/>
                    </a:solidFill>
                    <a:latin typeface="Arial"/>
                  </a:rPr>
                  <a:t> in a surface with normal </a:t>
                </a:r>
                <a:r>
                  <a:rPr lang="en-IN" sz="2400">
                    <a:solidFill>
                      <a:srgbClr val="111827"/>
                    </a:solidFill>
                    <a:latin typeface="Cambria Math" panose="02040503050406030204" pitchFamily="18" charset="0"/>
                  </a:rPr>
                  <a:t>$\vec n$</a:t>
                </a:r>
                <a:r>
                  <a:rPr sz="2400" b="0">
                    <a:solidFill>
                      <a:srgbClr val="111827"/>
                    </a:solidFill>
                    <a:latin typeface="Arial"/>
                  </a:rPr>
                  <a:t>: </a:t>
                </a:r>
                <a:r>
                  <a:rPr lang="en-IN" sz="2400">
                    <a:solidFill>
                      <a:srgbClr val="111827"/>
                    </a:solidFill>
                    <a:latin typeface="Cambria Math" panose="02040503050406030204" pitchFamily="18" charset="0"/>
                  </a:rPr>
                  <a:t>$\vec d'=\vec d-\frac{2\,\vec d\cdot\vec n}{\vec n\cdot\vec n}\vec 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Parabola analogue: a ray parallel to the axis passes through the focus after reflection.</a:t>
                </a:r>
                <a:endParaRPr sz="2400">
                  <a:solidFill>
                    <a:srgbClr val="111827"/>
                  </a:solidFill>
                </a:endParaRPr>
              </a:p>
            </p:txBody>
          </p:sp>
        </mc:Fallback>
      </mc:AlternateContent>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0810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Variable pairs of chords at right angles are drawn through any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(with eccentric angle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on the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to meet the ellipse at two points say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If the line joining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passes through a fixed point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such that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has the value equal to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𝑛</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are relatively prime positive integers, find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30810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Variable pairs of chords at right angles are drawn through any point </a:t>
                </a:r>
                <a:r>
                  <a:rPr lang="en-IN" sz="2400">
                    <a:solidFill>
                      <a:srgbClr val="111827"/>
                    </a:solidFill>
                    <a:latin typeface="Cambria Math" panose="02040503050406030204" pitchFamily="18" charset="0"/>
                  </a:rPr>
                  <a:t>$P$</a:t>
                </a:r>
                <a:r>
                  <a:rPr sz="2400" b="0">
                    <a:solidFill>
                      <a:srgbClr val="111827"/>
                    </a:solidFill>
                    <a:latin typeface="Arial"/>
                  </a:rPr>
                  <a:t> (with eccentric angle </a:t>
                </a:r>
                <a:r>
                  <a:rPr lang="en-IN" sz="2400">
                    <a:solidFill>
                      <a:srgbClr val="111827"/>
                    </a:solidFill>
                    <a:latin typeface="Cambria Math" panose="02040503050406030204" pitchFamily="18" charset="0"/>
                  </a:rPr>
                  <a:t>$\frac\pi4$</a:t>
                </a:r>
                <a:r>
                  <a:rPr sz="2400" b="0">
                    <a:solidFill>
                      <a:srgbClr val="111827"/>
                    </a:solidFill>
                    <a:latin typeface="Arial"/>
                  </a:rPr>
                  <a:t>) on the ellipse </a:t>
                </a:r>
                <a:r>
                  <a:rPr lang="en-IN" sz="2400">
                    <a:solidFill>
                      <a:srgbClr val="111827"/>
                    </a:solidFill>
                    <a:latin typeface="Cambria Math" panose="02040503050406030204" pitchFamily="18" charset="0"/>
                  </a:rPr>
                  <a:t>$\frac{x^2}{4}+y^2=1$</a:t>
                </a:r>
                <a:r>
                  <a:rPr sz="2400" b="0">
                    <a:solidFill>
                      <a:srgbClr val="111827"/>
                    </a:solidFill>
                    <a:latin typeface="Arial"/>
                  </a:rPr>
                  <a:t>, to meet the ellipse at two points say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If the line joining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passes through a fixed point </a:t>
                </a:r>
                <a:r>
                  <a:rPr lang="en-IN" sz="2400">
                    <a:solidFill>
                      <a:srgbClr val="111827"/>
                    </a:solidFill>
                    <a:latin typeface="Cambria Math" panose="02040503050406030204" pitchFamily="18" charset="0"/>
                  </a:rPr>
                  <a:t>$Q(a,b)$</a:t>
                </a:r>
                <a:r>
                  <a:rPr sz="2400" b="0">
                    <a:solidFill>
                      <a:srgbClr val="111827"/>
                    </a:solidFill>
                    <a:latin typeface="Arial"/>
                  </a:rPr>
                  <a:t> such that </a:t>
                </a:r>
                <a:r>
                  <a:rPr lang="en-IN" sz="2400">
                    <a:solidFill>
                      <a:srgbClr val="111827"/>
                    </a:solidFill>
                    <a:latin typeface="Cambria Math" panose="02040503050406030204" pitchFamily="18" charset="0"/>
                  </a:rPr>
                  <a:t>$a^2+b^2$</a:t>
                </a:r>
                <a:r>
                  <a:rPr sz="2400" b="0">
                    <a:solidFill>
                      <a:srgbClr val="111827"/>
                    </a:solidFill>
                    <a:latin typeface="Arial"/>
                  </a:rPr>
                  <a:t> has the value equal to </a:t>
                </a:r>
                <a:r>
                  <a:rPr lang="en-IN" sz="2400">
                    <a:solidFill>
                      <a:srgbClr val="111827"/>
                    </a:solidFill>
                    <a:latin typeface="Cambria Math" panose="02040503050406030204" pitchFamily="18" charset="0"/>
                  </a:rPr>
                  <a:t>$\frac{m}{n}$</a:t>
                </a:r>
                <a:r>
                  <a:rPr sz="2400" b="0">
                    <a:solidFill>
                      <a:srgbClr val="111827"/>
                    </a:solidFill>
                    <a:latin typeface="Arial"/>
                  </a:rPr>
                  <a:t>, where </a:t>
                </a:r>
                <a:r>
                  <a:rPr lang="en-IN" sz="2400">
                    <a:solidFill>
                      <a:srgbClr val="111827"/>
                    </a:solidFill>
                    <a:latin typeface="Cambria Math" panose="02040503050406030204" pitchFamily="18" charset="0"/>
                  </a:rPr>
                  <a:t>$m,n$</a:t>
                </a:r>
                <a:r>
                  <a:rPr sz="2400" b="0">
                    <a:solidFill>
                      <a:srgbClr val="111827"/>
                    </a:solidFill>
                    <a:latin typeface="Arial"/>
                  </a:rPr>
                  <a:t> are relatively prime positive integers, find </a:t>
                </a:r>
                <a:r>
                  <a:rPr lang="en-IN" sz="2400">
                    <a:solidFill>
                      <a:srgbClr val="111827"/>
                    </a:solidFill>
                    <a:latin typeface="Cambria Math" panose="02040503050406030204" pitchFamily="18" charset="0"/>
                  </a:rPr>
                  <a:t>$(m+n)$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Chords of an ellipse at right angles through a point (fixed point), Eccentric angle and parametric point of an ellipse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Shift the origin to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and homogenise: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𝐵</m:t>
                    </m:r>
                  </m:oMath>
                </a14:m>
                <a:r>
                  <a:rPr sz="2400" b="0">
                    <a:solidFill>
                      <a:srgbClr val="78350F"/>
                    </a:solidFill>
                    <a:latin typeface="Arial"/>
                  </a:rPr>
                  <a:t> means the coefficients of </a:t>
                </a:r>
                <a14:m>
                  <m:oMath xmlns:m="http://schemas.openxmlformats.org/officeDocument/2006/math">
                    <m:sSup>
                      <m:e>
                        <m:r>
                          <a:rPr lang="en-IN" sz="2400" i="1">
                            <a:solidFill>
                              <a:srgbClr val="78350F"/>
                            </a:solidFill>
                            <a:latin typeface="Cambria Math" panose="02040503050406030204" pitchFamily="18" charset="0"/>
                          </a:rPr>
                          <m:t>𝑋</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a:t>
                </a:r>
                <a14:m>
                  <m:oMath xmlns:m="http://schemas.openxmlformats.org/officeDocument/2006/math">
                    <m:sSup>
                      <m:e>
                        <m:r>
                          <a:rPr lang="en-IN" sz="2400" i="1">
                            <a:solidFill>
                              <a:srgbClr val="78350F"/>
                            </a:solidFill>
                            <a:latin typeface="Cambria Math" panose="02040503050406030204" pitchFamily="18" charset="0"/>
                          </a:rPr>
                          <m:t>𝑌</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add to zero, which makes the line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pass through a fixed point.</a:t>
                </a:r>
                <a:endParaRPr sz="2400">
                  <a:solidFill>
                    <a:srgbClr val="78350F"/>
                  </a:solidFill>
                </a:endParaRPr>
              </a:p>
            </p:txBody>
          </p:sp>
        </mc:Choice>
        <mc:Fallback>
          <p:sp>
            <p:nvSpPr>
              <p:cNvPr id="5" name="Rounded Rectangle 4"/>
              <p:cNvSpPr/>
              <p:nvPr/>
            </p:nvSpPr>
            <p:spPr>
              <a:xfrm>
                <a:off x="731520" y="365760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Shift the origin to </a:t>
                </a:r>
                <a:r>
                  <a:rPr lang="en-IN" sz="2400">
                    <a:solidFill>
                      <a:srgbClr val="78350F"/>
                    </a:solidFill>
                    <a:latin typeface="Cambria Math" panose="02040503050406030204" pitchFamily="18" charset="0"/>
                  </a:rPr>
                  <a:t>$P$</a:t>
                </a:r>
                <a:r>
                  <a:rPr sz="2400" b="0">
                    <a:solidFill>
                      <a:srgbClr val="78350F"/>
                    </a:solidFill>
                    <a:latin typeface="Arial"/>
                  </a:rPr>
                  <a:t> and homogenise: </a:t>
                </a:r>
                <a:r>
                  <a:rPr lang="en-IN" sz="2400">
                    <a:solidFill>
                      <a:srgbClr val="78350F"/>
                    </a:solidFill>
                    <a:latin typeface="Cambria Math" panose="02040503050406030204" pitchFamily="18" charset="0"/>
                  </a:rPr>
                  <a:t>$PA\perp PB$</a:t>
                </a:r>
                <a:r>
                  <a:rPr sz="2400" b="0">
                    <a:solidFill>
                      <a:srgbClr val="78350F"/>
                    </a:solidFill>
                    <a:latin typeface="Arial"/>
                  </a:rPr>
                  <a:t> means the coefficients of </a:t>
                </a:r>
                <a:r>
                  <a:rPr lang="en-IN" sz="2400">
                    <a:solidFill>
                      <a:srgbClr val="78350F"/>
                    </a:solidFill>
                    <a:latin typeface="Cambria Math" panose="02040503050406030204" pitchFamily="18" charset="0"/>
                  </a:rPr>
                  <a:t>$X^2$</a:t>
                </a:r>
                <a:r>
                  <a:rPr sz="2400" b="0">
                    <a:solidFill>
                      <a:srgbClr val="78350F"/>
                    </a:solidFill>
                    <a:latin typeface="Arial"/>
                  </a:rPr>
                  <a:t> and </a:t>
                </a:r>
                <a:r>
                  <a:rPr lang="en-IN" sz="2400">
                    <a:solidFill>
                      <a:srgbClr val="78350F"/>
                    </a:solidFill>
                    <a:latin typeface="Cambria Math" panose="02040503050406030204" pitchFamily="18" charset="0"/>
                  </a:rPr>
                  <a:t>$Y^2$</a:t>
                </a:r>
                <a:r>
                  <a:rPr sz="2400" b="0">
                    <a:solidFill>
                      <a:srgbClr val="78350F"/>
                    </a:solidFill>
                    <a:latin typeface="Arial"/>
                  </a:rPr>
                  <a:t> add to zero, which makes the line </a:t>
                </a:r>
                <a:r>
                  <a:rPr lang="en-IN" sz="2400">
                    <a:solidFill>
                      <a:srgbClr val="78350F"/>
                    </a:solidFill>
                    <a:latin typeface="Cambria Math" panose="02040503050406030204" pitchFamily="18" charset="0"/>
                  </a:rPr>
                  <a:t>$AB$</a:t>
                </a:r>
                <a:r>
                  <a:rPr sz="2400" b="0">
                    <a:solidFill>
                      <a:srgbClr val="78350F"/>
                    </a:solidFill>
                    <a:latin typeface="Arial"/>
                  </a:rPr>
                  <a:t> pass through a fixed point.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276088"/>
                <a:ext cx="10725912" cy="13990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ellipse equation is not legible in the PDF;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the one consistent with the PDF's surviving line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the key </a:t>
                </a:r>
                <a14:m>
                  <m:oMath xmlns:m="http://schemas.openxmlformats.org/officeDocument/2006/math">
                    <m:r>
                      <a:rPr lang="en-IN" sz="2400" i="1">
                        <a:solidFill>
                          <a:srgbClr val="111827"/>
                        </a:solidFill>
                        <a:latin typeface="Cambria Math" panose="02040503050406030204" pitchFamily="18" charset="0"/>
                      </a:rPr>
                      <m:t>19</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276088"/>
                <a:ext cx="10725912" cy="13990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ellipse equation is not legible in the PDF; </a:t>
                </a:r>
                <a:r>
                  <a:rPr lang="en-IN" sz="2400">
                    <a:solidFill>
                      <a:srgbClr val="111827"/>
                    </a:solidFill>
                    <a:latin typeface="Cambria Math" panose="02040503050406030204" pitchFamily="18" charset="0"/>
                  </a:rPr>
                  <a:t>$\frac{x^2}{4}+y^2=1$</a:t>
                </a:r>
                <a:r>
                  <a:rPr sz="2400" b="0">
                    <a:solidFill>
                      <a:srgbClr val="111827"/>
                    </a:solidFill>
                    <a:latin typeface="Arial"/>
                  </a:rPr>
                  <a:t> is the one consistent with the PDF's surviving line </a:t>
                </a:r>
                <a:r>
                  <a:rPr lang="en-IN" sz="2400">
                    <a:solidFill>
                      <a:srgbClr val="111827"/>
                    </a:solidFill>
                    <a:latin typeface="Cambria Math" panose="02040503050406030204" pitchFamily="18" charset="0"/>
                  </a:rPr>
                  <a:t>$x+2y=0$</a:t>
                </a:r>
                <a:r>
                  <a:rPr sz="2400" b="0">
                    <a:solidFill>
                      <a:srgbClr val="111827"/>
                    </a:solidFill>
                    <a:latin typeface="Arial"/>
                  </a:rPr>
                  <a:t> and the key </a:t>
                </a:r>
                <a:r>
                  <a:rPr lang="en-IN" sz="2400">
                    <a:solidFill>
                      <a:srgbClr val="111827"/>
                    </a:solidFill>
                    <a:latin typeface="Cambria Math" panose="02040503050406030204" pitchFamily="18" charset="0"/>
                  </a:rPr>
                  <a:t>$19$</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has eccentric angle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Shift the origin to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The ellipse becomes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𝑋</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(using </a:t>
                </a:r>
                <a14:m>
                  <m:oMath xmlns:m="http://schemas.openxmlformats.org/officeDocument/2006/math">
                    <m:f>
                      <m:fPr>
                        <m:type m:val="bar"/>
                        <m:ctrlPr>
                          <a:rPr lang="en-IN" sz="2400" i="1">
                            <a:solidFill>
                              <a:srgbClr val="111827"/>
                            </a:solidFill>
                            <a:latin typeface="Cambria Math" panose="02040503050406030204" pitchFamily="18" charset="0"/>
                          </a:rPr>
                        </m:ctrlPr>
                      </m:fPr>
                      <m:num>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the chord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be </a:t>
                </a:r>
                <a14:m>
                  <m:oMath xmlns:m="http://schemas.openxmlformats.org/officeDocument/2006/math">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(it does not pass through the new origin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Homogenise the ellipse with it: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𝑋</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a:rPr lang="en-IN" sz="2400" i="1">
                            <a:solidFill>
                              <a:srgbClr val="111827"/>
                            </a:solidFill>
                            <a:latin typeface="Cambria Math" panose="02040503050406030204" pitchFamily="18" charset="0"/>
                          </a:rPr>
                          <m:t>𝑌</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 the pair of lines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oMath>
                </a14:m>
                <a:r>
                  <a:rPr sz="2400" b="0">
                    <a:solidFill>
                      <a:srgbClr val="111827"/>
                    </a:solidFill>
                    <a:latin typeface="Arial"/>
                  </a:rPr>
                  <a:t>: coefficient of </a:t>
                </a:r>
                <a14:m>
                  <m:oMath xmlns:m="http://schemas.openxmlformats.org/officeDocument/2006/math">
                    <m:sSup>
                      <m:e>
                        <m:r>
                          <a:rPr lang="en-IN" sz="2400" i="1">
                            <a:solidFill>
                              <a:srgbClr val="111827"/>
                            </a:solidFill>
                            <a:latin typeface="Cambria Math" panose="02040503050406030204" pitchFamily="18" charset="0"/>
                          </a:rPr>
                          <m:t>𝑋</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 coefficient of </a:t>
                </a:r>
                <a14:m>
                  <m:oMath xmlns:m="http://schemas.openxmlformats.org/officeDocument/2006/math">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a:rPr lang="en-IN" sz="2400" i="1">
                                <a:solidFill>
                                  <a:srgbClr val="111827"/>
                                </a:solidFill>
                                <a:latin typeface="Cambria Math" panose="02040503050406030204" pitchFamily="18" charset="0"/>
                              </a:rPr>
                              <m:t>𝑙</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a:rPr lang="en-IN" sz="2400" i="1">
                            <a:solidFill>
                              <a:srgbClr val="111827"/>
                            </a:solidFill>
                            <a:latin typeface="Cambria Math" panose="02040503050406030204" pitchFamily="18" charset="0"/>
                          </a:rPr>
                          <m:t>𝑚</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t>
                </a:r>
                <a:r>
                  <a:rPr sz="2400" b="0">
                    <a:solidFill>
                      <a:srgbClr val="111827"/>
                    </a:solidFill>
                    <a:latin typeface="Arial"/>
                  </a:rPr>
                  <a:t> has eccentric angle </a:t>
                </a:r>
                <a:r>
                  <a:rPr lang="en-IN" sz="2400">
                    <a:solidFill>
                      <a:srgbClr val="111827"/>
                    </a:solidFill>
                    <a:latin typeface="Cambria Math" panose="02040503050406030204" pitchFamily="18" charset="0"/>
                  </a:rPr>
                  <a:t>$\frac\pi4$</a:t>
                </a:r>
                <a:r>
                  <a:rPr sz="2400" b="0">
                    <a:solidFill>
                      <a:srgbClr val="111827"/>
                    </a:solidFill>
                    <a:latin typeface="Arial"/>
                  </a:rPr>
                  <a:t>: </a:t>
                </a:r>
                <a:r>
                  <a:rPr lang="en-IN" sz="2400">
                    <a:solidFill>
                      <a:srgbClr val="111827"/>
                    </a:solidFill>
                    <a:latin typeface="Cambria Math" panose="02040503050406030204" pitchFamily="18" charset="0"/>
                  </a:rPr>
                  <a:t>$P=(x_0,y_0)=\left(\sqrt2,\frac1{\sqrt2}\right)$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Shift the origin to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$x=X+x_0$</a:t>
                </a:r>
                <a:r>
                  <a:rPr sz="2400" b="0">
                    <a:solidFill>
                      <a:srgbClr val="111827"/>
                    </a:solidFill>
                    <a:latin typeface="Arial"/>
                  </a:rPr>
                  <a:t>, </a:t>
                </a:r>
                <a:r>
                  <a:rPr lang="en-IN" sz="2400">
                    <a:solidFill>
                      <a:srgbClr val="111827"/>
                    </a:solidFill>
                    <a:latin typeface="Cambria Math" panose="02040503050406030204" pitchFamily="18" charset="0"/>
                  </a:rPr>
                  <a:t>$y=Y+y_0$</a:t>
                </a:r>
                <a:r>
                  <a:rPr sz="2400" b="0">
                    <a:solidFill>
                      <a:srgbClr val="111827"/>
                    </a:solidFill>
                    <a:latin typeface="Arial"/>
                  </a:rPr>
                  <a:t>. The ellipse becomes </a:t>
                </a:r>
                <a:r>
                  <a:rPr lang="en-IN" sz="2400">
                    <a:solidFill>
                      <a:srgbClr val="111827"/>
                    </a:solidFill>
                    <a:latin typeface="Cambria Math" panose="02040503050406030204" pitchFamily="18" charset="0"/>
                  </a:rPr>
                  <a:t>$\frac{X^2}{4}+Y^2+\frac{x_0}{2}X+2y_0Y=0$</a:t>
                </a:r>
                <a:r>
                  <a:rPr sz="2400" b="0">
                    <a:solidFill>
                      <a:srgbClr val="111827"/>
                    </a:solidFill>
                    <a:latin typeface="Arial"/>
                  </a:rPr>
                  <a:t> (using </a:t>
                </a:r>
                <a:r>
                  <a:rPr lang="en-IN" sz="2400">
                    <a:solidFill>
                      <a:srgbClr val="111827"/>
                    </a:solidFill>
                    <a:latin typeface="Cambria Math" panose="02040503050406030204" pitchFamily="18" charset="0"/>
                  </a:rPr>
                  <a:t>$\frac{x_0^2}{4}+y_0^2=1$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the chord </a:t>
                </a:r>
                <a:r>
                  <a:rPr lang="en-IN" sz="2400">
                    <a:solidFill>
                      <a:srgbClr val="111827"/>
                    </a:solidFill>
                    <a:latin typeface="Cambria Math" panose="02040503050406030204" pitchFamily="18" charset="0"/>
                  </a:rPr>
                  <a:t>$AB$</a:t>
                </a:r>
                <a:r>
                  <a:rPr sz="2400" b="0">
                    <a:solidFill>
                      <a:srgbClr val="111827"/>
                    </a:solidFill>
                    <a:latin typeface="Arial"/>
                  </a:rPr>
                  <a:t> be </a:t>
                </a:r>
                <a:r>
                  <a:rPr lang="en-IN" sz="2400">
                    <a:solidFill>
                      <a:srgbClr val="111827"/>
                    </a:solidFill>
                    <a:latin typeface="Cambria Math" panose="02040503050406030204" pitchFamily="18" charset="0"/>
                  </a:rPr>
                  <a:t>$lX+mY=1$</a:t>
                </a:r>
                <a:r>
                  <a:rPr sz="2400" b="0">
                    <a:solidFill>
                      <a:srgbClr val="111827"/>
                    </a:solidFill>
                    <a:latin typeface="Arial"/>
                  </a:rPr>
                  <a:t> (it does not pass through the new origin </a:t>
                </a:r>
                <a:r>
                  <a:rPr lang="en-IN" sz="2400">
                    <a:solidFill>
                      <a:srgbClr val="111827"/>
                    </a:solidFill>
                    <a:latin typeface="Cambria Math" panose="02040503050406030204" pitchFamily="18" charset="0"/>
                  </a:rPr>
                  <a:t>$P$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Homogenise the ellipse with it: </a:t>
                </a:r>
                <a:r>
                  <a:rPr lang="en-IN" sz="2400">
                    <a:solidFill>
                      <a:srgbClr val="111827"/>
                    </a:solidFill>
                    <a:latin typeface="Cambria Math" panose="02040503050406030204" pitchFamily="18" charset="0"/>
                  </a:rPr>
                  <a:t>$\frac{X^2}{4}+Y^2+\left(\frac{x_0}{2}X+2y_0Y\right)(lX+mY)=0$</a:t>
                </a:r>
                <a:r>
                  <a:rPr sz="2400" b="0">
                    <a:solidFill>
                      <a:srgbClr val="111827"/>
                    </a:solidFill>
                    <a:latin typeface="Arial"/>
                  </a:rPr>
                  <a:t> - the pair of lines </a:t>
                </a:r>
                <a:r>
                  <a:rPr lang="en-IN" sz="2400">
                    <a:solidFill>
                      <a:srgbClr val="111827"/>
                    </a:solidFill>
                    <a:latin typeface="Cambria Math" panose="02040503050406030204" pitchFamily="18" charset="0"/>
                  </a:rPr>
                  <a:t>$PA,PB$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$PA\perp PB$</a:t>
                </a:r>
                <a:r>
                  <a:rPr sz="2400" b="0">
                    <a:solidFill>
                      <a:srgbClr val="111827"/>
                    </a:solidFill>
                    <a:latin typeface="Arial"/>
                  </a:rPr>
                  <a:t>: coefficient of </a:t>
                </a:r>
                <a:r>
                  <a:rPr lang="en-IN" sz="2400">
                    <a:solidFill>
                      <a:srgbClr val="111827"/>
                    </a:solidFill>
                    <a:latin typeface="Cambria Math" panose="02040503050406030204" pitchFamily="18" charset="0"/>
                  </a:rPr>
                  <a:t>$X^2$</a:t>
                </a:r>
                <a:r>
                  <a:rPr sz="2400" b="0">
                    <a:solidFill>
                      <a:srgbClr val="111827"/>
                    </a:solidFill>
                    <a:latin typeface="Arial"/>
                  </a:rPr>
                  <a:t> + coefficient of </a:t>
                </a:r>
                <a:r>
                  <a:rPr lang="en-IN" sz="2400">
                    <a:solidFill>
                      <a:srgbClr val="111827"/>
                    </a:solidFill>
                    <a:latin typeface="Cambria Math" panose="02040503050406030204" pitchFamily="18" charset="0"/>
                  </a:rPr>
                  <a:t>$Y^2=0$</a:t>
                </a:r>
                <a:r>
                  <a:rPr sz="2400" b="0">
                    <a:solidFill>
                      <a:srgbClr val="111827"/>
                    </a:solidFill>
                    <a:latin typeface="Arial"/>
                  </a:rPr>
                  <a:t>: </a:t>
                </a:r>
                <a:r>
                  <a:rPr lang="en-IN" sz="2400">
                    <a:solidFill>
                      <a:srgbClr val="111827"/>
                    </a:solidFill>
                    <a:latin typeface="Cambria Math" panose="02040503050406030204" pitchFamily="18" charset="0"/>
                  </a:rPr>
                  <a:t>$\left(\frac14+\frac{x_0l}{2}\right)+\left(1+2y_0m\right)=0$</a:t>
                </a:r>
                <a:r>
                  <a:rPr sz="2400" b="0">
                    <a:solidFill>
                      <a:srgbClr val="111827"/>
                    </a:solidFill>
                    <a:latin typeface="Arial"/>
                  </a:rPr>
                  <a:t>, i.e. </a:t>
                </a:r>
                <a:r>
                  <a:rPr lang="en-IN" sz="2400">
                    <a:solidFill>
                      <a:srgbClr val="111827"/>
                    </a:solidFill>
                    <a:latin typeface="Cambria Math" panose="02040503050406030204" pitchFamily="18" charset="0"/>
                  </a:rPr>
                  <a:t>$\frac{x_0}{2}l+2y_0m=-\frac54$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Multiply by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5</m:t>
                            </m:r>
                          </m:den>
                        </m:f>
                      </m:e>
                    </m:d>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5</m:t>
                            </m:r>
                          </m:den>
                        </m:f>
                      </m:e>
                    </m:d>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the line </a:t>
                </a:r>
                <a14:m>
                  <m:oMath xmlns:m="http://schemas.openxmlformats.org/officeDocument/2006/math">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passes through the fixed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the original coordinates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5</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5</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m:t>
                        </m:r>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50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45</m:t>
                        </m:r>
                      </m:num>
                      <m:den>
                        <m:r>
                          <a:rPr lang="en-IN" sz="2400" i="1">
                            <a:solidFill>
                              <a:srgbClr val="111827"/>
                            </a:solidFill>
                            <a:latin typeface="Cambria Math" panose="02040503050406030204" pitchFamily="18" charset="0"/>
                          </a:rPr>
                          <m:t>50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Multiply by </a:t>
                </a:r>
                <a:r>
                  <a:rPr lang="en-IN" sz="2400">
                    <a:solidFill>
                      <a:srgbClr val="111827"/>
                    </a:solidFill>
                    <a:latin typeface="Cambria Math" panose="02040503050406030204" pitchFamily="18" charset="0"/>
                  </a:rPr>
                  <a:t>$-\frac45$</a:t>
                </a:r>
                <a:r>
                  <a:rPr sz="2400" b="0">
                    <a:solidFill>
                      <a:srgbClr val="111827"/>
                    </a:solidFill>
                    <a:latin typeface="Arial"/>
                  </a:rPr>
                  <a:t>: </a:t>
                </a:r>
                <a:r>
                  <a:rPr lang="en-IN" sz="2400">
                    <a:solidFill>
                      <a:srgbClr val="111827"/>
                    </a:solidFill>
                    <a:latin typeface="Cambria Math" panose="02040503050406030204" pitchFamily="18" charset="0"/>
                  </a:rPr>
                  <a:t>$\left(-\frac{2x_0}{5}\right)l+\left(-\frac{8y_0}{5}\right)m=1$</a:t>
                </a:r>
                <a:r>
                  <a:rPr sz="2400" b="0">
                    <a:solidFill>
                      <a:srgbClr val="111827"/>
                    </a:solidFill>
                    <a:latin typeface="Arial"/>
                  </a:rPr>
                  <a:t>. So the line </a:t>
                </a:r>
                <a:r>
                  <a:rPr lang="en-IN" sz="2400">
                    <a:solidFill>
                      <a:srgbClr val="111827"/>
                    </a:solidFill>
                    <a:latin typeface="Cambria Math" panose="02040503050406030204" pitchFamily="18" charset="0"/>
                  </a:rPr>
                  <a:t>$lX+mY=1$</a:t>
                </a:r>
                <a:r>
                  <a:rPr sz="2400" b="0">
                    <a:solidFill>
                      <a:srgbClr val="111827"/>
                    </a:solidFill>
                    <a:latin typeface="Arial"/>
                  </a:rPr>
                  <a:t> passes through the fixed point </a:t>
                </a:r>
                <a:r>
                  <a:rPr lang="en-IN" sz="2400">
                    <a:solidFill>
                      <a:srgbClr val="111827"/>
                    </a:solidFill>
                    <a:latin typeface="Cambria Math" panose="02040503050406030204" pitchFamily="18" charset="0"/>
                  </a:rPr>
                  <a:t>$(X,Y)=\left(-\frac{2x_0}{5},-\frac{8y_0}{5}\right)$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the original coordinates </a:t>
                </a:r>
                <a:r>
                  <a:rPr lang="en-IN" sz="2400">
                    <a:solidFill>
                      <a:srgbClr val="111827"/>
                    </a:solidFill>
                    <a:latin typeface="Cambria Math" panose="02040503050406030204" pitchFamily="18" charset="0"/>
                  </a:rPr>
                  <a:t>$Q=\left(x_0-\frac{2x_0}{5},\ y_0-\frac{8y_0}{5}\right)=\left(\frac{3x_0}{5},-\frac{3y_0}{5}\right)=\left(\frac{3\sqrt2}{5},-\frac{3}{5\sqrt2}\right)$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$a^2+b^2=\frac{18}{25}+\frac{9}{50}=\frac{45}{50}=\frac{9}{10}$</a:t>
                </a:r>
                <a:r>
                  <a:rPr sz="2400" b="0">
                    <a:solidFill>
                      <a:srgbClr val="111827"/>
                    </a:solidFill>
                    <a:latin typeface="Arial"/>
                  </a:rPr>
                  <a:t>, so </a:t>
                </a:r>
                <a:r>
                  <a:rPr lang="en-IN" sz="2400">
                    <a:solidFill>
                      <a:srgbClr val="111827"/>
                    </a:solidFill>
                    <a:latin typeface="Cambria Math" panose="02040503050406030204" pitchFamily="18" charset="0"/>
                  </a:rPr>
                  <a:t>$m=9,\ n=10$</a:t>
                </a:r>
                <a:r>
                  <a:rPr sz="2400" b="0">
                    <a:solidFill>
                      <a:srgbClr val="111827"/>
                    </a:solidFill>
                    <a:latin typeface="Arial"/>
                  </a:rPr>
                  <a:t> and </a:t>
                </a:r>
                <a:r>
                  <a:rPr lang="en-IN" sz="2400">
                    <a:solidFill>
                      <a:srgbClr val="111827"/>
                    </a:solidFill>
                    <a:latin typeface="Cambria Math" panose="02040503050406030204" pitchFamily="18" charset="0"/>
                  </a:rPr>
                  <a:t>$m+n=19$</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19</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$19$</a:t>
                </a:r>
                <a:endParaRPr sz="2800">
                  <a:solidFill>
                    <a:srgbClr val="15803D"/>
                  </a:solidFill>
                </a:endParaRPr>
              </a:p>
            </p:txBody>
          </p:sp>
        </mc:Fallback>
      </mc:AlternateContent>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fixed point to locate it as the intersection of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for two special perpendicular pairs: the axis-parallel pair and the slopes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pair.</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fixed point to locate it as the intersection of </a:t>
                </a:r>
                <a:r>
                  <a:rPr lang="en-IN" sz="2400">
                    <a:solidFill>
                      <a:srgbClr val="78350F"/>
                    </a:solidFill>
                    <a:latin typeface="Cambria Math" panose="02040503050406030204" pitchFamily="18" charset="0"/>
                  </a:rPr>
                  <a:t>$AB$</a:t>
                </a:r>
                <a:r>
                  <a:rPr sz="2400" b="0">
                    <a:solidFill>
                      <a:srgbClr val="78350F"/>
                    </a:solidFill>
                    <a:latin typeface="Arial"/>
                  </a:rPr>
                  <a:t> for two special perpendicular pairs: the axis-parallel pair and the slopes </a:t>
                </a:r>
                <a:r>
                  <a:rPr lang="en-IN" sz="2400">
                    <a:solidFill>
                      <a:srgbClr val="78350F"/>
                    </a:solidFill>
                    <a:latin typeface="Cambria Math" panose="02040503050406030204" pitchFamily="18" charset="0"/>
                  </a:rPr>
                  <a:t>$\pm1$</a:t>
                </a:r>
                <a:r>
                  <a:rPr sz="2400" b="0">
                    <a:solidFill>
                      <a:srgbClr val="78350F"/>
                    </a:solidFill>
                    <a:latin typeface="Arial"/>
                  </a:rPr>
                  <a:t> pair.</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Pair 1: chords through </a:t>
                </a:r>
                <a14:m>
                  <m:oMath xmlns:m="http://schemas.openxmlformats.org/officeDocument/2006/math">
                    <m:r>
                      <a:rPr lang="en-IN" sz="2400" i="1">
                        <a:solidFill>
                          <a:srgbClr val="111827"/>
                        </a:solidFill>
                        <a:latin typeface="Cambria Math" panose="02040503050406030204" pitchFamily="18" charset="0"/>
                      </a:rPr>
                      <m:t>𝑃</m:t>
                    </m:r>
                    <m:d>
                      <m:dPr>
                        <m:begChr m:val="("/>
                        <m:sepChr m:val=""/>
                        <m:endChr m:val=")"/>
                        <m:grow/>
                        <m:ctrlPr>
                          <a:rPr lang="en-IN" sz="2400" i="1">
                            <a:solidFill>
                              <a:srgbClr val="111827"/>
                            </a:solidFill>
                            <a:latin typeface="Cambria Math" panose="02040503050406030204" pitchFamily="18" charset="0"/>
                          </a:rPr>
                        </m:ctrlPr>
                      </m:dPr>
                      <m:e>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d>
                  </m:oMath>
                </a14:m>
                <a:r>
                  <a:rPr sz="2400" b="0">
                    <a:solidFill>
                      <a:srgbClr val="111827"/>
                    </a:solidFill>
                    <a:latin typeface="Arial"/>
                  </a:rPr>
                  <a:t> parallel to the axes meet the ellipse again at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1</m:t>
                        </m:r>
                      </m:sub>
                    </m:sSub>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d>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d>
                      <m:dPr>
                        <m:begChr m:val="("/>
                        <m:sepChr m:val=""/>
                        <m:endChr m:val=")"/>
                        <m:grow/>
                        <m:ctrlPr>
                          <a:rPr lang="en-IN" sz="2400" i="1">
                            <a:solidFill>
                              <a:srgbClr val="111827"/>
                            </a:solidFill>
                            <a:latin typeface="Cambria Math" panose="02040503050406030204" pitchFamily="18" charset="0"/>
                          </a:rPr>
                        </m:ctrlPr>
                      </m:dPr>
                      <m:e>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d>
                  </m:oMath>
                </a14:m>
                <a:r>
                  <a:rPr sz="2400" b="0">
                    <a:solidFill>
                      <a:srgbClr val="111827"/>
                    </a:solidFill>
                    <a:latin typeface="Arial"/>
                  </a:rPr>
                  <a:t>. The line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 2: slope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roots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5</m:t>
                        </m:r>
                      </m:den>
                    </m:f>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10</m:t>
                            </m:r>
                          </m:den>
                        </m:f>
                      </m:e>
                    </m: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Pair 1: chords through </a:t>
                </a:r>
                <a:r>
                  <a:rPr lang="en-IN" sz="2400">
                    <a:solidFill>
                      <a:srgbClr val="111827"/>
                    </a:solidFill>
                    <a:latin typeface="Cambria Math" panose="02040503050406030204" pitchFamily="18" charset="0"/>
                  </a:rPr>
                  <a:t>$P\left(\sqrt2,\frac1{\sqrt2}\right)$</a:t>
                </a:r>
                <a:r>
                  <a:rPr sz="2400" b="0">
                    <a:solidFill>
                      <a:srgbClr val="111827"/>
                    </a:solidFill>
                    <a:latin typeface="Arial"/>
                  </a:rPr>
                  <a:t> parallel to the axes meet the ellipse again at </a:t>
                </a:r>
                <a:r>
                  <a:rPr lang="en-IN" sz="2400">
                    <a:solidFill>
                      <a:srgbClr val="111827"/>
                    </a:solidFill>
                    <a:latin typeface="Cambria Math" panose="02040503050406030204" pitchFamily="18" charset="0"/>
                  </a:rPr>
                  <a:t>$A_1\left(-\sqrt2,\frac1{\sqrt2}\right)$</a:t>
                </a:r>
                <a:r>
                  <a:rPr sz="2400" b="0">
                    <a:solidFill>
                      <a:srgbClr val="111827"/>
                    </a:solidFill>
                    <a:latin typeface="Arial"/>
                  </a:rPr>
                  <a:t> and </a:t>
                </a:r>
                <a:r>
                  <a:rPr lang="en-IN" sz="2400">
                    <a:solidFill>
                      <a:srgbClr val="111827"/>
                    </a:solidFill>
                    <a:latin typeface="Cambria Math" panose="02040503050406030204" pitchFamily="18" charset="0"/>
                  </a:rPr>
                  <a:t>$B_1\left(\sqrt2,-\frac1{\sqrt2}\right)$</a:t>
                </a:r>
                <a:r>
                  <a:rPr sz="2400" b="0">
                    <a:solidFill>
                      <a:srgbClr val="111827"/>
                    </a:solidFill>
                    <a:latin typeface="Arial"/>
                  </a:rPr>
                  <a:t>. The line </a:t>
                </a:r>
                <a:r>
                  <a:rPr lang="en-IN" sz="2400">
                    <a:solidFill>
                      <a:srgbClr val="111827"/>
                    </a:solidFill>
                    <a:latin typeface="Cambria Math" panose="02040503050406030204" pitchFamily="18" charset="0"/>
                  </a:rPr>
                  <a:t>$A_1B_1$</a:t>
                </a:r>
                <a:r>
                  <a:rPr sz="2400" b="0">
                    <a:solidFill>
                      <a:srgbClr val="111827"/>
                    </a:solidFill>
                    <a:latin typeface="Arial"/>
                  </a:rPr>
                  <a:t> is </a:t>
                </a:r>
                <a:r>
                  <a:rPr lang="en-IN" sz="2400">
                    <a:solidFill>
                      <a:srgbClr val="111827"/>
                    </a:solidFill>
                    <a:latin typeface="Cambria Math" panose="02040503050406030204" pitchFamily="18" charset="0"/>
                  </a:rPr>
                  <a:t>$x+2y=0$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 2: slope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$y=x-\frac1{\sqrt2}$</a:t>
                </a:r>
                <a:r>
                  <a:rPr sz="2400" b="0">
                    <a:solidFill>
                      <a:srgbClr val="111827"/>
                    </a:solidFill>
                    <a:latin typeface="Arial"/>
                  </a:rPr>
                  <a:t> gives </a:t>
                </a:r>
                <a:r>
                  <a:rPr lang="en-IN" sz="2400">
                    <a:solidFill>
                      <a:srgbClr val="111827"/>
                    </a:solidFill>
                    <a:latin typeface="Cambria Math" panose="02040503050406030204" pitchFamily="18" charset="0"/>
                  </a:rPr>
                  <a:t>$5x^2-4\sqrt2x-2=0$</a:t>
                </a:r>
                <a:r>
                  <a:rPr sz="2400" b="0">
                    <a:solidFill>
                      <a:srgbClr val="111827"/>
                    </a:solidFill>
                    <a:latin typeface="Arial"/>
                  </a:rPr>
                  <a:t>, roots </a:t>
                </a:r>
                <a:r>
                  <a:rPr lang="en-IN" sz="2400">
                    <a:solidFill>
                      <a:srgbClr val="111827"/>
                    </a:solidFill>
                    <a:latin typeface="Cambria Math" panose="02040503050406030204" pitchFamily="18" charset="0"/>
                  </a:rPr>
                  <a:t>$\sqrt2$</a:t>
                </a:r>
                <a:r>
                  <a:rPr sz="2400" b="0">
                    <a:solidFill>
                      <a:srgbClr val="111827"/>
                    </a:solidFill>
                    <a:latin typeface="Arial"/>
                  </a:rPr>
                  <a:t> and </a:t>
                </a:r>
                <a:r>
                  <a:rPr lang="en-IN" sz="2400">
                    <a:solidFill>
                      <a:srgbClr val="111827"/>
                    </a:solidFill>
                    <a:latin typeface="Cambria Math" panose="02040503050406030204" pitchFamily="18" charset="0"/>
                  </a:rPr>
                  <a:t>$-\frac{\sqrt2}{5}$</a:t>
                </a:r>
                <a:r>
                  <a:rPr sz="2400" b="0">
                    <a:solidFill>
                      <a:srgbClr val="111827"/>
                    </a:solidFill>
                    <a:latin typeface="Arial"/>
                  </a:rPr>
                  <a:t>, so </a:t>
                </a:r>
                <a:r>
                  <a:rPr lang="en-IN" sz="2400">
                    <a:solidFill>
                      <a:srgbClr val="111827"/>
                    </a:solidFill>
                    <a:latin typeface="Cambria Math" panose="02040503050406030204" pitchFamily="18" charset="0"/>
                  </a:rPr>
                  <a:t>$A_2=\left(-\frac{\sqrt2}{5},-\frac{7\sqrt2}{10}\right)$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Slope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roots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5</m:t>
                        </m:r>
                      </m:den>
                    </m:f>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10</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slope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Intersect with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10</m:t>
                        </m:r>
                      </m:den>
                    </m:f>
                  </m:oMath>
                </a14:m>
                <a:r>
                  <a:rPr sz="2400" b="0">
                    <a:solidFill>
                      <a:srgbClr val="111827"/>
                    </a:solidFill>
                    <a:latin typeface="Arial"/>
                  </a:rPr>
                  <a:t>. This is the fixed point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(it exists by the problem).</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m:t>
                        </m:r>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m:t>
                        </m:r>
                      </m:num>
                      <m:den>
                        <m:r>
                          <a:rPr lang="en-IN" sz="2400" i="1">
                            <a:solidFill>
                              <a:srgbClr val="111827"/>
                            </a:solidFill>
                            <a:latin typeface="Cambria Math" panose="02040503050406030204" pitchFamily="18" charset="0"/>
                          </a:rPr>
                          <m:t>100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90</m:t>
                        </m:r>
                      </m:num>
                      <m:den>
                        <m:r>
                          <a:rPr lang="en-IN" sz="2400" i="1">
                            <a:solidFill>
                              <a:srgbClr val="111827"/>
                            </a:solidFill>
                            <a:latin typeface="Cambria Math" panose="02040503050406030204" pitchFamily="18" charset="0"/>
                          </a:rPr>
                          <m:t>100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Slope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$y=-x+\frac{3}{\sqrt2}$</a:t>
                </a:r>
                <a:r>
                  <a:rPr sz="2400" b="0">
                    <a:solidFill>
                      <a:srgbClr val="111827"/>
                    </a:solidFill>
                    <a:latin typeface="Arial"/>
                  </a:rPr>
                  <a:t> gives </a:t>
                </a:r>
                <a:r>
                  <a:rPr lang="en-IN" sz="2400">
                    <a:solidFill>
                      <a:srgbClr val="111827"/>
                    </a:solidFill>
                    <a:latin typeface="Cambria Math" panose="02040503050406030204" pitchFamily="18" charset="0"/>
                  </a:rPr>
                  <a:t>$5x^2-12\sqrt2x+14=0$</a:t>
                </a:r>
                <a:r>
                  <a:rPr sz="2400" b="0">
                    <a:solidFill>
                      <a:srgbClr val="111827"/>
                    </a:solidFill>
                    <a:latin typeface="Arial"/>
                  </a:rPr>
                  <a:t>, roots </a:t>
                </a:r>
                <a:r>
                  <a:rPr lang="en-IN" sz="2400">
                    <a:solidFill>
                      <a:srgbClr val="111827"/>
                    </a:solidFill>
                    <a:latin typeface="Cambria Math" panose="02040503050406030204" pitchFamily="18" charset="0"/>
                  </a:rPr>
                  <a:t>$\sqrt2$</a:t>
                </a:r>
                <a:r>
                  <a:rPr sz="2400" b="0">
                    <a:solidFill>
                      <a:srgbClr val="111827"/>
                    </a:solidFill>
                    <a:latin typeface="Arial"/>
                  </a:rPr>
                  <a:t> and </a:t>
                </a:r>
                <a:r>
                  <a:rPr lang="en-IN" sz="2400">
                    <a:solidFill>
                      <a:srgbClr val="111827"/>
                    </a:solidFill>
                    <a:latin typeface="Cambria Math" panose="02040503050406030204" pitchFamily="18" charset="0"/>
                  </a:rPr>
                  <a:t>$\frac{7\sqrt2}{5}$</a:t>
                </a:r>
                <a:r>
                  <a:rPr sz="2400" b="0">
                    <a:solidFill>
                      <a:srgbClr val="111827"/>
                    </a:solidFill>
                    <a:latin typeface="Arial"/>
                  </a:rPr>
                  <a:t>, so </a:t>
                </a:r>
                <a:r>
                  <a:rPr lang="en-IN" sz="2400">
                    <a:solidFill>
                      <a:srgbClr val="111827"/>
                    </a:solidFill>
                    <a:latin typeface="Cambria Math" panose="02040503050406030204" pitchFamily="18" charset="0"/>
                  </a:rPr>
                  <a:t>$B_2=\left(\frac{7\sqrt2}{5},\frac{\sqrt2}{10}\right)$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a:t>
                </a:r>
                <a:r>
                  <a:rPr lang="en-IN" sz="2400">
                    <a:solidFill>
                      <a:srgbClr val="111827"/>
                    </a:solidFill>
                    <a:latin typeface="Cambria Math" panose="02040503050406030204" pitchFamily="18" charset="0"/>
                  </a:rPr>
                  <a:t>$A_2B_2$</a:t>
                </a:r>
                <a:r>
                  <a:rPr sz="2400" b="0">
                    <a:solidFill>
                      <a:srgbClr val="111827"/>
                    </a:solidFill>
                    <a:latin typeface="Arial"/>
                  </a:rPr>
                  <a:t>: slope </a:t>
                </a:r>
                <a:r>
                  <a:rPr lang="en-IN" sz="2400">
                    <a:solidFill>
                      <a:srgbClr val="111827"/>
                    </a:solidFill>
                    <a:latin typeface="Cambria Math" panose="02040503050406030204" pitchFamily="18" charset="0"/>
                  </a:rPr>
                  <a:t>$\frac{8\sqrt2/10}{8\sqrt2/5}=\frac12$</a:t>
                </a:r>
                <a:r>
                  <a:rPr sz="2400" b="0">
                    <a:solidFill>
                      <a:srgbClr val="111827"/>
                    </a:solidFill>
                    <a:latin typeface="Arial"/>
                  </a:rPr>
                  <a:t>, i.e. </a:t>
                </a:r>
                <a:r>
                  <a:rPr lang="en-IN" sz="2400">
                    <a:solidFill>
                      <a:srgbClr val="111827"/>
                    </a:solidFill>
                    <a:latin typeface="Cambria Math" panose="02040503050406030204" pitchFamily="18" charset="0"/>
                  </a:rPr>
                  <a:t>$y=\frac x2-\frac{3\sqrt2}{5}$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Intersect with </a:t>
                </a:r>
                <a:r>
                  <a:rPr lang="en-IN" sz="2400">
                    <a:solidFill>
                      <a:srgbClr val="111827"/>
                    </a:solidFill>
                    <a:latin typeface="Cambria Math" panose="02040503050406030204" pitchFamily="18" charset="0"/>
                  </a:rPr>
                  <a:t>$x+2y=0$</a:t>
                </a:r>
                <a:r>
                  <a:rPr sz="2400" b="0">
                    <a:solidFill>
                      <a:srgbClr val="111827"/>
                    </a:solidFill>
                    <a:latin typeface="Arial"/>
                  </a:rPr>
                  <a:t>: </a:t>
                </a:r>
                <a:r>
                  <a:rPr lang="en-IN" sz="2400">
                    <a:solidFill>
                      <a:srgbClr val="111827"/>
                    </a:solidFill>
                    <a:latin typeface="Cambria Math" panose="02040503050406030204" pitchFamily="18" charset="0"/>
                  </a:rPr>
                  <a:t>$2x=\frac{6\sqrt2}{5}$</a:t>
                </a:r>
                <a:r>
                  <a:rPr sz="2400" b="0">
                    <a:solidFill>
                      <a:srgbClr val="111827"/>
                    </a:solidFill>
                    <a:latin typeface="Arial"/>
                  </a:rPr>
                  <a:t>, </a:t>
                </a:r>
                <a:r>
                  <a:rPr lang="en-IN" sz="2400">
                    <a:solidFill>
                      <a:srgbClr val="111827"/>
                    </a:solidFill>
                    <a:latin typeface="Cambria Math" panose="02040503050406030204" pitchFamily="18" charset="0"/>
                  </a:rPr>
                  <a:t>$x=\frac{3\sqrt2}{5}$</a:t>
                </a:r>
                <a:r>
                  <a:rPr sz="2400" b="0">
                    <a:solidFill>
                      <a:srgbClr val="111827"/>
                    </a:solidFill>
                    <a:latin typeface="Arial"/>
                  </a:rPr>
                  <a:t>, </a:t>
                </a:r>
                <a:r>
                  <a:rPr lang="en-IN" sz="2400">
                    <a:solidFill>
                      <a:srgbClr val="111827"/>
                    </a:solidFill>
                    <a:latin typeface="Cambria Math" panose="02040503050406030204" pitchFamily="18" charset="0"/>
                  </a:rPr>
                  <a:t>$y=-\frac{3\sqrt2}{10}$</a:t>
                </a:r>
                <a:r>
                  <a:rPr sz="2400" b="0">
                    <a:solidFill>
                      <a:srgbClr val="111827"/>
                    </a:solidFill>
                    <a:latin typeface="Arial"/>
                  </a:rPr>
                  <a:t>. This is the fixed point </a:t>
                </a:r>
                <a:r>
                  <a:rPr lang="en-IN" sz="2400">
                    <a:solidFill>
                      <a:srgbClr val="111827"/>
                    </a:solidFill>
                    <a:latin typeface="Cambria Math" panose="02040503050406030204" pitchFamily="18" charset="0"/>
                  </a:rPr>
                  <a:t>$Q$</a:t>
                </a:r>
                <a:r>
                  <a:rPr sz="2400" b="0">
                    <a:solidFill>
                      <a:srgbClr val="111827"/>
                    </a:solidFill>
                    <a:latin typeface="Arial"/>
                  </a:rPr>
                  <a:t> (it exists by the problem).</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$a^2+b^2=\frac{18}{25}+\frac{18}{100}=\frac{90}{100}=\frac{9}{10}$</a:t>
                </a:r>
                <a:r>
                  <a:rPr sz="2400" b="0">
                    <a:solidFill>
                      <a:srgbClr val="111827"/>
                    </a:solidFill>
                    <a:latin typeface="Arial"/>
                  </a:rPr>
                  <a:t>, so </a:t>
                </a:r>
                <a:r>
                  <a:rPr lang="en-IN" sz="2400">
                    <a:solidFill>
                      <a:srgbClr val="111827"/>
                    </a:solidFill>
                    <a:latin typeface="Cambria Math" panose="02040503050406030204" pitchFamily="18" charset="0"/>
                  </a:rPr>
                  <a:t>$m+n=19$</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19</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$19$</a:t>
                </a:r>
                <a:endParaRPr sz="2800">
                  <a:solidFill>
                    <a:srgbClr val="15803D"/>
                  </a:solidFill>
                </a:endParaRPr>
              </a:p>
            </p:txBody>
          </p:sp>
        </mc:Fallback>
      </mc:AlternateContent>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 point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chord joining the ends of any pair of perpendicular chords through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passes through the fixed point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e>
                    </m:d>
                  </m:oMath>
                </a14:m>
                <a:r>
                  <a:rPr sz="2400" b="0">
                    <a:solidFill>
                      <a:srgbClr val="111827"/>
                    </a:solidFill>
                    <a:latin typeface="Arial"/>
                  </a:rPr>
                  <a:t> on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Shifting the origin to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homogenising the curve with the chord </a:t>
                </a:r>
                <a14:m>
                  <m:oMath xmlns:m="http://schemas.openxmlformats.org/officeDocument/2006/math">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the pair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oMath>
                </a14:m>
                <a:r>
                  <a:rPr sz="2400" b="0">
                    <a:solidFill>
                      <a:srgbClr val="111827"/>
                    </a:solidFill>
                    <a:latin typeface="Arial"/>
                  </a:rPr>
                  <a:t>; perpendicular iff coeff of </a:t>
                </a:r>
                <a14:m>
                  <m:oMath xmlns:m="http://schemas.openxmlformats.org/officeDocument/2006/math">
                    <m:sSup>
                      <m:e>
                        <m:r>
                          <a:rPr lang="en-IN" sz="2400" i="1">
                            <a:solidFill>
                              <a:srgbClr val="111827"/>
                            </a:solidFill>
                            <a:latin typeface="Cambria Math" panose="02040503050406030204" pitchFamily="18" charset="0"/>
                          </a:rPr>
                          <m:t>𝑋</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 coeff of </a:t>
                </a:r>
                <a14:m>
                  <m:oMath xmlns:m="http://schemas.openxmlformats.org/officeDocument/2006/math">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 ellipse </a:t>
                </a:r>
                <a:r>
                  <a:rPr lang="en-IN" sz="2400">
                    <a:solidFill>
                      <a:srgbClr val="111827"/>
                    </a:solidFill>
                    <a:latin typeface="Cambria Math" panose="02040503050406030204" pitchFamily="18" charset="0"/>
                  </a:rPr>
                  <a:t>$\frac{x^2}{a^2}+\frac{y^2}{b^2}=1$</a:t>
                </a:r>
                <a:r>
                  <a:rPr sz="2400" b="0">
                    <a:solidFill>
                      <a:srgbClr val="111827"/>
                    </a:solidFill>
                    <a:latin typeface="Arial"/>
                  </a:rPr>
                  <a:t> and a point </a:t>
                </a:r>
                <a:r>
                  <a:rPr lang="en-IN" sz="2400">
                    <a:solidFill>
                      <a:srgbClr val="111827"/>
                    </a:solidFill>
                    <a:latin typeface="Cambria Math" panose="02040503050406030204" pitchFamily="18" charset="0"/>
                  </a:rPr>
                  <a:t>$P(a\cos\theta,b\sin\theta)$</a:t>
                </a:r>
                <a:r>
                  <a:rPr sz="2400" b="0">
                    <a:solidFill>
                      <a:srgbClr val="111827"/>
                    </a:solidFill>
                    <a:latin typeface="Arial"/>
                  </a:rPr>
                  <a:t>, the chord joining the ends of any pair of perpendicular chords through </a:t>
                </a:r>
                <a:r>
                  <a:rPr lang="en-IN" sz="2400">
                    <a:solidFill>
                      <a:srgbClr val="111827"/>
                    </a:solidFill>
                    <a:latin typeface="Cambria Math" panose="02040503050406030204" pitchFamily="18" charset="0"/>
                  </a:rPr>
                  <a:t>$P$</a:t>
                </a:r>
                <a:r>
                  <a:rPr sz="2400" b="0">
                    <a:solidFill>
                      <a:srgbClr val="111827"/>
                    </a:solidFill>
                    <a:latin typeface="Arial"/>
                  </a:rPr>
                  <a:t> passes through the fixed point </a:t>
                </a:r>
                <a:r>
                  <a:rPr lang="en-IN" sz="2400">
                    <a:solidFill>
                      <a:srgbClr val="111827"/>
                    </a:solidFill>
                    <a:latin typeface="Cambria Math" panose="02040503050406030204" pitchFamily="18" charset="0"/>
                  </a:rPr>
                  <a:t>$\left(\frac{a^2-b^2}{a^2+b^2}\,a\cos\theta,\ -\frac{a^2-b^2}{a^2+b^2}\,b\sin\theta\right)$</a:t>
                </a:r>
                <a:r>
                  <a:rPr sz="2400" b="0">
                    <a:solidFill>
                      <a:srgbClr val="111827"/>
                    </a:solidFill>
                    <a:latin typeface="Arial"/>
                  </a:rPr>
                  <a:t> on the normal at </a:t>
                </a:r>
                <a:r>
                  <a:rPr lang="en-IN" sz="2400">
                    <a:solidFill>
                      <a:srgbClr val="111827"/>
                    </a:solidFill>
                    <a:latin typeface="Cambria Math" panose="02040503050406030204" pitchFamily="18" charset="0"/>
                  </a:rPr>
                  <a:t>$P$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Shifting the origin to </a:t>
                </a:r>
                <a:r>
                  <a:rPr lang="en-IN" sz="2400">
                    <a:solidFill>
                      <a:srgbClr val="111827"/>
                    </a:solidFill>
                    <a:latin typeface="Cambria Math" panose="02040503050406030204" pitchFamily="18" charset="0"/>
                  </a:rPr>
                  <a:t>$P$</a:t>
                </a:r>
                <a:r>
                  <a:rPr sz="2400" b="0">
                    <a:solidFill>
                      <a:srgbClr val="111827"/>
                    </a:solidFill>
                    <a:latin typeface="Arial"/>
                  </a:rPr>
                  <a:t> and homogenising the curve with the chord </a:t>
                </a:r>
                <a:r>
                  <a:rPr lang="en-IN" sz="2400">
                    <a:solidFill>
                      <a:srgbClr val="111827"/>
                    </a:solidFill>
                    <a:latin typeface="Cambria Math" panose="02040503050406030204" pitchFamily="18" charset="0"/>
                  </a:rPr>
                  <a:t>$lX+mY=1$</a:t>
                </a:r>
                <a:r>
                  <a:rPr sz="2400" b="0">
                    <a:solidFill>
                      <a:srgbClr val="111827"/>
                    </a:solidFill>
                    <a:latin typeface="Arial"/>
                  </a:rPr>
                  <a:t> gives the pair </a:t>
                </a:r>
                <a:r>
                  <a:rPr lang="en-IN" sz="2400">
                    <a:solidFill>
                      <a:srgbClr val="111827"/>
                    </a:solidFill>
                    <a:latin typeface="Cambria Math" panose="02040503050406030204" pitchFamily="18" charset="0"/>
                  </a:rPr>
                  <a:t>$PA,PB$</a:t>
                </a:r>
                <a:r>
                  <a:rPr sz="2400" b="0">
                    <a:solidFill>
                      <a:srgbClr val="111827"/>
                    </a:solidFill>
                    <a:latin typeface="Arial"/>
                  </a:rPr>
                  <a:t>; perpendicular iff coeff of </a:t>
                </a:r>
                <a:r>
                  <a:rPr lang="en-IN" sz="2400">
                    <a:solidFill>
                      <a:srgbClr val="111827"/>
                    </a:solidFill>
                    <a:latin typeface="Cambria Math" panose="02040503050406030204" pitchFamily="18" charset="0"/>
                  </a:rPr>
                  <a:t>$X^2$</a:t>
                </a:r>
                <a:r>
                  <a:rPr sz="2400" b="0">
                    <a:solidFill>
                      <a:srgbClr val="111827"/>
                    </a:solidFill>
                    <a:latin typeface="Arial"/>
                  </a:rPr>
                  <a:t> + coeff of </a:t>
                </a:r>
                <a:r>
                  <a:rPr lang="en-IN" sz="2400">
                    <a:solidFill>
                      <a:srgbClr val="111827"/>
                    </a:solidFill>
                    <a:latin typeface="Cambria Math" panose="02040503050406030204" pitchFamily="18" charset="0"/>
                  </a:rPr>
                  <a:t>$Y^2=0$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Same method for a circle (Thales / chord of fixed angle) and for a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chords of a parabola subtending a right angle at a point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the curve pass through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Instance: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5</m:t>
                            </m:r>
                          </m:den>
                        </m:f>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d>
                  </m:oMath>
                </a14:m>
                <a:r>
                  <a:rPr sz="2400" b="0">
                    <a:solidFill>
                      <a:srgbClr val="111827"/>
                    </a:solidFill>
                    <a:latin typeface="Arial"/>
                  </a:rPr>
                  <a:t> ✓.</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Same method for a circle (Thales / chord of fixed angle) and for a parabola (</a:t>
                </a:r>
                <a:r>
                  <a:rPr lang="en-IN" sz="2400">
                    <a:solidFill>
                      <a:srgbClr val="111827"/>
                    </a:solidFill>
                    <a:latin typeface="Cambria Math" panose="02040503050406030204" pitchFamily="18" charset="0"/>
                  </a:rPr>
                  <a:t>$y^2=4ax$</a:t>
                </a:r>
                <a:r>
                  <a:rPr sz="2400" b="0">
                    <a:solidFill>
                      <a:srgbClr val="111827"/>
                    </a:solidFill>
                    <a:latin typeface="Arial"/>
                  </a:rPr>
                  <a:t>): chords of a parabola subtending a right angle at a point </a:t>
                </a:r>
                <a:r>
                  <a:rPr lang="en-IN" sz="2400">
                    <a:solidFill>
                      <a:srgbClr val="111827"/>
                    </a:solidFill>
                    <a:latin typeface="Cambria Math" panose="02040503050406030204" pitchFamily="18" charset="0"/>
                  </a:rPr>
                  <a:t>$(x_0,y_0)$</a:t>
                </a:r>
                <a:r>
                  <a:rPr sz="2400" b="0">
                    <a:solidFill>
                      <a:srgbClr val="111827"/>
                    </a:solidFill>
                    <a:latin typeface="Arial"/>
                  </a:rPr>
                  <a:t> of the curve pass through </a:t>
                </a:r>
                <a:r>
                  <a:rPr lang="en-IN" sz="2400">
                    <a:solidFill>
                      <a:srgbClr val="111827"/>
                    </a:solidFill>
                    <a:latin typeface="Cambria Math" panose="02040503050406030204" pitchFamily="18" charset="0"/>
                  </a:rPr>
                  <a:t>$(x_0+4a,\,-y_0)$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Instance: </a:t>
                </a:r>
                <a:r>
                  <a:rPr lang="en-IN" sz="2400">
                    <a:solidFill>
                      <a:srgbClr val="111827"/>
                    </a:solidFill>
                    <a:latin typeface="Cambria Math" panose="02040503050406030204" pitchFamily="18" charset="0"/>
                  </a:rPr>
                  <a:t>$a=2,b=1,\theta=\frac\pi4$</a:t>
                </a:r>
                <a:r>
                  <a:rPr sz="2400" b="0">
                    <a:solidFill>
                      <a:srgbClr val="111827"/>
                    </a:solidFill>
                    <a:latin typeface="Arial"/>
                  </a:rPr>
                  <a:t>: </a:t>
                </a:r>
                <a:r>
                  <a:rPr lang="en-IN" sz="2400">
                    <a:solidFill>
                      <a:srgbClr val="111827"/>
                    </a:solidFill>
                    <a:latin typeface="Cambria Math" panose="02040503050406030204" pitchFamily="18" charset="0"/>
                  </a:rPr>
                  <a:t>$\frac{4-1}{4+1}=\frac35$</a:t>
                </a:r>
                <a:r>
                  <a:rPr sz="2400" b="0">
                    <a:solidFill>
                      <a:srgbClr val="111827"/>
                    </a:solidFill>
                    <a:latin typeface="Arial"/>
                  </a:rPr>
                  <a:t> gives </a:t>
                </a:r>
                <a:r>
                  <a:rPr lang="en-IN" sz="2400">
                    <a:solidFill>
                      <a:srgbClr val="111827"/>
                    </a:solidFill>
                    <a:latin typeface="Cambria Math" panose="02040503050406030204" pitchFamily="18" charset="0"/>
                  </a:rPr>
                  <a:t>$Q=\left(\frac35\sqrt2,-\frac35\cdot\frac1{\sqrt2}\right)$</a:t>
                </a:r>
                <a:r>
                  <a:rPr sz="2400" b="0">
                    <a:solidFill>
                      <a:srgbClr val="111827"/>
                    </a:solidFill>
                    <a:latin typeface="Arial"/>
                  </a:rPr>
                  <a:t> ✓.</a:t>
                </a:r>
                <a:endParaRPr sz="2400">
                  <a:solidFill>
                    <a:srgbClr val="111827"/>
                  </a:solidFill>
                </a:endParaRPr>
              </a:p>
            </p:txBody>
          </p:sp>
        </mc:Fallback>
      </mc:AlternateContent>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be two circles with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lying inside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 circle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lying inside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touches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internally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externally. Identify the locus of the centre of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$C_1$</a:t>
                </a:r>
                <a:r>
                  <a:rPr sz="2400" b="0">
                    <a:solidFill>
                      <a:srgbClr val="111827"/>
                    </a:solidFill>
                    <a:latin typeface="Arial"/>
                  </a:rPr>
                  <a:t> and </a:t>
                </a:r>
                <a:r>
                  <a:rPr lang="en-IN" sz="2400">
                    <a:solidFill>
                      <a:srgbClr val="111827"/>
                    </a:solidFill>
                    <a:latin typeface="Cambria Math" panose="02040503050406030204" pitchFamily="18" charset="0"/>
                  </a:rPr>
                  <a:t>$C_2$</a:t>
                </a:r>
                <a:r>
                  <a:rPr sz="2400" b="0">
                    <a:solidFill>
                      <a:srgbClr val="111827"/>
                    </a:solidFill>
                    <a:latin typeface="Arial"/>
                  </a:rPr>
                  <a:t> be two circles with </a:t>
                </a:r>
                <a:r>
                  <a:rPr lang="en-IN" sz="2400">
                    <a:solidFill>
                      <a:srgbClr val="111827"/>
                    </a:solidFill>
                    <a:latin typeface="Cambria Math" panose="02040503050406030204" pitchFamily="18" charset="0"/>
                  </a:rPr>
                  <a:t>$C_2$</a:t>
                </a:r>
                <a:r>
                  <a:rPr sz="2400" b="0">
                    <a:solidFill>
                      <a:srgbClr val="111827"/>
                    </a:solidFill>
                    <a:latin typeface="Arial"/>
                  </a:rPr>
                  <a:t> lying inside </a:t>
                </a:r>
                <a:r>
                  <a:rPr lang="en-IN" sz="2400">
                    <a:solidFill>
                      <a:srgbClr val="111827"/>
                    </a:solidFill>
                    <a:latin typeface="Cambria Math" panose="02040503050406030204" pitchFamily="18" charset="0"/>
                  </a:rPr>
                  <a:t>$C_1$</a:t>
                </a:r>
                <a:r>
                  <a:rPr sz="2400" b="0">
                    <a:solidFill>
                      <a:srgbClr val="111827"/>
                    </a:solidFill>
                    <a:latin typeface="Arial"/>
                  </a:rPr>
                  <a:t>. A circle </a:t>
                </a:r>
                <a:r>
                  <a:rPr lang="en-IN" sz="2400">
                    <a:solidFill>
                      <a:srgbClr val="111827"/>
                    </a:solidFill>
                    <a:latin typeface="Cambria Math" panose="02040503050406030204" pitchFamily="18" charset="0"/>
                  </a:rPr>
                  <a:t>$C$</a:t>
                </a:r>
                <a:r>
                  <a:rPr sz="2400" b="0">
                    <a:solidFill>
                      <a:srgbClr val="111827"/>
                    </a:solidFill>
                    <a:latin typeface="Arial"/>
                  </a:rPr>
                  <a:t> lying inside </a:t>
                </a:r>
                <a:r>
                  <a:rPr lang="en-IN" sz="2400">
                    <a:solidFill>
                      <a:srgbClr val="111827"/>
                    </a:solidFill>
                    <a:latin typeface="Cambria Math" panose="02040503050406030204" pitchFamily="18" charset="0"/>
                  </a:rPr>
                  <a:t>$C_1$</a:t>
                </a:r>
                <a:r>
                  <a:rPr sz="2400" b="0">
                    <a:solidFill>
                      <a:srgbClr val="111827"/>
                    </a:solidFill>
                    <a:latin typeface="Arial"/>
                  </a:rPr>
                  <a:t> touches </a:t>
                </a:r>
                <a:r>
                  <a:rPr lang="en-IN" sz="2400">
                    <a:solidFill>
                      <a:srgbClr val="111827"/>
                    </a:solidFill>
                    <a:latin typeface="Cambria Math" panose="02040503050406030204" pitchFamily="18" charset="0"/>
                  </a:rPr>
                  <a:t>$C_1$</a:t>
                </a:r>
                <a:r>
                  <a:rPr sz="2400" b="0">
                    <a:solidFill>
                      <a:srgbClr val="111827"/>
                    </a:solidFill>
                    <a:latin typeface="Arial"/>
                  </a:rPr>
                  <a:t> internally and </a:t>
                </a:r>
                <a:r>
                  <a:rPr lang="en-IN" sz="2400">
                    <a:solidFill>
                      <a:srgbClr val="111827"/>
                    </a:solidFill>
                    <a:latin typeface="Cambria Math" panose="02040503050406030204" pitchFamily="18" charset="0"/>
                  </a:rPr>
                  <a:t>$C_2$</a:t>
                </a:r>
                <a:r>
                  <a:rPr sz="2400" b="0">
                    <a:solidFill>
                      <a:srgbClr val="111827"/>
                    </a:solidFill>
                    <a:latin typeface="Arial"/>
                  </a:rPr>
                  <a:t> externally. Identify the locus of the centre of </a:t>
                </a:r>
                <a:r>
                  <a:rPr lang="en-IN" sz="2400">
                    <a:solidFill>
                      <a:srgbClr val="111827"/>
                    </a:solidFill>
                    <a:latin typeface="Cambria Math" panose="02040503050406030204" pitchFamily="18" charset="0"/>
                  </a:rPr>
                  <a:t>$C$</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24612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Locus of the centre of a circle touching two given circles (focal definition of an ellipse)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distances of the centre of </a:t>
                </a:r>
                <a14:m>
                  <m:oMath xmlns:m="http://schemas.openxmlformats.org/officeDocument/2006/math">
                    <m:r>
                      <a:rPr lang="en-IN" sz="2400" i="1">
                        <a:solidFill>
                          <a:srgbClr val="78350F"/>
                        </a:solidFill>
                        <a:latin typeface="Cambria Math" panose="02040503050406030204" pitchFamily="18" charset="0"/>
                      </a:rPr>
                      <m:t>𝐶</m:t>
                    </m:r>
                  </m:oMath>
                </a14:m>
                <a:r>
                  <a:rPr sz="2400" b="0">
                    <a:solidFill>
                      <a:srgbClr val="78350F"/>
                    </a:solidFill>
                    <a:latin typeface="Arial"/>
                  </a:rPr>
                  <a:t> from </a:t>
                </a:r>
                <a14:m>
                  <m:oMath xmlns:m="http://schemas.openxmlformats.org/officeDocument/2006/math">
                    <m:sSub>
                      <m:e>
                        <m:r>
                          <a:rPr lang="en-IN" sz="2400" i="1">
                            <a:solidFill>
                              <a:srgbClr val="78350F"/>
                            </a:solidFill>
                            <a:latin typeface="Cambria Math" panose="02040503050406030204" pitchFamily="18" charset="0"/>
                          </a:rPr>
                          <m:t>𝑂</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𝑂</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are </a:t>
                </a:r>
                <a14:m>
                  <m:oMath xmlns:m="http://schemas.openxmlformats.org/officeDocument/2006/math">
                    <m:sSub>
                      <m:e>
                        <m:r>
                          <a:rPr lang="en-IN" sz="2400" i="1">
                            <a:solidFill>
                              <a:srgbClr val="78350F"/>
                            </a:solidFill>
                            <a:latin typeface="Cambria Math" panose="02040503050406030204" pitchFamily="18" charset="0"/>
                          </a:rPr>
                          <m:t>𝑟</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𝑟</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their sum </a:t>
                </a:r>
                <a14:m>
                  <m:oMath xmlns:m="http://schemas.openxmlformats.org/officeDocument/2006/math">
                    <m:sSub>
                      <m:e>
                        <m:r>
                          <a:rPr lang="en-IN" sz="2400" i="1">
                            <a:solidFill>
                              <a:srgbClr val="78350F"/>
                            </a:solidFill>
                            <a:latin typeface="Cambria Math" panose="02040503050406030204" pitchFamily="18" charset="0"/>
                          </a:rPr>
                          <m:t>𝑟</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𝑟</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does not depend on </a:t>
                </a:r>
                <a14:m>
                  <m:oMath xmlns:m="http://schemas.openxmlformats.org/officeDocument/2006/math">
                    <m:r>
                      <a:rPr lang="en-IN" sz="2400" i="1">
                        <a:solidFill>
                          <a:srgbClr val="78350F"/>
                        </a:solidFill>
                        <a:latin typeface="Cambria Math" panose="02040503050406030204" pitchFamily="18" charset="0"/>
                      </a:rPr>
                      <m:t>𝑟</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distances of the centre of </a:t>
                </a:r>
                <a:r>
                  <a:rPr lang="en-IN" sz="2400">
                    <a:solidFill>
                      <a:srgbClr val="78350F"/>
                    </a:solidFill>
                    <a:latin typeface="Cambria Math" panose="02040503050406030204" pitchFamily="18" charset="0"/>
                  </a:rPr>
                  <a:t>$C$</a:t>
                </a:r>
                <a:r>
                  <a:rPr sz="2400" b="0">
                    <a:solidFill>
                      <a:srgbClr val="78350F"/>
                    </a:solidFill>
                    <a:latin typeface="Arial"/>
                  </a:rPr>
                  <a:t> from </a:t>
                </a:r>
                <a:r>
                  <a:rPr lang="en-IN" sz="2400">
                    <a:solidFill>
                      <a:srgbClr val="78350F"/>
                    </a:solidFill>
                    <a:latin typeface="Cambria Math" panose="02040503050406030204" pitchFamily="18" charset="0"/>
                  </a:rPr>
                  <a:t>$O_1,O_2$</a:t>
                </a:r>
                <a:r>
                  <a:rPr sz="2400" b="0">
                    <a:solidFill>
                      <a:srgbClr val="78350F"/>
                    </a:solidFill>
                    <a:latin typeface="Arial"/>
                  </a:rPr>
                  <a:t> are </a:t>
                </a:r>
                <a:r>
                  <a:rPr lang="en-IN" sz="2400">
                    <a:solidFill>
                      <a:srgbClr val="78350F"/>
                    </a:solidFill>
                    <a:latin typeface="Cambria Math" panose="02040503050406030204" pitchFamily="18" charset="0"/>
                  </a:rPr>
                  <a:t>$r_1-r$</a:t>
                </a:r>
                <a:r>
                  <a:rPr sz="2400" b="0">
                    <a:solidFill>
                      <a:srgbClr val="78350F"/>
                    </a:solidFill>
                    <a:latin typeface="Arial"/>
                  </a:rPr>
                  <a:t> and </a:t>
                </a:r>
                <a:r>
                  <a:rPr lang="en-IN" sz="2400">
                    <a:solidFill>
                      <a:srgbClr val="78350F"/>
                    </a:solidFill>
                    <a:latin typeface="Cambria Math" panose="02040503050406030204" pitchFamily="18" charset="0"/>
                  </a:rPr>
                  <a:t>$r+r_2$</a:t>
                </a:r>
                <a:r>
                  <a:rPr sz="2400" b="0">
                    <a:solidFill>
                      <a:srgbClr val="78350F"/>
                    </a:solidFill>
                    <a:latin typeface="Arial"/>
                  </a:rPr>
                  <a:t>: their sum </a:t>
                </a:r>
                <a:r>
                  <a:rPr lang="en-IN" sz="2400">
                    <a:solidFill>
                      <a:srgbClr val="78350F"/>
                    </a:solidFill>
                    <a:latin typeface="Cambria Math" panose="02040503050406030204" pitchFamily="18" charset="0"/>
                  </a:rPr>
                  <a:t>$r_1+r_2$</a:t>
                </a:r>
                <a:r>
                  <a:rPr sz="2400" b="0">
                    <a:solidFill>
                      <a:srgbClr val="78350F"/>
                    </a:solidFill>
                    <a:latin typeface="Arial"/>
                  </a:rPr>
                  <a:t> does not depend on </a:t>
                </a:r>
                <a:r>
                  <a:rPr lang="en-IN" sz="2400">
                    <a:solidFill>
                      <a:srgbClr val="78350F"/>
                    </a:solidFill>
                    <a:latin typeface="Cambria Math" panose="02040503050406030204" pitchFamily="18" charset="0"/>
                  </a:rPr>
                  <a:t>$r$</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have centres </a:t>
                </a:r>
                <a14:m>
                  <m:oMath xmlns:m="http://schemas.openxmlformats.org/officeDocument/2006/math">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radii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Let the variable circle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have radius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and centre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touches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internally: </a:t>
                </a:r>
                <a14:m>
                  <m:oMath xmlns:m="http://schemas.openxmlformats.org/officeDocument/2006/math">
                    <m:r>
                      <a:rPr lang="en-IN" sz="2400" i="1">
                        <a:solidFill>
                          <a:srgbClr val="111827"/>
                        </a:solidFill>
                        <a:latin typeface="Cambria Math" panose="02040503050406030204" pitchFamily="18" charset="0"/>
                      </a:rPr>
                      <m:t>𝑂</m:t>
                    </m:r>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touches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externally: </a:t>
                </a:r>
                <a14:m>
                  <m:oMath xmlns:m="http://schemas.openxmlformats.org/officeDocument/2006/math">
                    <m:r>
                      <a:rPr lang="en-IN" sz="2400" i="1">
                        <a:solidFill>
                          <a:srgbClr val="111827"/>
                        </a:solidFill>
                        <a:latin typeface="Cambria Math" panose="02040503050406030204" pitchFamily="18" charset="0"/>
                      </a:rPr>
                      <m:t>𝑂</m:t>
                    </m:r>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14:m>
                  <m:oMath xmlns:m="http://schemas.openxmlformats.org/officeDocument/2006/math">
                    <m:r>
                      <a:rPr lang="en-IN" sz="2400" i="1">
                        <a:solidFill>
                          <a:srgbClr val="111827"/>
                        </a:solidFill>
                        <a:latin typeface="Cambria Math" panose="02040503050406030204" pitchFamily="18" charset="0"/>
                      </a:rPr>
                      <m:t>𝑂</m:t>
                    </m:r>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 constant independent of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$C_1,C_2$</a:t>
                </a:r>
                <a:r>
                  <a:rPr sz="2400" b="0">
                    <a:solidFill>
                      <a:srgbClr val="111827"/>
                    </a:solidFill>
                    <a:latin typeface="Arial"/>
                  </a:rPr>
                  <a:t> have centres </a:t>
                </a:r>
                <a:r>
                  <a:rPr lang="en-IN" sz="2400">
                    <a:solidFill>
                      <a:srgbClr val="111827"/>
                    </a:solidFill>
                    <a:latin typeface="Cambria Math" panose="02040503050406030204" pitchFamily="18" charset="0"/>
                  </a:rPr>
                  <a:t>$O_1,O_2$</a:t>
                </a:r>
                <a:r>
                  <a:rPr sz="2400" b="0">
                    <a:solidFill>
                      <a:srgbClr val="111827"/>
                    </a:solidFill>
                    <a:latin typeface="Arial"/>
                  </a:rPr>
                  <a:t> and radii </a:t>
                </a:r>
                <a:r>
                  <a:rPr lang="en-IN" sz="2400">
                    <a:solidFill>
                      <a:srgbClr val="111827"/>
                    </a:solidFill>
                    <a:latin typeface="Cambria Math" panose="02040503050406030204" pitchFamily="18" charset="0"/>
                  </a:rPr>
                  <a:t>$r_1,r_2$</a:t>
                </a:r>
                <a:r>
                  <a:rPr sz="2400" b="0">
                    <a:solidFill>
                      <a:srgbClr val="111827"/>
                    </a:solidFill>
                    <a:latin typeface="Arial"/>
                  </a:rPr>
                  <a:t>. Let the variable circle </a:t>
                </a:r>
                <a:r>
                  <a:rPr lang="en-IN" sz="2400">
                    <a:solidFill>
                      <a:srgbClr val="111827"/>
                    </a:solidFill>
                    <a:latin typeface="Cambria Math" panose="02040503050406030204" pitchFamily="18" charset="0"/>
                  </a:rPr>
                  <a:t>$C$</a:t>
                </a:r>
                <a:r>
                  <a:rPr sz="2400" b="0">
                    <a:solidFill>
                      <a:srgbClr val="111827"/>
                    </a:solidFill>
                    <a:latin typeface="Arial"/>
                  </a:rPr>
                  <a:t> have radius </a:t>
                </a:r>
                <a:r>
                  <a:rPr lang="en-IN" sz="2400">
                    <a:solidFill>
                      <a:srgbClr val="111827"/>
                    </a:solidFill>
                    <a:latin typeface="Cambria Math" panose="02040503050406030204" pitchFamily="18" charset="0"/>
                  </a:rPr>
                  <a:t>$r$</a:t>
                </a:r>
                <a:r>
                  <a:rPr sz="2400" b="0">
                    <a:solidFill>
                      <a:srgbClr val="111827"/>
                    </a:solidFill>
                    <a:latin typeface="Arial"/>
                  </a:rPr>
                  <a:t> and centre </a:t>
                </a:r>
                <a:r>
                  <a:rPr lang="en-IN" sz="2400">
                    <a:solidFill>
                      <a:srgbClr val="111827"/>
                    </a:solidFill>
                    <a:latin typeface="Cambria Math" panose="02040503050406030204" pitchFamily="18" charset="0"/>
                  </a:rPr>
                  <a:t>$O$</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a:t>
                </a:r>
                <a:r>
                  <a:rPr sz="2400" b="0">
                    <a:solidFill>
                      <a:srgbClr val="111827"/>
                    </a:solidFill>
                    <a:latin typeface="Arial"/>
                  </a:rPr>
                  <a:t> touches </a:t>
                </a:r>
                <a:r>
                  <a:rPr lang="en-IN" sz="2400">
                    <a:solidFill>
                      <a:srgbClr val="111827"/>
                    </a:solidFill>
                    <a:latin typeface="Cambria Math" panose="02040503050406030204" pitchFamily="18" charset="0"/>
                  </a:rPr>
                  <a:t>$C_1$</a:t>
                </a:r>
                <a:r>
                  <a:rPr sz="2400" b="0">
                    <a:solidFill>
                      <a:srgbClr val="111827"/>
                    </a:solidFill>
                    <a:latin typeface="Arial"/>
                  </a:rPr>
                  <a:t> internally: </a:t>
                </a:r>
                <a:r>
                  <a:rPr lang="en-IN" sz="2400">
                    <a:solidFill>
                      <a:srgbClr val="111827"/>
                    </a:solidFill>
                    <a:latin typeface="Cambria Math" panose="02040503050406030204" pitchFamily="18" charset="0"/>
                  </a:rPr>
                  <a:t>$OO_1=r_1-r$</a:t>
                </a:r>
                <a:r>
                  <a:rPr sz="2400" b="0">
                    <a:solidFill>
                      <a:srgbClr val="111827"/>
                    </a:solidFill>
                    <a:latin typeface="Arial"/>
                  </a:rPr>
                  <a:t>. </a:t>
                </a:r>
                <a:r>
                  <a:rPr lang="en-IN" sz="2400">
                    <a:solidFill>
                      <a:srgbClr val="111827"/>
                    </a:solidFill>
                    <a:latin typeface="Cambria Math" panose="02040503050406030204" pitchFamily="18" charset="0"/>
                  </a:rPr>
                  <a:t>$C$</a:t>
                </a:r>
                <a:r>
                  <a:rPr sz="2400" b="0">
                    <a:solidFill>
                      <a:srgbClr val="111827"/>
                    </a:solidFill>
                    <a:latin typeface="Arial"/>
                  </a:rPr>
                  <a:t> touches </a:t>
                </a:r>
                <a:r>
                  <a:rPr lang="en-IN" sz="2400">
                    <a:solidFill>
                      <a:srgbClr val="111827"/>
                    </a:solidFill>
                    <a:latin typeface="Cambria Math" panose="02040503050406030204" pitchFamily="18" charset="0"/>
                  </a:rPr>
                  <a:t>$C_2$</a:t>
                </a:r>
                <a:r>
                  <a:rPr sz="2400" b="0">
                    <a:solidFill>
                      <a:srgbClr val="111827"/>
                    </a:solidFill>
                    <a:latin typeface="Arial"/>
                  </a:rPr>
                  <a:t> externally: </a:t>
                </a:r>
                <a:r>
                  <a:rPr lang="en-IN" sz="2400">
                    <a:solidFill>
                      <a:srgbClr val="111827"/>
                    </a:solidFill>
                    <a:latin typeface="Cambria Math" panose="02040503050406030204" pitchFamily="18" charset="0"/>
                  </a:rPr>
                  <a:t>$OO_2=r+r_2$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r>
                  <a:rPr lang="en-IN" sz="2400">
                    <a:solidFill>
                      <a:srgbClr val="111827"/>
                    </a:solidFill>
                    <a:latin typeface="Cambria Math" panose="02040503050406030204" pitchFamily="18" charset="0"/>
                  </a:rPr>
                  <a:t>$OO_1+OO_2=r_1+r_2$</a:t>
                </a:r>
                <a:r>
                  <a:rPr sz="2400" b="0">
                    <a:solidFill>
                      <a:srgbClr val="111827"/>
                    </a:solidFill>
                    <a:latin typeface="Arial"/>
                  </a:rPr>
                  <a:t>, a constant independent of </a:t>
                </a:r>
                <a:r>
                  <a:rPr lang="en-IN" sz="2400">
                    <a:solidFill>
                      <a:srgbClr val="111827"/>
                    </a:solidFill>
                    <a:latin typeface="Cambria Math" panose="02040503050406030204" pitchFamily="18" charset="0"/>
                  </a:rPr>
                  <a:t>$r$</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This constant is greater than </a:t>
                </a:r>
                <a14:m>
                  <m:oMath xmlns:m="http://schemas.openxmlformats.org/officeDocument/2006/math">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because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lies inside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locus of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an ellipse with foci </a:t>
                </a:r>
                <a14:m>
                  <m:oMath xmlns:m="http://schemas.openxmlformats.org/officeDocument/2006/math">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(major axis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This constant is greater than </a:t>
                </a:r>
                <a:r>
                  <a:rPr lang="en-IN" sz="2400">
                    <a:solidFill>
                      <a:srgbClr val="111827"/>
                    </a:solidFill>
                    <a:latin typeface="Cambria Math" panose="02040503050406030204" pitchFamily="18" charset="0"/>
                  </a:rPr>
                  <a:t>$O_1O_2$</a:t>
                </a:r>
                <a:r>
                  <a:rPr sz="2400" b="0">
                    <a:solidFill>
                      <a:srgbClr val="111827"/>
                    </a:solidFill>
                    <a:latin typeface="Arial"/>
                  </a:rPr>
                  <a:t> because </a:t>
                </a:r>
                <a:r>
                  <a:rPr lang="en-IN" sz="2400">
                    <a:solidFill>
                      <a:srgbClr val="111827"/>
                    </a:solidFill>
                    <a:latin typeface="Cambria Math" panose="02040503050406030204" pitchFamily="18" charset="0"/>
                  </a:rPr>
                  <a:t>$C_2$</a:t>
                </a:r>
                <a:r>
                  <a:rPr sz="2400" b="0">
                    <a:solidFill>
                      <a:srgbClr val="111827"/>
                    </a:solidFill>
                    <a:latin typeface="Arial"/>
                  </a:rPr>
                  <a:t> lies inside </a:t>
                </a:r>
                <a:r>
                  <a:rPr lang="en-IN" sz="2400">
                    <a:solidFill>
                      <a:srgbClr val="111827"/>
                    </a:solidFill>
                    <a:latin typeface="Cambria Math" panose="02040503050406030204" pitchFamily="18" charset="0"/>
                  </a:rPr>
                  <a:t>$C_1$</a:t>
                </a:r>
                <a:r>
                  <a:rPr sz="2400" b="0">
                    <a:solidFill>
                      <a:srgbClr val="111827"/>
                    </a:solidFill>
                    <a:latin typeface="Arial"/>
                  </a:rPr>
                  <a:t> (</a:t>
                </a:r>
                <a:r>
                  <a:rPr lang="en-IN" sz="2400">
                    <a:solidFill>
                      <a:srgbClr val="111827"/>
                    </a:solidFill>
                    <a:latin typeface="Cambria Math" panose="02040503050406030204" pitchFamily="18" charset="0"/>
                  </a:rPr>
                  <a:t>$O_1O_2&lt;r_1-r_2&lt;r_1+r_2$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locus of </a:t>
                </a:r>
                <a:r>
                  <a:rPr lang="en-IN" sz="2400">
                    <a:solidFill>
                      <a:srgbClr val="111827"/>
                    </a:solidFill>
                    <a:latin typeface="Cambria Math" panose="02040503050406030204" pitchFamily="18" charset="0"/>
                  </a:rPr>
                  <a:t>$O$</a:t>
                </a:r>
                <a:r>
                  <a:rPr sz="2400" b="0">
                    <a:solidFill>
                      <a:srgbClr val="111827"/>
                    </a:solidFill>
                    <a:latin typeface="Arial"/>
                  </a:rPr>
                  <a:t> is an ellipse with foci </a:t>
                </a:r>
                <a:r>
                  <a:rPr lang="en-IN" sz="2400">
                    <a:solidFill>
                      <a:srgbClr val="111827"/>
                    </a:solidFill>
                    <a:latin typeface="Cambria Math" panose="02040503050406030204" pitchFamily="18" charset="0"/>
                  </a:rPr>
                  <a:t>$O_1$</a:t>
                </a:r>
                <a:r>
                  <a:rPr sz="2400" b="0">
                    <a:solidFill>
                      <a:srgbClr val="111827"/>
                    </a:solidFill>
                    <a:latin typeface="Arial"/>
                  </a:rPr>
                  <a:t> and </a:t>
                </a:r>
                <a:r>
                  <a:rPr lang="en-IN" sz="2400">
                    <a:solidFill>
                      <a:srgbClr val="111827"/>
                    </a:solidFill>
                    <a:latin typeface="Cambria Math" panose="02040503050406030204" pitchFamily="18" charset="0"/>
                  </a:rPr>
                  <a:t>$O_2$</a:t>
                </a:r>
                <a:r>
                  <a:rPr sz="2400" b="0">
                    <a:solidFill>
                      <a:srgbClr val="111827"/>
                    </a:solidFill>
                    <a:latin typeface="Arial"/>
                  </a:rPr>
                  <a:t> (major axis </a:t>
                </a:r>
                <a:r>
                  <a:rPr lang="en-IN" sz="2400">
                    <a:solidFill>
                      <a:srgbClr val="111827"/>
                    </a:solidFill>
                    <a:latin typeface="Cambria Math" panose="02040503050406030204" pitchFamily="18" charset="0"/>
                  </a:rPr>
                  <a:t>$r_1+r_2$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An ellipse with foci at the centres of </a:t>
                </a:r>
                <a14:m>
                  <m:oMath xmlns:m="http://schemas.openxmlformats.org/officeDocument/2006/math">
                    <m:sSub>
                      <m:e>
                        <m:r>
                          <a:rPr lang="en-IN" sz="2800" i="1">
                            <a:solidFill>
                              <a:srgbClr val="15803D"/>
                            </a:solidFill>
                            <a:latin typeface="Cambria Math" panose="02040503050406030204" pitchFamily="18" charset="0"/>
                          </a:rPr>
                          <m:t>𝐶</m:t>
                        </m:r>
                      </m:e>
                      <m:sub>
                        <m:r>
                          <a:rPr lang="en-IN" sz="2800" i="1">
                            <a:solidFill>
                              <a:srgbClr val="15803D"/>
                            </a:solidFill>
                            <a:latin typeface="Cambria Math" panose="02040503050406030204" pitchFamily="18" charset="0"/>
                          </a:rPr>
                          <m:t>1</m:t>
                        </m:r>
                      </m:sub>
                    </m:sSub>
                  </m:oMath>
                </a14:m>
                <a:r>
                  <a:rPr sz="2800" b="1">
                    <a:solidFill>
                      <a:srgbClr val="15803D"/>
                    </a:solidFill>
                    <a:latin typeface="Arial"/>
                  </a:rPr>
                  <a:t> and </a:t>
                </a:r>
                <a14:m>
                  <m:oMath xmlns:m="http://schemas.openxmlformats.org/officeDocument/2006/math">
                    <m:sSub>
                      <m:e>
                        <m:r>
                          <a:rPr lang="en-IN" sz="2800" i="1">
                            <a:solidFill>
                              <a:srgbClr val="15803D"/>
                            </a:solidFill>
                            <a:latin typeface="Cambria Math" panose="02040503050406030204" pitchFamily="18" charset="0"/>
                          </a:rPr>
                          <m:t>𝐶</m:t>
                        </m:r>
                      </m:e>
                      <m:sub>
                        <m:r>
                          <a:rPr lang="en-IN" sz="2800" i="1">
                            <a:solidFill>
                              <a:srgbClr val="15803D"/>
                            </a:solidFill>
                            <a:latin typeface="Cambria Math" panose="02040503050406030204" pitchFamily="18" charset="0"/>
                          </a:rPr>
                          <m:t>2</m:t>
                        </m:r>
                      </m:sub>
                    </m:sSub>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An ellipse with foci at the centres of </a:t>
                </a:r>
                <a:r>
                  <a:rPr lang="en-IN" sz="2800">
                    <a:solidFill>
                      <a:srgbClr val="15803D"/>
                    </a:solidFill>
                    <a:latin typeface="Cambria Math" panose="02040503050406030204" pitchFamily="18" charset="0"/>
                  </a:rPr>
                  <a:t>$C_1$</a:t>
                </a:r>
                <a:r>
                  <a:rPr sz="2800" b="1">
                    <a:solidFill>
                      <a:srgbClr val="15803D"/>
                    </a:solidFill>
                    <a:latin typeface="Arial"/>
                  </a:rPr>
                  <a:t> and </a:t>
                </a:r>
                <a:r>
                  <a:rPr lang="en-IN" sz="2800">
                    <a:solidFill>
                      <a:srgbClr val="15803D"/>
                    </a:solidFill>
                    <a:latin typeface="Cambria Math" panose="02040503050406030204" pitchFamily="18" charset="0"/>
                  </a:rPr>
                  <a:t>$C_2$</a:t>
                </a:r>
                <a:endParaRPr sz="2800">
                  <a:solidFill>
                    <a:srgbClr val="15803D"/>
                  </a:solidFill>
                </a:endParaRPr>
              </a:p>
            </p:txBody>
          </p:sp>
        </mc:Fallback>
      </mc:AlternateContent>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circle touching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internally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externally (with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inside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has </a:t>
                </a:r>
                <a14:m>
                  <m:oMath xmlns:m="http://schemas.openxmlformats.org/officeDocument/2006/math">
                    <m:r>
                      <a:rPr lang="en-IN" sz="2400" i="1">
                        <a:solidFill>
                          <a:srgbClr val="111827"/>
                        </a:solidFill>
                        <a:latin typeface="Cambria Math" panose="02040503050406030204" pitchFamily="18" charset="0"/>
                      </a:rPr>
                      <m:t>𝑂</m:t>
                    </m:r>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ellipse with foci at the two centres.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Touching both externally, or both internally: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 a branch of a hyperbola (foci at the two centres).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the circles are concentric the foci coincide and the locus is a circle (the sum condition gives a circle of radius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Eccentricity of the locus here: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𝑂</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circle touching </a:t>
                </a:r>
                <a:r>
                  <a:rPr lang="en-IN" sz="2400">
                    <a:solidFill>
                      <a:srgbClr val="111827"/>
                    </a:solidFill>
                    <a:latin typeface="Cambria Math" panose="02040503050406030204" pitchFamily="18" charset="0"/>
                  </a:rPr>
                  <a:t>$C_1$</a:t>
                </a:r>
                <a:r>
                  <a:rPr sz="2400" b="0">
                    <a:solidFill>
                      <a:srgbClr val="111827"/>
                    </a:solidFill>
                    <a:latin typeface="Arial"/>
                  </a:rPr>
                  <a:t> internally and </a:t>
                </a:r>
                <a:r>
                  <a:rPr lang="en-IN" sz="2400">
                    <a:solidFill>
                      <a:srgbClr val="111827"/>
                    </a:solidFill>
                    <a:latin typeface="Cambria Math" panose="02040503050406030204" pitchFamily="18" charset="0"/>
                  </a:rPr>
                  <a:t>$C_2$</a:t>
                </a:r>
                <a:r>
                  <a:rPr sz="2400" b="0">
                    <a:solidFill>
                      <a:srgbClr val="111827"/>
                    </a:solidFill>
                    <a:latin typeface="Arial"/>
                  </a:rPr>
                  <a:t> externally (with </a:t>
                </a:r>
                <a:r>
                  <a:rPr lang="en-IN" sz="2400">
                    <a:solidFill>
                      <a:srgbClr val="111827"/>
                    </a:solidFill>
                    <a:latin typeface="Cambria Math" panose="02040503050406030204" pitchFamily="18" charset="0"/>
                  </a:rPr>
                  <a:t>$C_2$</a:t>
                </a:r>
                <a:r>
                  <a:rPr sz="2400" b="0">
                    <a:solidFill>
                      <a:srgbClr val="111827"/>
                    </a:solidFill>
                    <a:latin typeface="Arial"/>
                  </a:rPr>
                  <a:t> inside </a:t>
                </a:r>
                <a:r>
                  <a:rPr lang="en-IN" sz="2400">
                    <a:solidFill>
                      <a:srgbClr val="111827"/>
                    </a:solidFill>
                    <a:latin typeface="Cambria Math" panose="02040503050406030204" pitchFamily="18" charset="0"/>
                  </a:rPr>
                  <a:t>$C_1$</a:t>
                </a:r>
                <a:r>
                  <a:rPr sz="2400" b="0">
                    <a:solidFill>
                      <a:srgbClr val="111827"/>
                    </a:solidFill>
                    <a:latin typeface="Arial"/>
                  </a:rPr>
                  <a:t>) has </a:t>
                </a:r>
                <a:r>
                  <a:rPr lang="en-IN" sz="2400">
                    <a:solidFill>
                      <a:srgbClr val="111827"/>
                    </a:solidFill>
                    <a:latin typeface="Cambria Math" panose="02040503050406030204" pitchFamily="18" charset="0"/>
                  </a:rPr>
                  <a:t>$OO_1+OO_2=r_1+r_2$</a:t>
                </a:r>
                <a:r>
                  <a:rPr sz="2400" b="0">
                    <a:solidFill>
                      <a:srgbClr val="111827"/>
                    </a:solidFill>
                    <a:latin typeface="Arial"/>
                  </a:rPr>
                  <a:t>: ellipse with foci at the two centres.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Touching both externally, or both internally: </a:t>
                </a:r>
                <a:r>
                  <a:rPr lang="en-IN" sz="2400">
                    <a:solidFill>
                      <a:srgbClr val="111827"/>
                    </a:solidFill>
                    <a:latin typeface="Cambria Math" panose="02040503050406030204" pitchFamily="18" charset="0"/>
                  </a:rPr>
                  <a:t>$|OO_1-OO_2|=|r_1-r_2|$</a:t>
                </a:r>
                <a:r>
                  <a:rPr sz="2400" b="0">
                    <a:solidFill>
                      <a:srgbClr val="111827"/>
                    </a:solidFill>
                    <a:latin typeface="Arial"/>
                  </a:rPr>
                  <a:t> - a branch of a hyperbola (foci at the two centres).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the circles are concentric the foci coincide and the locus is a circle (the sum condition gives a circle of radius </a:t>
                </a:r>
                <a:r>
                  <a:rPr lang="en-IN" sz="2400">
                    <a:solidFill>
                      <a:srgbClr val="111827"/>
                    </a:solidFill>
                    <a:latin typeface="Cambria Math" panose="02040503050406030204" pitchFamily="18" charset="0"/>
                  </a:rPr>
                  <a:t>$\frac{r_1+r_2}{2}$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Eccentricity of the locus here: </a:t>
                </a:r>
                <a:r>
                  <a:rPr lang="en-IN" sz="2400">
                    <a:solidFill>
                      <a:srgbClr val="111827"/>
                    </a:solidFill>
                    <a:latin typeface="Cambria Math" panose="02040503050406030204" pitchFamily="18" charset="0"/>
                  </a:rPr>
                  <a:t>$e=\frac{O_1O_2}{r_1+r_2}$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96545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Find the condition so that the line </a:t>
                </a:r>
                <a14:m>
                  <m:oMath xmlns:m="http://schemas.openxmlformats.org/officeDocument/2006/math">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intersects the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in points whose eccentric angles differ by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196545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Find the condition so that the line </a:t>
                </a:r>
                <a:r>
                  <a:rPr lang="en-IN" sz="2400">
                    <a:solidFill>
                      <a:srgbClr val="111827"/>
                    </a:solidFill>
                    <a:latin typeface="Cambria Math" panose="02040503050406030204" pitchFamily="18" charset="0"/>
                  </a:rPr>
                  <a:t>$px+qy=r$</a:t>
                </a:r>
                <a:r>
                  <a:rPr sz="2400" b="0">
                    <a:solidFill>
                      <a:srgbClr val="111827"/>
                    </a:solidFill>
                    <a:latin typeface="Arial"/>
                  </a:rPr>
                  <a:t> intersects the ellipse </a:t>
                </a:r>
                <a:r>
                  <a:rPr lang="en-IN" sz="2400">
                    <a:solidFill>
                      <a:srgbClr val="111827"/>
                    </a:solidFill>
                    <a:latin typeface="Cambria Math" panose="02040503050406030204" pitchFamily="18" charset="0"/>
                  </a:rPr>
                  <a:t>$\frac{x^2}{a^2}+\frac{y^2}{b^2}=1$</a:t>
                </a:r>
                <a:r>
                  <a:rPr sz="2400" b="0">
                    <a:solidFill>
                      <a:srgbClr val="111827"/>
                    </a:solidFill>
                    <a:latin typeface="Arial"/>
                  </a:rPr>
                  <a:t> in points whose eccentric angles differ by </a:t>
                </a:r>
                <a:r>
                  <a:rPr lang="en-IN" sz="2400">
                    <a:solidFill>
                      <a:srgbClr val="111827"/>
                    </a:solidFill>
                    <a:latin typeface="Cambria Math" panose="02040503050406030204" pitchFamily="18" charset="0"/>
                  </a:rPr>
                  <a:t>$\frac\pi4$</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474212"/>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Chord joining two points of an ellipse with given eccentric angles, Condition for a line to cut an ellipse at points of given eccentric angle difference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chord joining the points with eccentric angles </a:t>
                </a:r>
                <a14:m>
                  <m:oMath xmlns:m="http://schemas.openxmlformats.org/officeDocument/2006/math">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oMath>
                </a14:m>
                <a:r>
                  <a:rPr sz="2400" b="0">
                    <a:solidFill>
                      <a:srgbClr val="78350F"/>
                    </a:solidFill>
                    <a:latin typeface="Arial"/>
                  </a:rPr>
                  <a:t> is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𝑥</m:t>
                        </m:r>
                      </m:num>
                      <m:den>
                        <m:r>
                          <a:rPr lang="en-IN" sz="2400" i="1">
                            <a:solidFill>
                              <a:srgbClr val="78350F"/>
                            </a:solidFill>
                            <a:latin typeface="Cambria Math" panose="02040503050406030204" pitchFamily="18" charset="0"/>
                          </a:rPr>
                          <m:t>𝑎</m:t>
                        </m:r>
                      </m:den>
                    </m:f>
                    <m:r>
                      <m:rPr>
                        <m:sty m:val="p"/>
                      </m:rPr>
                      <a:rPr lang="en-IN" sz="2400">
                        <a:solidFill>
                          <a:srgbClr val="78350F"/>
                        </a:solidFill>
                        <a:latin typeface="Cambria Math" panose="02040503050406030204" pitchFamily="18" charset="0"/>
                      </a:rPr>
                      <m:t>cos</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𝑏</m:t>
                        </m:r>
                      </m:den>
                    </m:f>
                    <m:r>
                      <m:rPr>
                        <m:sty m:val="p"/>
                      </m:rPr>
                      <a:rPr lang="en-IN" sz="2400">
                        <a:solidFill>
                          <a:srgbClr val="78350F"/>
                        </a:solidFill>
                        <a:latin typeface="Cambria Math" panose="02040503050406030204" pitchFamily="18" charset="0"/>
                      </a:rPr>
                      <m:t>sin</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compare it with </a:t>
                </a:r>
                <a14:m>
                  <m:oMath xmlns:m="http://schemas.openxmlformats.org/officeDocument/2006/math">
                    <m:r>
                      <a:rPr lang="en-IN" sz="2400" i="1">
                        <a:solidFill>
                          <a:srgbClr val="78350F"/>
                        </a:solidFill>
                        <a:latin typeface="Cambria Math" panose="02040503050406030204" pitchFamily="18" charset="0"/>
                      </a:rPr>
                      <m:t>𝑝</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𝑞</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chord joining the points with eccentric angles </a:t>
                </a:r>
                <a:r>
                  <a:rPr lang="en-IN" sz="2400">
                    <a:solidFill>
                      <a:srgbClr val="78350F"/>
                    </a:solidFill>
                    <a:latin typeface="Cambria Math" panose="02040503050406030204" pitchFamily="18" charset="0"/>
                  </a:rPr>
                  <a:t>$\alpha,\beta$</a:t>
                </a:r>
                <a:r>
                  <a:rPr sz="2400" b="0">
                    <a:solidFill>
                      <a:srgbClr val="78350F"/>
                    </a:solidFill>
                    <a:latin typeface="Arial"/>
                  </a:rPr>
                  <a:t> is </a:t>
                </a:r>
                <a:r>
                  <a:rPr lang="en-IN" sz="2400">
                    <a:solidFill>
                      <a:srgbClr val="78350F"/>
                    </a:solidFill>
                    <a:latin typeface="Cambria Math" panose="02040503050406030204" pitchFamily="18" charset="0"/>
                  </a:rPr>
                  <a:t>$\frac xa\cos\frac{\alpha+\beta}{2}+\frac yb\sin\frac{\alpha+\beta}{2}=\cos\frac{\alpha-\beta}{2}$</a:t>
                </a:r>
                <a:r>
                  <a:rPr sz="2400" b="0">
                    <a:solidFill>
                      <a:srgbClr val="78350F"/>
                    </a:solidFill>
                    <a:latin typeface="Arial"/>
                  </a:rPr>
                  <a:t>; compare it with </a:t>
                </a:r>
                <a:r>
                  <a:rPr lang="en-IN" sz="2400">
                    <a:solidFill>
                      <a:srgbClr val="78350F"/>
                    </a:solidFill>
                    <a:latin typeface="Cambria Math" panose="02040503050406030204" pitchFamily="18" charset="0"/>
                  </a:rPr>
                  <a:t>$px+qy=r$</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the PDF the ellipse and the angle are not legible; the key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fits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since </a:t>
                </a:r>
                <a14:m>
                  <m:oMath xmlns:m="http://schemas.openxmlformats.org/officeDocument/2006/math">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the eccentric angles be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Put </a:t>
                </a:r>
                <a14:m>
                  <m:oMath xmlns:m="http://schemas.openxmlformats.org/officeDocument/2006/math">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chord joining them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δ</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the PDF the ellipse and the angle are not legible; the key </a:t>
                </a:r>
                <a:r>
                  <a:rPr lang="en-IN" sz="2400">
                    <a:solidFill>
                      <a:srgbClr val="111827"/>
                    </a:solidFill>
                    <a:latin typeface="Cambria Math" panose="02040503050406030204" pitchFamily="18" charset="0"/>
                  </a:rPr>
                  <a:t>$a^2p^2+b^2q^2=r^2\sec^2\left(\cdot\right)=(4-2\sqrt2)r^2$</a:t>
                </a:r>
                <a:r>
                  <a:rPr sz="2400" b="0">
                    <a:solidFill>
                      <a:srgbClr val="111827"/>
                    </a:solidFill>
                    <a:latin typeface="Arial"/>
                  </a:rPr>
                  <a:t> fits </a:t>
                </a:r>
                <a:r>
                  <a:rPr lang="en-IN" sz="2400">
                    <a:solidFill>
                      <a:srgbClr val="111827"/>
                    </a:solidFill>
                    <a:latin typeface="Cambria Math" panose="02040503050406030204" pitchFamily="18" charset="0"/>
                  </a:rPr>
                  <a:t>$\frac\pi4$</a:t>
                </a:r>
                <a:r>
                  <a:rPr sz="2400" b="0">
                    <a:solidFill>
                      <a:srgbClr val="111827"/>
                    </a:solidFill>
                    <a:latin typeface="Arial"/>
                  </a:rPr>
                  <a:t>, since </a:t>
                </a:r>
                <a:r>
                  <a:rPr lang="en-IN" sz="2400">
                    <a:solidFill>
                      <a:srgbClr val="111827"/>
                    </a:solidFill>
                    <a:latin typeface="Cambria Math" panose="02040503050406030204" pitchFamily="18" charset="0"/>
                  </a:rPr>
                  <a:t>$\sec^2\frac\pi8=4-2\sqrt2$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the eccentric angles be </a:t>
                </a:r>
                <a:r>
                  <a:rPr lang="en-IN" sz="2400">
                    <a:solidFill>
                      <a:srgbClr val="111827"/>
                    </a:solidFill>
                    <a:latin typeface="Cambria Math" panose="02040503050406030204" pitchFamily="18" charset="0"/>
                  </a:rPr>
                  <a:t>$\alpha,\beta$</a:t>
                </a:r>
                <a:r>
                  <a:rPr sz="2400" b="0">
                    <a:solidFill>
                      <a:srgbClr val="111827"/>
                    </a:solidFill>
                    <a:latin typeface="Arial"/>
                  </a:rPr>
                  <a:t> with </a:t>
                </a:r>
                <a:r>
                  <a:rPr lang="en-IN" sz="2400">
                    <a:solidFill>
                      <a:srgbClr val="111827"/>
                    </a:solidFill>
                    <a:latin typeface="Cambria Math" panose="02040503050406030204" pitchFamily="18" charset="0"/>
                  </a:rPr>
                  <a:t>$\alpha-\beta=\frac\pi4$</a:t>
                </a:r>
                <a:r>
                  <a:rPr sz="2400" b="0">
                    <a:solidFill>
                      <a:srgbClr val="111827"/>
                    </a:solidFill>
                    <a:latin typeface="Arial"/>
                  </a:rPr>
                  <a:t>. Put </a:t>
                </a:r>
                <a:r>
                  <a:rPr lang="en-IN" sz="2400">
                    <a:solidFill>
                      <a:srgbClr val="111827"/>
                    </a:solidFill>
                    <a:latin typeface="Cambria Math" panose="02040503050406030204" pitchFamily="18" charset="0"/>
                  </a:rPr>
                  <a:t>$\varphi=\frac{\alpha+\beta}{2}$</a:t>
                </a:r>
                <a:r>
                  <a:rPr sz="2400" b="0">
                    <a:solidFill>
                      <a:srgbClr val="111827"/>
                    </a:solidFill>
                    <a:latin typeface="Arial"/>
                  </a:rPr>
                  <a:t> and </a:t>
                </a:r>
                <a:r>
                  <a:rPr lang="en-IN" sz="2400">
                    <a:solidFill>
                      <a:srgbClr val="111827"/>
                    </a:solidFill>
                    <a:latin typeface="Cambria Math" panose="02040503050406030204" pitchFamily="18" charset="0"/>
                  </a:rPr>
                  <a:t>$\delta=\frac{\alpha-\beta}{2}=\frac\pi8$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chord joining them is </a:t>
                </a:r>
                <a:r>
                  <a:rPr lang="en-IN" sz="2400">
                    <a:solidFill>
                      <a:srgbClr val="111827"/>
                    </a:solidFill>
                    <a:latin typeface="Cambria Math" panose="02040503050406030204" pitchFamily="18" charset="0"/>
                  </a:rPr>
                  <a:t>$\frac xa\cos\varphi+\frac yb\sin\varphi=\cos\delta$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as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δ</m:t>
                        </m:r>
                      </m:num>
                      <m:den>
                        <m:r>
                          <a:rPr lang="en-IN" sz="2400" i="1">
                            <a:solidFill>
                              <a:srgbClr val="111827"/>
                            </a:solidFill>
                            <a:latin typeface="Cambria Math" panose="02040503050406030204" pitchFamily="18" charset="0"/>
                          </a:rPr>
                          <m:t>𝑟</m:t>
                        </m:r>
                      </m:den>
                    </m:f>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δ</m:t>
                        </m:r>
                      </m:num>
                      <m:den>
                        <m:r>
                          <a:rPr lang="en-IN" sz="2400" i="1">
                            <a:solidFill>
                              <a:srgbClr val="111827"/>
                            </a:solidFill>
                            <a:latin typeface="Cambria Math" panose="02040503050406030204" pitchFamily="18" charset="0"/>
                          </a:rPr>
                          <m:t>𝑟</m:t>
                        </m:r>
                      </m:den>
                    </m:f>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δ</m:t>
                    </m:r>
                  </m:oMath>
                </a14:m>
                <a:r>
                  <a:rPr sz="2400" b="0">
                    <a:solidFill>
                      <a:srgbClr val="111827"/>
                    </a:solidFill>
                    <a:latin typeface="Arial"/>
                  </a:rPr>
                  <a:t> and compare: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δ</m:t>
                        </m:r>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 ....(1) and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δ</m:t>
                        </m:r>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Square and add (1)</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(2)</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after clearing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δ</m:t>
                        </m:r>
                      </m:num>
                      <m:den>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so the condition is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$px+qy=r$</a:t>
                </a:r>
                <a:r>
                  <a:rPr sz="2400" b="0">
                    <a:solidFill>
                      <a:srgbClr val="111827"/>
                    </a:solidFill>
                    <a:latin typeface="Arial"/>
                  </a:rPr>
                  <a:t> as </a:t>
                </a:r>
                <a:r>
                  <a:rPr lang="en-IN" sz="2400">
                    <a:solidFill>
                      <a:srgbClr val="111827"/>
                    </a:solidFill>
                    <a:latin typeface="Cambria Math" panose="02040503050406030204" pitchFamily="18" charset="0"/>
                  </a:rPr>
                  <a:t>$\frac{p\cos\delta}{r}x+\frac{q\cos\delta}{r}y=\cos\delta$</a:t>
                </a:r>
                <a:r>
                  <a:rPr sz="2400" b="0">
                    <a:solidFill>
                      <a:srgbClr val="111827"/>
                    </a:solidFill>
                    <a:latin typeface="Arial"/>
                  </a:rPr>
                  <a:t> and compare: </a:t>
                </a:r>
                <a:r>
                  <a:rPr lang="en-IN" sz="2400">
                    <a:solidFill>
                      <a:srgbClr val="111827"/>
                    </a:solidFill>
                    <a:latin typeface="Cambria Math" panose="02040503050406030204" pitchFamily="18" charset="0"/>
                  </a:rPr>
                  <a:t>$\frac{\cos\varphi}{a}=\frac{p\cos\delta}{r}$</a:t>
                </a:r>
                <a:r>
                  <a:rPr sz="2400" b="0">
                    <a:solidFill>
                      <a:srgbClr val="111827"/>
                    </a:solidFill>
                    <a:latin typeface="Arial"/>
                  </a:rPr>
                  <a:t> ....(1) and </a:t>
                </a:r>
                <a:r>
                  <a:rPr lang="en-IN" sz="2400">
                    <a:solidFill>
                      <a:srgbClr val="111827"/>
                    </a:solidFill>
                    <a:latin typeface="Cambria Math" panose="02040503050406030204" pitchFamily="18" charset="0"/>
                  </a:rPr>
                  <a:t>$\frac{\sin\varphi}{b}=\frac{q\cos\delta}{r}$</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Square and add (1)</a:t>
                </a:r>
                <a:r>
                  <a:rPr lang="en-IN" sz="2400">
                    <a:solidFill>
                      <a:srgbClr val="111827"/>
                    </a:solidFill>
                    <a:latin typeface="Cambria Math" panose="02040503050406030204" pitchFamily="18" charset="0"/>
                  </a:rPr>
                  <a:t>$^2$</a:t>
                </a:r>
                <a:r>
                  <a:rPr sz="2400" b="0">
                    <a:solidFill>
                      <a:srgbClr val="111827"/>
                    </a:solidFill>
                    <a:latin typeface="Arial"/>
                  </a:rPr>
                  <a:t> and (2)</a:t>
                </a:r>
                <a:r>
                  <a:rPr lang="en-IN" sz="2400">
                    <a:solidFill>
                      <a:srgbClr val="111827"/>
                    </a:solidFill>
                    <a:latin typeface="Cambria Math" panose="02040503050406030204" pitchFamily="18" charset="0"/>
                  </a:rPr>
                  <a:t>$^2$</a:t>
                </a:r>
                <a:r>
                  <a:rPr sz="2400" b="0">
                    <a:solidFill>
                      <a:srgbClr val="111827"/>
                    </a:solidFill>
                    <a:latin typeface="Arial"/>
                  </a:rPr>
                  <a:t> after clearing </a:t>
                </a:r>
                <a:r>
                  <a:rPr lang="en-IN" sz="2400">
                    <a:solidFill>
                      <a:srgbClr val="111827"/>
                    </a:solidFill>
                    <a:latin typeface="Cambria Math" panose="02040503050406030204" pitchFamily="18" charset="0"/>
                  </a:rPr>
                  <a:t>$a,b$</a:t>
                </a:r>
                <a:r>
                  <a:rPr sz="2400" b="0">
                    <a:solidFill>
                      <a:srgbClr val="111827"/>
                    </a:solidFill>
                    <a:latin typeface="Arial"/>
                  </a:rPr>
                  <a:t>: </a:t>
                </a:r>
                <a:r>
                  <a:rPr lang="en-IN" sz="2400">
                    <a:solidFill>
                      <a:srgbClr val="111827"/>
                    </a:solidFill>
                    <a:latin typeface="Cambria Math" panose="02040503050406030204" pitchFamily="18" charset="0"/>
                  </a:rPr>
                  <a:t>$1=\cos^2\varphi+\sin^2\varphi=\frac{(a^2p^2+b^2q^2)\cos^2\delta}{r^2}$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$a^2p^2+b^2q^2=r^2\sec^2\delta=r^2\sec^2\frac\pi8$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$\sec^2\frac\pi8=\frac{2}{1+\cos\frac\pi4}=\frac{4}{2+\sqrt2}=4-2\sqrt2$</a:t>
                </a:r>
                <a:r>
                  <a:rPr sz="2400" b="0">
                    <a:solidFill>
                      <a:srgbClr val="111827"/>
                    </a:solidFill>
                    <a:latin typeface="Arial"/>
                  </a:rPr>
                  <a:t>, so the condition is </a:t>
                </a:r>
                <a:r>
                  <a:rPr lang="en-IN" sz="2400">
                    <a:solidFill>
                      <a:srgbClr val="111827"/>
                    </a:solidFill>
                    <a:latin typeface="Cambria Math" panose="02040503050406030204" pitchFamily="18" charset="0"/>
                  </a:rPr>
                  <a:t>$a^2p^2+b^2q^2=(4-2\sqrt2)\,r^2$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sSup>
                      <m:e>
                        <m:r>
                          <a:rPr lang="en-IN" sz="2800" i="1">
                            <a:solidFill>
                              <a:srgbClr val="15803D"/>
                            </a:solidFill>
                            <a:latin typeface="Cambria Math" panose="02040503050406030204" pitchFamily="18" charset="0"/>
                          </a:rPr>
                          <m:t>𝑝</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sSup>
                      <m:e>
                        <m:r>
                          <a:rPr lang="en-IN" sz="2800" i="1">
                            <a:solidFill>
                              <a:srgbClr val="15803D"/>
                            </a:solidFill>
                            <a:latin typeface="Cambria Math" panose="02040503050406030204" pitchFamily="18" charset="0"/>
                          </a:rPr>
                          <m:t>𝑞</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𝑟</m:t>
                        </m:r>
                      </m:e>
                      <m:sup>
                        <m:r>
                          <a:rPr lang="en-IN" sz="2800" i="1">
                            <a:solidFill>
                              <a:srgbClr val="15803D"/>
                            </a:solidFill>
                            <a:latin typeface="Cambria Math" panose="02040503050406030204" pitchFamily="18" charset="0"/>
                          </a:rPr>
                          <m:t>2</m:t>
                        </m:r>
                      </m:sup>
                    </m:sSup>
                    <m:sSup>
                      <m:e>
                        <m:r>
                          <m:rPr>
                            <m:sty m:val="p"/>
                          </m:rPr>
                          <a:rPr lang="en-IN" sz="2800">
                            <a:solidFill>
                              <a:srgbClr val="15803D"/>
                            </a:solidFill>
                            <a:latin typeface="Cambria Math" panose="02040503050406030204" pitchFamily="18" charset="0"/>
                          </a:rPr>
                          <m:t>sec</m:t>
                        </m:r>
                      </m:e>
                      <m:sup>
                        <m:r>
                          <a:rPr lang="en-IN" sz="2800" i="1">
                            <a:solidFill>
                              <a:srgbClr val="15803D"/>
                            </a:solidFill>
                            <a:latin typeface="Cambria Math" panose="02040503050406030204" pitchFamily="18" charset="0"/>
                          </a:rPr>
                          <m:t>2</m:t>
                        </m:r>
                      </m:sup>
                    </m:sSup>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π</m:t>
                        </m:r>
                      </m:num>
                      <m:den>
                        <m:r>
                          <a:rPr lang="en-IN" sz="2800" i="1">
                            <a:solidFill>
                              <a:srgbClr val="15803D"/>
                            </a:solidFill>
                            <a:latin typeface="Cambria Math" panose="02040503050406030204" pitchFamily="18" charset="0"/>
                          </a:rPr>
                          <m:t>8</m:t>
                        </m:r>
                      </m:den>
                    </m:f>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 </m:t>
                    </m:r>
                    <m:sSup>
                      <m:e>
                        <m:r>
                          <a:rPr lang="en-IN" sz="2800" i="1">
                            <a:solidFill>
                              <a:srgbClr val="15803D"/>
                            </a:solidFill>
                            <a:latin typeface="Cambria Math" panose="02040503050406030204" pitchFamily="18" charset="0"/>
                          </a:rPr>
                          <m:t>𝑟</m:t>
                        </m:r>
                      </m:e>
                      <m:sup>
                        <m:r>
                          <a:rPr lang="en-IN" sz="2800" i="1">
                            <a:solidFill>
                              <a:srgbClr val="15803D"/>
                            </a:solidFill>
                            <a:latin typeface="Cambria Math" panose="02040503050406030204" pitchFamily="18" charset="0"/>
                          </a:rPr>
                          <m:t>2</m:t>
                        </m:r>
                      </m:sup>
                    </m:sSup>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$a^2p^2+b^2q^2=r^2\sec^2\frac{\pi}{8}=(4-2\sqrt2)\,r^2$</a:t>
                </a:r>
                <a:endParaRPr sz="2800">
                  <a:solidFill>
                    <a:srgbClr val="15803D"/>
                  </a:solidFill>
                </a:endParaRPr>
              </a:p>
            </p:txBody>
          </p:sp>
        </mc:Fallback>
      </mc:AlternateContent>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Map the ellipse to its auxiliary circle: points with eccentric angles </a:t>
                </a:r>
                <a14:m>
                  <m:oMath xmlns:m="http://schemas.openxmlformats.org/officeDocument/2006/math">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oMath>
                </a14:m>
                <a:r>
                  <a:rPr sz="2400" b="0">
                    <a:solidFill>
                      <a:srgbClr val="78350F"/>
                    </a:solidFill>
                    <a:latin typeface="Arial"/>
                  </a:rPr>
                  <a:t> become points at angle </a:t>
                </a:r>
                <a14:m>
                  <m:oMath xmlns:m="http://schemas.openxmlformats.org/officeDocument/2006/math">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oMath>
                </a14:m>
                <a:r>
                  <a:rPr sz="2400" b="0">
                    <a:solidFill>
                      <a:srgbClr val="78350F"/>
                    </a:solidFill>
                    <a:latin typeface="Arial"/>
                  </a:rPr>
                  <a:t> at the centre, so the chord is at distance </a:t>
                </a:r>
                <a14:m>
                  <m:oMath xmlns:m="http://schemas.openxmlformats.org/officeDocument/2006/math">
                    <m:r>
                      <m:rPr>
                        <m:sty m:val="p"/>
                      </m:rPr>
                      <a:rPr lang="en-IN" sz="2400">
                        <a:solidFill>
                          <a:srgbClr val="78350F"/>
                        </a:solidFill>
                        <a:latin typeface="Cambria Math" panose="02040503050406030204" pitchFamily="18" charset="0"/>
                      </a:rPr>
                      <m:t>cos</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from the centre.</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Map the ellipse to its auxiliary circle: points with eccentric angles </a:t>
                </a:r>
                <a:r>
                  <a:rPr lang="en-IN" sz="2400">
                    <a:solidFill>
                      <a:srgbClr val="78350F"/>
                    </a:solidFill>
                    <a:latin typeface="Cambria Math" panose="02040503050406030204" pitchFamily="18" charset="0"/>
                  </a:rPr>
                  <a:t>$\alpha,\beta$</a:t>
                </a:r>
                <a:r>
                  <a:rPr sz="2400" b="0">
                    <a:solidFill>
                      <a:srgbClr val="78350F"/>
                    </a:solidFill>
                    <a:latin typeface="Arial"/>
                  </a:rPr>
                  <a:t> become points at angle </a:t>
                </a:r>
                <a:r>
                  <a:rPr lang="en-IN" sz="2400">
                    <a:solidFill>
                      <a:srgbClr val="78350F"/>
                    </a:solidFill>
                    <a:latin typeface="Cambria Math" panose="02040503050406030204" pitchFamily="18" charset="0"/>
                  </a:rPr>
                  <a:t>$\alpha-\beta$</a:t>
                </a:r>
                <a:r>
                  <a:rPr sz="2400" b="0">
                    <a:solidFill>
                      <a:srgbClr val="78350F"/>
                    </a:solidFill>
                    <a:latin typeface="Arial"/>
                  </a:rPr>
                  <a:t> at the centre, so the chord is at distance </a:t>
                </a:r>
                <a:r>
                  <a:rPr lang="en-IN" sz="2400">
                    <a:solidFill>
                      <a:srgbClr val="78350F"/>
                    </a:solidFill>
                    <a:latin typeface="Cambria Math" panose="02040503050406030204" pitchFamily="18" charset="0"/>
                  </a:rPr>
                  <a:t>$\cos\frac{\alpha-\beta}{2}$</a:t>
                </a:r>
                <a:r>
                  <a:rPr sz="2400" b="0">
                    <a:solidFill>
                      <a:srgbClr val="78350F"/>
                    </a:solidFill>
                    <a:latin typeface="Arial"/>
                  </a:rPr>
                  <a:t> from the centre.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map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e>
                    </m:d>
                  </m:oMath>
                </a14:m>
                <a:r>
                  <a:rPr sz="2400" b="0">
                    <a:solidFill>
                      <a:srgbClr val="111827"/>
                    </a:solidFill>
                    <a:latin typeface="Arial"/>
                  </a:rPr>
                  <a:t> sends the ellipse to the unit circle and the points with eccentric angles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oMath>
                </a14:m>
                <a:r>
                  <a:rPr sz="2400" b="0">
                    <a:solidFill>
                      <a:srgbClr val="111827"/>
                    </a:solidFill>
                    <a:latin typeface="Arial"/>
                  </a:rPr>
                  <a:t> to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a:t>
                </a:r>
                <a14:m>
                  <m:oMath xmlns:m="http://schemas.openxmlformats.org/officeDocument/2006/math">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goes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two points subtend the angle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the centre, so the chord is at distance </a:t>
                </a:r>
                <a14:m>
                  <m:oMath xmlns:m="http://schemas.openxmlformats.org/officeDocument/2006/math">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from the centre of the unit circle.</a:t>
                </a:r>
                <a:endParaRPr sz="2400">
                  <a:solidFill>
                    <a:srgbClr val="111827"/>
                  </a:solidFill>
                </a:endParaRPr>
              </a:p>
            </p:txBody>
          </p:sp>
        </mc:Choice>
        <mc:Fallback>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map </a:t>
                </a:r>
                <a:r>
                  <a:rPr lang="en-IN" sz="2400">
                    <a:solidFill>
                      <a:srgbClr val="111827"/>
                    </a:solidFill>
                    <a:latin typeface="Cambria Math" panose="02040503050406030204" pitchFamily="18" charset="0"/>
                  </a:rPr>
                  <a:t>$(x,y)\to\left(\frac xa,\frac yb\right)$</a:t>
                </a:r>
                <a:r>
                  <a:rPr sz="2400" b="0">
                    <a:solidFill>
                      <a:srgbClr val="111827"/>
                    </a:solidFill>
                    <a:latin typeface="Arial"/>
                  </a:rPr>
                  <a:t> sends the ellipse to the unit circle and the points with eccentric angles </a:t>
                </a:r>
                <a:r>
                  <a:rPr lang="en-IN" sz="2400">
                    <a:solidFill>
                      <a:srgbClr val="111827"/>
                    </a:solidFill>
                    <a:latin typeface="Cambria Math" panose="02040503050406030204" pitchFamily="18" charset="0"/>
                  </a:rPr>
                  <a:t>$\alpha,\beta$</a:t>
                </a:r>
                <a:r>
                  <a:rPr sz="2400" b="0">
                    <a:solidFill>
                      <a:srgbClr val="111827"/>
                    </a:solidFill>
                    <a:latin typeface="Arial"/>
                  </a:rPr>
                  <a:t> to </a:t>
                </a:r>
                <a:r>
                  <a:rPr lang="en-IN" sz="2400">
                    <a:solidFill>
                      <a:srgbClr val="111827"/>
                    </a:solidFill>
                    <a:latin typeface="Cambria Math" panose="02040503050406030204" pitchFamily="18" charset="0"/>
                  </a:rPr>
                  <a:t>$(\cos\alpha,\sin\alpha),(\cos\beta,\sin\beta)$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a:t>
                </a:r>
                <a:r>
                  <a:rPr lang="en-IN" sz="2400">
                    <a:solidFill>
                      <a:srgbClr val="111827"/>
                    </a:solidFill>
                    <a:latin typeface="Cambria Math" panose="02040503050406030204" pitchFamily="18" charset="0"/>
                  </a:rPr>
                  <a:t>$px+qy=r$</a:t>
                </a:r>
                <a:r>
                  <a:rPr sz="2400" b="0">
                    <a:solidFill>
                      <a:srgbClr val="111827"/>
                    </a:solidFill>
                    <a:latin typeface="Arial"/>
                  </a:rPr>
                  <a:t> goes to </a:t>
                </a:r>
                <a:r>
                  <a:rPr lang="en-IN" sz="2400">
                    <a:solidFill>
                      <a:srgbClr val="111827"/>
                    </a:solidFill>
                    <a:latin typeface="Cambria Math" panose="02040503050406030204" pitchFamily="18" charset="0"/>
                  </a:rPr>
                  <a:t>$(ap)X+(bq)Y=r$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two points subtend the angle </a:t>
                </a:r>
                <a:r>
                  <a:rPr lang="en-IN" sz="2400">
                    <a:solidFill>
                      <a:srgbClr val="111827"/>
                    </a:solidFill>
                    <a:latin typeface="Cambria Math" panose="02040503050406030204" pitchFamily="18" charset="0"/>
                  </a:rPr>
                  <a:t>$\alpha-\beta=\frac\pi4$</a:t>
                </a:r>
                <a:r>
                  <a:rPr sz="2400" b="0">
                    <a:solidFill>
                      <a:srgbClr val="111827"/>
                    </a:solidFill>
                    <a:latin typeface="Arial"/>
                  </a:rPr>
                  <a:t> at the centre, so the chord is at distance </a:t>
                </a:r>
                <a:r>
                  <a:rPr lang="en-IN" sz="2400">
                    <a:solidFill>
                      <a:srgbClr val="111827"/>
                    </a:solidFill>
                    <a:latin typeface="Cambria Math" panose="02040503050406030204" pitchFamily="18" charset="0"/>
                  </a:rPr>
                  <a:t>$\cos\frac\pi8$</a:t>
                </a:r>
                <a:r>
                  <a:rPr sz="2400" b="0">
                    <a:solidFill>
                      <a:srgbClr val="111827"/>
                    </a:solidFill>
                    <a:latin typeface="Arial"/>
                  </a:rPr>
                  <a:t> from the centre of the unit circle.</a:t>
                </a:r>
                <a:endParaRPr sz="2400">
                  <a:solidFill>
                    <a:srgbClr val="111827"/>
                  </a:solidFill>
                </a:endParaRPr>
              </a:p>
            </p:txBody>
          </p:sp>
        </mc:Fallback>
      </mc:AlternateContent>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distance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from the origin is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e>
                        </m:rad>
                      </m:den>
                    </m:f>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e>
                        </m:rad>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distance of </a:t>
                </a:r>
                <a:r>
                  <a:rPr lang="en-IN" sz="2400">
                    <a:solidFill>
                      <a:srgbClr val="111827"/>
                    </a:solidFill>
                    <a:latin typeface="Cambria Math" panose="02040503050406030204" pitchFamily="18" charset="0"/>
                  </a:rPr>
                  <a:t>$(ap)X+(bq)Y=r$</a:t>
                </a:r>
                <a:r>
                  <a:rPr sz="2400" b="0">
                    <a:solidFill>
                      <a:srgbClr val="111827"/>
                    </a:solidFill>
                    <a:latin typeface="Arial"/>
                  </a:rPr>
                  <a:t> from the origin is </a:t>
                </a:r>
                <a:r>
                  <a:rPr lang="en-IN" sz="2400">
                    <a:solidFill>
                      <a:srgbClr val="111827"/>
                    </a:solidFill>
                    <a:latin typeface="Cambria Math" panose="02040503050406030204" pitchFamily="18" charset="0"/>
                  </a:rPr>
                  <a:t>$\frac{|r|}{\sqrt{a^2p^2+b^2q^2}}$</a:t>
                </a:r>
                <a:r>
                  <a:rPr sz="2400" b="0">
                    <a:solidFill>
                      <a:srgbClr val="111827"/>
                    </a:solidFill>
                    <a:latin typeface="Arial"/>
                  </a:rPr>
                  <a:t>. So </a:t>
                </a:r>
                <a:r>
                  <a:rPr lang="en-IN" sz="2400">
                    <a:solidFill>
                      <a:srgbClr val="111827"/>
                    </a:solidFill>
                    <a:latin typeface="Cambria Math" panose="02040503050406030204" pitchFamily="18" charset="0"/>
                  </a:rPr>
                  <a:t>$\frac{|r|}{\sqrt{a^2p^2+b^2q^2}}=\cos\frac\pi8$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$a^2p^2+b^2q^2=r^2\sec^2\frac\pi8=(4-2\sqrt2)r^2$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sSup>
                      <m:e>
                        <m:r>
                          <a:rPr lang="en-IN" sz="2800" i="1">
                            <a:solidFill>
                              <a:srgbClr val="15803D"/>
                            </a:solidFill>
                            <a:latin typeface="Cambria Math" panose="02040503050406030204" pitchFamily="18" charset="0"/>
                          </a:rPr>
                          <m:t>𝑝</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sSup>
                      <m:e>
                        <m:r>
                          <a:rPr lang="en-IN" sz="2800" i="1">
                            <a:solidFill>
                              <a:srgbClr val="15803D"/>
                            </a:solidFill>
                            <a:latin typeface="Cambria Math" panose="02040503050406030204" pitchFamily="18" charset="0"/>
                          </a:rPr>
                          <m:t>𝑞</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𝑟</m:t>
                        </m:r>
                      </m:e>
                      <m:sup>
                        <m:r>
                          <a:rPr lang="en-IN" sz="2800" i="1">
                            <a:solidFill>
                              <a:srgbClr val="15803D"/>
                            </a:solidFill>
                            <a:latin typeface="Cambria Math" panose="02040503050406030204" pitchFamily="18" charset="0"/>
                          </a:rPr>
                          <m:t>2</m:t>
                        </m:r>
                      </m:sup>
                    </m:sSup>
                    <m:sSup>
                      <m:e>
                        <m:r>
                          <m:rPr>
                            <m:sty m:val="p"/>
                          </m:rPr>
                          <a:rPr lang="en-IN" sz="2800">
                            <a:solidFill>
                              <a:srgbClr val="15803D"/>
                            </a:solidFill>
                            <a:latin typeface="Cambria Math" panose="02040503050406030204" pitchFamily="18" charset="0"/>
                          </a:rPr>
                          <m:t>sec</m:t>
                        </m:r>
                      </m:e>
                      <m:sup>
                        <m:r>
                          <a:rPr lang="en-IN" sz="2800" i="1">
                            <a:solidFill>
                              <a:srgbClr val="15803D"/>
                            </a:solidFill>
                            <a:latin typeface="Cambria Math" panose="02040503050406030204" pitchFamily="18" charset="0"/>
                          </a:rPr>
                          <m:t>2</m:t>
                        </m:r>
                      </m:sup>
                    </m:sSup>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π</m:t>
                        </m:r>
                      </m:num>
                      <m:den>
                        <m:r>
                          <a:rPr lang="en-IN" sz="2800" i="1">
                            <a:solidFill>
                              <a:srgbClr val="15803D"/>
                            </a:solidFill>
                            <a:latin typeface="Cambria Math" panose="02040503050406030204" pitchFamily="18" charset="0"/>
                          </a:rPr>
                          <m:t>8</m:t>
                        </m:r>
                      </m:den>
                    </m:f>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 </m:t>
                    </m:r>
                    <m:sSup>
                      <m:e>
                        <m:r>
                          <a:rPr lang="en-IN" sz="2800" i="1">
                            <a:solidFill>
                              <a:srgbClr val="15803D"/>
                            </a:solidFill>
                            <a:latin typeface="Cambria Math" panose="02040503050406030204" pitchFamily="18" charset="0"/>
                          </a:rPr>
                          <m:t>𝑟</m:t>
                        </m:r>
                      </m:e>
                      <m:sup>
                        <m:r>
                          <a:rPr lang="en-IN" sz="2800" i="1">
                            <a:solidFill>
                              <a:srgbClr val="15803D"/>
                            </a:solidFill>
                            <a:latin typeface="Cambria Math" panose="02040503050406030204" pitchFamily="18" charset="0"/>
                          </a:rPr>
                          <m:t>2</m:t>
                        </m:r>
                      </m:sup>
                    </m:sSup>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$a^2p^2+b^2q^2=r^2\sec^2\frac{\pi}{8}=(4-2\sqrt2)\,r^2$</a:t>
                </a:r>
                <a:endParaRPr sz="2800">
                  <a:solidFill>
                    <a:srgbClr val="15803D"/>
                  </a:solidFill>
                </a:endParaRPr>
              </a:p>
            </p:txBody>
          </p:sp>
        </mc:Fallback>
      </mc:AlternateContent>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joining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a:t>
                </a:r>
                <a14:m>
                  <m:oMath xmlns:m="http://schemas.openxmlformats.org/officeDocument/2006/math">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cuts the ellipse at points whose eccentric angles differ by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δ</m:t>
                    </m:r>
                  </m:oMath>
                </a14:m>
                <a:r>
                  <a:rPr sz="2400" b="0">
                    <a:solidFill>
                      <a:srgbClr val="111827"/>
                    </a:solidFill>
                    <a:latin typeface="Arial"/>
                  </a:rPr>
                  <a:t> iff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δ</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condition is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is a tangent iff </a:t>
                </a:r>
                <a14:m>
                  <m:oMath xmlns:m="http://schemas.openxmlformats.org/officeDocument/2006/math">
                    <m:r>
                      <a:rPr lang="en-IN" sz="2400" i="1">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usual tangency condition).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Half-angle values: </a:t>
                </a:r>
                <a14:m>
                  <m:oMath xmlns:m="http://schemas.openxmlformats.org/officeDocument/2006/math">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joining </a:t>
                </a:r>
                <a:r>
                  <a:rPr lang="en-IN" sz="2400">
                    <a:solidFill>
                      <a:srgbClr val="111827"/>
                    </a:solidFill>
                    <a:latin typeface="Cambria Math" panose="02040503050406030204" pitchFamily="18" charset="0"/>
                  </a:rPr>
                  <a:t>$P(\alpha),Q(\beta)$</a:t>
                </a:r>
                <a:r>
                  <a:rPr sz="2400" b="0">
                    <a:solidFill>
                      <a:srgbClr val="111827"/>
                    </a:solidFill>
                    <a:latin typeface="Arial"/>
                  </a:rPr>
                  <a:t> of </a:t>
                </a:r>
                <a:r>
                  <a:rPr lang="en-IN" sz="2400">
                    <a:solidFill>
                      <a:srgbClr val="111827"/>
                    </a:solidFill>
                    <a:latin typeface="Cambria Math" panose="02040503050406030204" pitchFamily="18" charset="0"/>
                  </a:rPr>
                  <a:t>$\frac{x^2}{a^2}+\frac{y^2}{b^2}=1$</a:t>
                </a:r>
                <a:r>
                  <a:rPr sz="2400" b="0">
                    <a:solidFill>
                      <a:srgbClr val="111827"/>
                    </a:solidFill>
                    <a:latin typeface="Arial"/>
                  </a:rPr>
                  <a:t>: </a:t>
                </a:r>
                <a:r>
                  <a:rPr lang="en-IN" sz="2400">
                    <a:solidFill>
                      <a:srgbClr val="111827"/>
                    </a:solidFill>
                    <a:latin typeface="Cambria Math" panose="02040503050406030204" pitchFamily="18" charset="0"/>
                  </a:rPr>
                  <a:t>$\frac xa\cos\frac{\alpha+\beta}{2}+\frac yb\sin\frac{\alpha+\beta}{2}=\cos\frac{\alpha-\beta}{2}$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a:t>
                </a:r>
                <a:r>
                  <a:rPr lang="en-IN" sz="2400">
                    <a:solidFill>
                      <a:srgbClr val="111827"/>
                    </a:solidFill>
                    <a:latin typeface="Cambria Math" panose="02040503050406030204" pitchFamily="18" charset="0"/>
                  </a:rPr>
                  <a:t>$px+qy=r$</a:t>
                </a:r>
                <a:r>
                  <a:rPr sz="2400" b="0">
                    <a:solidFill>
                      <a:srgbClr val="111827"/>
                    </a:solidFill>
                    <a:latin typeface="Arial"/>
                  </a:rPr>
                  <a:t> cuts the ellipse at points whose eccentric angles differ by </a:t>
                </a:r>
                <a:r>
                  <a:rPr lang="en-IN" sz="2400">
                    <a:solidFill>
                      <a:srgbClr val="111827"/>
                    </a:solidFill>
                    <a:latin typeface="Cambria Math" panose="02040503050406030204" pitchFamily="18" charset="0"/>
                  </a:rPr>
                  <a:t>$2\delta$</a:t>
                </a:r>
                <a:r>
                  <a:rPr sz="2400" b="0">
                    <a:solidFill>
                      <a:srgbClr val="111827"/>
                    </a:solidFill>
                    <a:latin typeface="Arial"/>
                  </a:rPr>
                  <a:t> iff </a:t>
                </a:r>
                <a:r>
                  <a:rPr lang="en-IN" sz="2400">
                    <a:solidFill>
                      <a:srgbClr val="111827"/>
                    </a:solidFill>
                    <a:latin typeface="Cambria Math" panose="02040503050406030204" pitchFamily="18" charset="0"/>
                  </a:rPr>
                  <a:t>$a^2p^2+b^2q^2=r^2\sec^2\delta$</a:t>
                </a:r>
                <a:r>
                  <a:rPr sz="2400" b="0">
                    <a:solidFill>
                      <a:srgbClr val="111827"/>
                    </a:solidFill>
                    <a:latin typeface="Arial"/>
                  </a:rPr>
                  <a:t>; for </a:t>
                </a:r>
                <a:r>
                  <a:rPr lang="en-IN" sz="2400">
                    <a:solidFill>
                      <a:srgbClr val="111827"/>
                    </a:solidFill>
                    <a:latin typeface="Cambria Math" panose="02040503050406030204" pitchFamily="18" charset="0"/>
                  </a:rPr>
                  <a:t>$2\delta=\frac\pi2$</a:t>
                </a:r>
                <a:r>
                  <a:rPr sz="2400" b="0">
                    <a:solidFill>
                      <a:srgbClr val="111827"/>
                    </a:solidFill>
                    <a:latin typeface="Arial"/>
                  </a:rPr>
                  <a:t> the condition is </a:t>
                </a:r>
                <a:r>
                  <a:rPr lang="en-IN" sz="2400">
                    <a:solidFill>
                      <a:srgbClr val="111827"/>
                    </a:solidFill>
                    <a:latin typeface="Cambria Math" panose="02040503050406030204" pitchFamily="18" charset="0"/>
                  </a:rPr>
                  <a:t>$a^2p^2+b^2q^2=2r^2$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is a tangent iff </a:t>
                </a:r>
                <a:r>
                  <a:rPr lang="en-IN" sz="2400">
                    <a:solidFill>
                      <a:srgbClr val="111827"/>
                    </a:solidFill>
                    <a:latin typeface="Cambria Math" panose="02040503050406030204" pitchFamily="18" charset="0"/>
                  </a:rPr>
                  <a:t>$\delta=0$</a:t>
                </a:r>
                <a:r>
                  <a:rPr sz="2400" b="0">
                    <a:solidFill>
                      <a:srgbClr val="111827"/>
                    </a:solidFill>
                    <a:latin typeface="Arial"/>
                  </a:rPr>
                  <a:t>: </a:t>
                </a:r>
                <a:r>
                  <a:rPr lang="en-IN" sz="2400">
                    <a:solidFill>
                      <a:srgbClr val="111827"/>
                    </a:solidFill>
                    <a:latin typeface="Cambria Math" panose="02040503050406030204" pitchFamily="18" charset="0"/>
                  </a:rPr>
                  <a:t>$a^2p^2+b^2q^2=r^2$</a:t>
                </a:r>
                <a:r>
                  <a:rPr sz="2400" b="0">
                    <a:solidFill>
                      <a:srgbClr val="111827"/>
                    </a:solidFill>
                    <a:latin typeface="Arial"/>
                  </a:rPr>
                  <a:t> (the usual tangency condition).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Half-angle values: </a:t>
                </a:r>
                <a:r>
                  <a:rPr lang="en-IN" sz="2400">
                    <a:solidFill>
                      <a:srgbClr val="111827"/>
                    </a:solidFill>
                    <a:latin typeface="Cambria Math" panose="02040503050406030204" pitchFamily="18" charset="0"/>
                  </a:rPr>
                  <a:t>$\sec^2\frac\pi8=4-2\sqrt2$</a:t>
                </a:r>
                <a:r>
                  <a:rPr sz="2400" b="0">
                    <a:solidFill>
                      <a:srgbClr val="111827"/>
                    </a:solidFill>
                    <a:latin typeface="Arial"/>
                  </a:rPr>
                  <a:t>, </a:t>
                </a:r>
                <a:r>
                  <a:rPr lang="en-IN" sz="2400">
                    <a:solidFill>
                      <a:srgbClr val="111827"/>
                    </a:solidFill>
                    <a:latin typeface="Cambria Math" panose="02040503050406030204" pitchFamily="18" charset="0"/>
                  </a:rPr>
                  <a:t>$\cos^2\frac\pi8=\frac{2+\sqrt2}{4}$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22758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Prove that, in an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perpendicular from a focus upon any tangent and the line joining the centre of the ellipse to the point of contact meet on the corresponding directrix.</a:t>
                </a:r>
                <a:endParaRPr sz="2400">
                  <a:solidFill>
                    <a:srgbClr val="111827"/>
                  </a:solidFill>
                </a:endParaRPr>
              </a:p>
            </p:txBody>
          </p:sp>
        </mc:Choice>
        <mc:Fallback>
          <p:sp>
            <p:nvSpPr>
              <p:cNvPr id="4" name="Rounded Rectangle 3"/>
              <p:cNvSpPr/>
              <p:nvPr/>
            </p:nvSpPr>
            <p:spPr>
              <a:xfrm>
                <a:off x="731520" y="1280160"/>
                <a:ext cx="10725912" cy="222758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Prove that, in an ellipse </a:t>
                </a:r>
                <a:r>
                  <a:rPr lang="en-IN" sz="2400">
                    <a:solidFill>
                      <a:srgbClr val="111827"/>
                    </a:solidFill>
                    <a:latin typeface="Cambria Math" panose="02040503050406030204" pitchFamily="18" charset="0"/>
                  </a:rPr>
                  <a:t>$\frac{x^2}{a^2}+\frac{y^2}{b^2}=1$</a:t>
                </a:r>
                <a:r>
                  <a:rPr sz="2400" b="0">
                    <a:solidFill>
                      <a:srgbClr val="111827"/>
                    </a:solidFill>
                    <a:latin typeface="Arial"/>
                  </a:rPr>
                  <a:t>, the perpendicular from a focus upon any tangent and the line joining the centre of the ellipse to the point of contact meet on the corresponding directrix.</a:t>
                </a:r>
                <a:endParaRPr sz="2400">
                  <a:solidFill>
                    <a:srgbClr val="111827"/>
                  </a:solidFill>
                </a:endParaRPr>
              </a:p>
            </p:txBody>
          </p:sp>
        </mc:Fallback>
      </mc:AlternateContent>
      <p:sp>
        <p:nvSpPr>
          <p:cNvPr id="5" name="Rectangle 4"/>
          <p:cNvSpPr/>
          <p:nvPr/>
        </p:nvSpPr>
        <p:spPr>
          <a:xfrm>
            <a:off x="731520" y="3736339"/>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Focal perpendicular on a tangent and the directrix of an ellipse, Intersection of two lines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perpendicular from </a:t>
                </a:r>
                <a14:m>
                  <m:oMath xmlns:m="http://schemas.openxmlformats.org/officeDocument/2006/math">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𝑒</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has direction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f>
                          <m:fPr>
                            <m:type m:val="bar"/>
                            <m:ctrlPr>
                              <a:rPr lang="en-IN" sz="2400" i="1">
                                <a:solidFill>
                                  <a:srgbClr val="78350F"/>
                                </a:solidFill>
                                <a:latin typeface="Cambria Math" panose="02040503050406030204" pitchFamily="18" charset="0"/>
                              </a:rPr>
                            </m:ctrlPr>
                          </m:fPr>
                          <m:num>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1</m:t>
                                </m:r>
                              </m:sub>
                            </m:sSub>
                          </m:num>
                          <m:den>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b>
                              <m:e>
                                <m:r>
                                  <a:rPr lang="en-IN" sz="2400" i="1">
                                    <a:solidFill>
                                      <a:srgbClr val="78350F"/>
                                    </a:solidFill>
                                    <a:latin typeface="Cambria Math" panose="02040503050406030204" pitchFamily="18" charset="0"/>
                                  </a:rPr>
                                  <m:t>𝑦</m:t>
                                </m:r>
                              </m:e>
                              <m:sub>
                                <m:r>
                                  <a:rPr lang="en-IN" sz="2400" i="1">
                                    <a:solidFill>
                                      <a:srgbClr val="78350F"/>
                                    </a:solidFill>
                                    <a:latin typeface="Cambria Math" panose="02040503050406030204" pitchFamily="18" charset="0"/>
                                  </a:rPr>
                                  <m:t>1</m:t>
                                </m:r>
                              </m:sub>
                            </m:sSub>
                          </m:num>
                          <m:den>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den>
                        </m:f>
                      </m:e>
                    </m:d>
                  </m:oMath>
                </a14:m>
                <a:r>
                  <a:rPr sz="2400" b="0">
                    <a:solidFill>
                      <a:srgbClr val="78350F"/>
                    </a:solidFill>
                    <a:latin typeface="Arial"/>
                  </a:rPr>
                  <a:t>, the normal vector of the tangent; combining it with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b>
                          <m:e>
                            <m:r>
                              <a:rPr lang="en-IN" sz="2400" i="1">
                                <a:solidFill>
                                  <a:srgbClr val="78350F"/>
                                </a:solidFill>
                                <a:latin typeface="Cambria Math" panose="02040503050406030204" pitchFamily="18" charset="0"/>
                              </a:rPr>
                              <m:t>𝑦</m:t>
                            </m:r>
                          </m:e>
                          <m:sub>
                            <m:r>
                              <a:rPr lang="en-IN" sz="2400" i="1">
                                <a:solidFill>
                                  <a:srgbClr val="78350F"/>
                                </a:solidFill>
                                <a:latin typeface="Cambria Math" panose="02040503050406030204" pitchFamily="18" charset="0"/>
                              </a:rPr>
                              <m:t>1</m:t>
                            </m:r>
                          </m:sub>
                        </m:sSub>
                      </m:num>
                      <m:den>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1</m:t>
                            </m:r>
                          </m:sub>
                        </m:sSub>
                      </m:den>
                    </m:f>
                    <m:r>
                      <a:rPr lang="en-IN" sz="2400" i="1">
                        <a:solidFill>
                          <a:srgbClr val="78350F"/>
                        </a:solidFill>
                        <a:latin typeface="Cambria Math" panose="02040503050406030204" pitchFamily="18" charset="0"/>
                      </a:rPr>
                      <m:t>𝑥</m:t>
                    </m:r>
                  </m:oMath>
                </a14:m>
                <a:r>
                  <a:rPr sz="2400" b="0">
                    <a:solidFill>
                      <a:srgbClr val="78350F"/>
                    </a:solidFill>
                    <a:latin typeface="Arial"/>
                  </a:rPr>
                  <a:t> gives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𝑎</m:t>
                        </m:r>
                      </m:num>
                      <m:den>
                        <m:r>
                          <a:rPr lang="en-IN" sz="2400" i="1">
                            <a:solidFill>
                              <a:srgbClr val="78350F"/>
                            </a:solidFill>
                            <a:latin typeface="Cambria Math" panose="02040503050406030204" pitchFamily="18" charset="0"/>
                          </a:rPr>
                          <m:t>𝑒</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perpendicular from </a:t>
                </a:r>
                <a:r>
                  <a:rPr lang="en-IN" sz="2400">
                    <a:solidFill>
                      <a:srgbClr val="78350F"/>
                    </a:solidFill>
                    <a:latin typeface="Cambria Math" panose="02040503050406030204" pitchFamily="18" charset="0"/>
                  </a:rPr>
                  <a:t>$S(ae,0)$</a:t>
                </a:r>
                <a:r>
                  <a:rPr sz="2400" b="0">
                    <a:solidFill>
                      <a:srgbClr val="78350F"/>
                    </a:solidFill>
                    <a:latin typeface="Arial"/>
                  </a:rPr>
                  <a:t> has direction </a:t>
                </a:r>
                <a:r>
                  <a:rPr lang="en-IN" sz="2400">
                    <a:solidFill>
                      <a:srgbClr val="78350F"/>
                    </a:solidFill>
                    <a:latin typeface="Cambria Math" panose="02040503050406030204" pitchFamily="18" charset="0"/>
                  </a:rPr>
                  <a:t>$\left(\frac{x_1}{a^2},\frac{y_1}{b^2}\right)$</a:t>
                </a:r>
                <a:r>
                  <a:rPr sz="2400" b="0">
                    <a:solidFill>
                      <a:srgbClr val="78350F"/>
                    </a:solidFill>
                    <a:latin typeface="Arial"/>
                  </a:rPr>
                  <a:t>, the normal vector of the tangent; combining it with </a:t>
                </a:r>
                <a:r>
                  <a:rPr lang="en-IN" sz="2400">
                    <a:solidFill>
                      <a:srgbClr val="78350F"/>
                    </a:solidFill>
                    <a:latin typeface="Cambria Math" panose="02040503050406030204" pitchFamily="18" charset="0"/>
                  </a:rPr>
                  <a:t>$y=\frac{y_1}{x_1}x$</a:t>
                </a:r>
                <a:r>
                  <a:rPr sz="2400" b="0">
                    <a:solidFill>
                      <a:srgbClr val="78350F"/>
                    </a:solidFill>
                    <a:latin typeface="Arial"/>
                  </a:rPr>
                  <a:t> gives </a:t>
                </a:r>
                <a:r>
                  <a:rPr lang="en-IN" sz="2400">
                    <a:solidFill>
                      <a:srgbClr val="78350F"/>
                    </a:solidFill>
                    <a:latin typeface="Cambria Math" panose="02040503050406030204" pitchFamily="18" charset="0"/>
                  </a:rPr>
                  <a:t>$x=\frac ae$</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ellipse equation is not legible in the PDF; it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focus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 The PDF's working is partly hidden; its last visible line is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r>
                      <a:rPr lang="en-IN" sz="2400" i="1">
                        <a:solidFill>
                          <a:srgbClr val="111827"/>
                        </a:solidFill>
                        <a:latin typeface="Cambria Math" panose="02040503050406030204" pitchFamily="18" charset="0"/>
                      </a:rPr>
                      <m:t>𝑒</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its normal vector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ellipse equation is not legible in the PDF; it is </a:t>
                </a:r>
                <a:r>
                  <a:rPr lang="en-IN" sz="2400">
                    <a:solidFill>
                      <a:srgbClr val="111827"/>
                    </a:solidFill>
                    <a:latin typeface="Cambria Math" panose="02040503050406030204" pitchFamily="18" charset="0"/>
                  </a:rPr>
                  <a:t>$\frac{x^2}{a^2}+\frac{y^2}{b^2}=1$</a:t>
                </a:r>
                <a:r>
                  <a:rPr sz="2400" b="0">
                    <a:solidFill>
                      <a:srgbClr val="111827"/>
                    </a:solidFill>
                    <a:latin typeface="Arial"/>
                  </a:rPr>
                  <a:t> with focus </a:t>
                </a:r>
                <a:r>
                  <a:rPr lang="en-IN" sz="2400">
                    <a:solidFill>
                      <a:srgbClr val="111827"/>
                    </a:solidFill>
                    <a:latin typeface="Cambria Math" panose="02040503050406030204" pitchFamily="18" charset="0"/>
                  </a:rPr>
                  <a:t>$S(ae,0)$</a:t>
                </a:r>
                <a:r>
                  <a:rPr sz="2400" b="0">
                    <a:solidFill>
                      <a:srgbClr val="111827"/>
                    </a:solidFill>
                    <a:latin typeface="Arial"/>
                  </a:rPr>
                  <a:t> and directrix </a:t>
                </a:r>
                <a:r>
                  <a:rPr lang="en-IN" sz="2400">
                    <a:solidFill>
                      <a:srgbClr val="111827"/>
                    </a:solidFill>
                    <a:latin typeface="Cambria Math" panose="02040503050406030204" pitchFamily="18" charset="0"/>
                  </a:rPr>
                  <a:t>$x=\frac ae$</a:t>
                </a:r>
                <a:r>
                  <a:rPr sz="2400" b="0">
                    <a:solidFill>
                      <a:srgbClr val="111827"/>
                    </a:solidFill>
                    <a:latin typeface="Arial"/>
                  </a:rPr>
                  <a:t>. The PDF's working is partly hidden; its last visible line is </a:t>
                </a:r>
                <a:r>
                  <a:rPr lang="en-IN" sz="2400">
                    <a:solidFill>
                      <a:srgbClr val="111827"/>
                    </a:solidFill>
                    <a:latin typeface="Cambria Math" panose="02040503050406030204" pitchFamily="18" charset="0"/>
                  </a:rPr>
                  <a:t>$a^2e^2x=a^3e$</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$P(x_1,y_1)$</a:t>
                </a:r>
                <a:r>
                  <a:rPr sz="2400" b="0">
                    <a:solidFill>
                      <a:srgbClr val="111827"/>
                    </a:solidFill>
                    <a:latin typeface="Arial"/>
                  </a:rPr>
                  <a:t>: </a:t>
                </a:r>
                <a:r>
                  <a:rPr lang="en-IN" sz="2400">
                    <a:solidFill>
                      <a:srgbClr val="111827"/>
                    </a:solidFill>
                    <a:latin typeface="Cambria Math" panose="02040503050406030204" pitchFamily="18" charset="0"/>
                  </a:rPr>
                  <a:t>$\frac{xx_1}{a^2}+\frac{yy_1}{b^2}=1$</a:t>
                </a:r>
                <a:r>
                  <a:rPr sz="2400" b="0">
                    <a:solidFill>
                      <a:srgbClr val="111827"/>
                    </a:solidFill>
                    <a:latin typeface="Arial"/>
                  </a:rPr>
                  <a:t>; its normal vector is </a:t>
                </a:r>
                <a:r>
                  <a:rPr lang="en-IN" sz="2400">
                    <a:solidFill>
                      <a:srgbClr val="111827"/>
                    </a:solidFill>
                    <a:latin typeface="Cambria Math" panose="02040503050406030204" pitchFamily="18" charset="0"/>
                  </a:rPr>
                  <a:t>$\left(\frac{x_1}{a^2},\frac{y_1}{b^2}\right)$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Perpendicular from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the tangent: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num>
                      <m:den>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𝑦</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joining the centre to the point of contact: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num>
                      <m:den>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den>
                    </m:f>
                    <m:r>
                      <a:rPr lang="en-IN" sz="2400" i="1">
                        <a:solidFill>
                          <a:srgbClr val="111827"/>
                        </a:solidFill>
                        <a:latin typeface="Cambria Math" panose="02040503050406030204" pitchFamily="18" charset="0"/>
                      </a:rPr>
                      <m:t>𝑥</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point of intersection substitute (2) in (1):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𝑥</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(for </a:t>
                </a:r>
                <a14:m>
                  <m:oMath xmlns:m="http://schemas.openxmlformats.org/officeDocument/2006/math">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Perpendicular from </a:t>
                </a:r>
                <a:r>
                  <a:rPr lang="en-IN" sz="2400">
                    <a:solidFill>
                      <a:srgbClr val="111827"/>
                    </a:solidFill>
                    <a:latin typeface="Cambria Math" panose="02040503050406030204" pitchFamily="18" charset="0"/>
                  </a:rPr>
                  <a:t>$S(ae,0)$</a:t>
                </a:r>
                <a:r>
                  <a:rPr sz="2400" b="0">
                    <a:solidFill>
                      <a:srgbClr val="111827"/>
                    </a:solidFill>
                    <a:latin typeface="Arial"/>
                  </a:rPr>
                  <a:t> to the tangent: </a:t>
                </a:r>
                <a:r>
                  <a:rPr lang="en-IN" sz="2400">
                    <a:solidFill>
                      <a:srgbClr val="111827"/>
                    </a:solidFill>
                    <a:latin typeface="Cambria Math" panose="02040503050406030204" pitchFamily="18" charset="0"/>
                  </a:rPr>
                  <a:t>$\frac{x-ae}{x_1/a^2}=\frac{y}{y_1/b^2}$</a:t>
                </a:r>
                <a:r>
                  <a:rPr sz="2400" b="0">
                    <a:solidFill>
                      <a:srgbClr val="111827"/>
                    </a:solidFill>
                    <a:latin typeface="Arial"/>
                  </a:rPr>
                  <a:t>, i.e. </a:t>
                </a:r>
                <a:r>
                  <a:rPr lang="en-IN" sz="2400">
                    <a:solidFill>
                      <a:srgbClr val="111827"/>
                    </a:solidFill>
                    <a:latin typeface="Cambria Math" panose="02040503050406030204" pitchFamily="18" charset="0"/>
                  </a:rPr>
                  <a:t>$\frac{y_1(x-ae)}{b^2}=\frac{x_1y}{a^2}$</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joining the centre to the point of contact: </a:t>
                </a:r>
                <a:r>
                  <a:rPr lang="en-IN" sz="2400">
                    <a:solidFill>
                      <a:srgbClr val="111827"/>
                    </a:solidFill>
                    <a:latin typeface="Cambria Math" panose="02040503050406030204" pitchFamily="18" charset="0"/>
                  </a:rPr>
                  <a:t>$y=\frac{y_1}{x_1}x$</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point of intersection substitute (2) in (1): </a:t>
                </a:r>
                <a:r>
                  <a:rPr lang="en-IN" sz="2400">
                    <a:solidFill>
                      <a:srgbClr val="111827"/>
                    </a:solidFill>
                    <a:latin typeface="Cambria Math" panose="02040503050406030204" pitchFamily="18" charset="0"/>
                  </a:rPr>
                  <a:t>$\frac{y_1(x-ae)}{b^2}=\frac{y_1x}{a^2}$</a:t>
                </a:r>
                <a:r>
                  <a:rPr sz="2400" b="0">
                    <a:solidFill>
                      <a:srgbClr val="111827"/>
                    </a:solidFill>
                    <a:latin typeface="Arial"/>
                  </a:rPr>
                  <a:t>, so </a:t>
                </a:r>
                <a:r>
                  <a:rPr lang="en-IN" sz="2400">
                    <a:solidFill>
                      <a:srgbClr val="111827"/>
                    </a:solidFill>
                    <a:latin typeface="Cambria Math" panose="02040503050406030204" pitchFamily="18" charset="0"/>
                  </a:rPr>
                  <a:t>$\frac{x-ae}{b^2}=\frac{x}{a^2}$</a:t>
                </a:r>
                <a:r>
                  <a:rPr sz="2400" b="0">
                    <a:solidFill>
                      <a:srgbClr val="111827"/>
                    </a:solidFill>
                    <a:latin typeface="Arial"/>
                  </a:rPr>
                  <a:t> (for </a:t>
                </a:r>
                <a:r>
                  <a:rPr lang="en-IN" sz="2400">
                    <a:solidFill>
                      <a:srgbClr val="111827"/>
                    </a:solidFill>
                    <a:latin typeface="Cambria Math" panose="02040503050406030204" pitchFamily="18" charset="0"/>
                  </a:rPr>
                  <a:t>$y_1\ne0$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r>
                      <a:rPr lang="en-IN" sz="2400" i="1">
                        <a:solidFill>
                          <a:srgbClr val="111827"/>
                        </a:solidFill>
                        <a:latin typeface="Cambria Math" panose="02040503050406030204" pitchFamily="18" charset="0"/>
                      </a:rPr>
                      <m:t>𝑒</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r>
                      <a:rPr lang="en-IN" sz="2400" i="1">
                        <a:solidFill>
                          <a:srgbClr val="111827"/>
                        </a:solidFill>
                        <a:latin typeface="Cambria Math" panose="02040503050406030204" pitchFamily="18" charset="0"/>
                      </a:rPr>
                      <m:t>𝑒</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 the point of intersection lies on the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$a^2(x-ae)=b^2x$</a:t>
                </a:r>
                <a:r>
                  <a:rPr sz="2400" b="0">
                    <a:solidFill>
                      <a:srgbClr val="111827"/>
                    </a:solidFill>
                    <a:latin typeface="Arial"/>
                  </a:rPr>
                  <a:t>, i.e. </a:t>
                </a:r>
                <a:r>
                  <a:rPr lang="en-IN" sz="2400">
                    <a:solidFill>
                      <a:srgbClr val="111827"/>
                    </a:solidFill>
                    <a:latin typeface="Cambria Math" panose="02040503050406030204" pitchFamily="18" charset="0"/>
                  </a:rPr>
                  <a:t>$(a^2-b^2)x=a^3e$</a:t>
                </a:r>
                <a:r>
                  <a:rPr sz="2400" b="0">
                    <a:solidFill>
                      <a:srgbClr val="111827"/>
                    </a:solidFill>
                    <a:latin typeface="Arial"/>
                  </a:rPr>
                  <a:t>, so </a:t>
                </a:r>
                <a:r>
                  <a:rPr lang="en-IN" sz="2400">
                    <a:solidFill>
                      <a:srgbClr val="111827"/>
                    </a:solidFill>
                    <a:latin typeface="Cambria Math" panose="02040503050406030204" pitchFamily="18" charset="0"/>
                  </a:rPr>
                  <a:t>$a^2e^2x=a^3e$</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$x=\frac ae$</a:t>
                </a:r>
                <a:r>
                  <a:rPr sz="2400" b="0">
                    <a:solidFill>
                      <a:srgbClr val="111827"/>
                    </a:solidFill>
                    <a:latin typeface="Arial"/>
                  </a:rPr>
                  <a:t>: the point of intersection lies on the directrix </a:t>
                </a:r>
                <a:r>
                  <a:rPr lang="en-IN" sz="2400">
                    <a:solidFill>
                      <a:srgbClr val="111827"/>
                    </a:solidFill>
                    <a:latin typeface="Cambria Math" panose="02040503050406030204" pitchFamily="18" charset="0"/>
                  </a:rPr>
                  <a:t>$x=\frac ae$</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The two lines meet at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𝑎</m:t>
                        </m:r>
                      </m:num>
                      <m:den>
                        <m:r>
                          <a:rPr lang="en-IN" sz="2800" i="1">
                            <a:solidFill>
                              <a:srgbClr val="15803D"/>
                            </a:solidFill>
                            <a:latin typeface="Cambria Math" panose="02040503050406030204" pitchFamily="18" charset="0"/>
                          </a:rPr>
                          <m:t>𝑒</m:t>
                        </m:r>
                      </m:den>
                    </m:f>
                  </m:oMath>
                </a14:m>
                <a:r>
                  <a:rPr sz="2800" b="1">
                    <a:solidFill>
                      <a:srgbClr val="15803D"/>
                    </a:solidFill>
                    <a:latin typeface="Arial"/>
                  </a:rPr>
                  <a:t>, a point of the directrix</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The two lines meet at </a:t>
                </a:r>
                <a:r>
                  <a:rPr lang="en-IN" sz="2800">
                    <a:solidFill>
                      <a:srgbClr val="15803D"/>
                    </a:solidFill>
                    <a:latin typeface="Cambria Math" panose="02040503050406030204" pitchFamily="18" charset="0"/>
                  </a:rPr>
                  <a:t>$x=\frac ae$</a:t>
                </a:r>
                <a:r>
                  <a:rPr sz="2800" b="1">
                    <a:solidFill>
                      <a:srgbClr val="15803D"/>
                    </a:solidFill>
                    <a:latin typeface="Arial"/>
                  </a:rPr>
                  <a:t>, a point of the directrix</a:t>
                </a:r>
                <a:endParaRPr sz="2800">
                  <a:solidFill>
                    <a:srgbClr val="15803D"/>
                  </a:solidFill>
                </a:endParaRPr>
              </a:p>
            </p:txBody>
          </p:sp>
        </mc:Fallback>
      </mc:AlternateContent>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Pole-polar view: the pole </a:t>
                </a:r>
                <a14:m>
                  <m:oMath xmlns:m="http://schemas.openxmlformats.org/officeDocument/2006/math">
                    <m:r>
                      <a:rPr lang="en-IN" sz="2400" i="1">
                        <a:solidFill>
                          <a:srgbClr val="78350F"/>
                        </a:solidFill>
                        <a:latin typeface="Cambria Math" panose="02040503050406030204" pitchFamily="18" charset="0"/>
                      </a:rPr>
                      <m:t>𝑍</m:t>
                    </m:r>
                  </m:oMath>
                </a14:m>
                <a:r>
                  <a:rPr sz="2400" b="0">
                    <a:solidFill>
                      <a:srgbClr val="78350F"/>
                    </a:solidFill>
                    <a:latin typeface="Arial"/>
                  </a:rPr>
                  <a:t> of the focal line parallel to the tangent lies on the directrix (polar of </a:t>
                </a:r>
                <a14:m>
                  <m:oMath xmlns:m="http://schemas.openxmlformats.org/officeDocument/2006/math">
                    <m:r>
                      <a:rPr lang="en-IN" sz="2400" i="1">
                        <a:solidFill>
                          <a:srgbClr val="78350F"/>
                        </a:solidFill>
                        <a:latin typeface="Cambria Math" panose="02040503050406030204" pitchFamily="18" charset="0"/>
                      </a:rPr>
                      <m:t>𝑆</m:t>
                    </m:r>
                  </m:oMath>
                </a14:m>
                <a:r>
                  <a:rPr sz="2400" b="0">
                    <a:solidFill>
                      <a:srgbClr val="78350F"/>
                    </a:solidFill>
                    <a:latin typeface="Arial"/>
                  </a:rPr>
                  <a:t>), on the diameter </a:t>
                </a:r>
                <a14:m>
                  <m:oMath xmlns:m="http://schemas.openxmlformats.org/officeDocument/2006/math">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𝑃</m:t>
                    </m:r>
                  </m:oMath>
                </a14:m>
                <a:r>
                  <a:rPr sz="2400" b="0">
                    <a:solidFill>
                      <a:srgbClr val="78350F"/>
                    </a:solidFill>
                    <a:latin typeface="Arial"/>
                  </a:rPr>
                  <a:t>, and on the perpendicular from </a:t>
                </a:r>
                <a14:m>
                  <m:oMath xmlns:m="http://schemas.openxmlformats.org/officeDocument/2006/math">
                    <m:r>
                      <a:rPr lang="en-IN" sz="2400" i="1">
                        <a:solidFill>
                          <a:srgbClr val="78350F"/>
                        </a:solidFill>
                        <a:latin typeface="Cambria Math" panose="02040503050406030204" pitchFamily="18" charset="0"/>
                      </a:rPr>
                      <m:t>𝑆</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Pole-polar view: the pole </a:t>
                </a:r>
                <a:r>
                  <a:rPr lang="en-IN" sz="2400">
                    <a:solidFill>
                      <a:srgbClr val="78350F"/>
                    </a:solidFill>
                    <a:latin typeface="Cambria Math" panose="02040503050406030204" pitchFamily="18" charset="0"/>
                  </a:rPr>
                  <a:t>$Z$</a:t>
                </a:r>
                <a:r>
                  <a:rPr sz="2400" b="0">
                    <a:solidFill>
                      <a:srgbClr val="78350F"/>
                    </a:solidFill>
                    <a:latin typeface="Arial"/>
                  </a:rPr>
                  <a:t> of the focal line parallel to the tangent lies on the directrix (polar of </a:t>
                </a:r>
                <a:r>
                  <a:rPr lang="en-IN" sz="2400">
                    <a:solidFill>
                      <a:srgbClr val="78350F"/>
                    </a:solidFill>
                    <a:latin typeface="Cambria Math" panose="02040503050406030204" pitchFamily="18" charset="0"/>
                  </a:rPr>
                  <a:t>$S$</a:t>
                </a:r>
                <a:r>
                  <a:rPr sz="2400" b="0">
                    <a:solidFill>
                      <a:srgbClr val="78350F"/>
                    </a:solidFill>
                    <a:latin typeface="Arial"/>
                  </a:rPr>
                  <a:t>), on the diameter </a:t>
                </a:r>
                <a:r>
                  <a:rPr lang="en-IN" sz="2400">
                    <a:solidFill>
                      <a:srgbClr val="78350F"/>
                    </a:solidFill>
                    <a:latin typeface="Cambria Math" panose="02040503050406030204" pitchFamily="18" charset="0"/>
                  </a:rPr>
                  <a:t>$CP$</a:t>
                </a:r>
                <a:r>
                  <a:rPr sz="2400" b="0">
                    <a:solidFill>
                      <a:srgbClr val="78350F"/>
                    </a:solidFill>
                    <a:latin typeface="Arial"/>
                  </a:rPr>
                  <a:t>, and on the perpendicular from </a:t>
                </a:r>
                <a:r>
                  <a:rPr lang="en-IN" sz="2400">
                    <a:solidFill>
                      <a:srgbClr val="78350F"/>
                    </a:solidFill>
                    <a:latin typeface="Cambria Math" panose="02040503050406030204" pitchFamily="18" charset="0"/>
                  </a:rPr>
                  <a:t>$S$</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be the line through the focus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parallel to the tangent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the pole of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passes through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𝑍</m:t>
                    </m:r>
                  </m:oMath>
                </a14:m>
                <a:r>
                  <a:rPr sz="2400" b="0">
                    <a:solidFill>
                      <a:srgbClr val="111827"/>
                    </a:solidFill>
                    <a:latin typeface="Arial"/>
                  </a:rPr>
                  <a:t> lies on the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means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𝑍</m:t>
                    </m:r>
                  </m:oMath>
                </a14:m>
                <a:r>
                  <a:rPr sz="2400" b="0">
                    <a:solidFill>
                      <a:srgbClr val="111827"/>
                    </a:solidFill>
                    <a:latin typeface="Arial"/>
                  </a:rPr>
                  <a:t> lies on the line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$m$</a:t>
                </a:r>
                <a:r>
                  <a:rPr sz="2400" b="0">
                    <a:solidFill>
                      <a:srgbClr val="111827"/>
                    </a:solidFill>
                    <a:latin typeface="Arial"/>
                  </a:rPr>
                  <a:t> be the line through the focus </a:t>
                </a:r>
                <a:r>
                  <a:rPr lang="en-IN" sz="2400">
                    <a:solidFill>
                      <a:srgbClr val="111827"/>
                    </a:solidFill>
                    <a:latin typeface="Cambria Math" panose="02040503050406030204" pitchFamily="18" charset="0"/>
                  </a:rPr>
                  <a:t>$S(ae,0)$</a:t>
                </a:r>
                <a:r>
                  <a:rPr sz="2400" b="0">
                    <a:solidFill>
                      <a:srgbClr val="111827"/>
                    </a:solidFill>
                    <a:latin typeface="Arial"/>
                  </a:rPr>
                  <a:t> parallel to the tangent at </a:t>
                </a:r>
                <a:r>
                  <a:rPr lang="en-IN" sz="2400">
                    <a:solidFill>
                      <a:srgbClr val="111827"/>
                    </a:solidFill>
                    <a:latin typeface="Cambria Math" panose="02040503050406030204" pitchFamily="18" charset="0"/>
                  </a:rPr>
                  <a:t>$P(x_1,y_1)$</a:t>
                </a:r>
                <a:r>
                  <a:rPr sz="2400" b="0">
                    <a:solidFill>
                      <a:srgbClr val="111827"/>
                    </a:solidFill>
                    <a:latin typeface="Arial"/>
                  </a:rPr>
                  <a:t>. Let </a:t>
                </a:r>
                <a:r>
                  <a:rPr lang="en-IN" sz="2400">
                    <a:solidFill>
                      <a:srgbClr val="111827"/>
                    </a:solidFill>
                    <a:latin typeface="Cambria Math" panose="02040503050406030204" pitchFamily="18" charset="0"/>
                  </a:rPr>
                  <a:t>$Z=(h,k)$</a:t>
                </a:r>
                <a:r>
                  <a:rPr sz="2400" b="0">
                    <a:solidFill>
                      <a:srgbClr val="111827"/>
                    </a:solidFill>
                    <a:latin typeface="Arial"/>
                  </a:rPr>
                  <a:t> be the pole of </a:t>
                </a:r>
                <a:r>
                  <a:rPr lang="en-IN" sz="2400">
                    <a:solidFill>
                      <a:srgbClr val="111827"/>
                    </a:solidFill>
                    <a:latin typeface="Cambria Math" panose="02040503050406030204" pitchFamily="18" charset="0"/>
                  </a:rPr>
                  <a:t>$m$</a:t>
                </a:r>
                <a:r>
                  <a:rPr sz="2400" b="0">
                    <a:solidFill>
                      <a:srgbClr val="111827"/>
                    </a:solidFill>
                    <a:latin typeface="Arial"/>
                  </a:rPr>
                  <a:t>, so </a:t>
                </a:r>
                <a:r>
                  <a:rPr lang="en-IN" sz="2400">
                    <a:solidFill>
                      <a:srgbClr val="111827"/>
                    </a:solidFill>
                    <a:latin typeface="Cambria Math" panose="02040503050406030204" pitchFamily="18" charset="0"/>
                  </a:rPr>
                  <a:t>$m$</a:t>
                </a:r>
                <a:r>
                  <a:rPr sz="2400" b="0">
                    <a:solidFill>
                      <a:srgbClr val="111827"/>
                    </a:solidFill>
                    <a:latin typeface="Arial"/>
                  </a:rPr>
                  <a:t> is </a:t>
                </a:r>
                <a:r>
                  <a:rPr lang="en-IN" sz="2400">
                    <a:solidFill>
                      <a:srgbClr val="111827"/>
                    </a:solidFill>
                    <a:latin typeface="Cambria Math" panose="02040503050406030204" pitchFamily="18" charset="0"/>
                  </a:rPr>
                  <a:t>$\frac{hx}{a^2}+\frac{ky}{b^2}=1$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$m$</a:t>
                </a:r>
                <a:r>
                  <a:rPr sz="2400" b="0">
                    <a:solidFill>
                      <a:srgbClr val="111827"/>
                    </a:solidFill>
                    <a:latin typeface="Arial"/>
                  </a:rPr>
                  <a:t> passes through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$\frac{h\,ae}{a^2}=1$</a:t>
                </a:r>
                <a:r>
                  <a:rPr sz="2400" b="0">
                    <a:solidFill>
                      <a:srgbClr val="111827"/>
                    </a:solidFill>
                    <a:latin typeface="Arial"/>
                  </a:rPr>
                  <a:t>, so </a:t>
                </a:r>
                <a:r>
                  <a:rPr lang="en-IN" sz="2400">
                    <a:solidFill>
                      <a:srgbClr val="111827"/>
                    </a:solidFill>
                    <a:latin typeface="Cambria Math" panose="02040503050406030204" pitchFamily="18" charset="0"/>
                  </a:rPr>
                  <a:t>$h=\frac ae$</a:t>
                </a:r>
                <a:r>
                  <a:rPr sz="2400" b="0">
                    <a:solidFill>
                      <a:srgbClr val="111827"/>
                    </a:solidFill>
                    <a:latin typeface="Arial"/>
                  </a:rPr>
                  <a:t>: </a:t>
                </a:r>
                <a:r>
                  <a:rPr lang="en-IN" sz="2400">
                    <a:solidFill>
                      <a:srgbClr val="111827"/>
                    </a:solidFill>
                    <a:latin typeface="Cambria Math" panose="02040503050406030204" pitchFamily="18" charset="0"/>
                  </a:rPr>
                  <a:t>$Z$</a:t>
                </a:r>
                <a:r>
                  <a:rPr sz="2400" b="0">
                    <a:solidFill>
                      <a:srgbClr val="111827"/>
                    </a:solidFill>
                    <a:latin typeface="Arial"/>
                  </a:rPr>
                  <a:t> lies on the directrix </a:t>
                </a:r>
                <a:r>
                  <a:rPr lang="en-IN" sz="2400">
                    <a:solidFill>
                      <a:srgbClr val="111827"/>
                    </a:solidFill>
                    <a:latin typeface="Cambria Math" panose="02040503050406030204" pitchFamily="18" charset="0"/>
                  </a:rPr>
                  <a:t>$x=\frac ae$</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$m\parallel$</a:t>
                </a:r>
                <a:r>
                  <a:rPr sz="2400" b="0">
                    <a:solidFill>
                      <a:srgbClr val="111827"/>
                    </a:solidFill>
                    <a:latin typeface="Arial"/>
                  </a:rPr>
                  <a:t> tangent at </a:t>
                </a:r>
                <a:r>
                  <a:rPr lang="en-IN" sz="2400">
                    <a:solidFill>
                      <a:srgbClr val="111827"/>
                    </a:solidFill>
                    <a:latin typeface="Cambria Math" panose="02040503050406030204" pitchFamily="18" charset="0"/>
                  </a:rPr>
                  <a:t>$P$</a:t>
                </a:r>
                <a:r>
                  <a:rPr sz="2400" b="0">
                    <a:solidFill>
                      <a:srgbClr val="111827"/>
                    </a:solidFill>
                    <a:latin typeface="Arial"/>
                  </a:rPr>
                  <a:t> means </a:t>
                </a:r>
                <a:r>
                  <a:rPr lang="en-IN" sz="2400">
                    <a:solidFill>
                      <a:srgbClr val="111827"/>
                    </a:solidFill>
                    <a:latin typeface="Cambria Math" panose="02040503050406030204" pitchFamily="18" charset="0"/>
                  </a:rPr>
                  <a:t>$(h/a^2,\ k/b^2)\parallel(x_1/a^2,\ y_1/b^2)$</a:t>
                </a:r>
                <a:r>
                  <a:rPr sz="2400" b="0">
                    <a:solidFill>
                      <a:srgbClr val="111827"/>
                    </a:solidFill>
                    <a:latin typeface="Arial"/>
                  </a:rPr>
                  <a:t>, i.e. </a:t>
                </a:r>
                <a:r>
                  <a:rPr lang="en-IN" sz="2400">
                    <a:solidFill>
                      <a:srgbClr val="111827"/>
                    </a:solidFill>
                    <a:latin typeface="Cambria Math" panose="02040503050406030204" pitchFamily="18" charset="0"/>
                  </a:rPr>
                  <a:t>$(h,k)\parallel(x_1,y_1)$</a:t>
                </a:r>
                <a:r>
                  <a:rPr sz="2400" b="0">
                    <a:solidFill>
                      <a:srgbClr val="111827"/>
                    </a:solidFill>
                    <a:latin typeface="Arial"/>
                  </a:rPr>
                  <a:t>: </a:t>
                </a:r>
                <a:r>
                  <a:rPr lang="en-IN" sz="2400">
                    <a:solidFill>
                      <a:srgbClr val="111827"/>
                    </a:solidFill>
                    <a:latin typeface="Cambria Math" panose="02040503050406030204" pitchFamily="18" charset="0"/>
                  </a:rPr>
                  <a:t>$Z$</a:t>
                </a:r>
                <a:r>
                  <a:rPr sz="2400" b="0">
                    <a:solidFill>
                      <a:srgbClr val="111827"/>
                    </a:solidFill>
                    <a:latin typeface="Arial"/>
                  </a:rPr>
                  <a:t> lies on the line </a:t>
                </a:r>
                <a:r>
                  <a:rPr lang="en-IN" sz="2400">
                    <a:solidFill>
                      <a:srgbClr val="111827"/>
                    </a:solidFill>
                    <a:latin typeface="Cambria Math" panose="02040503050406030204" pitchFamily="18" charset="0"/>
                  </a:rPr>
                  <a:t>$CP$</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𝑍</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𝑘</m:t>
                        </m:r>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e>
                    </m:d>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den>
                    </m:f>
                  </m:oMath>
                </a14:m>
                <a:r>
                  <a:rPr sz="2400" b="0">
                    <a:solidFill>
                      <a:srgbClr val="111827"/>
                    </a:solidFill>
                    <a:latin typeface="Arial"/>
                  </a:rPr>
                  <a:t>), parallel to the normal vector of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𝑍</m:t>
                    </m:r>
                  </m:oMath>
                </a14:m>
                <a:r>
                  <a:rPr sz="2400" b="0">
                    <a:solidFill>
                      <a:srgbClr val="111827"/>
                    </a:solidFill>
                    <a:latin typeface="Arial"/>
                  </a:rPr>
                  <a:t> is the perpendicular from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to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(it passes through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and is perpendicular to the tangent's direction).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perpendicular from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upon the tangent and the line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oMath>
                </a14:m>
                <a:r>
                  <a:rPr sz="2400" b="0">
                    <a:solidFill>
                      <a:srgbClr val="111827"/>
                    </a:solidFill>
                    <a:latin typeface="Arial"/>
                  </a:rPr>
                  <a:t> both pass through </a:t>
                </a:r>
                <a14:m>
                  <m:oMath xmlns:m="http://schemas.openxmlformats.org/officeDocument/2006/math">
                    <m:r>
                      <a:rPr lang="en-IN" sz="2400" i="1">
                        <a:solidFill>
                          <a:srgbClr val="111827"/>
                        </a:solidFill>
                        <a:latin typeface="Cambria Math" panose="02040503050406030204" pitchFamily="18" charset="0"/>
                      </a:rPr>
                      <m:t>𝑍</m:t>
                    </m:r>
                  </m:oMath>
                </a14:m>
                <a:r>
                  <a:rPr sz="2400" b="0">
                    <a:solidFill>
                      <a:srgbClr val="111827"/>
                    </a:solidFill>
                    <a:latin typeface="Arial"/>
                  </a:rPr>
                  <a:t>, a point of the directrix.</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$\vec{SZ}=\left(\frac ae-ae,\ k\right)=\left(\frac{b^2}{ae},k\right)=b^2\left(\frac{h}{a^2},\frac{k}{b^2}\right)$</a:t>
                </a:r>
                <a:r>
                  <a:rPr sz="2400" b="0">
                    <a:solidFill>
                      <a:srgbClr val="111827"/>
                    </a:solidFill>
                    <a:latin typeface="Arial"/>
                  </a:rPr>
                  <a:t> (as </a:t>
                </a:r>
                <a:r>
                  <a:rPr lang="en-IN" sz="2400">
                    <a:solidFill>
                      <a:srgbClr val="111827"/>
                    </a:solidFill>
                    <a:latin typeface="Cambria Math" panose="02040503050406030204" pitchFamily="18" charset="0"/>
                  </a:rPr>
                  <a:t>$h=\frac ae$</a:t>
                </a:r>
                <a:r>
                  <a:rPr sz="2400" b="0">
                    <a:solidFill>
                      <a:srgbClr val="111827"/>
                    </a:solidFill>
                    <a:latin typeface="Arial"/>
                  </a:rPr>
                  <a:t> and </a:t>
                </a:r>
                <a:r>
                  <a:rPr lang="en-IN" sz="2400">
                    <a:solidFill>
                      <a:srgbClr val="111827"/>
                    </a:solidFill>
                    <a:latin typeface="Cambria Math" panose="02040503050406030204" pitchFamily="18" charset="0"/>
                  </a:rPr>
                  <a:t>$\frac{h}{a^2}=\frac{1}{ae}$</a:t>
                </a:r>
                <a:r>
                  <a:rPr sz="2400" b="0">
                    <a:solidFill>
                      <a:srgbClr val="111827"/>
                    </a:solidFill>
                    <a:latin typeface="Arial"/>
                  </a:rPr>
                  <a:t>), parallel to the normal vector of </a:t>
                </a:r>
                <a:r>
                  <a:rPr lang="en-IN" sz="2400">
                    <a:solidFill>
                      <a:srgbClr val="111827"/>
                    </a:solidFill>
                    <a:latin typeface="Cambria Math" panose="02040503050406030204" pitchFamily="18" charset="0"/>
                  </a:rPr>
                  <a:t>$m$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$SZ\perp m$</a:t>
                </a:r>
                <a:r>
                  <a:rPr sz="2400" b="0">
                    <a:solidFill>
                      <a:srgbClr val="111827"/>
                    </a:solidFill>
                    <a:latin typeface="Arial"/>
                  </a:rPr>
                  <a:t>, i.e. </a:t>
                </a:r>
                <a:r>
                  <a:rPr lang="en-IN" sz="2400">
                    <a:solidFill>
                      <a:srgbClr val="111827"/>
                    </a:solidFill>
                    <a:latin typeface="Cambria Math" panose="02040503050406030204" pitchFamily="18" charset="0"/>
                  </a:rPr>
                  <a:t>$SZ$</a:t>
                </a:r>
                <a:r>
                  <a:rPr sz="2400" b="0">
                    <a:solidFill>
                      <a:srgbClr val="111827"/>
                    </a:solidFill>
                    <a:latin typeface="Arial"/>
                  </a:rPr>
                  <a:t> is the perpendicular from </a:t>
                </a:r>
                <a:r>
                  <a:rPr lang="en-IN" sz="2400">
                    <a:solidFill>
                      <a:srgbClr val="111827"/>
                    </a:solidFill>
                    <a:latin typeface="Cambria Math" panose="02040503050406030204" pitchFamily="18" charset="0"/>
                  </a:rPr>
                  <a:t>$S$</a:t>
                </a:r>
                <a:r>
                  <a:rPr sz="2400" b="0">
                    <a:solidFill>
                      <a:srgbClr val="111827"/>
                    </a:solidFill>
                    <a:latin typeface="Arial"/>
                  </a:rPr>
                  <a:t> to the tangent at </a:t>
                </a:r>
                <a:r>
                  <a:rPr lang="en-IN" sz="2400">
                    <a:solidFill>
                      <a:srgbClr val="111827"/>
                    </a:solidFill>
                    <a:latin typeface="Cambria Math" panose="02040503050406030204" pitchFamily="18" charset="0"/>
                  </a:rPr>
                  <a:t>$P$</a:t>
                </a:r>
                <a:r>
                  <a:rPr sz="2400" b="0">
                    <a:solidFill>
                      <a:srgbClr val="111827"/>
                    </a:solidFill>
                    <a:latin typeface="Arial"/>
                  </a:rPr>
                  <a:t> (it passes through </a:t>
                </a:r>
                <a:r>
                  <a:rPr lang="en-IN" sz="2400">
                    <a:solidFill>
                      <a:srgbClr val="111827"/>
                    </a:solidFill>
                    <a:latin typeface="Cambria Math" panose="02040503050406030204" pitchFamily="18" charset="0"/>
                  </a:rPr>
                  <a:t>$S$</a:t>
                </a:r>
                <a:r>
                  <a:rPr sz="2400" b="0">
                    <a:solidFill>
                      <a:srgbClr val="111827"/>
                    </a:solidFill>
                    <a:latin typeface="Arial"/>
                  </a:rPr>
                  <a:t> and is perpendicular to the tangent's direction).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perpendicular from </a:t>
                </a:r>
                <a:r>
                  <a:rPr lang="en-IN" sz="2400">
                    <a:solidFill>
                      <a:srgbClr val="111827"/>
                    </a:solidFill>
                    <a:latin typeface="Cambria Math" panose="02040503050406030204" pitchFamily="18" charset="0"/>
                  </a:rPr>
                  <a:t>$S$</a:t>
                </a:r>
                <a:r>
                  <a:rPr sz="2400" b="0">
                    <a:solidFill>
                      <a:srgbClr val="111827"/>
                    </a:solidFill>
                    <a:latin typeface="Arial"/>
                  </a:rPr>
                  <a:t> upon the tangent and the line </a:t>
                </a:r>
                <a:r>
                  <a:rPr lang="en-IN" sz="2400">
                    <a:solidFill>
                      <a:srgbClr val="111827"/>
                    </a:solidFill>
                    <a:latin typeface="Cambria Math" panose="02040503050406030204" pitchFamily="18" charset="0"/>
                  </a:rPr>
                  <a:t>$CP$</a:t>
                </a:r>
                <a:r>
                  <a:rPr sz="2400" b="0">
                    <a:solidFill>
                      <a:srgbClr val="111827"/>
                    </a:solidFill>
                    <a:latin typeface="Arial"/>
                  </a:rPr>
                  <a:t> both pass through </a:t>
                </a:r>
                <a:r>
                  <a:rPr lang="en-IN" sz="2400">
                    <a:solidFill>
                      <a:srgbClr val="111827"/>
                    </a:solidFill>
                    <a:latin typeface="Cambria Math" panose="02040503050406030204" pitchFamily="18" charset="0"/>
                  </a:rPr>
                  <a:t>$Z$</a:t>
                </a:r>
                <a:r>
                  <a:rPr sz="2400" b="0">
                    <a:solidFill>
                      <a:srgbClr val="111827"/>
                    </a:solidFill>
                    <a:latin typeface="Arial"/>
                  </a:rPr>
                  <a:t>, a point of the directrix.</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The two lines meet at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𝑎</m:t>
                        </m:r>
                      </m:num>
                      <m:den>
                        <m:r>
                          <a:rPr lang="en-IN" sz="2800" i="1">
                            <a:solidFill>
                              <a:srgbClr val="15803D"/>
                            </a:solidFill>
                            <a:latin typeface="Cambria Math" panose="02040503050406030204" pitchFamily="18" charset="0"/>
                          </a:rPr>
                          <m:t>𝑒</m:t>
                        </m:r>
                      </m:den>
                    </m:f>
                  </m:oMath>
                </a14:m>
                <a:r>
                  <a:rPr sz="2800" b="1">
                    <a:solidFill>
                      <a:srgbClr val="15803D"/>
                    </a:solidFill>
                    <a:latin typeface="Arial"/>
                  </a:rPr>
                  <a:t>, a point of the directrix</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The two lines meet at </a:t>
                </a:r>
                <a:r>
                  <a:rPr lang="en-IN" sz="2800">
                    <a:solidFill>
                      <a:srgbClr val="15803D"/>
                    </a:solidFill>
                    <a:latin typeface="Cambria Math" panose="02040503050406030204" pitchFamily="18" charset="0"/>
                  </a:rPr>
                  <a:t>$x=\frac ae$</a:t>
                </a:r>
                <a:r>
                  <a:rPr sz="2800" b="1">
                    <a:solidFill>
                      <a:srgbClr val="15803D"/>
                    </a:solidFill>
                    <a:latin typeface="Arial"/>
                  </a:rPr>
                  <a:t>, a point of the directrix</a:t>
                </a:r>
                <a:endParaRPr sz="2800">
                  <a:solidFill>
                    <a:srgbClr val="15803D"/>
                  </a:solidFill>
                </a:endParaRPr>
              </a:p>
            </p:txBody>
          </p:sp>
        </mc:Fallback>
      </mc:AlternateContent>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 is the polar of the focus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foot of the perpendicular from a focus on a tangent lies on the auxiliary 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pole of a line through the focus lies on the directrix and the line joining the focus to it is perpendicular to that line (focal property of poles).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pole of a line parallel to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lies on the diameter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oMath>
                </a14:m>
                <a:r>
                  <a:rPr sz="2400" b="0">
                    <a:solidFill>
                      <a:srgbClr val="111827"/>
                    </a:solidFill>
                    <a:latin typeface="Arial"/>
                  </a:rPr>
                  <a:t> (conjugate-direction property).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Instance: for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two lines meet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directrix </a:t>
                </a:r>
                <a:r>
                  <a:rPr lang="en-IN" sz="2400">
                    <a:solidFill>
                      <a:srgbClr val="111827"/>
                    </a:solidFill>
                    <a:latin typeface="Cambria Math" panose="02040503050406030204" pitchFamily="18" charset="0"/>
                  </a:rPr>
                  <a:t>$x=\frac ae$</a:t>
                </a:r>
                <a:r>
                  <a:rPr sz="2400" b="0">
                    <a:solidFill>
                      <a:srgbClr val="111827"/>
                    </a:solidFill>
                    <a:latin typeface="Arial"/>
                  </a:rPr>
                  <a:t> is the polar of the focus </a:t>
                </a:r>
                <a:r>
                  <a:rPr lang="en-IN" sz="2400">
                    <a:solidFill>
                      <a:srgbClr val="111827"/>
                    </a:solidFill>
                    <a:latin typeface="Cambria Math" panose="02040503050406030204" pitchFamily="18" charset="0"/>
                  </a:rPr>
                  <a:t>$(ae,0)$</a:t>
                </a:r>
                <a:r>
                  <a:rPr sz="2400" b="0">
                    <a:solidFill>
                      <a:srgbClr val="111827"/>
                    </a:solidFill>
                    <a:latin typeface="Arial"/>
                  </a:rPr>
                  <a:t>; the foot of the perpendicular from a focus on a tangent lies on the auxiliary 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pole of a line through the focus lies on the directrix and the line joining the focus to it is perpendicular to that line (focal property of poles).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pole of a line parallel to the tangent at </a:t>
                </a:r>
                <a:r>
                  <a:rPr lang="en-IN" sz="2400">
                    <a:solidFill>
                      <a:srgbClr val="111827"/>
                    </a:solidFill>
                    <a:latin typeface="Cambria Math" panose="02040503050406030204" pitchFamily="18" charset="0"/>
                  </a:rPr>
                  <a:t>$P$</a:t>
                </a:r>
                <a:r>
                  <a:rPr sz="2400" b="0">
                    <a:solidFill>
                      <a:srgbClr val="111827"/>
                    </a:solidFill>
                    <a:latin typeface="Arial"/>
                  </a:rPr>
                  <a:t> lies on the diameter </a:t>
                </a:r>
                <a:r>
                  <a:rPr lang="en-IN" sz="2400">
                    <a:solidFill>
                      <a:srgbClr val="111827"/>
                    </a:solidFill>
                    <a:latin typeface="Cambria Math" panose="02040503050406030204" pitchFamily="18" charset="0"/>
                  </a:rPr>
                  <a:t>$CP$</a:t>
                </a:r>
                <a:r>
                  <a:rPr sz="2400" b="0">
                    <a:solidFill>
                      <a:srgbClr val="111827"/>
                    </a:solidFill>
                    <a:latin typeface="Arial"/>
                  </a:rPr>
                  <a:t> (conjugate-direction property).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Instance: for </a:t>
                </a:r>
                <a:r>
                  <a:rPr lang="en-IN" sz="2400">
                    <a:solidFill>
                      <a:srgbClr val="111827"/>
                    </a:solidFill>
                    <a:latin typeface="Cambria Math" panose="02040503050406030204" pitchFamily="18" charset="0"/>
                  </a:rPr>
                  <a:t>$\frac{x^2}{4}+y^2=1$</a:t>
                </a:r>
                <a:r>
                  <a:rPr sz="2400" b="0">
                    <a:solidFill>
                      <a:srgbClr val="111827"/>
                    </a:solidFill>
                    <a:latin typeface="Arial"/>
                  </a:rPr>
                  <a:t> (so </a:t>
                </a:r>
                <a:r>
                  <a:rPr lang="en-IN" sz="2400">
                    <a:solidFill>
                      <a:srgbClr val="111827"/>
                    </a:solidFill>
                    <a:latin typeface="Cambria Math" panose="02040503050406030204" pitchFamily="18" charset="0"/>
                  </a:rPr>
                  <a:t>$ae=\sqrt3$</a:t>
                </a:r>
                <a:r>
                  <a:rPr sz="2400" b="0">
                    <a:solidFill>
                      <a:srgbClr val="111827"/>
                    </a:solidFill>
                    <a:latin typeface="Arial"/>
                  </a:rPr>
                  <a:t>, </a:t>
                </a:r>
                <a:r>
                  <a:rPr lang="en-IN" sz="2400">
                    <a:solidFill>
                      <a:srgbClr val="111827"/>
                    </a:solidFill>
                    <a:latin typeface="Cambria Math" panose="02040503050406030204" pitchFamily="18" charset="0"/>
                  </a:rPr>
                  <a:t>$\frac ae=\frac{2}{\sqrt3}$</a:t>
                </a:r>
                <a:r>
                  <a:rPr sz="2400" b="0">
                    <a:solidFill>
                      <a:srgbClr val="111827"/>
                    </a:solidFill>
                    <a:latin typeface="Arial"/>
                  </a:rPr>
                  <a:t>) and </a:t>
                </a:r>
                <a:r>
                  <a:rPr lang="en-IN" sz="2400">
                    <a:solidFill>
                      <a:srgbClr val="111827"/>
                    </a:solidFill>
                    <a:latin typeface="Cambria Math" panose="02040503050406030204" pitchFamily="18" charset="0"/>
                  </a:rPr>
                  <a:t>$P(\sqrt2,\frac1{\sqrt2})$</a:t>
                </a:r>
                <a:r>
                  <a:rPr sz="2400" b="0">
                    <a:solidFill>
                      <a:srgbClr val="111827"/>
                    </a:solidFill>
                    <a:latin typeface="Arial"/>
                  </a:rPr>
                  <a:t> the two lines meet at </a:t>
                </a:r>
                <a:r>
                  <a:rPr lang="en-IN" sz="2400">
                    <a:solidFill>
                      <a:srgbClr val="111827"/>
                    </a:solidFill>
                    <a:latin typeface="Cambria Math" panose="02040503050406030204" pitchFamily="18" charset="0"/>
                  </a:rPr>
                  <a:t>$x=\frac{2}{\sqrt3}$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Tangent and normal are drawn at the upper end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the latus rectum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of the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intersecting the transverse axis at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respectively. Find the area of the triangle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Tangent and normal are drawn at the upper end </a:t>
                </a:r>
                <a:r>
                  <a:rPr lang="en-IN" sz="2400">
                    <a:solidFill>
                      <a:srgbClr val="111827"/>
                    </a:solidFill>
                    <a:latin typeface="Cambria Math" panose="02040503050406030204" pitchFamily="18" charset="0"/>
                  </a:rPr>
                  <a:t>$(x_1,y_1)$</a:t>
                </a:r>
                <a:r>
                  <a:rPr sz="2400" b="0">
                    <a:solidFill>
                      <a:srgbClr val="111827"/>
                    </a:solidFill>
                    <a:latin typeface="Arial"/>
                  </a:rPr>
                  <a:t> of the latus rectum </a:t>
                </a:r>
                <a:r>
                  <a:rPr lang="en-IN" sz="2400">
                    <a:solidFill>
                      <a:srgbClr val="111827"/>
                    </a:solidFill>
                    <a:latin typeface="Cambria Math" panose="02040503050406030204" pitchFamily="18" charset="0"/>
                  </a:rPr>
                  <a:t>$P$</a:t>
                </a:r>
                <a:r>
                  <a:rPr sz="2400" b="0">
                    <a:solidFill>
                      <a:srgbClr val="111827"/>
                    </a:solidFill>
                    <a:latin typeface="Arial"/>
                  </a:rPr>
                  <a:t> with </a:t>
                </a:r>
                <a:r>
                  <a:rPr lang="en-IN" sz="2400">
                    <a:solidFill>
                      <a:srgbClr val="111827"/>
                    </a:solidFill>
                    <a:latin typeface="Cambria Math" panose="02040503050406030204" pitchFamily="18" charset="0"/>
                  </a:rPr>
                  <a:t>$x_1&gt;0$</a:t>
                </a:r>
                <a:r>
                  <a:rPr sz="2400" b="0">
                    <a:solidFill>
                      <a:srgbClr val="111827"/>
                    </a:solidFill>
                    <a:latin typeface="Arial"/>
                  </a:rPr>
                  <a:t> and </a:t>
                </a:r>
                <a:r>
                  <a:rPr lang="en-IN" sz="2400">
                    <a:solidFill>
                      <a:srgbClr val="111827"/>
                    </a:solidFill>
                    <a:latin typeface="Cambria Math" panose="02040503050406030204" pitchFamily="18" charset="0"/>
                  </a:rPr>
                  <a:t>$y_1&gt;0$</a:t>
                </a:r>
                <a:r>
                  <a:rPr sz="2400" b="0">
                    <a:solidFill>
                      <a:srgbClr val="111827"/>
                    </a:solidFill>
                    <a:latin typeface="Arial"/>
                  </a:rPr>
                  <a:t>, of the hyperbola </a:t>
                </a:r>
                <a:r>
                  <a:rPr lang="en-IN" sz="2400">
                    <a:solidFill>
                      <a:srgbClr val="111827"/>
                    </a:solidFill>
                    <a:latin typeface="Cambria Math" panose="02040503050406030204" pitchFamily="18" charset="0"/>
                  </a:rPr>
                  <a:t>$\frac{x^2}{4}-\frac{y^2}{12}=1$</a:t>
                </a:r>
                <a:r>
                  <a:rPr sz="2400" b="0">
                    <a:solidFill>
                      <a:srgbClr val="111827"/>
                    </a:solidFill>
                    <a:latin typeface="Arial"/>
                  </a:rPr>
                  <a:t>, intersecting the transverse axis at </a:t>
                </a:r>
                <a:r>
                  <a:rPr lang="en-IN" sz="2400">
                    <a:solidFill>
                      <a:srgbClr val="111827"/>
                    </a:solidFill>
                    <a:latin typeface="Cambria Math" panose="02040503050406030204" pitchFamily="18" charset="0"/>
                  </a:rPr>
                  <a:t>$T$</a:t>
                </a:r>
                <a:r>
                  <a:rPr sz="2400" b="0">
                    <a:solidFill>
                      <a:srgbClr val="111827"/>
                    </a:solidFill>
                    <a:latin typeface="Arial"/>
                  </a:rPr>
                  <a:t> and </a:t>
                </a:r>
                <a:r>
                  <a:rPr lang="en-IN" sz="2400">
                    <a:solidFill>
                      <a:srgbClr val="111827"/>
                    </a:solidFill>
                    <a:latin typeface="Cambria Math" panose="02040503050406030204" pitchFamily="18" charset="0"/>
                  </a:rPr>
                  <a:t>$G$</a:t>
                </a:r>
                <a:r>
                  <a:rPr sz="2400" b="0">
                    <a:solidFill>
                      <a:srgbClr val="111827"/>
                    </a:solidFill>
                    <a:latin typeface="Arial"/>
                  </a:rPr>
                  <a:t> respectively. Find the area of the triangle </a:t>
                </a:r>
                <a:r>
                  <a:rPr lang="en-IN" sz="2400">
                    <a:solidFill>
                      <a:srgbClr val="111827"/>
                    </a:solidFill>
                    <a:latin typeface="Cambria Math" panose="02040503050406030204" pitchFamily="18" charset="0"/>
                  </a:rPr>
                  <a:t>$PTG$</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1081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and normal at the end of the latus rectum of a hyperbola, Area of the triangle formed with the transverse axis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At the end of the latus rectum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𝑒</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num>
                          <m:den>
                            <m:r>
                              <a:rPr lang="en-IN" sz="2400" i="1">
                                <a:solidFill>
                                  <a:srgbClr val="78350F"/>
                                </a:solidFill>
                                <a:latin typeface="Cambria Math" panose="02040503050406030204" pitchFamily="18" charset="0"/>
                              </a:rPr>
                              <m:t>𝑎</m:t>
                            </m:r>
                          </m:den>
                        </m:f>
                      </m:e>
                    </m:d>
                  </m:oMath>
                </a14:m>
                <a:r>
                  <a:rPr sz="2400" b="0">
                    <a:solidFill>
                      <a:srgbClr val="78350F"/>
                    </a:solidFill>
                    <a:latin typeface="Arial"/>
                  </a:rPr>
                  <a:t> the tangent cuts the axis at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𝑎</m:t>
                            </m:r>
                          </m:num>
                          <m:den>
                            <m:r>
                              <a:rPr lang="en-IN" sz="2400" i="1">
                                <a:solidFill>
                                  <a:srgbClr val="78350F"/>
                                </a:solidFill>
                                <a:latin typeface="Cambria Math" panose="02040503050406030204" pitchFamily="18" charset="0"/>
                              </a:rPr>
                              <m:t>𝑒</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e>
                    </m:d>
                  </m:oMath>
                </a14:m>
                <a:r>
                  <a:rPr sz="2400" b="0">
                    <a:solidFill>
                      <a:srgbClr val="78350F"/>
                    </a:solidFill>
                    <a:latin typeface="Arial"/>
                  </a:rPr>
                  <a:t> and the normal at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At the end of the latus rectum </a:t>
                </a:r>
                <a:r>
                  <a:rPr lang="en-IN" sz="2400">
                    <a:solidFill>
                      <a:srgbClr val="78350F"/>
                    </a:solidFill>
                    <a:latin typeface="Cambria Math" panose="02040503050406030204" pitchFamily="18" charset="0"/>
                  </a:rPr>
                  <a:t>$P=\left(ae,\frac{b^2}{a}\right)$</a:t>
                </a:r>
                <a:r>
                  <a:rPr sz="2400" b="0">
                    <a:solidFill>
                      <a:srgbClr val="78350F"/>
                    </a:solidFill>
                    <a:latin typeface="Arial"/>
                  </a:rPr>
                  <a:t> the tangent cuts the axis at </a:t>
                </a:r>
                <a:r>
                  <a:rPr lang="en-IN" sz="2400">
                    <a:solidFill>
                      <a:srgbClr val="78350F"/>
                    </a:solidFill>
                    <a:latin typeface="Cambria Math" panose="02040503050406030204" pitchFamily="18" charset="0"/>
                  </a:rPr>
                  <a:t>$\left(\frac ae,0\right)$</a:t>
                </a:r>
                <a:r>
                  <a:rPr sz="2400" b="0">
                    <a:solidFill>
                      <a:srgbClr val="78350F"/>
                    </a:solidFill>
                    <a:latin typeface="Arial"/>
                  </a:rPr>
                  <a:t> and the normal at </a:t>
                </a:r>
                <a:r>
                  <a:rPr lang="en-IN" sz="2400">
                    <a:solidFill>
                      <a:srgbClr val="78350F"/>
                    </a:solidFill>
                    <a:latin typeface="Cambria Math" panose="02040503050406030204" pitchFamily="18" charset="0"/>
                  </a:rPr>
                  <a:t>$(ae^3,0)$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hyperbola equation is not legible in the PDF; the working's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give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which reproduces the key </a:t>
                </a:r>
                <a14:m>
                  <m:oMath xmlns:m="http://schemas.openxmlformats.org/officeDocument/2006/math">
                    <m:r>
                      <a:rPr lang="en-IN" sz="2400" i="1">
                        <a:solidFill>
                          <a:srgbClr val="111827"/>
                        </a:solidFill>
                        <a:latin typeface="Cambria Math" panose="02040503050406030204" pitchFamily="18" charset="0"/>
                      </a:rPr>
                      <m:t>45</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Putting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hyperbola equation is not legible in the PDF; the working's </a:t>
                </a:r>
                <a:r>
                  <a:rPr lang="en-IN" sz="2400">
                    <a:solidFill>
                      <a:srgbClr val="111827"/>
                    </a:solidFill>
                    <a:latin typeface="Cambria Math" panose="02040503050406030204" pitchFamily="18" charset="0"/>
                  </a:rPr>
                  <a:t>$e^2=1+\cdot=4$</a:t>
                </a:r>
                <a:r>
                  <a:rPr sz="2400" b="0">
                    <a:solidFill>
                      <a:srgbClr val="111827"/>
                    </a:solidFill>
                    <a:latin typeface="Arial"/>
                  </a:rPr>
                  <a:t> and </a:t>
                </a:r>
                <a:r>
                  <a:rPr lang="en-IN" sz="2400">
                    <a:solidFill>
                      <a:srgbClr val="111827"/>
                    </a:solidFill>
                    <a:latin typeface="Cambria Math" panose="02040503050406030204" pitchFamily="18" charset="0"/>
                  </a:rPr>
                  <a:t>$b^2=12$</a:t>
                </a:r>
                <a:r>
                  <a:rPr sz="2400" b="0">
                    <a:solidFill>
                      <a:srgbClr val="111827"/>
                    </a:solidFill>
                    <a:latin typeface="Arial"/>
                  </a:rPr>
                  <a:t> give </a:t>
                </a:r>
                <a:r>
                  <a:rPr lang="en-IN" sz="2400">
                    <a:solidFill>
                      <a:srgbClr val="111827"/>
                    </a:solidFill>
                    <a:latin typeface="Cambria Math" panose="02040503050406030204" pitchFamily="18" charset="0"/>
                  </a:rPr>
                  <a:t>$\frac{x^2}{4}-\frac{y^2}{12}=1$</a:t>
                </a:r>
                <a:r>
                  <a:rPr sz="2400" b="0">
                    <a:solidFill>
                      <a:srgbClr val="111827"/>
                    </a:solidFill>
                    <a:latin typeface="Arial"/>
                  </a:rPr>
                  <a:t>, which reproduces the key </a:t>
                </a:r>
                <a:r>
                  <a:rPr lang="en-IN" sz="2400">
                    <a:solidFill>
                      <a:srgbClr val="111827"/>
                    </a:solidFill>
                    <a:latin typeface="Cambria Math" panose="02040503050406030204" pitchFamily="18" charset="0"/>
                  </a:rPr>
                  <a:t>$45$</a:t>
                </a:r>
                <a:r>
                  <a:rPr sz="2400" b="0">
                    <a:solidFill>
                      <a:srgbClr val="111827"/>
                    </a:solidFill>
                    <a:latin typeface="Arial"/>
                  </a:rPr>
                  <a:t>.) Here </a:t>
                </a:r>
                <a:r>
                  <a:rPr lang="en-IN" sz="2400">
                    <a:solidFill>
                      <a:srgbClr val="111827"/>
                    </a:solidFill>
                    <a:latin typeface="Cambria Math" panose="02040503050406030204" pitchFamily="18" charset="0"/>
                  </a:rPr>
                  <a:t>$a=2$</a:t>
                </a:r>
                <a:r>
                  <a:rPr sz="2400" b="0">
                    <a:solidFill>
                      <a:srgbClr val="111827"/>
                    </a:solidFill>
                    <a:latin typeface="Arial"/>
                  </a:rPr>
                  <a:t>, </a:t>
                </a:r>
                <a:r>
                  <a:rPr lang="en-IN" sz="2400">
                    <a:solidFill>
                      <a:srgbClr val="111827"/>
                    </a:solidFill>
                    <a:latin typeface="Cambria Math" panose="02040503050406030204" pitchFamily="18" charset="0"/>
                  </a:rPr>
                  <a:t>$b^2=12$</a:t>
                </a:r>
                <a:r>
                  <a:rPr sz="2400" b="0">
                    <a:solidFill>
                      <a:srgbClr val="111827"/>
                    </a:solidFill>
                    <a:latin typeface="Arial"/>
                  </a:rPr>
                  <a:t>, </a:t>
                </a:r>
                <a:r>
                  <a:rPr lang="en-IN" sz="2400">
                    <a:solidFill>
                      <a:srgbClr val="111827"/>
                    </a:solidFill>
                    <a:latin typeface="Cambria Math" panose="02040503050406030204" pitchFamily="18" charset="0"/>
                  </a:rPr>
                  <a:t>$e^2=1+\frac{b^2}{a^2}=4$</a:t>
                </a:r>
                <a:r>
                  <a:rPr sz="2400" b="0">
                    <a:solidFill>
                      <a:srgbClr val="111827"/>
                    </a:solidFill>
                    <a:latin typeface="Arial"/>
                  </a:rPr>
                  <a:t>, </a:t>
                </a:r>
                <a:r>
                  <a:rPr lang="en-IN" sz="2400">
                    <a:solidFill>
                      <a:srgbClr val="111827"/>
                    </a:solidFill>
                    <a:latin typeface="Cambria Math" panose="02040503050406030204" pitchFamily="18" charset="0"/>
                  </a:rPr>
                  <a:t>$e=2$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$P=(x_1,y_1)=\left(ae,\frac{b^2}{a}\right)=(4,6)$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$\frac{xx_1}{a^2}-\frac{yy_1}{b^2}=1$</a:t>
                </a:r>
                <a:r>
                  <a:rPr sz="2400" b="0">
                    <a:solidFill>
                      <a:srgbClr val="111827"/>
                    </a:solidFill>
                    <a:latin typeface="Arial"/>
                  </a:rPr>
                  <a:t>. Putting </a:t>
                </a:r>
                <a:r>
                  <a:rPr lang="en-IN" sz="2400">
                    <a:solidFill>
                      <a:srgbClr val="111827"/>
                    </a:solidFill>
                    <a:latin typeface="Cambria Math" panose="02040503050406030204" pitchFamily="18" charset="0"/>
                  </a:rPr>
                  <a:t>$y=0$</a:t>
                </a:r>
                <a:r>
                  <a:rPr sz="2400" b="0">
                    <a:solidFill>
                      <a:srgbClr val="111827"/>
                    </a:solidFill>
                    <a:latin typeface="Arial"/>
                  </a:rPr>
                  <a:t>: </a:t>
                </a:r>
                <a:r>
                  <a:rPr lang="en-IN" sz="2400">
                    <a:solidFill>
                      <a:srgbClr val="111827"/>
                    </a:solidFill>
                    <a:latin typeface="Cambria Math" panose="02040503050406030204" pitchFamily="18" charset="0"/>
                  </a:rPr>
                  <a:t>$T=\left(\frac{a^2}{x_1},0\right)=\left(\frac ae,0\right)=(1,0)$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num>
                      <m:den>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𝑦</m:t>
                        </m:r>
                      </m:num>
                      <m:den>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Putting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the height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above the axis is </a:t>
                </a:r>
                <a14:m>
                  <m:oMath xmlns:m="http://schemas.openxmlformats.org/officeDocument/2006/math">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 (in general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𝑒</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$\frac{a^2x}{x_1}+\frac{b^2y}{y_1}=a^2+b^2$</a:t>
                </a:r>
                <a:r>
                  <a:rPr sz="2400" b="0">
                    <a:solidFill>
                      <a:srgbClr val="111827"/>
                    </a:solidFill>
                    <a:latin typeface="Arial"/>
                  </a:rPr>
                  <a:t>. Putting </a:t>
                </a:r>
                <a:r>
                  <a:rPr lang="en-IN" sz="2400">
                    <a:solidFill>
                      <a:srgbClr val="111827"/>
                    </a:solidFill>
                    <a:latin typeface="Cambria Math" panose="02040503050406030204" pitchFamily="18" charset="0"/>
                  </a:rPr>
                  <a:t>$y=0$</a:t>
                </a:r>
                <a:r>
                  <a:rPr sz="2400" b="0">
                    <a:solidFill>
                      <a:srgbClr val="111827"/>
                    </a:solidFill>
                    <a:latin typeface="Arial"/>
                  </a:rPr>
                  <a:t>: </a:t>
                </a:r>
                <a:r>
                  <a:rPr lang="en-IN" sz="2400">
                    <a:solidFill>
                      <a:srgbClr val="111827"/>
                    </a:solidFill>
                    <a:latin typeface="Cambria Math" panose="02040503050406030204" pitchFamily="18" charset="0"/>
                  </a:rPr>
                  <a:t>$G=\left(\frac{x_1(a^2+b^2)}{a^2},0\right)=(ae^3,0)=(16,0)$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$TG=ae^3-\frac ae=\frac{a(e^4-1)}{e}=\frac{2\cdot15}{2}=15$</a:t>
                </a:r>
                <a:r>
                  <a:rPr sz="2400" b="0">
                    <a:solidFill>
                      <a:srgbClr val="111827"/>
                    </a:solidFill>
                    <a:latin typeface="Arial"/>
                  </a:rPr>
                  <a:t>; the height of </a:t>
                </a:r>
                <a:r>
                  <a:rPr lang="en-IN" sz="2400">
                    <a:solidFill>
                      <a:srgbClr val="111827"/>
                    </a:solidFill>
                    <a:latin typeface="Cambria Math" panose="02040503050406030204" pitchFamily="18" charset="0"/>
                  </a:rPr>
                  <a:t>$P$</a:t>
                </a:r>
                <a:r>
                  <a:rPr sz="2400" b="0">
                    <a:solidFill>
                      <a:srgbClr val="111827"/>
                    </a:solidFill>
                    <a:latin typeface="Arial"/>
                  </a:rPr>
                  <a:t> above the axis is </a:t>
                </a:r>
                <a:r>
                  <a:rPr lang="en-IN" sz="2400">
                    <a:solidFill>
                      <a:srgbClr val="111827"/>
                    </a:solidFill>
                    <a:latin typeface="Cambria Math" panose="02040503050406030204" pitchFamily="18" charset="0"/>
                  </a:rPr>
                  <a:t>$y_1=\frac{b^2}{a}=a(e^2-1)=6$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t>
                </a:r>
                <a:r>
                  <a:rPr lang="en-IN" sz="2400">
                    <a:solidFill>
                      <a:srgbClr val="111827"/>
                    </a:solidFill>
                    <a:latin typeface="Cambria Math" panose="02040503050406030204" pitchFamily="18" charset="0"/>
                  </a:rPr>
                  <a:t>$\triangle PTG=\frac12\cdot TG\cdot y_1=\frac12\cdot15\cdot6=45$</a:t>
                </a:r>
                <a:r>
                  <a:rPr sz="2400" b="0">
                    <a:solidFill>
                      <a:srgbClr val="111827"/>
                    </a:solidFill>
                    <a:latin typeface="Arial"/>
                  </a:rPr>
                  <a:t> (in general </a:t>
                </a:r>
                <a:r>
                  <a:rPr lang="en-IN" sz="2400">
                    <a:solidFill>
                      <a:srgbClr val="111827"/>
                    </a:solidFill>
                    <a:latin typeface="Cambria Math" panose="02040503050406030204" pitchFamily="18" charset="0"/>
                  </a:rPr>
                  <a:t>$\frac{a^2(e^4-1)(e^2-1)}{2e}$</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45</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$45$</a:t>
                </a:r>
                <a:endParaRPr sz="2800">
                  <a:solidFill>
                    <a:srgbClr val="15803D"/>
                  </a:solidFill>
                </a:endParaRPr>
              </a:p>
            </p:txBody>
          </p:sp>
        </mc:Fallback>
      </mc:AlternateContent>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focal distances and the angle-bisector theorem: the tangent bisects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𝑆</m:t>
                    </m:r>
                    <m:r>
                      <a:rPr lang="en-IN" sz="2400" i="1">
                        <a:solidFill>
                          <a:srgbClr val="78350F"/>
                        </a:solidFill>
                        <a:latin typeface="Cambria Math" panose="02040503050406030204" pitchFamily="18" charset="0"/>
                      </a:rPr>
                      <m:t>𝑃</m:t>
                    </m:r>
                    <m:sSup>
                      <m:e>
                        <m:r>
                          <a:rPr lang="en-IN" sz="2400" i="1">
                            <a:solidFill>
                              <a:srgbClr val="78350F"/>
                            </a:solidFill>
                            <a:latin typeface="Cambria Math" panose="02040503050406030204" pitchFamily="18" charset="0"/>
                          </a:rPr>
                          <m:t>𝑆</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internally and the normal bisects it externally, with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num>
                      <m:den>
                        <m:r>
                          <a:rPr lang="en-IN" sz="2400" i="1">
                            <a:solidFill>
                              <a:srgbClr val="78350F"/>
                            </a:solidFill>
                            <a:latin typeface="Cambria Math" panose="02040503050406030204" pitchFamily="18" charset="0"/>
                          </a:rPr>
                          <m:t>𝑎</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𝑃</m:t>
                    </m:r>
                    <m:sSup>
                      <m:e>
                        <m:r>
                          <a:rPr lang="en-IN" sz="2400" i="1">
                            <a:solidFill>
                              <a:srgbClr val="78350F"/>
                            </a:solidFill>
                            <a:latin typeface="Cambria Math" panose="02040503050406030204" pitchFamily="18" charset="0"/>
                          </a:rPr>
                          <m:t>𝑆</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focal distances and the angle-bisector theorem: the tangent bisects </a:t>
                </a:r>
                <a:r>
                  <a:rPr lang="en-IN" sz="2400">
                    <a:solidFill>
                      <a:srgbClr val="78350F"/>
                    </a:solidFill>
                    <a:latin typeface="Cambria Math" panose="02040503050406030204" pitchFamily="18" charset="0"/>
                  </a:rPr>
                  <a:t>$\angle SPS'$</a:t>
                </a:r>
                <a:r>
                  <a:rPr sz="2400" b="0">
                    <a:solidFill>
                      <a:srgbClr val="78350F"/>
                    </a:solidFill>
                    <a:latin typeface="Arial"/>
                  </a:rPr>
                  <a:t> internally and the normal bisects it externally, with </a:t>
                </a:r>
                <a:r>
                  <a:rPr lang="en-IN" sz="2400">
                    <a:solidFill>
                      <a:srgbClr val="78350F"/>
                    </a:solidFill>
                    <a:latin typeface="Cambria Math" panose="02040503050406030204" pitchFamily="18" charset="0"/>
                  </a:rPr>
                  <a:t>$PS=\frac{b^2}{a}=6$</a:t>
                </a:r>
                <a:r>
                  <a:rPr sz="2400" b="0">
                    <a:solidFill>
                      <a:srgbClr val="78350F"/>
                    </a:solidFill>
                    <a:latin typeface="Arial"/>
                  </a:rPr>
                  <a:t> and </a:t>
                </a:r>
                <a:r>
                  <a:rPr lang="en-IN" sz="2400">
                    <a:solidFill>
                      <a:srgbClr val="78350F"/>
                    </a:solidFill>
                    <a:latin typeface="Cambria Math" panose="02040503050406030204" pitchFamily="18" charset="0"/>
                  </a:rPr>
                  <a:t>$PS'=PS+2a=10$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the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foci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the end of the latus rectum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bisects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internally: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𝑇</m:t>
                        </m:r>
                      </m:num>
                      <m:den>
                        <m:r>
                          <a:rPr lang="en-IN" sz="2400" i="1">
                            <a:solidFill>
                              <a:srgbClr val="111827"/>
                            </a:solidFill>
                            <a:latin typeface="Cambria Math" panose="02040503050406030204" pitchFamily="18" charset="0"/>
                          </a:rPr>
                          <m:t>𝑇</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num>
                      <m:den>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divides </a:t>
                </a:r>
                <a14:m>
                  <m:oMath xmlns:m="http://schemas.openxmlformats.org/officeDocument/2006/math">
                    <m:r>
                      <a:rPr lang="en-IN" sz="2400" i="1">
                        <a:solidFill>
                          <a:srgbClr val="111827"/>
                        </a:solidFill>
                        <a:latin typeface="Cambria Math" panose="02040503050406030204" pitchFamily="18" charset="0"/>
                      </a:rPr>
                      <m:t>𝑆</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in the ratio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bisects the exterior angle: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𝐺</m:t>
                        </m:r>
                        <m:r>
                          <a:rPr lang="en-IN" sz="2400" i="1">
                            <a:solidFill>
                              <a:srgbClr val="111827"/>
                            </a:solidFill>
                            <a:latin typeface="Cambria Math" panose="02040503050406030204" pitchFamily="18" charset="0"/>
                          </a:rPr>
                          <m:t>𝑆</m:t>
                        </m:r>
                      </m:num>
                      <m:den>
                        <m:r>
                          <a:rPr lang="en-IN" sz="2400" i="1">
                            <a:solidFill>
                              <a:srgbClr val="111827"/>
                            </a:solidFill>
                            <a:latin typeface="Cambria Math" panose="02040503050406030204" pitchFamily="18" charset="0"/>
                          </a:rPr>
                          <m:t>𝐺</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outside </a:t>
                </a:r>
                <a14:m>
                  <m:oMath xmlns:m="http://schemas.openxmlformats.org/officeDocument/2006/math">
                    <m:r>
                      <a:rPr lang="en-IN" sz="2400" i="1">
                        <a:solidFill>
                          <a:srgbClr val="111827"/>
                        </a:solidFill>
                        <a:latin typeface="Cambria Math" panose="02040503050406030204" pitchFamily="18" charset="0"/>
                      </a:rPr>
                      <m:t>𝑆</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beyond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the hyperbola </a:t>
                </a:r>
                <a:r>
                  <a:rPr lang="en-IN" sz="2400">
                    <a:solidFill>
                      <a:srgbClr val="111827"/>
                    </a:solidFill>
                    <a:latin typeface="Cambria Math" panose="02040503050406030204" pitchFamily="18" charset="0"/>
                  </a:rPr>
                  <a:t>$\frac{x^2}{4}-\frac{y^2}{12}=1$</a:t>
                </a:r>
                <a:r>
                  <a:rPr sz="2400" b="0">
                    <a:solidFill>
                      <a:srgbClr val="111827"/>
                    </a:solidFill>
                    <a:latin typeface="Arial"/>
                  </a:rPr>
                  <a:t>: foci </a:t>
                </a:r>
                <a:r>
                  <a:rPr lang="en-IN" sz="2400">
                    <a:solidFill>
                      <a:srgbClr val="111827"/>
                    </a:solidFill>
                    <a:latin typeface="Cambria Math" panose="02040503050406030204" pitchFamily="18" charset="0"/>
                  </a:rPr>
                  <a:t>$S(4,0),\ S'(-4,0)$</a:t>
                </a:r>
                <a:r>
                  <a:rPr sz="2400" b="0">
                    <a:solidFill>
                      <a:srgbClr val="111827"/>
                    </a:solidFill>
                    <a:latin typeface="Arial"/>
                  </a:rPr>
                  <a:t>. At the end of the latus rectum </a:t>
                </a:r>
                <a:r>
                  <a:rPr lang="en-IN" sz="2400">
                    <a:solidFill>
                      <a:srgbClr val="111827"/>
                    </a:solidFill>
                    <a:latin typeface="Cambria Math" panose="02040503050406030204" pitchFamily="18" charset="0"/>
                  </a:rPr>
                  <a:t>$PS=\frac{b^2}{a}=6$</a:t>
                </a:r>
                <a:r>
                  <a:rPr sz="2400" b="0">
                    <a:solidFill>
                      <a:srgbClr val="111827"/>
                    </a:solidFill>
                    <a:latin typeface="Arial"/>
                  </a:rPr>
                  <a:t> and </a:t>
                </a:r>
                <a:r>
                  <a:rPr lang="en-IN" sz="2400">
                    <a:solidFill>
                      <a:srgbClr val="111827"/>
                    </a:solidFill>
                    <a:latin typeface="Cambria Math" panose="02040503050406030204" pitchFamily="18" charset="0"/>
                  </a:rPr>
                  <a:t>$PS'=PS+2a=10$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a:t>
                </a:r>
                <a:r>
                  <a:rPr lang="en-IN" sz="2400">
                    <a:solidFill>
                      <a:srgbClr val="111827"/>
                    </a:solidFill>
                    <a:latin typeface="Cambria Math" panose="02040503050406030204" pitchFamily="18" charset="0"/>
                  </a:rPr>
                  <a:t>$P$</a:t>
                </a:r>
                <a:r>
                  <a:rPr sz="2400" b="0">
                    <a:solidFill>
                      <a:srgbClr val="111827"/>
                    </a:solidFill>
                    <a:latin typeface="Arial"/>
                  </a:rPr>
                  <a:t> bisects </a:t>
                </a:r>
                <a:r>
                  <a:rPr lang="en-IN" sz="2400">
                    <a:solidFill>
                      <a:srgbClr val="111827"/>
                    </a:solidFill>
                    <a:latin typeface="Cambria Math" panose="02040503050406030204" pitchFamily="18" charset="0"/>
                  </a:rPr>
                  <a:t>$\angle SPS'$</a:t>
                </a:r>
                <a:r>
                  <a:rPr sz="2400" b="0">
                    <a:solidFill>
                      <a:srgbClr val="111827"/>
                    </a:solidFill>
                    <a:latin typeface="Arial"/>
                  </a:rPr>
                  <a:t> internally: </a:t>
                </a:r>
                <a:r>
                  <a:rPr lang="en-IN" sz="2400">
                    <a:solidFill>
                      <a:srgbClr val="111827"/>
                    </a:solidFill>
                    <a:latin typeface="Cambria Math" panose="02040503050406030204" pitchFamily="18" charset="0"/>
                  </a:rPr>
                  <a:t>$\frac{ST}{TS'}=\frac{PS}{PS'}=\frac{6}{10}$</a:t>
                </a:r>
                <a:r>
                  <a:rPr sz="2400" b="0">
                    <a:solidFill>
                      <a:srgbClr val="111827"/>
                    </a:solidFill>
                    <a:latin typeface="Arial"/>
                  </a:rPr>
                  <a:t>, so </a:t>
                </a:r>
                <a:r>
                  <a:rPr lang="en-IN" sz="2400">
                    <a:solidFill>
                      <a:srgbClr val="111827"/>
                    </a:solidFill>
                    <a:latin typeface="Cambria Math" panose="02040503050406030204" pitchFamily="18" charset="0"/>
                  </a:rPr>
                  <a:t>$T$</a:t>
                </a:r>
                <a:r>
                  <a:rPr sz="2400" b="0">
                    <a:solidFill>
                      <a:srgbClr val="111827"/>
                    </a:solidFill>
                    <a:latin typeface="Arial"/>
                  </a:rPr>
                  <a:t> divides </a:t>
                </a:r>
                <a:r>
                  <a:rPr lang="en-IN" sz="2400">
                    <a:solidFill>
                      <a:srgbClr val="111827"/>
                    </a:solidFill>
                    <a:latin typeface="Cambria Math" panose="02040503050406030204" pitchFamily="18" charset="0"/>
                  </a:rPr>
                  <a:t>$SS'$</a:t>
                </a:r>
                <a:r>
                  <a:rPr sz="2400" b="0">
                    <a:solidFill>
                      <a:srgbClr val="111827"/>
                    </a:solidFill>
                    <a:latin typeface="Arial"/>
                  </a:rPr>
                  <a:t> in the ratio </a:t>
                </a:r>
                <a:r>
                  <a:rPr lang="en-IN" sz="2400">
                    <a:solidFill>
                      <a:srgbClr val="111827"/>
                    </a:solidFill>
                    <a:latin typeface="Cambria Math" panose="02040503050406030204" pitchFamily="18" charset="0"/>
                  </a:rPr>
                  <a:t>$3:5$</a:t>
                </a:r>
                <a:r>
                  <a:rPr sz="2400" b="0">
                    <a:solidFill>
                      <a:srgbClr val="111827"/>
                    </a:solidFill>
                    <a:latin typeface="Arial"/>
                  </a:rPr>
                  <a:t>: </a:t>
                </a:r>
                <a:r>
                  <a:rPr lang="en-IN" sz="2400">
                    <a:solidFill>
                      <a:srgbClr val="111827"/>
                    </a:solidFill>
                    <a:latin typeface="Cambria Math" panose="02040503050406030204" pitchFamily="18" charset="0"/>
                  </a:rPr>
                  <a:t>$T=4-\frac38\cdot8=1$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bisects the exterior angle: </a:t>
                </a:r>
                <a:r>
                  <a:rPr lang="en-IN" sz="2400">
                    <a:solidFill>
                      <a:srgbClr val="111827"/>
                    </a:solidFill>
                    <a:latin typeface="Cambria Math" panose="02040503050406030204" pitchFamily="18" charset="0"/>
                  </a:rPr>
                  <a:t>$\frac{GS}{GS'}=\frac{6}{10}$</a:t>
                </a:r>
                <a:r>
                  <a:rPr sz="2400" b="0">
                    <a:solidFill>
                      <a:srgbClr val="111827"/>
                    </a:solidFill>
                    <a:latin typeface="Arial"/>
                  </a:rPr>
                  <a:t> with </a:t>
                </a:r>
                <a:r>
                  <a:rPr lang="en-IN" sz="2400">
                    <a:solidFill>
                      <a:srgbClr val="111827"/>
                    </a:solidFill>
                    <a:latin typeface="Cambria Math" panose="02040503050406030204" pitchFamily="18" charset="0"/>
                  </a:rPr>
                  <a:t>$G$</a:t>
                </a:r>
                <a:r>
                  <a:rPr sz="2400" b="0">
                    <a:solidFill>
                      <a:srgbClr val="111827"/>
                    </a:solidFill>
                    <a:latin typeface="Arial"/>
                  </a:rPr>
                  <a:t> outside </a:t>
                </a:r>
                <a:r>
                  <a:rPr lang="en-IN" sz="2400">
                    <a:solidFill>
                      <a:srgbClr val="111827"/>
                    </a:solidFill>
                    <a:latin typeface="Cambria Math" panose="02040503050406030204" pitchFamily="18" charset="0"/>
                  </a:rPr>
                  <a:t>$SS'$</a:t>
                </a:r>
                <a:r>
                  <a:rPr sz="2400" b="0">
                    <a:solidFill>
                      <a:srgbClr val="111827"/>
                    </a:solidFill>
                    <a:latin typeface="Arial"/>
                  </a:rPr>
                  <a:t> beyond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$\frac{G-4}{G+4}=\frac35$</a:t>
                </a:r>
                <a:r>
                  <a:rPr sz="2400" b="0">
                    <a:solidFill>
                      <a:srgbClr val="111827"/>
                    </a:solidFill>
                    <a:latin typeface="Arial"/>
                  </a:rPr>
                  <a:t>, so </a:t>
                </a:r>
                <a:r>
                  <a:rPr lang="en-IN" sz="2400">
                    <a:solidFill>
                      <a:srgbClr val="111827"/>
                    </a:solidFill>
                    <a:latin typeface="Cambria Math" panose="02040503050406030204" pitchFamily="18" charset="0"/>
                  </a:rPr>
                  <a:t>$G=16$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and the height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$TG=15$</a:t>
                </a:r>
                <a:r>
                  <a:rPr sz="2400" b="0">
                    <a:solidFill>
                      <a:srgbClr val="111827"/>
                    </a:solidFill>
                    <a:latin typeface="Arial"/>
                  </a:rPr>
                  <a:t> and the height of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$=\frac12\cdot15\cdot6=45$</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45</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$45$</a:t>
                </a:r>
                <a:endParaRPr sz="2800">
                  <a:solidFill>
                    <a:srgbClr val="15803D"/>
                  </a:solidFill>
                </a:endParaRPr>
              </a:p>
            </p:txBody>
          </p:sp>
        </mc:Fallback>
      </mc:AlternateContent>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latus rectum end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e>
                    </m:d>
                  </m:oMath>
                </a14:m>
                <a:r>
                  <a:rPr sz="2400" b="0">
                    <a:solidFill>
                      <a:srgbClr val="111827"/>
                    </a:solidFill>
                    <a:latin typeface="Arial"/>
                  </a:rPr>
                  <a:t>; the tangent there meets the transverse axis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and the normal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tangent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meets the axis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the normal meets it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hyperbola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bisects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(internal) and the normal bisects the external angle; for an ellipse it is the other way round.</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𝐺</m:t>
                    </m:r>
                  </m:oMath>
                </a14:m>
                <a:r>
                  <a:rPr sz="2400" b="0">
                    <a:solidFill>
                      <a:srgbClr val="111827"/>
                    </a:solidFill>
                    <a:latin typeface="Arial"/>
                  </a:rPr>
                  <a:t>, so the triangle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a:rPr lang="en-IN" sz="2400" i="1">
                        <a:solidFill>
                          <a:srgbClr val="111827"/>
                        </a:solidFill>
                        <a:latin typeface="Cambria Math" panose="02040503050406030204" pitchFamily="18" charset="0"/>
                      </a:rPr>
                      <m:t>𝐺</m:t>
                    </m:r>
                  </m:oMath>
                </a14:m>
                <a:r>
                  <a:rPr sz="2400" b="0">
                    <a:solidFill>
                      <a:srgbClr val="111827"/>
                    </a:solidFill>
                    <a:latin typeface="Arial"/>
                  </a:rPr>
                  <a:t> is right-angled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$\frac{x^2}{a^2}-\frac{y^2}{b^2}=1$</a:t>
                </a:r>
                <a:r>
                  <a:rPr sz="2400" b="0">
                    <a:solidFill>
                      <a:srgbClr val="111827"/>
                    </a:solidFill>
                    <a:latin typeface="Arial"/>
                  </a:rPr>
                  <a:t>: the latus rectum end is </a:t>
                </a:r>
                <a:r>
                  <a:rPr lang="en-IN" sz="2400">
                    <a:solidFill>
                      <a:srgbClr val="111827"/>
                    </a:solidFill>
                    <a:latin typeface="Cambria Math" panose="02040503050406030204" pitchFamily="18" charset="0"/>
                  </a:rPr>
                  <a:t>$\left(ae,\frac{b^2}{a}\right)$</a:t>
                </a:r>
                <a:r>
                  <a:rPr sz="2400" b="0">
                    <a:solidFill>
                      <a:srgbClr val="111827"/>
                    </a:solidFill>
                    <a:latin typeface="Arial"/>
                  </a:rPr>
                  <a:t>; the tangent there meets the transverse axis at </a:t>
                </a:r>
                <a:r>
                  <a:rPr lang="en-IN" sz="2400">
                    <a:solidFill>
                      <a:srgbClr val="111827"/>
                    </a:solidFill>
                    <a:latin typeface="Cambria Math" panose="02040503050406030204" pitchFamily="18" charset="0"/>
                  </a:rPr>
                  <a:t>$\left(\frac ae,0\right)$</a:t>
                </a:r>
                <a:r>
                  <a:rPr sz="2400" b="0">
                    <a:solidFill>
                      <a:srgbClr val="111827"/>
                    </a:solidFill>
                    <a:latin typeface="Arial"/>
                  </a:rPr>
                  <a:t> and the normal at </a:t>
                </a:r>
                <a:r>
                  <a:rPr lang="en-IN" sz="2400">
                    <a:solidFill>
                      <a:srgbClr val="111827"/>
                    </a:solidFill>
                    <a:latin typeface="Cambria Math" panose="02040503050406030204" pitchFamily="18" charset="0"/>
                  </a:rPr>
                  <a:t>$(ae^3,0)$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tangent at </a:t>
                </a:r>
                <a:r>
                  <a:rPr lang="en-IN" sz="2400">
                    <a:solidFill>
                      <a:srgbClr val="111827"/>
                    </a:solidFill>
                    <a:latin typeface="Cambria Math" panose="02040503050406030204" pitchFamily="18" charset="0"/>
                  </a:rPr>
                  <a:t>$(x_1,y_1)$</a:t>
                </a:r>
                <a:r>
                  <a:rPr sz="2400" b="0">
                    <a:solidFill>
                      <a:srgbClr val="111827"/>
                    </a:solidFill>
                    <a:latin typeface="Arial"/>
                  </a:rPr>
                  <a:t> meets the axis at </a:t>
                </a:r>
                <a:r>
                  <a:rPr lang="en-IN" sz="2400">
                    <a:solidFill>
                      <a:srgbClr val="111827"/>
                    </a:solidFill>
                    <a:latin typeface="Cambria Math" panose="02040503050406030204" pitchFamily="18" charset="0"/>
                  </a:rPr>
                  <a:t>$\left(\frac{a^2}{x_1},0\right)$</a:t>
                </a:r>
                <a:r>
                  <a:rPr sz="2400" b="0">
                    <a:solidFill>
                      <a:srgbClr val="111827"/>
                    </a:solidFill>
                    <a:latin typeface="Arial"/>
                  </a:rPr>
                  <a:t>; the normal meets it at </a:t>
                </a:r>
                <a:r>
                  <a:rPr lang="en-IN" sz="2400">
                    <a:solidFill>
                      <a:srgbClr val="111827"/>
                    </a:solidFill>
                    <a:latin typeface="Cambria Math" panose="02040503050406030204" pitchFamily="18" charset="0"/>
                  </a:rPr>
                  <a:t>$\left(\frac{(a^2+b^2)x_1}{a^2},0\right)=(e^2x_1,0)$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hyperbola the tangent at </a:t>
                </a:r>
                <a:r>
                  <a:rPr lang="en-IN" sz="2400">
                    <a:solidFill>
                      <a:srgbClr val="111827"/>
                    </a:solidFill>
                    <a:latin typeface="Cambria Math" panose="02040503050406030204" pitchFamily="18" charset="0"/>
                  </a:rPr>
                  <a:t>$P$</a:t>
                </a:r>
                <a:r>
                  <a:rPr sz="2400" b="0">
                    <a:solidFill>
                      <a:srgbClr val="111827"/>
                    </a:solidFill>
                    <a:latin typeface="Arial"/>
                  </a:rPr>
                  <a:t> bisects </a:t>
                </a:r>
                <a:r>
                  <a:rPr lang="en-IN" sz="2400">
                    <a:solidFill>
                      <a:srgbClr val="111827"/>
                    </a:solidFill>
                    <a:latin typeface="Cambria Math" panose="02040503050406030204" pitchFamily="18" charset="0"/>
                  </a:rPr>
                  <a:t>$\angle SPS'$</a:t>
                </a:r>
                <a:r>
                  <a:rPr sz="2400" b="0">
                    <a:solidFill>
                      <a:srgbClr val="111827"/>
                    </a:solidFill>
                    <a:latin typeface="Arial"/>
                  </a:rPr>
                  <a:t> (internal) and the normal bisects the external angle; for an ellipse it is the other way round.</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$PT\perp PG$</a:t>
                </a:r>
                <a:r>
                  <a:rPr sz="2400" b="0">
                    <a:solidFill>
                      <a:srgbClr val="111827"/>
                    </a:solidFill>
                    <a:latin typeface="Arial"/>
                  </a:rPr>
                  <a:t>, so the triangle </a:t>
                </a:r>
                <a:r>
                  <a:rPr lang="en-IN" sz="2400">
                    <a:solidFill>
                      <a:srgbClr val="111827"/>
                    </a:solidFill>
                    <a:latin typeface="Cambria Math" panose="02040503050406030204" pitchFamily="18" charset="0"/>
                  </a:rPr>
                  <a:t>$PTG$</a:t>
                </a:r>
                <a:r>
                  <a:rPr sz="2400" b="0">
                    <a:solidFill>
                      <a:srgbClr val="111827"/>
                    </a:solidFill>
                    <a:latin typeface="Arial"/>
                  </a:rPr>
                  <a:t> is right-angled at </a:t>
                </a:r>
                <a:r>
                  <a:rPr lang="en-IN" sz="2400">
                    <a:solidFill>
                      <a:srgbClr val="111827"/>
                    </a:solidFill>
                    <a:latin typeface="Cambria Math" panose="02040503050406030204" pitchFamily="18" charset="0"/>
                  </a:rPr>
                  <a:t>$P$</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Find the equations of the tangents to the hyperbola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that are drawn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Find the area of the triangle that these tangents form with their chord of contact.</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Find the equations of the tangents to the hyperbola </a:t>
                </a:r>
                <a:r>
                  <a:rPr lang="en-IN" sz="2400">
                    <a:solidFill>
                      <a:srgbClr val="111827"/>
                    </a:solidFill>
                    <a:latin typeface="Cambria Math" panose="02040503050406030204" pitchFamily="18" charset="0"/>
                  </a:rPr>
                  <a:t>$x^2-9y^2=9$</a:t>
                </a:r>
                <a:r>
                  <a:rPr sz="2400" b="0">
                    <a:solidFill>
                      <a:srgbClr val="111827"/>
                    </a:solidFill>
                    <a:latin typeface="Arial"/>
                  </a:rPr>
                  <a:t> that are drawn from </a:t>
                </a:r>
                <a:r>
                  <a:rPr lang="en-IN" sz="2400">
                    <a:solidFill>
                      <a:srgbClr val="111827"/>
                    </a:solidFill>
                    <a:latin typeface="Cambria Math" panose="02040503050406030204" pitchFamily="18" charset="0"/>
                  </a:rPr>
                  <a:t>$(3,2)$</a:t>
                </a:r>
                <a:r>
                  <a:rPr sz="2400" b="0">
                    <a:solidFill>
                      <a:srgbClr val="111827"/>
                    </a:solidFill>
                    <a:latin typeface="Arial"/>
                  </a:rPr>
                  <a:t>. Find the area of the triangle that these tangents form with their chord of contact.</a:t>
                </a:r>
                <a:endParaRPr sz="2400">
                  <a:solidFill>
                    <a:srgbClr val="111827"/>
                  </a:solidFill>
                </a:endParaRPr>
              </a:p>
            </p:txBody>
          </p:sp>
        </mc:Fallback>
      </mc:AlternateContent>
      <p:sp>
        <p:nvSpPr>
          <p:cNvPr id="5" name="Rectangle 4"/>
          <p:cNvSpPr/>
          <p:nvPr/>
        </p:nvSpPr>
        <p:spPr>
          <a:xfrm>
            <a:off x="731520" y="324612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Tangents from an external point to a hyperbola (chord of contact), Area of the triangle formed by the tangents and the chord of contact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Chord of contact of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is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 solving it with the hyperbola gives the two points of contact.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Chord of contact of </a:t>
                </a:r>
                <a:r>
                  <a:rPr lang="en-IN" sz="2400">
                    <a:solidFill>
                      <a:srgbClr val="78350F"/>
                    </a:solidFill>
                    <a:latin typeface="Cambria Math" panose="02040503050406030204" pitchFamily="18" charset="0"/>
                  </a:rPr>
                  <a:t>$(3,2)$</a:t>
                </a:r>
                <a:r>
                  <a:rPr sz="2400" b="0">
                    <a:solidFill>
                      <a:srgbClr val="78350F"/>
                    </a:solidFill>
                    <a:latin typeface="Arial"/>
                  </a:rPr>
                  <a:t> is </a:t>
                </a:r>
                <a:r>
                  <a:rPr lang="en-IN" sz="2400">
                    <a:solidFill>
                      <a:srgbClr val="78350F"/>
                    </a:solidFill>
                    <a:latin typeface="Cambria Math" panose="02040503050406030204" pitchFamily="18" charset="0"/>
                  </a:rPr>
                  <a:t>$x-6y=3$</a:t>
                </a:r>
                <a:r>
                  <a:rPr sz="2400" b="0">
                    <a:solidFill>
                      <a:srgbClr val="78350F"/>
                    </a:solidFill>
                    <a:latin typeface="Arial"/>
                  </a:rPr>
                  <a:t>; solving it with the hyperbola gives the two points of contact.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of contact (C.O.C.) with respect to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hyperbola: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Solving (1),(2): put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27</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The points of contact are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𝑅</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of contact (C.O.C.) with respect to </a:t>
                </a:r>
                <a:r>
                  <a:rPr lang="en-IN" sz="2400">
                    <a:solidFill>
                      <a:srgbClr val="111827"/>
                    </a:solidFill>
                    <a:latin typeface="Cambria Math" panose="02040503050406030204" pitchFamily="18" charset="0"/>
                  </a:rPr>
                  <a:t>$P(3,2)$</a:t>
                </a:r>
                <a:r>
                  <a:rPr sz="2400" b="0">
                    <a:solidFill>
                      <a:srgbClr val="111827"/>
                    </a:solidFill>
                    <a:latin typeface="Arial"/>
                  </a:rPr>
                  <a:t> is </a:t>
                </a:r>
                <a:r>
                  <a:rPr lang="en-IN" sz="2400">
                    <a:solidFill>
                      <a:srgbClr val="111827"/>
                    </a:solidFill>
                    <a:latin typeface="Cambria Math" panose="02040503050406030204" pitchFamily="18" charset="0"/>
                  </a:rPr>
                  <a:t>$T=0$</a:t>
                </a:r>
                <a:r>
                  <a:rPr sz="2400" b="0">
                    <a:solidFill>
                      <a:srgbClr val="111827"/>
                    </a:solidFill>
                    <a:latin typeface="Arial"/>
                  </a:rPr>
                  <a:t>: </a:t>
                </a:r>
                <a:r>
                  <a:rPr lang="en-IN" sz="2400">
                    <a:solidFill>
                      <a:srgbClr val="111827"/>
                    </a:solidFill>
                    <a:latin typeface="Cambria Math" panose="02040503050406030204" pitchFamily="18" charset="0"/>
                  </a:rPr>
                  <a:t>$3x-9\cdot2y=9$</a:t>
                </a:r>
                <a:r>
                  <a:rPr sz="2400" b="0">
                    <a:solidFill>
                      <a:srgbClr val="111827"/>
                    </a:solidFill>
                    <a:latin typeface="Arial"/>
                  </a:rPr>
                  <a:t>, i.e. </a:t>
                </a:r>
                <a:r>
                  <a:rPr lang="en-IN" sz="2400">
                    <a:solidFill>
                      <a:srgbClr val="111827"/>
                    </a:solidFill>
                    <a:latin typeface="Cambria Math" panose="02040503050406030204" pitchFamily="18" charset="0"/>
                  </a:rPr>
                  <a:t>$x-6y=3$</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hyperbola: </a:t>
                </a:r>
                <a:r>
                  <a:rPr lang="en-IN" sz="2400">
                    <a:solidFill>
                      <a:srgbClr val="111827"/>
                    </a:solidFill>
                    <a:latin typeface="Cambria Math" panose="02040503050406030204" pitchFamily="18" charset="0"/>
                  </a:rPr>
                  <a:t>$x^2-9y^2=9$</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Solving (1),(2): put </a:t>
                </a:r>
                <a:r>
                  <a:rPr lang="en-IN" sz="2400">
                    <a:solidFill>
                      <a:srgbClr val="111827"/>
                    </a:solidFill>
                    <a:latin typeface="Cambria Math" panose="02040503050406030204" pitchFamily="18" charset="0"/>
                  </a:rPr>
                  <a:t>$x=3+6y$</a:t>
                </a:r>
                <a:r>
                  <a:rPr sz="2400" b="0">
                    <a:solidFill>
                      <a:srgbClr val="111827"/>
                    </a:solidFill>
                    <a:latin typeface="Arial"/>
                  </a:rPr>
                  <a:t>: </a:t>
                </a:r>
                <a:r>
                  <a:rPr lang="en-IN" sz="2400">
                    <a:solidFill>
                      <a:srgbClr val="111827"/>
                    </a:solidFill>
                    <a:latin typeface="Cambria Math" panose="02040503050406030204" pitchFamily="18" charset="0"/>
                  </a:rPr>
                  <a:t>$(3+6y)^2-9y^2=9$</a:t>
                </a:r>
                <a:r>
                  <a:rPr sz="2400" b="0">
                    <a:solidFill>
                      <a:srgbClr val="111827"/>
                    </a:solidFill>
                    <a:latin typeface="Arial"/>
                  </a:rPr>
                  <a:t>, i.e. </a:t>
                </a:r>
                <a:r>
                  <a:rPr lang="en-IN" sz="2400">
                    <a:solidFill>
                      <a:srgbClr val="111827"/>
                    </a:solidFill>
                    <a:latin typeface="Cambria Math" panose="02040503050406030204" pitchFamily="18" charset="0"/>
                  </a:rPr>
                  <a:t>$27y^2+36y=0$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$y=0$</a:t>
                </a:r>
                <a:r>
                  <a:rPr sz="2400" b="0">
                    <a:solidFill>
                      <a:srgbClr val="111827"/>
                    </a:solidFill>
                    <a:latin typeface="Arial"/>
                  </a:rPr>
                  <a:t> or </a:t>
                </a:r>
                <a:r>
                  <a:rPr lang="en-IN" sz="2400">
                    <a:solidFill>
                      <a:srgbClr val="111827"/>
                    </a:solidFill>
                    <a:latin typeface="Cambria Math" panose="02040503050406030204" pitchFamily="18" charset="0"/>
                  </a:rPr>
                  <a:t>$y=-\frac43$</a:t>
                </a:r>
                <a:r>
                  <a:rPr sz="2400" b="0">
                    <a:solidFill>
                      <a:srgbClr val="111827"/>
                    </a:solidFill>
                    <a:latin typeface="Arial"/>
                  </a:rPr>
                  <a:t>, giving </a:t>
                </a:r>
                <a:r>
                  <a:rPr lang="en-IN" sz="2400">
                    <a:solidFill>
                      <a:srgbClr val="111827"/>
                    </a:solidFill>
                    <a:latin typeface="Cambria Math" panose="02040503050406030204" pitchFamily="18" charset="0"/>
                  </a:rPr>
                  <a:t>$x=3$</a:t>
                </a:r>
                <a:r>
                  <a:rPr sz="2400" b="0">
                    <a:solidFill>
                      <a:srgbClr val="111827"/>
                    </a:solidFill>
                    <a:latin typeface="Arial"/>
                  </a:rPr>
                  <a:t> or </a:t>
                </a:r>
                <a:r>
                  <a:rPr lang="en-IN" sz="2400">
                    <a:solidFill>
                      <a:srgbClr val="111827"/>
                    </a:solidFill>
                    <a:latin typeface="Cambria Math" panose="02040503050406030204" pitchFamily="18" charset="0"/>
                  </a:rPr>
                  <a:t>$x=-5$</a:t>
                </a:r>
                <a:r>
                  <a:rPr sz="2400" b="0">
                    <a:solidFill>
                      <a:srgbClr val="111827"/>
                    </a:solidFill>
                    <a:latin typeface="Arial"/>
                  </a:rPr>
                  <a:t>. The points of contact are </a:t>
                </a:r>
                <a:r>
                  <a:rPr lang="en-IN" sz="2400">
                    <a:solidFill>
                      <a:srgbClr val="111827"/>
                    </a:solidFill>
                    <a:latin typeface="Cambria Math" panose="02040503050406030204" pitchFamily="18" charset="0"/>
                  </a:rPr>
                  <a:t>$Q(3,0)$</a:t>
                </a:r>
                <a:r>
                  <a:rPr sz="2400" b="0">
                    <a:solidFill>
                      <a:srgbClr val="111827"/>
                    </a:solidFill>
                    <a:latin typeface="Arial"/>
                  </a:rPr>
                  <a:t> and </a:t>
                </a:r>
                <a:r>
                  <a:rPr lang="en-IN" sz="2400">
                    <a:solidFill>
                      <a:srgbClr val="111827"/>
                    </a:solidFill>
                    <a:latin typeface="Cambria Math" panose="02040503050406030204" pitchFamily="18" charset="0"/>
                  </a:rPr>
                  <a:t>$R\left(-5,-\frac43\right)$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𝑅</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e>
                    </m:d>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 has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base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along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the horizontal distance of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square units.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$Q(3,0)$</a:t>
                </a:r>
                <a:r>
                  <a:rPr sz="2400" b="0">
                    <a:solidFill>
                      <a:srgbClr val="111827"/>
                    </a:solidFill>
                    <a:latin typeface="Arial"/>
                  </a:rPr>
                  <a:t>: </a:t>
                </a:r>
                <a:r>
                  <a:rPr lang="en-IN" sz="2400">
                    <a:solidFill>
                      <a:srgbClr val="111827"/>
                    </a:solidFill>
                    <a:latin typeface="Cambria Math" panose="02040503050406030204" pitchFamily="18" charset="0"/>
                  </a:rPr>
                  <a:t>$3x=9$</a:t>
                </a:r>
                <a:r>
                  <a:rPr sz="2400" b="0">
                    <a:solidFill>
                      <a:srgbClr val="111827"/>
                    </a:solidFill>
                    <a:latin typeface="Arial"/>
                  </a:rPr>
                  <a:t>, i.e. </a:t>
                </a:r>
                <a:r>
                  <a:rPr lang="en-IN" sz="2400">
                    <a:solidFill>
                      <a:srgbClr val="111827"/>
                    </a:solidFill>
                    <a:latin typeface="Cambria Math" panose="02040503050406030204" pitchFamily="18" charset="0"/>
                  </a:rPr>
                  <a:t>$PQ:\ x-3=0$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$R\left(-5,-\frac43\right)$</a:t>
                </a:r>
                <a:r>
                  <a:rPr sz="2400" b="0">
                    <a:solidFill>
                      <a:srgbClr val="111827"/>
                    </a:solidFill>
                    <a:latin typeface="Arial"/>
                  </a:rPr>
                  <a:t>: </a:t>
                </a:r>
                <a:r>
                  <a:rPr lang="en-IN" sz="2400">
                    <a:solidFill>
                      <a:srgbClr val="111827"/>
                    </a:solidFill>
                    <a:latin typeface="Cambria Math" panose="02040503050406030204" pitchFamily="18" charset="0"/>
                  </a:rPr>
                  <a:t>$-5x-9\left(-\frac43\right)y=9$</a:t>
                </a:r>
                <a:r>
                  <a:rPr sz="2400" b="0">
                    <a:solidFill>
                      <a:srgbClr val="111827"/>
                    </a:solidFill>
                    <a:latin typeface="Arial"/>
                  </a:rPr>
                  <a:t>, i.e. </a:t>
                </a:r>
                <a:r>
                  <a:rPr lang="en-IN" sz="2400">
                    <a:solidFill>
                      <a:srgbClr val="111827"/>
                    </a:solidFill>
                    <a:latin typeface="Cambria Math" panose="02040503050406030204" pitchFamily="18" charset="0"/>
                  </a:rPr>
                  <a:t>$PR:\ 5x-12y+9=0$</a:t>
                </a:r>
                <a:r>
                  <a:rPr sz="2400" b="0">
                    <a:solidFill>
                      <a:srgbClr val="111827"/>
                    </a:solidFill>
                    <a:latin typeface="Arial"/>
                  </a:rPr>
                  <a:t> (it passes through </a:t>
                </a:r>
                <a:r>
                  <a:rPr lang="en-IN" sz="2400">
                    <a:solidFill>
                      <a:srgbClr val="111827"/>
                    </a:solidFill>
                    <a:latin typeface="Cambria Math" panose="02040503050406030204" pitchFamily="18" charset="0"/>
                  </a:rPr>
                  <a:t>$(3,2)$</a:t>
                </a:r>
                <a:r>
                  <a:rPr sz="2400" b="0">
                    <a:solidFill>
                      <a:srgbClr val="111827"/>
                    </a:solidFill>
                    <a:latin typeface="Arial"/>
                  </a:rPr>
                  <a:t>: </a:t>
                </a:r>
                <a:r>
                  <a:rPr lang="en-IN" sz="2400">
                    <a:solidFill>
                      <a:srgbClr val="111827"/>
                    </a:solidFill>
                    <a:latin typeface="Cambria Math" panose="02040503050406030204" pitchFamily="18" charset="0"/>
                  </a:rPr>
                  <a:t>$15-24+9=0$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a:t>
                </a:r>
                <a:r>
                  <a:rPr lang="en-IN" sz="2400">
                    <a:solidFill>
                      <a:srgbClr val="111827"/>
                    </a:solidFill>
                    <a:latin typeface="Cambria Math" panose="02040503050406030204" pitchFamily="18" charset="0"/>
                  </a:rPr>
                  <a:t>$PQR$</a:t>
                </a:r>
                <a:r>
                  <a:rPr sz="2400" b="0">
                    <a:solidFill>
                      <a:srgbClr val="111827"/>
                    </a:solidFill>
                    <a:latin typeface="Arial"/>
                  </a:rPr>
                  <a:t> has </a:t>
                </a:r>
                <a:r>
                  <a:rPr lang="en-IN" sz="2400">
                    <a:solidFill>
                      <a:srgbClr val="111827"/>
                    </a:solidFill>
                    <a:latin typeface="Cambria Math" panose="02040503050406030204" pitchFamily="18" charset="0"/>
                  </a:rPr>
                  <a:t>$P(3,2),Q(3,0),R\left(-5,-\frac43\right)$</a:t>
                </a:r>
                <a:r>
                  <a:rPr sz="2400" b="0">
                    <a:solidFill>
                      <a:srgbClr val="111827"/>
                    </a:solidFill>
                    <a:latin typeface="Arial"/>
                  </a:rPr>
                  <a:t>: base </a:t>
                </a:r>
                <a:r>
                  <a:rPr lang="en-IN" sz="2400">
                    <a:solidFill>
                      <a:srgbClr val="111827"/>
                    </a:solidFill>
                    <a:latin typeface="Cambria Math" panose="02040503050406030204" pitchFamily="18" charset="0"/>
                  </a:rPr>
                  <a:t>$PQ=2$</a:t>
                </a:r>
                <a:r>
                  <a:rPr sz="2400" b="0">
                    <a:solidFill>
                      <a:srgbClr val="111827"/>
                    </a:solidFill>
                    <a:latin typeface="Arial"/>
                  </a:rPr>
                  <a:t> along </a:t>
                </a:r>
                <a:r>
                  <a:rPr lang="en-IN" sz="2400">
                    <a:solidFill>
                      <a:srgbClr val="111827"/>
                    </a:solidFill>
                    <a:latin typeface="Cambria Math" panose="02040503050406030204" pitchFamily="18" charset="0"/>
                  </a:rPr>
                  <a:t>$x=3$</a:t>
                </a:r>
                <a:r>
                  <a:rPr sz="2400" b="0">
                    <a:solidFill>
                      <a:srgbClr val="111827"/>
                    </a:solidFill>
                    <a:latin typeface="Arial"/>
                  </a:rPr>
                  <a:t> and the horizontal distance of </a:t>
                </a:r>
                <a:r>
                  <a:rPr lang="en-IN" sz="2400">
                    <a:solidFill>
                      <a:srgbClr val="111827"/>
                    </a:solidFill>
                    <a:latin typeface="Cambria Math" panose="02040503050406030204" pitchFamily="18" charset="0"/>
                  </a:rPr>
                  <a:t>$R$</a:t>
                </a:r>
                <a:r>
                  <a:rPr sz="2400" b="0">
                    <a:solidFill>
                      <a:srgbClr val="111827"/>
                    </a:solidFill>
                    <a:latin typeface="Arial"/>
                  </a:rPr>
                  <a:t> from </a:t>
                </a:r>
                <a:r>
                  <a:rPr lang="en-IN" sz="2400">
                    <a:solidFill>
                      <a:srgbClr val="111827"/>
                    </a:solidFill>
                    <a:latin typeface="Cambria Math" panose="02040503050406030204" pitchFamily="18" charset="0"/>
                  </a:rPr>
                  <a:t>$x=3$</a:t>
                </a:r>
                <a:r>
                  <a:rPr sz="2400" b="0">
                    <a:solidFill>
                      <a:srgbClr val="111827"/>
                    </a:solidFill>
                    <a:latin typeface="Arial"/>
                  </a:rPr>
                  <a:t> is </a:t>
                </a:r>
                <a:r>
                  <a:rPr lang="en-IN" sz="2400">
                    <a:solidFill>
                      <a:srgbClr val="111827"/>
                    </a:solidFill>
                    <a:latin typeface="Cambria Math" panose="02040503050406030204" pitchFamily="18" charset="0"/>
                  </a:rPr>
                  <a:t>$8$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$=\frac12\cdot2\cdot8=8$</a:t>
                </a:r>
                <a:r>
                  <a:rPr sz="2400" b="0">
                    <a:solidFill>
                      <a:srgbClr val="111827"/>
                    </a:solidFill>
                    <a:latin typeface="Arial"/>
                  </a:rPr>
                  <a:t> square units.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Tangents </a:t>
                </a:r>
                <a14:m>
                  <m:oMath xmlns:m="http://schemas.openxmlformats.org/officeDocument/2006/math">
                    <m:r>
                      <a:rPr lang="en-IN" sz="2800" i="1">
                        <a:solidFill>
                          <a:srgbClr val="15803D"/>
                        </a:solidFill>
                        <a:latin typeface="Cambria Math" panose="02040503050406030204" pitchFamily="18" charset="0"/>
                      </a:rPr>
                      <m:t>5</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12</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9</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r>
                  <a:rPr sz="2800" b="1">
                    <a:solidFill>
                      <a:srgbClr val="15803D"/>
                    </a:solidFill>
                    <a:latin typeface="Arial"/>
                  </a:rPr>
                  <a:t> and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r>
                  <a:rPr sz="2800" b="1">
                    <a:solidFill>
                      <a:srgbClr val="15803D"/>
                    </a:solidFill>
                    <a:latin typeface="Arial"/>
                  </a:rPr>
                  <a:t>; area </a:t>
                </a:r>
                <a14:m>
                  <m:oMath xmlns:m="http://schemas.openxmlformats.org/officeDocument/2006/math">
                    <m:r>
                      <a:rPr lang="en-IN" sz="2800" i="1">
                        <a:solidFill>
                          <a:srgbClr val="15803D"/>
                        </a:solidFill>
                        <a:latin typeface="Cambria Math" panose="02040503050406030204" pitchFamily="18" charset="0"/>
                      </a:rPr>
                      <m:t>8</m:t>
                    </m:r>
                  </m:oMath>
                </a14:m>
                <a:r>
                  <a:rPr sz="2800" b="1">
                    <a:solidFill>
                      <a:srgbClr val="15803D"/>
                    </a:solidFill>
                    <a:latin typeface="Arial"/>
                  </a:rPr>
                  <a:t> sq. units</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Tangents </a:t>
                </a:r>
                <a:r>
                  <a:rPr lang="en-IN" sz="2800">
                    <a:solidFill>
                      <a:srgbClr val="15803D"/>
                    </a:solidFill>
                    <a:latin typeface="Cambria Math" panose="02040503050406030204" pitchFamily="18" charset="0"/>
                  </a:rPr>
                  <a:t>$5x-12y+9=0$</a:t>
                </a:r>
                <a:r>
                  <a:rPr sz="2800" b="1">
                    <a:solidFill>
                      <a:srgbClr val="15803D"/>
                    </a:solidFill>
                    <a:latin typeface="Arial"/>
                  </a:rPr>
                  <a:t> and </a:t>
                </a:r>
                <a:r>
                  <a:rPr lang="en-IN" sz="2800">
                    <a:solidFill>
                      <a:srgbClr val="15803D"/>
                    </a:solidFill>
                    <a:latin typeface="Cambria Math" panose="02040503050406030204" pitchFamily="18" charset="0"/>
                  </a:rPr>
                  <a:t>$x-3=0$</a:t>
                </a:r>
                <a:r>
                  <a:rPr sz="2800" b="1">
                    <a:solidFill>
                      <a:srgbClr val="15803D"/>
                    </a:solidFill>
                    <a:latin typeface="Arial"/>
                  </a:rPr>
                  <a:t>; area </a:t>
                </a:r>
                <a:r>
                  <a:rPr lang="en-IN" sz="2800">
                    <a:solidFill>
                      <a:srgbClr val="15803D"/>
                    </a:solidFill>
                    <a:latin typeface="Cambria Math" panose="02040503050406030204" pitchFamily="18" charset="0"/>
                  </a:rPr>
                  <a:t>$8$</a:t>
                </a:r>
                <a:r>
                  <a:rPr sz="2800" b="1">
                    <a:solidFill>
                      <a:srgbClr val="15803D"/>
                    </a:solidFill>
                    <a:latin typeface="Arial"/>
                  </a:rPr>
                  <a:t> sq. units</a:t>
                </a:r>
                <a:endParaRPr sz="2800">
                  <a:solidFill>
                    <a:srgbClr val="15803D"/>
                  </a:solidFill>
                </a:endParaRPr>
              </a:p>
            </p:txBody>
          </p:sp>
        </mc:Fallback>
      </mc:AlternateContent>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tangents with the slope form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oMath>
                </a14:m>
                <a:r>
                  <a:rPr sz="2400" b="0">
                    <a:solidFill>
                      <a:srgbClr val="78350F"/>
                    </a:solidFill>
                    <a:latin typeface="Arial"/>
                  </a:rPr>
                  <a:t> and the condition </a:t>
                </a:r>
                <a14:m>
                  <m:oMath xmlns:m="http://schemas.openxmlformats.org/officeDocument/2006/math">
                    <m:sSup>
                      <m:e>
                        <m:r>
                          <a:rPr lang="en-IN" sz="2400" i="1">
                            <a:solidFill>
                              <a:srgbClr val="78350F"/>
                            </a:solidFill>
                            <a:latin typeface="Cambria Math" panose="02040503050406030204" pitchFamily="18" charset="0"/>
                          </a:rPr>
                          <m:t>𝑐</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sSup>
                      <m:e>
                        <m:r>
                          <a:rPr lang="en-IN" sz="2400" i="1">
                            <a:solidFill>
                              <a:srgbClr val="78350F"/>
                            </a:solidFill>
                            <a:latin typeface="Cambria Math" panose="02040503050406030204" pitchFamily="18" charset="0"/>
                          </a:rPr>
                          <m:t>𝑚</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then get </a:t>
                </a:r>
                <a14:m>
                  <m:oMath xmlns:m="http://schemas.openxmlformats.org/officeDocument/2006/math">
                    <m:r>
                      <a:rPr lang="en-IN" sz="2400" i="1">
                        <a:solidFill>
                          <a:srgbClr val="78350F"/>
                        </a:solidFill>
                        <a:latin typeface="Cambria Math" panose="02040503050406030204" pitchFamily="18" charset="0"/>
                      </a:rPr>
                      <m:t>𝑅</m:t>
                    </m:r>
                  </m:oMath>
                </a14:m>
                <a:r>
                  <a:rPr sz="2400" b="0">
                    <a:solidFill>
                      <a:srgbClr val="78350F"/>
                    </a:solidFill>
                    <a:latin typeface="Arial"/>
                  </a:rPr>
                  <a:t> from the tangent.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tangents with the slope form </a:t>
                </a:r>
                <a:r>
                  <a:rPr lang="en-IN" sz="2400">
                    <a:solidFill>
                      <a:srgbClr val="78350F"/>
                    </a:solidFill>
                    <a:latin typeface="Cambria Math" panose="02040503050406030204" pitchFamily="18" charset="0"/>
                  </a:rPr>
                  <a:t>$y=mx+c$</a:t>
                </a:r>
                <a:r>
                  <a:rPr sz="2400" b="0">
                    <a:solidFill>
                      <a:srgbClr val="78350F"/>
                    </a:solidFill>
                    <a:latin typeface="Arial"/>
                  </a:rPr>
                  <a:t> and the condition </a:t>
                </a:r>
                <a:r>
                  <a:rPr lang="en-IN" sz="2400">
                    <a:solidFill>
                      <a:srgbClr val="78350F"/>
                    </a:solidFill>
                    <a:latin typeface="Cambria Math" panose="02040503050406030204" pitchFamily="18" charset="0"/>
                  </a:rPr>
                  <a:t>$c^2=a^2m^2-b^2$</a:t>
                </a:r>
                <a:r>
                  <a:rPr sz="2400" b="0">
                    <a:solidFill>
                      <a:srgbClr val="78350F"/>
                    </a:solidFill>
                    <a:latin typeface="Arial"/>
                  </a:rPr>
                  <a:t>; then get </a:t>
                </a:r>
                <a:r>
                  <a:rPr lang="en-IN" sz="2400">
                    <a:solidFill>
                      <a:srgbClr val="78350F"/>
                    </a:solidFill>
                    <a:latin typeface="Cambria Math" panose="02040503050406030204" pitchFamily="18" charset="0"/>
                  </a:rPr>
                  <a:t>$R$</a:t>
                </a:r>
                <a:r>
                  <a:rPr sz="2400" b="0">
                    <a:solidFill>
                      <a:srgbClr val="78350F"/>
                    </a:solidFill>
                    <a:latin typeface="Arial"/>
                  </a:rPr>
                  <a:t> from the tangent.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hyperbola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 tangent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𝑚</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𝑚</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Tangency: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𝑚</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12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second tangent is the vertical one,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(slope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it is the tangent at the vertex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hyperbola is </a:t>
                </a:r>
                <a:r>
                  <a:rPr lang="en-IN" sz="2400">
                    <a:solidFill>
                      <a:srgbClr val="111827"/>
                    </a:solidFill>
                    <a:latin typeface="Cambria Math" panose="02040503050406030204" pitchFamily="18" charset="0"/>
                  </a:rPr>
                  <a:t>$\frac{x^2}{9}-\frac{y^2}{1}=1$</a:t>
                </a:r>
                <a:r>
                  <a:rPr sz="2400" b="0">
                    <a:solidFill>
                      <a:srgbClr val="111827"/>
                    </a:solidFill>
                    <a:latin typeface="Arial"/>
                  </a:rPr>
                  <a:t>: </a:t>
                </a:r>
                <a:r>
                  <a:rPr lang="en-IN" sz="2400">
                    <a:solidFill>
                      <a:srgbClr val="111827"/>
                    </a:solidFill>
                    <a:latin typeface="Cambria Math" panose="02040503050406030204" pitchFamily="18" charset="0"/>
                  </a:rPr>
                  <a:t>$a^2=9,\ b^2=1$</a:t>
                </a:r>
                <a:r>
                  <a:rPr sz="2400" b="0">
                    <a:solidFill>
                      <a:srgbClr val="111827"/>
                    </a:solidFill>
                    <a:latin typeface="Arial"/>
                  </a:rPr>
                  <a:t>. A tangent through </a:t>
                </a:r>
                <a:r>
                  <a:rPr lang="en-IN" sz="2400">
                    <a:solidFill>
                      <a:srgbClr val="111827"/>
                    </a:solidFill>
                    <a:latin typeface="Cambria Math" panose="02040503050406030204" pitchFamily="18" charset="0"/>
                  </a:rPr>
                  <a:t>$(3,2)$</a:t>
                </a:r>
                <a:r>
                  <a:rPr sz="2400" b="0">
                    <a:solidFill>
                      <a:srgbClr val="111827"/>
                    </a:solidFill>
                    <a:latin typeface="Arial"/>
                  </a:rPr>
                  <a:t>: </a:t>
                </a:r>
                <a:r>
                  <a:rPr lang="en-IN" sz="2400">
                    <a:solidFill>
                      <a:srgbClr val="111827"/>
                    </a:solidFill>
                    <a:latin typeface="Cambria Math" panose="02040503050406030204" pitchFamily="18" charset="0"/>
                  </a:rPr>
                  <a:t>$y=mx+2-3m$</a:t>
                </a:r>
                <a:r>
                  <a:rPr sz="2400" b="0">
                    <a:solidFill>
                      <a:srgbClr val="111827"/>
                    </a:solidFill>
                    <a:latin typeface="Arial"/>
                  </a:rPr>
                  <a:t>, so </a:t>
                </a:r>
                <a:r>
                  <a:rPr lang="en-IN" sz="2400">
                    <a:solidFill>
                      <a:srgbClr val="111827"/>
                    </a:solidFill>
                    <a:latin typeface="Cambria Math" panose="02040503050406030204" pitchFamily="18" charset="0"/>
                  </a:rPr>
                  <a:t>$c=2-3m$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Tangency: </a:t>
                </a:r>
                <a:r>
                  <a:rPr lang="en-IN" sz="2400">
                    <a:solidFill>
                      <a:srgbClr val="111827"/>
                    </a:solidFill>
                    <a:latin typeface="Cambria Math" panose="02040503050406030204" pitchFamily="18" charset="0"/>
                  </a:rPr>
                  <a:t>$c^2=a^2m^2-b^2$</a:t>
                </a:r>
                <a:r>
                  <a:rPr sz="2400" b="0">
                    <a:solidFill>
                      <a:srgbClr val="111827"/>
                    </a:solidFill>
                    <a:latin typeface="Arial"/>
                  </a:rPr>
                  <a:t>, i.e. </a:t>
                </a:r>
                <a:r>
                  <a:rPr lang="en-IN" sz="2400">
                    <a:solidFill>
                      <a:srgbClr val="111827"/>
                    </a:solidFill>
                    <a:latin typeface="Cambria Math" panose="02040503050406030204" pitchFamily="18" charset="0"/>
                  </a:rPr>
                  <a:t>$(2-3m)^2=9m^2-1$</a:t>
                </a:r>
                <a:r>
                  <a:rPr sz="2400" b="0">
                    <a:solidFill>
                      <a:srgbClr val="111827"/>
                    </a:solidFill>
                    <a:latin typeface="Arial"/>
                  </a:rPr>
                  <a:t>, so </a:t>
                </a:r>
                <a:r>
                  <a:rPr lang="en-IN" sz="2400">
                    <a:solidFill>
                      <a:srgbClr val="111827"/>
                    </a:solidFill>
                    <a:latin typeface="Cambria Math" panose="02040503050406030204" pitchFamily="18" charset="0"/>
                  </a:rPr>
                  <a:t>$4-12m+9m^2=9m^2-1$</a:t>
                </a:r>
                <a:r>
                  <a:rPr sz="2400" b="0">
                    <a:solidFill>
                      <a:srgbClr val="111827"/>
                    </a:solidFill>
                    <a:latin typeface="Arial"/>
                  </a:rPr>
                  <a:t> and </a:t>
                </a:r>
                <a:r>
                  <a:rPr lang="en-IN" sz="2400">
                    <a:solidFill>
                      <a:srgbClr val="111827"/>
                    </a:solidFill>
                    <a:latin typeface="Cambria Math" panose="02040503050406030204" pitchFamily="18" charset="0"/>
                  </a:rPr>
                  <a:t>$m=\frac5{12}$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a:r>
                <a:r>
                  <a:rPr lang="en-IN" sz="2400">
                    <a:solidFill>
                      <a:srgbClr val="111827"/>
                    </a:solidFill>
                    <a:latin typeface="Cambria Math" panose="02040503050406030204" pitchFamily="18" charset="0"/>
                  </a:rPr>
                  <a:t>$y-2=\frac{5}{12}(x-3)$</a:t>
                </a:r>
                <a:r>
                  <a:rPr sz="2400" b="0">
                    <a:solidFill>
                      <a:srgbClr val="111827"/>
                    </a:solidFill>
                    <a:latin typeface="Arial"/>
                  </a:rPr>
                  <a:t>, i.e. </a:t>
                </a:r>
                <a:r>
                  <a:rPr lang="en-IN" sz="2400">
                    <a:solidFill>
                      <a:srgbClr val="111827"/>
                    </a:solidFill>
                    <a:latin typeface="Cambria Math" panose="02040503050406030204" pitchFamily="18" charset="0"/>
                  </a:rPr>
                  <a:t>$5x-12y+9=0$</a:t>
                </a:r>
                <a:r>
                  <a:rPr sz="2400" b="0">
                    <a:solidFill>
                      <a:srgbClr val="111827"/>
                    </a:solidFill>
                    <a:latin typeface="Arial"/>
                  </a:rPr>
                  <a:t>. The second tangent is the vertical one, </a:t>
                </a:r>
                <a:r>
                  <a:rPr lang="en-IN" sz="2400">
                    <a:solidFill>
                      <a:srgbClr val="111827"/>
                    </a:solidFill>
                    <a:latin typeface="Cambria Math" panose="02040503050406030204" pitchFamily="18" charset="0"/>
                  </a:rPr>
                  <a:t>$x=3$</a:t>
                </a:r>
                <a:r>
                  <a:rPr sz="2400" b="0">
                    <a:solidFill>
                      <a:srgbClr val="111827"/>
                    </a:solidFill>
                    <a:latin typeface="Arial"/>
                  </a:rPr>
                  <a:t> (slope </a:t>
                </a:r>
                <a:r>
                  <a:rPr lang="en-IN" sz="2400">
                    <a:solidFill>
                      <a:srgbClr val="111827"/>
                    </a:solidFill>
                    <a:latin typeface="Cambria Math" panose="02040503050406030204" pitchFamily="18" charset="0"/>
                  </a:rPr>
                  <a:t>$\to\infty$</a:t>
                </a:r>
                <a:r>
                  <a:rPr sz="2400" b="0">
                    <a:solidFill>
                      <a:srgbClr val="111827"/>
                    </a:solidFill>
                    <a:latin typeface="Arial"/>
                  </a:rPr>
                  <a:t>; it is the tangent at the vertex </a:t>
                </a:r>
                <a:r>
                  <a:rPr lang="en-IN" sz="2400">
                    <a:solidFill>
                      <a:srgbClr val="111827"/>
                    </a:solidFill>
                    <a:latin typeface="Cambria Math" panose="02040503050406030204" pitchFamily="18" charset="0"/>
                  </a:rPr>
                  <a:t>$(3,0)$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Contact point on </a:t>
                </a:r>
                <a14:m>
                  <m:oMath xmlns:m="http://schemas.openxmlformats.org/officeDocument/2006/math">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it touches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𝑐</m:t>
                            </m:r>
                          </m:den>
                        </m:f>
                      </m:e>
                    </m:d>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Triangle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base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height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Contact point on </a:t>
                </a:r>
                <a:r>
                  <a:rPr lang="en-IN" sz="2400">
                    <a:solidFill>
                      <a:srgbClr val="111827"/>
                    </a:solidFill>
                    <a:latin typeface="Cambria Math" panose="02040503050406030204" pitchFamily="18" charset="0"/>
                  </a:rPr>
                  <a:t>$5x-12y+9=0$</a:t>
                </a:r>
                <a:r>
                  <a:rPr sz="2400" b="0">
                    <a:solidFill>
                      <a:srgbClr val="111827"/>
                    </a:solidFill>
                    <a:latin typeface="Arial"/>
                  </a:rPr>
                  <a:t>: it touches at </a:t>
                </a:r>
                <a:r>
                  <a:rPr lang="en-IN" sz="2400">
                    <a:solidFill>
                      <a:srgbClr val="111827"/>
                    </a:solidFill>
                    <a:latin typeface="Cambria Math" panose="02040503050406030204" pitchFamily="18" charset="0"/>
                  </a:rPr>
                  <a:t>$R=\left(-\frac{a^2m}{c},-\frac{b^2}{c}\right)$</a:t>
                </a:r>
                <a:r>
                  <a:rPr sz="2400" b="0">
                    <a:solidFill>
                      <a:srgbClr val="111827"/>
                    </a:solidFill>
                    <a:latin typeface="Arial"/>
                  </a:rPr>
                  <a:t> with </a:t>
                </a:r>
                <a:r>
                  <a:rPr lang="en-IN" sz="2400">
                    <a:solidFill>
                      <a:srgbClr val="111827"/>
                    </a:solidFill>
                    <a:latin typeface="Cambria Math" panose="02040503050406030204" pitchFamily="18" charset="0"/>
                  </a:rPr>
                  <a:t>$c=2-\frac54=\frac34$</a:t>
                </a:r>
                <a:r>
                  <a:rPr sz="2400" b="0">
                    <a:solidFill>
                      <a:srgbClr val="111827"/>
                    </a:solidFill>
                    <a:latin typeface="Arial"/>
                  </a:rPr>
                  <a:t>: </a:t>
                </a:r>
                <a:r>
                  <a:rPr lang="en-IN" sz="2400">
                    <a:solidFill>
                      <a:srgbClr val="111827"/>
                    </a:solidFill>
                    <a:latin typeface="Cambria Math" panose="02040503050406030204" pitchFamily="18" charset="0"/>
                  </a:rPr>
                  <a:t>$R=\left(-\frac{9\cdot5/12}{3/4},-\frac{1}{3/4}\right)=\left(-5,-\frac43\right)$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Triangle </a:t>
                </a:r>
                <a:r>
                  <a:rPr lang="en-IN" sz="2400">
                    <a:solidFill>
                      <a:srgbClr val="111827"/>
                    </a:solidFill>
                    <a:latin typeface="Cambria Math" panose="02040503050406030204" pitchFamily="18" charset="0"/>
                  </a:rPr>
                  <a:t>$P(3,2),Q(3,0),R\left(-5,-\frac43\right)$</a:t>
                </a:r>
                <a:r>
                  <a:rPr sz="2400" b="0">
                    <a:solidFill>
                      <a:srgbClr val="111827"/>
                    </a:solidFill>
                    <a:latin typeface="Arial"/>
                  </a:rPr>
                  <a:t>: base </a:t>
                </a:r>
                <a:r>
                  <a:rPr lang="en-IN" sz="2400">
                    <a:solidFill>
                      <a:srgbClr val="111827"/>
                    </a:solidFill>
                    <a:latin typeface="Cambria Math" panose="02040503050406030204" pitchFamily="18" charset="0"/>
                  </a:rPr>
                  <a:t>$PQ=2$</a:t>
                </a:r>
                <a:r>
                  <a:rPr sz="2400" b="0">
                    <a:solidFill>
                      <a:srgbClr val="111827"/>
                    </a:solidFill>
                    <a:latin typeface="Arial"/>
                  </a:rPr>
                  <a:t> (on </a:t>
                </a:r>
                <a:r>
                  <a:rPr lang="en-IN" sz="2400">
                    <a:solidFill>
                      <a:srgbClr val="111827"/>
                    </a:solidFill>
                    <a:latin typeface="Cambria Math" panose="02040503050406030204" pitchFamily="18" charset="0"/>
                  </a:rPr>
                  <a:t>$x=3$</a:t>
                </a:r>
                <a:r>
                  <a:rPr sz="2400" b="0">
                    <a:solidFill>
                      <a:srgbClr val="111827"/>
                    </a:solidFill>
                    <a:latin typeface="Arial"/>
                  </a:rPr>
                  <a:t>), height </a:t>
                </a:r>
                <a:r>
                  <a:rPr lang="en-IN" sz="2400">
                    <a:solidFill>
                      <a:srgbClr val="111827"/>
                    </a:solidFill>
                    <a:latin typeface="Cambria Math" panose="02040503050406030204" pitchFamily="18" charset="0"/>
                  </a:rPr>
                  <a:t>$=3-(-5)=8$</a:t>
                </a:r>
                <a:r>
                  <a:rPr sz="2400" b="0">
                    <a:solidFill>
                      <a:srgbClr val="111827"/>
                    </a:solidFill>
                    <a:latin typeface="Arial"/>
                  </a:rPr>
                  <a:t>, area </a:t>
                </a:r>
                <a:r>
                  <a:rPr lang="en-IN" sz="2400">
                    <a:solidFill>
                      <a:srgbClr val="111827"/>
                    </a:solidFill>
                    <a:latin typeface="Cambria Math" panose="02040503050406030204" pitchFamily="18" charset="0"/>
                  </a:rPr>
                  <a:t>$=8$</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Tangents </a:t>
                </a:r>
                <a14:m>
                  <m:oMath xmlns:m="http://schemas.openxmlformats.org/officeDocument/2006/math">
                    <m:r>
                      <a:rPr lang="en-IN" sz="2800" i="1">
                        <a:solidFill>
                          <a:srgbClr val="15803D"/>
                        </a:solidFill>
                        <a:latin typeface="Cambria Math" panose="02040503050406030204" pitchFamily="18" charset="0"/>
                      </a:rPr>
                      <m:t>5</m:t>
                    </m:r>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12</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9</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r>
                  <a:rPr sz="2800" b="1">
                    <a:solidFill>
                      <a:srgbClr val="15803D"/>
                    </a:solidFill>
                    <a:latin typeface="Arial"/>
                  </a:rPr>
                  <a:t> and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r>
                  <a:rPr sz="2800" b="1">
                    <a:solidFill>
                      <a:srgbClr val="15803D"/>
                    </a:solidFill>
                    <a:latin typeface="Arial"/>
                  </a:rPr>
                  <a:t>; area </a:t>
                </a:r>
                <a14:m>
                  <m:oMath xmlns:m="http://schemas.openxmlformats.org/officeDocument/2006/math">
                    <m:r>
                      <a:rPr lang="en-IN" sz="2800" i="1">
                        <a:solidFill>
                          <a:srgbClr val="15803D"/>
                        </a:solidFill>
                        <a:latin typeface="Cambria Math" panose="02040503050406030204" pitchFamily="18" charset="0"/>
                      </a:rPr>
                      <m:t>8</m:t>
                    </m:r>
                  </m:oMath>
                </a14:m>
                <a:r>
                  <a:rPr sz="2800" b="1">
                    <a:solidFill>
                      <a:srgbClr val="15803D"/>
                    </a:solidFill>
                    <a:latin typeface="Arial"/>
                  </a:rPr>
                  <a:t> sq. units</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Tangents </a:t>
                </a:r>
                <a:r>
                  <a:rPr lang="en-IN" sz="2800">
                    <a:solidFill>
                      <a:srgbClr val="15803D"/>
                    </a:solidFill>
                    <a:latin typeface="Cambria Math" panose="02040503050406030204" pitchFamily="18" charset="0"/>
                  </a:rPr>
                  <a:t>$5x-12y+9=0$</a:t>
                </a:r>
                <a:r>
                  <a:rPr sz="2800" b="1">
                    <a:solidFill>
                      <a:srgbClr val="15803D"/>
                    </a:solidFill>
                    <a:latin typeface="Arial"/>
                  </a:rPr>
                  <a:t> and </a:t>
                </a:r>
                <a:r>
                  <a:rPr lang="en-IN" sz="2800">
                    <a:solidFill>
                      <a:srgbClr val="15803D"/>
                    </a:solidFill>
                    <a:latin typeface="Cambria Math" panose="02040503050406030204" pitchFamily="18" charset="0"/>
                  </a:rPr>
                  <a:t>$x-3=0$</a:t>
                </a:r>
                <a:r>
                  <a:rPr sz="2800" b="1">
                    <a:solidFill>
                      <a:srgbClr val="15803D"/>
                    </a:solidFill>
                    <a:latin typeface="Arial"/>
                  </a:rPr>
                  <a:t>; area </a:t>
                </a:r>
                <a:r>
                  <a:rPr lang="en-IN" sz="2800">
                    <a:solidFill>
                      <a:srgbClr val="15803D"/>
                    </a:solidFill>
                    <a:latin typeface="Cambria Math" panose="02040503050406030204" pitchFamily="18" charset="0"/>
                  </a:rPr>
                  <a:t>$8$</a:t>
                </a:r>
                <a:r>
                  <a:rPr sz="2800" b="1">
                    <a:solidFill>
                      <a:srgbClr val="15803D"/>
                    </a:solidFill>
                    <a:latin typeface="Arial"/>
                  </a:rPr>
                  <a:t> sq. units</a:t>
                </a:r>
                <a:endParaRPr sz="2800">
                  <a:solidFill>
                    <a:srgbClr val="15803D"/>
                  </a:solidFill>
                </a:endParaRPr>
              </a:p>
            </p:txBody>
          </p:sp>
        </mc:Fallback>
      </mc:AlternateContent>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Chord of contact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w.r.t.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touches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iff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the point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𝑐</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vertical (or horizontal) tangent is missed by the slope form: always test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oMath>
                </a14:m>
                <a:r>
                  <a:rPr sz="2400" b="0">
                    <a:solidFill>
                      <a:srgbClr val="111827"/>
                    </a:solidFill>
                    <a:latin typeface="Arial"/>
                  </a:rPr>
                  <a:t> separately.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Chord of contact of </a:t>
                </a:r>
                <a:r>
                  <a:rPr lang="en-IN" sz="2400">
                    <a:solidFill>
                      <a:srgbClr val="111827"/>
                    </a:solidFill>
                    <a:latin typeface="Cambria Math" panose="02040503050406030204" pitchFamily="18" charset="0"/>
                  </a:rPr>
                  <a:t>$(h,k)$</a:t>
                </a:r>
                <a:r>
                  <a:rPr sz="2400" b="0">
                    <a:solidFill>
                      <a:srgbClr val="111827"/>
                    </a:solidFill>
                    <a:latin typeface="Arial"/>
                  </a:rPr>
                  <a:t> w.r.t. </a:t>
                </a:r>
                <a:r>
                  <a:rPr lang="en-IN" sz="2400">
                    <a:solidFill>
                      <a:srgbClr val="111827"/>
                    </a:solidFill>
                    <a:latin typeface="Cambria Math" panose="02040503050406030204" pitchFamily="18" charset="0"/>
                  </a:rPr>
                  <a:t>$\frac{x^2}{a^2}-\frac{y^2}{b^2}=1$</a:t>
                </a:r>
                <a:r>
                  <a:rPr sz="2400" b="0">
                    <a:solidFill>
                      <a:srgbClr val="111827"/>
                    </a:solidFill>
                    <a:latin typeface="Arial"/>
                  </a:rPr>
                  <a:t>: </a:t>
                </a:r>
                <a:r>
                  <a:rPr lang="en-IN" sz="2400">
                    <a:solidFill>
                      <a:srgbClr val="111827"/>
                    </a:solidFill>
                    <a:latin typeface="Cambria Math" panose="02040503050406030204" pitchFamily="18" charset="0"/>
                  </a:rPr>
                  <a:t>$\frac{hx}{a^2}-\frac{ky}{b^2}=1$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a:t>
                </a:r>
                <a:r>
                  <a:rPr lang="en-IN" sz="2400">
                    <a:solidFill>
                      <a:srgbClr val="111827"/>
                    </a:solidFill>
                    <a:latin typeface="Cambria Math" panose="02040503050406030204" pitchFamily="18" charset="0"/>
                  </a:rPr>
                  <a:t>$y=mx+c$</a:t>
                </a:r>
                <a:r>
                  <a:rPr sz="2400" b="0">
                    <a:solidFill>
                      <a:srgbClr val="111827"/>
                    </a:solidFill>
                    <a:latin typeface="Arial"/>
                  </a:rPr>
                  <a:t> touches </a:t>
                </a:r>
                <a:r>
                  <a:rPr lang="en-IN" sz="2400">
                    <a:solidFill>
                      <a:srgbClr val="111827"/>
                    </a:solidFill>
                    <a:latin typeface="Cambria Math" panose="02040503050406030204" pitchFamily="18" charset="0"/>
                  </a:rPr>
                  <a:t>$\frac{x^2}{a^2}-\frac{y^2}{b^2}=1$</a:t>
                </a:r>
                <a:r>
                  <a:rPr sz="2400" b="0">
                    <a:solidFill>
                      <a:srgbClr val="111827"/>
                    </a:solidFill>
                    <a:latin typeface="Arial"/>
                  </a:rPr>
                  <a:t> iff </a:t>
                </a:r>
                <a:r>
                  <a:rPr lang="en-IN" sz="2400">
                    <a:solidFill>
                      <a:srgbClr val="111827"/>
                    </a:solidFill>
                    <a:latin typeface="Cambria Math" panose="02040503050406030204" pitchFamily="18" charset="0"/>
                  </a:rPr>
                  <a:t>$c^2=a^2m^2-b^2$</a:t>
                </a:r>
                <a:r>
                  <a:rPr sz="2400" b="0">
                    <a:solidFill>
                      <a:srgbClr val="111827"/>
                    </a:solidFill>
                    <a:latin typeface="Arial"/>
                  </a:rPr>
                  <a:t>, at the point </a:t>
                </a:r>
                <a:r>
                  <a:rPr lang="en-IN" sz="2400">
                    <a:solidFill>
                      <a:srgbClr val="111827"/>
                    </a:solidFill>
                    <a:latin typeface="Cambria Math" panose="02040503050406030204" pitchFamily="18" charset="0"/>
                  </a:rPr>
                  <a:t>$\left(-\frac{a^2m}{c},-\frac{b^2}{c}\right)$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vertical (or horizontal) tangent is missed by the slope form: always test </a:t>
                </a:r>
                <a:r>
                  <a:rPr lang="en-IN" sz="2400">
                    <a:solidFill>
                      <a:srgbClr val="111827"/>
                    </a:solidFill>
                    <a:latin typeface="Cambria Math" panose="02040503050406030204" pitchFamily="18" charset="0"/>
                  </a:rPr>
                  <a:t>$x=h$</a:t>
                </a:r>
                <a:r>
                  <a:rPr sz="2400" b="0">
                    <a:solidFill>
                      <a:srgbClr val="111827"/>
                    </a:solidFill>
                    <a:latin typeface="Arial"/>
                  </a:rPr>
                  <a:t> separately.</a:t>
                </a:r>
                <a:endParaRPr sz="2400">
                  <a:solidFill>
                    <a:srgbClr val="111827"/>
                  </a:solidFill>
                </a:endParaRPr>
              </a:p>
            </p:txBody>
          </p:sp>
        </mc:Fallback>
      </mc:AlternateContent>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3730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normal to the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drawn at an extremity of its latus rectum is parallel to an asymptote. Show that the eccentricity is equal to the square root of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33730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normal to the hyperbola </a:t>
                </a:r>
                <a:r>
                  <a:rPr lang="en-IN" sz="2400">
                    <a:solidFill>
                      <a:srgbClr val="111827"/>
                    </a:solidFill>
                    <a:latin typeface="Cambria Math" panose="02040503050406030204" pitchFamily="18" charset="0"/>
                  </a:rPr>
                  <a:t>$\frac{x^2}{a^2}-\frac{y^2}{b^2}=1$</a:t>
                </a:r>
                <a:r>
                  <a:rPr sz="2400" b="0">
                    <a:solidFill>
                      <a:srgbClr val="111827"/>
                    </a:solidFill>
                    <a:latin typeface="Arial"/>
                  </a:rPr>
                  <a:t> drawn at an extremity of its latus rectum is parallel to an asymptote. Show that the eccentricity is equal to the square root of </a:t>
                </a:r>
                <a:r>
                  <a:rPr lang="en-IN" sz="2400">
                    <a:solidFill>
                      <a:srgbClr val="111827"/>
                    </a:solidFill>
                    <a:latin typeface="Cambria Math" panose="02040503050406030204" pitchFamily="18" charset="0"/>
                  </a:rPr>
                  <a:t>$\frac{1+\sqrt5}{2}$</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846068"/>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 at the end of the latus rectum of a hyperbola, Asymptotes and eccentricity of a hyperbola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At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𝑒</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num>
                          <m:den>
                            <m:r>
                              <a:rPr lang="en-IN" sz="2400" i="1">
                                <a:solidFill>
                                  <a:srgbClr val="78350F"/>
                                </a:solidFill>
                                <a:latin typeface="Cambria Math" panose="02040503050406030204" pitchFamily="18" charset="0"/>
                              </a:rPr>
                              <m:t>𝑎</m:t>
                            </m:r>
                          </m:den>
                        </m:f>
                      </m:e>
                    </m:d>
                  </m:oMath>
                </a14:m>
                <a:r>
                  <a:rPr sz="2400" b="0">
                    <a:solidFill>
                      <a:srgbClr val="78350F"/>
                    </a:solidFill>
                    <a:latin typeface="Arial"/>
                  </a:rPr>
                  <a:t> the normal has slope </a:t>
                </a:r>
                <a14:m>
                  <m:oMath xmlns:m="http://schemas.openxmlformats.org/officeDocument/2006/math">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𝑒</m:t>
                        </m:r>
                      </m:den>
                    </m:f>
                  </m:oMath>
                </a14:m>
                <a:r>
                  <a:rPr sz="2400" b="0">
                    <a:solidFill>
                      <a:srgbClr val="78350F"/>
                    </a:solidFill>
                    <a:latin typeface="Arial"/>
                  </a:rPr>
                  <a:t>; setting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𝑒</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𝑏</m:t>
                        </m:r>
                      </m:num>
                      <m:den>
                        <m:r>
                          <a:rPr lang="en-IN" sz="2400" i="1">
                            <a:solidFill>
                              <a:srgbClr val="78350F"/>
                            </a:solidFill>
                            <a:latin typeface="Cambria Math" panose="02040503050406030204" pitchFamily="18" charset="0"/>
                          </a:rPr>
                          <m:t>𝑎</m:t>
                        </m:r>
                      </m:den>
                    </m:f>
                  </m:oMath>
                </a14:m>
                <a:r>
                  <a:rPr sz="2400" b="0">
                    <a:solidFill>
                      <a:srgbClr val="78350F"/>
                    </a:solidFill>
                    <a:latin typeface="Arial"/>
                  </a:rPr>
                  <a:t> and </a:t>
                </a:r>
                <a14:m>
                  <m:oMath xmlns:m="http://schemas.openxmlformats.org/officeDocument/2006/math">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gives </a:t>
                </a:r>
                <a14:m>
                  <m:oMath xmlns:m="http://schemas.openxmlformats.org/officeDocument/2006/math">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4</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At </a:t>
                </a:r>
                <a:r>
                  <a:rPr lang="en-IN" sz="2400">
                    <a:solidFill>
                      <a:srgbClr val="78350F"/>
                    </a:solidFill>
                    <a:latin typeface="Cambria Math" panose="02040503050406030204" pitchFamily="18" charset="0"/>
                  </a:rPr>
                  <a:t>$\left(ae,\frac{b^2}{a}\right)$</a:t>
                </a:r>
                <a:r>
                  <a:rPr sz="2400" b="0">
                    <a:solidFill>
                      <a:srgbClr val="78350F"/>
                    </a:solidFill>
                    <a:latin typeface="Arial"/>
                  </a:rPr>
                  <a:t> the normal has slope </a:t>
                </a:r>
                <a:r>
                  <a:rPr lang="en-IN" sz="2400">
                    <a:solidFill>
                      <a:srgbClr val="78350F"/>
                    </a:solidFill>
                    <a:latin typeface="Cambria Math" panose="02040503050406030204" pitchFamily="18" charset="0"/>
                  </a:rPr>
                  <a:t>$-\frac1e$</a:t>
                </a:r>
                <a:r>
                  <a:rPr sz="2400" b="0">
                    <a:solidFill>
                      <a:srgbClr val="78350F"/>
                    </a:solidFill>
                    <a:latin typeface="Arial"/>
                  </a:rPr>
                  <a:t>; setting </a:t>
                </a:r>
                <a:r>
                  <a:rPr lang="en-IN" sz="2400">
                    <a:solidFill>
                      <a:srgbClr val="78350F"/>
                    </a:solidFill>
                    <a:latin typeface="Cambria Math" panose="02040503050406030204" pitchFamily="18" charset="0"/>
                  </a:rPr>
                  <a:t>$\frac1e=\frac ba$</a:t>
                </a:r>
                <a:r>
                  <a:rPr sz="2400" b="0">
                    <a:solidFill>
                      <a:srgbClr val="78350F"/>
                    </a:solidFill>
                    <a:latin typeface="Arial"/>
                  </a:rPr>
                  <a:t> and </a:t>
                </a:r>
                <a:r>
                  <a:rPr lang="en-IN" sz="2400">
                    <a:solidFill>
                      <a:srgbClr val="78350F"/>
                    </a:solidFill>
                    <a:latin typeface="Cambria Math" panose="02040503050406030204" pitchFamily="18" charset="0"/>
                  </a:rPr>
                  <a:t>$b^2=a^2(e^2-1)$</a:t>
                </a:r>
                <a:r>
                  <a:rPr sz="2400" b="0">
                    <a:solidFill>
                      <a:srgbClr val="78350F"/>
                    </a:solidFill>
                    <a:latin typeface="Arial"/>
                  </a:rPr>
                  <a:t> gives </a:t>
                </a:r>
                <a:r>
                  <a:rPr lang="en-IN" sz="2400">
                    <a:solidFill>
                      <a:srgbClr val="78350F"/>
                    </a:solidFill>
                    <a:latin typeface="Cambria Math" panose="02040503050406030204" pitchFamily="18" charset="0"/>
                  </a:rPr>
                  <a:t>$e^4-e^2-1=0$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hyperbola equation and several lines of the PDF's working are not legible; the surviving lines are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'Let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extremity of the latus rectum is </a:t>
                </a:r>
                <a14:m>
                  <m:oMath xmlns:m="http://schemas.openxmlformats.org/officeDocument/2006/math">
                    <m:r>
                      <a:rPr lang="en-IN" sz="2400" i="1">
                        <a:solidFill>
                          <a:srgbClr val="111827"/>
                        </a:solidFill>
                        <a:latin typeface="Cambria Math" panose="02040503050406030204" pitchFamily="18" charset="0"/>
                      </a:rPr>
                      <m:t>𝑃</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num>
                      <m:den>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𝑦</m:t>
                        </m:r>
                      </m:num>
                      <m:den>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its slope is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slope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 ....(1).</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hyperbola equation and several lines of the PDF's working are not legible; the surviving lines are </a:t>
                </a:r>
                <a:r>
                  <a:rPr lang="en-IN" sz="2400">
                    <a:solidFill>
                      <a:srgbClr val="111827"/>
                    </a:solidFill>
                    <a:latin typeface="Cambria Math" panose="02040503050406030204" pitchFamily="18" charset="0"/>
                  </a:rPr>
                  <a:t>$b^2=a^2(e^2-1)$</a:t>
                </a:r>
                <a:r>
                  <a:rPr sz="2400" b="0">
                    <a:solidFill>
                      <a:srgbClr val="111827"/>
                    </a:solidFill>
                    <a:latin typeface="Arial"/>
                  </a:rPr>
                  <a:t>, 'Let </a:t>
                </a:r>
                <a:r>
                  <a:rPr lang="en-IN" sz="2400">
                    <a:solidFill>
                      <a:srgbClr val="111827"/>
                    </a:solidFill>
                    <a:latin typeface="Cambria Math" panose="02040503050406030204" pitchFamily="18" charset="0"/>
                  </a:rPr>
                  <a:t>$e^2=t$</a:t>
                </a:r>
                <a:r>
                  <a:rPr sz="2400" b="0">
                    <a:solidFill>
                      <a:srgbClr val="111827"/>
                    </a:solidFill>
                    <a:latin typeface="Arial"/>
                  </a:rPr>
                  <a:t>' and </a:t>
                </a:r>
                <a:r>
                  <a:rPr lang="en-IN" sz="2400">
                    <a:solidFill>
                      <a:srgbClr val="111827"/>
                    </a:solidFill>
                    <a:latin typeface="Cambria Math" panose="02040503050406030204" pitchFamily="18" charset="0"/>
                  </a:rPr>
                  <a:t>$t^2-t-1=0$</a:t>
                </a:r>
                <a:r>
                  <a:rPr sz="2400" b="0">
                    <a:solidFill>
                      <a:srgbClr val="111827"/>
                    </a:solidFill>
                    <a:latin typeface="Arial"/>
                  </a:rPr>
                  <a:t>.) The extremity of the latus rectum is </a:t>
                </a:r>
                <a:r>
                  <a:rPr lang="en-IN" sz="2400">
                    <a:solidFill>
                      <a:srgbClr val="111827"/>
                    </a:solidFill>
                    <a:latin typeface="Cambria Math" panose="02040503050406030204" pitchFamily="18" charset="0"/>
                  </a:rPr>
                  <a:t>$P\left(ae,\frac{b^2}{a}\right)$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$(x_1,y_1)$</a:t>
                </a:r>
                <a:r>
                  <a:rPr sz="2400" b="0">
                    <a:solidFill>
                      <a:srgbClr val="111827"/>
                    </a:solidFill>
                    <a:latin typeface="Arial"/>
                  </a:rPr>
                  <a:t>: </a:t>
                </a:r>
                <a:r>
                  <a:rPr lang="en-IN" sz="2400">
                    <a:solidFill>
                      <a:srgbClr val="111827"/>
                    </a:solidFill>
                    <a:latin typeface="Cambria Math" panose="02040503050406030204" pitchFamily="18" charset="0"/>
                  </a:rPr>
                  <a:t>$\frac{a^2x}{x_1}+\frac{b^2y}{y_1}=a^2+b^2$</a:t>
                </a:r>
                <a:r>
                  <a:rPr sz="2400" b="0">
                    <a:solidFill>
                      <a:srgbClr val="111827"/>
                    </a:solidFill>
                    <a:latin typeface="Arial"/>
                  </a:rPr>
                  <a:t>, so its slope is </a:t>
                </a:r>
                <a:r>
                  <a:rPr lang="en-IN" sz="2400">
                    <a:solidFill>
                      <a:srgbClr val="111827"/>
                    </a:solidFill>
                    <a:latin typeface="Cambria Math" panose="02040503050406030204" pitchFamily="18" charset="0"/>
                  </a:rPr>
                  <a:t>$-\frac{a^2y_1}{b^2x_1}$</a:t>
                </a:r>
                <a:r>
                  <a:rPr sz="2400" b="0">
                    <a:solidFill>
                      <a:srgbClr val="111827"/>
                    </a:solidFill>
                    <a:latin typeface="Arial"/>
                  </a:rPr>
                  <a:t>. At </a:t>
                </a:r>
                <a:r>
                  <a:rPr lang="en-IN" sz="2400">
                    <a:solidFill>
                      <a:srgbClr val="111827"/>
                    </a:solidFill>
                    <a:latin typeface="Cambria Math" panose="02040503050406030204" pitchFamily="18" charset="0"/>
                  </a:rPr>
                  <a:t>$P$</a:t>
                </a:r>
                <a:r>
                  <a:rPr sz="2400" b="0">
                    <a:solidFill>
                      <a:srgbClr val="111827"/>
                    </a:solidFill>
                    <a:latin typeface="Arial"/>
                  </a:rPr>
                  <a:t>: slope </a:t>
                </a:r>
                <a:r>
                  <a:rPr lang="en-IN" sz="2400">
                    <a:solidFill>
                      <a:srgbClr val="111827"/>
                    </a:solidFill>
                    <a:latin typeface="Cambria Math" panose="02040503050406030204" pitchFamily="18" charset="0"/>
                  </a:rPr>
                  <a:t>$=-\frac{a^2\cdot b^2/a}{b^2\cdot ae}=-\frac1e$</a:t>
                </a:r>
                <a:r>
                  <a:rPr sz="2400" b="0">
                    <a:solidFill>
                      <a:srgbClr val="111827"/>
                    </a:solidFill>
                    <a:latin typeface="Arial"/>
                  </a:rPr>
                  <a:t> ....(1).</a:t>
                </a:r>
                <a:endParaRPr sz="2400">
                  <a:solidFill>
                    <a:srgbClr val="111827"/>
                  </a:solidFill>
                </a:endParaRPr>
              </a:p>
            </p:txBody>
          </p:sp>
        </mc:Fallback>
      </mc:AlternateContent>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 is parallel to an asymptote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in magnitude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We know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....(3).</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(2),(3):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As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Hence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num>
                          <m:den>
                            <m:r>
                              <a:rPr lang="en-IN" sz="2400" i="1">
                                <a:solidFill>
                                  <a:srgbClr val="111827"/>
                                </a:solidFill>
                                <a:latin typeface="Cambria Math" panose="02040503050406030204" pitchFamily="18" charset="0"/>
                              </a:rPr>
                              <m:t>2</m:t>
                            </m:r>
                          </m:den>
                        </m:f>
                      </m:e>
                    </m:rad>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 is parallel to an asymptote </a:t>
                </a:r>
                <a:r>
                  <a:rPr lang="en-IN" sz="2400">
                    <a:solidFill>
                      <a:srgbClr val="111827"/>
                    </a:solidFill>
                    <a:latin typeface="Cambria Math" panose="02040503050406030204" pitchFamily="18" charset="0"/>
                  </a:rPr>
                  <a:t>$y=\pm\frac bax$</a:t>
                </a:r>
                <a:r>
                  <a:rPr sz="2400" b="0">
                    <a:solidFill>
                      <a:srgbClr val="111827"/>
                    </a:solidFill>
                    <a:latin typeface="Arial"/>
                  </a:rPr>
                  <a:t>: </a:t>
                </a:r>
                <a:r>
                  <a:rPr lang="en-IN" sz="2400">
                    <a:solidFill>
                      <a:srgbClr val="111827"/>
                    </a:solidFill>
                    <a:latin typeface="Cambria Math" panose="02040503050406030204" pitchFamily="18" charset="0"/>
                  </a:rPr>
                  <a:t>$\frac1e=\frac ba$</a:t>
                </a:r>
                <a:r>
                  <a:rPr sz="2400" b="0">
                    <a:solidFill>
                      <a:srgbClr val="111827"/>
                    </a:solidFill>
                    <a:latin typeface="Arial"/>
                  </a:rPr>
                  <a:t> in magnitude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We know </a:t>
                </a:r>
                <a:r>
                  <a:rPr lang="en-IN" sz="2400">
                    <a:solidFill>
                      <a:srgbClr val="111827"/>
                    </a:solidFill>
                    <a:latin typeface="Cambria Math" panose="02040503050406030204" pitchFamily="18" charset="0"/>
                  </a:rPr>
                  <a:t>$b^2=a^2(e^2-1)$</a:t>
                </a:r>
                <a:r>
                  <a:rPr sz="2400" b="0">
                    <a:solidFill>
                      <a:srgbClr val="111827"/>
                    </a:solidFill>
                    <a:latin typeface="Arial"/>
                  </a:rPr>
                  <a:t> ....(3).</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(2),(3): </a:t>
                </a:r>
                <a:r>
                  <a:rPr lang="en-IN" sz="2400">
                    <a:solidFill>
                      <a:srgbClr val="111827"/>
                    </a:solidFill>
                    <a:latin typeface="Cambria Math" panose="02040503050406030204" pitchFamily="18" charset="0"/>
                  </a:rPr>
                  <a:t>$\frac{b^2}{a^2}=\frac{1}{e^2}=e^2-1$</a:t>
                </a:r>
                <a:r>
                  <a:rPr sz="2400" b="0">
                    <a:solidFill>
                      <a:srgbClr val="111827"/>
                    </a:solidFill>
                    <a:latin typeface="Arial"/>
                  </a:rPr>
                  <a:t>, so </a:t>
                </a:r>
                <a:r>
                  <a:rPr lang="en-IN" sz="2400">
                    <a:solidFill>
                      <a:srgbClr val="111827"/>
                    </a:solidFill>
                    <a:latin typeface="Cambria Math" panose="02040503050406030204" pitchFamily="18" charset="0"/>
                  </a:rPr>
                  <a:t>$e^4-e^2-1=0$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$e^2=t$</a:t>
                </a:r>
                <a:r>
                  <a:rPr sz="2400" b="0">
                    <a:solidFill>
                      <a:srgbClr val="111827"/>
                    </a:solidFill>
                    <a:latin typeface="Arial"/>
                  </a:rPr>
                  <a:t>: </a:t>
                </a:r>
                <a:r>
                  <a:rPr lang="en-IN" sz="2400">
                    <a:solidFill>
                      <a:srgbClr val="111827"/>
                    </a:solidFill>
                    <a:latin typeface="Cambria Math" panose="02040503050406030204" pitchFamily="18" charset="0"/>
                  </a:rPr>
                  <a:t>$t^2-t-1=0$</a:t>
                </a:r>
                <a:r>
                  <a:rPr sz="2400" b="0">
                    <a:solidFill>
                      <a:srgbClr val="111827"/>
                    </a:solidFill>
                    <a:latin typeface="Arial"/>
                  </a:rPr>
                  <a:t>, so </a:t>
                </a:r>
                <a:r>
                  <a:rPr lang="en-IN" sz="2400">
                    <a:solidFill>
                      <a:srgbClr val="111827"/>
                    </a:solidFill>
                    <a:latin typeface="Cambria Math" panose="02040503050406030204" pitchFamily="18" charset="0"/>
                  </a:rPr>
                  <a:t>$t=\frac{1\pm\sqrt5}{2}$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As </a:t>
                </a:r>
                <a:r>
                  <a:rPr lang="en-IN" sz="2400">
                    <a:solidFill>
                      <a:srgbClr val="111827"/>
                    </a:solidFill>
                    <a:latin typeface="Cambria Math" panose="02040503050406030204" pitchFamily="18" charset="0"/>
                  </a:rPr>
                  <a:t>$t=e^2&gt;1&gt;0$</a:t>
                </a:r>
                <a:r>
                  <a:rPr sz="2400" b="0">
                    <a:solidFill>
                      <a:srgbClr val="111827"/>
                    </a:solidFill>
                    <a:latin typeface="Arial"/>
                  </a:rPr>
                  <a:t>, </a:t>
                </a:r>
                <a:r>
                  <a:rPr lang="en-IN" sz="2400">
                    <a:solidFill>
                      <a:srgbClr val="111827"/>
                    </a:solidFill>
                    <a:latin typeface="Cambria Math" panose="02040503050406030204" pitchFamily="18" charset="0"/>
                  </a:rPr>
                  <a:t>$t=\frac{1+\sqrt5}{2}$</a:t>
                </a:r>
                <a:r>
                  <a:rPr sz="2400" b="0">
                    <a:solidFill>
                      <a:srgbClr val="111827"/>
                    </a:solidFill>
                    <a:latin typeface="Arial"/>
                  </a:rPr>
                  <a:t>. Hence </a:t>
                </a:r>
                <a:r>
                  <a:rPr lang="en-IN" sz="2400">
                    <a:solidFill>
                      <a:srgbClr val="111827"/>
                    </a:solidFill>
                    <a:latin typeface="Cambria Math" panose="02040503050406030204" pitchFamily="18" charset="0"/>
                  </a:rPr>
                  <a:t>$e=\sqrt{\frac{1+\sqrt5}{2}}$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𝑒</m:t>
                    </m:r>
                    <m:r>
                      <m:rPr>
                        <m:sty m:val="p"/>
                      </m:rPr>
                      <a:rPr lang="en-IN" sz="2800">
                        <a:solidFill>
                          <a:srgbClr val="15803D"/>
                        </a:solidFill>
                        <a:latin typeface="Cambria Math" panose="02040503050406030204" pitchFamily="18" charset="0"/>
                      </a:rPr>
                      <m:t>=</m:t>
                    </m:r>
                    <m:rad>
                      <m:radPr>
                        <m:degHide m:val="on"/>
                        <m:ctrlPr>
                          <a:rPr lang="en-IN" sz="2800" i="1">
                            <a:solidFill>
                              <a:srgbClr val="15803D"/>
                            </a:solidFill>
                            <a:latin typeface="Cambria Math" panose="02040503050406030204" pitchFamily="18" charset="0"/>
                          </a:rPr>
                        </m:ctrlPr>
                      </m:radPr>
                      <m:deg/>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5</m:t>
                                </m:r>
                              </m:e>
                            </m:rad>
                          </m:num>
                          <m:den>
                            <m:r>
                              <a:rPr lang="en-IN" sz="2800" i="1">
                                <a:solidFill>
                                  <a:srgbClr val="15803D"/>
                                </a:solidFill>
                                <a:latin typeface="Cambria Math" panose="02040503050406030204" pitchFamily="18" charset="0"/>
                              </a:rPr>
                              <m:t>2</m:t>
                            </m:r>
                          </m:den>
                        </m:f>
                      </m:e>
                    </m:rad>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$e=\sqrt{\frac{1+\sqrt5}{2}}$</a:t>
                </a:r>
                <a:endParaRPr sz="2800">
                  <a:solidFill>
                    <a:srgbClr val="15803D"/>
                  </a:solidFill>
                </a:endParaRPr>
              </a:p>
            </p:txBody>
          </p:sp>
        </mc:Fallback>
      </mc:AlternateContent>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the asymptote angle as </a:t>
                </a:r>
                <a14:m>
                  <m:oMath xmlns:m="http://schemas.openxmlformats.org/officeDocument/2006/math">
                    <m:r>
                      <a:rPr lang="en-IN" sz="2400" i="1">
                        <a:solidFill>
                          <a:srgbClr val="78350F"/>
                        </a:solidFill>
                        <a:latin typeface="Cambria Math" panose="02040503050406030204" pitchFamily="18" charset="0"/>
                      </a:rPr>
                      <m:t>φ</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𝑒</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sec</m:t>
                    </m:r>
                    <m:r>
                      <a:rPr lang="en-IN" sz="2400" i="1">
                        <a:solidFill>
                          <a:srgbClr val="78350F"/>
                        </a:solidFill>
                        <a:latin typeface="Cambria Math" panose="02040503050406030204" pitchFamily="18" charset="0"/>
                      </a:rPr>
                      <m:t>φ</m:t>
                    </m:r>
                  </m:oMath>
                </a14:m>
                <a:r>
                  <a:rPr sz="2400" b="0">
                    <a:solidFill>
                      <a:srgbClr val="78350F"/>
                    </a:solidFill>
                    <a:latin typeface="Arial"/>
                  </a:rPr>
                  <a:t>; the normal slope </a:t>
                </a:r>
                <a14:m>
                  <m:oMath xmlns:m="http://schemas.openxmlformats.org/officeDocument/2006/math">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𝑒</m:t>
                        </m:r>
                      </m:den>
                    </m:f>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φ</m:t>
                    </m:r>
                  </m:oMath>
                </a14:m>
                <a:r>
                  <a:rPr sz="2400" b="0">
                    <a:solidFill>
                      <a:srgbClr val="78350F"/>
                    </a:solidFill>
                    <a:latin typeface="Arial"/>
                  </a:rPr>
                  <a:t> must equal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φ</m:t>
                    </m:r>
                  </m:oMath>
                </a14:m>
                <a:r>
                  <a:rPr sz="2400" b="0">
                    <a:solidFill>
                      <a:srgbClr val="78350F"/>
                    </a:solidFill>
                    <a:latin typeface="Arial"/>
                  </a:rPr>
                  <a:t> in magnitude.</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the asymptote angle as </a:t>
                </a:r>
                <a:r>
                  <a:rPr lang="en-IN" sz="2400">
                    <a:solidFill>
                      <a:srgbClr val="78350F"/>
                    </a:solidFill>
                    <a:latin typeface="Cambria Math" panose="02040503050406030204" pitchFamily="18" charset="0"/>
                  </a:rPr>
                  <a:t>$\varphi$</a:t>
                </a:r>
                <a:r>
                  <a:rPr sz="2400" b="0">
                    <a:solidFill>
                      <a:srgbClr val="78350F"/>
                    </a:solidFill>
                    <a:latin typeface="Arial"/>
                  </a:rPr>
                  <a:t> with </a:t>
                </a:r>
                <a:r>
                  <a:rPr lang="en-IN" sz="2400">
                    <a:solidFill>
                      <a:srgbClr val="78350F"/>
                    </a:solidFill>
                    <a:latin typeface="Cambria Math" panose="02040503050406030204" pitchFamily="18" charset="0"/>
                  </a:rPr>
                  <a:t>$e=\sec\varphi$</a:t>
                </a:r>
                <a:r>
                  <a:rPr sz="2400" b="0">
                    <a:solidFill>
                      <a:srgbClr val="78350F"/>
                    </a:solidFill>
                    <a:latin typeface="Arial"/>
                  </a:rPr>
                  <a:t>; the normal slope </a:t>
                </a:r>
                <a:r>
                  <a:rPr lang="en-IN" sz="2400">
                    <a:solidFill>
                      <a:srgbClr val="78350F"/>
                    </a:solidFill>
                    <a:latin typeface="Cambria Math" panose="02040503050406030204" pitchFamily="18" charset="0"/>
                  </a:rPr>
                  <a:t>$-\frac1e=-\cos\varphi$</a:t>
                </a:r>
                <a:r>
                  <a:rPr sz="2400" b="0">
                    <a:solidFill>
                      <a:srgbClr val="78350F"/>
                    </a:solidFill>
                    <a:latin typeface="Arial"/>
                  </a:rPr>
                  <a:t> must equal </a:t>
                </a:r>
                <a:r>
                  <a:rPr lang="en-IN" sz="2400">
                    <a:solidFill>
                      <a:srgbClr val="78350F"/>
                    </a:solidFill>
                    <a:latin typeface="Cambria Math" panose="02040503050406030204" pitchFamily="18" charset="0"/>
                  </a:rPr>
                  <a:t>$-\tan\varphi$</a:t>
                </a:r>
                <a:r>
                  <a:rPr sz="2400" b="0">
                    <a:solidFill>
                      <a:srgbClr val="78350F"/>
                    </a:solidFill>
                    <a:latin typeface="Arial"/>
                  </a:rPr>
                  <a:t> in magnitude.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asymptote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a:rPr lang="en-IN" sz="2400" i="1">
                        <a:solidFill>
                          <a:srgbClr val="111827"/>
                        </a:solidFill>
                        <a:latin typeface="Cambria Math" panose="02040503050406030204" pitchFamily="18" charset="0"/>
                      </a:rPr>
                      <m:t>𝑥</m:t>
                    </m:r>
                  </m:oMath>
                </a14:m>
                <a:r>
                  <a:rPr sz="2400" b="0">
                    <a:solidFill>
                      <a:srgbClr val="111827"/>
                    </a:solidFill>
                    <a:latin typeface="Arial"/>
                  </a:rPr>
                  <a:t> make an angle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with the transverse axis: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φ</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at the latus-rectum end </a:t>
                </a:r>
                <a14:m>
                  <m:oMath xmlns:m="http://schemas.openxmlformats.org/officeDocument/2006/math">
                    <m:r>
                      <a:rPr lang="en-IN" sz="2400" i="1">
                        <a:solidFill>
                          <a:srgbClr val="111827"/>
                        </a:solidFill>
                        <a:latin typeface="Cambria Math" panose="02040503050406030204" pitchFamily="18" charset="0"/>
                      </a:rPr>
                      <m:t>𝑃</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e>
                    </m:d>
                  </m:oMath>
                </a14:m>
                <a:r>
                  <a:rPr sz="2400" b="0">
                    <a:solidFill>
                      <a:srgbClr val="111827"/>
                    </a:solidFill>
                    <a:latin typeface="Arial"/>
                  </a:rPr>
                  <a:t> meets the axis at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its slope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oMath>
                </a14:m>
                <a:r>
                  <a:rPr sz="2400" b="0">
                    <a:solidFill>
                      <a:srgbClr val="111827"/>
                    </a:solidFill>
                    <a:latin typeface="Arial"/>
                  </a:rPr>
                  <a:t> (using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Parallel to the asymptote: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φ</m:t>
                    </m:r>
                  </m:oMath>
                </a14:m>
                <a:r>
                  <a:rPr sz="2400" b="0">
                    <a:solidFill>
                      <a:srgbClr val="111827"/>
                    </a:solidFill>
                    <a:latin typeface="Arial"/>
                  </a:rPr>
                  <a:t>, i.e.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oMath>
                </a14:m>
                <a:r>
                  <a:rPr sz="2400" b="0">
                    <a:solidFill>
                      <a:srgbClr val="111827"/>
                    </a:solidFill>
                    <a:latin typeface="Arial"/>
                  </a:rPr>
                  <a:t>, so </a:t>
                </a:r>
                <a14:m>
                  <m:oMath xmlns:m="http://schemas.openxmlformats.org/officeDocument/2006/math">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asymptote </a:t>
                </a:r>
                <a:r>
                  <a:rPr lang="en-IN" sz="2400">
                    <a:solidFill>
                      <a:srgbClr val="111827"/>
                    </a:solidFill>
                    <a:latin typeface="Cambria Math" panose="02040503050406030204" pitchFamily="18" charset="0"/>
                  </a:rPr>
                  <a:t>$y=\frac bax$</a:t>
                </a:r>
                <a:r>
                  <a:rPr sz="2400" b="0">
                    <a:solidFill>
                      <a:srgbClr val="111827"/>
                    </a:solidFill>
                    <a:latin typeface="Arial"/>
                  </a:rPr>
                  <a:t> make an angle </a:t>
                </a:r>
                <a:r>
                  <a:rPr lang="en-IN" sz="2400">
                    <a:solidFill>
                      <a:srgbClr val="111827"/>
                    </a:solidFill>
                    <a:latin typeface="Cambria Math" panose="02040503050406030204" pitchFamily="18" charset="0"/>
                  </a:rPr>
                  <a:t>$\varphi$</a:t>
                </a:r>
                <a:r>
                  <a:rPr sz="2400" b="0">
                    <a:solidFill>
                      <a:srgbClr val="111827"/>
                    </a:solidFill>
                    <a:latin typeface="Arial"/>
                  </a:rPr>
                  <a:t> with the transverse axis: </a:t>
                </a:r>
                <a:r>
                  <a:rPr lang="en-IN" sz="2400">
                    <a:solidFill>
                      <a:srgbClr val="111827"/>
                    </a:solidFill>
                    <a:latin typeface="Cambria Math" panose="02040503050406030204" pitchFamily="18" charset="0"/>
                  </a:rPr>
                  <a:t>$\tan\varphi=\frac ba$</a:t>
                </a:r>
                <a:r>
                  <a:rPr sz="2400" b="0">
                    <a:solidFill>
                      <a:srgbClr val="111827"/>
                    </a:solidFill>
                    <a:latin typeface="Arial"/>
                  </a:rPr>
                  <a:t>, so </a:t>
                </a:r>
                <a:r>
                  <a:rPr lang="en-IN" sz="2400">
                    <a:solidFill>
                      <a:srgbClr val="111827"/>
                    </a:solidFill>
                    <a:latin typeface="Cambria Math" panose="02040503050406030204" pitchFamily="18" charset="0"/>
                  </a:rPr>
                  <a:t>$e=\sqrt{1+\tan^2\varphi}=\sec\varphi$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at the latus-rectum end </a:t>
                </a:r>
                <a:r>
                  <a:rPr lang="en-IN" sz="2400">
                    <a:solidFill>
                      <a:srgbClr val="111827"/>
                    </a:solidFill>
                    <a:latin typeface="Cambria Math" panose="02040503050406030204" pitchFamily="18" charset="0"/>
                  </a:rPr>
                  <a:t>$P\left(ae,\frac{b^2}{a}\right)$</a:t>
                </a:r>
                <a:r>
                  <a:rPr sz="2400" b="0">
                    <a:solidFill>
                      <a:srgbClr val="111827"/>
                    </a:solidFill>
                    <a:latin typeface="Arial"/>
                  </a:rPr>
                  <a:t> meets the axis at </a:t>
                </a:r>
                <a:r>
                  <a:rPr lang="en-IN" sz="2400">
                    <a:solidFill>
                      <a:srgbClr val="111827"/>
                    </a:solidFill>
                    <a:latin typeface="Cambria Math" panose="02040503050406030204" pitchFamily="18" charset="0"/>
                  </a:rPr>
                  <a:t>$G=(ae^3,0)$</a:t>
                </a:r>
                <a:r>
                  <a:rPr sz="2400" b="0">
                    <a:solidFill>
                      <a:srgbClr val="111827"/>
                    </a:solidFill>
                    <a:latin typeface="Arial"/>
                  </a:rPr>
                  <a:t>, so its slope is </a:t>
                </a:r>
                <a:r>
                  <a:rPr lang="en-IN" sz="2400">
                    <a:solidFill>
                      <a:srgbClr val="111827"/>
                    </a:solidFill>
                    <a:latin typeface="Cambria Math" panose="02040503050406030204" pitchFamily="18" charset="0"/>
                  </a:rPr>
                  <a:t>$\frac{0-b^2/a}{ae^3-ae}=-\frac{b^2}{a^2e(e^2-1)}=-\frac1e=-\cos\varphi$</a:t>
                </a:r>
                <a:r>
                  <a:rPr sz="2400" b="0">
                    <a:solidFill>
                      <a:srgbClr val="111827"/>
                    </a:solidFill>
                    <a:latin typeface="Arial"/>
                  </a:rPr>
                  <a:t> (using </a:t>
                </a:r>
                <a:r>
                  <a:rPr lang="en-IN" sz="2400">
                    <a:solidFill>
                      <a:srgbClr val="111827"/>
                    </a:solidFill>
                    <a:latin typeface="Cambria Math" panose="02040503050406030204" pitchFamily="18" charset="0"/>
                  </a:rPr>
                  <a:t>$b^2=a^2(e^2-1)$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Parallel to the asymptote: </a:t>
                </a:r>
                <a:r>
                  <a:rPr lang="en-IN" sz="2400">
                    <a:solidFill>
                      <a:srgbClr val="111827"/>
                    </a:solidFill>
                    <a:latin typeface="Cambria Math" panose="02040503050406030204" pitchFamily="18" charset="0"/>
                  </a:rPr>
                  <a:t>$\cos\varphi=\tan\varphi$</a:t>
                </a:r>
                <a:r>
                  <a:rPr sz="2400" b="0">
                    <a:solidFill>
                      <a:srgbClr val="111827"/>
                    </a:solidFill>
                    <a:latin typeface="Arial"/>
                  </a:rPr>
                  <a:t>, i.e. </a:t>
                </a:r>
                <a:r>
                  <a:rPr lang="en-IN" sz="2400">
                    <a:solidFill>
                      <a:srgbClr val="111827"/>
                    </a:solidFill>
                    <a:latin typeface="Cambria Math" panose="02040503050406030204" pitchFamily="18" charset="0"/>
                  </a:rPr>
                  <a:t>$\cos^2\varphi=\sin\varphi$</a:t>
                </a:r>
                <a:r>
                  <a:rPr sz="2400" b="0">
                    <a:solidFill>
                      <a:srgbClr val="111827"/>
                    </a:solidFill>
                    <a:latin typeface="Arial"/>
                  </a:rPr>
                  <a:t>, so </a:t>
                </a:r>
                <a:r>
                  <a:rPr lang="en-IN" sz="2400">
                    <a:solidFill>
                      <a:srgbClr val="111827"/>
                    </a:solidFill>
                    <a:latin typeface="Cambria Math" panose="02040503050406030204" pitchFamily="18" charset="0"/>
                  </a:rPr>
                  <a:t>$\sin^2\varphi+\sin\varphi-1=0$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root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num>
                          <m:den>
                            <m:r>
                              <a:rPr lang="en-IN" sz="2400" i="1">
                                <a:solidFill>
                                  <a:srgbClr val="111827"/>
                                </a:solidFill>
                                <a:latin typeface="Cambria Math" panose="02040503050406030204" pitchFamily="18" charset="0"/>
                              </a:rPr>
                              <m:t>2</m:t>
                            </m:r>
                          </m:den>
                        </m:f>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$\sin\varphi=\frac{\sqrt5-1}{2}$</a:t>
                </a:r>
                <a:r>
                  <a:rPr sz="2400" b="0">
                    <a:solidFill>
                      <a:srgbClr val="111827"/>
                    </a:solidFill>
                    <a:latin typeface="Arial"/>
                  </a:rPr>
                  <a:t> (the root in </a:t>
                </a:r>
                <a:r>
                  <a:rPr lang="en-IN" sz="2400">
                    <a:solidFill>
                      <a:srgbClr val="111827"/>
                    </a:solidFill>
                    <a:latin typeface="Cambria Math" panose="02040503050406030204" pitchFamily="18" charset="0"/>
                  </a:rPr>
                  <a:t>$(0,1)$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$e^2=\sec^2\varphi=\frac{1}{\cos^2\varphi}=\frac1{\sin\varphi}=\frac{2}{\sqrt5-1}=\frac{\sqrt5+1}{2}$</a:t>
                </a:r>
                <a:r>
                  <a:rPr sz="2400" b="0">
                    <a:solidFill>
                      <a:srgbClr val="111827"/>
                    </a:solidFill>
                    <a:latin typeface="Arial"/>
                  </a:rPr>
                  <a:t>, so </a:t>
                </a:r>
                <a:r>
                  <a:rPr lang="en-IN" sz="2400">
                    <a:solidFill>
                      <a:srgbClr val="111827"/>
                    </a:solidFill>
                    <a:latin typeface="Cambria Math" panose="02040503050406030204" pitchFamily="18" charset="0"/>
                  </a:rPr>
                  <a:t>$e=\sqrt{\frac{1+\sqrt5}{2}}$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𝑒</m:t>
                    </m:r>
                    <m:r>
                      <m:rPr>
                        <m:sty m:val="p"/>
                      </m:rPr>
                      <a:rPr lang="en-IN" sz="2800">
                        <a:solidFill>
                          <a:srgbClr val="15803D"/>
                        </a:solidFill>
                        <a:latin typeface="Cambria Math" panose="02040503050406030204" pitchFamily="18" charset="0"/>
                      </a:rPr>
                      <m:t>=</m:t>
                    </m:r>
                    <m:rad>
                      <m:radPr>
                        <m:degHide m:val="on"/>
                        <m:ctrlPr>
                          <a:rPr lang="en-IN" sz="2800" i="1">
                            <a:solidFill>
                              <a:srgbClr val="15803D"/>
                            </a:solidFill>
                            <a:latin typeface="Cambria Math" panose="02040503050406030204" pitchFamily="18" charset="0"/>
                          </a:rPr>
                        </m:ctrlPr>
                      </m:radPr>
                      <m:deg/>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5</m:t>
                                </m:r>
                              </m:e>
                            </m:rad>
                          </m:num>
                          <m:den>
                            <m:r>
                              <a:rPr lang="en-IN" sz="2800" i="1">
                                <a:solidFill>
                                  <a:srgbClr val="15803D"/>
                                </a:solidFill>
                                <a:latin typeface="Cambria Math" panose="02040503050406030204" pitchFamily="18" charset="0"/>
                              </a:rPr>
                              <m:t>2</m:t>
                            </m:r>
                          </m:den>
                        </m:f>
                      </m:e>
                    </m:rad>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$e=\sqrt{\frac{1+\sqrt5}{2}}$</a:t>
                </a:r>
                <a:endParaRPr sz="2800">
                  <a:solidFill>
                    <a:srgbClr val="15803D"/>
                  </a:solidFill>
                </a:endParaRPr>
              </a:p>
            </p:txBody>
          </p:sp>
        </mc:Fallback>
      </mc:AlternateContent>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end of the latus rectum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e>
                    </m:d>
                  </m:oMath>
                </a14:m>
                <a:r>
                  <a:rPr sz="2400" b="0">
                    <a:solidFill>
                      <a:srgbClr val="111827"/>
                    </a:solidFill>
                    <a:latin typeface="Arial"/>
                  </a:rPr>
                  <a:t>; the normal there has slope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 and the tangent has slope </a:t>
                </a:r>
                <a14:m>
                  <m:oMath xmlns:m="http://schemas.openxmlformats.org/officeDocument/2006/math">
                    <m:r>
                      <a:rPr lang="en-IN" sz="2400" i="1">
                        <a:solidFill>
                          <a:srgbClr val="111827"/>
                        </a:solidFill>
                        <a:latin typeface="Cambria Math" panose="02040503050406030204" pitchFamily="18" charset="0"/>
                      </a:rPr>
                      <m:t>𝑒</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are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a:rPr lang="en-IN" sz="2400" i="1">
                        <a:solidFill>
                          <a:srgbClr val="111827"/>
                        </a:solidFill>
                        <a:latin typeface="Cambria Math" panose="02040503050406030204" pitchFamily="18" charset="0"/>
                      </a:rPr>
                      <m:t>𝑥</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their inclination,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φ</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φ</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golden ratio </a:t>
                </a:r>
                <a14:m>
                  <m:oMath xmlns:m="http://schemas.openxmlformats.org/officeDocument/2006/math">
                    <m:r>
                      <a:rPr lang="en-IN" sz="2400" i="1">
                        <a:solidFill>
                          <a:srgbClr val="111827"/>
                        </a:solidFill>
                        <a:latin typeface="Cambria Math" panose="02040503050406030204" pitchFamily="18" charset="0"/>
                      </a:rPr>
                      <m:t>ϕ</m:t>
                    </m:r>
                  </m:oMath>
                </a14:m>
                <a:r>
                  <a:rPr sz="2400" b="0">
                    <a:solidFill>
                      <a:srgbClr val="111827"/>
                    </a:solidFill>
                    <a:latin typeface="Arial"/>
                  </a:rPr>
                  <a:t>): the hyperbola with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ϕ</m:t>
                    </m:r>
                  </m:oMath>
                </a14:m>
                <a:r>
                  <a:rPr sz="2400" b="0">
                    <a:solidFill>
                      <a:srgbClr val="111827"/>
                    </a:solidFill>
                    <a:latin typeface="Arial"/>
                  </a:rPr>
                  <a:t> is the one whose latus-rectum normal is parallel to an asymptote.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Quick check: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1.618</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0.618</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$\frac{x^2}{a^2}-\frac{y^2}{b^2}=1$</a:t>
                </a:r>
                <a:r>
                  <a:rPr sz="2400" b="0">
                    <a:solidFill>
                      <a:srgbClr val="111827"/>
                    </a:solidFill>
                    <a:latin typeface="Arial"/>
                  </a:rPr>
                  <a:t> the end of the latus rectum is </a:t>
                </a:r>
                <a:r>
                  <a:rPr lang="en-IN" sz="2400">
                    <a:solidFill>
                      <a:srgbClr val="111827"/>
                    </a:solidFill>
                    <a:latin typeface="Cambria Math" panose="02040503050406030204" pitchFamily="18" charset="0"/>
                  </a:rPr>
                  <a:t>$\left(ae,\frac{b^2}{a}\right)$</a:t>
                </a:r>
                <a:r>
                  <a:rPr sz="2400" b="0">
                    <a:solidFill>
                      <a:srgbClr val="111827"/>
                    </a:solidFill>
                    <a:latin typeface="Arial"/>
                  </a:rPr>
                  <a:t>; the normal there has slope </a:t>
                </a:r>
                <a:r>
                  <a:rPr lang="en-IN" sz="2400">
                    <a:solidFill>
                      <a:srgbClr val="111827"/>
                    </a:solidFill>
                    <a:latin typeface="Cambria Math" panose="02040503050406030204" pitchFamily="18" charset="0"/>
                  </a:rPr>
                  <a:t>$-\frac1e$</a:t>
                </a:r>
                <a:r>
                  <a:rPr sz="2400" b="0">
                    <a:solidFill>
                      <a:srgbClr val="111827"/>
                    </a:solidFill>
                    <a:latin typeface="Arial"/>
                  </a:rPr>
                  <a:t> and the tangent has slope </a:t>
                </a:r>
                <a:r>
                  <a:rPr lang="en-IN" sz="2400">
                    <a:solidFill>
                      <a:srgbClr val="111827"/>
                    </a:solidFill>
                    <a:latin typeface="Cambria Math" panose="02040503050406030204" pitchFamily="18" charset="0"/>
                  </a:rPr>
                  <a:t>$e$</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are </a:t>
                </a:r>
                <a:r>
                  <a:rPr lang="en-IN" sz="2400">
                    <a:solidFill>
                      <a:srgbClr val="111827"/>
                    </a:solidFill>
                    <a:latin typeface="Cambria Math" panose="02040503050406030204" pitchFamily="18" charset="0"/>
                  </a:rPr>
                  <a:t>$y=\pm\frac bax$</a:t>
                </a:r>
                <a:r>
                  <a:rPr sz="2400" b="0">
                    <a:solidFill>
                      <a:srgbClr val="111827"/>
                    </a:solidFill>
                    <a:latin typeface="Arial"/>
                  </a:rPr>
                  <a:t>; with </a:t>
                </a:r>
                <a:r>
                  <a:rPr lang="en-IN" sz="2400">
                    <a:solidFill>
                      <a:srgbClr val="111827"/>
                    </a:solidFill>
                    <a:latin typeface="Cambria Math" panose="02040503050406030204" pitchFamily="18" charset="0"/>
                  </a:rPr>
                  <a:t>$\varphi$</a:t>
                </a:r>
                <a:r>
                  <a:rPr sz="2400" b="0">
                    <a:solidFill>
                      <a:srgbClr val="111827"/>
                    </a:solidFill>
                    <a:latin typeface="Arial"/>
                  </a:rPr>
                  <a:t> their inclination, </a:t>
                </a:r>
                <a:r>
                  <a:rPr lang="en-IN" sz="2400">
                    <a:solidFill>
                      <a:srgbClr val="111827"/>
                    </a:solidFill>
                    <a:latin typeface="Cambria Math" panose="02040503050406030204" pitchFamily="18" charset="0"/>
                  </a:rPr>
                  <a:t>$e=\sec\varphi$</a:t>
                </a:r>
                <a:r>
                  <a:rPr sz="2400" b="0">
                    <a:solidFill>
                      <a:srgbClr val="111827"/>
                    </a:solidFill>
                    <a:latin typeface="Arial"/>
                  </a:rPr>
                  <a:t> and </a:t>
                </a:r>
                <a:r>
                  <a:rPr lang="en-IN" sz="2400">
                    <a:solidFill>
                      <a:srgbClr val="111827"/>
                    </a:solidFill>
                    <a:latin typeface="Cambria Math" panose="02040503050406030204" pitchFamily="18" charset="0"/>
                  </a:rPr>
                  <a:t>$\frac ba=\tan\varphi$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$e^4-e^2-1=0$</a:t>
                </a:r>
                <a:r>
                  <a:rPr sz="2400" b="0">
                    <a:solidFill>
                      <a:srgbClr val="111827"/>
                    </a:solidFill>
                    <a:latin typeface="Arial"/>
                  </a:rPr>
                  <a:t> gives </a:t>
                </a:r>
                <a:r>
                  <a:rPr lang="en-IN" sz="2400">
                    <a:solidFill>
                      <a:srgbClr val="111827"/>
                    </a:solidFill>
                    <a:latin typeface="Cambria Math" panose="02040503050406030204" pitchFamily="18" charset="0"/>
                  </a:rPr>
                  <a:t>$e^2=\frac{1+\sqrt5}{2}$</a:t>
                </a:r>
                <a:r>
                  <a:rPr sz="2400" b="0">
                    <a:solidFill>
                      <a:srgbClr val="111827"/>
                    </a:solidFill>
                    <a:latin typeface="Arial"/>
                  </a:rPr>
                  <a:t> (the golden ratio </a:t>
                </a:r>
                <a:r>
                  <a:rPr lang="en-IN" sz="2400">
                    <a:solidFill>
                      <a:srgbClr val="111827"/>
                    </a:solidFill>
                    <a:latin typeface="Cambria Math" panose="02040503050406030204" pitchFamily="18" charset="0"/>
                  </a:rPr>
                  <a:t>$\phi$</a:t>
                </a:r>
                <a:r>
                  <a:rPr sz="2400" b="0">
                    <a:solidFill>
                      <a:srgbClr val="111827"/>
                    </a:solidFill>
                    <a:latin typeface="Arial"/>
                  </a:rPr>
                  <a:t>): the hyperbola with </a:t>
                </a:r>
                <a:r>
                  <a:rPr lang="en-IN" sz="2400">
                    <a:solidFill>
                      <a:srgbClr val="111827"/>
                    </a:solidFill>
                    <a:latin typeface="Cambria Math" panose="02040503050406030204" pitchFamily="18" charset="0"/>
                  </a:rPr>
                  <a:t>$e^2=\phi$</a:t>
                </a:r>
                <a:r>
                  <a:rPr sz="2400" b="0">
                    <a:solidFill>
                      <a:srgbClr val="111827"/>
                    </a:solidFill>
                    <a:latin typeface="Arial"/>
                  </a:rPr>
                  <a:t> is the one whose latus-rectum normal is parallel to an asymptote.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Quick check: </a:t>
                </a:r>
                <a:r>
                  <a:rPr lang="en-IN" sz="2400">
                    <a:solidFill>
                      <a:srgbClr val="111827"/>
                    </a:solidFill>
                    <a:latin typeface="Cambria Math" panose="02040503050406030204" pitchFamily="18" charset="0"/>
                  </a:rPr>
                  <a:t>$e^2=1.618$</a:t>
                </a:r>
                <a:r>
                  <a:rPr sz="2400" b="0">
                    <a:solidFill>
                      <a:srgbClr val="111827"/>
                    </a:solidFill>
                    <a:latin typeface="Arial"/>
                  </a:rPr>
                  <a:t>, </a:t>
                </a:r>
                <a:r>
                  <a:rPr lang="en-IN" sz="2400">
                    <a:solidFill>
                      <a:srgbClr val="111827"/>
                    </a:solidFill>
                    <a:latin typeface="Cambria Math" panose="02040503050406030204" pitchFamily="18" charset="0"/>
                  </a:rPr>
                  <a:t>$\frac{b^2}{a^2}=e^2-1=0.618=\frac1{e^2}$</a:t>
                </a:r>
                <a:r>
                  <a:rPr sz="2400" b="0">
                    <a:solidFill>
                      <a:srgbClr val="111827"/>
                    </a:solidFill>
                    <a:latin typeface="Arial"/>
                  </a:rPr>
                  <a:t> ✓.</a:t>
                </a:r>
                <a:endParaRPr sz="2400">
                  <a:solidFill>
                    <a:srgbClr val="111827"/>
                  </a:solidFill>
                </a:endParaRPr>
              </a:p>
            </p:txBody>
          </p:sp>
        </mc:Fallback>
      </mc:AlternateContent>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line through the origin meets the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the hyperbola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If the locus of the point of intersection of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to the circle and the tangent at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to the hyperbola is the curve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find the value of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line through the origin meets the circle </a:t>
                </a:r>
                <a:r>
                  <a:rPr lang="en-IN" sz="2400">
                    <a:solidFill>
                      <a:srgbClr val="111827"/>
                    </a:solidFill>
                    <a:latin typeface="Cambria Math" panose="02040503050406030204" pitchFamily="18" charset="0"/>
                  </a:rPr>
                  <a:t>$x^2+y^2=a^2$</a:t>
                </a:r>
                <a:r>
                  <a:rPr sz="2400" b="0">
                    <a:solidFill>
                      <a:srgbClr val="111827"/>
                    </a:solidFill>
                    <a:latin typeface="Arial"/>
                  </a:rPr>
                  <a:t> at </a:t>
                </a:r>
                <a:r>
                  <a:rPr lang="en-IN" sz="2400">
                    <a:solidFill>
                      <a:srgbClr val="111827"/>
                    </a:solidFill>
                    <a:latin typeface="Cambria Math" panose="02040503050406030204" pitchFamily="18" charset="0"/>
                  </a:rPr>
                  <a:t>$P$</a:t>
                </a:r>
                <a:r>
                  <a:rPr sz="2400" b="0">
                    <a:solidFill>
                      <a:srgbClr val="111827"/>
                    </a:solidFill>
                    <a:latin typeface="Arial"/>
                  </a:rPr>
                  <a:t> and the hyperbola </a:t>
                </a:r>
                <a:r>
                  <a:rPr lang="en-IN" sz="2400">
                    <a:solidFill>
                      <a:srgbClr val="111827"/>
                    </a:solidFill>
                    <a:latin typeface="Cambria Math" panose="02040503050406030204" pitchFamily="18" charset="0"/>
                  </a:rPr>
                  <a:t>$x^2-y^2=a^2$</a:t>
                </a:r>
                <a:r>
                  <a:rPr sz="2400" b="0">
                    <a:solidFill>
                      <a:srgbClr val="111827"/>
                    </a:solidFill>
                    <a:latin typeface="Arial"/>
                  </a:rPr>
                  <a:t> at </a:t>
                </a:r>
                <a:r>
                  <a:rPr lang="en-IN" sz="2400">
                    <a:solidFill>
                      <a:srgbClr val="111827"/>
                    </a:solidFill>
                    <a:latin typeface="Cambria Math" panose="02040503050406030204" pitchFamily="18" charset="0"/>
                  </a:rPr>
                  <a:t>$Q$</a:t>
                </a:r>
                <a:r>
                  <a:rPr sz="2400" b="0">
                    <a:solidFill>
                      <a:srgbClr val="111827"/>
                    </a:solidFill>
                    <a:latin typeface="Arial"/>
                  </a:rPr>
                  <a:t>. If the locus of the point of intersection of the tangent at </a:t>
                </a:r>
                <a:r>
                  <a:rPr lang="en-IN" sz="2400">
                    <a:solidFill>
                      <a:srgbClr val="111827"/>
                    </a:solidFill>
                    <a:latin typeface="Cambria Math" panose="02040503050406030204" pitchFamily="18" charset="0"/>
                  </a:rPr>
                  <a:t>$P$</a:t>
                </a:r>
                <a:r>
                  <a:rPr sz="2400" b="0">
                    <a:solidFill>
                      <a:srgbClr val="111827"/>
                    </a:solidFill>
                    <a:latin typeface="Arial"/>
                  </a:rPr>
                  <a:t> to the circle and the tangent at </a:t>
                </a:r>
                <a:r>
                  <a:rPr lang="en-IN" sz="2400">
                    <a:solidFill>
                      <a:srgbClr val="111827"/>
                    </a:solidFill>
                    <a:latin typeface="Cambria Math" panose="02040503050406030204" pitchFamily="18" charset="0"/>
                  </a:rPr>
                  <a:t>$Q$</a:t>
                </a:r>
                <a:r>
                  <a:rPr sz="2400" b="0">
                    <a:solidFill>
                      <a:srgbClr val="111827"/>
                    </a:solidFill>
                    <a:latin typeface="Arial"/>
                  </a:rPr>
                  <a:t> to the hyperbola is the curve </a:t>
                </a:r>
                <a:r>
                  <a:rPr lang="en-IN" sz="2400">
                    <a:solidFill>
                      <a:srgbClr val="111827"/>
                    </a:solidFill>
                    <a:latin typeface="Cambria Math" panose="02040503050406030204" pitchFamily="18" charset="0"/>
                  </a:rPr>
                  <a:t>$a^4(x^2-a^2)+\lambda x^2y^4=0$</a:t>
                </a:r>
                <a:r>
                  <a:rPr sz="2400" b="0">
                    <a:solidFill>
                      <a:srgbClr val="111827"/>
                    </a:solidFill>
                    <a:latin typeface="Arial"/>
                  </a:rPr>
                  <a:t>, then find the value of </a:t>
                </a:r>
                <a:r>
                  <a:rPr lang="en-IN" sz="2400">
                    <a:solidFill>
                      <a:srgbClr val="111827"/>
                    </a:solidFill>
                    <a:latin typeface="Cambria Math" panose="02040503050406030204" pitchFamily="18" charset="0"/>
                  </a:rPr>
                  <a:t>$\lambda$</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888739"/>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Tangents to a circle and a hyperbola at points on a line through the origin, Locus by elimination of the slope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a:rPr lang="en-IN" sz="2400" i="1">
                        <a:solidFill>
                          <a:srgbClr val="78350F"/>
                        </a:solidFill>
                        <a:latin typeface="Cambria Math" panose="02040503050406030204" pitchFamily="18" charset="0"/>
                      </a:rPr>
                      <m:t>𝑥</m:t>
                    </m:r>
                  </m:oMath>
                </a14:m>
                <a:r>
                  <a:rPr sz="2400" b="0">
                    <a:solidFill>
                      <a:srgbClr val="78350F"/>
                    </a:solidFill>
                    <a:latin typeface="Arial"/>
                  </a:rPr>
                  <a:t> the two tangents become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𝑚</m:t>
                            </m:r>
                          </m:e>
                          <m:sup>
                            <m:r>
                              <a:rPr lang="en-IN" sz="2400" i="1">
                                <a:solidFill>
                                  <a:srgbClr val="78350F"/>
                                </a:solidFill>
                                <a:latin typeface="Cambria Math" panose="02040503050406030204" pitchFamily="18" charset="0"/>
                              </a:rPr>
                              <m:t>2</m:t>
                            </m:r>
                          </m:sup>
                        </m:sSup>
                      </m:e>
                    </m:rad>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𝑚</m:t>
                            </m:r>
                          </m:e>
                          <m:sup>
                            <m:r>
                              <a:rPr lang="en-IN" sz="2400" i="1">
                                <a:solidFill>
                                  <a:srgbClr val="78350F"/>
                                </a:solidFill>
                                <a:latin typeface="Cambria Math" panose="02040503050406030204" pitchFamily="18" charset="0"/>
                              </a:rPr>
                              <m:t>2</m:t>
                            </m:r>
                          </m:sup>
                        </m:sSup>
                      </m:e>
                    </m:rad>
                  </m:oMath>
                </a14:m>
                <a:r>
                  <a:rPr sz="2400" b="0">
                    <a:solidFill>
                      <a:srgbClr val="78350F"/>
                    </a:solidFill>
                    <a:latin typeface="Arial"/>
                  </a:rPr>
                  <a:t>; squaring and combining eliminates </a:t>
                </a:r>
                <a14:m>
                  <m:oMath xmlns:m="http://schemas.openxmlformats.org/officeDocument/2006/math">
                    <m:r>
                      <a:rPr lang="en-IN" sz="2400" i="1">
                        <a:solidFill>
                          <a:srgbClr val="78350F"/>
                        </a:solidFill>
                        <a:latin typeface="Cambria Math" panose="02040503050406030204" pitchFamily="18" charset="0"/>
                      </a:rPr>
                      <m:t>𝑚</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a:t>
                </a:r>
                <a:r>
                  <a:rPr lang="en-IN" sz="2400">
                    <a:solidFill>
                      <a:srgbClr val="78350F"/>
                    </a:solidFill>
                    <a:latin typeface="Cambria Math" panose="02040503050406030204" pitchFamily="18" charset="0"/>
                  </a:rPr>
                  <a:t>$y=mx$</a:t>
                </a:r>
                <a:r>
                  <a:rPr sz="2400" b="0">
                    <a:solidFill>
                      <a:srgbClr val="78350F"/>
                    </a:solidFill>
                    <a:latin typeface="Arial"/>
                  </a:rPr>
                  <a:t> the two tangents become </a:t>
                </a:r>
                <a:r>
                  <a:rPr lang="en-IN" sz="2400">
                    <a:solidFill>
                      <a:srgbClr val="78350F"/>
                    </a:solidFill>
                    <a:latin typeface="Cambria Math" panose="02040503050406030204" pitchFamily="18" charset="0"/>
                  </a:rPr>
                  <a:t>$x+my=a\sqrt{1+m^2}$</a:t>
                </a:r>
                <a:r>
                  <a:rPr sz="2400" b="0">
                    <a:solidFill>
                      <a:srgbClr val="78350F"/>
                    </a:solidFill>
                    <a:latin typeface="Arial"/>
                  </a:rPr>
                  <a:t> and </a:t>
                </a:r>
                <a:r>
                  <a:rPr lang="en-IN" sz="2400">
                    <a:solidFill>
                      <a:srgbClr val="78350F"/>
                    </a:solidFill>
                    <a:latin typeface="Cambria Math" panose="02040503050406030204" pitchFamily="18" charset="0"/>
                  </a:rPr>
                  <a:t>$x-my=a\sqrt{1-m^2}$</a:t>
                </a:r>
                <a:r>
                  <a:rPr sz="2400" b="0">
                    <a:solidFill>
                      <a:srgbClr val="78350F"/>
                    </a:solidFill>
                    <a:latin typeface="Arial"/>
                  </a:rPr>
                  <a:t>; squaring and combining eliminates </a:t>
                </a:r>
                <a:r>
                  <a:rPr lang="en-IN" sz="2400">
                    <a:solidFill>
                      <a:srgbClr val="78350F"/>
                    </a:solidFill>
                    <a:latin typeface="Cambria Math" panose="02040503050406030204" pitchFamily="18" charset="0"/>
                  </a:rPr>
                  <a:t>$m$</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working is mostly grey boxes; it is written out here and ends at the legible line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6</m:t>
                        </m:r>
                      </m:sup>
                    </m:sSup>
                  </m:oMath>
                </a14:m>
                <a:r>
                  <a:rPr sz="2400" b="0">
                    <a:solidFill>
                      <a:srgbClr val="111827"/>
                    </a:solidFill>
                    <a:latin typeface="Arial"/>
                  </a:rPr>
                  <a:t>.) Let the line be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meets the circle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𝑚</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den>
                        </m:f>
                      </m:e>
                    </m:d>
                  </m:oMath>
                </a14:m>
                <a:r>
                  <a:rPr sz="2400" b="0">
                    <a:solidFill>
                      <a:srgbClr val="111827"/>
                    </a:solidFill>
                    <a:latin typeface="Arial"/>
                  </a:rPr>
                  <a:t> and the hyperbola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𝑚</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to the circle: </a:t>
                </a:r>
                <a14:m>
                  <m:oMath xmlns:m="http://schemas.openxmlformats.org/officeDocument/2006/math">
                    <m:r>
                      <a:rPr lang="en-IN" sz="2400" i="1">
                        <a:solidFill>
                          <a:srgbClr val="111827"/>
                        </a:solidFill>
                        <a:latin typeface="Cambria Math" panose="02040503050406030204" pitchFamily="18" charset="0"/>
                      </a:rPr>
                      <m:t>𝑥</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𝑃</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 ....(1).</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working is mostly grey boxes; it is written out here and ends at the legible line </a:t>
                </a:r>
                <a:r>
                  <a:rPr lang="en-IN" sz="2400">
                    <a:solidFill>
                      <a:srgbClr val="111827"/>
                    </a:solidFill>
                    <a:latin typeface="Cambria Math" panose="02040503050406030204" pitchFamily="18" charset="0"/>
                  </a:rPr>
                  <a:t>$(a^4+4y^4)x^2=a^6$</a:t>
                </a:r>
                <a:r>
                  <a:rPr sz="2400" b="0">
                    <a:solidFill>
                      <a:srgbClr val="111827"/>
                    </a:solidFill>
                    <a:latin typeface="Arial"/>
                  </a:rPr>
                  <a:t>.) Let the line be </a:t>
                </a:r>
                <a:r>
                  <a:rPr lang="en-IN" sz="2400">
                    <a:solidFill>
                      <a:srgbClr val="111827"/>
                    </a:solidFill>
                    <a:latin typeface="Cambria Math" panose="02040503050406030204" pitchFamily="18" charset="0"/>
                  </a:rPr>
                  <a:t>$y=mx$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meets the circle at </a:t>
                </a:r>
                <a:r>
                  <a:rPr lang="en-IN" sz="2400">
                    <a:solidFill>
                      <a:srgbClr val="111827"/>
                    </a:solidFill>
                    <a:latin typeface="Cambria Math" panose="02040503050406030204" pitchFamily="18" charset="0"/>
                  </a:rPr>
                  <a:t>$P=\left(\frac{a}{\sqrt{1+m^2}},\frac{am}{\sqrt{1+m^2}}\right)$</a:t>
                </a:r>
                <a:r>
                  <a:rPr sz="2400" b="0">
                    <a:solidFill>
                      <a:srgbClr val="111827"/>
                    </a:solidFill>
                    <a:latin typeface="Arial"/>
                  </a:rPr>
                  <a:t> and the hyperbola (</a:t>
                </a:r>
                <a:r>
                  <a:rPr lang="en-IN" sz="2400">
                    <a:solidFill>
                      <a:srgbClr val="111827"/>
                    </a:solidFill>
                    <a:latin typeface="Cambria Math" panose="02040503050406030204" pitchFamily="18" charset="0"/>
                  </a:rPr>
                  <a:t>$x^2(1-m^2)=a^2$</a:t>
                </a:r>
                <a:r>
                  <a:rPr sz="2400" b="0">
                    <a:solidFill>
                      <a:srgbClr val="111827"/>
                    </a:solidFill>
                    <a:latin typeface="Arial"/>
                  </a:rPr>
                  <a:t>) at </a:t>
                </a:r>
                <a:r>
                  <a:rPr lang="en-IN" sz="2400">
                    <a:solidFill>
                      <a:srgbClr val="111827"/>
                    </a:solidFill>
                    <a:latin typeface="Cambria Math" panose="02040503050406030204" pitchFamily="18" charset="0"/>
                  </a:rPr>
                  <a:t>$Q=\left(\frac{a}{\sqrt{1-m^2}},\frac{am}{\sqrt{1-m^2}}\right)$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a:t>
                </a:r>
                <a:r>
                  <a:rPr sz="2400" b="0">
                    <a:solidFill>
                      <a:srgbClr val="111827"/>
                    </a:solidFill>
                    <a:latin typeface="Arial"/>
                  </a:rPr>
                  <a:t> to the circle: </a:t>
                </a:r>
                <a:r>
                  <a:rPr lang="en-IN" sz="2400">
                    <a:solidFill>
                      <a:srgbClr val="111827"/>
                    </a:solidFill>
                    <a:latin typeface="Cambria Math" panose="02040503050406030204" pitchFamily="18" charset="0"/>
                  </a:rPr>
                  <a:t>$xx_P+yy_P=a^2$</a:t>
                </a:r>
                <a:r>
                  <a:rPr sz="2400" b="0">
                    <a:solidFill>
                      <a:srgbClr val="111827"/>
                    </a:solidFill>
                    <a:latin typeface="Arial"/>
                  </a:rPr>
                  <a:t>, i.e. </a:t>
                </a:r>
                <a:r>
                  <a:rPr lang="en-IN" sz="2400">
                    <a:solidFill>
                      <a:srgbClr val="111827"/>
                    </a:solidFill>
                    <a:latin typeface="Cambria Math" panose="02040503050406030204" pitchFamily="18" charset="0"/>
                  </a:rPr>
                  <a:t>$x+my=a\sqrt{1+m^2}$</a:t>
                </a:r>
                <a:r>
                  <a:rPr sz="2400" b="0">
                    <a:solidFill>
                      <a:srgbClr val="111827"/>
                    </a:solidFill>
                    <a:latin typeface="Arial"/>
                  </a:rPr>
                  <a:t> ....(1).</a:t>
                </a:r>
                <a:endParaRPr sz="2400">
                  <a:solidFill>
                    <a:srgbClr val="111827"/>
                  </a:solidFill>
                </a:endParaRPr>
              </a:p>
            </p:txBody>
          </p:sp>
        </mc:Fallback>
      </mc:AlternateContent>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to the hyperbola: </a:t>
                </a:r>
                <a14:m>
                  <m:oMath xmlns:m="http://schemas.openxmlformats.org/officeDocument/2006/math">
                    <m:r>
                      <a:rPr lang="en-IN" sz="2400" i="1">
                        <a:solidFill>
                          <a:srgbClr val="111827"/>
                        </a:solidFill>
                        <a:latin typeface="Cambria Math" panose="02040503050406030204" pitchFamily="18" charset="0"/>
                      </a:rPr>
                      <m:t>𝑥</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𝑄</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𝑄</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(1)</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(2)</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(1)</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(2)</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4</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4</m:t>
                            </m:r>
                          </m:sup>
                        </m:sSup>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6</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$Q$</a:t>
                </a:r>
                <a:r>
                  <a:rPr sz="2400" b="0">
                    <a:solidFill>
                      <a:srgbClr val="111827"/>
                    </a:solidFill>
                    <a:latin typeface="Arial"/>
                  </a:rPr>
                  <a:t> to the hyperbola: </a:t>
                </a:r>
                <a:r>
                  <a:rPr lang="en-IN" sz="2400">
                    <a:solidFill>
                      <a:srgbClr val="111827"/>
                    </a:solidFill>
                    <a:latin typeface="Cambria Math" panose="02040503050406030204" pitchFamily="18" charset="0"/>
                  </a:rPr>
                  <a:t>$xx_Q-yy_Q=a^2$</a:t>
                </a:r>
                <a:r>
                  <a:rPr sz="2400" b="0">
                    <a:solidFill>
                      <a:srgbClr val="111827"/>
                    </a:solidFill>
                    <a:latin typeface="Arial"/>
                  </a:rPr>
                  <a:t>, i.e. </a:t>
                </a:r>
                <a:r>
                  <a:rPr lang="en-IN" sz="2400">
                    <a:solidFill>
                      <a:srgbClr val="111827"/>
                    </a:solidFill>
                    <a:latin typeface="Cambria Math" panose="02040503050406030204" pitchFamily="18" charset="0"/>
                  </a:rPr>
                  <a:t>$x-my=a\sqrt{1-m^2}$</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(1)</a:t>
                </a:r>
                <a:r>
                  <a:rPr lang="en-IN" sz="2400">
                    <a:solidFill>
                      <a:srgbClr val="111827"/>
                    </a:solidFill>
                    <a:latin typeface="Cambria Math" panose="02040503050406030204" pitchFamily="18" charset="0"/>
                  </a:rPr>
                  <a:t>$^2-$</a:t>
                </a:r>
                <a:r>
                  <a:rPr sz="2400" b="0">
                    <a:solidFill>
                      <a:srgbClr val="111827"/>
                    </a:solidFill>
                    <a:latin typeface="Arial"/>
                  </a:rPr>
                  <a:t>(2)</a:t>
                </a:r>
                <a:r>
                  <a:rPr lang="en-IN" sz="2400">
                    <a:solidFill>
                      <a:srgbClr val="111827"/>
                    </a:solidFill>
                    <a:latin typeface="Cambria Math" panose="02040503050406030204" pitchFamily="18" charset="0"/>
                  </a:rPr>
                  <a:t>$^2$</a:t>
                </a:r>
                <a:r>
                  <a:rPr sz="2400" b="0">
                    <a:solidFill>
                      <a:srgbClr val="111827"/>
                    </a:solidFill>
                    <a:latin typeface="Arial"/>
                  </a:rPr>
                  <a:t>: </a:t>
                </a:r>
                <a:r>
                  <a:rPr lang="en-IN" sz="2400">
                    <a:solidFill>
                      <a:srgbClr val="111827"/>
                    </a:solidFill>
                    <a:latin typeface="Cambria Math" panose="02040503050406030204" pitchFamily="18" charset="0"/>
                  </a:rPr>
                  <a:t>$4mxy=a^2(1+m^2)-a^2(1-m^2)=2a^2m^2$</a:t>
                </a:r>
                <a:r>
                  <a:rPr sz="2400" b="0">
                    <a:solidFill>
                      <a:srgbClr val="111827"/>
                    </a:solidFill>
                    <a:latin typeface="Arial"/>
                  </a:rPr>
                  <a:t>, so </a:t>
                </a:r>
                <a:r>
                  <a:rPr lang="en-IN" sz="2400">
                    <a:solidFill>
                      <a:srgbClr val="111827"/>
                    </a:solidFill>
                    <a:latin typeface="Cambria Math" panose="02040503050406030204" pitchFamily="18" charset="0"/>
                  </a:rPr>
                  <a:t>$m=\frac{2xy}{a^2}$</a:t>
                </a:r>
                <a:r>
                  <a:rPr sz="2400" b="0">
                    <a:solidFill>
                      <a:srgbClr val="111827"/>
                    </a:solidFill>
                    <a:latin typeface="Arial"/>
                  </a:rPr>
                  <a:t> (</a:t>
                </a:r>
                <a:r>
                  <a:rPr lang="en-IN" sz="2400">
                    <a:solidFill>
                      <a:srgbClr val="111827"/>
                    </a:solidFill>
                    <a:latin typeface="Cambria Math" panose="02040503050406030204" pitchFamily="18" charset="0"/>
                  </a:rPr>
                  <a:t>$m\ne0$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(1)</a:t>
                </a:r>
                <a:r>
                  <a:rPr lang="en-IN" sz="2400">
                    <a:solidFill>
                      <a:srgbClr val="111827"/>
                    </a:solidFill>
                    <a:latin typeface="Cambria Math" panose="02040503050406030204" pitchFamily="18" charset="0"/>
                  </a:rPr>
                  <a:t>$^2+$</a:t>
                </a:r>
                <a:r>
                  <a:rPr sz="2400" b="0">
                    <a:solidFill>
                      <a:srgbClr val="111827"/>
                    </a:solidFill>
                    <a:latin typeface="Arial"/>
                  </a:rPr>
                  <a:t>(2)</a:t>
                </a:r>
                <a:r>
                  <a:rPr lang="en-IN" sz="2400">
                    <a:solidFill>
                      <a:srgbClr val="111827"/>
                    </a:solidFill>
                    <a:latin typeface="Cambria Math" panose="02040503050406030204" pitchFamily="18" charset="0"/>
                  </a:rPr>
                  <a:t>$^2$</a:t>
                </a:r>
                <a:r>
                  <a:rPr sz="2400" b="0">
                    <a:solidFill>
                      <a:srgbClr val="111827"/>
                    </a:solidFill>
                    <a:latin typeface="Arial"/>
                  </a:rPr>
                  <a:t>: </a:t>
                </a:r>
                <a:r>
                  <a:rPr lang="en-IN" sz="2400">
                    <a:solidFill>
                      <a:srgbClr val="111827"/>
                    </a:solidFill>
                    <a:latin typeface="Cambria Math" panose="02040503050406030204" pitchFamily="18" charset="0"/>
                  </a:rPr>
                  <a:t>$2x^2+2m^2y^2=2a^2$</a:t>
                </a:r>
                <a:r>
                  <a:rPr sz="2400" b="0">
                    <a:solidFill>
                      <a:srgbClr val="111827"/>
                    </a:solidFill>
                    <a:latin typeface="Arial"/>
                  </a:rPr>
                  <a:t>, i.e. </a:t>
                </a:r>
                <a:r>
                  <a:rPr lang="en-IN" sz="2400">
                    <a:solidFill>
                      <a:srgbClr val="111827"/>
                    </a:solidFill>
                    <a:latin typeface="Cambria Math" panose="02040503050406030204" pitchFamily="18" charset="0"/>
                  </a:rPr>
                  <a:t>$x^2+m^2y^2=a^2$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Substitute </a:t>
                </a:r>
                <a:r>
                  <a:rPr lang="en-IN" sz="2400">
                    <a:solidFill>
                      <a:srgbClr val="111827"/>
                    </a:solidFill>
                    <a:latin typeface="Cambria Math" panose="02040503050406030204" pitchFamily="18" charset="0"/>
                  </a:rPr>
                  <a:t>$m=\frac{2xy}{a^2}$</a:t>
                </a:r>
                <a:r>
                  <a:rPr sz="2400" b="0">
                    <a:solidFill>
                      <a:srgbClr val="111827"/>
                    </a:solidFill>
                    <a:latin typeface="Arial"/>
                  </a:rPr>
                  <a:t>: </a:t>
                </a:r>
                <a:r>
                  <a:rPr lang="en-IN" sz="2400">
                    <a:solidFill>
                      <a:srgbClr val="111827"/>
                    </a:solidFill>
                    <a:latin typeface="Cambria Math" panose="02040503050406030204" pitchFamily="18" charset="0"/>
                  </a:rPr>
                  <a:t>$x^2+\frac{4x^2y^4}{a^4}=a^2$</a:t>
                </a:r>
                <a:r>
                  <a:rPr sz="2400" b="0">
                    <a:solidFill>
                      <a:srgbClr val="111827"/>
                    </a:solidFill>
                    <a:latin typeface="Arial"/>
                  </a:rPr>
                  <a:t>, i.e. </a:t>
                </a:r>
                <a:r>
                  <a:rPr lang="en-IN" sz="2400">
                    <a:solidFill>
                      <a:srgbClr val="111827"/>
                    </a:solidFill>
                    <a:latin typeface="Cambria Math" panose="02040503050406030204" pitchFamily="18" charset="0"/>
                  </a:rPr>
                  <a:t>$(a^4+4y^4)x^2=a^6$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$a^4(x^2-a^2)+4x^2y^4=0$</a:t>
                </a:r>
                <a:r>
                  <a:rPr sz="2400" b="0">
                    <a:solidFill>
                      <a:srgbClr val="111827"/>
                    </a:solidFill>
                    <a:latin typeface="Arial"/>
                  </a:rPr>
                  <a:t> and </a:t>
                </a:r>
                <a:r>
                  <a:rPr lang="en-IN" sz="2400">
                    <a:solidFill>
                      <a:srgbClr val="111827"/>
                    </a:solidFill>
                    <a:latin typeface="Cambria Math" panose="02040503050406030204" pitchFamily="18" charset="0"/>
                  </a:rPr>
                  <a:t>$\lambda=4$</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4</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$4$</a:t>
                </a:r>
                <a:endParaRPr sz="2800">
                  <a:solidFill>
                    <a:srgbClr val="15803D"/>
                  </a:solidFill>
                </a:endParaRPr>
              </a:p>
            </p:txBody>
          </p:sp>
        </mc:Fallback>
      </mc:AlternateContent>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to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tangent to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through the origin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oMath>
                </a14:m>
                <a:r>
                  <a:rPr sz="2400" b="0">
                    <a:solidFill>
                      <a:srgbClr val="111827"/>
                    </a:solidFill>
                    <a:latin typeface="Arial"/>
                  </a:rPr>
                  <a:t> meets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only if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m:t>
                    </m:r>
                  </m:oMath>
                </a14:m>
                <a:r>
                  <a:rPr sz="2400" b="0">
                    <a:solidFill>
                      <a:srgbClr val="111827"/>
                    </a:solidFill>
                    <a:latin typeface="Arial"/>
                  </a:rPr>
                  <a:t>; the points are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the hyperbola/circle.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eliminate a parameter that appears only as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 square, then add and subtract the two squares.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tangents meet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0.992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0.252</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0.0158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0.0159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to </a:t>
                </a:r>
                <a:r>
                  <a:rPr lang="en-IN" sz="2400">
                    <a:solidFill>
                      <a:srgbClr val="111827"/>
                    </a:solidFill>
                    <a:latin typeface="Cambria Math" panose="02040503050406030204" pitchFamily="18" charset="0"/>
                  </a:rPr>
                  <a:t>$x^2+y^2=a^2$</a:t>
                </a:r>
                <a:r>
                  <a:rPr sz="2400" b="0">
                    <a:solidFill>
                      <a:srgbClr val="111827"/>
                    </a:solidFill>
                    <a:latin typeface="Arial"/>
                  </a:rPr>
                  <a:t> at </a:t>
                </a:r>
                <a:r>
                  <a:rPr lang="en-IN" sz="2400">
                    <a:solidFill>
                      <a:srgbClr val="111827"/>
                    </a:solidFill>
                    <a:latin typeface="Cambria Math" panose="02040503050406030204" pitchFamily="18" charset="0"/>
                  </a:rPr>
                  <a:t>$(x_1,y_1)$</a:t>
                </a:r>
                <a:r>
                  <a:rPr sz="2400" b="0">
                    <a:solidFill>
                      <a:srgbClr val="111827"/>
                    </a:solidFill>
                    <a:latin typeface="Arial"/>
                  </a:rPr>
                  <a:t>: </a:t>
                </a:r>
                <a:r>
                  <a:rPr lang="en-IN" sz="2400">
                    <a:solidFill>
                      <a:srgbClr val="111827"/>
                    </a:solidFill>
                    <a:latin typeface="Cambria Math" panose="02040503050406030204" pitchFamily="18" charset="0"/>
                  </a:rPr>
                  <a:t>$xx_1+yy_1=a^2$</a:t>
                </a:r>
                <a:r>
                  <a:rPr sz="2400" b="0">
                    <a:solidFill>
                      <a:srgbClr val="111827"/>
                    </a:solidFill>
                    <a:latin typeface="Arial"/>
                  </a:rPr>
                  <a:t>; tangent to </a:t>
                </a:r>
                <a:r>
                  <a:rPr lang="en-IN" sz="2400">
                    <a:solidFill>
                      <a:srgbClr val="111827"/>
                    </a:solidFill>
                    <a:latin typeface="Cambria Math" panose="02040503050406030204" pitchFamily="18" charset="0"/>
                  </a:rPr>
                  <a:t>$x^2-y^2=a^2$</a:t>
                </a:r>
                <a:r>
                  <a:rPr sz="2400" b="0">
                    <a:solidFill>
                      <a:srgbClr val="111827"/>
                    </a:solidFill>
                    <a:latin typeface="Arial"/>
                  </a:rPr>
                  <a:t> at </a:t>
                </a:r>
                <a:r>
                  <a:rPr lang="en-IN" sz="2400">
                    <a:solidFill>
                      <a:srgbClr val="111827"/>
                    </a:solidFill>
                    <a:latin typeface="Cambria Math" panose="02040503050406030204" pitchFamily="18" charset="0"/>
                  </a:rPr>
                  <a:t>$(x_2,y_2)$</a:t>
                </a:r>
                <a:r>
                  <a:rPr sz="2400" b="0">
                    <a:solidFill>
                      <a:srgbClr val="111827"/>
                    </a:solidFill>
                    <a:latin typeface="Arial"/>
                  </a:rPr>
                  <a:t>: </a:t>
                </a:r>
                <a:r>
                  <a:rPr lang="en-IN" sz="2400">
                    <a:solidFill>
                      <a:srgbClr val="111827"/>
                    </a:solidFill>
                    <a:latin typeface="Cambria Math" panose="02040503050406030204" pitchFamily="18" charset="0"/>
                  </a:rPr>
                  <a:t>$xx_2-yy_2=a^2$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through the origin </a:t>
                </a:r>
                <a:r>
                  <a:rPr lang="en-IN" sz="2400">
                    <a:solidFill>
                      <a:srgbClr val="111827"/>
                    </a:solidFill>
                    <a:latin typeface="Cambria Math" panose="02040503050406030204" pitchFamily="18" charset="0"/>
                  </a:rPr>
                  <a:t>$y=mx$</a:t>
                </a:r>
                <a:r>
                  <a:rPr sz="2400" b="0">
                    <a:solidFill>
                      <a:srgbClr val="111827"/>
                    </a:solidFill>
                    <a:latin typeface="Arial"/>
                  </a:rPr>
                  <a:t> meets </a:t>
                </a:r>
                <a:r>
                  <a:rPr lang="en-IN" sz="2400">
                    <a:solidFill>
                      <a:srgbClr val="111827"/>
                    </a:solidFill>
                    <a:latin typeface="Cambria Math" panose="02040503050406030204" pitchFamily="18" charset="0"/>
                  </a:rPr>
                  <a:t>$x^2-y^2=a^2$</a:t>
                </a:r>
                <a:r>
                  <a:rPr sz="2400" b="0">
                    <a:solidFill>
                      <a:srgbClr val="111827"/>
                    </a:solidFill>
                    <a:latin typeface="Arial"/>
                  </a:rPr>
                  <a:t> only if </a:t>
                </a:r>
                <a:r>
                  <a:rPr lang="en-IN" sz="2400">
                    <a:solidFill>
                      <a:srgbClr val="111827"/>
                    </a:solidFill>
                    <a:latin typeface="Cambria Math" panose="02040503050406030204" pitchFamily="18" charset="0"/>
                  </a:rPr>
                  <a:t>$|m|&lt;1$</a:t>
                </a:r>
                <a:r>
                  <a:rPr sz="2400" b="0">
                    <a:solidFill>
                      <a:srgbClr val="111827"/>
                    </a:solidFill>
                    <a:latin typeface="Arial"/>
                  </a:rPr>
                  <a:t>; the points are </a:t>
                </a:r>
                <a:r>
                  <a:rPr lang="en-IN" sz="2400">
                    <a:solidFill>
                      <a:srgbClr val="111827"/>
                    </a:solidFill>
                    <a:latin typeface="Cambria Math" panose="02040503050406030204" pitchFamily="18" charset="0"/>
                  </a:rPr>
                  <a:t>$\frac{a}{\sqrt{1\mp m^2}}(1,m)$</a:t>
                </a:r>
                <a:r>
                  <a:rPr sz="2400" b="0">
                    <a:solidFill>
                      <a:srgbClr val="111827"/>
                    </a:solidFill>
                    <a:latin typeface="Arial"/>
                  </a:rPr>
                  <a:t> for the hyperbola/circle.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eliminate a parameter that appears only as </a:t>
                </a:r>
                <a:r>
                  <a:rPr lang="en-IN" sz="2400">
                    <a:solidFill>
                      <a:srgbClr val="111827"/>
                    </a:solidFill>
                    <a:latin typeface="Cambria Math" panose="02040503050406030204" pitchFamily="18" charset="0"/>
                  </a:rPr>
                  <a:t>$\sqrt{1\pm m^2}$</a:t>
                </a:r>
                <a:r>
                  <a:rPr sz="2400" b="0">
                    <a:solidFill>
                      <a:srgbClr val="111827"/>
                    </a:solidFill>
                    <a:latin typeface="Arial"/>
                  </a:rPr>
                  <a:t>: square, then add and subtract the two squares.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$a=1$</a:t>
                </a:r>
                <a:r>
                  <a:rPr sz="2400" b="0">
                    <a:solidFill>
                      <a:srgbClr val="111827"/>
                    </a:solidFill>
                    <a:latin typeface="Arial"/>
                  </a:rPr>
                  <a:t>, </a:t>
                </a:r>
                <a:r>
                  <a:rPr lang="en-IN" sz="2400">
                    <a:solidFill>
                      <a:srgbClr val="111827"/>
                    </a:solidFill>
                    <a:latin typeface="Cambria Math" panose="02040503050406030204" pitchFamily="18" charset="0"/>
                  </a:rPr>
                  <a:t>$m=\frac12$</a:t>
                </a:r>
                <a:r>
                  <a:rPr sz="2400" b="0">
                    <a:solidFill>
                      <a:srgbClr val="111827"/>
                    </a:solidFill>
                    <a:latin typeface="Arial"/>
                  </a:rPr>
                  <a:t>): the tangents meet at </a:t>
                </a:r>
                <a:r>
                  <a:rPr lang="en-IN" sz="2400">
                    <a:solidFill>
                      <a:srgbClr val="111827"/>
                    </a:solidFill>
                    <a:latin typeface="Cambria Math" panose="02040503050406030204" pitchFamily="18" charset="0"/>
                  </a:rPr>
                  <a:t>$x=\frac{\sqrt5+\sqrt3}{4}\approx0.992$</a:t>
                </a:r>
                <a:r>
                  <a:rPr sz="2400" b="0">
                    <a:solidFill>
                      <a:srgbClr val="111827"/>
                    </a:solidFill>
                    <a:latin typeface="Arial"/>
                  </a:rPr>
                  <a:t>, </a:t>
                </a:r>
                <a:r>
                  <a:rPr lang="en-IN" sz="2400">
                    <a:solidFill>
                      <a:srgbClr val="111827"/>
                    </a:solidFill>
                    <a:latin typeface="Cambria Math" panose="02040503050406030204" pitchFamily="18" charset="0"/>
                  </a:rPr>
                  <a:t>$y=\frac{\sqrt5-\sqrt3}{2}\approx0.252$</a:t>
                </a:r>
                <a:r>
                  <a:rPr sz="2400" b="0">
                    <a:solidFill>
                      <a:srgbClr val="111827"/>
                    </a:solidFill>
                    <a:latin typeface="Arial"/>
                  </a:rPr>
                  <a:t>, and </a:t>
                </a:r>
                <a:r>
                  <a:rPr lang="en-IN" sz="2400">
                    <a:solidFill>
                      <a:srgbClr val="111827"/>
                    </a:solidFill>
                    <a:latin typeface="Cambria Math" panose="02040503050406030204" pitchFamily="18" charset="0"/>
                  </a:rPr>
                  <a:t>$x^2-1+4x^2y^4\approx-0.0158+0.0159\approx0$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graphs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intersect at four points. Compute the sum of the distances of these four points from the point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graphs of </a:t>
                </a:r>
                <a:r>
                  <a:rPr lang="en-IN" sz="2400">
                    <a:solidFill>
                      <a:srgbClr val="111827"/>
                    </a:solidFill>
                    <a:latin typeface="Cambria Math" panose="02040503050406030204" pitchFamily="18" charset="0"/>
                  </a:rPr>
                  <a:t>$x^2+y^2+6x-24y+72=0$</a:t>
                </a:r>
                <a:r>
                  <a:rPr sz="2400" b="0">
                    <a:solidFill>
                      <a:srgbClr val="111827"/>
                    </a:solidFill>
                    <a:latin typeface="Arial"/>
                  </a:rPr>
                  <a:t> and </a:t>
                </a:r>
                <a:r>
                  <a:rPr lang="en-IN" sz="2400">
                    <a:solidFill>
                      <a:srgbClr val="111827"/>
                    </a:solidFill>
                    <a:latin typeface="Cambria Math" panose="02040503050406030204" pitchFamily="18" charset="0"/>
                  </a:rPr>
                  <a:t>$x^2-y^2+6x+16y-46=0$</a:t>
                </a:r>
                <a:r>
                  <a:rPr sz="2400" b="0">
                    <a:solidFill>
                      <a:srgbClr val="111827"/>
                    </a:solidFill>
                    <a:latin typeface="Arial"/>
                  </a:rPr>
                  <a:t> intersect at four points. Compute the sum of the distances of these four points from the point </a:t>
                </a:r>
                <a:r>
                  <a:rPr lang="en-IN" sz="2400">
                    <a:solidFill>
                      <a:srgbClr val="111827"/>
                    </a:solidFill>
                    <a:latin typeface="Cambria Math" panose="02040503050406030204" pitchFamily="18" charset="0"/>
                  </a:rPr>
                  <a:t>$(-3,2)$</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24612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Pencil of conics and the focus-directrix property of a parabola, Sum of the focal distances of the intersection points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Adding the two equations removes the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terms and leaves a parabola with focus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 focal distance of each point is its </a:t>
                </a:r>
                <a14:m>
                  <m:oMath xmlns:m="http://schemas.openxmlformats.org/officeDocument/2006/math">
                    <m:r>
                      <a:rPr lang="en-IN" sz="2400" i="1">
                        <a:solidFill>
                          <a:srgbClr val="78350F"/>
                        </a:solidFill>
                        <a:latin typeface="Cambria Math" panose="02040503050406030204" pitchFamily="18" charset="0"/>
                      </a:rPr>
                      <m:t>𝑦</m:t>
                    </m:r>
                  </m:oMath>
                </a14:m>
                <a:r>
                  <a:rPr sz="2400" b="0">
                    <a:solidFill>
                      <a:srgbClr val="78350F"/>
                    </a:solidFill>
                    <a:latin typeface="Arial"/>
                  </a:rPr>
                  <a:t>-coordinate.</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Adding the two equations removes the </a:t>
                </a:r>
                <a:r>
                  <a:rPr lang="en-IN" sz="2400">
                    <a:solidFill>
                      <a:srgbClr val="78350F"/>
                    </a:solidFill>
                    <a:latin typeface="Cambria Math" panose="02040503050406030204" pitchFamily="18" charset="0"/>
                  </a:rPr>
                  <a:t>$y^2$</a:t>
                </a:r>
                <a:r>
                  <a:rPr sz="2400" b="0">
                    <a:solidFill>
                      <a:srgbClr val="78350F"/>
                    </a:solidFill>
                    <a:latin typeface="Arial"/>
                  </a:rPr>
                  <a:t> terms and leaves a parabola with focus </a:t>
                </a:r>
                <a:r>
                  <a:rPr lang="en-IN" sz="2400">
                    <a:solidFill>
                      <a:srgbClr val="78350F"/>
                    </a:solidFill>
                    <a:latin typeface="Cambria Math" panose="02040503050406030204" pitchFamily="18" charset="0"/>
                  </a:rPr>
                  <a:t>$(-3,2)$</a:t>
                </a:r>
                <a:r>
                  <a:rPr sz="2400" b="0">
                    <a:solidFill>
                      <a:srgbClr val="78350F"/>
                    </a:solidFill>
                    <a:latin typeface="Arial"/>
                  </a:rPr>
                  <a:t>; the focal distance of each point is its </a:t>
                </a:r>
                <a:r>
                  <a:rPr lang="en-IN" sz="2400">
                    <a:solidFill>
                      <a:srgbClr val="78350F"/>
                    </a:solidFill>
                    <a:latin typeface="Cambria Math" panose="02040503050406030204" pitchFamily="18" charset="0"/>
                  </a:rPr>
                  <a:t>$y$</a:t>
                </a:r>
                <a:r>
                  <a:rPr sz="2400" b="0">
                    <a:solidFill>
                      <a:srgbClr val="78350F"/>
                    </a:solidFill>
                    <a:latin typeface="Arial"/>
                  </a:rPr>
                  <a:t>-coordinate.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....(1) and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(1)</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(2):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....(3): a parabola with vertex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the focus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directrix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four intersection points lie on this parabola, so the distance of each from the focus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equals its distance from the directrix: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$x^2+y^2+6x-24y+72=0$</a:t>
                </a:r>
                <a:r>
                  <a:rPr sz="2400" b="0">
                    <a:solidFill>
                      <a:srgbClr val="111827"/>
                    </a:solidFill>
                    <a:latin typeface="Arial"/>
                  </a:rPr>
                  <a:t> ....(1) and </a:t>
                </a:r>
                <a:r>
                  <a:rPr lang="en-IN" sz="2400">
                    <a:solidFill>
                      <a:srgbClr val="111827"/>
                    </a:solidFill>
                    <a:latin typeface="Cambria Math" panose="02040503050406030204" pitchFamily="18" charset="0"/>
                  </a:rPr>
                  <a:t>$x^2-y^2+6x+16y-46=0$</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(1)</a:t>
                </a:r>
                <a:r>
                  <a:rPr lang="en-IN" sz="2400">
                    <a:solidFill>
                      <a:srgbClr val="111827"/>
                    </a:solidFill>
                    <a:latin typeface="Cambria Math" panose="02040503050406030204" pitchFamily="18" charset="0"/>
                  </a:rPr>
                  <a:t>$+$</a:t>
                </a:r>
                <a:r>
                  <a:rPr sz="2400" b="0">
                    <a:solidFill>
                      <a:srgbClr val="111827"/>
                    </a:solidFill>
                    <a:latin typeface="Arial"/>
                  </a:rPr>
                  <a:t>(2): </a:t>
                </a:r>
                <a:r>
                  <a:rPr lang="en-IN" sz="2400">
                    <a:solidFill>
                      <a:srgbClr val="111827"/>
                    </a:solidFill>
                    <a:latin typeface="Cambria Math" panose="02040503050406030204" pitchFamily="18" charset="0"/>
                  </a:rPr>
                  <a:t>$2x^2+12x-8y+26=0$</a:t>
                </a:r>
                <a:r>
                  <a:rPr sz="2400" b="0">
                    <a:solidFill>
                      <a:srgbClr val="111827"/>
                    </a:solidFill>
                    <a:latin typeface="Arial"/>
                  </a:rPr>
                  <a:t>, i.e. </a:t>
                </a:r>
                <a:r>
                  <a:rPr lang="en-IN" sz="2400">
                    <a:solidFill>
                      <a:srgbClr val="111827"/>
                    </a:solidFill>
                    <a:latin typeface="Cambria Math" panose="02040503050406030204" pitchFamily="18" charset="0"/>
                  </a:rPr>
                  <a:t>$x^2+6x-4y+13=0$</a:t>
                </a:r>
                <a:r>
                  <a:rPr sz="2400" b="0">
                    <a:solidFill>
                      <a:srgbClr val="111827"/>
                    </a:solidFill>
                    <a:latin typeface="Arial"/>
                  </a:rPr>
                  <a:t>, so </a:t>
                </a:r>
                <a:r>
                  <a:rPr lang="en-IN" sz="2400">
                    <a:solidFill>
                      <a:srgbClr val="111827"/>
                    </a:solidFill>
                    <a:latin typeface="Cambria Math" panose="02040503050406030204" pitchFamily="18" charset="0"/>
                  </a:rPr>
                  <a:t>$(x+3)^2=4(y-1)$</a:t>
                </a:r>
                <a:r>
                  <a:rPr sz="2400" b="0">
                    <a:solidFill>
                      <a:srgbClr val="111827"/>
                    </a:solidFill>
                    <a:latin typeface="Arial"/>
                  </a:rPr>
                  <a:t> ....(3): a parabola with vertex </a:t>
                </a:r>
                <a:r>
                  <a:rPr lang="en-IN" sz="2400">
                    <a:solidFill>
                      <a:srgbClr val="111827"/>
                    </a:solidFill>
                    <a:latin typeface="Cambria Math" panose="02040503050406030204" pitchFamily="18" charset="0"/>
                  </a:rPr>
                  <a:t>$(-3,1)$</a:t>
                </a:r>
                <a:r>
                  <a:rPr sz="2400" b="0">
                    <a:solidFill>
                      <a:srgbClr val="111827"/>
                    </a:solidFill>
                    <a:latin typeface="Arial"/>
                  </a:rPr>
                  <a:t> and </a:t>
                </a:r>
                <a:r>
                  <a:rPr lang="en-IN" sz="2400">
                    <a:solidFill>
                      <a:srgbClr val="111827"/>
                    </a:solidFill>
                    <a:latin typeface="Cambria Math" panose="02040503050406030204" pitchFamily="18" charset="0"/>
                  </a:rPr>
                  <a:t>$a=1$</a:t>
                </a:r>
                <a:r>
                  <a:rPr sz="2400" b="0">
                    <a:solidFill>
                      <a:srgbClr val="111827"/>
                    </a:solidFill>
                    <a:latin typeface="Arial"/>
                  </a:rPr>
                  <a:t>, so the focus is </a:t>
                </a:r>
                <a:r>
                  <a:rPr lang="en-IN" sz="2400">
                    <a:solidFill>
                      <a:srgbClr val="111827"/>
                    </a:solidFill>
                    <a:latin typeface="Cambria Math" panose="02040503050406030204" pitchFamily="18" charset="0"/>
                  </a:rPr>
                  <a:t>$(-3,2)$</a:t>
                </a:r>
                <a:r>
                  <a:rPr sz="2400" b="0">
                    <a:solidFill>
                      <a:srgbClr val="111827"/>
                    </a:solidFill>
                    <a:latin typeface="Arial"/>
                  </a:rPr>
                  <a:t> and the directrix is </a:t>
                </a:r>
                <a:r>
                  <a:rPr lang="en-IN" sz="2400">
                    <a:solidFill>
                      <a:srgbClr val="111827"/>
                    </a:solidFill>
                    <a:latin typeface="Cambria Math" panose="02040503050406030204" pitchFamily="18" charset="0"/>
                  </a:rPr>
                  <a:t>$y=0$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four intersection points lie on this parabola, so the distance of each from the focus </a:t>
                </a:r>
                <a:r>
                  <a:rPr lang="en-IN" sz="2400">
                    <a:solidFill>
                      <a:srgbClr val="111827"/>
                    </a:solidFill>
                    <a:latin typeface="Cambria Math" panose="02040503050406030204" pitchFamily="18" charset="0"/>
                  </a:rPr>
                  <a:t>$(-3,2)$</a:t>
                </a:r>
                <a:r>
                  <a:rPr sz="2400" b="0">
                    <a:solidFill>
                      <a:srgbClr val="111827"/>
                    </a:solidFill>
                    <a:latin typeface="Arial"/>
                  </a:rPr>
                  <a:t> equals its distance from the directrix: </a:t>
                </a:r>
                <a:r>
                  <a:rPr lang="en-IN" sz="2400">
                    <a:solidFill>
                      <a:srgbClr val="111827"/>
                    </a:solidFill>
                    <a:latin typeface="Cambria Math" panose="02040503050406030204" pitchFamily="18" charset="0"/>
                  </a:rPr>
                  <a:t>$y$</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(1)</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(2):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(the two values of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real,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41</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each of these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values, (3) gives two values of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oMath>
                </a14:m>
                <a:r>
                  <a:rPr sz="2400" b="0">
                    <a:solidFill>
                      <a:srgbClr val="111827"/>
                    </a:solidFill>
                    <a:latin typeface="Arial"/>
                  </a:rPr>
                  <a:t>), so the four points have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-coordinates </a:t>
                </a:r>
                <a14:m>
                  <m:oMath xmlns:m="http://schemas.openxmlformats.org/officeDocument/2006/math">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distances from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(1)</a:t>
                </a:r>
                <a:r>
                  <a:rPr lang="en-IN" sz="2400">
                    <a:solidFill>
                      <a:srgbClr val="111827"/>
                    </a:solidFill>
                    <a:latin typeface="Cambria Math" panose="02040503050406030204" pitchFamily="18" charset="0"/>
                  </a:rPr>
                  <a:t>$-$</a:t>
                </a:r>
                <a:r>
                  <a:rPr sz="2400" b="0">
                    <a:solidFill>
                      <a:srgbClr val="111827"/>
                    </a:solidFill>
                    <a:latin typeface="Arial"/>
                  </a:rPr>
                  <a:t>(2): </a:t>
                </a:r>
                <a:r>
                  <a:rPr lang="en-IN" sz="2400">
                    <a:solidFill>
                      <a:srgbClr val="111827"/>
                    </a:solidFill>
                    <a:latin typeface="Cambria Math" panose="02040503050406030204" pitchFamily="18" charset="0"/>
                  </a:rPr>
                  <a:t>$2y^2-40y+118=0$</a:t>
                </a:r>
                <a:r>
                  <a:rPr sz="2400" b="0">
                    <a:solidFill>
                      <a:srgbClr val="111827"/>
                    </a:solidFill>
                    <a:latin typeface="Arial"/>
                  </a:rPr>
                  <a:t>, i.e. </a:t>
                </a:r>
                <a:r>
                  <a:rPr lang="en-IN" sz="2400">
                    <a:solidFill>
                      <a:srgbClr val="111827"/>
                    </a:solidFill>
                    <a:latin typeface="Cambria Math" panose="02040503050406030204" pitchFamily="18" charset="0"/>
                  </a:rPr>
                  <a:t>$y^2-20y+59=0$</a:t>
                </a:r>
                <a:r>
                  <a:rPr sz="2400" b="0">
                    <a:solidFill>
                      <a:srgbClr val="111827"/>
                    </a:solidFill>
                    <a:latin typeface="Arial"/>
                  </a:rPr>
                  <a:t>, so </a:t>
                </a:r>
                <a:r>
                  <a:rPr lang="en-IN" sz="2400">
                    <a:solidFill>
                      <a:srgbClr val="111827"/>
                    </a:solidFill>
                    <a:latin typeface="Cambria Math" panose="02040503050406030204" pitchFamily="18" charset="0"/>
                  </a:rPr>
                  <a:t>$y_1+y_2=20$</a:t>
                </a:r>
                <a:r>
                  <a:rPr sz="2400" b="0">
                    <a:solidFill>
                      <a:srgbClr val="111827"/>
                    </a:solidFill>
                    <a:latin typeface="Arial"/>
                  </a:rPr>
                  <a:t> (the two values of </a:t>
                </a:r>
                <a:r>
                  <a:rPr lang="en-IN" sz="2400">
                    <a:solidFill>
                      <a:srgbClr val="111827"/>
                    </a:solidFill>
                    <a:latin typeface="Cambria Math" panose="02040503050406030204" pitchFamily="18" charset="0"/>
                  </a:rPr>
                  <a:t>$y$</a:t>
                </a:r>
                <a:r>
                  <a:rPr sz="2400" b="0">
                    <a:solidFill>
                      <a:srgbClr val="111827"/>
                    </a:solidFill>
                    <a:latin typeface="Arial"/>
                  </a:rPr>
                  <a:t>; real, </a:t>
                </a:r>
                <a:r>
                  <a:rPr lang="en-IN" sz="2400">
                    <a:solidFill>
                      <a:srgbClr val="111827"/>
                    </a:solidFill>
                    <a:latin typeface="Cambria Math" panose="02040503050406030204" pitchFamily="18" charset="0"/>
                  </a:rPr>
                  <a:t>$y=10\pm\sqrt{41}$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each of these </a:t>
                </a:r>
                <a:r>
                  <a:rPr lang="en-IN" sz="2400">
                    <a:solidFill>
                      <a:srgbClr val="111827"/>
                    </a:solidFill>
                    <a:latin typeface="Cambria Math" panose="02040503050406030204" pitchFamily="18" charset="0"/>
                  </a:rPr>
                  <a:t>$y$</a:t>
                </a:r>
                <a:r>
                  <a:rPr sz="2400" b="0">
                    <a:solidFill>
                      <a:srgbClr val="111827"/>
                    </a:solidFill>
                    <a:latin typeface="Arial"/>
                  </a:rPr>
                  <a:t> values, (3) gives two values of </a:t>
                </a:r>
                <a:r>
                  <a:rPr lang="en-IN" sz="2400">
                    <a:solidFill>
                      <a:srgbClr val="111827"/>
                    </a:solidFill>
                    <a:latin typeface="Cambria Math" panose="02040503050406030204" pitchFamily="18" charset="0"/>
                  </a:rPr>
                  <a:t>$x$</a:t>
                </a:r>
                <a:r>
                  <a:rPr sz="2400" b="0">
                    <a:solidFill>
                      <a:srgbClr val="111827"/>
                    </a:solidFill>
                    <a:latin typeface="Arial"/>
                  </a:rPr>
                  <a:t> (</a:t>
                </a:r>
                <a:r>
                  <a:rPr lang="en-IN" sz="2400">
                    <a:solidFill>
                      <a:srgbClr val="111827"/>
                    </a:solidFill>
                    <a:latin typeface="Cambria Math" panose="02040503050406030204" pitchFamily="18" charset="0"/>
                  </a:rPr>
                  <a:t>$y&gt;1$</a:t>
                </a:r>
                <a:r>
                  <a:rPr sz="2400" b="0">
                    <a:solidFill>
                      <a:srgbClr val="111827"/>
                    </a:solidFill>
                    <a:latin typeface="Arial"/>
                  </a:rPr>
                  <a:t>), so the four points have </a:t>
                </a:r>
                <a:r>
                  <a:rPr lang="en-IN" sz="2400">
                    <a:solidFill>
                      <a:srgbClr val="111827"/>
                    </a:solidFill>
                    <a:latin typeface="Cambria Math" panose="02040503050406030204" pitchFamily="18" charset="0"/>
                  </a:rPr>
                  <a:t>$y$</a:t>
                </a:r>
                <a:r>
                  <a:rPr sz="2400" b="0">
                    <a:solidFill>
                      <a:srgbClr val="111827"/>
                    </a:solidFill>
                    <a:latin typeface="Arial"/>
                  </a:rPr>
                  <a:t>-coordinates </a:t>
                </a:r>
                <a:r>
                  <a:rPr lang="en-IN" sz="2400">
                    <a:solidFill>
                      <a:srgbClr val="111827"/>
                    </a:solidFill>
                    <a:latin typeface="Cambria Math" panose="02040503050406030204" pitchFamily="18" charset="0"/>
                  </a:rPr>
                  <a:t>$y_1,y_1,y_2,y_2$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distances from </a:t>
                </a:r>
                <a:r>
                  <a:rPr lang="en-IN" sz="2400">
                    <a:solidFill>
                      <a:srgbClr val="111827"/>
                    </a:solidFill>
                    <a:latin typeface="Cambria Math" panose="02040503050406030204" pitchFamily="18" charset="0"/>
                  </a:rPr>
                  <a:t>$(-3,2)$</a:t>
                </a:r>
                <a:r>
                  <a:rPr sz="2400" b="0">
                    <a:solidFill>
                      <a:srgbClr val="111827"/>
                    </a:solidFill>
                    <a:latin typeface="Arial"/>
                  </a:rPr>
                  <a:t> </a:t>
                </a:r>
                <a:r>
                  <a:rPr lang="en-IN" sz="2400">
                    <a:solidFill>
                      <a:srgbClr val="111827"/>
                    </a:solidFill>
                    <a:latin typeface="Cambria Math" panose="02040503050406030204" pitchFamily="18" charset="0"/>
                  </a:rPr>
                  <a:t>$=2(y_1+y_2)=2\times20=40$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40</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$40$</a:t>
                </a:r>
                <a:endParaRPr sz="2800">
                  <a:solidFill>
                    <a:srgbClr val="15803D"/>
                  </a:solidFill>
                </a:endParaRPr>
              </a:p>
            </p:txBody>
          </p:sp>
        </mc:Fallback>
      </mc:AlternateContent>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Parametrise the parabola by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 focal distance is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substituting in the circle gives a quartic in </a:t>
                </a:r>
                <a14:m>
                  <m:oMath xmlns:m="http://schemas.openxmlformats.org/officeDocument/2006/math">
                    <m:r>
                      <a:rPr lang="en-IN" sz="2400" i="1">
                        <a:solidFill>
                          <a:srgbClr val="78350F"/>
                        </a:solidFill>
                        <a:latin typeface="Cambria Math" panose="02040503050406030204" pitchFamily="18" charset="0"/>
                      </a:rPr>
                      <m:t>𝑡</m:t>
                    </m:r>
                  </m:oMath>
                </a14:m>
                <a:r>
                  <a:rPr sz="2400" b="0">
                    <a:solidFill>
                      <a:srgbClr val="78350F"/>
                    </a:solidFill>
                    <a:latin typeface="Arial"/>
                  </a:rPr>
                  <a:t> whose root sum of squares is what we need.</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Parametrise the parabola by </a:t>
                </a:r>
                <a:r>
                  <a:rPr lang="en-IN" sz="2400">
                    <a:solidFill>
                      <a:srgbClr val="78350F"/>
                    </a:solidFill>
                    <a:latin typeface="Cambria Math" panose="02040503050406030204" pitchFamily="18" charset="0"/>
                  </a:rPr>
                  <a:t>$(-3+2t,\ 1+t^2)$</a:t>
                </a:r>
                <a:r>
                  <a:rPr sz="2400" b="0">
                    <a:solidFill>
                      <a:srgbClr val="78350F"/>
                    </a:solidFill>
                    <a:latin typeface="Arial"/>
                  </a:rPr>
                  <a:t>; the focal distance is </a:t>
                </a:r>
                <a:r>
                  <a:rPr lang="en-IN" sz="2400">
                    <a:solidFill>
                      <a:srgbClr val="78350F"/>
                    </a:solidFill>
                    <a:latin typeface="Cambria Math" panose="02040503050406030204" pitchFamily="18" charset="0"/>
                  </a:rPr>
                  <a:t>$1+t^2$</a:t>
                </a:r>
                <a:r>
                  <a:rPr sz="2400" b="0">
                    <a:solidFill>
                      <a:srgbClr val="78350F"/>
                    </a:solidFill>
                    <a:latin typeface="Arial"/>
                  </a:rPr>
                  <a:t> and substituting in the circle gives a quartic in </a:t>
                </a:r>
                <a:r>
                  <a:rPr lang="en-IN" sz="2400">
                    <a:solidFill>
                      <a:srgbClr val="78350F"/>
                    </a:solidFill>
                    <a:latin typeface="Cambria Math" panose="02040503050406030204" pitchFamily="18" charset="0"/>
                  </a:rPr>
                  <a:t>$t$</a:t>
                </a:r>
                <a:r>
                  <a:rPr sz="2400" b="0">
                    <a:solidFill>
                      <a:srgbClr val="78350F"/>
                    </a:solidFill>
                    <a:latin typeface="Arial"/>
                  </a:rPr>
                  <a:t> whose root sum of squares is what we need.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write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focus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distance of the point from it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circle (1)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oMath>
                </a14:m>
                <a:r>
                  <a:rPr sz="2400" b="0">
                    <a:solidFill>
                      <a:srgbClr val="111827"/>
                    </a:solidFill>
                    <a:latin typeface="Arial"/>
                  </a:rPr>
                  <a:t>. Substitute: </a:t>
                </a:r>
                <a14:m>
                  <m:oMath xmlns:m="http://schemas.openxmlformats.org/officeDocument/2006/math">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a:t>
                </a:r>
                <a:r>
                  <a:rPr lang="en-IN" sz="2400">
                    <a:solidFill>
                      <a:srgbClr val="111827"/>
                    </a:solidFill>
                    <a:latin typeface="Cambria Math" panose="02040503050406030204" pitchFamily="18" charset="0"/>
                  </a:rPr>
                  <a:t>$(x+3)^2=4(y-1)$</a:t>
                </a:r>
                <a:r>
                  <a:rPr sz="2400" b="0">
                    <a:solidFill>
                      <a:srgbClr val="111827"/>
                    </a:solidFill>
                    <a:latin typeface="Arial"/>
                  </a:rPr>
                  <a:t> write </a:t>
                </a:r>
                <a:r>
                  <a:rPr lang="en-IN" sz="2400">
                    <a:solidFill>
                      <a:srgbClr val="111827"/>
                    </a:solidFill>
                    <a:latin typeface="Cambria Math" panose="02040503050406030204" pitchFamily="18" charset="0"/>
                  </a:rPr>
                  <a:t>$x=-3+2t$</a:t>
                </a:r>
                <a:r>
                  <a:rPr sz="2400" b="0">
                    <a:solidFill>
                      <a:srgbClr val="111827"/>
                    </a:solidFill>
                    <a:latin typeface="Arial"/>
                  </a:rPr>
                  <a:t>, </a:t>
                </a:r>
                <a:r>
                  <a:rPr lang="en-IN" sz="2400">
                    <a:solidFill>
                      <a:srgbClr val="111827"/>
                    </a:solidFill>
                    <a:latin typeface="Cambria Math" panose="02040503050406030204" pitchFamily="18" charset="0"/>
                  </a:rPr>
                  <a:t>$y=1+t^2$</a:t>
                </a:r>
                <a:r>
                  <a:rPr sz="2400" b="0">
                    <a:solidFill>
                      <a:srgbClr val="111827"/>
                    </a:solidFill>
                    <a:latin typeface="Arial"/>
                  </a:rPr>
                  <a:t>. The focus is </a:t>
                </a:r>
                <a:r>
                  <a:rPr lang="en-IN" sz="2400">
                    <a:solidFill>
                      <a:srgbClr val="111827"/>
                    </a:solidFill>
                    <a:latin typeface="Cambria Math" panose="02040503050406030204" pitchFamily="18" charset="0"/>
                  </a:rPr>
                  <a:t>$(-3,2)$</a:t>
                </a:r>
                <a:r>
                  <a:rPr sz="2400" b="0">
                    <a:solidFill>
                      <a:srgbClr val="111827"/>
                    </a:solidFill>
                    <a:latin typeface="Arial"/>
                  </a:rPr>
                  <a:t> and the distance of the point from it is </a:t>
                </a:r>
                <a:r>
                  <a:rPr lang="en-IN" sz="2400">
                    <a:solidFill>
                      <a:srgbClr val="111827"/>
                    </a:solidFill>
                    <a:latin typeface="Cambria Math" panose="02040503050406030204" pitchFamily="18" charset="0"/>
                  </a:rPr>
                  <a:t>$y-0=1+t^2$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circle (1) is </a:t>
                </a:r>
                <a:r>
                  <a:rPr lang="en-IN" sz="2400">
                    <a:solidFill>
                      <a:srgbClr val="111827"/>
                    </a:solidFill>
                    <a:latin typeface="Cambria Math" panose="02040503050406030204" pitchFamily="18" charset="0"/>
                  </a:rPr>
                  <a:t>$(x+3)^2+(y-12)^2=81$</a:t>
                </a:r>
                <a:r>
                  <a:rPr sz="2400" b="0">
                    <a:solidFill>
                      <a:srgbClr val="111827"/>
                    </a:solidFill>
                    <a:latin typeface="Arial"/>
                  </a:rPr>
                  <a:t>. Substitute: </a:t>
                </a:r>
                <a:r>
                  <a:rPr lang="en-IN" sz="2400">
                    <a:solidFill>
                      <a:srgbClr val="111827"/>
                    </a:solidFill>
                    <a:latin typeface="Cambria Math" panose="02040503050406030204" pitchFamily="18" charset="0"/>
                  </a:rPr>
                  <a:t>$4t^2+(t^2-11)^2=81$</a:t>
                </a:r>
                <a:r>
                  <a:rPr sz="2400" b="0">
                    <a:solidFill>
                      <a:srgbClr val="111827"/>
                    </a:solidFill>
                    <a:latin typeface="Arial"/>
                  </a:rPr>
                  <a:t>, i.e. </a:t>
                </a:r>
                <a:r>
                  <a:rPr lang="en-IN" sz="2400">
                    <a:solidFill>
                      <a:srgbClr val="111827"/>
                    </a:solidFill>
                    <a:latin typeface="Cambria Math" panose="02040503050406030204" pitchFamily="18" charset="0"/>
                  </a:rPr>
                  <a:t>$t^4-18t^2+40=0$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Its four roots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give the four intersection points;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takes the two values </a:t>
                </a:r>
                <a14:m>
                  <m:oMath xmlns:m="http://schemas.openxmlformats.org/officeDocument/2006/math">
                    <m:sSub>
                      <m:e>
                        <m:r>
                          <a:rPr lang="en-IN" sz="2400" i="1">
                            <a:solidFill>
                              <a:srgbClr val="111827"/>
                            </a:solidFill>
                            <a:latin typeface="Cambria Math" panose="02040503050406030204" pitchFamily="18" charset="0"/>
                          </a:rPr>
                          <m:t>𝑢</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𝑢</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𝑢</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𝑢</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 each for two values of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𝑢</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𝑢</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distances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Its four roots </a:t>
                </a:r>
                <a:r>
                  <a:rPr lang="en-IN" sz="2400">
                    <a:solidFill>
                      <a:srgbClr val="111827"/>
                    </a:solidFill>
                    <a:latin typeface="Cambria Math" panose="02040503050406030204" pitchFamily="18" charset="0"/>
                  </a:rPr>
                  <a:t>$t_i$</a:t>
                </a:r>
                <a:r>
                  <a:rPr sz="2400" b="0">
                    <a:solidFill>
                      <a:srgbClr val="111827"/>
                    </a:solidFill>
                    <a:latin typeface="Arial"/>
                  </a:rPr>
                  <a:t> give the four intersection points; </a:t>
                </a:r>
                <a:r>
                  <a:rPr lang="en-IN" sz="2400">
                    <a:solidFill>
                      <a:srgbClr val="111827"/>
                    </a:solidFill>
                    <a:latin typeface="Cambria Math" panose="02040503050406030204" pitchFamily="18" charset="0"/>
                  </a:rPr>
                  <a:t>$t^2$</a:t>
                </a:r>
                <a:r>
                  <a:rPr sz="2400" b="0">
                    <a:solidFill>
                      <a:srgbClr val="111827"/>
                    </a:solidFill>
                    <a:latin typeface="Arial"/>
                  </a:rPr>
                  <a:t> takes the two values </a:t>
                </a:r>
                <a:r>
                  <a:rPr lang="en-IN" sz="2400">
                    <a:solidFill>
                      <a:srgbClr val="111827"/>
                    </a:solidFill>
                    <a:latin typeface="Cambria Math" panose="02040503050406030204" pitchFamily="18" charset="0"/>
                  </a:rPr>
                  <a:t>$u_1,u_2$</a:t>
                </a:r>
                <a:r>
                  <a:rPr sz="2400" b="0">
                    <a:solidFill>
                      <a:srgbClr val="111827"/>
                    </a:solidFill>
                    <a:latin typeface="Arial"/>
                  </a:rPr>
                  <a:t> with </a:t>
                </a:r>
                <a:r>
                  <a:rPr lang="en-IN" sz="2400">
                    <a:solidFill>
                      <a:srgbClr val="111827"/>
                    </a:solidFill>
                    <a:latin typeface="Cambria Math" panose="02040503050406030204" pitchFamily="18" charset="0"/>
                  </a:rPr>
                  <a:t>$u_1+u_2=18$</a:t>
                </a:r>
                <a:r>
                  <a:rPr sz="2400" b="0">
                    <a:solidFill>
                      <a:srgbClr val="111827"/>
                    </a:solidFill>
                    <a:latin typeface="Arial"/>
                  </a:rPr>
                  <a:t>, each for two values of </a:t>
                </a:r>
                <a:r>
                  <a:rPr lang="en-IN" sz="2400">
                    <a:solidFill>
                      <a:srgbClr val="111827"/>
                    </a:solidFill>
                    <a:latin typeface="Cambria Math" panose="02040503050406030204" pitchFamily="18" charset="0"/>
                  </a:rPr>
                  <a:t>$t$</a:t>
                </a:r>
                <a:r>
                  <a:rPr sz="2400" b="0">
                    <a:solidFill>
                      <a:srgbClr val="111827"/>
                    </a:solidFill>
                    <a:latin typeface="Arial"/>
                  </a:rPr>
                  <a:t> (</a:t>
                </a:r>
                <a:r>
                  <a:rPr lang="en-IN" sz="2400">
                    <a:solidFill>
                      <a:srgbClr val="111827"/>
                    </a:solidFill>
                    <a:latin typeface="Cambria Math" panose="02040503050406030204" pitchFamily="18" charset="0"/>
                  </a:rPr>
                  <a:t>$\pm$</a:t>
                </a:r>
                <a:r>
                  <a:rPr sz="2400" b="0">
                    <a:solidFill>
                      <a:srgbClr val="111827"/>
                    </a:solidFill>
                    <a:latin typeface="Arial"/>
                  </a:rPr>
                  <a:t>). So </a:t>
                </a:r>
                <a:r>
                  <a:rPr lang="en-IN" sz="2400">
                    <a:solidFill>
                      <a:srgbClr val="111827"/>
                    </a:solidFill>
                    <a:latin typeface="Cambria Math" panose="02040503050406030204" pitchFamily="18" charset="0"/>
                  </a:rPr>
                  <a:t>$\sum t_i^2=2(u_1+u_2)=36$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distances </a:t>
                </a:r>
                <a:r>
                  <a:rPr lang="en-IN" sz="2400">
                    <a:solidFill>
                      <a:srgbClr val="111827"/>
                    </a:solidFill>
                    <a:latin typeface="Cambria Math" panose="02040503050406030204" pitchFamily="18" charset="0"/>
                  </a:rPr>
                  <a:t>$=\sum(1+t_i^2)=4+36=40$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40</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$40$</a:t>
                </a:r>
                <a:endParaRPr sz="2800">
                  <a:solidFill>
                    <a:srgbClr val="15803D"/>
                  </a:solidFill>
                </a:endParaRPr>
              </a:p>
            </p:txBody>
          </p:sp>
        </mc:Fallback>
      </mc:AlternateContent>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Adding or subtracting two conics can remove the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term, giving a parabola (a pencil of conics); look for a focus in the data (here the given point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parabola, distance from the focus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distance from the directrix; for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focal distance of a point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-coordinates of the intersection points of a circle and a parabola with a vertical axis can be read from the resultant in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(here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each root giving two points).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numerically: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41</m:t>
                        </m:r>
                      </m:e>
                    </m:rad>
                  </m:oMath>
                </a14:m>
                <a:r>
                  <a:rPr sz="2400" b="0">
                    <a:solidFill>
                      <a:srgbClr val="111827"/>
                    </a:solidFill>
                    <a:latin typeface="Arial"/>
                  </a:rPr>
                  <a:t>; the two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values give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41</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41</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Adding or subtracting two conics can remove the </a:t>
                </a:r>
                <a:r>
                  <a:rPr lang="en-IN" sz="2400">
                    <a:solidFill>
                      <a:srgbClr val="111827"/>
                    </a:solidFill>
                    <a:latin typeface="Cambria Math" panose="02040503050406030204" pitchFamily="18" charset="0"/>
                  </a:rPr>
                  <a:t>$y^2$</a:t>
                </a:r>
                <a:r>
                  <a:rPr sz="2400" b="0">
                    <a:solidFill>
                      <a:srgbClr val="111827"/>
                    </a:solidFill>
                    <a:latin typeface="Arial"/>
                  </a:rPr>
                  <a:t> term, giving a parabola (a pencil of conics); look for a focus in the data (here the given point </a:t>
                </a:r>
                <a:r>
                  <a:rPr lang="en-IN" sz="2400">
                    <a:solidFill>
                      <a:srgbClr val="111827"/>
                    </a:solidFill>
                    <a:latin typeface="Cambria Math" panose="02040503050406030204" pitchFamily="18" charset="0"/>
                  </a:rPr>
                  <a:t>$(-3,2)$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parabola, distance from the focus </a:t>
                </a:r>
                <a:r>
                  <a:rPr lang="en-IN" sz="2400">
                    <a:solidFill>
                      <a:srgbClr val="111827"/>
                    </a:solidFill>
                    <a:latin typeface="Cambria Math" panose="02040503050406030204" pitchFamily="18" charset="0"/>
                  </a:rPr>
                  <a:t>$=$</a:t>
                </a:r>
                <a:r>
                  <a:rPr sz="2400" b="0">
                    <a:solidFill>
                      <a:srgbClr val="111827"/>
                    </a:solidFill>
                    <a:latin typeface="Arial"/>
                  </a:rPr>
                  <a:t> distance from the directrix; for </a:t>
                </a:r>
                <a:r>
                  <a:rPr lang="en-IN" sz="2400">
                    <a:solidFill>
                      <a:srgbClr val="111827"/>
                    </a:solidFill>
                    <a:latin typeface="Cambria Math" panose="02040503050406030204" pitchFamily="18" charset="0"/>
                  </a:rPr>
                  <a:t>$(x-h)^2=4a(y-k)$</a:t>
                </a:r>
                <a:r>
                  <a:rPr sz="2400" b="0">
                    <a:solidFill>
                      <a:srgbClr val="111827"/>
                    </a:solidFill>
                    <a:latin typeface="Arial"/>
                  </a:rPr>
                  <a:t> the focal distance of a point is </a:t>
                </a:r>
                <a:r>
                  <a:rPr lang="en-IN" sz="2400">
                    <a:solidFill>
                      <a:srgbClr val="111827"/>
                    </a:solidFill>
                    <a:latin typeface="Cambria Math" panose="02040503050406030204" pitchFamily="18" charset="0"/>
                  </a:rPr>
                  <a:t>$y-k+a$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the </a:t>
                </a:r>
                <a:r>
                  <a:rPr lang="en-IN" sz="2400">
                    <a:solidFill>
                      <a:srgbClr val="111827"/>
                    </a:solidFill>
                    <a:latin typeface="Cambria Math" panose="02040503050406030204" pitchFamily="18" charset="0"/>
                  </a:rPr>
                  <a:t>$y$</a:t>
                </a:r>
                <a:r>
                  <a:rPr sz="2400" b="0">
                    <a:solidFill>
                      <a:srgbClr val="111827"/>
                    </a:solidFill>
                    <a:latin typeface="Arial"/>
                  </a:rPr>
                  <a:t>-coordinates of the intersection points of a circle and a parabola with a vertical axis can be read from the resultant in </a:t>
                </a:r>
                <a:r>
                  <a:rPr lang="en-IN" sz="2400">
                    <a:solidFill>
                      <a:srgbClr val="111827"/>
                    </a:solidFill>
                    <a:latin typeface="Cambria Math" panose="02040503050406030204" pitchFamily="18" charset="0"/>
                  </a:rPr>
                  <a:t>$y$</a:t>
                </a:r>
                <a:r>
                  <a:rPr sz="2400" b="0">
                    <a:solidFill>
                      <a:srgbClr val="111827"/>
                    </a:solidFill>
                    <a:latin typeface="Arial"/>
                  </a:rPr>
                  <a:t> (here </a:t>
                </a:r>
                <a:r>
                  <a:rPr lang="en-IN" sz="2400">
                    <a:solidFill>
                      <a:srgbClr val="111827"/>
                    </a:solidFill>
                    <a:latin typeface="Cambria Math" panose="02040503050406030204" pitchFamily="18" charset="0"/>
                  </a:rPr>
                  <a:t>$y^2-20y+59=0$</a:t>
                </a:r>
                <a:r>
                  <a:rPr sz="2400" b="0">
                    <a:solidFill>
                      <a:srgbClr val="111827"/>
                    </a:solidFill>
                    <a:latin typeface="Arial"/>
                  </a:rPr>
                  <a:t>, each root giving two points).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numerically: </a:t>
                </a:r>
                <a:r>
                  <a:rPr lang="en-IN" sz="2400">
                    <a:solidFill>
                      <a:srgbClr val="111827"/>
                    </a:solidFill>
                    <a:latin typeface="Cambria Math" panose="02040503050406030204" pitchFamily="18" charset="0"/>
                  </a:rPr>
                  <a:t>$y=10\pm\sqrt{41}$</a:t>
                </a:r>
                <a:r>
                  <a:rPr sz="2400" b="0">
                    <a:solidFill>
                      <a:srgbClr val="111827"/>
                    </a:solidFill>
                    <a:latin typeface="Arial"/>
                  </a:rPr>
                  <a:t>; the two </a:t>
                </a:r>
                <a:r>
                  <a:rPr lang="en-IN" sz="2400">
                    <a:solidFill>
                      <a:srgbClr val="111827"/>
                    </a:solidFill>
                    <a:latin typeface="Cambria Math" panose="02040503050406030204" pitchFamily="18" charset="0"/>
                  </a:rPr>
                  <a:t>$y$</a:t>
                </a:r>
                <a:r>
                  <a:rPr sz="2400" b="0">
                    <a:solidFill>
                      <a:srgbClr val="111827"/>
                    </a:solidFill>
                    <a:latin typeface="Arial"/>
                  </a:rPr>
                  <a:t> values give </a:t>
                </a:r>
                <a:r>
                  <a:rPr lang="en-IN" sz="2400">
                    <a:solidFill>
                      <a:srgbClr val="111827"/>
                    </a:solidFill>
                    <a:latin typeface="Cambria Math" panose="02040503050406030204" pitchFamily="18" charset="0"/>
                  </a:rPr>
                  <a:t>$2(10+\sqrt{41})+2(10-\sqrt{41})=40$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An ellipse and a hyperbola have their principal axes along the coordinate axes and have common foci separated by a distance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13</m:t>
                        </m:r>
                      </m:e>
                    </m:rad>
                  </m:oMath>
                </a14:m>
                <a:r>
                  <a:rPr sz="2400" b="0">
                    <a:solidFill>
                      <a:srgbClr val="111827"/>
                    </a:solidFill>
                    <a:latin typeface="Arial"/>
                  </a:rPr>
                  <a:t>; the difference of their focal semi axes is equal to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If the ratio of their eccentricities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find the equations of these curves.</a:t>
                </a:r>
                <a:endParaRPr sz="2400">
                  <a:solidFill>
                    <a:srgbClr val="111827"/>
                  </a:solidFill>
                </a:endParaRPr>
              </a:p>
            </p:txBody>
          </p:sp>
        </mc:Choice>
        <mc:Fallback>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An ellipse and a hyperbola have their principal axes along the coordinate axes and have common foci separated by a distance </a:t>
                </a:r>
                <a:r>
                  <a:rPr lang="en-IN" sz="2400">
                    <a:solidFill>
                      <a:srgbClr val="111827"/>
                    </a:solidFill>
                    <a:latin typeface="Cambria Math" panose="02040503050406030204" pitchFamily="18" charset="0"/>
                  </a:rPr>
                  <a:t>$2\sqrt{13}$</a:t>
                </a:r>
                <a:r>
                  <a:rPr sz="2400" b="0">
                    <a:solidFill>
                      <a:srgbClr val="111827"/>
                    </a:solidFill>
                    <a:latin typeface="Arial"/>
                  </a:rPr>
                  <a:t>; the difference of their focal semi axes is equal to </a:t>
                </a:r>
                <a:r>
                  <a:rPr lang="en-IN" sz="2400">
                    <a:solidFill>
                      <a:srgbClr val="111827"/>
                    </a:solidFill>
                    <a:latin typeface="Cambria Math" panose="02040503050406030204" pitchFamily="18" charset="0"/>
                  </a:rPr>
                  <a:t>$4$</a:t>
                </a:r>
                <a:r>
                  <a:rPr sz="2400" b="0">
                    <a:solidFill>
                      <a:srgbClr val="111827"/>
                    </a:solidFill>
                    <a:latin typeface="Arial"/>
                  </a:rPr>
                  <a:t>. If the ratio of their eccentricities is </a:t>
                </a:r>
                <a:r>
                  <a:rPr lang="en-IN" sz="2400">
                    <a:solidFill>
                      <a:srgbClr val="111827"/>
                    </a:solidFill>
                    <a:latin typeface="Cambria Math" panose="02040503050406030204" pitchFamily="18" charset="0"/>
                  </a:rPr>
                  <a:t>$\frac37$</a:t>
                </a:r>
                <a:r>
                  <a:rPr sz="2400" b="0">
                    <a:solidFill>
                      <a:srgbClr val="111827"/>
                    </a:solidFill>
                    <a:latin typeface="Arial"/>
                  </a:rPr>
                  <a:t>, find the equations of these curves.</a:t>
                </a:r>
                <a:endParaRPr sz="2400">
                  <a:solidFill>
                    <a:srgbClr val="111827"/>
                  </a:solidFill>
                </a:endParaRPr>
              </a:p>
            </p:txBody>
          </p:sp>
        </mc:Fallback>
      </mc:AlternateContent>
      <p:sp>
        <p:nvSpPr>
          <p:cNvPr id="5" name="Rectangle 4"/>
          <p:cNvSpPr/>
          <p:nvPr/>
        </p:nvSpPr>
        <p:spPr>
          <a:xfrm>
            <a:off x="731520" y="3998467"/>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Confocal ellipse and hyperbola (eccentricities and focal semi-axes), Standard equations of an ellipse and a hyperbola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Common foci mean </a:t>
                </a:r>
                <a14:m>
                  <m:oMath xmlns:m="http://schemas.openxmlformats.org/officeDocument/2006/math">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𝑒</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𝐸</m:t>
                    </m:r>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13</m:t>
                        </m:r>
                      </m:e>
                    </m:rad>
                  </m:oMath>
                </a14:m>
                <a:r>
                  <a:rPr sz="2400" b="0">
                    <a:solidFill>
                      <a:srgbClr val="78350F"/>
                    </a:solidFill>
                    <a:latin typeface="Arial"/>
                  </a:rPr>
                  <a:t>, so the eccentricity ratio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𝑒</m:t>
                        </m:r>
                      </m:num>
                      <m:den>
                        <m:r>
                          <a:rPr lang="en-IN" sz="2400" i="1">
                            <a:solidFill>
                              <a:srgbClr val="78350F"/>
                            </a:solidFill>
                            <a:latin typeface="Cambria Math" panose="02040503050406030204" pitchFamily="18" charset="0"/>
                          </a:rPr>
                          <m:t>𝐸</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𝐴</m:t>
                        </m:r>
                      </m:num>
                      <m:den>
                        <m:r>
                          <a:rPr lang="en-IN" sz="2400" i="1">
                            <a:solidFill>
                              <a:srgbClr val="78350F"/>
                            </a:solidFill>
                            <a:latin typeface="Cambria Math" panose="02040503050406030204" pitchFamily="18" charset="0"/>
                          </a:rPr>
                          <m:t>𝑎</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num>
                      <m:den>
                        <m:r>
                          <a:rPr lang="en-IN" sz="2400" i="1">
                            <a:solidFill>
                              <a:srgbClr val="78350F"/>
                            </a:solidFill>
                            <a:latin typeface="Cambria Math" panose="02040503050406030204" pitchFamily="18" charset="0"/>
                          </a:rPr>
                          <m:t>7</m:t>
                        </m:r>
                      </m:den>
                    </m:f>
                  </m:oMath>
                </a14:m>
                <a:r>
                  <a:rPr sz="2400" b="0">
                    <a:solidFill>
                      <a:srgbClr val="78350F"/>
                    </a:solidFill>
                    <a:latin typeface="Arial"/>
                  </a:rPr>
                  <a:t> fixes the semi-axes.</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Common foci mean </a:t>
                </a:r>
                <a:r>
                  <a:rPr lang="en-IN" sz="2400">
                    <a:solidFill>
                      <a:srgbClr val="78350F"/>
                    </a:solidFill>
                    <a:latin typeface="Cambria Math" panose="02040503050406030204" pitchFamily="18" charset="0"/>
                  </a:rPr>
                  <a:t>$ae=AE=\sqrt{13}$</a:t>
                </a:r>
                <a:r>
                  <a:rPr sz="2400" b="0">
                    <a:solidFill>
                      <a:srgbClr val="78350F"/>
                    </a:solidFill>
                    <a:latin typeface="Arial"/>
                  </a:rPr>
                  <a:t>, so the eccentricity ratio </a:t>
                </a:r>
                <a:r>
                  <a:rPr lang="en-IN" sz="2400">
                    <a:solidFill>
                      <a:srgbClr val="78350F"/>
                    </a:solidFill>
                    <a:latin typeface="Cambria Math" panose="02040503050406030204" pitchFamily="18" charset="0"/>
                  </a:rPr>
                  <a:t>$\frac eE=\frac Aa=\frac37$</a:t>
                </a:r>
                <a:r>
                  <a:rPr sz="2400" b="0">
                    <a:solidFill>
                      <a:srgbClr val="78350F"/>
                    </a:solidFill>
                    <a:latin typeface="Arial"/>
                  </a:rPr>
                  <a:t> fixes the semi-axes.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the PDF the distance between the foci is hidden by a grey box and the answers likewise;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13</m:t>
                        </m:r>
                      </m:e>
                    </m:rad>
                  </m:oMath>
                </a14:m>
                <a:r>
                  <a:rPr sz="2400" b="0">
                    <a:solidFill>
                      <a:srgbClr val="111827"/>
                    </a:solidFill>
                    <a:latin typeface="Arial"/>
                  </a:rPr>
                  <a:t> is the value that makes the problem consistent - see the note.) Let the ellipse have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oMath>
                </a14:m>
                <a:r>
                  <a:rPr sz="2400" b="0">
                    <a:solidFill>
                      <a:srgbClr val="111827"/>
                    </a:solidFill>
                    <a:latin typeface="Arial"/>
                  </a:rPr>
                  <a:t> and the hyperbola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Common foci separated by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13</m:t>
                        </m:r>
                      </m:e>
                    </m:rad>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difference of the focal semi-axes is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....(2); the ratio of eccentricities: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𝐴</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oMath>
                </a14:m>
                <a:r>
                  <a:rPr sz="2400" b="0">
                    <a:solidFill>
                      <a:srgbClr val="111827"/>
                    </a:solidFill>
                    <a:latin typeface="Arial"/>
                  </a:rPr>
                  <a:t>) ....(1).</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the PDF the distance between the foci is hidden by a grey box and the answers likewise; </a:t>
                </a:r>
                <a:r>
                  <a:rPr lang="en-IN" sz="2400">
                    <a:solidFill>
                      <a:srgbClr val="111827"/>
                    </a:solidFill>
                    <a:latin typeface="Cambria Math" panose="02040503050406030204" pitchFamily="18" charset="0"/>
                  </a:rPr>
                  <a:t>$2\sqrt{13}$</a:t>
                </a:r>
                <a:r>
                  <a:rPr sz="2400" b="0">
                    <a:solidFill>
                      <a:srgbClr val="111827"/>
                    </a:solidFill>
                    <a:latin typeface="Arial"/>
                  </a:rPr>
                  <a:t> is the value that makes the problem consistent - see the note.) Let the ellipse have </a:t>
                </a:r>
                <a:r>
                  <a:rPr lang="en-IN" sz="2400">
                    <a:solidFill>
                      <a:srgbClr val="111827"/>
                    </a:solidFill>
                    <a:latin typeface="Cambria Math" panose="02040503050406030204" pitchFamily="18" charset="0"/>
                  </a:rPr>
                  <a:t>$a,b,e$</a:t>
                </a:r>
                <a:r>
                  <a:rPr sz="2400" b="0">
                    <a:solidFill>
                      <a:srgbClr val="111827"/>
                    </a:solidFill>
                    <a:latin typeface="Arial"/>
                  </a:rPr>
                  <a:t> and the hyperbola </a:t>
                </a:r>
                <a:r>
                  <a:rPr lang="en-IN" sz="2400">
                    <a:solidFill>
                      <a:srgbClr val="111827"/>
                    </a:solidFill>
                    <a:latin typeface="Cambria Math" panose="02040503050406030204" pitchFamily="18" charset="0"/>
                  </a:rPr>
                  <a:t>$A,B,E$</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Common foci separated by </a:t>
                </a:r>
                <a:r>
                  <a:rPr lang="en-IN" sz="2400">
                    <a:solidFill>
                      <a:srgbClr val="111827"/>
                    </a:solidFill>
                    <a:latin typeface="Cambria Math" panose="02040503050406030204" pitchFamily="18" charset="0"/>
                  </a:rPr>
                  <a:t>$2\sqrt{13}$</a:t>
                </a:r>
                <a:r>
                  <a:rPr sz="2400" b="0">
                    <a:solidFill>
                      <a:srgbClr val="111827"/>
                    </a:solidFill>
                    <a:latin typeface="Arial"/>
                  </a:rPr>
                  <a:t>: </a:t>
                </a:r>
                <a:r>
                  <a:rPr lang="en-IN" sz="2400">
                    <a:solidFill>
                      <a:srgbClr val="111827"/>
                    </a:solidFill>
                    <a:latin typeface="Cambria Math" panose="02040503050406030204" pitchFamily="18" charset="0"/>
                  </a:rPr>
                  <a:t>$ae=AE=\sqrt{13}$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difference of the focal semi-axes is </a:t>
                </a:r>
                <a:r>
                  <a:rPr lang="en-IN" sz="2400">
                    <a:solidFill>
                      <a:srgbClr val="111827"/>
                    </a:solidFill>
                    <a:latin typeface="Cambria Math" panose="02040503050406030204" pitchFamily="18" charset="0"/>
                  </a:rPr>
                  <a:t>$4$</a:t>
                </a:r>
                <a:r>
                  <a:rPr sz="2400" b="0">
                    <a:solidFill>
                      <a:srgbClr val="111827"/>
                    </a:solidFill>
                    <a:latin typeface="Arial"/>
                  </a:rPr>
                  <a:t>: </a:t>
                </a:r>
                <a:r>
                  <a:rPr lang="en-IN" sz="2400">
                    <a:solidFill>
                      <a:srgbClr val="111827"/>
                    </a:solidFill>
                    <a:latin typeface="Cambria Math" panose="02040503050406030204" pitchFamily="18" charset="0"/>
                  </a:rPr>
                  <a:t>$a-A=4$</a:t>
                </a:r>
                <a:r>
                  <a:rPr sz="2400" b="0">
                    <a:solidFill>
                      <a:srgbClr val="111827"/>
                    </a:solidFill>
                    <a:latin typeface="Arial"/>
                  </a:rPr>
                  <a:t> ....(2); the ratio of eccentricities: </a:t>
                </a:r>
                <a:r>
                  <a:rPr lang="en-IN" sz="2400">
                    <a:solidFill>
                      <a:srgbClr val="111827"/>
                    </a:solidFill>
                    <a:latin typeface="Cambria Math" panose="02040503050406030204" pitchFamily="18" charset="0"/>
                  </a:rPr>
                  <a:t>$\frac eE=\frac37$</a:t>
                </a:r>
                <a:r>
                  <a:rPr sz="2400" b="0">
                    <a:solidFill>
                      <a:srgbClr val="111827"/>
                    </a:solidFill>
                    <a:latin typeface="Arial"/>
                  </a:rPr>
                  <a:t>, i.e. </a:t>
                </a:r>
                <a:r>
                  <a:rPr lang="en-IN" sz="2400">
                    <a:solidFill>
                      <a:srgbClr val="111827"/>
                    </a:solidFill>
                    <a:latin typeface="Cambria Math" panose="02040503050406030204" pitchFamily="18" charset="0"/>
                  </a:rPr>
                  <a:t>$\frac Aa=\frac37$</a:t>
                </a:r>
                <a:r>
                  <a:rPr sz="2400" b="0">
                    <a:solidFill>
                      <a:srgbClr val="111827"/>
                    </a:solidFill>
                    <a:latin typeface="Arial"/>
                  </a:rPr>
                  <a:t> (from </a:t>
                </a:r>
                <a:r>
                  <a:rPr lang="en-IN" sz="2400">
                    <a:solidFill>
                      <a:srgbClr val="111827"/>
                    </a:solidFill>
                    <a:latin typeface="Cambria Math" panose="02040503050406030204" pitchFamily="18" charset="0"/>
                  </a:rPr>
                  <a:t>$ae=AE$</a:t>
                </a:r>
                <a:r>
                  <a:rPr sz="2400" b="0">
                    <a:solidFill>
                      <a:srgbClr val="111827"/>
                    </a:solidFill>
                    <a:latin typeface="Arial"/>
                  </a:rPr>
                  <a:t>) ....(1).</a:t>
                </a:r>
                <a:endParaRPr sz="2400">
                  <a:solidFill>
                    <a:srgbClr val="111827"/>
                  </a:solidFill>
                </a:endParaRPr>
              </a:p>
            </p:txBody>
          </p:sp>
        </mc:Fallback>
      </mc:AlternateContent>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(1):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(2):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𝐸</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𝐸</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(1): </a:t>
                </a:r>
                <a:r>
                  <a:rPr lang="en-IN" sz="2400">
                    <a:solidFill>
                      <a:srgbClr val="111827"/>
                    </a:solidFill>
                    <a:latin typeface="Cambria Math" panose="02040503050406030204" pitchFamily="18" charset="0"/>
                  </a:rPr>
                  <a:t>$A=\frac{3a}{7}$</a:t>
                </a:r>
                <a:r>
                  <a:rPr sz="2400" b="0">
                    <a:solidFill>
                      <a:srgbClr val="111827"/>
                    </a:solidFill>
                    <a:latin typeface="Arial"/>
                  </a:rPr>
                  <a:t>; (2): </a:t>
                </a:r>
                <a:r>
                  <a:rPr lang="en-IN" sz="2400">
                    <a:solidFill>
                      <a:srgbClr val="111827"/>
                    </a:solidFill>
                    <a:latin typeface="Cambria Math" panose="02040503050406030204" pitchFamily="18" charset="0"/>
                  </a:rPr>
                  <a:t>$a-\frac{3a}{7}=4$</a:t>
                </a:r>
                <a:r>
                  <a:rPr sz="2400" b="0">
                    <a:solidFill>
                      <a:srgbClr val="111827"/>
                    </a:solidFill>
                    <a:latin typeface="Arial"/>
                  </a:rPr>
                  <a:t>, so </a:t>
                </a:r>
                <a:r>
                  <a:rPr lang="en-IN" sz="2400">
                    <a:solidFill>
                      <a:srgbClr val="111827"/>
                    </a:solidFill>
                    <a:latin typeface="Cambria Math" panose="02040503050406030204" pitchFamily="18" charset="0"/>
                  </a:rPr>
                  <a:t>$a=7$</a:t>
                </a:r>
                <a:r>
                  <a:rPr sz="2400" b="0">
                    <a:solidFill>
                      <a:srgbClr val="111827"/>
                    </a:solidFill>
                    <a:latin typeface="Arial"/>
                  </a:rPr>
                  <a:t> and </a:t>
                </a:r>
                <a:r>
                  <a:rPr lang="en-IN" sz="2400">
                    <a:solidFill>
                      <a:srgbClr val="111827"/>
                    </a:solidFill>
                    <a:latin typeface="Cambria Math" panose="02040503050406030204" pitchFamily="18" charset="0"/>
                  </a:rPr>
                  <a:t>$A=3$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r>
                  <a:rPr lang="en-IN" sz="2400">
                    <a:solidFill>
                      <a:srgbClr val="111827"/>
                    </a:solidFill>
                    <a:latin typeface="Cambria Math" panose="02040503050406030204" pitchFamily="18" charset="0"/>
                  </a:rPr>
                  <a:t>$b^2=a^2(1-e^2)=a^2-a^2e^2$</a:t>
                </a:r>
                <a:r>
                  <a:rPr sz="2400" b="0">
                    <a:solidFill>
                      <a:srgbClr val="111827"/>
                    </a:solidFill>
                    <a:latin typeface="Arial"/>
                  </a:rPr>
                  <a:t> and </a:t>
                </a:r>
                <a:r>
                  <a:rPr lang="en-IN" sz="2400">
                    <a:solidFill>
                      <a:srgbClr val="111827"/>
                    </a:solidFill>
                    <a:latin typeface="Cambria Math" panose="02040503050406030204" pitchFamily="18" charset="0"/>
                  </a:rPr>
                  <a:t>$B^2=A^2(E^2-1)=A^2E^2-A^2$</a:t>
                </a:r>
                <a:r>
                  <a:rPr sz="2400" b="0">
                    <a:solidFill>
                      <a:srgbClr val="111827"/>
                    </a:solidFill>
                    <a:latin typeface="Arial"/>
                  </a:rPr>
                  <a:t>: </a:t>
                </a:r>
                <a:r>
                  <a:rPr lang="en-IN" sz="2400">
                    <a:solidFill>
                      <a:srgbClr val="111827"/>
                    </a:solidFill>
                    <a:latin typeface="Cambria Math" panose="02040503050406030204" pitchFamily="18" charset="0"/>
                  </a:rPr>
                  <a:t>$b^2=49-13=36$</a:t>
                </a:r>
                <a:r>
                  <a:rPr sz="2400" b="0">
                    <a:solidFill>
                      <a:srgbClr val="111827"/>
                    </a:solidFill>
                    <a:latin typeface="Arial"/>
                  </a:rPr>
                  <a:t> and </a:t>
                </a:r>
                <a:r>
                  <a:rPr lang="en-IN" sz="2400">
                    <a:solidFill>
                      <a:srgbClr val="111827"/>
                    </a:solidFill>
                    <a:latin typeface="Cambria Math" panose="02040503050406030204" pitchFamily="18" charset="0"/>
                  </a:rPr>
                  <a:t>$B^2=13-9=4$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Ellipse: </a:t>
                </a:r>
                <a:r>
                  <a:rPr lang="en-IN" sz="2400">
                    <a:solidFill>
                      <a:srgbClr val="111827"/>
                    </a:solidFill>
                    <a:latin typeface="Cambria Math" panose="02040503050406030204" pitchFamily="18" charset="0"/>
                  </a:rPr>
                  <a:t>$\frac{x^2}{49}+\frac{y^2}{36}=1$</a:t>
                </a:r>
                <a:r>
                  <a:rPr sz="2400" b="0">
                    <a:solidFill>
                      <a:srgbClr val="111827"/>
                    </a:solidFill>
                    <a:latin typeface="Arial"/>
                  </a:rPr>
                  <a:t>. Hyperbola: </a:t>
                </a:r>
                <a:r>
                  <a:rPr lang="en-IN" sz="2400">
                    <a:solidFill>
                      <a:srgbClr val="111827"/>
                    </a:solidFill>
                    <a:latin typeface="Cambria Math" panose="02040503050406030204" pitchFamily="18" charset="0"/>
                  </a:rPr>
                  <a:t>$\frac{x^2}{9}-\frac{y^2}{4}=1$</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num>
                      <m:den>
                        <m:r>
                          <a:rPr lang="en-IN" sz="2800" i="1">
                            <a:solidFill>
                              <a:srgbClr val="15803D"/>
                            </a:solidFill>
                            <a:latin typeface="Cambria Math" panose="02040503050406030204" pitchFamily="18" charset="0"/>
                          </a:rPr>
                          <m:t>49</m:t>
                        </m:r>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num>
                      <m:den>
                        <m:r>
                          <a:rPr lang="en-IN" sz="2800" i="1">
                            <a:solidFill>
                              <a:srgbClr val="15803D"/>
                            </a:solidFill>
                            <a:latin typeface="Cambria Math" panose="02040503050406030204" pitchFamily="18" charset="0"/>
                          </a:rPr>
                          <m:t>36</m:t>
                        </m:r>
                      </m:den>
                    </m:f>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oMath>
                </a14:m>
                <a:r>
                  <a:rPr sz="2800" b="1">
                    <a:solidFill>
                      <a:srgbClr val="15803D"/>
                    </a:solidFill>
                    <a:latin typeface="Arial"/>
                  </a:rPr>
                  <a:t> and </a:t>
                </a:r>
                <a14:m>
                  <m:oMath xmlns:m="http://schemas.openxmlformats.org/officeDocument/2006/math">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num>
                      <m:den>
                        <m:r>
                          <a:rPr lang="en-IN" sz="2800" i="1">
                            <a:solidFill>
                              <a:srgbClr val="15803D"/>
                            </a:solidFill>
                            <a:latin typeface="Cambria Math" panose="02040503050406030204" pitchFamily="18" charset="0"/>
                          </a:rPr>
                          <m:t>9</m:t>
                        </m:r>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num>
                      <m:den>
                        <m:r>
                          <a:rPr lang="en-IN" sz="2800" i="1">
                            <a:solidFill>
                              <a:srgbClr val="15803D"/>
                            </a:solidFill>
                            <a:latin typeface="Cambria Math" panose="02040503050406030204" pitchFamily="18" charset="0"/>
                          </a:rPr>
                          <m:t>4</m:t>
                        </m:r>
                      </m:den>
                    </m:f>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$\frac{x^2}{49}+\frac{y^2}{36}=1$</a:t>
                </a:r>
                <a:r>
                  <a:rPr sz="2800" b="1">
                    <a:solidFill>
                      <a:srgbClr val="15803D"/>
                    </a:solidFill>
                    <a:latin typeface="Arial"/>
                  </a:rPr>
                  <a:t> and </a:t>
                </a:r>
                <a:r>
                  <a:rPr lang="en-IN" sz="2800">
                    <a:solidFill>
                      <a:srgbClr val="15803D"/>
                    </a:solidFill>
                    <a:latin typeface="Cambria Math" panose="02040503050406030204" pitchFamily="18" charset="0"/>
                  </a:rPr>
                  <a:t>$\frac{x^2}{9}-\frac{y^2}{4}=1$</a:t>
                </a:r>
                <a:endParaRPr sz="2800">
                  <a:solidFill>
                    <a:srgbClr val="15803D"/>
                  </a:solidFill>
                </a:endParaRPr>
              </a:p>
            </p:txBody>
          </p:sp>
        </mc:Fallback>
      </mc:AlternateContent>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Common foci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the ellipse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for the hyperbola </a:t>
                </a:r>
                <a14:m>
                  <m:oMath xmlns:m="http://schemas.openxmlformats.org/officeDocument/2006/math">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confocal conics the ratio of eccentricities equals the inverse ratio of the focal semi-axes: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𝑒</m:t>
                        </m:r>
                      </m:num>
                      <m:den>
                        <m:r>
                          <a:rPr lang="en-IN" sz="2400" i="1">
                            <a:solidFill>
                              <a:srgbClr val="111827"/>
                            </a:solidFill>
                            <a:latin typeface="Cambria Math" panose="02040503050406030204" pitchFamily="18" charset="0"/>
                          </a:rPr>
                          <m:t>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𝐴</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data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𝐴</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fix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without knowing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 is needed only for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confocal ellipse and hyperbola cut each other orthogonally.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Common foci </a:t>
                </a:r>
                <a:r>
                  <a:rPr lang="en-IN" sz="2400">
                    <a:solidFill>
                      <a:srgbClr val="111827"/>
                    </a:solidFill>
                    <a:latin typeface="Cambria Math" panose="02040503050406030204" pitchFamily="18" charset="0"/>
                  </a:rPr>
                  <a:t>$(\pm c,0)$</a:t>
                </a:r>
                <a:r>
                  <a:rPr sz="2400" b="0">
                    <a:solidFill>
                      <a:srgbClr val="111827"/>
                    </a:solidFill>
                    <a:latin typeface="Arial"/>
                  </a:rPr>
                  <a:t>: for the ellipse </a:t>
                </a:r>
                <a:r>
                  <a:rPr lang="en-IN" sz="2400">
                    <a:solidFill>
                      <a:srgbClr val="111827"/>
                    </a:solidFill>
                    <a:latin typeface="Cambria Math" panose="02040503050406030204" pitchFamily="18" charset="0"/>
                  </a:rPr>
                  <a:t>$a^2-b^2=c^2$</a:t>
                </a:r>
                <a:r>
                  <a:rPr sz="2400" b="0">
                    <a:solidFill>
                      <a:srgbClr val="111827"/>
                    </a:solidFill>
                    <a:latin typeface="Arial"/>
                  </a:rPr>
                  <a:t>, for the hyperbola </a:t>
                </a:r>
                <a:r>
                  <a:rPr lang="en-IN" sz="2400">
                    <a:solidFill>
                      <a:srgbClr val="111827"/>
                    </a:solidFill>
                    <a:latin typeface="Cambria Math" panose="02040503050406030204" pitchFamily="18" charset="0"/>
                  </a:rPr>
                  <a:t>$A^2+B^2=c^2$</a:t>
                </a:r>
                <a:r>
                  <a:rPr sz="2400" b="0">
                    <a:solidFill>
                      <a:srgbClr val="111827"/>
                    </a:solidFill>
                    <a:latin typeface="Arial"/>
                  </a:rPr>
                  <a:t>, and </a:t>
                </a:r>
                <a:r>
                  <a:rPr lang="en-IN" sz="2400">
                    <a:solidFill>
                      <a:srgbClr val="111827"/>
                    </a:solidFill>
                    <a:latin typeface="Cambria Math" panose="02040503050406030204" pitchFamily="18" charset="0"/>
                  </a:rPr>
                  <a:t>$ae=AE=c$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confocal conics the ratio of eccentricities equals the inverse ratio of the focal semi-axes: </a:t>
                </a:r>
                <a:r>
                  <a:rPr lang="en-IN" sz="2400">
                    <a:solidFill>
                      <a:srgbClr val="111827"/>
                    </a:solidFill>
                    <a:latin typeface="Cambria Math" panose="02040503050406030204" pitchFamily="18" charset="0"/>
                  </a:rPr>
                  <a:t>$\frac eE=\frac Aa$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data '</a:t>
                </a:r>
                <a:r>
                  <a:rPr lang="en-IN" sz="2400">
                    <a:solidFill>
                      <a:srgbClr val="111827"/>
                    </a:solidFill>
                    <a:latin typeface="Cambria Math" panose="02040503050406030204" pitchFamily="18" charset="0"/>
                  </a:rPr>
                  <a:t>$a-A=4$</a:t>
                </a:r>
                <a:r>
                  <a:rPr sz="2400" b="0">
                    <a:solidFill>
                      <a:srgbClr val="111827"/>
                    </a:solidFill>
                    <a:latin typeface="Arial"/>
                  </a:rPr>
                  <a:t> and </a:t>
                </a:r>
                <a:r>
                  <a:rPr lang="en-IN" sz="2400">
                    <a:solidFill>
                      <a:srgbClr val="111827"/>
                    </a:solidFill>
                    <a:latin typeface="Cambria Math" panose="02040503050406030204" pitchFamily="18" charset="0"/>
                  </a:rPr>
                  <a:t>$\frac Aa=\frac37$</a:t>
                </a:r>
                <a:r>
                  <a:rPr sz="2400" b="0">
                    <a:solidFill>
                      <a:srgbClr val="111827"/>
                    </a:solidFill>
                    <a:latin typeface="Arial"/>
                  </a:rPr>
                  <a:t>' fix </a:t>
                </a:r>
                <a:r>
                  <a:rPr lang="en-IN" sz="2400">
                    <a:solidFill>
                      <a:srgbClr val="111827"/>
                    </a:solidFill>
                    <a:latin typeface="Cambria Math" panose="02040503050406030204" pitchFamily="18" charset="0"/>
                  </a:rPr>
                  <a:t>$a,A$</a:t>
                </a:r>
                <a:r>
                  <a:rPr sz="2400" b="0">
                    <a:solidFill>
                      <a:srgbClr val="111827"/>
                    </a:solidFill>
                    <a:latin typeface="Arial"/>
                  </a:rPr>
                  <a:t> without knowing </a:t>
                </a:r>
                <a:r>
                  <a:rPr lang="en-IN" sz="2400">
                    <a:solidFill>
                      <a:srgbClr val="111827"/>
                    </a:solidFill>
                    <a:latin typeface="Cambria Math" panose="02040503050406030204" pitchFamily="18" charset="0"/>
                  </a:rPr>
                  <a:t>$c$</a:t>
                </a:r>
                <a:r>
                  <a:rPr sz="2400" b="0">
                    <a:solidFill>
                      <a:srgbClr val="111827"/>
                    </a:solidFill>
                    <a:latin typeface="Arial"/>
                  </a:rPr>
                  <a:t>; </a:t>
                </a:r>
                <a:r>
                  <a:rPr lang="en-IN" sz="2400">
                    <a:solidFill>
                      <a:srgbClr val="111827"/>
                    </a:solidFill>
                    <a:latin typeface="Cambria Math" panose="02040503050406030204" pitchFamily="18" charset="0"/>
                  </a:rPr>
                  <a:t>$c$</a:t>
                </a:r>
                <a:r>
                  <a:rPr sz="2400" b="0">
                    <a:solidFill>
                      <a:srgbClr val="111827"/>
                    </a:solidFill>
                    <a:latin typeface="Arial"/>
                  </a:rPr>
                  <a:t> is needed only for </a:t>
                </a:r>
                <a:r>
                  <a:rPr lang="en-IN" sz="2400">
                    <a:solidFill>
                      <a:srgbClr val="111827"/>
                    </a:solidFill>
                    <a:latin typeface="Cambria Math" panose="02040503050406030204" pitchFamily="18" charset="0"/>
                  </a:rPr>
                  <a:t>$b,B$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confocal ellipse and hyperbola cut each other orthogonally.</a:t>
                </a:r>
                <a:endParaRPr sz="2400">
                  <a:solidFill>
                    <a:srgbClr val="111827"/>
                  </a:solidFill>
                </a:endParaRPr>
              </a:p>
            </p:txBody>
          </p:sp>
        </mc:Fallback>
      </mc:AlternateContent>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From the centre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of the hyperbola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𝑀</m:t>
                    </m:r>
                  </m:oMath>
                </a14:m>
                <a:r>
                  <a:rPr sz="2400" b="0">
                    <a:solidFill>
                      <a:srgbClr val="111827"/>
                    </a:solidFill>
                    <a:latin typeface="Arial"/>
                  </a:rPr>
                  <a:t> is drawn perpendicular to the tangent at any point of the curve, meeting the tangent at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and the curve at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Find the value of the product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From the centre </a:t>
                </a:r>
                <a:r>
                  <a:rPr lang="en-IN" sz="2400">
                    <a:solidFill>
                      <a:srgbClr val="111827"/>
                    </a:solidFill>
                    <a:latin typeface="Cambria Math" panose="02040503050406030204" pitchFamily="18" charset="0"/>
                  </a:rPr>
                  <a:t>$C$</a:t>
                </a:r>
                <a:r>
                  <a:rPr sz="2400" b="0">
                    <a:solidFill>
                      <a:srgbClr val="111827"/>
                    </a:solidFill>
                    <a:latin typeface="Arial"/>
                  </a:rPr>
                  <a:t> of the hyperbola </a:t>
                </a:r>
                <a:r>
                  <a:rPr lang="en-IN" sz="2400">
                    <a:solidFill>
                      <a:srgbClr val="111827"/>
                    </a:solidFill>
                    <a:latin typeface="Cambria Math" panose="02040503050406030204" pitchFamily="18" charset="0"/>
                  </a:rPr>
                  <a:t>$x^2-y^2=9$</a:t>
                </a:r>
                <a:r>
                  <a:rPr sz="2400" b="0">
                    <a:solidFill>
                      <a:srgbClr val="111827"/>
                    </a:solidFill>
                    <a:latin typeface="Arial"/>
                  </a:rPr>
                  <a:t>, </a:t>
                </a:r>
                <a:r>
                  <a:rPr lang="en-IN" sz="2400">
                    <a:solidFill>
                      <a:srgbClr val="111827"/>
                    </a:solidFill>
                    <a:latin typeface="Cambria Math" panose="02040503050406030204" pitchFamily="18" charset="0"/>
                  </a:rPr>
                  <a:t>$CM$</a:t>
                </a:r>
                <a:r>
                  <a:rPr sz="2400" b="0">
                    <a:solidFill>
                      <a:srgbClr val="111827"/>
                    </a:solidFill>
                    <a:latin typeface="Arial"/>
                  </a:rPr>
                  <a:t> is drawn perpendicular to the tangent at any point of the curve, meeting the tangent at </a:t>
                </a:r>
                <a:r>
                  <a:rPr lang="en-IN" sz="2400">
                    <a:solidFill>
                      <a:srgbClr val="111827"/>
                    </a:solidFill>
                    <a:latin typeface="Cambria Math" panose="02040503050406030204" pitchFamily="18" charset="0"/>
                  </a:rPr>
                  <a:t>$M$</a:t>
                </a:r>
                <a:r>
                  <a:rPr sz="2400" b="0">
                    <a:solidFill>
                      <a:srgbClr val="111827"/>
                    </a:solidFill>
                    <a:latin typeface="Arial"/>
                  </a:rPr>
                  <a:t> and the curve at </a:t>
                </a:r>
                <a:r>
                  <a:rPr lang="en-IN" sz="2400">
                    <a:solidFill>
                      <a:srgbClr val="111827"/>
                    </a:solidFill>
                    <a:latin typeface="Cambria Math" panose="02040503050406030204" pitchFamily="18" charset="0"/>
                  </a:rPr>
                  <a:t>$N$</a:t>
                </a:r>
                <a:r>
                  <a:rPr sz="2400" b="0">
                    <a:solidFill>
                      <a:srgbClr val="111827"/>
                    </a:solidFill>
                    <a:latin typeface="Arial"/>
                  </a:rPr>
                  <a:t>. Find the value of the product </a:t>
                </a:r>
                <a:r>
                  <a:rPr lang="en-IN" sz="2400">
                    <a:solidFill>
                      <a:srgbClr val="111827"/>
                    </a:solidFill>
                    <a:latin typeface="Cambria Math" panose="02040503050406030204" pitchFamily="18" charset="0"/>
                  </a:rPr>
                  <a:t>$(CM)(CN)$</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to a hyperbola and the perpendicular from the centre, Power of a point with respect to a circle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𝑀</m:t>
                    </m:r>
                  </m:oMath>
                </a14:m>
                <a:r>
                  <a:rPr sz="2400" b="0">
                    <a:solidFill>
                      <a:srgbClr val="78350F"/>
                    </a:solidFill>
                    <a:latin typeface="Arial"/>
                  </a:rPr>
                  <a:t> lies on the circle with diameter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𝑁</m:t>
                    </m:r>
                  </m:oMath>
                </a14:m>
                <a:r>
                  <a:rPr sz="2400" b="0">
                    <a:solidFill>
                      <a:srgbClr val="78350F"/>
                    </a:solidFill>
                    <a:latin typeface="Arial"/>
                  </a:rPr>
                  <a:t> (right angle at </a:t>
                </a:r>
                <a14:m>
                  <m:oMath xmlns:m="http://schemas.openxmlformats.org/officeDocument/2006/math">
                    <m:r>
                      <a:rPr lang="en-IN" sz="2400" i="1">
                        <a:solidFill>
                          <a:srgbClr val="78350F"/>
                        </a:solidFill>
                        <a:latin typeface="Cambria Math" panose="02040503050406030204" pitchFamily="18" charset="0"/>
                      </a:rPr>
                      <m:t>𝑀</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𝐶</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𝑀</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𝑁</m:t>
                    </m:r>
                  </m:oMath>
                </a14:m>
                <a:r>
                  <a:rPr sz="2400" b="0">
                    <a:solidFill>
                      <a:srgbClr val="78350F"/>
                    </a:solidFill>
                    <a:latin typeface="Arial"/>
                  </a:rPr>
                  <a:t> are collinear, so </a:t>
                </a:r>
                <a14:m>
                  <m:oMath xmlns:m="http://schemas.openxmlformats.org/officeDocument/2006/math">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𝑀</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𝑁</m:t>
                    </m:r>
                  </m:oMath>
                </a14:m>
                <a:r>
                  <a:rPr sz="2400" b="0">
                    <a:solidFill>
                      <a:srgbClr val="78350F"/>
                    </a:solidFill>
                    <a:latin typeface="Arial"/>
                  </a:rPr>
                  <a:t> is the power of </a:t>
                </a:r>
                <a14:m>
                  <m:oMath xmlns:m="http://schemas.openxmlformats.org/officeDocument/2006/math">
                    <m:r>
                      <a:rPr lang="en-IN" sz="2400" i="1">
                        <a:solidFill>
                          <a:srgbClr val="78350F"/>
                        </a:solidFill>
                        <a:latin typeface="Cambria Math" panose="02040503050406030204" pitchFamily="18" charset="0"/>
                      </a:rPr>
                      <m:t>𝐶</m:t>
                    </m:r>
                  </m:oMath>
                </a14:m>
                <a:r>
                  <a:rPr sz="2400" b="0">
                    <a:solidFill>
                      <a:srgbClr val="78350F"/>
                    </a:solidFill>
                    <a:latin typeface="Arial"/>
                  </a:rPr>
                  <a:t> with respect to that circle.</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$M$</a:t>
                </a:r>
                <a:r>
                  <a:rPr sz="2400" b="0">
                    <a:solidFill>
                      <a:srgbClr val="78350F"/>
                    </a:solidFill>
                    <a:latin typeface="Arial"/>
                  </a:rPr>
                  <a:t> lies on the circle with diameter </a:t>
                </a:r>
                <a:r>
                  <a:rPr lang="en-IN" sz="2400">
                    <a:solidFill>
                      <a:srgbClr val="78350F"/>
                    </a:solidFill>
                    <a:latin typeface="Cambria Math" panose="02040503050406030204" pitchFamily="18" charset="0"/>
                  </a:rPr>
                  <a:t>$PN$</a:t>
                </a:r>
                <a:r>
                  <a:rPr sz="2400" b="0">
                    <a:solidFill>
                      <a:srgbClr val="78350F"/>
                    </a:solidFill>
                    <a:latin typeface="Arial"/>
                  </a:rPr>
                  <a:t> (right angle at </a:t>
                </a:r>
                <a:r>
                  <a:rPr lang="en-IN" sz="2400">
                    <a:solidFill>
                      <a:srgbClr val="78350F"/>
                    </a:solidFill>
                    <a:latin typeface="Cambria Math" panose="02040503050406030204" pitchFamily="18" charset="0"/>
                  </a:rPr>
                  <a:t>$M$</a:t>
                </a:r>
                <a:r>
                  <a:rPr sz="2400" b="0">
                    <a:solidFill>
                      <a:srgbClr val="78350F"/>
                    </a:solidFill>
                    <a:latin typeface="Arial"/>
                  </a:rPr>
                  <a:t>) and </a:t>
                </a:r>
                <a:r>
                  <a:rPr lang="en-IN" sz="2400">
                    <a:solidFill>
                      <a:srgbClr val="78350F"/>
                    </a:solidFill>
                    <a:latin typeface="Cambria Math" panose="02040503050406030204" pitchFamily="18" charset="0"/>
                  </a:rPr>
                  <a:t>$C,M,N$</a:t>
                </a:r>
                <a:r>
                  <a:rPr sz="2400" b="0">
                    <a:solidFill>
                      <a:srgbClr val="78350F"/>
                    </a:solidFill>
                    <a:latin typeface="Arial"/>
                  </a:rPr>
                  <a:t> are collinear, so </a:t>
                </a:r>
                <a:r>
                  <a:rPr lang="en-IN" sz="2400">
                    <a:solidFill>
                      <a:srgbClr val="78350F"/>
                    </a:solidFill>
                    <a:latin typeface="Cambria Math" panose="02040503050406030204" pitchFamily="18" charset="0"/>
                  </a:rPr>
                  <a:t>$CM\cdot CN$</a:t>
                </a:r>
                <a:r>
                  <a:rPr sz="2400" b="0">
                    <a:solidFill>
                      <a:srgbClr val="78350F"/>
                    </a:solidFill>
                    <a:latin typeface="Arial"/>
                  </a:rPr>
                  <a:t> is the power of </a:t>
                </a:r>
                <a:r>
                  <a:rPr lang="en-IN" sz="2400">
                    <a:solidFill>
                      <a:srgbClr val="78350F"/>
                    </a:solidFill>
                    <a:latin typeface="Cambria Math" panose="02040503050406030204" pitchFamily="18" charset="0"/>
                  </a:rPr>
                  <a:t>$C$</a:t>
                </a:r>
                <a:r>
                  <a:rPr sz="2400" b="0">
                    <a:solidFill>
                      <a:srgbClr val="78350F"/>
                    </a:solidFill>
                    <a:latin typeface="Arial"/>
                  </a:rPr>
                  <a:t> with respect to that circle.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slope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oMath>
                </a14:m>
                <a:r>
                  <a:rPr sz="2400" b="0">
                    <a:solidFill>
                      <a:srgbClr val="111827"/>
                    </a:solidFill>
                    <a:latin typeface="Arial"/>
                  </a:rPr>
                  <a:t>, so the perpendicular slope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through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perpendicular to (1):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Solve (2) with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oMath>
                </a14:m>
                <a:r>
                  <a:rPr sz="2400" b="0">
                    <a:solidFill>
                      <a:srgbClr val="111827"/>
                    </a:solidFill>
                    <a:latin typeface="Arial"/>
                  </a:rPr>
                  <a:t>. Hence the point of the curve on this line is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$P(a\sec\theta,a\tan\theta)$</a:t>
                </a:r>
                <a:r>
                  <a:rPr sz="2400" b="0">
                    <a:solidFill>
                      <a:srgbClr val="111827"/>
                    </a:solidFill>
                    <a:latin typeface="Arial"/>
                  </a:rPr>
                  <a:t>, </a:t>
                </a:r>
                <a:r>
                  <a:rPr lang="en-IN" sz="2400">
                    <a:solidFill>
                      <a:srgbClr val="111827"/>
                    </a:solidFill>
                    <a:latin typeface="Cambria Math" panose="02040503050406030204" pitchFamily="18" charset="0"/>
                  </a:rPr>
                  <a:t>$a=3$</a:t>
                </a:r>
                <a:r>
                  <a:rPr sz="2400" b="0">
                    <a:solidFill>
                      <a:srgbClr val="111827"/>
                    </a:solidFill>
                    <a:latin typeface="Arial"/>
                  </a:rPr>
                  <a:t>: </a:t>
                </a:r>
                <a:r>
                  <a:rPr lang="en-IN" sz="2400">
                    <a:solidFill>
                      <a:srgbClr val="111827"/>
                    </a:solidFill>
                    <a:latin typeface="Cambria Math" panose="02040503050406030204" pitchFamily="18" charset="0"/>
                  </a:rPr>
                  <a:t>$x\sec\theta-y\tan\theta=a$</a:t>
                </a:r>
                <a:r>
                  <a:rPr sz="2400" b="0">
                    <a:solidFill>
                      <a:srgbClr val="111827"/>
                    </a:solidFill>
                    <a:latin typeface="Arial"/>
                  </a:rPr>
                  <a:t>, i.e. </a:t>
                </a:r>
                <a:r>
                  <a:rPr lang="en-IN" sz="2400">
                    <a:solidFill>
                      <a:srgbClr val="111827"/>
                    </a:solidFill>
                    <a:latin typeface="Cambria Math" panose="02040503050406030204" pitchFamily="18" charset="0"/>
                  </a:rPr>
                  <a:t>$x-y\sin\theta=a\cos\theta$</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slope is </a:t>
                </a:r>
                <a:r>
                  <a:rPr lang="en-IN" sz="2400">
                    <a:solidFill>
                      <a:srgbClr val="111827"/>
                    </a:solidFill>
                    <a:latin typeface="Cambria Math" panose="02040503050406030204" pitchFamily="18" charset="0"/>
                  </a:rPr>
                  <a:t>$\frac{1}{\sin\theta}$</a:t>
                </a:r>
                <a:r>
                  <a:rPr sz="2400" b="0">
                    <a:solidFill>
                      <a:srgbClr val="111827"/>
                    </a:solidFill>
                    <a:latin typeface="Arial"/>
                  </a:rPr>
                  <a:t>, so the perpendicular slope is </a:t>
                </a:r>
                <a:r>
                  <a:rPr lang="en-IN" sz="2400">
                    <a:solidFill>
                      <a:srgbClr val="111827"/>
                    </a:solidFill>
                    <a:latin typeface="Cambria Math" panose="02040503050406030204" pitchFamily="18" charset="0"/>
                  </a:rPr>
                  <a:t>$-\sin\theta$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through </a:t>
                </a:r>
                <a:r>
                  <a:rPr lang="en-IN" sz="2400">
                    <a:solidFill>
                      <a:srgbClr val="111827"/>
                    </a:solidFill>
                    <a:latin typeface="Cambria Math" panose="02040503050406030204" pitchFamily="18" charset="0"/>
                  </a:rPr>
                  <a:t>$C$</a:t>
                </a:r>
                <a:r>
                  <a:rPr sz="2400" b="0">
                    <a:solidFill>
                      <a:srgbClr val="111827"/>
                    </a:solidFill>
                    <a:latin typeface="Arial"/>
                  </a:rPr>
                  <a:t> perpendicular to (1): </a:t>
                </a:r>
                <a:r>
                  <a:rPr lang="en-IN" sz="2400">
                    <a:solidFill>
                      <a:srgbClr val="111827"/>
                    </a:solidFill>
                    <a:latin typeface="Cambria Math" panose="02040503050406030204" pitchFamily="18" charset="0"/>
                  </a:rPr>
                  <a:t>$y=mx+c$</a:t>
                </a:r>
                <a:r>
                  <a:rPr sz="2400" b="0">
                    <a:solidFill>
                      <a:srgbClr val="111827"/>
                    </a:solidFill>
                    <a:latin typeface="Arial"/>
                  </a:rPr>
                  <a:t> with </a:t>
                </a:r>
                <a:r>
                  <a:rPr lang="en-IN" sz="2400">
                    <a:solidFill>
                      <a:srgbClr val="111827"/>
                    </a:solidFill>
                    <a:latin typeface="Cambria Math" panose="02040503050406030204" pitchFamily="18" charset="0"/>
                  </a:rPr>
                  <a:t>$m=-\sin\theta$</a:t>
                </a:r>
                <a:r>
                  <a:rPr sz="2400" b="0">
                    <a:solidFill>
                      <a:srgbClr val="111827"/>
                    </a:solidFill>
                    <a:latin typeface="Arial"/>
                  </a:rPr>
                  <a:t>, </a:t>
                </a:r>
                <a:r>
                  <a:rPr lang="en-IN" sz="2400">
                    <a:solidFill>
                      <a:srgbClr val="111827"/>
                    </a:solidFill>
                    <a:latin typeface="Cambria Math" panose="02040503050406030204" pitchFamily="18" charset="0"/>
                  </a:rPr>
                  <a:t>$c=0$</a:t>
                </a:r>
                <a:r>
                  <a:rPr sz="2400" b="0">
                    <a:solidFill>
                      <a:srgbClr val="111827"/>
                    </a:solidFill>
                    <a:latin typeface="Arial"/>
                  </a:rPr>
                  <a:t>: </a:t>
                </a:r>
                <a:r>
                  <a:rPr lang="en-IN" sz="2400">
                    <a:solidFill>
                      <a:srgbClr val="111827"/>
                    </a:solidFill>
                    <a:latin typeface="Cambria Math" panose="02040503050406030204" pitchFamily="18" charset="0"/>
                  </a:rPr>
                  <a:t>$x\sin\theta+y=0$</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Solve (2) with </a:t>
                </a:r>
                <a:r>
                  <a:rPr lang="en-IN" sz="2400">
                    <a:solidFill>
                      <a:srgbClr val="111827"/>
                    </a:solidFill>
                    <a:latin typeface="Cambria Math" panose="02040503050406030204" pitchFamily="18" charset="0"/>
                  </a:rPr>
                  <a:t>$x^2-y^2=a^2$</a:t>
                </a:r>
                <a:r>
                  <a:rPr sz="2400" b="0">
                    <a:solidFill>
                      <a:srgbClr val="111827"/>
                    </a:solidFill>
                    <a:latin typeface="Arial"/>
                  </a:rPr>
                  <a:t>: </a:t>
                </a:r>
                <a:r>
                  <a:rPr lang="en-IN" sz="2400">
                    <a:solidFill>
                      <a:srgbClr val="111827"/>
                    </a:solidFill>
                    <a:latin typeface="Cambria Math" panose="02040503050406030204" pitchFamily="18" charset="0"/>
                  </a:rPr>
                  <a:t>$x^2-x^2\sin^2\theta=a^2$</a:t>
                </a:r>
                <a:r>
                  <a:rPr sz="2400" b="0">
                    <a:solidFill>
                      <a:srgbClr val="111827"/>
                    </a:solidFill>
                    <a:latin typeface="Arial"/>
                  </a:rPr>
                  <a:t>, so </a:t>
                </a:r>
                <a:r>
                  <a:rPr lang="en-IN" sz="2400">
                    <a:solidFill>
                      <a:srgbClr val="111827"/>
                    </a:solidFill>
                    <a:latin typeface="Cambria Math" panose="02040503050406030204" pitchFamily="18" charset="0"/>
                  </a:rPr>
                  <a:t>$x^2=a^2\sec^2\theta$</a:t>
                </a:r>
                <a:r>
                  <a:rPr sz="2400" b="0">
                    <a:solidFill>
                      <a:srgbClr val="111827"/>
                    </a:solidFill>
                    <a:latin typeface="Arial"/>
                  </a:rPr>
                  <a:t> and </a:t>
                </a:r>
                <a:r>
                  <a:rPr lang="en-IN" sz="2400">
                    <a:solidFill>
                      <a:srgbClr val="111827"/>
                    </a:solidFill>
                    <a:latin typeface="Cambria Math" panose="02040503050406030204" pitchFamily="18" charset="0"/>
                  </a:rPr>
                  <a:t>$x=a\sec\theta$</a:t>
                </a:r>
                <a:r>
                  <a:rPr sz="2400" b="0">
                    <a:solidFill>
                      <a:srgbClr val="111827"/>
                    </a:solidFill>
                    <a:latin typeface="Arial"/>
                  </a:rPr>
                  <a:t>. Hence the point of the curve on this line is </a:t>
                </a:r>
                <a:r>
                  <a:rPr lang="en-IN" sz="2400">
                    <a:solidFill>
                      <a:srgbClr val="111827"/>
                    </a:solidFill>
                    <a:latin typeface="Cambria Math" panose="02040503050406030204" pitchFamily="18" charset="0"/>
                  </a:rPr>
                  <a:t>$N\equiv(a\sec\theta,\ -a\tan\theta)$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tangent,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lies on the circle with diameter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are collinear, so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𝑀</m:t>
                    </m:r>
                  </m:oMath>
                </a14:m>
                <a:r>
                  <a:rPr sz="2400" b="0">
                    <a:solidFill>
                      <a:srgbClr val="111827"/>
                    </a:solidFill>
                    <a:latin typeface="Arial"/>
                  </a:rPr>
                  <a:t> is the power of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with respect to this 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circle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 of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$CM\perp$</a:t>
                </a:r>
                <a:r>
                  <a:rPr sz="2400" b="0">
                    <a:solidFill>
                      <a:srgbClr val="111827"/>
                    </a:solidFill>
                    <a:latin typeface="Arial"/>
                  </a:rPr>
                  <a:t> tangent, so </a:t>
                </a:r>
                <a:r>
                  <a:rPr lang="en-IN" sz="2400">
                    <a:solidFill>
                      <a:srgbClr val="111827"/>
                    </a:solidFill>
                    <a:latin typeface="Cambria Math" panose="02040503050406030204" pitchFamily="18" charset="0"/>
                  </a:rPr>
                  <a:t>$\angle PMN=90^\circ$</a:t>
                </a:r>
                <a:r>
                  <a:rPr sz="2400" b="0">
                    <a:solidFill>
                      <a:srgbClr val="111827"/>
                    </a:solidFill>
                    <a:latin typeface="Arial"/>
                  </a:rPr>
                  <a:t> and </a:t>
                </a:r>
                <a:r>
                  <a:rPr lang="en-IN" sz="2400">
                    <a:solidFill>
                      <a:srgbClr val="111827"/>
                    </a:solidFill>
                    <a:latin typeface="Cambria Math" panose="02040503050406030204" pitchFamily="18" charset="0"/>
                  </a:rPr>
                  <a:t>$M$</a:t>
                </a:r>
                <a:r>
                  <a:rPr sz="2400" b="0">
                    <a:solidFill>
                      <a:srgbClr val="111827"/>
                    </a:solidFill>
                    <a:latin typeface="Arial"/>
                  </a:rPr>
                  <a:t> lies on the circle with diameter </a:t>
                </a:r>
                <a:r>
                  <a:rPr lang="en-IN" sz="2400">
                    <a:solidFill>
                      <a:srgbClr val="111827"/>
                    </a:solidFill>
                    <a:latin typeface="Cambria Math" panose="02040503050406030204" pitchFamily="18" charset="0"/>
                  </a:rPr>
                  <a:t>$PN$</a:t>
                </a:r>
                <a:r>
                  <a:rPr sz="2400" b="0">
                    <a:solidFill>
                      <a:srgbClr val="111827"/>
                    </a:solidFill>
                    <a:latin typeface="Arial"/>
                  </a:rPr>
                  <a:t>; </a:t>
                </a:r>
                <a:r>
                  <a:rPr lang="en-IN" sz="2400">
                    <a:solidFill>
                      <a:srgbClr val="111827"/>
                    </a:solidFill>
                    <a:latin typeface="Cambria Math" panose="02040503050406030204" pitchFamily="18" charset="0"/>
                  </a:rPr>
                  <a:t>$C,M,N$</a:t>
                </a:r>
                <a:r>
                  <a:rPr sz="2400" b="0">
                    <a:solidFill>
                      <a:srgbClr val="111827"/>
                    </a:solidFill>
                    <a:latin typeface="Arial"/>
                  </a:rPr>
                  <a:t> are collinear, so </a:t>
                </a:r>
                <a:r>
                  <a:rPr lang="en-IN" sz="2400">
                    <a:solidFill>
                      <a:srgbClr val="111827"/>
                    </a:solidFill>
                    <a:latin typeface="Cambria Math" panose="02040503050406030204" pitchFamily="18" charset="0"/>
                  </a:rPr>
                  <a:t>$CN\cdot CM$</a:t>
                </a:r>
                <a:r>
                  <a:rPr sz="2400" b="0">
                    <a:solidFill>
                      <a:srgbClr val="111827"/>
                    </a:solidFill>
                    <a:latin typeface="Arial"/>
                  </a:rPr>
                  <a:t> is the power of </a:t>
                </a:r>
                <a:r>
                  <a:rPr lang="en-IN" sz="2400">
                    <a:solidFill>
                      <a:srgbClr val="111827"/>
                    </a:solidFill>
                    <a:latin typeface="Cambria Math" panose="02040503050406030204" pitchFamily="18" charset="0"/>
                  </a:rPr>
                  <a:t>$C$</a:t>
                </a:r>
                <a:r>
                  <a:rPr sz="2400" b="0">
                    <a:solidFill>
                      <a:srgbClr val="111827"/>
                    </a:solidFill>
                    <a:latin typeface="Arial"/>
                  </a:rPr>
                  <a:t> with respect to this 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circle is </a:t>
                </a:r>
                <a:r>
                  <a:rPr lang="en-IN" sz="2400">
                    <a:solidFill>
                      <a:srgbClr val="111827"/>
                    </a:solidFill>
                    <a:latin typeface="Cambria Math" panose="02040503050406030204" pitchFamily="18" charset="0"/>
                  </a:rPr>
                  <a:t>$(x-a\sec\theta)^2+(y-a\tan\theta)(y+a\tan\theta)=0$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 of </a:t>
                </a:r>
                <a:r>
                  <a:rPr lang="en-IN" sz="2400">
                    <a:solidFill>
                      <a:srgbClr val="111827"/>
                    </a:solidFill>
                    <a:latin typeface="Cambria Math" panose="02040503050406030204" pitchFamily="18" charset="0"/>
                  </a:rPr>
                  <a:t>$C(0,0)$</a:t>
                </a:r>
                <a:r>
                  <a:rPr sz="2400" b="0">
                    <a:solidFill>
                      <a:srgbClr val="111827"/>
                    </a:solidFill>
                    <a:latin typeface="Arial"/>
                  </a:rPr>
                  <a:t>: </a:t>
                </a:r>
                <a:r>
                  <a:rPr lang="en-IN" sz="2400">
                    <a:solidFill>
                      <a:srgbClr val="111827"/>
                    </a:solidFill>
                    <a:latin typeface="Cambria Math" panose="02040503050406030204" pitchFamily="18" charset="0"/>
                  </a:rPr>
                  <a:t>$a^2\sec^2\theta-a^2\tan^2\theta=a^2=9$</a:t>
                </a:r>
                <a:r>
                  <a:rPr sz="2400" b="0">
                    <a:solidFill>
                      <a:srgbClr val="111827"/>
                    </a:solidFill>
                    <a:latin typeface="Arial"/>
                  </a:rPr>
                  <a:t>. So </a:t>
                </a:r>
                <a:r>
                  <a:rPr lang="en-IN" sz="2400">
                    <a:solidFill>
                      <a:srgbClr val="111827"/>
                    </a:solidFill>
                    <a:latin typeface="Cambria Math" panose="02040503050406030204" pitchFamily="18" charset="0"/>
                  </a:rPr>
                  <a:t>$CN\cdot CM=9$</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9</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$9$</a:t>
                </a:r>
                <a:endParaRPr sz="2800">
                  <a:solidFill>
                    <a:srgbClr val="15803D"/>
                  </a:solidFill>
                </a:endParaRPr>
              </a:p>
            </p:txBody>
          </p:sp>
        </mc:Fallback>
      </mc:AlternateContent>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Polar form about the centre: the tangent at distance </a:t>
                </a:r>
                <a14:m>
                  <m:oMath xmlns:m="http://schemas.openxmlformats.org/officeDocument/2006/math">
                    <m:r>
                      <a:rPr lang="en-IN" sz="2400" i="1">
                        <a:solidFill>
                          <a:srgbClr val="78350F"/>
                        </a:solidFill>
                        <a:latin typeface="Cambria Math" panose="02040503050406030204" pitchFamily="18" charset="0"/>
                      </a:rPr>
                      <m:t>𝑝</m:t>
                    </m:r>
                  </m:oMath>
                </a14:m>
                <a:r>
                  <a:rPr sz="2400" b="0">
                    <a:solidFill>
                      <a:srgbClr val="78350F"/>
                    </a:solidFill>
                    <a:latin typeface="Arial"/>
                  </a:rPr>
                  <a:t> with normal direction </a:t>
                </a:r>
                <a14:m>
                  <m:oMath xmlns:m="http://schemas.openxmlformats.org/officeDocument/2006/math">
                    <m:r>
                      <a:rPr lang="en-IN" sz="2400" i="1">
                        <a:solidFill>
                          <a:srgbClr val="78350F"/>
                        </a:solidFill>
                        <a:latin typeface="Cambria Math" panose="02040503050406030204" pitchFamily="18" charset="0"/>
                      </a:rPr>
                      <m:t>φ</m:t>
                    </m:r>
                  </m:oMath>
                </a14:m>
                <a:r>
                  <a:rPr sz="2400" b="0">
                    <a:solidFill>
                      <a:srgbClr val="78350F"/>
                    </a:solidFill>
                    <a:latin typeface="Arial"/>
                  </a:rPr>
                  <a:t> has </a:t>
                </a:r>
                <a14:m>
                  <m:oMath xmlns:m="http://schemas.openxmlformats.org/officeDocument/2006/math">
                    <m:sSup>
                      <m:e>
                        <m:r>
                          <a:rPr lang="en-IN" sz="2400" i="1">
                            <a:solidFill>
                              <a:srgbClr val="78350F"/>
                            </a:solidFill>
                            <a:latin typeface="Cambria Math" panose="02040503050406030204" pitchFamily="18" charset="0"/>
                          </a:rPr>
                          <m:t>𝑝</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φ</m:t>
                    </m:r>
                  </m:oMath>
                </a14:m>
                <a:r>
                  <a:rPr sz="2400" b="0">
                    <a:solidFill>
                      <a:srgbClr val="78350F"/>
                    </a:solidFill>
                    <a:latin typeface="Arial"/>
                  </a:rPr>
                  <a:t> and the curve in direction </a:t>
                </a:r>
                <a14:m>
                  <m:oMath xmlns:m="http://schemas.openxmlformats.org/officeDocument/2006/math">
                    <m:r>
                      <a:rPr lang="en-IN" sz="2400" i="1">
                        <a:solidFill>
                          <a:srgbClr val="78350F"/>
                        </a:solidFill>
                        <a:latin typeface="Cambria Math" panose="02040503050406030204" pitchFamily="18" charset="0"/>
                      </a:rPr>
                      <m:t>φ</m:t>
                    </m:r>
                  </m:oMath>
                </a14:m>
                <a:r>
                  <a:rPr sz="2400" b="0">
                    <a:solidFill>
                      <a:srgbClr val="78350F"/>
                    </a:solidFill>
                    <a:latin typeface="Arial"/>
                  </a:rPr>
                  <a:t> has </a:t>
                </a:r>
                <a14:m>
                  <m:oMath xmlns:m="http://schemas.openxmlformats.org/officeDocument/2006/math">
                    <m:sSup>
                      <m:e>
                        <m:r>
                          <a:rPr lang="en-IN" sz="2400" i="1">
                            <a:solidFill>
                              <a:srgbClr val="78350F"/>
                            </a:solidFill>
                            <a:latin typeface="Cambria Math" panose="02040503050406030204" pitchFamily="18" charset="0"/>
                          </a:rPr>
                          <m:t>𝑟</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φ</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Polar form about the centre: the tangent at distance </a:t>
                </a:r>
                <a:r>
                  <a:rPr lang="en-IN" sz="2400">
                    <a:solidFill>
                      <a:srgbClr val="78350F"/>
                    </a:solidFill>
                    <a:latin typeface="Cambria Math" panose="02040503050406030204" pitchFamily="18" charset="0"/>
                  </a:rPr>
                  <a:t>$p$</a:t>
                </a:r>
                <a:r>
                  <a:rPr sz="2400" b="0">
                    <a:solidFill>
                      <a:srgbClr val="78350F"/>
                    </a:solidFill>
                    <a:latin typeface="Arial"/>
                  </a:rPr>
                  <a:t> with normal direction </a:t>
                </a:r>
                <a:r>
                  <a:rPr lang="en-IN" sz="2400">
                    <a:solidFill>
                      <a:srgbClr val="78350F"/>
                    </a:solidFill>
                    <a:latin typeface="Cambria Math" panose="02040503050406030204" pitchFamily="18" charset="0"/>
                  </a:rPr>
                  <a:t>$\varphi$</a:t>
                </a:r>
                <a:r>
                  <a:rPr sz="2400" b="0">
                    <a:solidFill>
                      <a:srgbClr val="78350F"/>
                    </a:solidFill>
                    <a:latin typeface="Arial"/>
                  </a:rPr>
                  <a:t> has </a:t>
                </a:r>
                <a:r>
                  <a:rPr lang="en-IN" sz="2400">
                    <a:solidFill>
                      <a:srgbClr val="78350F"/>
                    </a:solidFill>
                    <a:latin typeface="Cambria Math" panose="02040503050406030204" pitchFamily="18" charset="0"/>
                  </a:rPr>
                  <a:t>$p^2=a^2\cos2\varphi$</a:t>
                </a:r>
                <a:r>
                  <a:rPr sz="2400" b="0">
                    <a:solidFill>
                      <a:srgbClr val="78350F"/>
                    </a:solidFill>
                    <a:latin typeface="Arial"/>
                  </a:rPr>
                  <a:t> and the curve in direction </a:t>
                </a:r>
                <a:r>
                  <a:rPr lang="en-IN" sz="2400">
                    <a:solidFill>
                      <a:srgbClr val="78350F"/>
                    </a:solidFill>
                    <a:latin typeface="Cambria Math" panose="02040503050406030204" pitchFamily="18" charset="0"/>
                  </a:rPr>
                  <a:t>$\varphi$</a:t>
                </a:r>
                <a:r>
                  <a:rPr sz="2400" b="0">
                    <a:solidFill>
                      <a:srgbClr val="78350F"/>
                    </a:solidFill>
                    <a:latin typeface="Arial"/>
                  </a:rPr>
                  <a:t> has </a:t>
                </a:r>
                <a:r>
                  <a:rPr lang="en-IN" sz="2400">
                    <a:solidFill>
                      <a:srgbClr val="78350F"/>
                    </a:solidFill>
                    <a:latin typeface="Cambria Math" panose="02040503050406030204" pitchFamily="18" charset="0"/>
                  </a:rPr>
                  <a:t>$r^2\cos2\varphi=a^2$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tangent with unit normal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distance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from the centre with </a:t>
                </a:r>
                <a14:m>
                  <m:oMath xmlns:m="http://schemas.openxmlformats.org/officeDocument/2006/math">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φ</m:t>
                    </m:r>
                  </m:oMath>
                </a14:m>
                <a:r>
                  <a:rPr sz="2400" b="0">
                    <a:solidFill>
                      <a:srgbClr val="111827"/>
                    </a:solidFill>
                    <a:latin typeface="Arial"/>
                  </a:rPr>
                  <a:t> (tangency condition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is the foot of the perpendicular from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on the tangent, so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lies in the direction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curve in the direction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a point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satisfies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𝐶</m:t>
                    </m:r>
                    <m:sSup>
                      <m:e>
                        <m:r>
                          <a:rPr lang="en-IN" sz="2400" i="1">
                            <a:solidFill>
                              <a:srgbClr val="111827"/>
                            </a:solidFill>
                            <a:latin typeface="Cambria Math" panose="02040503050406030204" pitchFamily="18" charset="0"/>
                          </a:rPr>
                          <m:t>𝑁</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φ</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$x^2-y^2=a^2$</a:t>
                </a:r>
                <a:r>
                  <a:rPr sz="2400" b="0">
                    <a:solidFill>
                      <a:srgbClr val="111827"/>
                    </a:solidFill>
                    <a:latin typeface="Arial"/>
                  </a:rPr>
                  <a:t> the tangent with unit normal </a:t>
                </a:r>
                <a:r>
                  <a:rPr lang="en-IN" sz="2400">
                    <a:solidFill>
                      <a:srgbClr val="111827"/>
                    </a:solidFill>
                    <a:latin typeface="Cambria Math" panose="02040503050406030204" pitchFamily="18" charset="0"/>
                  </a:rPr>
                  <a:t>$(\cos\varphi,\sin\varphi)$</a:t>
                </a:r>
                <a:r>
                  <a:rPr sz="2400" b="0">
                    <a:solidFill>
                      <a:srgbClr val="111827"/>
                    </a:solidFill>
                    <a:latin typeface="Arial"/>
                  </a:rPr>
                  <a:t> is at distance </a:t>
                </a:r>
                <a:r>
                  <a:rPr lang="en-IN" sz="2400">
                    <a:solidFill>
                      <a:srgbClr val="111827"/>
                    </a:solidFill>
                    <a:latin typeface="Cambria Math" panose="02040503050406030204" pitchFamily="18" charset="0"/>
                  </a:rPr>
                  <a:t>$p$</a:t>
                </a:r>
                <a:r>
                  <a:rPr sz="2400" b="0">
                    <a:solidFill>
                      <a:srgbClr val="111827"/>
                    </a:solidFill>
                    <a:latin typeface="Arial"/>
                  </a:rPr>
                  <a:t> from the centre with </a:t>
                </a:r>
                <a:r>
                  <a:rPr lang="en-IN" sz="2400">
                    <a:solidFill>
                      <a:srgbClr val="111827"/>
                    </a:solidFill>
                    <a:latin typeface="Cambria Math" panose="02040503050406030204" pitchFamily="18" charset="0"/>
                  </a:rPr>
                  <a:t>$p^2=a^2\cos^2\varphi-a^2\sin^2\varphi=a^2\cos2\varphi$</a:t>
                </a:r>
                <a:r>
                  <a:rPr sz="2400" b="0">
                    <a:solidFill>
                      <a:srgbClr val="111827"/>
                    </a:solidFill>
                    <a:latin typeface="Arial"/>
                  </a:rPr>
                  <a:t> (tangency condition of </a:t>
                </a:r>
                <a:r>
                  <a:rPr lang="en-IN" sz="2400">
                    <a:solidFill>
                      <a:srgbClr val="111827"/>
                    </a:solidFill>
                    <a:latin typeface="Cambria Math" panose="02040503050406030204" pitchFamily="18" charset="0"/>
                  </a:rPr>
                  <a:t>$\frac{x^2}{a^2}-\frac{y^2}{b^2}=1$</a:t>
                </a:r>
                <a:r>
                  <a:rPr sz="2400" b="0">
                    <a:solidFill>
                      <a:srgbClr val="111827"/>
                    </a:solidFill>
                    <a:latin typeface="Arial"/>
                  </a:rPr>
                  <a:t> with </a:t>
                </a:r>
                <a:r>
                  <a:rPr lang="en-IN" sz="2400">
                    <a:solidFill>
                      <a:srgbClr val="111827"/>
                    </a:solidFill>
                    <a:latin typeface="Cambria Math" panose="02040503050406030204" pitchFamily="18" charset="0"/>
                  </a:rPr>
                  <a:t>$b=a$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a:t>
                </a:r>
                <a:r>
                  <a:rPr sz="2400" b="0">
                    <a:solidFill>
                      <a:srgbClr val="111827"/>
                    </a:solidFill>
                    <a:latin typeface="Arial"/>
                  </a:rPr>
                  <a:t> is the foot of the perpendicular from </a:t>
                </a:r>
                <a:r>
                  <a:rPr lang="en-IN" sz="2400">
                    <a:solidFill>
                      <a:srgbClr val="111827"/>
                    </a:solidFill>
                    <a:latin typeface="Cambria Math" panose="02040503050406030204" pitchFamily="18" charset="0"/>
                  </a:rPr>
                  <a:t>$C$</a:t>
                </a:r>
                <a:r>
                  <a:rPr sz="2400" b="0">
                    <a:solidFill>
                      <a:srgbClr val="111827"/>
                    </a:solidFill>
                    <a:latin typeface="Arial"/>
                  </a:rPr>
                  <a:t> on the tangent, so </a:t>
                </a:r>
                <a:r>
                  <a:rPr lang="en-IN" sz="2400">
                    <a:solidFill>
                      <a:srgbClr val="111827"/>
                    </a:solidFill>
                    <a:latin typeface="Cambria Math" panose="02040503050406030204" pitchFamily="18" charset="0"/>
                  </a:rPr>
                  <a:t>$CM=p$</a:t>
                </a:r>
                <a:r>
                  <a:rPr sz="2400" b="0">
                    <a:solidFill>
                      <a:srgbClr val="111827"/>
                    </a:solidFill>
                    <a:latin typeface="Arial"/>
                  </a:rPr>
                  <a:t> and </a:t>
                </a:r>
                <a:r>
                  <a:rPr lang="en-IN" sz="2400">
                    <a:solidFill>
                      <a:srgbClr val="111827"/>
                    </a:solidFill>
                    <a:latin typeface="Cambria Math" panose="02040503050406030204" pitchFamily="18" charset="0"/>
                  </a:rPr>
                  <a:t>$M$</a:t>
                </a:r>
                <a:r>
                  <a:rPr sz="2400" b="0">
                    <a:solidFill>
                      <a:srgbClr val="111827"/>
                    </a:solidFill>
                    <a:latin typeface="Arial"/>
                  </a:rPr>
                  <a:t> lies in the direction </a:t>
                </a:r>
                <a:r>
                  <a:rPr lang="en-IN" sz="2400">
                    <a:solidFill>
                      <a:srgbClr val="111827"/>
                    </a:solidFill>
                    <a:latin typeface="Cambria Math" panose="02040503050406030204" pitchFamily="18" charset="0"/>
                  </a:rPr>
                  <a:t>$\varphi$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curve in the direction </a:t>
                </a:r>
                <a:r>
                  <a:rPr lang="en-IN" sz="2400">
                    <a:solidFill>
                      <a:srgbClr val="111827"/>
                    </a:solidFill>
                    <a:latin typeface="Cambria Math" panose="02040503050406030204" pitchFamily="18" charset="0"/>
                  </a:rPr>
                  <a:t>$\varphi$</a:t>
                </a:r>
                <a:r>
                  <a:rPr sz="2400" b="0">
                    <a:solidFill>
                      <a:srgbClr val="111827"/>
                    </a:solidFill>
                    <a:latin typeface="Arial"/>
                  </a:rPr>
                  <a:t>: a point </a:t>
                </a:r>
                <a:r>
                  <a:rPr lang="en-IN" sz="2400">
                    <a:solidFill>
                      <a:srgbClr val="111827"/>
                    </a:solidFill>
                    <a:latin typeface="Cambria Math" panose="02040503050406030204" pitchFamily="18" charset="0"/>
                  </a:rPr>
                  <a:t>$r(\cos\varphi,\sin\varphi)$</a:t>
                </a:r>
                <a:r>
                  <a:rPr sz="2400" b="0">
                    <a:solidFill>
                      <a:srgbClr val="111827"/>
                    </a:solidFill>
                    <a:latin typeface="Arial"/>
                  </a:rPr>
                  <a:t> satisfies </a:t>
                </a:r>
                <a:r>
                  <a:rPr lang="en-IN" sz="2400">
                    <a:solidFill>
                      <a:srgbClr val="111827"/>
                    </a:solidFill>
                    <a:latin typeface="Cambria Math" panose="02040503050406030204" pitchFamily="18" charset="0"/>
                  </a:rPr>
                  <a:t>$r^2(\cos^2\varphi-\sin^2\varphi)=a^2$</a:t>
                </a:r>
                <a:r>
                  <a:rPr sz="2400" b="0">
                    <a:solidFill>
                      <a:srgbClr val="111827"/>
                    </a:solidFill>
                    <a:latin typeface="Arial"/>
                  </a:rPr>
                  <a:t>, so </a:t>
                </a:r>
                <a:r>
                  <a:rPr lang="en-IN" sz="2400">
                    <a:solidFill>
                      <a:srgbClr val="111827"/>
                    </a:solidFill>
                    <a:latin typeface="Cambria Math" panose="02040503050406030204" pitchFamily="18" charset="0"/>
                  </a:rPr>
                  <a:t>$CN^2=\frac{a^2}{\cos2\varphi}$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𝐶</m:t>
                    </m:r>
                    <m:sSup>
                      <m:e>
                        <m:r>
                          <a:rPr lang="en-IN" sz="2400" i="1">
                            <a:solidFill>
                              <a:srgbClr val="111827"/>
                            </a:solidFill>
                            <a:latin typeface="Cambria Math" panose="02040503050406030204" pitchFamily="18" charset="0"/>
                          </a:rPr>
                          <m:t>𝑀</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sSup>
                      <m:e>
                        <m:r>
                          <a:rPr lang="en-IN" sz="2400" i="1">
                            <a:solidFill>
                              <a:srgbClr val="111827"/>
                            </a:solidFill>
                            <a:latin typeface="Cambria Math" panose="02040503050406030204" pitchFamily="18" charset="0"/>
                          </a:rPr>
                          <m:t>𝑁</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φ</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4</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$CM^2\cdot CN^2=a^2\cos2\varphi\cdot\frac{a^2}{\cos2\varphi}=a^4$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$CM\cdot CN=a^2=9$</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9</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$9$</a:t>
                </a:r>
                <a:endParaRPr sz="2800">
                  <a:solidFill>
                    <a:srgbClr val="15803D"/>
                  </a:solidFill>
                </a:endParaRPr>
              </a:p>
            </p:txBody>
          </p:sp>
        </mc:Fallback>
      </mc:AlternateContent>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the parametric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reflection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in the transverse axis (the perpendicular from the centre to the tangent meets the curve there).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oMath>
                </a14:m>
                <a:r>
                  <a:rPr sz="2400" b="0">
                    <a:solidFill>
                      <a:srgbClr val="111827"/>
                    </a:solidFill>
                    <a:latin typeface="Arial"/>
                  </a:rPr>
                  <a:t> (tangent at distance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along the direction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product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𝑁</m:t>
                    </m:r>
                  </m:oMath>
                </a14:m>
                <a:r>
                  <a:rPr sz="2400" b="0">
                    <a:solidFill>
                      <a:srgbClr val="111827"/>
                    </a:solidFill>
                    <a:latin typeface="Arial"/>
                  </a:rPr>
                  <a:t> is independent of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here because the hyperbola is rectangular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for general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it depends on the direction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at the parametric point </a:t>
                </a:r>
                <a:r>
                  <a:rPr lang="en-IN" sz="2400">
                    <a:solidFill>
                      <a:srgbClr val="111827"/>
                    </a:solidFill>
                    <a:latin typeface="Cambria Math" panose="02040503050406030204" pitchFamily="18" charset="0"/>
                  </a:rPr>
                  <a:t>$(a\sec\theta,a\tan\theta)$</a:t>
                </a:r>
                <a:r>
                  <a:rPr sz="2400" b="0">
                    <a:solidFill>
                      <a:srgbClr val="111827"/>
                    </a:solidFill>
                    <a:latin typeface="Arial"/>
                  </a:rPr>
                  <a:t> of </a:t>
                </a:r>
                <a:r>
                  <a:rPr lang="en-IN" sz="2400">
                    <a:solidFill>
                      <a:srgbClr val="111827"/>
                    </a:solidFill>
                    <a:latin typeface="Cambria Math" panose="02040503050406030204" pitchFamily="18" charset="0"/>
                  </a:rPr>
                  <a:t>$x^2-y^2=a^2$</a:t>
                </a:r>
                <a:r>
                  <a:rPr sz="2400" b="0">
                    <a:solidFill>
                      <a:srgbClr val="111827"/>
                    </a:solidFill>
                    <a:latin typeface="Arial"/>
                  </a:rPr>
                  <a:t>: </a:t>
                </a:r>
                <a:r>
                  <a:rPr lang="en-IN" sz="2400">
                    <a:solidFill>
                      <a:srgbClr val="111827"/>
                    </a:solidFill>
                    <a:latin typeface="Cambria Math" panose="02040503050406030204" pitchFamily="18" charset="0"/>
                  </a:rPr>
                  <a:t>$x\sec\theta-y\tan\theta=a$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 </a:t>
                </a:r>
                <a:r>
                  <a:rPr lang="en-IN" sz="2400">
                    <a:solidFill>
                      <a:srgbClr val="111827"/>
                    </a:solidFill>
                    <a:latin typeface="Cambria Math" panose="02040503050406030204" pitchFamily="18" charset="0"/>
                  </a:rPr>
                  <a:t>$N=(a\sec\theta,-a\tan\theta)$</a:t>
                </a:r>
                <a:r>
                  <a:rPr sz="2400" b="0">
                    <a:solidFill>
                      <a:srgbClr val="111827"/>
                    </a:solidFill>
                    <a:latin typeface="Arial"/>
                  </a:rPr>
                  <a:t> is the reflection of </a:t>
                </a:r>
                <a:r>
                  <a:rPr lang="en-IN" sz="2400">
                    <a:solidFill>
                      <a:srgbClr val="111827"/>
                    </a:solidFill>
                    <a:latin typeface="Cambria Math" panose="02040503050406030204" pitchFamily="18" charset="0"/>
                  </a:rPr>
                  <a:t>$P$</a:t>
                </a:r>
                <a:r>
                  <a:rPr sz="2400" b="0">
                    <a:solidFill>
                      <a:srgbClr val="111827"/>
                    </a:solidFill>
                    <a:latin typeface="Arial"/>
                  </a:rPr>
                  <a:t> in the transverse axis (the perpendicular from the centre to the tangent meets the curve there).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$\frac{x^2}{a^2}-\frac{y^2}{b^2}=1$</a:t>
                </a:r>
                <a:r>
                  <a:rPr sz="2400" b="0">
                    <a:solidFill>
                      <a:srgbClr val="111827"/>
                    </a:solidFill>
                    <a:latin typeface="Arial"/>
                  </a:rPr>
                  <a:t>: </a:t>
                </a:r>
                <a:r>
                  <a:rPr lang="en-IN" sz="2400">
                    <a:solidFill>
                      <a:srgbClr val="111827"/>
                    </a:solidFill>
                    <a:latin typeface="Cambria Math" panose="02040503050406030204" pitchFamily="18" charset="0"/>
                  </a:rPr>
                  <a:t>$p^2=a^2\cos^2\varphi-b^2\sin^2\varphi$</a:t>
                </a:r>
                <a:r>
                  <a:rPr sz="2400" b="0">
                    <a:solidFill>
                      <a:srgbClr val="111827"/>
                    </a:solidFill>
                    <a:latin typeface="Arial"/>
                  </a:rPr>
                  <a:t> (tangent at distance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$r^2\left(\frac{\cos^2\varphi}{a^2}-\frac{\sin^2\varphi}{b^2}\right)=1$</a:t>
                </a:r>
                <a:r>
                  <a:rPr sz="2400" b="0">
                    <a:solidFill>
                      <a:srgbClr val="111827"/>
                    </a:solidFill>
                    <a:latin typeface="Arial"/>
                  </a:rPr>
                  <a:t> along the direction </a:t>
                </a:r>
                <a:r>
                  <a:rPr lang="en-IN" sz="2400">
                    <a:solidFill>
                      <a:srgbClr val="111827"/>
                    </a:solidFill>
                    <a:latin typeface="Cambria Math" panose="02040503050406030204" pitchFamily="18" charset="0"/>
                  </a:rPr>
                  <a:t>$\varphi$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product </a:t>
                </a:r>
                <a:r>
                  <a:rPr lang="en-IN" sz="2400">
                    <a:solidFill>
                      <a:srgbClr val="111827"/>
                    </a:solidFill>
                    <a:latin typeface="Cambria Math" panose="02040503050406030204" pitchFamily="18" charset="0"/>
                  </a:rPr>
                  <a:t>$CM\cdot CN$</a:t>
                </a:r>
                <a:r>
                  <a:rPr sz="2400" b="0">
                    <a:solidFill>
                      <a:srgbClr val="111827"/>
                    </a:solidFill>
                    <a:latin typeface="Arial"/>
                  </a:rPr>
                  <a:t> is independent of </a:t>
                </a:r>
                <a:r>
                  <a:rPr lang="en-IN" sz="2400">
                    <a:solidFill>
                      <a:srgbClr val="111827"/>
                    </a:solidFill>
                    <a:latin typeface="Cambria Math" panose="02040503050406030204" pitchFamily="18" charset="0"/>
                  </a:rPr>
                  <a:t>$\theta$</a:t>
                </a:r>
                <a:r>
                  <a:rPr sz="2400" b="0">
                    <a:solidFill>
                      <a:srgbClr val="111827"/>
                    </a:solidFill>
                    <a:latin typeface="Arial"/>
                  </a:rPr>
                  <a:t> here because the hyperbola is rectangular (</a:t>
                </a:r>
                <a:r>
                  <a:rPr lang="en-IN" sz="2400">
                    <a:solidFill>
                      <a:srgbClr val="111827"/>
                    </a:solidFill>
                    <a:latin typeface="Cambria Math" panose="02040503050406030204" pitchFamily="18" charset="0"/>
                  </a:rPr>
                  <a:t>$a=b$</a:t>
                </a:r>
                <a:r>
                  <a:rPr sz="2400" b="0">
                    <a:solidFill>
                      <a:srgbClr val="111827"/>
                    </a:solidFill>
                    <a:latin typeface="Arial"/>
                  </a:rPr>
                  <a:t>); for general </a:t>
                </a:r>
                <a:r>
                  <a:rPr lang="en-IN" sz="2400">
                    <a:solidFill>
                      <a:srgbClr val="111827"/>
                    </a:solidFill>
                    <a:latin typeface="Cambria Math" panose="02040503050406030204" pitchFamily="18" charset="0"/>
                  </a:rPr>
                  <a:t>$a\ne b$</a:t>
                </a:r>
                <a:r>
                  <a:rPr sz="2400" b="0">
                    <a:solidFill>
                      <a:srgbClr val="111827"/>
                    </a:solidFill>
                    <a:latin typeface="Arial"/>
                  </a:rPr>
                  <a:t> it depends on the direction </a:t>
                </a:r>
                <a:r>
                  <a:rPr lang="en-IN" sz="2400">
                    <a:solidFill>
                      <a:srgbClr val="111827"/>
                    </a:solidFill>
                    <a:latin typeface="Cambria Math" panose="02040503050406030204" pitchFamily="18" charset="0"/>
                  </a:rPr>
                  <a:t>$\varphi$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hyperbola has one focus at the origin and its eccentricity </a:t>
                </a:r>
                <a14:m>
                  <m:oMath xmlns:m="http://schemas.openxmlformats.org/officeDocument/2006/math">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and one of its directrices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Find the equation of its asymptotes.</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hyperbola has one focus at the origin and its eccentricity </a:t>
                </a:r>
                <a:r>
                  <a:rPr lang="en-IN" sz="2400">
                    <a:solidFill>
                      <a:srgbClr val="111827"/>
                    </a:solidFill>
                    <a:latin typeface="Cambria Math" panose="02040503050406030204" pitchFamily="18" charset="0"/>
                  </a:rPr>
                  <a:t>$=\sqrt2$</a:t>
                </a:r>
                <a:r>
                  <a:rPr sz="2400" b="0">
                    <a:solidFill>
                      <a:srgbClr val="111827"/>
                    </a:solidFill>
                    <a:latin typeface="Arial"/>
                  </a:rPr>
                  <a:t>, and one of its directrices is </a:t>
                </a:r>
                <a:r>
                  <a:rPr lang="en-IN" sz="2400">
                    <a:solidFill>
                      <a:srgbClr val="111827"/>
                    </a:solidFill>
                    <a:latin typeface="Cambria Math" panose="02040503050406030204" pitchFamily="18" charset="0"/>
                  </a:rPr>
                  <a:t>$x+y+1=0$</a:t>
                </a:r>
                <a:r>
                  <a:rPr sz="2400" b="0">
                    <a:solidFill>
                      <a:srgbClr val="111827"/>
                    </a:solidFill>
                    <a:latin typeface="Arial"/>
                  </a:rPr>
                  <a:t>. Find the equation of its asymptotes.</a:t>
                </a:r>
                <a:endParaRPr sz="2400">
                  <a:solidFill>
                    <a:srgbClr val="111827"/>
                  </a:solidFill>
                </a:endParaRPr>
              </a:p>
            </p:txBody>
          </p:sp>
        </mc:Fallback>
      </mc:AlternateContent>
      <p:sp>
        <p:nvSpPr>
          <p:cNvPr id="5" name="Rectangle 4"/>
          <p:cNvSpPr/>
          <p:nvPr/>
        </p:nvSpPr>
        <p:spPr>
          <a:xfrm>
            <a:off x="731520" y="324612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Hyperbola from the focus-directrix definition, Asymptotes of a hyperbola (condition for a pair of lines)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focus-directrix property gives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the asymptotes have the same second-degree part and the constant that makes the equation a pair of lines.</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focus-directrix property gives </a:t>
                </a:r>
                <a:r>
                  <a:rPr lang="en-IN" sz="2400">
                    <a:solidFill>
                      <a:srgbClr val="78350F"/>
                    </a:solidFill>
                    <a:latin typeface="Cambria Math" panose="02040503050406030204" pitchFamily="18" charset="0"/>
                  </a:rPr>
                  <a:t>$x^2+y^2=(x+y+1)^2$</a:t>
                </a:r>
                <a:r>
                  <a:rPr sz="2400" b="0">
                    <a:solidFill>
                      <a:srgbClr val="78350F"/>
                    </a:solidFill>
                    <a:latin typeface="Arial"/>
                  </a:rPr>
                  <a:t>; the asymptotes have the same second-degree part and the constant that makes the equation a pair of lines.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eccentricity is hidden in the PDF;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is the value that gives its printed equation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𝑆</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𝑑𝑖𝑠𝑡𝑎𝑛𝑐𝑒 𝑡𝑜 𝑡ℎ𝑒 𝑑𝑖𝑟𝑒𝑐𝑡𝑟𝑖𝑥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which simplifies to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differ from the hyperbola only in the constant: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a pair of lines.</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eccentricity is hidden in the PDF; </a:t>
                </a:r>
                <a:r>
                  <a:rPr lang="en-IN" sz="2400">
                    <a:solidFill>
                      <a:srgbClr val="111827"/>
                    </a:solidFill>
                    <a:latin typeface="Cambria Math" panose="02040503050406030204" pitchFamily="18" charset="0"/>
                  </a:rPr>
                  <a:t>$e=\sqrt2$</a:t>
                </a:r>
                <a:r>
                  <a:rPr sz="2400" b="0">
                    <a:solidFill>
                      <a:srgbClr val="111827"/>
                    </a:solidFill>
                    <a:latin typeface="Arial"/>
                  </a:rPr>
                  <a:t> is the value that gives its printed equation </a:t>
                </a:r>
                <a:r>
                  <a:rPr lang="en-IN" sz="2400">
                    <a:solidFill>
                      <a:srgbClr val="111827"/>
                    </a:solidFill>
                    <a:latin typeface="Cambria Math" panose="02040503050406030204" pitchFamily="18" charset="0"/>
                  </a:rPr>
                  <a:t>$x^2+y^2=(x+y+1)^2$</a:t>
                </a:r>
                <a:r>
                  <a:rPr sz="2400" b="0">
                    <a:solidFill>
                      <a:srgbClr val="111827"/>
                    </a:solidFill>
                    <a:latin typeface="Arial"/>
                  </a:rPr>
                  <a:t>.) For </a:t>
                </a:r>
                <a:r>
                  <a:rPr lang="en-IN" sz="2400">
                    <a:solidFill>
                      <a:srgbClr val="111827"/>
                    </a:solidFill>
                    <a:latin typeface="Cambria Math" panose="02040503050406030204" pitchFamily="18" charset="0"/>
                  </a:rPr>
                  <a:t>$S=(0,0)$</a:t>
                </a:r>
                <a:r>
                  <a:rPr sz="2400" b="0">
                    <a:solidFill>
                      <a:srgbClr val="111827"/>
                    </a:solidFill>
                    <a:latin typeface="Arial"/>
                  </a:rPr>
                  <a:t>, directrix </a:t>
                </a:r>
                <a:r>
                  <a:rPr lang="en-IN" sz="2400">
                    <a:solidFill>
                      <a:srgbClr val="111827"/>
                    </a:solidFill>
                    <a:latin typeface="Cambria Math" panose="02040503050406030204" pitchFamily="18" charset="0"/>
                  </a:rPr>
                  <a:t>$x+y+1=0$</a:t>
                </a:r>
                <a:r>
                  <a:rPr sz="2400" b="0">
                    <a:solidFill>
                      <a:srgbClr val="111827"/>
                    </a:solidFill>
                    <a:latin typeface="Arial"/>
                  </a:rPr>
                  <a:t>: </a:t>
                </a:r>
                <a:r>
                  <a:rPr lang="en-IN" sz="2400">
                    <a:solidFill>
                      <a:srgbClr val="111827"/>
                    </a:solidFill>
                    <a:latin typeface="Cambria Math" panose="02040503050406030204" pitchFamily="18" charset="0"/>
                  </a:rPr>
                  <a:t>$SP^2=e^2\cdot(\text{distance to the directrix})^2$</a:t>
                </a:r>
                <a:r>
                  <a:rPr sz="2400" b="0">
                    <a:solidFill>
                      <a:srgbClr val="111827"/>
                    </a:solidFill>
                    <a:latin typeface="Arial"/>
                  </a:rPr>
                  <a:t>, i.e. </a:t>
                </a:r>
                <a:r>
                  <a:rPr lang="en-IN" sz="2400">
                    <a:solidFill>
                      <a:srgbClr val="111827"/>
                    </a:solidFill>
                    <a:latin typeface="Cambria Math" panose="02040503050406030204" pitchFamily="18" charset="0"/>
                  </a:rPr>
                  <a:t>$x^2+y^2=2\cdot\frac{(x+y+1)^2}{2}$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$x^2+y^2=(x+y+1)^2$</a:t>
                </a:r>
                <a:r>
                  <a:rPr sz="2400" b="0">
                    <a:solidFill>
                      <a:srgbClr val="111827"/>
                    </a:solidFill>
                    <a:latin typeface="Arial"/>
                  </a:rPr>
                  <a:t>, which simplifies to </a:t>
                </a:r>
                <a:r>
                  <a:rPr lang="en-IN" sz="2400">
                    <a:solidFill>
                      <a:srgbClr val="111827"/>
                    </a:solidFill>
                    <a:latin typeface="Cambria Math" panose="02040503050406030204" pitchFamily="18" charset="0"/>
                  </a:rPr>
                  <a:t>$2xy+2x+2y+1=0$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differ from the hyperbola only in the constant: </a:t>
                </a:r>
                <a:r>
                  <a:rPr lang="en-IN" sz="2400">
                    <a:solidFill>
                      <a:srgbClr val="111827"/>
                    </a:solidFill>
                    <a:latin typeface="Cambria Math" panose="02040503050406030204" pitchFamily="18" charset="0"/>
                  </a:rPr>
                  <a:t>$2xy+2x+2y+c=0$</a:t>
                </a:r>
                <a:r>
                  <a:rPr sz="2400" b="0">
                    <a:solidFill>
                      <a:srgbClr val="111827"/>
                    </a:solidFill>
                    <a:latin typeface="Arial"/>
                  </a:rPr>
                  <a:t> is a pair of lines.</a:t>
                </a:r>
                <a:endParaRPr sz="2400">
                  <a:solidFill>
                    <a:srgbClr val="111827"/>
                  </a:solidFill>
                </a:endParaRPr>
              </a:p>
            </p:txBody>
          </p:sp>
        </mc:Fallback>
      </mc:AlternateContent>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pair of straight lines the condition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𝑓</m:t>
                    </m:r>
                    <m:r>
                      <a:rPr lang="en-IN" sz="2400" i="1">
                        <a:solidFill>
                          <a:srgbClr val="111827"/>
                        </a:solidFill>
                        <a:latin typeface="Cambria Math" panose="02040503050406030204" pitchFamily="18" charset="0"/>
                      </a:rPr>
                      <m:t>𝑔</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𝑓</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a:rPr lang="en-IN" sz="2400" i="1">
                            <a:solidFill>
                              <a:srgbClr val="111827"/>
                            </a:solidFill>
                            <a:latin typeface="Cambria Math" panose="02040503050406030204" pitchFamily="18" charset="0"/>
                          </a:rPr>
                          <m:t>𝑔</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𝑔</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Combined equation of the asymptotes: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the asymptotes are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pair of straight lines the condition </a:t>
                </a:r>
                <a:r>
                  <a:rPr lang="en-IN" sz="2400">
                    <a:solidFill>
                      <a:srgbClr val="111827"/>
                    </a:solidFill>
                    <a:latin typeface="Cambria Math" panose="02040503050406030204" pitchFamily="18" charset="0"/>
                  </a:rPr>
                  <a:t>$abc+2fgh-af^2-bg^2-ch^2=0$</a:t>
                </a:r>
                <a:r>
                  <a:rPr sz="2400" b="0">
                    <a:solidFill>
                      <a:srgbClr val="111827"/>
                    </a:solidFill>
                    <a:latin typeface="Arial"/>
                  </a:rPr>
                  <a:t> with </a:t>
                </a:r>
                <a:r>
                  <a:rPr lang="en-IN" sz="2400">
                    <a:solidFill>
                      <a:srgbClr val="111827"/>
                    </a:solidFill>
                    <a:latin typeface="Cambria Math" panose="02040503050406030204" pitchFamily="18" charset="0"/>
                  </a:rPr>
                  <a:t>$a=b=0$</a:t>
                </a:r>
                <a:r>
                  <a:rPr sz="2400" b="0">
                    <a:solidFill>
                      <a:srgbClr val="111827"/>
                    </a:solidFill>
                    <a:latin typeface="Arial"/>
                  </a:rPr>
                  <a:t>, </a:t>
                </a:r>
                <a:r>
                  <a:rPr lang="en-IN" sz="2400">
                    <a:solidFill>
                      <a:srgbClr val="111827"/>
                    </a:solidFill>
                    <a:latin typeface="Cambria Math" panose="02040503050406030204" pitchFamily="18" charset="0"/>
                  </a:rPr>
                  <a:t>$h=1$</a:t>
                </a:r>
                <a:r>
                  <a:rPr sz="2400" b="0">
                    <a:solidFill>
                      <a:srgbClr val="111827"/>
                    </a:solidFill>
                    <a:latin typeface="Arial"/>
                  </a:rPr>
                  <a:t>, </a:t>
                </a:r>
                <a:r>
                  <a:rPr lang="en-IN" sz="2400">
                    <a:solidFill>
                      <a:srgbClr val="111827"/>
                    </a:solidFill>
                    <a:latin typeface="Cambria Math" panose="02040503050406030204" pitchFamily="18" charset="0"/>
                  </a:rPr>
                  <a:t>$g=f=1$</a:t>
                </a:r>
                <a:r>
                  <a:rPr sz="2400" b="0">
                    <a:solidFill>
                      <a:srgbClr val="111827"/>
                    </a:solidFill>
                    <a:latin typeface="Arial"/>
                  </a:rPr>
                  <a:t> gives </a:t>
                </a:r>
                <a:r>
                  <a:rPr lang="en-IN" sz="2400">
                    <a:solidFill>
                      <a:srgbClr val="111827"/>
                    </a:solidFill>
                    <a:latin typeface="Cambria Math" panose="02040503050406030204" pitchFamily="18" charset="0"/>
                  </a:rPr>
                  <a:t>$2-c=0$</a:t>
                </a:r>
                <a:r>
                  <a:rPr sz="2400" b="0">
                    <a:solidFill>
                      <a:srgbClr val="111827"/>
                    </a:solidFill>
                    <a:latin typeface="Arial"/>
                  </a:rPr>
                  <a:t>, so </a:t>
                </a:r>
                <a:r>
                  <a:rPr lang="en-IN" sz="2400">
                    <a:solidFill>
                      <a:srgbClr val="111827"/>
                    </a:solidFill>
                    <a:latin typeface="Cambria Math" panose="02040503050406030204" pitchFamily="18" charset="0"/>
                  </a:rPr>
                  <a:t>$c=2$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Combined equation of the asymptotes: </a:t>
                </a:r>
                <a:r>
                  <a:rPr lang="en-IN" sz="2400">
                    <a:solidFill>
                      <a:srgbClr val="111827"/>
                    </a:solidFill>
                    <a:latin typeface="Cambria Math" panose="02040503050406030204" pitchFamily="18" charset="0"/>
                  </a:rPr>
                  <a:t>$2xy+2x+2y+2=0$</a:t>
                </a:r>
                <a:r>
                  <a:rPr sz="2400" b="0">
                    <a:solidFill>
                      <a:srgbClr val="111827"/>
                    </a:solidFill>
                    <a:latin typeface="Arial"/>
                  </a:rPr>
                  <a:t>, i.e. </a:t>
                </a:r>
                <a:r>
                  <a:rPr lang="en-IN" sz="2400">
                    <a:solidFill>
                      <a:srgbClr val="111827"/>
                    </a:solidFill>
                    <a:latin typeface="Cambria Math" panose="02040503050406030204" pitchFamily="18" charset="0"/>
                  </a:rPr>
                  <a:t>$xy+x+y+1=0$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$(x+1)(y+1)=0$</a:t>
                </a:r>
                <a:r>
                  <a:rPr sz="2400" b="0">
                    <a:solidFill>
                      <a:srgbClr val="111827"/>
                    </a:solidFill>
                    <a:latin typeface="Arial"/>
                  </a:rPr>
                  <a:t>, so the asymptotes are </a:t>
                </a:r>
                <a:r>
                  <a:rPr lang="en-IN" sz="2400">
                    <a:solidFill>
                      <a:srgbClr val="111827"/>
                    </a:solidFill>
                    <a:latin typeface="Cambria Math" panose="02040503050406030204" pitchFamily="18" charset="0"/>
                  </a:rPr>
                  <a:t>$x+1=0$</a:t>
                </a:r>
                <a:r>
                  <a:rPr sz="2400" b="0">
                    <a:solidFill>
                      <a:srgbClr val="111827"/>
                    </a:solidFill>
                    <a:latin typeface="Arial"/>
                  </a:rPr>
                  <a:t> and </a:t>
                </a:r>
                <a:r>
                  <a:rPr lang="en-IN" sz="2400">
                    <a:solidFill>
                      <a:srgbClr val="111827"/>
                    </a:solidFill>
                    <a:latin typeface="Cambria Math" panose="02040503050406030204" pitchFamily="18" charset="0"/>
                  </a:rPr>
                  <a:t>$y+1=0$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r>
                  <a:rPr sz="2800" b="1">
                    <a:solidFill>
                      <a:srgbClr val="15803D"/>
                    </a:solidFill>
                    <a:latin typeface="Arial"/>
                  </a:rPr>
                  <a:t> and </a:t>
                </a:r>
                <a14:m>
                  <m:oMath xmlns:m="http://schemas.openxmlformats.org/officeDocument/2006/math">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$x+1=0$</a:t>
                </a:r>
                <a:r>
                  <a:rPr sz="2800" b="1">
                    <a:solidFill>
                      <a:srgbClr val="15803D"/>
                    </a:solidFill>
                    <a:latin typeface="Arial"/>
                  </a:rPr>
                  <a:t> and </a:t>
                </a:r>
                <a:r>
                  <a:rPr lang="en-IN" sz="2800">
                    <a:solidFill>
                      <a:srgbClr val="15803D"/>
                    </a:solidFill>
                    <a:latin typeface="Cambria Math" panose="02040503050406030204" pitchFamily="18" charset="0"/>
                  </a:rPr>
                  <a:t>$y+1=0$</a:t>
                </a:r>
                <a:endParaRPr sz="2800">
                  <a:solidFill>
                    <a:srgbClr val="15803D"/>
                  </a:solidFill>
                </a:endParaRPr>
              </a:p>
            </p:txBody>
          </p:sp>
        </mc:Fallback>
      </mc:AlternateContent>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rectangular hyperbola (</a:t>
                </a:r>
                <a14:m>
                  <m:oMath xmlns:m="http://schemas.openxmlformats.org/officeDocument/2006/math">
                    <m:r>
                      <a:rPr lang="en-IN" sz="2400" i="1">
                        <a:solidFill>
                          <a:srgbClr val="78350F"/>
                        </a:solidFill>
                        <a:latin typeface="Cambria Math" panose="02040503050406030204" pitchFamily="18" charset="0"/>
                      </a:rPr>
                      <m:t>𝑒</m:t>
                    </m:r>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oMath>
                </a14:m>
                <a:r>
                  <a:rPr sz="2400" b="0">
                    <a:solidFill>
                      <a:srgbClr val="78350F"/>
                    </a:solidFill>
                    <a:latin typeface="Arial"/>
                  </a:rPr>
                  <a:t>) has perpendicular asymptotes at </a:t>
                </a:r>
                <a14:m>
                  <m:oMath xmlns:m="http://schemas.openxmlformats.org/officeDocument/2006/math">
                    <m:sSup>
                      <m:e>
                        <m:r>
                          <a:rPr lang="en-IN" sz="2400" i="1">
                            <a:solidFill>
                              <a:srgbClr val="78350F"/>
                            </a:solidFill>
                            <a:latin typeface="Cambria Math" panose="02040503050406030204" pitchFamily="18" charset="0"/>
                          </a:rPr>
                          <m:t>45</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to the transverse axis; locate the centre from the focus and directrix.</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rectangular hyperbola (</a:t>
                </a:r>
                <a:r>
                  <a:rPr lang="en-IN" sz="2400">
                    <a:solidFill>
                      <a:srgbClr val="78350F"/>
                    </a:solidFill>
                    <a:latin typeface="Cambria Math" panose="02040503050406030204" pitchFamily="18" charset="0"/>
                  </a:rPr>
                  <a:t>$e=\sqrt2$</a:t>
                </a:r>
                <a:r>
                  <a:rPr sz="2400" b="0">
                    <a:solidFill>
                      <a:srgbClr val="78350F"/>
                    </a:solidFill>
                    <a:latin typeface="Arial"/>
                  </a:rPr>
                  <a:t>) has perpendicular asymptotes at </a:t>
                </a:r>
                <a:r>
                  <a:rPr lang="en-IN" sz="2400">
                    <a:solidFill>
                      <a:srgbClr val="78350F"/>
                    </a:solidFill>
                    <a:latin typeface="Cambria Math" panose="02040503050406030204" pitchFamily="18" charset="0"/>
                  </a:rPr>
                  <a:t>$45^\circ$</a:t>
                </a:r>
                <a:r>
                  <a:rPr sz="2400" b="0">
                    <a:solidFill>
                      <a:srgbClr val="78350F"/>
                    </a:solidFill>
                    <a:latin typeface="Arial"/>
                  </a:rPr>
                  <a:t> to the transverse axis; locate the centre from the focus and directrix.</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the hyperbola is rectangular, its asymptotes are perpendicular and make </a:t>
                </a:r>
                <a14:m>
                  <m:oMath xmlns:m="http://schemas.openxmlformats.org/officeDocument/2006/math">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with the transverse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transverse axis passes through the focus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is perpendicular to the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from the focus to the directrix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focus-to-centre distance is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$e=\sqrt2$</a:t>
                </a:r>
                <a:r>
                  <a:rPr sz="2400" b="0">
                    <a:solidFill>
                      <a:srgbClr val="111827"/>
                    </a:solidFill>
                    <a:latin typeface="Arial"/>
                  </a:rPr>
                  <a:t>: the hyperbola is rectangular, its asymptotes are perpendicular and make </a:t>
                </a:r>
                <a:r>
                  <a:rPr lang="en-IN" sz="2400">
                    <a:solidFill>
                      <a:srgbClr val="111827"/>
                    </a:solidFill>
                    <a:latin typeface="Cambria Math" panose="02040503050406030204" pitchFamily="18" charset="0"/>
                  </a:rPr>
                  <a:t>$45^\circ$</a:t>
                </a:r>
                <a:r>
                  <a:rPr sz="2400" b="0">
                    <a:solidFill>
                      <a:srgbClr val="111827"/>
                    </a:solidFill>
                    <a:latin typeface="Arial"/>
                  </a:rPr>
                  <a:t> with the transverse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transverse axis passes through the focus </a:t>
                </a:r>
                <a:r>
                  <a:rPr lang="en-IN" sz="2400">
                    <a:solidFill>
                      <a:srgbClr val="111827"/>
                    </a:solidFill>
                    <a:latin typeface="Cambria Math" panose="02040503050406030204" pitchFamily="18" charset="0"/>
                  </a:rPr>
                  <a:t>$(0,0)$</a:t>
                </a:r>
                <a:r>
                  <a:rPr sz="2400" b="0">
                    <a:solidFill>
                      <a:srgbClr val="111827"/>
                    </a:solidFill>
                    <a:latin typeface="Arial"/>
                  </a:rPr>
                  <a:t> and is perpendicular to the directrix </a:t>
                </a:r>
                <a:r>
                  <a:rPr lang="en-IN" sz="2400">
                    <a:solidFill>
                      <a:srgbClr val="111827"/>
                    </a:solidFill>
                    <a:latin typeface="Cambria Math" panose="02040503050406030204" pitchFamily="18" charset="0"/>
                  </a:rPr>
                  <a:t>$x+y+1=0$</a:t>
                </a:r>
                <a:r>
                  <a:rPr sz="2400" b="0">
                    <a:solidFill>
                      <a:srgbClr val="111827"/>
                    </a:solidFill>
                    <a:latin typeface="Arial"/>
                  </a:rPr>
                  <a:t>: it is </a:t>
                </a:r>
                <a:r>
                  <a:rPr lang="en-IN" sz="2400">
                    <a:solidFill>
                      <a:srgbClr val="111827"/>
                    </a:solidFill>
                    <a:latin typeface="Cambria Math" panose="02040503050406030204" pitchFamily="18" charset="0"/>
                  </a:rPr>
                  <a:t>$y=x$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from the focus to the directrix is </a:t>
                </a:r>
                <a:r>
                  <a:rPr lang="en-IN" sz="2400">
                    <a:solidFill>
                      <a:srgbClr val="111827"/>
                    </a:solidFill>
                    <a:latin typeface="Cambria Math" panose="02040503050406030204" pitchFamily="18" charset="0"/>
                  </a:rPr>
                  <a:t>$\frac{1}{\sqrt2}=ae-\frac ae=\frac{a(e^2-1)}{e}=\frac{a}{\sqrt2}$</a:t>
                </a:r>
                <a:r>
                  <a:rPr sz="2400" b="0">
                    <a:solidFill>
                      <a:srgbClr val="111827"/>
                    </a:solidFill>
                    <a:latin typeface="Arial"/>
                  </a:rPr>
                  <a:t>, so </a:t>
                </a:r>
                <a:r>
                  <a:rPr lang="en-IN" sz="2400">
                    <a:solidFill>
                      <a:srgbClr val="111827"/>
                    </a:solidFill>
                    <a:latin typeface="Cambria Math" panose="02040503050406030204" pitchFamily="18" charset="0"/>
                  </a:rPr>
                  <a:t>$a=1$</a:t>
                </a:r>
                <a:r>
                  <a:rPr sz="2400" b="0">
                    <a:solidFill>
                      <a:srgbClr val="111827"/>
                    </a:solidFill>
                    <a:latin typeface="Arial"/>
                  </a:rPr>
                  <a:t> and the focus-to-centre distance is </a:t>
                </a:r>
                <a:r>
                  <a:rPr lang="en-IN" sz="2400">
                    <a:solidFill>
                      <a:srgbClr val="111827"/>
                    </a:solidFill>
                    <a:latin typeface="Cambria Math" panose="02040503050406030204" pitchFamily="18" charset="0"/>
                  </a:rPr>
                  <a:t>$ae=\sqrt2$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centre lies on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on the far side of the directrix from the focus: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pass through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t>
                </a:r>
                <a14:m>
                  <m:oMath xmlns:m="http://schemas.openxmlformats.org/officeDocument/2006/math">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to the line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i.e. they are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centre lies on </a:t>
                </a:r>
                <a:r>
                  <a:rPr lang="en-IN" sz="2400">
                    <a:solidFill>
                      <a:srgbClr val="111827"/>
                    </a:solidFill>
                    <a:latin typeface="Cambria Math" panose="02040503050406030204" pitchFamily="18" charset="0"/>
                  </a:rPr>
                  <a:t>$y=x$</a:t>
                </a:r>
                <a:r>
                  <a:rPr sz="2400" b="0">
                    <a:solidFill>
                      <a:srgbClr val="111827"/>
                    </a:solidFill>
                    <a:latin typeface="Arial"/>
                  </a:rPr>
                  <a:t> on the far side of the directrix from the focus: </a:t>
                </a:r>
                <a:r>
                  <a:rPr lang="en-IN" sz="2400">
                    <a:solidFill>
                      <a:srgbClr val="111827"/>
                    </a:solidFill>
                    <a:latin typeface="Cambria Math" panose="02040503050406030204" pitchFamily="18" charset="0"/>
                  </a:rPr>
                  <a:t>$C=-\sqrt2\cdot\frac{(1,1)}{\sqrt2}=(-1,-1)$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pass through </a:t>
                </a:r>
                <a:r>
                  <a:rPr lang="en-IN" sz="2400">
                    <a:solidFill>
                      <a:srgbClr val="111827"/>
                    </a:solidFill>
                    <a:latin typeface="Cambria Math" panose="02040503050406030204" pitchFamily="18" charset="0"/>
                  </a:rPr>
                  <a:t>$(-1,-1)$</a:t>
                </a:r>
                <a:r>
                  <a:rPr sz="2400" b="0">
                    <a:solidFill>
                      <a:srgbClr val="111827"/>
                    </a:solidFill>
                    <a:latin typeface="Arial"/>
                  </a:rPr>
                  <a:t> at </a:t>
                </a:r>
                <a:r>
                  <a:rPr lang="en-IN" sz="2400">
                    <a:solidFill>
                      <a:srgbClr val="111827"/>
                    </a:solidFill>
                    <a:latin typeface="Cambria Math" panose="02040503050406030204" pitchFamily="18" charset="0"/>
                  </a:rPr>
                  <a:t>$45^\circ$</a:t>
                </a:r>
                <a:r>
                  <a:rPr sz="2400" b="0">
                    <a:solidFill>
                      <a:srgbClr val="111827"/>
                    </a:solidFill>
                    <a:latin typeface="Arial"/>
                  </a:rPr>
                  <a:t> to the line </a:t>
                </a:r>
                <a:r>
                  <a:rPr lang="en-IN" sz="2400">
                    <a:solidFill>
                      <a:srgbClr val="111827"/>
                    </a:solidFill>
                    <a:latin typeface="Cambria Math" panose="02040503050406030204" pitchFamily="18" charset="0"/>
                  </a:rPr>
                  <a:t>$y=x$</a:t>
                </a:r>
                <a:r>
                  <a:rPr sz="2400" b="0">
                    <a:solidFill>
                      <a:srgbClr val="111827"/>
                    </a:solidFill>
                    <a:latin typeface="Arial"/>
                  </a:rPr>
                  <a:t>, i.e. they are </a:t>
                </a:r>
                <a:r>
                  <a:rPr lang="en-IN" sz="2400">
                    <a:solidFill>
                      <a:srgbClr val="111827"/>
                    </a:solidFill>
                    <a:latin typeface="Cambria Math" panose="02040503050406030204" pitchFamily="18" charset="0"/>
                  </a:rPr>
                  <a:t>$y+1=0$</a:t>
                </a:r>
                <a:r>
                  <a:rPr sz="2400" b="0">
                    <a:solidFill>
                      <a:srgbClr val="111827"/>
                    </a:solidFill>
                    <a:latin typeface="Arial"/>
                  </a:rPr>
                  <a:t> and </a:t>
                </a:r>
                <a:r>
                  <a:rPr lang="en-IN" sz="2400">
                    <a:solidFill>
                      <a:srgbClr val="111827"/>
                    </a:solidFill>
                    <a:latin typeface="Cambria Math" panose="02040503050406030204" pitchFamily="18" charset="0"/>
                  </a:rPr>
                  <a:t>$x+1=0$</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r>
                  <a:rPr sz="2800" b="1">
                    <a:solidFill>
                      <a:srgbClr val="15803D"/>
                    </a:solidFill>
                    <a:latin typeface="Arial"/>
                  </a:rPr>
                  <a:t> and </a:t>
                </a:r>
                <a14:m>
                  <m:oMath xmlns:m="http://schemas.openxmlformats.org/officeDocument/2006/math">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$x+1=0$</a:t>
                </a:r>
                <a:r>
                  <a:rPr sz="2800" b="1">
                    <a:solidFill>
                      <a:srgbClr val="15803D"/>
                    </a:solidFill>
                    <a:latin typeface="Arial"/>
                  </a:rPr>
                  <a:t> and </a:t>
                </a:r>
                <a:r>
                  <a:rPr lang="en-IN" sz="2800">
                    <a:solidFill>
                      <a:srgbClr val="15803D"/>
                    </a:solidFill>
                    <a:latin typeface="Cambria Math" panose="02040503050406030204" pitchFamily="18" charset="0"/>
                  </a:rPr>
                  <a:t>$y+1=0$</a:t>
                </a:r>
                <a:endParaRPr sz="2800">
                  <a:solidFill>
                    <a:srgbClr val="15803D"/>
                  </a:solidFill>
                </a:endParaRPr>
              </a:p>
            </p:txBody>
          </p:sp>
        </mc:Fallback>
      </mc:AlternateContent>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Focus-directrix property: </a:t>
                </a:r>
                <a14:m>
                  <m:oMath xmlns:m="http://schemas.openxmlformats.org/officeDocument/2006/math">
                    <m:r>
                      <a:rPr lang="en-IN" sz="2400" i="1">
                        <a:solidFill>
                          <a:srgbClr val="111827"/>
                        </a:solidFill>
                        <a:latin typeface="Cambria Math" panose="02040503050406030204" pitchFamily="18" charset="0"/>
                      </a:rPr>
                      <m:t>𝑆</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𝑑𝑖𝑠𝑡𝑎𝑛𝑐𝑒 𝑜𝑓 </m:t>
                    </m:r>
                    <m:r>
                      <a:rPr lang="en-IN" sz="2400" i="1">
                        <a:solidFill>
                          <a:srgbClr val="111827"/>
                        </a:solidFill>
                        <a:latin typeface="Cambria Math" panose="02040503050406030204" pitchFamily="18" charset="0"/>
                      </a:rPr>
                      <m:t>𝑃</m:t>
                    </m:r>
                    <m:r>
                      <m:rPr>
                        <m:nor/>
                      </m:rPr>
                      <a:rPr lang="en-IN" sz="2400" i="1">
                        <a:solidFill>
                          <a:srgbClr val="111827"/>
                        </a:solidFill>
                        <a:latin typeface="Cambria Math" panose="02040503050406030204" pitchFamily="18" charset="0"/>
                      </a:rPr>
                      <m:t> 𝑓𝑟𝑜𝑚 𝑡ℎ𝑒 𝑑𝑖𝑟𝑒𝑐𝑡𝑟𝑖𝑥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for a focus at the origin and directrix </a:t>
                </a:r>
                <a14:m>
                  <m:oMath xmlns:m="http://schemas.openxmlformats.org/officeDocument/2006/math">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of a hyperbola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 the value of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that makes the equation a pair of lines; the pair is obtained by changing only the constant term.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(rectangular hyperbola) the asymptotes are perpendicular.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 of lines: </a:t>
                </a:r>
                <a14:m>
                  <m:oMath xmlns:m="http://schemas.openxmlformats.org/officeDocument/2006/math">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𝑔</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𝑓</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a pair iff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𝑓</m:t>
                    </m:r>
                    <m:r>
                      <a:rPr lang="en-IN" sz="2400" i="1">
                        <a:solidFill>
                          <a:srgbClr val="111827"/>
                        </a:solidFill>
                        <a:latin typeface="Cambria Math" panose="02040503050406030204" pitchFamily="18" charset="0"/>
                      </a:rPr>
                      <m:t>𝑔</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𝑓</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a:rPr lang="en-IN" sz="2400" i="1">
                            <a:solidFill>
                              <a:srgbClr val="111827"/>
                            </a:solidFill>
                            <a:latin typeface="Cambria Math" panose="02040503050406030204" pitchFamily="18" charset="0"/>
                          </a:rPr>
                          <m:t>𝑔</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Focus-directrix property: </a:t>
                </a:r>
                <a:r>
                  <a:rPr lang="en-IN" sz="2400">
                    <a:solidFill>
                      <a:srgbClr val="111827"/>
                    </a:solidFill>
                    <a:latin typeface="Cambria Math" panose="02040503050406030204" pitchFamily="18" charset="0"/>
                  </a:rPr>
                  <a:t>$SP^2=e^2\,(\text{distance of }P\text{ from the directrix})^2$</a:t>
                </a:r>
                <a:r>
                  <a:rPr sz="2400" b="0">
                    <a:solidFill>
                      <a:srgbClr val="111827"/>
                    </a:solidFill>
                    <a:latin typeface="Arial"/>
                  </a:rPr>
                  <a:t>; for a focus at the origin and directrix </a:t>
                </a:r>
                <a:r>
                  <a:rPr lang="en-IN" sz="2400">
                    <a:solidFill>
                      <a:srgbClr val="111827"/>
                    </a:solidFill>
                    <a:latin typeface="Cambria Math" panose="02040503050406030204" pitchFamily="18" charset="0"/>
                  </a:rPr>
                  <a:t>$lx+my+n=0$</a:t>
                </a:r>
                <a:r>
                  <a:rPr sz="2400" b="0">
                    <a:solidFill>
                      <a:srgbClr val="111827"/>
                    </a:solidFill>
                    <a:latin typeface="Arial"/>
                  </a:rPr>
                  <a:t>: </a:t>
                </a:r>
                <a:r>
                  <a:rPr lang="en-IN" sz="2400">
                    <a:solidFill>
                      <a:srgbClr val="111827"/>
                    </a:solidFill>
                    <a:latin typeface="Cambria Math" panose="02040503050406030204" pitchFamily="18" charset="0"/>
                  </a:rPr>
                  <a:t>$x^2+y^2=\frac{e^2(lx+my+n)^2}{l^2+m^2}$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of a hyperbola </a:t>
                </a:r>
                <a:r>
                  <a:rPr lang="en-IN" sz="2400">
                    <a:solidFill>
                      <a:srgbClr val="111827"/>
                    </a:solidFill>
                    <a:latin typeface="Cambria Math" panose="02040503050406030204" pitchFamily="18" charset="0"/>
                  </a:rPr>
                  <a:t>$S=0$</a:t>
                </a:r>
                <a:r>
                  <a:rPr sz="2400" b="0">
                    <a:solidFill>
                      <a:srgbClr val="111827"/>
                    </a:solidFill>
                    <a:latin typeface="Arial"/>
                  </a:rPr>
                  <a:t> are </a:t>
                </a:r>
                <a:r>
                  <a:rPr lang="en-IN" sz="2400">
                    <a:solidFill>
                      <a:srgbClr val="111827"/>
                    </a:solidFill>
                    <a:latin typeface="Cambria Math" panose="02040503050406030204" pitchFamily="18" charset="0"/>
                  </a:rPr>
                  <a:t>$S+k=0$</a:t>
                </a:r>
                <a:r>
                  <a:rPr sz="2400" b="0">
                    <a:solidFill>
                      <a:srgbClr val="111827"/>
                    </a:solidFill>
                    <a:latin typeface="Arial"/>
                  </a:rPr>
                  <a:t> for the value of </a:t>
                </a:r>
                <a:r>
                  <a:rPr lang="en-IN" sz="2400">
                    <a:solidFill>
                      <a:srgbClr val="111827"/>
                    </a:solidFill>
                    <a:latin typeface="Cambria Math" panose="02040503050406030204" pitchFamily="18" charset="0"/>
                  </a:rPr>
                  <a:t>$k$</a:t>
                </a:r>
                <a:r>
                  <a:rPr sz="2400" b="0">
                    <a:solidFill>
                      <a:srgbClr val="111827"/>
                    </a:solidFill>
                    <a:latin typeface="Arial"/>
                  </a:rPr>
                  <a:t> that makes the equation a pair of lines; the pair is obtained by changing only the constant term.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$e=\sqrt2$</a:t>
                </a:r>
                <a:r>
                  <a:rPr sz="2400" b="0">
                    <a:solidFill>
                      <a:srgbClr val="111827"/>
                    </a:solidFill>
                    <a:latin typeface="Arial"/>
                  </a:rPr>
                  <a:t> (rectangular hyperbola) the asymptotes are perpendicular.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 of lines: </a:t>
                </a:r>
                <a:r>
                  <a:rPr lang="en-IN" sz="2400">
                    <a:solidFill>
                      <a:srgbClr val="111827"/>
                    </a:solidFill>
                    <a:latin typeface="Cambria Math" panose="02040503050406030204" pitchFamily="18" charset="0"/>
                  </a:rPr>
                  <a:t>$ax^2+2hxy+by^2+2gx+2fy+c=0$</a:t>
                </a:r>
                <a:r>
                  <a:rPr sz="2400" b="0">
                    <a:solidFill>
                      <a:srgbClr val="111827"/>
                    </a:solidFill>
                    <a:latin typeface="Arial"/>
                  </a:rPr>
                  <a:t> is a pair iff </a:t>
                </a:r>
                <a:r>
                  <a:rPr lang="en-IN" sz="2400">
                    <a:solidFill>
                      <a:srgbClr val="111827"/>
                    </a:solidFill>
                    <a:latin typeface="Cambria Math" panose="02040503050406030204" pitchFamily="18" charset="0"/>
                  </a:rPr>
                  <a:t>$abc+2fgh-af^2-bg^2-ch^2=0$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 rectangular hyperbola has the equation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then the locus of the middle points of its chords of constant length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 Find the value of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 rectangular hyperbola has the equation </a:t>
                </a:r>
                <a:r>
                  <a:rPr lang="en-IN" sz="2400">
                    <a:solidFill>
                      <a:srgbClr val="111827"/>
                    </a:solidFill>
                    <a:latin typeface="Cambria Math" panose="02040503050406030204" pitchFamily="18" charset="0"/>
                  </a:rPr>
                  <a:t>$xy=c^2$</a:t>
                </a:r>
                <a:r>
                  <a:rPr sz="2400" b="0">
                    <a:solidFill>
                      <a:srgbClr val="111827"/>
                    </a:solidFill>
                    <a:latin typeface="Arial"/>
                  </a:rPr>
                  <a:t>, then the locus of the middle points of its chords of constant length </a:t>
                </a:r>
                <a:r>
                  <a:rPr lang="en-IN" sz="2400">
                    <a:solidFill>
                      <a:srgbClr val="111827"/>
                    </a:solidFill>
                    <a:latin typeface="Cambria Math" panose="02040503050406030204" pitchFamily="18" charset="0"/>
                  </a:rPr>
                  <a:t>$6$</a:t>
                </a:r>
                <a:r>
                  <a:rPr sz="2400" b="0">
                    <a:solidFill>
                      <a:srgbClr val="111827"/>
                    </a:solidFill>
                    <a:latin typeface="Arial"/>
                  </a:rPr>
                  <a:t> is </a:t>
                </a:r>
                <a:r>
                  <a:rPr lang="en-IN" sz="2400">
                    <a:solidFill>
                      <a:srgbClr val="111827"/>
                    </a:solidFill>
                    <a:latin typeface="Cambria Math" panose="02040503050406030204" pitchFamily="18" charset="0"/>
                  </a:rPr>
                  <a:t>$(x^2+y^2)(xy-c^2)=\lambda xy$</a:t>
                </a:r>
                <a:r>
                  <a:rPr sz="2400" b="0">
                    <a:solidFill>
                      <a:srgbClr val="111827"/>
                    </a:solidFill>
                    <a:latin typeface="Arial"/>
                  </a:rPr>
                  <a:t>. Find the value of </a:t>
                </a:r>
                <a:r>
                  <a:rPr lang="en-IN" sz="2400">
                    <a:solidFill>
                      <a:srgbClr val="111827"/>
                    </a:solidFill>
                    <a:latin typeface="Cambria Math" panose="02040503050406030204" pitchFamily="18" charset="0"/>
                  </a:rPr>
                  <a:t>$\lambda$</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Chords of a rectangular hyperbola of constant length, Locus of the midpoint of a chord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end points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𝑐</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𝑐</m:t>
                            </m:r>
                          </m:num>
                          <m:den>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den>
                        </m:f>
                      </m:e>
                    </m:d>
                    <m:r>
                      <m:rPr>
                        <m:sty m:val="p"/>
                      </m:rPr>
                      <a:rPr lang="en-IN" sz="2400">
                        <a:solidFill>
                          <a:srgbClr val="78350F"/>
                        </a:solidFill>
                        <a:latin typeface="Cambria Math" panose="02040503050406030204" pitchFamily="18" charset="0"/>
                      </a:rPr>
                      <m:t>,</m:t>
                    </m:r>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𝑐</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𝑐</m:t>
                            </m:r>
                          </m:num>
                          <m:den>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den>
                        </m:f>
                      </m:e>
                    </m:d>
                  </m:oMath>
                </a14:m>
                <a:r>
                  <a:rPr sz="2400" b="0">
                    <a:solidFill>
                      <a:srgbClr val="78350F"/>
                    </a:solidFill>
                    <a:latin typeface="Arial"/>
                  </a:rPr>
                  <a:t> the midpoint gives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ℎ</m:t>
                        </m:r>
                      </m:num>
                      <m:den>
                        <m:r>
                          <a:rPr lang="en-IN" sz="2400" i="1">
                            <a:solidFill>
                              <a:srgbClr val="78350F"/>
                            </a:solidFill>
                            <a:latin typeface="Cambria Math" panose="02040503050406030204" pitchFamily="18" charset="0"/>
                          </a:rPr>
                          <m:t>𝑘</m:t>
                        </m:r>
                      </m:den>
                    </m:f>
                  </m:oMath>
                </a14:m>
                <a:r>
                  <a:rPr sz="2400" b="0">
                    <a:solidFill>
                      <a:srgbClr val="78350F"/>
                    </a:solidFill>
                    <a:latin typeface="Arial"/>
                  </a:rPr>
                  <a:t>, and the length condition becomes a relation in </a:t>
                </a:r>
                <a14:m>
                  <m:oMath xmlns:m="http://schemas.openxmlformats.org/officeDocument/2006/math">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end points </a:t>
                </a:r>
                <a:r>
                  <a:rPr lang="en-IN" sz="2400">
                    <a:solidFill>
                      <a:srgbClr val="78350F"/>
                    </a:solidFill>
                    <a:latin typeface="Cambria Math" panose="02040503050406030204" pitchFamily="18" charset="0"/>
                  </a:rPr>
                  <a:t>$\left(ct_1,\frac c{t_1}\right),\left(ct_2,\frac{c}{t_2}\right)$</a:t>
                </a:r>
                <a:r>
                  <a:rPr sz="2400" b="0">
                    <a:solidFill>
                      <a:srgbClr val="78350F"/>
                    </a:solidFill>
                    <a:latin typeface="Arial"/>
                  </a:rPr>
                  <a:t> the midpoint gives </a:t>
                </a:r>
                <a:r>
                  <a:rPr lang="en-IN" sz="2400">
                    <a:solidFill>
                      <a:srgbClr val="78350F"/>
                    </a:solidFill>
                    <a:latin typeface="Cambria Math" panose="02040503050406030204" pitchFamily="18" charset="0"/>
                  </a:rPr>
                  <a:t>$t_1t_2=\frac hk$</a:t>
                </a:r>
                <a:r>
                  <a:rPr sz="2400" b="0">
                    <a:solidFill>
                      <a:srgbClr val="78350F"/>
                    </a:solidFill>
                    <a:latin typeface="Arial"/>
                  </a:rPr>
                  <a:t>, and the length condition becomes a relation in </a:t>
                </a:r>
                <a:r>
                  <a:rPr lang="en-IN" sz="2400">
                    <a:solidFill>
                      <a:srgbClr val="78350F"/>
                    </a:solidFill>
                    <a:latin typeface="Cambria Math" panose="02040503050406030204" pitchFamily="18" charset="0"/>
                  </a:rPr>
                  <a:t>$h,k$</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end points of the chord be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𝑐</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e>
                    </m:d>
                  </m:oMath>
                </a14:m>
                <a:r>
                  <a:rPr sz="2400" b="0">
                    <a:solidFill>
                      <a:srgbClr val="111827"/>
                    </a:solidFill>
                    <a:latin typeface="Arial"/>
                  </a:rPr>
                  <a:t> and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𝑐</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e>
                    </m:d>
                  </m:oMath>
                </a14:m>
                <a:r>
                  <a:rPr sz="2400" b="0">
                    <a:solidFill>
                      <a:srgbClr val="111827"/>
                    </a:solidFill>
                    <a:latin typeface="Arial"/>
                  </a:rPr>
                  <a:t>, with midpoint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Dividing: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𝑘</m:t>
                        </m:r>
                      </m:den>
                    </m:f>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end points of the chord be </a:t>
                </a:r>
                <a:r>
                  <a:rPr lang="en-IN" sz="2400">
                    <a:solidFill>
                      <a:srgbClr val="111827"/>
                    </a:solidFill>
                    <a:latin typeface="Cambria Math" panose="02040503050406030204" pitchFamily="18" charset="0"/>
                  </a:rPr>
                  <a:t>$\left(ct_1,\frac{c}{t_1}\right)$</a:t>
                </a:r>
                <a:r>
                  <a:rPr sz="2400" b="0">
                    <a:solidFill>
                      <a:srgbClr val="111827"/>
                    </a:solidFill>
                    <a:latin typeface="Arial"/>
                  </a:rPr>
                  <a:t> and </a:t>
                </a:r>
                <a:r>
                  <a:rPr lang="en-IN" sz="2400">
                    <a:solidFill>
                      <a:srgbClr val="111827"/>
                    </a:solidFill>
                    <a:latin typeface="Cambria Math" panose="02040503050406030204" pitchFamily="18" charset="0"/>
                  </a:rPr>
                  <a:t>$\left(ct_2,\frac{c}{t_2}\right)$</a:t>
                </a:r>
                <a:r>
                  <a:rPr sz="2400" b="0">
                    <a:solidFill>
                      <a:srgbClr val="111827"/>
                    </a:solidFill>
                    <a:latin typeface="Arial"/>
                  </a:rPr>
                  <a:t>, with midpoint </a:t>
                </a:r>
                <a:r>
                  <a:rPr lang="en-IN" sz="2400">
                    <a:solidFill>
                      <a:srgbClr val="111827"/>
                    </a:solidFill>
                    <a:latin typeface="Cambria Math" panose="02040503050406030204" pitchFamily="18" charset="0"/>
                  </a:rPr>
                  <a:t>$(h,k)$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$2h=c(t_1+t_2)$</a:t>
                </a:r>
                <a:r>
                  <a:rPr sz="2400" b="0">
                    <a:solidFill>
                      <a:srgbClr val="111827"/>
                    </a:solidFill>
                    <a:latin typeface="Arial"/>
                  </a:rPr>
                  <a:t> and </a:t>
                </a:r>
                <a:r>
                  <a:rPr lang="en-IN" sz="2400">
                    <a:solidFill>
                      <a:srgbClr val="111827"/>
                    </a:solidFill>
                    <a:latin typeface="Cambria Math" panose="02040503050406030204" pitchFamily="18" charset="0"/>
                  </a:rPr>
                  <a:t>$2k=c\left(\frac1{t_1}+\frac1{t_2}\right)=\frac{c(t_1+t_2)}{t_1t_2}$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Dividing: </a:t>
                </a:r>
                <a:r>
                  <a:rPr lang="en-IN" sz="2400">
                    <a:solidFill>
                      <a:srgbClr val="111827"/>
                    </a:solidFill>
                    <a:latin typeface="Cambria Math" panose="02040503050406030204" pitchFamily="18" charset="0"/>
                  </a:rPr>
                  <a:t>$\frac hk=t_1t_2$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Length of the chord is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𝑘</m:t>
                            </m:r>
                          </m:den>
                        </m:f>
                      </m:e>
                    </m:d>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𝑘</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Length of the chord is </a:t>
                </a:r>
                <a:r>
                  <a:rPr lang="en-IN" sz="2400">
                    <a:solidFill>
                      <a:srgbClr val="111827"/>
                    </a:solidFill>
                    <a:latin typeface="Cambria Math" panose="02040503050406030204" pitchFamily="18" charset="0"/>
                  </a:rPr>
                  <a:t>$6$</a:t>
                </a:r>
                <a:r>
                  <a:rPr sz="2400" b="0">
                    <a:solidFill>
                      <a:srgbClr val="111827"/>
                    </a:solidFill>
                    <a:latin typeface="Arial"/>
                  </a:rPr>
                  <a:t>: </a:t>
                </a:r>
                <a:r>
                  <a:rPr lang="en-IN" sz="2400">
                    <a:solidFill>
                      <a:srgbClr val="111827"/>
                    </a:solidFill>
                    <a:latin typeface="Cambria Math" panose="02040503050406030204" pitchFamily="18" charset="0"/>
                  </a:rPr>
                  <a:t>$c^2(t_1-t_2)^2+c^2\left(\frac1{t_1}-\frac1{t_2}\right)^2=36$</a:t>
                </a:r>
                <a:r>
                  <a:rPr sz="2400" b="0">
                    <a:solidFill>
                      <a:srgbClr val="111827"/>
                    </a:solidFill>
                    <a:latin typeface="Arial"/>
                  </a:rPr>
                  <a:t>, i.e. </a:t>
                </a:r>
                <a:r>
                  <a:rPr lang="en-IN" sz="2400">
                    <a:solidFill>
                      <a:srgbClr val="111827"/>
                    </a:solidFill>
                    <a:latin typeface="Cambria Math" panose="02040503050406030204" pitchFamily="18" charset="0"/>
                  </a:rPr>
                  <a:t>$c^2(t_1-t_2)^2\left(1+\frac{1}{t_1^2t_2^2}\right)=36$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$(t_1-t_2)^2=(t_1+t_2)^2-4t_1t_2=\frac{4h^2}{c^2}-\frac{4h}{k}$</a:t>
                </a:r>
                <a:r>
                  <a:rPr sz="2400" b="0">
                    <a:solidFill>
                      <a:srgbClr val="111827"/>
                    </a:solidFill>
                    <a:latin typeface="Arial"/>
                  </a:rPr>
                  <a:t> and </a:t>
                </a:r>
                <a:r>
                  <a:rPr lang="en-IN" sz="2400">
                    <a:solidFill>
                      <a:srgbClr val="111827"/>
                    </a:solidFill>
                    <a:latin typeface="Cambria Math" panose="02040503050406030204" pitchFamily="18" charset="0"/>
                  </a:rPr>
                  <a:t>$1+\frac1{t_1^2t_2^2}=1+\frac{k^2}{h^2}=\frac{h^2+k^2}{h^2}$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$c^2\left(\frac{4h^2}{c^2}-\frac{4h}{k}\right)\frac{h^2+k^2}{h^2}=36$</a:t>
                </a:r>
                <a:r>
                  <a:rPr sz="2400" b="0">
                    <a:solidFill>
                      <a:srgbClr val="111827"/>
                    </a:solidFill>
                    <a:latin typeface="Arial"/>
                  </a:rPr>
                  <a:t>, i.e. </a:t>
                </a:r>
                <a:r>
                  <a:rPr lang="en-IN" sz="2400">
                    <a:solidFill>
                      <a:srgbClr val="111827"/>
                    </a:solidFill>
                    <a:latin typeface="Cambria Math" panose="02040503050406030204" pitchFamily="18" charset="0"/>
                  </a:rPr>
                  <a:t>$\frac{4h(hk-c^2)}{k}\cdot\frac{h^2+k^2}{h^2}=36$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Simplify: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Simplify: </a:t>
                </a:r>
                <a:r>
                  <a:rPr lang="en-IN" sz="2400">
                    <a:solidFill>
                      <a:srgbClr val="111827"/>
                    </a:solidFill>
                    <a:latin typeface="Cambria Math" panose="02040503050406030204" pitchFamily="18" charset="0"/>
                  </a:rPr>
                  <a:t>$\frac{4(hk-c^2)(h^2+k^2)}{hk}=36$</a:t>
                </a:r>
                <a:r>
                  <a:rPr sz="2400" b="0">
                    <a:solidFill>
                      <a:srgbClr val="111827"/>
                    </a:solidFill>
                    <a:latin typeface="Arial"/>
                  </a:rPr>
                  <a:t>, so </a:t>
                </a:r>
                <a:r>
                  <a:rPr lang="en-IN" sz="2400">
                    <a:solidFill>
                      <a:srgbClr val="111827"/>
                    </a:solidFill>
                    <a:latin typeface="Cambria Math" panose="02040503050406030204" pitchFamily="18" charset="0"/>
                  </a:rPr>
                  <a:t>$(hk-c^2)(h^2+k^2)=9hk$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is </a:t>
                </a:r>
                <a:r>
                  <a:rPr lang="en-IN" sz="2400">
                    <a:solidFill>
                      <a:srgbClr val="111827"/>
                    </a:solidFill>
                    <a:latin typeface="Cambria Math" panose="02040503050406030204" pitchFamily="18" charset="0"/>
                  </a:rPr>
                  <a:t>$(xy-c^2)(x^2+y^2)=9xy$</a:t>
                </a:r>
                <a:r>
                  <a:rPr sz="2400" b="0">
                    <a:solidFill>
                      <a:srgbClr val="111827"/>
                    </a:solidFill>
                    <a:latin typeface="Arial"/>
                  </a:rPr>
                  <a:t>, so </a:t>
                </a:r>
                <a:r>
                  <a:rPr lang="en-IN" sz="2400">
                    <a:solidFill>
                      <a:srgbClr val="111827"/>
                    </a:solidFill>
                    <a:latin typeface="Cambria Math" panose="02040503050406030204" pitchFamily="18" charset="0"/>
                  </a:rPr>
                  <a:t>$\lambda=9$</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9</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$9$</a:t>
                </a:r>
                <a:endParaRPr sz="2800">
                  <a:solidFill>
                    <a:srgbClr val="15803D"/>
                  </a:solidFill>
                </a:endParaRPr>
              </a:p>
            </p:txBody>
          </p:sp>
        </mc:Fallback>
      </mc:AlternateContent>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the end points as </a:t>
                </a:r>
                <a14:m>
                  <m:oMath xmlns:m="http://schemas.openxmlformats.org/officeDocument/2006/math">
                    <m:r>
                      <a:rPr lang="en-IN" sz="2400" i="1">
                        <a:solidFill>
                          <a:srgbClr val="78350F"/>
                        </a:solidFill>
                        <a:latin typeface="Cambria Math" panose="02040503050406030204" pitchFamily="18" charset="0"/>
                      </a:rPr>
                      <m:t>𝑀</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use that both lie on </a:t>
                </a:r>
                <a14:m>
                  <m:oMath xmlns:m="http://schemas.openxmlformats.org/officeDocument/2006/math">
                    <m:r>
                      <a:rPr lang="en-IN" sz="2400" i="1">
                        <a:solidFill>
                          <a:srgbClr val="78350F"/>
                        </a:solidFill>
                        <a:latin typeface="Cambria Math" panose="02040503050406030204" pitchFamily="18" charset="0"/>
                      </a:rPr>
                      <m:t>𝑥</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𝑐</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adding and subtracting gives the locus without parameters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the end points as </a:t>
                </a:r>
                <a:r>
                  <a:rPr lang="en-IN" sz="2400">
                    <a:solidFill>
                      <a:srgbClr val="78350F"/>
                    </a:solidFill>
                    <a:latin typeface="Cambria Math" panose="02040503050406030204" pitchFamily="18" charset="0"/>
                  </a:rPr>
                  <a:t>$M\pm3(\cos\alpha,\sin\alpha)$</a:t>
                </a:r>
                <a:r>
                  <a:rPr sz="2400" b="0">
                    <a:solidFill>
                      <a:srgbClr val="78350F"/>
                    </a:solidFill>
                    <a:latin typeface="Arial"/>
                  </a:rPr>
                  <a:t> and use that both lie on </a:t>
                </a:r>
                <a:r>
                  <a:rPr lang="en-IN" sz="2400">
                    <a:solidFill>
                      <a:srgbClr val="78350F"/>
                    </a:solidFill>
                    <a:latin typeface="Cambria Math" panose="02040503050406030204" pitchFamily="18" charset="0"/>
                  </a:rPr>
                  <a:t>$xy=c^2$</a:t>
                </a:r>
                <a:r>
                  <a:rPr sz="2400" b="0">
                    <a:solidFill>
                      <a:srgbClr val="78350F"/>
                    </a:solidFill>
                    <a:latin typeface="Arial"/>
                  </a:rPr>
                  <a:t>; adding and subtracting gives the locus without parameters </a:t>
                </a:r>
                <a:r>
                  <a:rPr lang="en-IN" sz="2400">
                    <a:solidFill>
                      <a:srgbClr val="78350F"/>
                    </a:solidFill>
                    <a:latin typeface="Cambria Math" panose="02040503050406030204" pitchFamily="18" charset="0"/>
                  </a:rPr>
                  <a:t>$t_1,t_2$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midpoint be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chord direction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end points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(half-length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lie on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Subtract: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ℎ</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num>
                      <m:den>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midpoint be </a:t>
                </a:r>
                <a:r>
                  <a:rPr lang="en-IN" sz="2400">
                    <a:solidFill>
                      <a:srgbClr val="111827"/>
                    </a:solidFill>
                    <a:latin typeface="Cambria Math" panose="02040503050406030204" pitchFamily="18" charset="0"/>
                  </a:rPr>
                  <a:t>$M(h,k)$</a:t>
                </a:r>
                <a:r>
                  <a:rPr sz="2400" b="0">
                    <a:solidFill>
                      <a:srgbClr val="111827"/>
                    </a:solidFill>
                    <a:latin typeface="Arial"/>
                  </a:rPr>
                  <a:t> and the chord direction </a:t>
                </a:r>
                <a:r>
                  <a:rPr lang="en-IN" sz="2400">
                    <a:solidFill>
                      <a:srgbClr val="111827"/>
                    </a:solidFill>
                    <a:latin typeface="Cambria Math" panose="02040503050406030204" pitchFamily="18" charset="0"/>
                  </a:rPr>
                  <a:t>$(\cos\alpha,\sin\alpha)$</a:t>
                </a:r>
                <a:r>
                  <a:rPr sz="2400" b="0">
                    <a:solidFill>
                      <a:srgbClr val="111827"/>
                    </a:solidFill>
                    <a:latin typeface="Arial"/>
                  </a:rPr>
                  <a:t>; the end points are </a:t>
                </a:r>
                <a:r>
                  <a:rPr lang="en-IN" sz="2400">
                    <a:solidFill>
                      <a:srgbClr val="111827"/>
                    </a:solidFill>
                    <a:latin typeface="Cambria Math" panose="02040503050406030204" pitchFamily="18" charset="0"/>
                  </a:rPr>
                  <a:t>$(h+3\cos\alpha,\ k+3\sin\alpha)$</a:t>
                </a:r>
                <a:r>
                  <a:rPr sz="2400" b="0">
                    <a:solidFill>
                      <a:srgbClr val="111827"/>
                    </a:solidFill>
                    <a:latin typeface="Arial"/>
                  </a:rPr>
                  <a:t> and </a:t>
                </a:r>
                <a:r>
                  <a:rPr lang="en-IN" sz="2400">
                    <a:solidFill>
                      <a:srgbClr val="111827"/>
                    </a:solidFill>
                    <a:latin typeface="Cambria Math" panose="02040503050406030204" pitchFamily="18" charset="0"/>
                  </a:rPr>
                  <a:t>$(h-3\cos\alpha,\ k-3\sin\alpha)$</a:t>
                </a:r>
                <a:r>
                  <a:rPr sz="2400" b="0">
                    <a:solidFill>
                      <a:srgbClr val="111827"/>
                    </a:solidFill>
                    <a:latin typeface="Arial"/>
                  </a:rPr>
                  <a:t> (half-length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lie on </a:t>
                </a:r>
                <a:r>
                  <a:rPr lang="en-IN" sz="2400">
                    <a:solidFill>
                      <a:srgbClr val="111827"/>
                    </a:solidFill>
                    <a:latin typeface="Cambria Math" panose="02040503050406030204" pitchFamily="18" charset="0"/>
                  </a:rPr>
                  <a:t>$xy=c^2$</a:t>
                </a:r>
                <a:r>
                  <a:rPr sz="2400" b="0">
                    <a:solidFill>
                      <a:srgbClr val="111827"/>
                    </a:solidFill>
                    <a:latin typeface="Arial"/>
                  </a:rPr>
                  <a:t>: </a:t>
                </a:r>
                <a:r>
                  <a:rPr lang="en-IN" sz="2400">
                    <a:solidFill>
                      <a:srgbClr val="111827"/>
                    </a:solidFill>
                    <a:latin typeface="Cambria Math" panose="02040503050406030204" pitchFamily="18" charset="0"/>
                  </a:rPr>
                  <a:t>$(h+3\cos\alpha)(k+3\sin\alpha)=c^2$</a:t>
                </a:r>
                <a:r>
                  <a:rPr sz="2400" b="0">
                    <a:solidFill>
                      <a:srgbClr val="111827"/>
                    </a:solidFill>
                    <a:latin typeface="Arial"/>
                  </a:rPr>
                  <a:t> and </a:t>
                </a:r>
                <a:r>
                  <a:rPr lang="en-IN" sz="2400">
                    <a:solidFill>
                      <a:srgbClr val="111827"/>
                    </a:solidFill>
                    <a:latin typeface="Cambria Math" panose="02040503050406030204" pitchFamily="18" charset="0"/>
                  </a:rPr>
                  <a:t>$(h-3\cos\alpha)(k-3\sin\alpha)=c^2$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Subtract: </a:t>
                </a:r>
                <a:r>
                  <a:rPr lang="en-IN" sz="2400">
                    <a:solidFill>
                      <a:srgbClr val="111827"/>
                    </a:solidFill>
                    <a:latin typeface="Cambria Math" panose="02040503050406030204" pitchFamily="18" charset="0"/>
                  </a:rPr>
                  <a:t>$6(h\sin\alpha+k\cos\alpha)=0$</a:t>
                </a:r>
                <a:r>
                  <a:rPr sz="2400" b="0">
                    <a:solidFill>
                      <a:srgbClr val="111827"/>
                    </a:solidFill>
                    <a:latin typeface="Arial"/>
                  </a:rPr>
                  <a:t>, so </a:t>
                </a:r>
                <a:r>
                  <a:rPr lang="en-IN" sz="2400">
                    <a:solidFill>
                      <a:srgbClr val="111827"/>
                    </a:solidFill>
                    <a:latin typeface="Cambria Math" panose="02040503050406030204" pitchFamily="18" charset="0"/>
                  </a:rPr>
                  <a:t>$\tan\alpha=-\frac kh$</a:t>
                </a:r>
                <a:r>
                  <a:rPr sz="2400" b="0">
                    <a:solidFill>
                      <a:srgbClr val="111827"/>
                    </a:solidFill>
                    <a:latin typeface="Arial"/>
                  </a:rPr>
                  <a:t> and </a:t>
                </a:r>
                <a:r>
                  <a:rPr lang="en-IN" sz="2400">
                    <a:solidFill>
                      <a:srgbClr val="111827"/>
                    </a:solidFill>
                    <a:latin typeface="Cambria Math" panose="02040503050406030204" pitchFamily="18" charset="0"/>
                  </a:rPr>
                  <a:t>$\sin\alpha\cos\alpha=\frac{\tan\alpha}{1+\tan^2\alpha}=-\frac{hk}{h^2+k^2}$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Add: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num>
                      <m:den>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Add: </a:t>
                </a:r>
                <a:r>
                  <a:rPr lang="en-IN" sz="2400">
                    <a:solidFill>
                      <a:srgbClr val="111827"/>
                    </a:solidFill>
                    <a:latin typeface="Cambria Math" panose="02040503050406030204" pitchFamily="18" charset="0"/>
                  </a:rPr>
                  <a:t>$2hk+18\sin\alpha\cos\alpha=2c^2$</a:t>
                </a:r>
                <a:r>
                  <a:rPr sz="2400" b="0">
                    <a:solidFill>
                      <a:srgbClr val="111827"/>
                    </a:solidFill>
                    <a:latin typeface="Arial"/>
                  </a:rPr>
                  <a:t>, i.e. </a:t>
                </a:r>
                <a:r>
                  <a:rPr lang="en-IN" sz="2400">
                    <a:solidFill>
                      <a:srgbClr val="111827"/>
                    </a:solidFill>
                    <a:latin typeface="Cambria Math" panose="02040503050406030204" pitchFamily="18" charset="0"/>
                  </a:rPr>
                  <a:t>$hk+9\sin\alpha\cos\alpha=c^2$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$hk-\frac{9hk}{h^2+k^2}=c^2$</a:t>
                </a:r>
                <a:r>
                  <a:rPr sz="2400" b="0">
                    <a:solidFill>
                      <a:srgbClr val="111827"/>
                    </a:solidFill>
                    <a:latin typeface="Arial"/>
                  </a:rPr>
                  <a:t>, i.e. </a:t>
                </a:r>
                <a:r>
                  <a:rPr lang="en-IN" sz="2400">
                    <a:solidFill>
                      <a:srgbClr val="111827"/>
                    </a:solidFill>
                    <a:latin typeface="Cambria Math" panose="02040503050406030204" pitchFamily="18" charset="0"/>
                  </a:rPr>
                  <a:t>$(hk-c^2)(h^2+k^2)=9hk$</a:t>
                </a:r>
                <a:r>
                  <a:rPr sz="2400" b="0">
                    <a:solidFill>
                      <a:srgbClr val="111827"/>
                    </a:solidFill>
                    <a:latin typeface="Arial"/>
                  </a:rPr>
                  <a:t> and </a:t>
                </a:r>
                <a:r>
                  <a:rPr lang="en-IN" sz="2400">
                    <a:solidFill>
                      <a:srgbClr val="111827"/>
                    </a:solidFill>
                    <a:latin typeface="Cambria Math" panose="02040503050406030204" pitchFamily="18" charset="0"/>
                  </a:rPr>
                  <a:t>$\lambda=9$</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9</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$9$</a:t>
                </a:r>
                <a:endParaRPr sz="2800">
                  <a:solidFill>
                    <a:srgbClr val="15803D"/>
                  </a:solidFill>
                </a:endParaRPr>
              </a:p>
            </p:txBody>
          </p:sp>
        </mc:Fallback>
      </mc:AlternateContent>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point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𝑡</m:t>
                            </m:r>
                          </m:den>
                        </m:f>
                      </m:e>
                    </m:d>
                  </m:oMath>
                </a14:m>
                <a:r>
                  <a:rPr sz="2400" b="0">
                    <a:solidFill>
                      <a:srgbClr val="111827"/>
                    </a:solidFill>
                    <a:latin typeface="Arial"/>
                  </a:rPr>
                  <a:t>; chord through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has midpoint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of midpoints of chords of constant length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𝐿</m:t>
                    </m:r>
                  </m:oMath>
                </a14:m>
                <a:r>
                  <a:rPr sz="2400" b="0">
                    <a:solidFill>
                      <a:srgbClr val="111827"/>
                    </a:solidFill>
                    <a:latin typeface="Arial"/>
                  </a:rPr>
                  <a:t> of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𝐿</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𝐿</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Fixed-length chords: write end points as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eliminate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by adding and subtracting the two conditions.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chords of any conic through the midpoint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slope is fixed by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here the slope of the chord is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ℎ</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$xy=c^2$</a:t>
                </a:r>
                <a:r>
                  <a:rPr sz="2400" b="0">
                    <a:solidFill>
                      <a:srgbClr val="111827"/>
                    </a:solidFill>
                    <a:latin typeface="Arial"/>
                  </a:rPr>
                  <a:t> the point </a:t>
                </a:r>
                <a:r>
                  <a:rPr lang="en-IN" sz="2400">
                    <a:solidFill>
                      <a:srgbClr val="111827"/>
                    </a:solidFill>
                    <a:latin typeface="Cambria Math" panose="02040503050406030204" pitchFamily="18" charset="0"/>
                  </a:rPr>
                  <a:t>$\left(ct,\frac ct\right)$</a:t>
                </a:r>
                <a:r>
                  <a:rPr sz="2400" b="0">
                    <a:solidFill>
                      <a:srgbClr val="111827"/>
                    </a:solidFill>
                    <a:latin typeface="Arial"/>
                  </a:rPr>
                  <a:t>; chord through </a:t>
                </a:r>
                <a:r>
                  <a:rPr lang="en-IN" sz="2400">
                    <a:solidFill>
                      <a:srgbClr val="111827"/>
                    </a:solidFill>
                    <a:latin typeface="Cambria Math" panose="02040503050406030204" pitchFamily="18" charset="0"/>
                  </a:rPr>
                  <a:t>$t_1,t_2$</a:t>
                </a:r>
                <a:r>
                  <a:rPr sz="2400" b="0">
                    <a:solidFill>
                      <a:srgbClr val="111827"/>
                    </a:solidFill>
                    <a:latin typeface="Arial"/>
                  </a:rPr>
                  <a:t> has midpoint </a:t>
                </a:r>
                <a:r>
                  <a:rPr lang="en-IN" sz="2400">
                    <a:solidFill>
                      <a:srgbClr val="111827"/>
                    </a:solidFill>
                    <a:latin typeface="Cambria Math" panose="02040503050406030204" pitchFamily="18" charset="0"/>
                  </a:rPr>
                  <a:t>$\left(\frac{c(t_1+t_2)}{2},\frac{c(t_1+t_2)}{2t_1t_2}\right)$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of midpoints of chords of constant length </a:t>
                </a:r>
                <a:r>
                  <a:rPr lang="en-IN" sz="2400">
                    <a:solidFill>
                      <a:srgbClr val="111827"/>
                    </a:solidFill>
                    <a:latin typeface="Cambria Math" panose="02040503050406030204" pitchFamily="18" charset="0"/>
                  </a:rPr>
                  <a:t>$2L$</a:t>
                </a:r>
                <a:r>
                  <a:rPr sz="2400" b="0">
                    <a:solidFill>
                      <a:srgbClr val="111827"/>
                    </a:solidFill>
                    <a:latin typeface="Arial"/>
                  </a:rPr>
                  <a:t> of </a:t>
                </a:r>
                <a:r>
                  <a:rPr lang="en-IN" sz="2400">
                    <a:solidFill>
                      <a:srgbClr val="111827"/>
                    </a:solidFill>
                    <a:latin typeface="Cambria Math" panose="02040503050406030204" pitchFamily="18" charset="0"/>
                  </a:rPr>
                  <a:t>$xy=c^2$</a:t>
                </a:r>
                <a:r>
                  <a:rPr sz="2400" b="0">
                    <a:solidFill>
                      <a:srgbClr val="111827"/>
                    </a:solidFill>
                    <a:latin typeface="Arial"/>
                  </a:rPr>
                  <a:t>: </a:t>
                </a:r>
                <a:r>
                  <a:rPr lang="en-IN" sz="2400">
                    <a:solidFill>
                      <a:srgbClr val="111827"/>
                    </a:solidFill>
                    <a:latin typeface="Cambria Math" panose="02040503050406030204" pitchFamily="18" charset="0"/>
                  </a:rPr>
                  <a:t>$(x^2+y^2)(xy-c^2)=L^2xy$</a:t>
                </a:r>
                <a:r>
                  <a:rPr sz="2400" b="0">
                    <a:solidFill>
                      <a:srgbClr val="111827"/>
                    </a:solidFill>
                    <a:latin typeface="Arial"/>
                  </a:rPr>
                  <a:t> (here </a:t>
                </a:r>
                <a:r>
                  <a:rPr lang="en-IN" sz="2400">
                    <a:solidFill>
                      <a:srgbClr val="111827"/>
                    </a:solidFill>
                    <a:latin typeface="Cambria Math" panose="02040503050406030204" pitchFamily="18" charset="0"/>
                  </a:rPr>
                  <a:t>$L=3$</a:t>
                </a:r>
                <a:r>
                  <a:rPr sz="2400" b="0">
                    <a:solidFill>
                      <a:srgbClr val="111827"/>
                    </a:solidFill>
                    <a:latin typeface="Arial"/>
                  </a:rPr>
                  <a:t>, </a:t>
                </a:r>
                <a:r>
                  <a:rPr lang="en-IN" sz="2400">
                    <a:solidFill>
                      <a:srgbClr val="111827"/>
                    </a:solidFill>
                    <a:latin typeface="Cambria Math" panose="02040503050406030204" pitchFamily="18" charset="0"/>
                  </a:rPr>
                  <a:t>$\lambda=L^2=9$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Fixed-length chords: write end points as </a:t>
                </a:r>
                <a:r>
                  <a:rPr lang="en-IN" sz="2400">
                    <a:solidFill>
                      <a:srgbClr val="111827"/>
                    </a:solidFill>
                    <a:latin typeface="Cambria Math" panose="02040503050406030204" pitchFamily="18" charset="0"/>
                  </a:rPr>
                  <a:t>$M\pm L(\cos\alpha,\sin\alpha)$</a:t>
                </a:r>
                <a:r>
                  <a:rPr sz="2400" b="0">
                    <a:solidFill>
                      <a:srgbClr val="111827"/>
                    </a:solidFill>
                    <a:latin typeface="Arial"/>
                  </a:rPr>
                  <a:t> and eliminate </a:t>
                </a:r>
                <a:r>
                  <a:rPr lang="en-IN" sz="2400">
                    <a:solidFill>
                      <a:srgbClr val="111827"/>
                    </a:solidFill>
                    <a:latin typeface="Cambria Math" panose="02040503050406030204" pitchFamily="18" charset="0"/>
                  </a:rPr>
                  <a:t>$\alpha$</a:t>
                </a:r>
                <a:r>
                  <a:rPr sz="2400" b="0">
                    <a:solidFill>
                      <a:srgbClr val="111827"/>
                    </a:solidFill>
                    <a:latin typeface="Arial"/>
                  </a:rPr>
                  <a:t> by adding and subtracting the two conditions.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chords of any conic through the midpoint </a:t>
                </a:r>
                <a:r>
                  <a:rPr lang="en-IN" sz="2400">
                    <a:solidFill>
                      <a:srgbClr val="111827"/>
                    </a:solidFill>
                    <a:latin typeface="Cambria Math" panose="02040503050406030204" pitchFamily="18" charset="0"/>
                  </a:rPr>
                  <a:t>$(h,k)$</a:t>
                </a:r>
                <a:r>
                  <a:rPr sz="2400" b="0">
                    <a:solidFill>
                      <a:srgbClr val="111827"/>
                    </a:solidFill>
                    <a:latin typeface="Arial"/>
                  </a:rPr>
                  <a:t> the slope is fixed by </a:t>
                </a:r>
                <a:r>
                  <a:rPr lang="en-IN" sz="2400">
                    <a:solidFill>
                      <a:srgbClr val="111827"/>
                    </a:solidFill>
                    <a:latin typeface="Cambria Math" panose="02040503050406030204" pitchFamily="18" charset="0"/>
                  </a:rPr>
                  <a:t>$T=S_1$</a:t>
                </a:r>
                <a:r>
                  <a:rPr sz="2400" b="0">
                    <a:solidFill>
                      <a:srgbClr val="111827"/>
                    </a:solidFill>
                    <a:latin typeface="Arial"/>
                  </a:rPr>
                  <a:t>; here the slope of the chord is </a:t>
                </a:r>
                <a:r>
                  <a:rPr lang="en-IN" sz="2400">
                    <a:solidFill>
                      <a:srgbClr val="111827"/>
                    </a:solidFill>
                    <a:latin typeface="Cambria Math" panose="02040503050406030204" pitchFamily="18" charset="0"/>
                  </a:rPr>
                  <a:t>$-\frac kh$</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 chord joining the points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the hyperbola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a normal to it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then show that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 chord joining the points </a:t>
                </a:r>
                <a:r>
                  <a:rPr lang="en-IN" sz="2400">
                    <a:solidFill>
                      <a:srgbClr val="111827"/>
                    </a:solidFill>
                    <a:latin typeface="Cambria Math" panose="02040503050406030204" pitchFamily="18" charset="0"/>
                  </a:rPr>
                  <a:t>$P(a\sec\theta,a\tan\theta)$</a:t>
                </a:r>
                <a:r>
                  <a:rPr sz="2400" b="0">
                    <a:solidFill>
                      <a:srgbClr val="111827"/>
                    </a:solidFill>
                    <a:latin typeface="Arial"/>
                  </a:rPr>
                  <a:t> and </a:t>
                </a:r>
                <a:r>
                  <a:rPr lang="en-IN" sz="2400">
                    <a:solidFill>
                      <a:srgbClr val="111827"/>
                    </a:solidFill>
                    <a:latin typeface="Cambria Math" panose="02040503050406030204" pitchFamily="18" charset="0"/>
                  </a:rPr>
                  <a:t>$Q(a\sec\phi,a\tan\phi)$</a:t>
                </a:r>
                <a:r>
                  <a:rPr sz="2400" b="0">
                    <a:solidFill>
                      <a:srgbClr val="111827"/>
                    </a:solidFill>
                    <a:latin typeface="Arial"/>
                  </a:rPr>
                  <a:t> on the hyperbola </a:t>
                </a:r>
                <a:r>
                  <a:rPr lang="en-IN" sz="2400">
                    <a:solidFill>
                      <a:srgbClr val="111827"/>
                    </a:solidFill>
                    <a:latin typeface="Cambria Math" panose="02040503050406030204" pitchFamily="18" charset="0"/>
                  </a:rPr>
                  <a:t>$x^2-y^2=a^2$</a:t>
                </a:r>
                <a:r>
                  <a:rPr sz="2400" b="0">
                    <a:solidFill>
                      <a:srgbClr val="111827"/>
                    </a:solidFill>
                    <a:latin typeface="Arial"/>
                  </a:rPr>
                  <a:t> is a normal to it at </a:t>
                </a:r>
                <a:r>
                  <a:rPr lang="en-IN" sz="2400">
                    <a:solidFill>
                      <a:srgbClr val="111827"/>
                    </a:solidFill>
                    <a:latin typeface="Cambria Math" panose="02040503050406030204" pitchFamily="18" charset="0"/>
                  </a:rPr>
                  <a:t>$P$</a:t>
                </a:r>
                <a:r>
                  <a:rPr sz="2400" b="0">
                    <a:solidFill>
                      <a:srgbClr val="111827"/>
                    </a:solidFill>
                    <a:latin typeface="Arial"/>
                  </a:rPr>
                  <a:t>, then show that </a:t>
                </a:r>
                <a:r>
                  <a:rPr lang="en-IN" sz="2400">
                    <a:solidFill>
                      <a:srgbClr val="111827"/>
                    </a:solidFill>
                    <a:latin typeface="Cambria Math" panose="02040503050406030204" pitchFamily="18" charset="0"/>
                  </a:rPr>
                  <a:t>$\tan\phi=\tan\theta\left(4\sec^2\theta-1\right)$</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 to a hyperbola at a parametric point, Chord joining two points of a hyperbola in terms of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ϕ</m:t>
                    </m:r>
                  </m:oMath>
                </a14:m>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Choice>
        <mc:Fallback>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 to a hyperbola at a parametric point, Chord joining two points of a hyperbola in terms of </a:t>
                </a:r>
                <a:r>
                  <a:rPr lang="en-IN" sz="2400">
                    <a:solidFill>
                      <a:srgbClr val="111827"/>
                    </a:solidFill>
                    <a:latin typeface="Cambria Math" panose="02040503050406030204" pitchFamily="18" charset="0"/>
                  </a:rPr>
                  <a:t>$\theta,\phi$</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Fallback>
      </mc:AlternateContent>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Equate the slope of the chord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oMath>
                </a14:m>
                <a:r>
                  <a:rPr sz="2400" b="0">
                    <a:solidFill>
                      <a:srgbClr val="78350F"/>
                    </a:solidFill>
                    <a:latin typeface="Arial"/>
                  </a:rPr>
                  <a:t> with the slope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θ</m:t>
                    </m:r>
                  </m:oMath>
                </a14:m>
                <a:r>
                  <a:rPr sz="2400" b="0">
                    <a:solidFill>
                      <a:srgbClr val="78350F"/>
                    </a:solidFill>
                    <a:latin typeface="Arial"/>
                  </a:rPr>
                  <a:t> of the normal at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to get </a:t>
                </a:r>
                <a14:m>
                  <m:oMath xmlns:m="http://schemas.openxmlformats.org/officeDocument/2006/math">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ϕ</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sec</m:t>
                    </m:r>
                    <m:r>
                      <a:rPr lang="en-IN" sz="2400" i="1">
                        <a:solidFill>
                          <a:srgbClr val="78350F"/>
                        </a:solidFill>
                        <a:latin typeface="Cambria Math" panose="02040503050406030204" pitchFamily="18" charset="0"/>
                      </a:rPr>
                      <m:t>ϕ</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θ</m:t>
                    </m:r>
                  </m:oMath>
                </a14:m>
                <a:r>
                  <a:rPr sz="2400" b="0">
                    <a:solidFill>
                      <a:srgbClr val="78350F"/>
                    </a:solidFill>
                    <a:latin typeface="Arial"/>
                  </a:rPr>
                  <a:t>, then use </a:t>
                </a:r>
                <a14:m>
                  <m:oMath xmlns:m="http://schemas.openxmlformats.org/officeDocument/2006/math">
                    <m:sSup>
                      <m:e>
                        <m:r>
                          <m:rPr>
                            <m:sty m:val="p"/>
                          </m:rPr>
                          <a:rPr lang="en-IN" sz="2400">
                            <a:solidFill>
                              <a:srgbClr val="78350F"/>
                            </a:solidFill>
                            <a:latin typeface="Cambria Math" panose="02040503050406030204" pitchFamily="18" charset="0"/>
                          </a:rPr>
                          <m:t>sec</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ϕ</m:t>
                    </m:r>
                    <m:r>
                      <m:rPr>
                        <m:sty m:val="p"/>
                      </m:rPr>
                      <a:rPr lang="en-IN" sz="2400">
                        <a:solidFill>
                          <a:srgbClr val="78350F"/>
                        </a:solidFill>
                        <a:latin typeface="Cambria Math" panose="02040503050406030204" pitchFamily="18" charset="0"/>
                      </a:rPr>
                      <m:t>−</m:t>
                    </m:r>
                    <m:sSup>
                      <m:e>
                        <m:r>
                          <m:rPr>
                            <m:sty m:val="p"/>
                          </m:rPr>
                          <a:rPr lang="en-IN" sz="2400">
                            <a:solidFill>
                              <a:srgbClr val="78350F"/>
                            </a:solidFill>
                            <a:latin typeface="Cambria Math" panose="02040503050406030204" pitchFamily="18" charset="0"/>
                          </a:rPr>
                          <m:t>tan</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ϕ</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Equate the slope of the chord </a:t>
                </a:r>
                <a:r>
                  <a:rPr lang="en-IN" sz="2400">
                    <a:solidFill>
                      <a:srgbClr val="78350F"/>
                    </a:solidFill>
                    <a:latin typeface="Cambria Math" panose="02040503050406030204" pitchFamily="18" charset="0"/>
                  </a:rPr>
                  <a:t>$PQ$</a:t>
                </a:r>
                <a:r>
                  <a:rPr sz="2400" b="0">
                    <a:solidFill>
                      <a:srgbClr val="78350F"/>
                    </a:solidFill>
                    <a:latin typeface="Arial"/>
                  </a:rPr>
                  <a:t> with the slope </a:t>
                </a:r>
                <a:r>
                  <a:rPr lang="en-IN" sz="2400">
                    <a:solidFill>
                      <a:srgbClr val="78350F"/>
                    </a:solidFill>
                    <a:latin typeface="Cambria Math" panose="02040503050406030204" pitchFamily="18" charset="0"/>
                  </a:rPr>
                  <a:t>$-\sin\theta$</a:t>
                </a:r>
                <a:r>
                  <a:rPr sz="2400" b="0">
                    <a:solidFill>
                      <a:srgbClr val="78350F"/>
                    </a:solidFill>
                    <a:latin typeface="Arial"/>
                  </a:rPr>
                  <a:t> of the normal at </a:t>
                </a:r>
                <a:r>
                  <a:rPr lang="en-IN" sz="2400">
                    <a:solidFill>
                      <a:srgbClr val="78350F"/>
                    </a:solidFill>
                    <a:latin typeface="Cambria Math" panose="02040503050406030204" pitchFamily="18" charset="0"/>
                  </a:rPr>
                  <a:t>$P$</a:t>
                </a:r>
                <a:r>
                  <a:rPr sz="2400" b="0">
                    <a:solidFill>
                      <a:srgbClr val="78350F"/>
                    </a:solidFill>
                    <a:latin typeface="Arial"/>
                  </a:rPr>
                  <a:t> to get </a:t>
                </a:r>
                <a:r>
                  <a:rPr lang="en-IN" sz="2400">
                    <a:solidFill>
                      <a:srgbClr val="78350F"/>
                    </a:solidFill>
                    <a:latin typeface="Cambria Math" panose="02040503050406030204" pitchFamily="18" charset="0"/>
                  </a:rPr>
                  <a:t>$\tan\phi+\sin\theta\sec\phi=2\tan\theta$</a:t>
                </a:r>
                <a:r>
                  <a:rPr sz="2400" b="0">
                    <a:solidFill>
                      <a:srgbClr val="78350F"/>
                    </a:solidFill>
                    <a:latin typeface="Arial"/>
                  </a:rPr>
                  <a:t>, then use </a:t>
                </a:r>
                <a:r>
                  <a:rPr lang="en-IN" sz="2400">
                    <a:solidFill>
                      <a:srgbClr val="78350F"/>
                    </a:solidFill>
                    <a:latin typeface="Cambria Math" panose="02040503050406030204" pitchFamily="18" charset="0"/>
                  </a:rPr>
                  <a:t>$\sec^2\phi-\tan^2\phi=1$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working is grey boxes; it is written out here from the method it states: slope of the chord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 slope of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slope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oMath>
                </a14:m>
                <a:r>
                  <a:rPr sz="2400" b="0">
                    <a:solidFill>
                      <a:srgbClr val="111827"/>
                    </a:solidFill>
                    <a:latin typeface="Arial"/>
                  </a:rPr>
                  <a:t>; so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has slope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of the chord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den>
                    </m:f>
                  </m:oMath>
                </a14:m>
                <a:r>
                  <a:rPr sz="2400" b="0">
                    <a:solidFill>
                      <a:srgbClr val="111827"/>
                    </a:solidFill>
                    <a:latin typeface="Arial"/>
                  </a:rPr>
                  <a:t>. Equating to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 ....(1).</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working is grey boxes; it is written out here from the method it states: slope of the chord </a:t>
                </a:r>
                <a:r>
                  <a:rPr lang="en-IN" sz="2400">
                    <a:solidFill>
                      <a:srgbClr val="111827"/>
                    </a:solidFill>
                    <a:latin typeface="Cambria Math" panose="02040503050406030204" pitchFamily="18" charset="0"/>
                  </a:rPr>
                  <a:t>$PQ$</a:t>
                </a:r>
                <a:r>
                  <a:rPr sz="2400" b="0">
                    <a:solidFill>
                      <a:srgbClr val="111827"/>
                    </a:solidFill>
                    <a:latin typeface="Arial"/>
                  </a:rPr>
                  <a:t> = slope of the normal at </a:t>
                </a:r>
                <a:r>
                  <a:rPr lang="en-IN" sz="2400">
                    <a:solidFill>
                      <a:srgbClr val="111827"/>
                    </a:solidFill>
                    <a:latin typeface="Cambria Math" panose="02040503050406030204" pitchFamily="18" charset="0"/>
                  </a:rPr>
                  <a:t>$P$</a:t>
                </a:r>
                <a:r>
                  <a:rPr sz="2400" b="0">
                    <a:solidFill>
                      <a:srgbClr val="111827"/>
                    </a:solidFill>
                    <a:latin typeface="Arial"/>
                  </a:rPr>
                  <a:t>.) Tangent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$x\sec\theta-y\tan\theta=a$</a:t>
                </a:r>
                <a:r>
                  <a:rPr sz="2400" b="0">
                    <a:solidFill>
                      <a:srgbClr val="111827"/>
                    </a:solidFill>
                    <a:latin typeface="Arial"/>
                  </a:rPr>
                  <a:t>, slope </a:t>
                </a:r>
                <a:r>
                  <a:rPr lang="en-IN" sz="2400">
                    <a:solidFill>
                      <a:srgbClr val="111827"/>
                    </a:solidFill>
                    <a:latin typeface="Cambria Math" panose="02040503050406030204" pitchFamily="18" charset="0"/>
                  </a:rPr>
                  <a:t>$\frac{1}{\sin\theta}$</a:t>
                </a:r>
                <a:r>
                  <a:rPr sz="2400" b="0">
                    <a:solidFill>
                      <a:srgbClr val="111827"/>
                    </a:solidFill>
                    <a:latin typeface="Arial"/>
                  </a:rPr>
                  <a:t>; so the normal at </a:t>
                </a:r>
                <a:r>
                  <a:rPr lang="en-IN" sz="2400">
                    <a:solidFill>
                      <a:srgbClr val="111827"/>
                    </a:solidFill>
                    <a:latin typeface="Cambria Math" panose="02040503050406030204" pitchFamily="18" charset="0"/>
                  </a:rPr>
                  <a:t>$P$</a:t>
                </a:r>
                <a:r>
                  <a:rPr sz="2400" b="0">
                    <a:solidFill>
                      <a:srgbClr val="111827"/>
                    </a:solidFill>
                    <a:latin typeface="Arial"/>
                  </a:rPr>
                  <a:t> has slope </a:t>
                </a:r>
                <a:r>
                  <a:rPr lang="en-IN" sz="2400">
                    <a:solidFill>
                      <a:srgbClr val="111827"/>
                    </a:solidFill>
                    <a:latin typeface="Cambria Math" panose="02040503050406030204" pitchFamily="18" charset="0"/>
                  </a:rPr>
                  <a:t>$-\sin\theta$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of the chord </a:t>
                </a:r>
                <a:r>
                  <a:rPr lang="en-IN" sz="2400">
                    <a:solidFill>
                      <a:srgbClr val="111827"/>
                    </a:solidFill>
                    <a:latin typeface="Cambria Math" panose="02040503050406030204" pitchFamily="18" charset="0"/>
                  </a:rPr>
                  <a:t>$PQ$</a:t>
                </a:r>
                <a:r>
                  <a:rPr sz="2400" b="0">
                    <a:solidFill>
                      <a:srgbClr val="111827"/>
                    </a:solidFill>
                    <a:latin typeface="Arial"/>
                  </a:rPr>
                  <a:t>: </a:t>
                </a:r>
                <a:r>
                  <a:rPr lang="en-IN" sz="2400">
                    <a:solidFill>
                      <a:srgbClr val="111827"/>
                    </a:solidFill>
                    <a:latin typeface="Cambria Math" panose="02040503050406030204" pitchFamily="18" charset="0"/>
                  </a:rPr>
                  <a:t>$\frac{a\tan\phi-a\tan\theta}{a\sec\phi-a\sec\theta}$</a:t>
                </a:r>
                <a:r>
                  <a:rPr sz="2400" b="0">
                    <a:solidFill>
                      <a:srgbClr val="111827"/>
                    </a:solidFill>
                    <a:latin typeface="Arial"/>
                  </a:rPr>
                  <a:t>. Equating to </a:t>
                </a:r>
                <a:r>
                  <a:rPr lang="en-IN" sz="2400">
                    <a:solidFill>
                      <a:srgbClr val="111827"/>
                    </a:solidFill>
                    <a:latin typeface="Cambria Math" panose="02040503050406030204" pitchFamily="18" charset="0"/>
                  </a:rPr>
                  <a:t>$-\sin\theta$</a:t>
                </a:r>
                <a:r>
                  <a:rPr sz="2400" b="0">
                    <a:solidFill>
                      <a:srgbClr val="111827"/>
                    </a:solidFill>
                    <a:latin typeface="Arial"/>
                  </a:rPr>
                  <a:t>: </a:t>
                </a:r>
                <a:r>
                  <a:rPr lang="en-IN" sz="2400">
                    <a:solidFill>
                      <a:srgbClr val="111827"/>
                    </a:solidFill>
                    <a:latin typeface="Cambria Math" panose="02040503050406030204" pitchFamily="18" charset="0"/>
                  </a:rPr>
                  <a:t>$\tan\phi-\tan\theta=-\sin\theta(\sec\phi-\sec\theta)$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$\sin\theta\sec\theta=\tan\theta$</a:t>
                </a:r>
                <a:r>
                  <a:rPr sz="2400" b="0">
                    <a:solidFill>
                      <a:srgbClr val="111827"/>
                    </a:solidFill>
                    <a:latin typeface="Arial"/>
                  </a:rPr>
                  <a:t>: </a:t>
                </a:r>
                <a:r>
                  <a:rPr lang="en-IN" sz="2400">
                    <a:solidFill>
                      <a:srgbClr val="111827"/>
                    </a:solidFill>
                    <a:latin typeface="Cambria Math" panose="02040503050406030204" pitchFamily="18" charset="0"/>
                  </a:rPr>
                  <a:t>$\tan\phi+\sin\theta\sec\phi=2\tan\theta$</a:t>
                </a:r>
                <a:r>
                  <a:rPr sz="2400" b="0">
                    <a:solidFill>
                      <a:srgbClr val="111827"/>
                    </a:solidFill>
                    <a:latin typeface="Arial"/>
                  </a:rPr>
                  <a:t> ....(1).</a:t>
                </a:r>
                <a:endParaRPr sz="2400">
                  <a:solidFill>
                    <a:srgbClr val="111827"/>
                  </a:solidFill>
                </a:endParaRPr>
              </a:p>
            </p:txBody>
          </p:sp>
        </mc:Fallback>
      </mc:AlternateContent>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Also </a:t>
                </a:r>
                <a14:m>
                  <m:oMath xmlns:m="http://schemas.openxmlformats.org/officeDocument/2006/math">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oMath>
                </a14:m>
                <a:r>
                  <a:rPr sz="2400" b="0">
                    <a:solidFill>
                      <a:srgbClr val="111827"/>
                    </a:solidFill>
                    <a:latin typeface="Arial"/>
                  </a:rPr>
                  <a:t>. Put it in (2): </a:t>
                </a:r>
                <a14:m>
                  <m:oMath xmlns:m="http://schemas.openxmlformats.org/officeDocument/2006/math">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Expanding with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 quadratic in </a:t>
                </a:r>
                <a14:m>
                  <m:oMath xmlns:m="http://schemas.openxmlformats.org/officeDocument/2006/math">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Also </a:t>
                </a:r>
                <a:r>
                  <a:rPr lang="en-IN" sz="2400">
                    <a:solidFill>
                      <a:srgbClr val="111827"/>
                    </a:solidFill>
                    <a:latin typeface="Cambria Math" panose="02040503050406030204" pitchFamily="18" charset="0"/>
                  </a:rPr>
                  <a:t>$\sec^2\phi-\tan^2\phi=1$</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t>
                </a:r>
                <a:r>
                  <a:rPr lang="en-IN" sz="2400">
                    <a:solidFill>
                      <a:srgbClr val="111827"/>
                    </a:solidFill>
                    <a:latin typeface="Cambria Math" panose="02040503050406030204" pitchFamily="18" charset="0"/>
                  </a:rPr>
                  <a:t>$\tan\phi=2\tan\theta-\sin\theta\sec\phi$</a:t>
                </a:r>
                <a:r>
                  <a:rPr sz="2400" b="0">
                    <a:solidFill>
                      <a:srgbClr val="111827"/>
                    </a:solidFill>
                    <a:latin typeface="Arial"/>
                  </a:rPr>
                  <a:t>. Put it in (2): </a:t>
                </a:r>
                <a:r>
                  <a:rPr lang="en-IN" sz="2400">
                    <a:solidFill>
                      <a:srgbClr val="111827"/>
                    </a:solidFill>
                    <a:latin typeface="Cambria Math" panose="02040503050406030204" pitchFamily="18" charset="0"/>
                  </a:rPr>
                  <a:t>$\sec^2\phi-(2\tan\theta-\sin\theta\sec\phi)^2=1$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Expanding with </a:t>
                </a:r>
                <a:r>
                  <a:rPr lang="en-IN" sz="2400">
                    <a:solidFill>
                      <a:srgbClr val="111827"/>
                    </a:solidFill>
                    <a:latin typeface="Cambria Math" panose="02040503050406030204" pitchFamily="18" charset="0"/>
                  </a:rPr>
                  <a:t>$\cos^2\theta=1-\sin^2\theta$</a:t>
                </a:r>
                <a:r>
                  <a:rPr sz="2400" b="0">
                    <a:solidFill>
                      <a:srgbClr val="111827"/>
                    </a:solidFill>
                    <a:latin typeface="Arial"/>
                  </a:rPr>
                  <a:t>: </a:t>
                </a:r>
                <a:r>
                  <a:rPr lang="en-IN" sz="2400">
                    <a:solidFill>
                      <a:srgbClr val="111827"/>
                    </a:solidFill>
                    <a:latin typeface="Cambria Math" panose="02040503050406030204" pitchFamily="18" charset="0"/>
                  </a:rPr>
                  <a:t>$\cos^2\theta\,\sec^2\phi+4\sin\theta\tan\theta\,\sec\phi-(4\tan^2\theta+1)=0$</a:t>
                </a:r>
                <a:r>
                  <a:rPr sz="2400" b="0">
                    <a:solidFill>
                      <a:srgbClr val="111827"/>
                    </a:solidFill>
                    <a:latin typeface="Arial"/>
                  </a:rPr>
                  <a:t>, a quadratic in </a:t>
                </a:r>
                <a:r>
                  <a:rPr lang="en-IN" sz="2400">
                    <a:solidFill>
                      <a:srgbClr val="111827"/>
                    </a:solidFill>
                    <a:latin typeface="Cambria Math" panose="02040503050406030204" pitchFamily="18" charset="0"/>
                  </a:rPr>
                  <a:t>$\sec\phi$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One root is </a:t>
                </a:r>
                <a14:m>
                  <m:oMath xmlns:m="http://schemas.openxmlformats.org/officeDocument/2006/math">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oMath>
                </a14:m>
                <a:r>
                  <a:rPr sz="2400" b="0">
                    <a:solidFill>
                      <a:srgbClr val="111827"/>
                    </a:solidFill>
                    <a:latin typeface="Arial"/>
                  </a:rPr>
                  <a:t> (the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itself). The product of the roots is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oMath>
                </a14:m>
                <a:r>
                  <a:rPr sz="2400" b="0">
                    <a:solidFill>
                      <a:srgbClr val="111827"/>
                    </a:solidFill>
                    <a:latin typeface="Arial"/>
                  </a:rPr>
                  <a:t>, so the other root is </a:t>
                </a:r>
                <a14:m>
                  <m:oMath xmlns:m="http://schemas.openxmlformats.org/officeDocument/2006/math">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One root is </a:t>
                </a:r>
                <a:r>
                  <a:rPr lang="en-IN" sz="2400">
                    <a:solidFill>
                      <a:srgbClr val="111827"/>
                    </a:solidFill>
                    <a:latin typeface="Cambria Math" panose="02040503050406030204" pitchFamily="18" charset="0"/>
                  </a:rPr>
                  <a:t>$\sec\phi=\sec\theta$</a:t>
                </a:r>
                <a:r>
                  <a:rPr sz="2400" b="0">
                    <a:solidFill>
                      <a:srgbClr val="111827"/>
                    </a:solidFill>
                    <a:latin typeface="Arial"/>
                  </a:rPr>
                  <a:t> (the point </a:t>
                </a:r>
                <a:r>
                  <a:rPr lang="en-IN" sz="2400">
                    <a:solidFill>
                      <a:srgbClr val="111827"/>
                    </a:solidFill>
                    <a:latin typeface="Cambria Math" panose="02040503050406030204" pitchFamily="18" charset="0"/>
                  </a:rPr>
                  <a:t>$P$</a:t>
                </a:r>
                <a:r>
                  <a:rPr sz="2400" b="0">
                    <a:solidFill>
                      <a:srgbClr val="111827"/>
                    </a:solidFill>
                    <a:latin typeface="Arial"/>
                  </a:rPr>
                  <a:t> itself). The product of the roots is </a:t>
                </a:r>
                <a:r>
                  <a:rPr lang="en-IN" sz="2400">
                    <a:solidFill>
                      <a:srgbClr val="111827"/>
                    </a:solidFill>
                    <a:latin typeface="Cambria Math" panose="02040503050406030204" pitchFamily="18" charset="0"/>
                  </a:rPr>
                  <a:t>$-\frac{4\tan^2\theta+1}{\cos^2\theta}$</a:t>
                </a:r>
                <a:r>
                  <a:rPr sz="2400" b="0">
                    <a:solidFill>
                      <a:srgbClr val="111827"/>
                    </a:solidFill>
                    <a:latin typeface="Arial"/>
                  </a:rPr>
                  <a:t>, so the other root is </a:t>
                </a:r>
                <a:r>
                  <a:rPr lang="en-IN" sz="2400">
                    <a:solidFill>
                      <a:srgbClr val="111827"/>
                    </a:solidFill>
                    <a:latin typeface="Cambria Math" panose="02040503050406030204" pitchFamily="18" charset="0"/>
                  </a:rPr>
                  <a:t>$\sec\phi=-\sec\theta\,(4\tan^2\theta+1)=-\sec\theta\,(4\sec^2\theta-3)$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$\tan\phi=2\tan\theta-\sin\theta\sec\phi=2\tan\theta+\sin\theta\sec\theta\,(4\sec^2\theta-3)=2\tan\theta+\tan\theta\,(4\sec^2\theta-3)$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$\tan\phi=\tan\theta\,(4\sec^2\theta-1)$</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m:rPr>
                        <m:sty m:val="p"/>
                      </m:rPr>
                      <a:rPr lang="en-IN" sz="2800">
                        <a:solidFill>
                          <a:srgbClr val="15803D"/>
                        </a:solidFill>
                        <a:latin typeface="Cambria Math" panose="02040503050406030204" pitchFamily="18" charset="0"/>
                      </a:rPr>
                      <m:t>tan</m:t>
                    </m:r>
                    <m:r>
                      <a:rPr lang="en-IN" sz="2800" i="1">
                        <a:solidFill>
                          <a:srgbClr val="15803D"/>
                        </a:solidFill>
                        <a:latin typeface="Cambria Math" panose="02040503050406030204" pitchFamily="18" charset="0"/>
                      </a:rPr>
                      <m:t>ϕ</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tan</m:t>
                    </m:r>
                    <m:r>
                      <a:rPr lang="en-IN" sz="2800" i="1">
                        <a:solidFill>
                          <a:srgbClr val="15803D"/>
                        </a:solidFill>
                        <a:latin typeface="Cambria Math" panose="02040503050406030204" pitchFamily="18" charset="0"/>
                      </a:rPr>
                      <m:t>θ</m:t>
                    </m:r>
                    <m:r>
                      <a:rPr lang="en-IN" sz="2800" i="1">
                        <a:solidFill>
                          <a:srgbClr val="15803D"/>
                        </a:solidFill>
                        <a:latin typeface="Cambria Math" panose="02040503050406030204" pitchFamily="18" charset="0"/>
                      </a:rPr>
                      <m:t> </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m:t>
                    </m:r>
                    <m:sSup>
                      <m:e>
                        <m:r>
                          <m:rPr>
                            <m:sty m:val="p"/>
                          </m:rPr>
                          <a:rPr lang="en-IN" sz="2800">
                            <a:solidFill>
                              <a:srgbClr val="15803D"/>
                            </a:solidFill>
                            <a:latin typeface="Cambria Math" panose="02040503050406030204" pitchFamily="18" charset="0"/>
                          </a:rPr>
                          <m:t>sec</m:t>
                        </m:r>
                      </m:e>
                      <m:sup>
                        <m:r>
                          <a:rPr lang="en-IN" sz="2800" i="1">
                            <a:solidFill>
                              <a:srgbClr val="15803D"/>
                            </a:solidFill>
                            <a:latin typeface="Cambria Math" panose="02040503050406030204" pitchFamily="18" charset="0"/>
                          </a:rPr>
                          <m:t>2</m:t>
                        </m:r>
                      </m:sup>
                    </m:sSup>
                    <m:r>
                      <a:rPr lang="en-IN" sz="2800" i="1">
                        <a:solidFill>
                          <a:srgbClr val="15803D"/>
                        </a:solidFill>
                        <a:latin typeface="Cambria Math" panose="02040503050406030204" pitchFamily="18" charset="0"/>
                      </a:rPr>
                      <m:t>θ</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$\tan\phi=\tan\theta\,(4\sec^2\theta-1)$</a:t>
                </a:r>
                <a:endParaRPr sz="2800">
                  <a:solidFill>
                    <a:srgbClr val="15803D"/>
                  </a:solidFill>
                </a:endParaRPr>
              </a:p>
            </p:txBody>
          </p:sp>
        </mc:Fallback>
      </mc:AlternateContent>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Rotate by </a:t>
                </a:r>
                <a14:m>
                  <m:oMath xmlns:m="http://schemas.openxmlformats.org/officeDocument/2006/math">
                    <m:sSup>
                      <m:e>
                        <m:r>
                          <a:rPr lang="en-IN" sz="2400" i="1">
                            <a:solidFill>
                              <a:srgbClr val="78350F"/>
                            </a:solidFill>
                            <a:latin typeface="Cambria Math" panose="02040503050406030204" pitchFamily="18" charset="0"/>
                          </a:rPr>
                          <m:t>45</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𝑋</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𝑌</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oMath>
                </a14:m>
                <a:r>
                  <a:rPr sz="2400" b="0">
                    <a:solidFill>
                      <a:srgbClr val="78350F"/>
                    </a:solidFill>
                    <a:latin typeface="Arial"/>
                  </a:rPr>
                  <a:t> turns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into a rectangular hyperbola </a:t>
                </a:r>
                <a14:m>
                  <m:oMath xmlns:m="http://schemas.openxmlformats.org/officeDocument/2006/math">
                    <m:r>
                      <a:rPr lang="en-IN" sz="2400" i="1">
                        <a:solidFill>
                          <a:srgbClr val="78350F"/>
                        </a:solidFill>
                        <a:latin typeface="Cambria Math" panose="02040503050406030204" pitchFamily="18" charset="0"/>
                      </a:rPr>
                      <m:t>𝑋</m:t>
                    </m:r>
                    <m:r>
                      <a:rPr lang="en-IN" sz="2400" i="1">
                        <a:solidFill>
                          <a:srgbClr val="78350F"/>
                        </a:solidFill>
                        <a:latin typeface="Cambria Math" panose="02040503050406030204" pitchFamily="18" charset="0"/>
                      </a:rPr>
                      <m:t>𝑌</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where the normal-chord relation is </a:t>
                </a:r>
                <a14:m>
                  <m:oMath xmlns:m="http://schemas.openxmlformats.org/officeDocument/2006/math">
                    <m:sSubSup>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up>
                        <m:r>
                          <a:rPr lang="en-IN" sz="2400" i="1">
                            <a:solidFill>
                              <a:srgbClr val="78350F"/>
                            </a:solidFill>
                            <a:latin typeface="Cambria Math" panose="02040503050406030204" pitchFamily="18" charset="0"/>
                          </a:rPr>
                          <m:t>3</m:t>
                        </m:r>
                      </m:sup>
                    </m:sSubSup>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Rotate by </a:t>
                </a:r>
                <a:r>
                  <a:rPr lang="en-IN" sz="2400">
                    <a:solidFill>
                      <a:srgbClr val="78350F"/>
                    </a:solidFill>
                    <a:latin typeface="Cambria Math" panose="02040503050406030204" pitchFamily="18" charset="0"/>
                  </a:rPr>
                  <a:t>$45^\circ$</a:t>
                </a:r>
                <a:r>
                  <a:rPr sz="2400" b="0">
                    <a:solidFill>
                      <a:srgbClr val="78350F"/>
                    </a:solidFill>
                    <a:latin typeface="Arial"/>
                  </a:rPr>
                  <a:t>: </a:t>
                </a:r>
                <a:r>
                  <a:rPr lang="en-IN" sz="2400">
                    <a:solidFill>
                      <a:srgbClr val="78350F"/>
                    </a:solidFill>
                    <a:latin typeface="Cambria Math" panose="02040503050406030204" pitchFamily="18" charset="0"/>
                  </a:rPr>
                  <a:t>$X=x+y,\ Y=x-y$</a:t>
                </a:r>
                <a:r>
                  <a:rPr sz="2400" b="0">
                    <a:solidFill>
                      <a:srgbClr val="78350F"/>
                    </a:solidFill>
                    <a:latin typeface="Arial"/>
                  </a:rPr>
                  <a:t> turns </a:t>
                </a:r>
                <a:r>
                  <a:rPr lang="en-IN" sz="2400">
                    <a:solidFill>
                      <a:srgbClr val="78350F"/>
                    </a:solidFill>
                    <a:latin typeface="Cambria Math" panose="02040503050406030204" pitchFamily="18" charset="0"/>
                  </a:rPr>
                  <a:t>$x^2-y^2=a^2$</a:t>
                </a:r>
                <a:r>
                  <a:rPr sz="2400" b="0">
                    <a:solidFill>
                      <a:srgbClr val="78350F"/>
                    </a:solidFill>
                    <a:latin typeface="Arial"/>
                  </a:rPr>
                  <a:t> into a rectangular hyperbola </a:t>
                </a:r>
                <a:r>
                  <a:rPr lang="en-IN" sz="2400">
                    <a:solidFill>
                      <a:srgbClr val="78350F"/>
                    </a:solidFill>
                    <a:latin typeface="Cambria Math" panose="02040503050406030204" pitchFamily="18" charset="0"/>
                  </a:rPr>
                  <a:t>$XY=a^2$</a:t>
                </a:r>
                <a:r>
                  <a:rPr sz="2400" b="0">
                    <a:solidFill>
                      <a:srgbClr val="78350F"/>
                    </a:solidFill>
                    <a:latin typeface="Arial"/>
                  </a:rPr>
                  <a:t>, where the normal-chord relation is </a:t>
                </a:r>
                <a:r>
                  <a:rPr lang="en-IN" sz="2400">
                    <a:solidFill>
                      <a:srgbClr val="78350F"/>
                    </a:solidFill>
                    <a:latin typeface="Cambria Math" panose="02040503050406030204" pitchFamily="18" charset="0"/>
                  </a:rPr>
                  <a:t>$t_1^3t_2=-1$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(a rotation through </a:t>
                </a:r>
                <a14:m>
                  <m:oMath xmlns:m="http://schemas.openxmlformats.org/officeDocument/2006/math">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with scaling), so the curve becomes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normals stay normals.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has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 Likewise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has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tangent at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𝑡</m:t>
                    </m:r>
                  </m:oMath>
                </a14:m>
                <a:r>
                  <a:rPr sz="2400" b="0">
                    <a:solidFill>
                      <a:srgbClr val="111827"/>
                    </a:solidFill>
                    <a:latin typeface="Arial"/>
                  </a:rPr>
                  <a:t> (slope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so the normal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has slope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the chord through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has slope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$X=x+y,\ Y=x-y$</a:t>
                </a:r>
                <a:r>
                  <a:rPr sz="2400" b="0">
                    <a:solidFill>
                      <a:srgbClr val="111827"/>
                    </a:solidFill>
                    <a:latin typeface="Arial"/>
                  </a:rPr>
                  <a:t> (a rotation through </a:t>
                </a:r>
                <a:r>
                  <a:rPr lang="en-IN" sz="2400">
                    <a:solidFill>
                      <a:srgbClr val="111827"/>
                    </a:solidFill>
                    <a:latin typeface="Cambria Math" panose="02040503050406030204" pitchFamily="18" charset="0"/>
                  </a:rPr>
                  <a:t>$45^\circ$</a:t>
                </a:r>
                <a:r>
                  <a:rPr sz="2400" b="0">
                    <a:solidFill>
                      <a:srgbClr val="111827"/>
                    </a:solidFill>
                    <a:latin typeface="Arial"/>
                  </a:rPr>
                  <a:t> with scaling), so the curve becomes </a:t>
                </a:r>
                <a:r>
                  <a:rPr lang="en-IN" sz="2400">
                    <a:solidFill>
                      <a:srgbClr val="111827"/>
                    </a:solidFill>
                    <a:latin typeface="Cambria Math" panose="02040503050406030204" pitchFamily="18" charset="0"/>
                  </a:rPr>
                  <a:t>$XY=a^2$</a:t>
                </a:r>
                <a:r>
                  <a:rPr sz="2400" b="0">
                    <a:solidFill>
                      <a:srgbClr val="111827"/>
                    </a:solidFill>
                    <a:latin typeface="Arial"/>
                  </a:rPr>
                  <a:t> and normals stay normals. </a:t>
                </a:r>
                <a:r>
                  <a:rPr lang="en-IN" sz="2400">
                    <a:solidFill>
                      <a:srgbClr val="111827"/>
                    </a:solidFill>
                    <a:latin typeface="Cambria Math" panose="02040503050406030204" pitchFamily="18" charset="0"/>
                  </a:rPr>
                  <a:t>$P$</a:t>
                </a:r>
                <a:r>
                  <a:rPr sz="2400" b="0">
                    <a:solidFill>
                      <a:srgbClr val="111827"/>
                    </a:solidFill>
                    <a:latin typeface="Arial"/>
                  </a:rPr>
                  <a:t> has </a:t>
                </a:r>
                <a:r>
                  <a:rPr lang="en-IN" sz="2400">
                    <a:solidFill>
                      <a:srgbClr val="111827"/>
                    </a:solidFill>
                    <a:latin typeface="Cambria Math" panose="02040503050406030204" pitchFamily="18" charset="0"/>
                  </a:rPr>
                  <a:t>$X=a(\sec\theta+\tan\theta)=at_1$</a:t>
                </a:r>
                <a:r>
                  <a:rPr sz="2400" b="0">
                    <a:solidFill>
                      <a:srgbClr val="111827"/>
                    </a:solidFill>
                    <a:latin typeface="Arial"/>
                  </a:rPr>
                  <a:t> and </a:t>
                </a:r>
                <a:r>
                  <a:rPr lang="en-IN" sz="2400">
                    <a:solidFill>
                      <a:srgbClr val="111827"/>
                    </a:solidFill>
                    <a:latin typeface="Cambria Math" panose="02040503050406030204" pitchFamily="18" charset="0"/>
                  </a:rPr>
                  <a:t>$Y=a(\sec\theta-\tan\theta)=\frac{a}{t_1}$</a:t>
                </a:r>
                <a:r>
                  <a:rPr sz="2400" b="0">
                    <a:solidFill>
                      <a:srgbClr val="111827"/>
                    </a:solidFill>
                    <a:latin typeface="Arial"/>
                  </a:rPr>
                  <a:t>, with </a:t>
                </a:r>
                <a:r>
                  <a:rPr lang="en-IN" sz="2400">
                    <a:solidFill>
                      <a:srgbClr val="111827"/>
                    </a:solidFill>
                    <a:latin typeface="Cambria Math" panose="02040503050406030204" pitchFamily="18" charset="0"/>
                  </a:rPr>
                  <a:t>$t_1=\sec\theta+\tan\theta$</a:t>
                </a:r>
                <a:r>
                  <a:rPr sz="2400" b="0">
                    <a:solidFill>
                      <a:srgbClr val="111827"/>
                    </a:solidFill>
                    <a:latin typeface="Arial"/>
                  </a:rPr>
                  <a:t>. Likewise </a:t>
                </a:r>
                <a:r>
                  <a:rPr lang="en-IN" sz="2400">
                    <a:solidFill>
                      <a:srgbClr val="111827"/>
                    </a:solidFill>
                    <a:latin typeface="Cambria Math" panose="02040503050406030204" pitchFamily="18" charset="0"/>
                  </a:rPr>
                  <a:t>$Q$</a:t>
                </a:r>
                <a:r>
                  <a:rPr sz="2400" b="0">
                    <a:solidFill>
                      <a:srgbClr val="111827"/>
                    </a:solidFill>
                    <a:latin typeface="Arial"/>
                  </a:rPr>
                  <a:t> has </a:t>
                </a:r>
                <a:r>
                  <a:rPr lang="en-IN" sz="2400">
                    <a:solidFill>
                      <a:srgbClr val="111827"/>
                    </a:solidFill>
                    <a:latin typeface="Cambria Math" panose="02040503050406030204" pitchFamily="18" charset="0"/>
                  </a:rPr>
                  <a:t>$t_2=\sec\phi+\tan\phi$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$xy=c^2$</a:t>
                </a:r>
                <a:r>
                  <a:rPr sz="2400" b="0">
                    <a:solidFill>
                      <a:srgbClr val="111827"/>
                    </a:solidFill>
                    <a:latin typeface="Arial"/>
                  </a:rPr>
                  <a:t> the tangent at </a:t>
                </a:r>
                <a:r>
                  <a:rPr lang="en-IN" sz="2400">
                    <a:solidFill>
                      <a:srgbClr val="111827"/>
                    </a:solidFill>
                    <a:latin typeface="Cambria Math" panose="02040503050406030204" pitchFamily="18" charset="0"/>
                  </a:rPr>
                  <a:t>$t$</a:t>
                </a:r>
                <a:r>
                  <a:rPr sz="2400" b="0">
                    <a:solidFill>
                      <a:srgbClr val="111827"/>
                    </a:solidFill>
                    <a:latin typeface="Arial"/>
                  </a:rPr>
                  <a:t> is </a:t>
                </a:r>
                <a:r>
                  <a:rPr lang="en-IN" sz="2400">
                    <a:solidFill>
                      <a:srgbClr val="111827"/>
                    </a:solidFill>
                    <a:latin typeface="Cambria Math" panose="02040503050406030204" pitchFamily="18" charset="0"/>
                  </a:rPr>
                  <a:t>$x+t^2y=2ct$</a:t>
                </a:r>
                <a:r>
                  <a:rPr sz="2400" b="0">
                    <a:solidFill>
                      <a:srgbClr val="111827"/>
                    </a:solidFill>
                    <a:latin typeface="Arial"/>
                  </a:rPr>
                  <a:t> (slope </a:t>
                </a:r>
                <a:r>
                  <a:rPr lang="en-IN" sz="2400">
                    <a:solidFill>
                      <a:srgbClr val="111827"/>
                    </a:solidFill>
                    <a:latin typeface="Cambria Math" panose="02040503050406030204" pitchFamily="18" charset="0"/>
                  </a:rPr>
                  <a:t>$-\frac1{t^2}$</a:t>
                </a:r>
                <a:r>
                  <a:rPr sz="2400" b="0">
                    <a:solidFill>
                      <a:srgbClr val="111827"/>
                    </a:solidFill>
                    <a:latin typeface="Arial"/>
                  </a:rPr>
                  <a:t>), so the normal at </a:t>
                </a:r>
                <a:r>
                  <a:rPr lang="en-IN" sz="2400">
                    <a:solidFill>
                      <a:srgbClr val="111827"/>
                    </a:solidFill>
                    <a:latin typeface="Cambria Math" panose="02040503050406030204" pitchFamily="18" charset="0"/>
                  </a:rPr>
                  <a:t>$t_1$</a:t>
                </a:r>
                <a:r>
                  <a:rPr sz="2400" b="0">
                    <a:solidFill>
                      <a:srgbClr val="111827"/>
                    </a:solidFill>
                    <a:latin typeface="Arial"/>
                  </a:rPr>
                  <a:t> has slope </a:t>
                </a:r>
                <a:r>
                  <a:rPr lang="en-IN" sz="2400">
                    <a:solidFill>
                      <a:srgbClr val="111827"/>
                    </a:solidFill>
                    <a:latin typeface="Cambria Math" panose="02040503050406030204" pitchFamily="18" charset="0"/>
                  </a:rPr>
                  <a:t>$t_1^2$</a:t>
                </a:r>
                <a:r>
                  <a:rPr sz="2400" b="0">
                    <a:solidFill>
                      <a:srgbClr val="111827"/>
                    </a:solidFill>
                    <a:latin typeface="Arial"/>
                  </a:rPr>
                  <a:t>; the chord through </a:t>
                </a:r>
                <a:r>
                  <a:rPr lang="en-IN" sz="2400">
                    <a:solidFill>
                      <a:srgbClr val="111827"/>
                    </a:solidFill>
                    <a:latin typeface="Cambria Math" panose="02040503050406030204" pitchFamily="18" charset="0"/>
                  </a:rPr>
                  <a:t>$t_1,t_2$</a:t>
                </a:r>
                <a:r>
                  <a:rPr sz="2400" b="0">
                    <a:solidFill>
                      <a:srgbClr val="111827"/>
                    </a:solidFill>
                    <a:latin typeface="Arial"/>
                  </a:rPr>
                  <a:t> has slope </a:t>
                </a:r>
                <a:r>
                  <a:rPr lang="en-IN" sz="2400">
                    <a:solidFill>
                      <a:srgbClr val="111827"/>
                    </a:solidFill>
                    <a:latin typeface="Cambria Math" panose="02040503050406030204" pitchFamily="18" charset="0"/>
                  </a:rPr>
                  <a:t>$-\frac{1}{t_1t_2}$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is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den>
                    </m:f>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e>
                    </m:d>
                    <m:d>
                      <m:dPr>
                        <m:begChr m:val="["/>
                        <m:sepChr m:val=""/>
                        <m:endChr m:val="]"/>
                        <m:grow/>
                        <m:ctrlPr>
                          <a:rPr lang="en-IN" sz="2400" i="1">
                            <a:solidFill>
                              <a:srgbClr val="111827"/>
                            </a:solidFill>
                            <a:latin typeface="Cambria Math" panose="02040503050406030204" pitchFamily="18" charset="0"/>
                          </a:rPr>
                        </m:ctrlPr>
                      </m:dPr>
                      <m:e>
                        <m:sSup>
                          <m:e>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ϕ</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is the normal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$t_1^2=-\frac1{t_1t_2}$</a:t>
                </a:r>
                <a:r>
                  <a:rPr sz="2400" b="0">
                    <a:solidFill>
                      <a:srgbClr val="111827"/>
                    </a:solidFill>
                    <a:latin typeface="Arial"/>
                  </a:rPr>
                  <a:t>, so </a:t>
                </a:r>
                <a:r>
                  <a:rPr lang="en-IN" sz="2400">
                    <a:solidFill>
                      <a:srgbClr val="111827"/>
                    </a:solidFill>
                    <a:latin typeface="Cambria Math" panose="02040503050406030204" pitchFamily="18" charset="0"/>
                  </a:rPr>
                  <a:t>$t_2=-\frac{1}{t_1^3}$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$t_2=\sec\phi+\tan\phi$</a:t>
                </a:r>
                <a:r>
                  <a:rPr sz="2400" b="0">
                    <a:solidFill>
                      <a:srgbClr val="111827"/>
                    </a:solidFill>
                    <a:latin typeface="Arial"/>
                  </a:rPr>
                  <a:t> and </a:t>
                </a:r>
                <a:r>
                  <a:rPr lang="en-IN" sz="2400">
                    <a:solidFill>
                      <a:srgbClr val="111827"/>
                    </a:solidFill>
                    <a:latin typeface="Cambria Math" panose="02040503050406030204" pitchFamily="18" charset="0"/>
                  </a:rPr>
                  <a:t>$\frac1{t_2}=\sec\phi-\tan\phi$</a:t>
                </a:r>
                <a:r>
                  <a:rPr sz="2400" b="0">
                    <a:solidFill>
                      <a:srgbClr val="111827"/>
                    </a:solidFill>
                    <a:latin typeface="Arial"/>
                  </a:rPr>
                  <a:t>: </a:t>
                </a:r>
                <a:r>
                  <a:rPr lang="en-IN" sz="2400">
                    <a:solidFill>
                      <a:srgbClr val="111827"/>
                    </a:solidFill>
                    <a:latin typeface="Cambria Math" panose="02040503050406030204" pitchFamily="18" charset="0"/>
                  </a:rPr>
                  <a:t>$\tan\phi=\frac12\left(t_2-\frac1{t_2}\right)=\frac12\left(t_1^3-\frac1{t_1^3}\right)$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$t_1-\frac1{t_1}=2\tan\theta$</a:t>
                </a:r>
                <a:r>
                  <a:rPr sz="2400" b="0">
                    <a:solidFill>
                      <a:srgbClr val="111827"/>
                    </a:solidFill>
                    <a:latin typeface="Arial"/>
                  </a:rPr>
                  <a:t> and </a:t>
                </a:r>
                <a:r>
                  <a:rPr lang="en-IN" sz="2400">
                    <a:solidFill>
                      <a:srgbClr val="111827"/>
                    </a:solidFill>
                    <a:latin typeface="Cambria Math" panose="02040503050406030204" pitchFamily="18" charset="0"/>
                  </a:rPr>
                  <a:t>$t_1+\frac1{t_1}=2\sec\theta$</a:t>
                </a:r>
                <a:r>
                  <a:rPr sz="2400" b="0">
                    <a:solidFill>
                      <a:srgbClr val="111827"/>
                    </a:solidFill>
                    <a:latin typeface="Arial"/>
                  </a:rPr>
                  <a:t>: </a:t>
                </a:r>
                <a:r>
                  <a:rPr lang="en-IN" sz="2400">
                    <a:solidFill>
                      <a:srgbClr val="111827"/>
                    </a:solidFill>
                    <a:latin typeface="Cambria Math" panose="02040503050406030204" pitchFamily="18" charset="0"/>
                  </a:rPr>
                  <a:t>$t_1^3-\frac1{t_1^3}=\left(t_1-\frac1{t_1}\right)\left[\left(t_1+\frac1{t_1}\right)^2-1\right]=2\tan\theta\,(4\sec^2\theta-1)$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$\tan\phi=\tan\theta\,(4\sec^2\theta-1)$</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m:rPr>
                        <m:sty m:val="p"/>
                      </m:rPr>
                      <a:rPr lang="en-IN" sz="2800">
                        <a:solidFill>
                          <a:srgbClr val="15803D"/>
                        </a:solidFill>
                        <a:latin typeface="Cambria Math" panose="02040503050406030204" pitchFamily="18" charset="0"/>
                      </a:rPr>
                      <m:t>tan</m:t>
                    </m:r>
                    <m:r>
                      <a:rPr lang="en-IN" sz="2800" i="1">
                        <a:solidFill>
                          <a:srgbClr val="15803D"/>
                        </a:solidFill>
                        <a:latin typeface="Cambria Math" panose="02040503050406030204" pitchFamily="18" charset="0"/>
                      </a:rPr>
                      <m:t>ϕ</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tan</m:t>
                    </m:r>
                    <m:r>
                      <a:rPr lang="en-IN" sz="2800" i="1">
                        <a:solidFill>
                          <a:srgbClr val="15803D"/>
                        </a:solidFill>
                        <a:latin typeface="Cambria Math" panose="02040503050406030204" pitchFamily="18" charset="0"/>
                      </a:rPr>
                      <m:t>θ</m:t>
                    </m:r>
                    <m:r>
                      <a:rPr lang="en-IN" sz="2800" i="1">
                        <a:solidFill>
                          <a:srgbClr val="15803D"/>
                        </a:solidFill>
                        <a:latin typeface="Cambria Math" panose="02040503050406030204" pitchFamily="18" charset="0"/>
                      </a:rPr>
                      <m:t> </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4</m:t>
                    </m:r>
                    <m:sSup>
                      <m:e>
                        <m:r>
                          <m:rPr>
                            <m:sty m:val="p"/>
                          </m:rPr>
                          <a:rPr lang="en-IN" sz="2800">
                            <a:solidFill>
                              <a:srgbClr val="15803D"/>
                            </a:solidFill>
                            <a:latin typeface="Cambria Math" panose="02040503050406030204" pitchFamily="18" charset="0"/>
                          </a:rPr>
                          <m:t>sec</m:t>
                        </m:r>
                      </m:e>
                      <m:sup>
                        <m:r>
                          <a:rPr lang="en-IN" sz="2800" i="1">
                            <a:solidFill>
                              <a:srgbClr val="15803D"/>
                            </a:solidFill>
                            <a:latin typeface="Cambria Math" panose="02040503050406030204" pitchFamily="18" charset="0"/>
                          </a:rPr>
                          <m:t>2</m:t>
                        </m:r>
                      </m:sup>
                    </m:sSup>
                    <m:r>
                      <a:rPr lang="en-IN" sz="2800" i="1">
                        <a:solidFill>
                          <a:srgbClr val="15803D"/>
                        </a:solidFill>
                        <a:latin typeface="Cambria Math" panose="02040503050406030204" pitchFamily="18" charset="0"/>
                      </a:rPr>
                      <m:t>θ</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$\tan\phi=\tan\theta\,(4\sec^2\theta-1)$</a:t>
                </a:r>
                <a:endParaRPr sz="2800">
                  <a:solidFill>
                    <a:srgbClr val="15803D"/>
                  </a:solidFill>
                </a:endParaRPr>
              </a:p>
            </p:txBody>
          </p:sp>
        </mc:Fallback>
      </mc:AlternateContent>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Hyperbola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tangent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slope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den>
                    </m:f>
                  </m:oMath>
                </a14:m>
                <a:r>
                  <a:rPr sz="2400" b="0">
                    <a:solidFill>
                      <a:srgbClr val="111827"/>
                    </a:solidFill>
                    <a:latin typeface="Arial"/>
                  </a:rPr>
                  <a:t>; normal slope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normal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meets the curve again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with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are the same curve in a </a:t>
                </a:r>
                <a14:m>
                  <m:oMath xmlns:m="http://schemas.openxmlformats.org/officeDocument/2006/math">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frame;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 links the two parametrisations.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Identities: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e>
                    </m:d>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den>
                    </m:f>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𝑡</m:t>
                            </m:r>
                          </m:den>
                        </m:f>
                      </m:e>
                    </m:d>
                    <m:d>
                      <m:dPr>
                        <m:begChr m:val="("/>
                        <m:sepChr m:val=""/>
                        <m:endChr m:val=")"/>
                        <m:grow/>
                        <m:ctrlPr>
                          <a:rPr lang="en-IN" sz="2400" i="1">
                            <a:solidFill>
                              <a:srgbClr val="111827"/>
                            </a:solidFill>
                            <a:latin typeface="Cambria Math" panose="02040503050406030204" pitchFamily="18" charset="0"/>
                          </a:rPr>
                        </m:ctrlPr>
                      </m:dPr>
                      <m:e>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𝑡</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Hyperbola </a:t>
                </a:r>
                <a:r>
                  <a:rPr lang="en-IN" sz="2400">
                    <a:solidFill>
                      <a:srgbClr val="111827"/>
                    </a:solidFill>
                    <a:latin typeface="Cambria Math" panose="02040503050406030204" pitchFamily="18" charset="0"/>
                  </a:rPr>
                  <a:t>$x^2-y^2=a^2$</a:t>
                </a:r>
                <a:r>
                  <a:rPr sz="2400" b="0">
                    <a:solidFill>
                      <a:srgbClr val="111827"/>
                    </a:solidFill>
                    <a:latin typeface="Arial"/>
                  </a:rPr>
                  <a:t>: point </a:t>
                </a:r>
                <a:r>
                  <a:rPr lang="en-IN" sz="2400">
                    <a:solidFill>
                      <a:srgbClr val="111827"/>
                    </a:solidFill>
                    <a:latin typeface="Cambria Math" panose="02040503050406030204" pitchFamily="18" charset="0"/>
                  </a:rPr>
                  <a:t>$(a\sec\theta,a\tan\theta)$</a:t>
                </a:r>
                <a:r>
                  <a:rPr sz="2400" b="0">
                    <a:solidFill>
                      <a:srgbClr val="111827"/>
                    </a:solidFill>
                    <a:latin typeface="Arial"/>
                  </a:rPr>
                  <a:t>; tangent </a:t>
                </a:r>
                <a:r>
                  <a:rPr lang="en-IN" sz="2400">
                    <a:solidFill>
                      <a:srgbClr val="111827"/>
                    </a:solidFill>
                    <a:latin typeface="Cambria Math" panose="02040503050406030204" pitchFamily="18" charset="0"/>
                  </a:rPr>
                  <a:t>$x\sec\theta-y\tan\theta=a$</a:t>
                </a:r>
                <a:r>
                  <a:rPr sz="2400" b="0">
                    <a:solidFill>
                      <a:srgbClr val="111827"/>
                    </a:solidFill>
                    <a:latin typeface="Arial"/>
                  </a:rPr>
                  <a:t>, slope </a:t>
                </a:r>
                <a:r>
                  <a:rPr lang="en-IN" sz="2400">
                    <a:solidFill>
                      <a:srgbClr val="111827"/>
                    </a:solidFill>
                    <a:latin typeface="Cambria Math" panose="02040503050406030204" pitchFamily="18" charset="0"/>
                  </a:rPr>
                  <a:t>$\frac{1}{\sin\theta}$</a:t>
                </a:r>
                <a:r>
                  <a:rPr sz="2400" b="0">
                    <a:solidFill>
                      <a:srgbClr val="111827"/>
                    </a:solidFill>
                    <a:latin typeface="Arial"/>
                  </a:rPr>
                  <a:t>; normal slope </a:t>
                </a:r>
                <a:r>
                  <a:rPr lang="en-IN" sz="2400">
                    <a:solidFill>
                      <a:srgbClr val="111827"/>
                    </a:solidFill>
                    <a:latin typeface="Cambria Math" panose="02040503050406030204" pitchFamily="18" charset="0"/>
                  </a:rPr>
                  <a:t>$-\sin\theta$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$xy=c^2$</a:t>
                </a:r>
                <a:r>
                  <a:rPr sz="2400" b="0">
                    <a:solidFill>
                      <a:srgbClr val="111827"/>
                    </a:solidFill>
                    <a:latin typeface="Arial"/>
                  </a:rPr>
                  <a:t>, the normal at </a:t>
                </a:r>
                <a:r>
                  <a:rPr lang="en-IN" sz="2400">
                    <a:solidFill>
                      <a:srgbClr val="111827"/>
                    </a:solidFill>
                    <a:latin typeface="Cambria Math" panose="02040503050406030204" pitchFamily="18" charset="0"/>
                  </a:rPr>
                  <a:t>$t_1$</a:t>
                </a:r>
                <a:r>
                  <a:rPr sz="2400" b="0">
                    <a:solidFill>
                      <a:srgbClr val="111827"/>
                    </a:solidFill>
                    <a:latin typeface="Arial"/>
                  </a:rPr>
                  <a:t> meets the curve again at </a:t>
                </a:r>
                <a:r>
                  <a:rPr lang="en-IN" sz="2400">
                    <a:solidFill>
                      <a:srgbClr val="111827"/>
                    </a:solidFill>
                    <a:latin typeface="Cambria Math" panose="02040503050406030204" pitchFamily="18" charset="0"/>
                  </a:rPr>
                  <a:t>$t_2$</a:t>
                </a:r>
                <a:r>
                  <a:rPr sz="2400" b="0">
                    <a:solidFill>
                      <a:srgbClr val="111827"/>
                    </a:solidFill>
                    <a:latin typeface="Arial"/>
                  </a:rPr>
                  <a:t> with </a:t>
                </a:r>
                <a:r>
                  <a:rPr lang="en-IN" sz="2400">
                    <a:solidFill>
                      <a:srgbClr val="111827"/>
                    </a:solidFill>
                    <a:latin typeface="Cambria Math" panose="02040503050406030204" pitchFamily="18" charset="0"/>
                  </a:rPr>
                  <a:t>$t_1^3t_2=-1$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$x^2-y^2=a^2$</a:t>
                </a:r>
                <a:r>
                  <a:rPr sz="2400" b="0">
                    <a:solidFill>
                      <a:srgbClr val="111827"/>
                    </a:solidFill>
                    <a:latin typeface="Arial"/>
                  </a:rPr>
                  <a:t> and </a:t>
                </a:r>
                <a:r>
                  <a:rPr lang="en-IN" sz="2400">
                    <a:solidFill>
                      <a:srgbClr val="111827"/>
                    </a:solidFill>
                    <a:latin typeface="Cambria Math" panose="02040503050406030204" pitchFamily="18" charset="0"/>
                  </a:rPr>
                  <a:t>$XY=a^2$</a:t>
                </a:r>
                <a:r>
                  <a:rPr sz="2400" b="0">
                    <a:solidFill>
                      <a:srgbClr val="111827"/>
                    </a:solidFill>
                    <a:latin typeface="Arial"/>
                  </a:rPr>
                  <a:t> (</a:t>
                </a:r>
                <a:r>
                  <a:rPr lang="en-IN" sz="2400">
                    <a:solidFill>
                      <a:srgbClr val="111827"/>
                    </a:solidFill>
                    <a:latin typeface="Cambria Math" panose="02040503050406030204" pitchFamily="18" charset="0"/>
                  </a:rPr>
                  <a:t>$X=x+y,\ Y=x-y$</a:t>
                </a:r>
                <a:r>
                  <a:rPr sz="2400" b="0">
                    <a:solidFill>
                      <a:srgbClr val="111827"/>
                    </a:solidFill>
                    <a:latin typeface="Arial"/>
                  </a:rPr>
                  <a:t>) are the same curve in a </a:t>
                </a:r>
                <a:r>
                  <a:rPr lang="en-IN" sz="2400">
                    <a:solidFill>
                      <a:srgbClr val="111827"/>
                    </a:solidFill>
                    <a:latin typeface="Cambria Math" panose="02040503050406030204" pitchFamily="18" charset="0"/>
                  </a:rPr>
                  <a:t>$45^\circ$</a:t>
                </a:r>
                <a:r>
                  <a:rPr sz="2400" b="0">
                    <a:solidFill>
                      <a:srgbClr val="111827"/>
                    </a:solidFill>
                    <a:latin typeface="Arial"/>
                  </a:rPr>
                  <a:t> frame; </a:t>
                </a:r>
                <a:r>
                  <a:rPr lang="en-IN" sz="2400">
                    <a:solidFill>
                      <a:srgbClr val="111827"/>
                    </a:solidFill>
                    <a:latin typeface="Cambria Math" panose="02040503050406030204" pitchFamily="18" charset="0"/>
                  </a:rPr>
                  <a:t>$t=\sec\theta+\tan\theta$</a:t>
                </a:r>
                <a:r>
                  <a:rPr sz="2400" b="0">
                    <a:solidFill>
                      <a:srgbClr val="111827"/>
                    </a:solidFill>
                    <a:latin typeface="Arial"/>
                  </a:rPr>
                  <a:t> links the two parametrisations.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Identities: </a:t>
                </a:r>
                <a:r>
                  <a:rPr lang="en-IN" sz="2400">
                    <a:solidFill>
                      <a:srgbClr val="111827"/>
                    </a:solidFill>
                    <a:latin typeface="Cambria Math" panose="02040503050406030204" pitchFamily="18" charset="0"/>
                  </a:rPr>
                  <a:t>$\left(\sec\theta+\tan\theta\right)\left(\sec\theta-\tan\theta\right)=1$</a:t>
                </a:r>
                <a:r>
                  <a:rPr sz="2400" b="0">
                    <a:solidFill>
                      <a:srgbClr val="111827"/>
                    </a:solidFill>
                    <a:latin typeface="Arial"/>
                  </a:rPr>
                  <a:t>, </a:t>
                </a:r>
                <a:r>
                  <a:rPr lang="en-IN" sz="2400">
                    <a:solidFill>
                      <a:srgbClr val="111827"/>
                    </a:solidFill>
                    <a:latin typeface="Cambria Math" panose="02040503050406030204" pitchFamily="18" charset="0"/>
                  </a:rPr>
                  <a:t>$t^3-\frac1{t^3}=\left(t-\frac1t\right)\left(\left(t+\frac1t\right)^2-1\right)$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Prove that the part of the tangent at any point of the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intercepted between the point of contact and the transverse axis is a harmonic mean between the lengths of the perpendiculars drawn from the foci on the normal at the same point.</a:t>
                </a:r>
                <a:endParaRPr sz="2400">
                  <a:solidFill>
                    <a:srgbClr val="111827"/>
                  </a:solidFill>
                </a:endParaRPr>
              </a:p>
            </p:txBody>
          </p:sp>
        </mc:Choice>
        <mc:Fallback>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Prove that the part of the tangent at any point of the hyperbola </a:t>
                </a:r>
                <a:r>
                  <a:rPr lang="en-IN" sz="2400">
                    <a:solidFill>
                      <a:srgbClr val="111827"/>
                    </a:solidFill>
                    <a:latin typeface="Cambria Math" panose="02040503050406030204" pitchFamily="18" charset="0"/>
                  </a:rPr>
                  <a:t>$\frac{x^2}{a^2}-\frac{y^2}{b^2}=1$</a:t>
                </a:r>
                <a:r>
                  <a:rPr sz="2400" b="0">
                    <a:solidFill>
                      <a:srgbClr val="111827"/>
                    </a:solidFill>
                    <a:latin typeface="Arial"/>
                  </a:rPr>
                  <a:t> intercepted between the point of contact and the transverse axis is a harmonic mean between the lengths of the perpendiculars drawn from the foci on the normal at the same point.</a:t>
                </a:r>
                <a:endParaRPr sz="2400">
                  <a:solidFill>
                    <a:srgbClr val="111827"/>
                  </a:solidFill>
                </a:endParaRPr>
              </a:p>
            </p:txBody>
          </p:sp>
        </mc:Fallback>
      </mc:AlternateContent>
      <p:sp>
        <p:nvSpPr>
          <p:cNvPr id="5" name="Rectangle 4"/>
          <p:cNvSpPr/>
          <p:nvPr/>
        </p:nvSpPr>
        <p:spPr>
          <a:xfrm>
            <a:off x="731520" y="41081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and normal at a point of a hyperbola, Perpendiculars from the foci on the normal (harmonic mean)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sec</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both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𝑇</m:t>
                    </m:r>
                  </m:oMath>
                </a14:m>
                <a:r>
                  <a:rPr sz="2400" b="0">
                    <a:solidFill>
                      <a:srgbClr val="78350F"/>
                    </a:solidFill>
                    <a:latin typeface="Arial"/>
                  </a:rPr>
                  <a:t> and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sSub>
                          <m:e>
                            <m:r>
                              <a:rPr lang="en-IN" sz="2400" i="1">
                                <a:solidFill>
                                  <a:srgbClr val="78350F"/>
                                </a:solidFill>
                                <a:latin typeface="Cambria Math" panose="02040503050406030204" pitchFamily="18" charset="0"/>
                              </a:rPr>
                              <m:t>𝑝</m:t>
                            </m:r>
                          </m:e>
                          <m:sub>
                            <m:r>
                              <a:rPr lang="en-IN" sz="2400" i="1">
                                <a:solidFill>
                                  <a:srgbClr val="78350F"/>
                                </a:solidFill>
                                <a:latin typeface="Cambria Math" panose="02040503050406030204" pitchFamily="18" charset="0"/>
                              </a:rPr>
                              <m:t>1</m:t>
                            </m:r>
                          </m:sub>
                        </m:sSub>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sSub>
                          <m:e>
                            <m:r>
                              <a:rPr lang="en-IN" sz="2400" i="1">
                                <a:solidFill>
                                  <a:srgbClr val="78350F"/>
                                </a:solidFill>
                                <a:latin typeface="Cambria Math" panose="02040503050406030204" pitchFamily="18" charset="0"/>
                              </a:rPr>
                              <m:t>𝑝</m:t>
                            </m:r>
                          </m:e>
                          <m:sub>
                            <m:r>
                              <a:rPr lang="en-IN" sz="2400" i="1">
                                <a:solidFill>
                                  <a:srgbClr val="78350F"/>
                                </a:solidFill>
                                <a:latin typeface="Cambria Math" panose="02040503050406030204" pitchFamily="18" charset="0"/>
                              </a:rPr>
                              <m:t>2</m:t>
                            </m:r>
                          </m:sub>
                        </m:sSub>
                      </m:den>
                    </m:f>
                  </m:oMath>
                </a14:m>
                <a:r>
                  <a:rPr sz="2400" b="0">
                    <a:solidFill>
                      <a:srgbClr val="78350F"/>
                    </a:solidFill>
                    <a:latin typeface="Arial"/>
                  </a:rPr>
                  <a:t> reduce to expressions in </a:t>
                </a:r>
                <a14:m>
                  <m:oMath xmlns:m="http://schemas.openxmlformats.org/officeDocument/2006/math">
                    <m:sSup>
                      <m:e>
                        <m:r>
                          <a:rPr lang="en-IN" sz="2400" i="1">
                            <a:solidFill>
                              <a:srgbClr val="78350F"/>
                            </a:solidFill>
                            <a:latin typeface="Cambria Math" panose="02040503050406030204" pitchFamily="18" charset="0"/>
                          </a:rPr>
                          <m:t>𝑊</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sSup>
                      <m:e>
                        <m:r>
                          <m:rPr>
                            <m:sty m:val="p"/>
                          </m:rPr>
                          <a:rPr lang="en-IN" sz="2400">
                            <a:solidFill>
                              <a:srgbClr val="78350F"/>
                            </a:solidFill>
                            <a:latin typeface="Cambria Math" panose="02040503050406030204" pitchFamily="18" charset="0"/>
                          </a:rPr>
                          <m:t>sin</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giving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2</m:t>
                        </m:r>
                      </m:num>
                      <m:den>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𝑇</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sSub>
                          <m:e>
                            <m:r>
                              <a:rPr lang="en-IN" sz="2400" i="1">
                                <a:solidFill>
                                  <a:srgbClr val="78350F"/>
                                </a:solidFill>
                                <a:latin typeface="Cambria Math" panose="02040503050406030204" pitchFamily="18" charset="0"/>
                              </a:rPr>
                              <m:t>𝑝</m:t>
                            </m:r>
                          </m:e>
                          <m:sub>
                            <m:r>
                              <a:rPr lang="en-IN" sz="2400" i="1">
                                <a:solidFill>
                                  <a:srgbClr val="78350F"/>
                                </a:solidFill>
                                <a:latin typeface="Cambria Math" panose="02040503050406030204" pitchFamily="18" charset="0"/>
                              </a:rPr>
                              <m:t>1</m:t>
                            </m:r>
                          </m:sub>
                        </m:sSub>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sSub>
                          <m:e>
                            <m:r>
                              <a:rPr lang="en-IN" sz="2400" i="1">
                                <a:solidFill>
                                  <a:srgbClr val="78350F"/>
                                </a:solidFill>
                                <a:latin typeface="Cambria Math" panose="02040503050406030204" pitchFamily="18" charset="0"/>
                              </a:rPr>
                              <m:t>𝑝</m:t>
                            </m:r>
                          </m:e>
                          <m:sub>
                            <m:r>
                              <a:rPr lang="en-IN" sz="2400" i="1">
                                <a:solidFill>
                                  <a:srgbClr val="78350F"/>
                                </a:solidFill>
                                <a:latin typeface="Cambria Math" panose="02040503050406030204" pitchFamily="18" charset="0"/>
                              </a:rPr>
                              <m:t>2</m:t>
                            </m:r>
                          </m:sub>
                        </m:sSub>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a:t>
                </a:r>
                <a:r>
                  <a:rPr lang="en-IN" sz="2400">
                    <a:solidFill>
                      <a:srgbClr val="78350F"/>
                    </a:solidFill>
                    <a:latin typeface="Cambria Math" panose="02040503050406030204" pitchFamily="18" charset="0"/>
                  </a:rPr>
                  <a:t>$P(a\sec\theta,b\tan\theta)$</a:t>
                </a:r>
                <a:r>
                  <a:rPr sz="2400" b="0">
                    <a:solidFill>
                      <a:srgbClr val="78350F"/>
                    </a:solidFill>
                    <a:latin typeface="Arial"/>
                  </a:rPr>
                  <a:t> both </a:t>
                </a:r>
                <a:r>
                  <a:rPr lang="en-IN" sz="2400">
                    <a:solidFill>
                      <a:srgbClr val="78350F"/>
                    </a:solidFill>
                    <a:latin typeface="Cambria Math" panose="02040503050406030204" pitchFamily="18" charset="0"/>
                  </a:rPr>
                  <a:t>$PT$</a:t>
                </a:r>
                <a:r>
                  <a:rPr sz="2400" b="0">
                    <a:solidFill>
                      <a:srgbClr val="78350F"/>
                    </a:solidFill>
                    <a:latin typeface="Arial"/>
                  </a:rPr>
                  <a:t> and </a:t>
                </a:r>
                <a:r>
                  <a:rPr lang="en-IN" sz="2400">
                    <a:solidFill>
                      <a:srgbClr val="78350F"/>
                    </a:solidFill>
                    <a:latin typeface="Cambria Math" panose="02040503050406030204" pitchFamily="18" charset="0"/>
                  </a:rPr>
                  <a:t>$\frac1{p_1}+\frac1{p_2}$</a:t>
                </a:r>
                <a:r>
                  <a:rPr sz="2400" b="0">
                    <a:solidFill>
                      <a:srgbClr val="78350F"/>
                    </a:solidFill>
                    <a:latin typeface="Arial"/>
                  </a:rPr>
                  <a:t> reduce to expressions in </a:t>
                </a:r>
                <a:r>
                  <a:rPr lang="en-IN" sz="2400">
                    <a:solidFill>
                      <a:srgbClr val="78350F"/>
                    </a:solidFill>
                    <a:latin typeface="Cambria Math" panose="02040503050406030204" pitchFamily="18" charset="0"/>
                  </a:rPr>
                  <a:t>$W^2=a^2\sin^2\theta+b^2$</a:t>
                </a:r>
                <a:r>
                  <a:rPr sz="2400" b="0">
                    <a:solidFill>
                      <a:srgbClr val="78350F"/>
                    </a:solidFill>
                    <a:latin typeface="Arial"/>
                  </a:rPr>
                  <a:t>, giving </a:t>
                </a:r>
                <a:r>
                  <a:rPr lang="en-IN" sz="2400">
                    <a:solidFill>
                      <a:srgbClr val="78350F"/>
                    </a:solidFill>
                    <a:latin typeface="Cambria Math" panose="02040503050406030204" pitchFamily="18" charset="0"/>
                  </a:rPr>
                  <a:t>$\frac{2}{PT}=\frac1{p_1}+\frac1{p_2}$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working is grey boxes; it is written out here.) 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𝑊</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It meets the transverse axis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𝑇</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 Since </a:t>
                </a:r>
                <a14:m>
                  <m:oMath xmlns:m="http://schemas.openxmlformats.org/officeDocument/2006/math">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𝑇</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𝑊</m:t>
                    </m:r>
                  </m:oMath>
                </a14:m>
                <a:r>
                  <a:rPr sz="2400" b="0">
                    <a:solidFill>
                      <a:srgbClr val="111827"/>
                    </a:solidFill>
                    <a:latin typeface="Arial"/>
                  </a:rPr>
                  <a:t> ....(1).</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working is grey boxes; it is written out here.) Let </a:t>
                </a:r>
                <a:r>
                  <a:rPr lang="en-IN" sz="2400">
                    <a:solidFill>
                      <a:srgbClr val="111827"/>
                    </a:solidFill>
                    <a:latin typeface="Cambria Math" panose="02040503050406030204" pitchFamily="18" charset="0"/>
                  </a:rPr>
                  <a:t>$P(a\sec\theta,b\tan\theta)$</a:t>
                </a:r>
                <a:r>
                  <a:rPr sz="2400" b="0">
                    <a:solidFill>
                      <a:srgbClr val="111827"/>
                    </a:solidFill>
                    <a:latin typeface="Arial"/>
                  </a:rPr>
                  <a:t> and </a:t>
                </a:r>
                <a:r>
                  <a:rPr lang="en-IN" sz="2400">
                    <a:solidFill>
                      <a:srgbClr val="111827"/>
                    </a:solidFill>
                    <a:latin typeface="Cambria Math" panose="02040503050406030204" pitchFamily="18" charset="0"/>
                  </a:rPr>
                  <a:t>$W^2=a^2\sin^2\theta+b^2$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$\frac{x\sec\theta}{a}-\frac{y\tan\theta}{b}=1$</a:t>
                </a:r>
                <a:r>
                  <a:rPr sz="2400" b="0">
                    <a:solidFill>
                      <a:srgbClr val="111827"/>
                    </a:solidFill>
                    <a:latin typeface="Arial"/>
                  </a:rPr>
                  <a:t>. It meets the transverse axis (</a:t>
                </a:r>
                <a:r>
                  <a:rPr lang="en-IN" sz="2400">
                    <a:solidFill>
                      <a:srgbClr val="111827"/>
                    </a:solidFill>
                    <a:latin typeface="Cambria Math" panose="02040503050406030204" pitchFamily="18" charset="0"/>
                  </a:rPr>
                  <a:t>$y=0$</a:t>
                </a:r>
                <a:r>
                  <a:rPr sz="2400" b="0">
                    <a:solidFill>
                      <a:srgbClr val="111827"/>
                    </a:solidFill>
                    <a:latin typeface="Arial"/>
                  </a:rPr>
                  <a:t>) at </a:t>
                </a:r>
                <a:r>
                  <a:rPr lang="en-IN" sz="2400">
                    <a:solidFill>
                      <a:srgbClr val="111827"/>
                    </a:solidFill>
                    <a:latin typeface="Cambria Math" panose="02040503050406030204" pitchFamily="18" charset="0"/>
                  </a:rPr>
                  <a:t>$T(a\cos\theta,0)$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$PT^2=(a\sec\theta-a\cos\theta)^2+b^2\tan^2\theta$</a:t>
                </a:r>
                <a:r>
                  <a:rPr sz="2400" b="0">
                    <a:solidFill>
                      <a:srgbClr val="111827"/>
                    </a:solidFill>
                    <a:latin typeface="Arial"/>
                  </a:rPr>
                  <a:t>. Since </a:t>
                </a:r>
                <a:r>
                  <a:rPr lang="en-IN" sz="2400">
                    <a:solidFill>
                      <a:srgbClr val="111827"/>
                    </a:solidFill>
                    <a:latin typeface="Cambria Math" panose="02040503050406030204" pitchFamily="18" charset="0"/>
                  </a:rPr>
                  <a:t>$\sec\theta-\cos\theta=\sin\theta\tan\theta$</a:t>
                </a:r>
                <a:r>
                  <a:rPr sz="2400" b="0">
                    <a:solidFill>
                      <a:srgbClr val="111827"/>
                    </a:solidFill>
                    <a:latin typeface="Arial"/>
                  </a:rPr>
                  <a:t>: </a:t>
                </a:r>
                <a:r>
                  <a:rPr lang="en-IN" sz="2400">
                    <a:solidFill>
                      <a:srgbClr val="111827"/>
                    </a:solidFill>
                    <a:latin typeface="Cambria Math" panose="02040503050406030204" pitchFamily="18" charset="0"/>
                  </a:rPr>
                  <a:t>$PT^2=\tan^2\theta\,(a^2\sin^2\theta+b^2)$</a:t>
                </a:r>
                <a:r>
                  <a:rPr sz="2400" b="0">
                    <a:solidFill>
                      <a:srgbClr val="111827"/>
                    </a:solidFill>
                    <a:latin typeface="Arial"/>
                  </a:rPr>
                  <a:t>, so </a:t>
                </a:r>
                <a:r>
                  <a:rPr lang="en-IN" sz="2400">
                    <a:solidFill>
                      <a:srgbClr val="111827"/>
                    </a:solidFill>
                    <a:latin typeface="Cambria Math" panose="02040503050406030204" pitchFamily="18" charset="0"/>
                  </a:rPr>
                  <a:t>$PT=|\tan\theta|\,W$</a:t>
                </a:r>
                <a:r>
                  <a:rPr sz="2400" b="0">
                    <a:solidFill>
                      <a:srgbClr val="111827"/>
                    </a:solidFill>
                    <a:latin typeface="Arial"/>
                  </a:rPr>
                  <a:t> ....(1).</a:t>
                </a:r>
                <a:endParaRPr sz="2400">
                  <a:solidFill>
                    <a:srgbClr val="111827"/>
                  </a:solidFill>
                </a:endParaRPr>
              </a:p>
            </p:txBody>
          </p:sp>
        </mc:Fallback>
      </mc:AlternateContent>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num>
                      <m:den>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𝑦</m:t>
                        </m:r>
                      </m:num>
                      <m:den>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cot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denominator: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cot</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𝑊</m:t>
                    </m:r>
                  </m:oMath>
                </a14:m>
                <a:r>
                  <a:rPr sz="2400" b="0">
                    <a:solidFill>
                      <a:srgbClr val="111827"/>
                    </a:solidFill>
                    <a:latin typeface="Arial"/>
                  </a:rPr>
                  <a:t> (as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num>
                      <m:den>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cot</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𝑊</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Perpendiculars from the foci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the normal: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𝐷</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𝐷</m:t>
                        </m:r>
                      </m:den>
                    </m:f>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𝐷</m:t>
                        </m:r>
                      </m:den>
                    </m:f>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$\frac{a^2x}{x_1}+\frac{b^2y}{y_1}=a^2+b^2$</a:t>
                </a:r>
                <a:r>
                  <a:rPr sz="2400" b="0">
                    <a:solidFill>
                      <a:srgbClr val="111827"/>
                    </a:solidFill>
                    <a:latin typeface="Arial"/>
                  </a:rPr>
                  <a:t>, i.e. </a:t>
                </a:r>
                <a:r>
                  <a:rPr lang="en-IN" sz="2400">
                    <a:solidFill>
                      <a:srgbClr val="111827"/>
                    </a:solidFill>
                    <a:latin typeface="Cambria Math" panose="02040503050406030204" pitchFamily="18" charset="0"/>
                  </a:rPr>
                  <a:t>$ax\cos\theta+by\cot\theta=a^2+b^2=a^2e^2$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denominator: </a:t>
                </a:r>
                <a:r>
                  <a:rPr lang="en-IN" sz="2400">
                    <a:solidFill>
                      <a:srgbClr val="111827"/>
                    </a:solidFill>
                    <a:latin typeface="Cambria Math" panose="02040503050406030204" pitchFamily="18" charset="0"/>
                  </a:rPr>
                  <a:t>$D=\sqrt{a^2\cos^2\theta+b^2\cot^2\theta}=|\cot\theta|\,W$</a:t>
                </a:r>
                <a:r>
                  <a:rPr sz="2400" b="0">
                    <a:solidFill>
                      <a:srgbClr val="111827"/>
                    </a:solidFill>
                    <a:latin typeface="Arial"/>
                  </a:rPr>
                  <a:t> (as </a:t>
                </a:r>
                <a:r>
                  <a:rPr lang="en-IN" sz="2400">
                    <a:solidFill>
                      <a:srgbClr val="111827"/>
                    </a:solidFill>
                    <a:latin typeface="Cambria Math" panose="02040503050406030204" pitchFamily="18" charset="0"/>
                  </a:rPr>
                  <a:t>$a^2\cos^2\theta+\frac{b^2\cos^2\theta}{\sin^2\theta}=\cot^2\theta\,W^2$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Perpendiculars from the foci </a:t>
                </a:r>
                <a:r>
                  <a:rPr lang="en-IN" sz="2400">
                    <a:solidFill>
                      <a:srgbClr val="111827"/>
                    </a:solidFill>
                    <a:latin typeface="Cambria Math" panose="02040503050406030204" pitchFamily="18" charset="0"/>
                  </a:rPr>
                  <a:t>$S(ae,0)$</a:t>
                </a:r>
                <a:r>
                  <a:rPr sz="2400" b="0">
                    <a:solidFill>
                      <a:srgbClr val="111827"/>
                    </a:solidFill>
                    <a:latin typeface="Arial"/>
                  </a:rPr>
                  <a:t> and </a:t>
                </a:r>
                <a:r>
                  <a:rPr lang="en-IN" sz="2400">
                    <a:solidFill>
                      <a:srgbClr val="111827"/>
                    </a:solidFill>
                    <a:latin typeface="Cambria Math" panose="02040503050406030204" pitchFamily="18" charset="0"/>
                  </a:rPr>
                  <a:t>$S'(-ae,0)$</a:t>
                </a:r>
                <a:r>
                  <a:rPr sz="2400" b="0">
                    <a:solidFill>
                      <a:srgbClr val="111827"/>
                    </a:solidFill>
                    <a:latin typeface="Arial"/>
                  </a:rPr>
                  <a:t> on the normal: </a:t>
                </a:r>
                <a:r>
                  <a:rPr lang="en-IN" sz="2400">
                    <a:solidFill>
                      <a:srgbClr val="111827"/>
                    </a:solidFill>
                    <a:latin typeface="Cambria Math" panose="02040503050406030204" pitchFamily="18" charset="0"/>
                  </a:rPr>
                  <a:t>$p_1=\frac{|a^2e\cos\theta-a^2e^2|}{D}=\frac{a^2e(e-\cos\theta)}{D}$</a:t>
                </a:r>
                <a:r>
                  <a:rPr sz="2400" b="0">
                    <a:solidFill>
                      <a:srgbClr val="111827"/>
                    </a:solidFill>
                    <a:latin typeface="Arial"/>
                  </a:rPr>
                  <a:t> and </a:t>
                </a:r>
                <a:r>
                  <a:rPr lang="en-IN" sz="2400">
                    <a:solidFill>
                      <a:srgbClr val="111827"/>
                    </a:solidFill>
                    <a:latin typeface="Cambria Math" panose="02040503050406030204" pitchFamily="18" charset="0"/>
                  </a:rPr>
                  <a:t>$p_2=\frac{a^2e(e+\cos\theta)}{D}$</a:t>
                </a:r>
                <a:r>
                  <a:rPr sz="2400" b="0">
                    <a:solidFill>
                      <a:srgbClr val="111827"/>
                    </a:solidFill>
                    <a:latin typeface="Arial"/>
                  </a:rPr>
                  <a:t> (as </a:t>
                </a:r>
                <a:r>
                  <a:rPr lang="en-IN" sz="2400">
                    <a:solidFill>
                      <a:srgbClr val="111827"/>
                    </a:solidFill>
                    <a:latin typeface="Cambria Math" panose="02040503050406030204" pitchFamily="18" charset="0"/>
                  </a:rPr>
                  <a:t>$e&gt;1$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𝐷</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𝑒</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𝐷</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𝑒</m:t>
                        </m:r>
                      </m:num>
                      <m:den>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𝐷</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𝑊</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𝐷</m:t>
                        </m:r>
                      </m:num>
                      <m:den>
                        <m:sSup>
                          <m:e>
                            <m:r>
                              <a:rPr lang="en-IN" sz="2400" i="1">
                                <a:solidFill>
                                  <a:srgbClr val="111827"/>
                                </a:solidFill>
                                <a:latin typeface="Cambria Math" panose="02040503050406030204" pitchFamily="18" charset="0"/>
                              </a:rPr>
                              <m:t>𝑊</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𝑊</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𝑊</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den>
                    </m:f>
                  </m:oMath>
                </a14:m>
                <a:r>
                  <a:rPr sz="2400" b="0">
                    <a:solidFill>
                      <a:srgbClr val="111827"/>
                    </a:solidFill>
                    <a:latin typeface="Arial"/>
                  </a:rPr>
                  <a:t> by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the tangent segment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oMath>
                </a14:m>
                <a:r>
                  <a:rPr sz="2400" b="0">
                    <a:solidFill>
                      <a:srgbClr val="111827"/>
                    </a:solidFill>
                    <a:latin typeface="Arial"/>
                  </a:rPr>
                  <a:t> is the harmonic mean of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$\frac1{p_1}+\frac1{p_2}=\frac{D}{a^2e}\left[\frac{1}{e-\cos\theta}+\frac{1}{e+\cos\theta}\right]=\frac{D}{a^2e}\cdot\frac{2e}{e^2-\cos^2\theta}=\frac{2D}{a^2(e^2-\cos^2\theta)}$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$a^2(e^2-\cos^2\theta)=a^2+b^2-a^2\cos^2\theta=a^2\sin^2\theta+b^2=W^2$</a:t>
                </a:r>
                <a:r>
                  <a:rPr sz="2400" b="0">
                    <a:solidFill>
                      <a:srgbClr val="111827"/>
                    </a:solidFill>
                    <a:latin typeface="Arial"/>
                  </a:rPr>
                  <a:t>. So </a:t>
                </a:r>
                <a:r>
                  <a:rPr lang="en-IN" sz="2400">
                    <a:solidFill>
                      <a:srgbClr val="111827"/>
                    </a:solidFill>
                    <a:latin typeface="Cambria Math" panose="02040503050406030204" pitchFamily="18" charset="0"/>
                  </a:rPr>
                  <a:t>$\frac1{p_1}+\frac1{p_2}=\frac{2D}{W^2}=\frac{2|\cot\theta|}{W}=\frac{2}{|\tan\theta|\,W}=\frac{2}{PT}$</a:t>
                </a:r>
                <a:r>
                  <a:rPr sz="2400" b="0">
                    <a:solidFill>
                      <a:srgbClr val="111827"/>
                    </a:solidFill>
                    <a:latin typeface="Arial"/>
                  </a:rPr>
                  <a:t> by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$PT=\frac{2p_1p_2}{p_1+p_2}$</a:t>
                </a:r>
                <a:r>
                  <a:rPr sz="2400" b="0">
                    <a:solidFill>
                      <a:srgbClr val="111827"/>
                    </a:solidFill>
                    <a:latin typeface="Arial"/>
                  </a:rPr>
                  <a:t>: the tangent segment </a:t>
                </a:r>
                <a:r>
                  <a:rPr lang="en-IN" sz="2400">
                    <a:solidFill>
                      <a:srgbClr val="111827"/>
                    </a:solidFill>
                    <a:latin typeface="Cambria Math" panose="02040503050406030204" pitchFamily="18" charset="0"/>
                  </a:rPr>
                  <a:t>$PT$</a:t>
                </a:r>
                <a:r>
                  <a:rPr sz="2400" b="0">
                    <a:solidFill>
                      <a:srgbClr val="111827"/>
                    </a:solidFill>
                    <a:latin typeface="Arial"/>
                  </a:rPr>
                  <a:t> is the harmonic mean of </a:t>
                </a:r>
                <a:r>
                  <a:rPr lang="en-IN" sz="2400">
                    <a:solidFill>
                      <a:srgbClr val="111827"/>
                    </a:solidFill>
                    <a:latin typeface="Cambria Math" panose="02040503050406030204" pitchFamily="18" charset="0"/>
                  </a:rPr>
                  <a:t>$p_1$</a:t>
                </a:r>
                <a:r>
                  <a:rPr sz="2400" b="0">
                    <a:solidFill>
                      <a:srgbClr val="111827"/>
                    </a:solidFill>
                    <a:latin typeface="Arial"/>
                  </a:rPr>
                  <a:t> and </a:t>
                </a:r>
                <a:r>
                  <a:rPr lang="en-IN" sz="2400">
                    <a:solidFill>
                      <a:srgbClr val="111827"/>
                    </a:solidFill>
                    <a:latin typeface="Cambria Math" panose="02040503050406030204" pitchFamily="18" charset="0"/>
                  </a:rPr>
                  <a:t>$p_2$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If </a:t>
                </a:r>
                <a14:m>
                  <m:oMath xmlns:m="http://schemas.openxmlformats.org/officeDocument/2006/math">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𝑇</m:t>
                    </m:r>
                  </m:oMath>
                </a14:m>
                <a:r>
                  <a:rPr sz="2800" b="1">
                    <a:solidFill>
                      <a:srgbClr val="15803D"/>
                    </a:solidFill>
                    <a:latin typeface="Arial"/>
                  </a:rPr>
                  <a:t> is the intercepted part and </a:t>
                </a:r>
                <a14:m>
                  <m:oMath xmlns:m="http://schemas.openxmlformats.org/officeDocument/2006/math">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1</m:t>
                        </m:r>
                      </m:sub>
                    </m:sSub>
                    <m:r>
                      <m:rPr>
                        <m:sty m:val="p"/>
                      </m:rPr>
                      <a:rPr lang="en-IN" sz="2800">
                        <a:solidFill>
                          <a:srgbClr val="15803D"/>
                        </a:solidFill>
                        <a:latin typeface="Cambria Math" panose="02040503050406030204" pitchFamily="18" charset="0"/>
                      </a:rPr>
                      <m:t>,</m:t>
                    </m:r>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2</m:t>
                        </m:r>
                      </m:sub>
                    </m:sSub>
                  </m:oMath>
                </a14:m>
                <a:r>
                  <a:rPr sz="2800" b="1">
                    <a:solidFill>
                      <a:srgbClr val="15803D"/>
                    </a:solidFill>
                    <a:latin typeface="Arial"/>
                  </a:rPr>
                  <a:t> the focal perpendiculars on the normal, then </a:t>
                </a:r>
                <a14:m>
                  <m:oMath xmlns:m="http://schemas.openxmlformats.org/officeDocument/2006/math">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𝑇</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m:t>
                        </m:r>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1</m:t>
                            </m:r>
                          </m:sub>
                        </m:sSub>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2</m:t>
                            </m:r>
                          </m:sub>
                        </m:sSub>
                      </m:num>
                      <m:den>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1</m:t>
                            </m:r>
                          </m:sub>
                        </m:sSub>
                        <m:r>
                          <m:rPr>
                            <m:sty m:val="p"/>
                          </m:rPr>
                          <a:rPr lang="en-IN" sz="2800">
                            <a:solidFill>
                              <a:srgbClr val="15803D"/>
                            </a:solidFill>
                            <a:latin typeface="Cambria Math" panose="02040503050406030204" pitchFamily="18" charset="0"/>
                          </a:rPr>
                          <m:t>+</m:t>
                        </m:r>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2</m:t>
                            </m:r>
                          </m:sub>
                        </m:sSub>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If </a:t>
                </a:r>
                <a:r>
                  <a:rPr lang="en-IN" sz="2800">
                    <a:solidFill>
                      <a:srgbClr val="15803D"/>
                    </a:solidFill>
                    <a:latin typeface="Cambria Math" panose="02040503050406030204" pitchFamily="18" charset="0"/>
                  </a:rPr>
                  <a:t>$PT$</a:t>
                </a:r>
                <a:r>
                  <a:rPr sz="2800" b="1">
                    <a:solidFill>
                      <a:srgbClr val="15803D"/>
                    </a:solidFill>
                    <a:latin typeface="Arial"/>
                  </a:rPr>
                  <a:t> is the intercepted part and </a:t>
                </a:r>
                <a:r>
                  <a:rPr lang="en-IN" sz="2800">
                    <a:solidFill>
                      <a:srgbClr val="15803D"/>
                    </a:solidFill>
                    <a:latin typeface="Cambria Math" panose="02040503050406030204" pitchFamily="18" charset="0"/>
                  </a:rPr>
                  <a:t>$p_1,p_2$</a:t>
                </a:r>
                <a:r>
                  <a:rPr sz="2800" b="1">
                    <a:solidFill>
                      <a:srgbClr val="15803D"/>
                    </a:solidFill>
                    <a:latin typeface="Arial"/>
                  </a:rPr>
                  <a:t> the focal perpendiculars on the normal, then </a:t>
                </a:r>
                <a:r>
                  <a:rPr lang="en-IN" sz="2800">
                    <a:solidFill>
                      <a:srgbClr val="15803D"/>
                    </a:solidFill>
                    <a:latin typeface="Cambria Math" panose="02040503050406030204" pitchFamily="18" charset="0"/>
                  </a:rPr>
                  <a:t>$PT=\frac{2p_1p_2}{p_1+p_2}$</a:t>
                </a:r>
                <a:endParaRPr sz="2800">
                  <a:solidFill>
                    <a:srgbClr val="15803D"/>
                  </a:solidFill>
                </a:endParaRPr>
              </a:p>
            </p:txBody>
          </p:sp>
        </mc:Fallback>
      </mc:AlternateContent>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tangent bisects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𝑆</m:t>
                    </m:r>
                    <m:r>
                      <a:rPr lang="en-IN" sz="2400" i="1">
                        <a:solidFill>
                          <a:srgbClr val="78350F"/>
                        </a:solidFill>
                        <a:latin typeface="Cambria Math" panose="02040503050406030204" pitchFamily="18" charset="0"/>
                      </a:rPr>
                      <m:t>𝑃</m:t>
                    </m:r>
                    <m:sSup>
                      <m:e>
                        <m:r>
                          <a:rPr lang="en-IN" sz="2400" i="1">
                            <a:solidFill>
                              <a:srgbClr val="78350F"/>
                            </a:solidFill>
                            <a:latin typeface="Cambria Math" panose="02040503050406030204" pitchFamily="18" charset="0"/>
                          </a:rPr>
                          <m:t>𝑆</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the focal perpendiculars on the normal are </a:t>
                </a:r>
                <a14:m>
                  <m:oMath xmlns:m="http://schemas.openxmlformats.org/officeDocument/2006/math">
                    <m:r>
                      <a:rPr lang="en-IN" sz="2400" i="1">
                        <a:solidFill>
                          <a:srgbClr val="78350F"/>
                        </a:solidFill>
                        <a:latin typeface="Cambria Math" panose="02040503050406030204" pitchFamily="18" charset="0"/>
                      </a:rPr>
                      <m:t>𝑆</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β</m:t>
                    </m:r>
                  </m:oMath>
                </a14:m>
                <a:r>
                  <a:rPr sz="2400" b="0">
                    <a:solidFill>
                      <a:srgbClr val="78350F"/>
                    </a:solidFill>
                    <a:latin typeface="Arial"/>
                  </a:rPr>
                  <a:t> and </a:t>
                </a:r>
                <a14:m>
                  <m:oMath xmlns:m="http://schemas.openxmlformats.org/officeDocument/2006/math">
                    <m:sSup>
                      <m:e>
                        <m:r>
                          <a:rPr lang="en-IN" sz="2400" i="1">
                            <a:solidFill>
                              <a:srgbClr val="78350F"/>
                            </a:solidFill>
                            <a:latin typeface="Cambria Math" panose="02040503050406030204" pitchFamily="18" charset="0"/>
                          </a:rPr>
                          <m:t>𝑆</m:t>
                        </m:r>
                      </m:e>
                      <m:sup>
                        <m:r>
                          <m:rPr>
                            <m:sty m:val="p"/>
                          </m:rPr>
                          <a:rPr lang="en-IN" sz="2400">
                            <a:solidFill>
                              <a:srgbClr val="78350F"/>
                            </a:solidFill>
                            <a:latin typeface="Cambria Math" panose="02040503050406030204" pitchFamily="18" charset="0"/>
                          </a:rPr>
                          <m:t>′</m:t>
                        </m:r>
                      </m:sup>
                    </m:sSup>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β</m:t>
                    </m:r>
                  </m:oMath>
                </a14:m>
                <a:r>
                  <a:rPr sz="2400" b="0">
                    <a:solidFill>
                      <a:srgbClr val="78350F"/>
                    </a:solidFill>
                    <a:latin typeface="Arial"/>
                  </a:rPr>
                  <a:t>, and the bisector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𝑇</m:t>
                    </m:r>
                  </m:oMath>
                </a14:m>
                <a:r>
                  <a:rPr sz="2400" b="0">
                    <a:solidFill>
                      <a:srgbClr val="78350F"/>
                    </a:solidFill>
                    <a:latin typeface="Arial"/>
                  </a:rPr>
                  <a:t> has length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𝑆</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𝑆</m:t>
                            </m:r>
                          </m:e>
                          <m:sup>
                            <m:r>
                              <m:rPr>
                                <m:sty m:val="p"/>
                              </m:rPr>
                              <a:rPr lang="en-IN" sz="2400">
                                <a:solidFill>
                                  <a:srgbClr val="78350F"/>
                                </a:solidFill>
                                <a:latin typeface="Cambria Math" panose="02040503050406030204" pitchFamily="18" charset="0"/>
                              </a:rPr>
                              <m:t>′</m:t>
                            </m:r>
                          </m:sup>
                        </m:sSup>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β</m:t>
                        </m:r>
                      </m:num>
                      <m:den>
                        <m:r>
                          <a:rPr lang="en-IN" sz="2400" i="1">
                            <a:solidFill>
                              <a:srgbClr val="78350F"/>
                            </a:solidFill>
                            <a:latin typeface="Cambria Math" panose="02040503050406030204" pitchFamily="18" charset="0"/>
                          </a:rPr>
                          <m:t>𝑆</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𝑆</m:t>
                            </m:r>
                          </m:e>
                          <m:sup>
                            <m:r>
                              <m:rPr>
                                <m:sty m:val="p"/>
                              </m:rPr>
                              <a:rPr lang="en-IN" sz="2400">
                                <a:solidFill>
                                  <a:srgbClr val="78350F"/>
                                </a:solidFill>
                                <a:latin typeface="Cambria Math" panose="02040503050406030204" pitchFamily="18" charset="0"/>
                              </a:rPr>
                              <m:t>′</m:t>
                            </m:r>
                          </m:sup>
                        </m:sSup>
                        <m:r>
                          <a:rPr lang="en-IN" sz="2400" i="1">
                            <a:solidFill>
                              <a:srgbClr val="78350F"/>
                            </a:solidFill>
                            <a:latin typeface="Cambria Math" panose="02040503050406030204" pitchFamily="18" charset="0"/>
                          </a:rPr>
                          <m:t>𝑃</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tangent bisects </a:t>
                </a:r>
                <a:r>
                  <a:rPr lang="en-IN" sz="2400">
                    <a:solidFill>
                      <a:srgbClr val="78350F"/>
                    </a:solidFill>
                    <a:latin typeface="Cambria Math" panose="02040503050406030204" pitchFamily="18" charset="0"/>
                  </a:rPr>
                  <a:t>$\angle SPS'$</a:t>
                </a:r>
                <a:r>
                  <a:rPr sz="2400" b="0">
                    <a:solidFill>
                      <a:srgbClr val="78350F"/>
                    </a:solidFill>
                    <a:latin typeface="Arial"/>
                  </a:rPr>
                  <a:t>; the focal perpendiculars on the normal are </a:t>
                </a:r>
                <a:r>
                  <a:rPr lang="en-IN" sz="2400">
                    <a:solidFill>
                      <a:srgbClr val="78350F"/>
                    </a:solidFill>
                    <a:latin typeface="Cambria Math" panose="02040503050406030204" pitchFamily="18" charset="0"/>
                  </a:rPr>
                  <a:t>$SP\cos\beta$</a:t>
                </a:r>
                <a:r>
                  <a:rPr sz="2400" b="0">
                    <a:solidFill>
                      <a:srgbClr val="78350F"/>
                    </a:solidFill>
                    <a:latin typeface="Arial"/>
                  </a:rPr>
                  <a:t> and </a:t>
                </a:r>
                <a:r>
                  <a:rPr lang="en-IN" sz="2400">
                    <a:solidFill>
                      <a:srgbClr val="78350F"/>
                    </a:solidFill>
                    <a:latin typeface="Cambria Math" panose="02040503050406030204" pitchFamily="18" charset="0"/>
                  </a:rPr>
                  <a:t>$S'P\cos\beta$</a:t>
                </a:r>
                <a:r>
                  <a:rPr sz="2400" b="0">
                    <a:solidFill>
                      <a:srgbClr val="78350F"/>
                    </a:solidFill>
                    <a:latin typeface="Arial"/>
                  </a:rPr>
                  <a:t>, and the bisector </a:t>
                </a:r>
                <a:r>
                  <a:rPr lang="en-IN" sz="2400">
                    <a:solidFill>
                      <a:srgbClr val="78350F"/>
                    </a:solidFill>
                    <a:latin typeface="Cambria Math" panose="02040503050406030204" pitchFamily="18" charset="0"/>
                  </a:rPr>
                  <a:t>$PT$</a:t>
                </a:r>
                <a:r>
                  <a:rPr sz="2400" b="0">
                    <a:solidFill>
                      <a:srgbClr val="78350F"/>
                    </a:solidFill>
                    <a:latin typeface="Arial"/>
                  </a:rPr>
                  <a:t> has length </a:t>
                </a:r>
                <a:r>
                  <a:rPr lang="en-IN" sz="2400">
                    <a:solidFill>
                      <a:srgbClr val="78350F"/>
                    </a:solidFill>
                    <a:latin typeface="Cambria Math" panose="02040503050406030204" pitchFamily="18" charset="0"/>
                  </a:rPr>
                  <a:t>$\frac{2\,SP\cdot S'P\cos\beta}{SP+S'P}$</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hyperbola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bisects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internally. Let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oMath>
                </a14:m>
                <a:r>
                  <a:rPr sz="2400" b="0">
                    <a:solidFill>
                      <a:srgbClr val="111827"/>
                    </a:solidFill>
                    <a:latin typeface="Arial"/>
                  </a:rPr>
                  <a:t>, so the tangent makes the angle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with each of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is perpendicular to the tangent, so it makes the angle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oMath>
                </a14:m>
                <a:r>
                  <a:rPr sz="2400" b="0">
                    <a:solidFill>
                      <a:srgbClr val="111827"/>
                    </a:solidFill>
                    <a:latin typeface="Arial"/>
                  </a:rPr>
                  <a:t> and with </a:t>
                </a: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Perpendicular from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on the normal: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oMath>
                </a14:m>
                <a:r>
                  <a:rPr sz="2400" b="0">
                    <a:solidFill>
                      <a:srgbClr val="111827"/>
                    </a:solidFill>
                    <a:latin typeface="Arial"/>
                  </a:rPr>
                  <a:t>; from </a:t>
                </a:r>
                <a14:m>
                  <m:oMath xmlns:m="http://schemas.openxmlformats.org/officeDocument/2006/math">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hyperbola the tangent at </a:t>
                </a:r>
                <a:r>
                  <a:rPr lang="en-IN" sz="2400">
                    <a:solidFill>
                      <a:srgbClr val="111827"/>
                    </a:solidFill>
                    <a:latin typeface="Cambria Math" panose="02040503050406030204" pitchFamily="18" charset="0"/>
                  </a:rPr>
                  <a:t>$P$</a:t>
                </a:r>
                <a:r>
                  <a:rPr sz="2400" b="0">
                    <a:solidFill>
                      <a:srgbClr val="111827"/>
                    </a:solidFill>
                    <a:latin typeface="Arial"/>
                  </a:rPr>
                  <a:t> bisects </a:t>
                </a:r>
                <a:r>
                  <a:rPr lang="en-IN" sz="2400">
                    <a:solidFill>
                      <a:srgbClr val="111827"/>
                    </a:solidFill>
                    <a:latin typeface="Cambria Math" panose="02040503050406030204" pitchFamily="18" charset="0"/>
                  </a:rPr>
                  <a:t>$\angle SPS'$</a:t>
                </a:r>
                <a:r>
                  <a:rPr sz="2400" b="0">
                    <a:solidFill>
                      <a:srgbClr val="111827"/>
                    </a:solidFill>
                    <a:latin typeface="Arial"/>
                  </a:rPr>
                  <a:t> internally. Let </a:t>
                </a:r>
                <a:r>
                  <a:rPr lang="en-IN" sz="2400">
                    <a:solidFill>
                      <a:srgbClr val="111827"/>
                    </a:solidFill>
                    <a:latin typeface="Cambria Math" panose="02040503050406030204" pitchFamily="18" charset="0"/>
                  </a:rPr>
                  <a:t>$\angle SPS'=2\beta$</a:t>
                </a:r>
                <a:r>
                  <a:rPr sz="2400" b="0">
                    <a:solidFill>
                      <a:srgbClr val="111827"/>
                    </a:solidFill>
                    <a:latin typeface="Arial"/>
                  </a:rPr>
                  <a:t>, so the tangent makes the angle </a:t>
                </a:r>
                <a:r>
                  <a:rPr lang="en-IN" sz="2400">
                    <a:solidFill>
                      <a:srgbClr val="111827"/>
                    </a:solidFill>
                    <a:latin typeface="Cambria Math" panose="02040503050406030204" pitchFamily="18" charset="0"/>
                  </a:rPr>
                  <a:t>$\beta$</a:t>
                </a:r>
                <a:r>
                  <a:rPr sz="2400" b="0">
                    <a:solidFill>
                      <a:srgbClr val="111827"/>
                    </a:solidFill>
                    <a:latin typeface="Arial"/>
                  </a:rPr>
                  <a:t> with each of </a:t>
                </a:r>
                <a:r>
                  <a:rPr lang="en-IN" sz="2400">
                    <a:solidFill>
                      <a:srgbClr val="111827"/>
                    </a:solidFill>
                    <a:latin typeface="Cambria Math" panose="02040503050406030204" pitchFamily="18" charset="0"/>
                  </a:rPr>
                  <a:t>$PS,\ PS'$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is perpendicular to the tangent, so it makes the angle </a:t>
                </a:r>
                <a:r>
                  <a:rPr lang="en-IN" sz="2400">
                    <a:solidFill>
                      <a:srgbClr val="111827"/>
                    </a:solidFill>
                    <a:latin typeface="Cambria Math" panose="02040503050406030204" pitchFamily="18" charset="0"/>
                  </a:rPr>
                  <a:t>$90^\circ-\beta$</a:t>
                </a:r>
                <a:r>
                  <a:rPr sz="2400" b="0">
                    <a:solidFill>
                      <a:srgbClr val="111827"/>
                    </a:solidFill>
                    <a:latin typeface="Arial"/>
                  </a:rPr>
                  <a:t> with </a:t>
                </a:r>
                <a:r>
                  <a:rPr lang="en-IN" sz="2400">
                    <a:solidFill>
                      <a:srgbClr val="111827"/>
                    </a:solidFill>
                    <a:latin typeface="Cambria Math" panose="02040503050406030204" pitchFamily="18" charset="0"/>
                  </a:rPr>
                  <a:t>$PS$</a:t>
                </a:r>
                <a:r>
                  <a:rPr sz="2400" b="0">
                    <a:solidFill>
                      <a:srgbClr val="111827"/>
                    </a:solidFill>
                    <a:latin typeface="Arial"/>
                  </a:rPr>
                  <a:t> and with </a:t>
                </a:r>
                <a:r>
                  <a:rPr lang="en-IN" sz="2400">
                    <a:solidFill>
                      <a:srgbClr val="111827"/>
                    </a:solidFill>
                    <a:latin typeface="Cambria Math" panose="02040503050406030204" pitchFamily="18" charset="0"/>
                  </a:rPr>
                  <a:t>$PS'$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Perpendicular from </a:t>
                </a:r>
                <a:r>
                  <a:rPr lang="en-IN" sz="2400">
                    <a:solidFill>
                      <a:srgbClr val="111827"/>
                    </a:solidFill>
                    <a:latin typeface="Cambria Math" panose="02040503050406030204" pitchFamily="18" charset="0"/>
                  </a:rPr>
                  <a:t>$S$</a:t>
                </a:r>
                <a:r>
                  <a:rPr sz="2400" b="0">
                    <a:solidFill>
                      <a:srgbClr val="111827"/>
                    </a:solidFill>
                    <a:latin typeface="Arial"/>
                  </a:rPr>
                  <a:t> on the normal: </a:t>
                </a:r>
                <a:r>
                  <a:rPr lang="en-IN" sz="2400">
                    <a:solidFill>
                      <a:srgbClr val="111827"/>
                    </a:solidFill>
                    <a:latin typeface="Cambria Math" panose="02040503050406030204" pitchFamily="18" charset="0"/>
                  </a:rPr>
                  <a:t>$p_1=SP\sin(90^\circ-\beta)=SP\cos\beta$</a:t>
                </a:r>
                <a:r>
                  <a:rPr sz="2400" b="0">
                    <a:solidFill>
                      <a:srgbClr val="111827"/>
                    </a:solidFill>
                    <a:latin typeface="Arial"/>
                  </a:rPr>
                  <a:t>; from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$p_2=S'P\cos\beta$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the internal bisector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oMath>
                </a14:m>
                <a:r>
                  <a:rPr sz="2400" b="0">
                    <a:solidFill>
                      <a:srgbClr val="111827"/>
                    </a:solidFill>
                    <a:latin typeface="Arial"/>
                  </a:rPr>
                  <a:t> of the angle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oMath>
                </a14:m>
                <a:r>
                  <a:rPr sz="2400" b="0">
                    <a:solidFill>
                      <a:srgbClr val="111827"/>
                    </a:solidFill>
                    <a:latin typeface="Arial"/>
                  </a:rPr>
                  <a:t> has length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num>
                      <m:den>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a:rPr lang="en-IN" sz="2400" i="1">
                            <a:solidFill>
                              <a:srgbClr val="111827"/>
                            </a:solidFill>
                            <a:latin typeface="Cambria Math" panose="02040503050406030204" pitchFamily="18" charset="0"/>
                          </a:rPr>
                          <m:t>𝑃</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a:rPr lang="en-IN" sz="2400" i="1">
                            <a:solidFill>
                              <a:srgbClr val="111827"/>
                            </a:solidFill>
                            <a:latin typeface="Cambria Math" panose="02040503050406030204" pitchFamily="18" charset="0"/>
                          </a:rPr>
                          <m:t>𝑃</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oMath>
                </a14:m>
                <a:r>
                  <a:rPr sz="2400" b="0">
                    <a:solidFill>
                      <a:srgbClr val="111827"/>
                    </a:solidFill>
                    <a:latin typeface="Arial"/>
                  </a:rPr>
                  <a:t> is the harmonic mean of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t>
                </a:r>
                <a:r>
                  <a:rPr lang="en-IN" sz="2400">
                    <a:solidFill>
                      <a:srgbClr val="111827"/>
                    </a:solidFill>
                    <a:latin typeface="Cambria Math" panose="02040503050406030204" pitchFamily="18" charset="0"/>
                  </a:rPr>
                  <a:t>$\triangle SPS'$</a:t>
                </a:r>
                <a:r>
                  <a:rPr sz="2400" b="0">
                    <a:solidFill>
                      <a:srgbClr val="111827"/>
                    </a:solidFill>
                    <a:latin typeface="Arial"/>
                  </a:rPr>
                  <a:t> the internal bisector </a:t>
                </a:r>
                <a:r>
                  <a:rPr lang="en-IN" sz="2400">
                    <a:solidFill>
                      <a:srgbClr val="111827"/>
                    </a:solidFill>
                    <a:latin typeface="Cambria Math" panose="02040503050406030204" pitchFamily="18" charset="0"/>
                  </a:rPr>
                  <a:t>$PT$</a:t>
                </a:r>
                <a:r>
                  <a:rPr sz="2400" b="0">
                    <a:solidFill>
                      <a:srgbClr val="111827"/>
                    </a:solidFill>
                    <a:latin typeface="Arial"/>
                  </a:rPr>
                  <a:t> of the angle </a:t>
                </a:r>
                <a:r>
                  <a:rPr lang="en-IN" sz="2400">
                    <a:solidFill>
                      <a:srgbClr val="111827"/>
                    </a:solidFill>
                    <a:latin typeface="Cambria Math" panose="02040503050406030204" pitchFamily="18" charset="0"/>
                  </a:rPr>
                  <a:t>$2\beta$</a:t>
                </a:r>
                <a:r>
                  <a:rPr sz="2400" b="0">
                    <a:solidFill>
                      <a:srgbClr val="111827"/>
                    </a:solidFill>
                    <a:latin typeface="Arial"/>
                  </a:rPr>
                  <a:t> has length </a:t>
                </a:r>
                <a:r>
                  <a:rPr lang="en-IN" sz="2400">
                    <a:solidFill>
                      <a:srgbClr val="111827"/>
                    </a:solidFill>
                    <a:latin typeface="Cambria Math" panose="02040503050406030204" pitchFamily="18" charset="0"/>
                  </a:rPr>
                  <a:t>$PT=\frac{2\cdot SP\cdot S'P\cdot\cos\beta}{SP+S'P}$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$\frac{1}{PT}=\frac{SP+S'P}{2\,SP\,S'P\cos\beta}=\frac12\left(\frac{1}{S'P\cos\beta}+\frac{1}{SP\cos\beta}\right)=\frac12\left(\frac1{p_2}+\frac1{p_1}\right)$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$PT$</a:t>
                </a:r>
                <a:r>
                  <a:rPr sz="2400" b="0">
                    <a:solidFill>
                      <a:srgbClr val="111827"/>
                    </a:solidFill>
                    <a:latin typeface="Arial"/>
                  </a:rPr>
                  <a:t> is the harmonic mean of </a:t>
                </a:r>
                <a:r>
                  <a:rPr lang="en-IN" sz="2400">
                    <a:solidFill>
                      <a:srgbClr val="111827"/>
                    </a:solidFill>
                    <a:latin typeface="Cambria Math" panose="02040503050406030204" pitchFamily="18" charset="0"/>
                  </a:rPr>
                  <a:t>$p_1$</a:t>
                </a:r>
                <a:r>
                  <a:rPr sz="2400" b="0">
                    <a:solidFill>
                      <a:srgbClr val="111827"/>
                    </a:solidFill>
                    <a:latin typeface="Arial"/>
                  </a:rPr>
                  <a:t> and </a:t>
                </a:r>
                <a:r>
                  <a:rPr lang="en-IN" sz="2400">
                    <a:solidFill>
                      <a:srgbClr val="111827"/>
                    </a:solidFill>
                    <a:latin typeface="Cambria Math" panose="02040503050406030204" pitchFamily="18" charset="0"/>
                  </a:rPr>
                  <a:t>$p_2$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If </a:t>
                </a:r>
                <a14:m>
                  <m:oMath xmlns:m="http://schemas.openxmlformats.org/officeDocument/2006/math">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𝑇</m:t>
                    </m:r>
                  </m:oMath>
                </a14:m>
                <a:r>
                  <a:rPr sz="2800" b="1">
                    <a:solidFill>
                      <a:srgbClr val="15803D"/>
                    </a:solidFill>
                    <a:latin typeface="Arial"/>
                  </a:rPr>
                  <a:t> is the intercepted part and </a:t>
                </a:r>
                <a14:m>
                  <m:oMath xmlns:m="http://schemas.openxmlformats.org/officeDocument/2006/math">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1</m:t>
                        </m:r>
                      </m:sub>
                    </m:sSub>
                    <m:r>
                      <m:rPr>
                        <m:sty m:val="p"/>
                      </m:rPr>
                      <a:rPr lang="en-IN" sz="2800">
                        <a:solidFill>
                          <a:srgbClr val="15803D"/>
                        </a:solidFill>
                        <a:latin typeface="Cambria Math" panose="02040503050406030204" pitchFamily="18" charset="0"/>
                      </a:rPr>
                      <m:t>,</m:t>
                    </m:r>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2</m:t>
                        </m:r>
                      </m:sub>
                    </m:sSub>
                  </m:oMath>
                </a14:m>
                <a:r>
                  <a:rPr sz="2800" b="1">
                    <a:solidFill>
                      <a:srgbClr val="15803D"/>
                    </a:solidFill>
                    <a:latin typeface="Arial"/>
                  </a:rPr>
                  <a:t> the focal perpendiculars on the normal, then </a:t>
                </a:r>
                <a14:m>
                  <m:oMath xmlns:m="http://schemas.openxmlformats.org/officeDocument/2006/math">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𝑇</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m:t>
                        </m:r>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1</m:t>
                            </m:r>
                          </m:sub>
                        </m:sSub>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2</m:t>
                            </m:r>
                          </m:sub>
                        </m:sSub>
                      </m:num>
                      <m:den>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1</m:t>
                            </m:r>
                          </m:sub>
                        </m:sSub>
                        <m:r>
                          <m:rPr>
                            <m:sty m:val="p"/>
                          </m:rPr>
                          <a:rPr lang="en-IN" sz="2800">
                            <a:solidFill>
                              <a:srgbClr val="15803D"/>
                            </a:solidFill>
                            <a:latin typeface="Cambria Math" panose="02040503050406030204" pitchFamily="18" charset="0"/>
                          </a:rPr>
                          <m:t>+</m:t>
                        </m:r>
                        <m:sSub>
                          <m:e>
                            <m:r>
                              <a:rPr lang="en-IN" sz="2800" i="1">
                                <a:solidFill>
                                  <a:srgbClr val="15803D"/>
                                </a:solidFill>
                                <a:latin typeface="Cambria Math" panose="02040503050406030204" pitchFamily="18" charset="0"/>
                              </a:rPr>
                              <m:t>𝑝</m:t>
                            </m:r>
                          </m:e>
                          <m:sub>
                            <m:r>
                              <a:rPr lang="en-IN" sz="2800" i="1">
                                <a:solidFill>
                                  <a:srgbClr val="15803D"/>
                                </a:solidFill>
                                <a:latin typeface="Cambria Math" panose="02040503050406030204" pitchFamily="18" charset="0"/>
                              </a:rPr>
                              <m:t>2</m:t>
                            </m:r>
                          </m:sub>
                        </m:sSub>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If </a:t>
                </a:r>
                <a:r>
                  <a:rPr lang="en-IN" sz="2800">
                    <a:solidFill>
                      <a:srgbClr val="15803D"/>
                    </a:solidFill>
                    <a:latin typeface="Cambria Math" panose="02040503050406030204" pitchFamily="18" charset="0"/>
                  </a:rPr>
                  <a:t>$PT$</a:t>
                </a:r>
                <a:r>
                  <a:rPr sz="2800" b="1">
                    <a:solidFill>
                      <a:srgbClr val="15803D"/>
                    </a:solidFill>
                    <a:latin typeface="Arial"/>
                  </a:rPr>
                  <a:t> is the intercepted part and </a:t>
                </a:r>
                <a:r>
                  <a:rPr lang="en-IN" sz="2800">
                    <a:solidFill>
                      <a:srgbClr val="15803D"/>
                    </a:solidFill>
                    <a:latin typeface="Cambria Math" panose="02040503050406030204" pitchFamily="18" charset="0"/>
                  </a:rPr>
                  <a:t>$p_1,p_2$</a:t>
                </a:r>
                <a:r>
                  <a:rPr sz="2800" b="1">
                    <a:solidFill>
                      <a:srgbClr val="15803D"/>
                    </a:solidFill>
                    <a:latin typeface="Arial"/>
                  </a:rPr>
                  <a:t> the focal perpendiculars on the normal, then </a:t>
                </a:r>
                <a:r>
                  <a:rPr lang="en-IN" sz="2800">
                    <a:solidFill>
                      <a:srgbClr val="15803D"/>
                    </a:solidFill>
                    <a:latin typeface="Cambria Math" panose="02040503050406030204" pitchFamily="18" charset="0"/>
                  </a:rPr>
                  <a:t>$PT=\frac{2p_1p_2}{p_1+p_2}$</a:t>
                </a:r>
                <a:endParaRPr sz="2800">
                  <a:solidFill>
                    <a:srgbClr val="15803D"/>
                  </a:solidFill>
                </a:endParaRPr>
              </a:p>
            </p:txBody>
          </p:sp>
        </mc:Fallback>
      </mc:AlternateContent>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Hyperbola: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bisects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𝑆</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internally and the normal bisects the exterior angle. (Ellipse: the other way round.)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 of the internal bisector from the vertex of angle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in a triangle with adjacent sides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ℓ</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𝐴</m:t>
                            </m:r>
                          </m:num>
                          <m:den>
                            <m:r>
                              <a:rPr lang="en-IN" sz="2400" i="1">
                                <a:solidFill>
                                  <a:srgbClr val="111827"/>
                                </a:solidFill>
                                <a:latin typeface="Cambria Math" panose="02040503050406030204" pitchFamily="18" charset="0"/>
                              </a:rPr>
                              <m:t>2</m:t>
                            </m:r>
                          </m:den>
                        </m:f>
                      </m:num>
                      <m:den>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den>
                    </m:f>
                  </m:oMath>
                </a14:m>
                <a:r>
                  <a:rPr sz="2400" b="0">
                    <a:solidFill>
                      <a:srgbClr val="111827"/>
                    </a:solidFill>
                    <a:latin typeface="Arial"/>
                  </a:rPr>
                  <a:t> - which says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ℓ</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tangent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it meets the axis at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Conversely,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also gives the length of the intercepted tangent from the two focal perpendiculars alone.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Hyperbola: the tangent at </a:t>
                </a:r>
                <a:r>
                  <a:rPr lang="en-IN" sz="2400">
                    <a:solidFill>
                      <a:srgbClr val="111827"/>
                    </a:solidFill>
                    <a:latin typeface="Cambria Math" panose="02040503050406030204" pitchFamily="18" charset="0"/>
                  </a:rPr>
                  <a:t>$P$</a:t>
                </a:r>
                <a:r>
                  <a:rPr sz="2400" b="0">
                    <a:solidFill>
                      <a:srgbClr val="111827"/>
                    </a:solidFill>
                    <a:latin typeface="Arial"/>
                  </a:rPr>
                  <a:t> bisects </a:t>
                </a:r>
                <a:r>
                  <a:rPr lang="en-IN" sz="2400">
                    <a:solidFill>
                      <a:srgbClr val="111827"/>
                    </a:solidFill>
                    <a:latin typeface="Cambria Math" panose="02040503050406030204" pitchFamily="18" charset="0"/>
                  </a:rPr>
                  <a:t>$\angle SPS'$</a:t>
                </a:r>
                <a:r>
                  <a:rPr sz="2400" b="0">
                    <a:solidFill>
                      <a:srgbClr val="111827"/>
                    </a:solidFill>
                    <a:latin typeface="Arial"/>
                  </a:rPr>
                  <a:t> internally and the normal bisects the exterior angle. (Ellipse: the other way round.)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 of the internal bisector from the vertex of angle </a:t>
                </a:r>
                <a:r>
                  <a:rPr lang="en-IN" sz="2400">
                    <a:solidFill>
                      <a:srgbClr val="111827"/>
                    </a:solidFill>
                    <a:latin typeface="Cambria Math" panose="02040503050406030204" pitchFamily="18" charset="0"/>
                  </a:rPr>
                  <a:t>$A$</a:t>
                </a:r>
                <a:r>
                  <a:rPr sz="2400" b="0">
                    <a:solidFill>
                      <a:srgbClr val="111827"/>
                    </a:solidFill>
                    <a:latin typeface="Arial"/>
                  </a:rPr>
                  <a:t> in a triangle with adjacent sides </a:t>
                </a:r>
                <a:r>
                  <a:rPr lang="en-IN" sz="2400">
                    <a:solidFill>
                      <a:srgbClr val="111827"/>
                    </a:solidFill>
                    <a:latin typeface="Cambria Math" panose="02040503050406030204" pitchFamily="18" charset="0"/>
                  </a:rPr>
                  <a:t>$b,c$</a:t>
                </a:r>
                <a:r>
                  <a:rPr sz="2400" b="0">
                    <a:solidFill>
                      <a:srgbClr val="111827"/>
                    </a:solidFill>
                    <a:latin typeface="Arial"/>
                  </a:rPr>
                  <a:t>: </a:t>
                </a:r>
                <a:r>
                  <a:rPr lang="en-IN" sz="2400">
                    <a:solidFill>
                      <a:srgbClr val="111827"/>
                    </a:solidFill>
                    <a:latin typeface="Cambria Math" panose="02040503050406030204" pitchFamily="18" charset="0"/>
                  </a:rPr>
                  <a:t>$\ell=\frac{2bc\cos\frac A2}{b+c}$</a:t>
                </a:r>
                <a:r>
                  <a:rPr sz="2400" b="0">
                    <a:solidFill>
                      <a:srgbClr val="111827"/>
                    </a:solidFill>
                    <a:latin typeface="Arial"/>
                  </a:rPr>
                  <a:t> - which says </a:t>
                </a:r>
                <a:r>
                  <a:rPr lang="en-IN" sz="2400">
                    <a:solidFill>
                      <a:srgbClr val="111827"/>
                    </a:solidFill>
                    <a:latin typeface="Cambria Math" panose="02040503050406030204" pitchFamily="18" charset="0"/>
                  </a:rPr>
                  <a:t>$\frac1\ell=\frac12\left(\frac1{b\cos(A/2)}+\frac1{c\cos(A/2)}\right)$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tangent at </a:t>
                </a:r>
                <a:r>
                  <a:rPr lang="en-IN" sz="2400">
                    <a:solidFill>
                      <a:srgbClr val="111827"/>
                    </a:solidFill>
                    <a:latin typeface="Cambria Math" panose="02040503050406030204" pitchFamily="18" charset="0"/>
                  </a:rPr>
                  <a:t>$P(a\sec\theta,b\tan\theta)$</a:t>
                </a:r>
                <a:r>
                  <a:rPr sz="2400" b="0">
                    <a:solidFill>
                      <a:srgbClr val="111827"/>
                    </a:solidFill>
                    <a:latin typeface="Arial"/>
                  </a:rPr>
                  <a:t>: it meets the axis at </a:t>
                </a:r>
                <a:r>
                  <a:rPr lang="en-IN" sz="2400">
                    <a:solidFill>
                      <a:srgbClr val="111827"/>
                    </a:solidFill>
                    <a:latin typeface="Cambria Math" panose="02040503050406030204" pitchFamily="18" charset="0"/>
                  </a:rPr>
                  <a:t>$T(a\cos\theta,0)$</a:t>
                </a:r>
                <a:r>
                  <a:rPr sz="2400" b="0">
                    <a:solidFill>
                      <a:srgbClr val="111827"/>
                    </a:solidFill>
                    <a:latin typeface="Arial"/>
                  </a:rPr>
                  <a:t> and </a:t>
                </a:r>
                <a:r>
                  <a:rPr lang="en-IN" sz="2400">
                    <a:solidFill>
                      <a:srgbClr val="111827"/>
                    </a:solidFill>
                    <a:latin typeface="Cambria Math" panose="02040503050406030204" pitchFamily="18" charset="0"/>
                  </a:rPr>
                  <a:t>$PT=|\tan\theta|\sqrt{a^2\sin^2\theta+b^2}$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Conversely, </a:t>
                </a:r>
                <a:r>
                  <a:rPr lang="en-IN" sz="2400">
                    <a:solidFill>
                      <a:srgbClr val="111827"/>
                    </a:solidFill>
                    <a:latin typeface="Cambria Math" panose="02040503050406030204" pitchFamily="18" charset="0"/>
                  </a:rPr>
                  <a:t>$PT=\frac{2p_1p_2}{p_1+p_2}$</a:t>
                </a:r>
                <a:r>
                  <a:rPr sz="2400" b="0">
                    <a:solidFill>
                      <a:srgbClr val="111827"/>
                    </a:solidFill>
                    <a:latin typeface="Arial"/>
                  </a:rPr>
                  <a:t> also gives the length of the intercepted tangent from the two focal perpendiculars alone.</a:t>
                </a:r>
                <a:endParaRPr sz="2400">
                  <a:solidFill>
                    <a:srgbClr val="111827"/>
                  </a:solidFill>
                </a:endParaRPr>
              </a:p>
            </p:txBody>
          </p:sp>
        </mc:Fallback>
      </mc:AlternateContent>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Ascertain the co-ordinates of the two points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where the tangent to the hyperbola </a:t>
                </a:r>
                <a14:m>
                  <m:oMath xmlns:m="http://schemas.openxmlformats.org/officeDocument/2006/math">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180</m:t>
                    </m:r>
                  </m:oMath>
                </a14:m>
                <a:r>
                  <a:rPr sz="2400" b="0">
                    <a:solidFill>
                      <a:srgbClr val="111827"/>
                    </a:solidFill>
                    <a:latin typeface="Arial"/>
                  </a:rPr>
                  <a:t> at the point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intersects the two asymptotes. Finally prove that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middle point of </a:t>
                </a:r>
                <a14:m>
                  <m:oMath xmlns:m="http://schemas.openxmlformats.org/officeDocument/2006/math">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 Also compute the area of the triangle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is the centre of the hyperbola.</a:t>
                </a:r>
                <a:endParaRPr sz="2400">
                  <a:solidFill>
                    <a:srgbClr val="111827"/>
                  </a:solidFill>
                </a:endParaRPr>
              </a:p>
            </p:txBody>
          </p:sp>
        </mc:Choice>
        <mc:Fallback>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Ascertain the co-ordinates of the two points </a:t>
                </a:r>
                <a:r>
                  <a:rPr lang="en-IN" sz="2400">
                    <a:solidFill>
                      <a:srgbClr val="111827"/>
                    </a:solidFill>
                    <a:latin typeface="Cambria Math" panose="02040503050406030204" pitchFamily="18" charset="0"/>
                  </a:rPr>
                  <a:t>$Q$</a:t>
                </a:r>
                <a:r>
                  <a:rPr sz="2400" b="0">
                    <a:solidFill>
                      <a:srgbClr val="111827"/>
                    </a:solidFill>
                    <a:latin typeface="Arial"/>
                  </a:rPr>
                  <a:t> and </a:t>
                </a:r>
                <a:r>
                  <a:rPr lang="en-IN" sz="2400">
                    <a:solidFill>
                      <a:srgbClr val="111827"/>
                    </a:solidFill>
                    <a:latin typeface="Cambria Math" panose="02040503050406030204" pitchFamily="18" charset="0"/>
                  </a:rPr>
                  <a:t>$R$</a:t>
                </a:r>
                <a:r>
                  <a:rPr sz="2400" b="0">
                    <a:solidFill>
                      <a:srgbClr val="111827"/>
                    </a:solidFill>
                    <a:latin typeface="Arial"/>
                  </a:rPr>
                  <a:t>, where the tangent to the hyperbola </a:t>
                </a:r>
                <a:r>
                  <a:rPr lang="en-IN" sz="2400">
                    <a:solidFill>
                      <a:srgbClr val="111827"/>
                    </a:solidFill>
                    <a:latin typeface="Cambria Math" panose="02040503050406030204" pitchFamily="18" charset="0"/>
                  </a:rPr>
                  <a:t>$4x^2-9y^2=180$</a:t>
                </a:r>
                <a:r>
                  <a:rPr sz="2400" b="0">
                    <a:solidFill>
                      <a:srgbClr val="111827"/>
                    </a:solidFill>
                    <a:latin typeface="Arial"/>
                  </a:rPr>
                  <a:t> at the point </a:t>
                </a:r>
                <a:r>
                  <a:rPr lang="en-IN" sz="2400">
                    <a:solidFill>
                      <a:srgbClr val="111827"/>
                    </a:solidFill>
                    <a:latin typeface="Cambria Math" panose="02040503050406030204" pitchFamily="18" charset="0"/>
                  </a:rPr>
                  <a:t>$P(9,4)$</a:t>
                </a:r>
                <a:r>
                  <a:rPr sz="2400" b="0">
                    <a:solidFill>
                      <a:srgbClr val="111827"/>
                    </a:solidFill>
                    <a:latin typeface="Arial"/>
                  </a:rPr>
                  <a:t> intersects the two asymptotes. Finally prove that </a:t>
                </a:r>
                <a:r>
                  <a:rPr lang="en-IN" sz="2400">
                    <a:solidFill>
                      <a:srgbClr val="111827"/>
                    </a:solidFill>
                    <a:latin typeface="Cambria Math" panose="02040503050406030204" pitchFamily="18" charset="0"/>
                  </a:rPr>
                  <a:t>$P$</a:t>
                </a:r>
                <a:r>
                  <a:rPr sz="2400" b="0">
                    <a:solidFill>
                      <a:srgbClr val="111827"/>
                    </a:solidFill>
                    <a:latin typeface="Arial"/>
                  </a:rPr>
                  <a:t> is the middle point of </a:t>
                </a:r>
                <a:r>
                  <a:rPr lang="en-IN" sz="2400">
                    <a:solidFill>
                      <a:srgbClr val="111827"/>
                    </a:solidFill>
                    <a:latin typeface="Cambria Math" panose="02040503050406030204" pitchFamily="18" charset="0"/>
                  </a:rPr>
                  <a:t>$QR$</a:t>
                </a:r>
                <a:r>
                  <a:rPr sz="2400" b="0">
                    <a:solidFill>
                      <a:srgbClr val="111827"/>
                    </a:solidFill>
                    <a:latin typeface="Arial"/>
                  </a:rPr>
                  <a:t>. Also compute the area of the triangle </a:t>
                </a:r>
                <a:r>
                  <a:rPr lang="en-IN" sz="2400">
                    <a:solidFill>
                      <a:srgbClr val="111827"/>
                    </a:solidFill>
                    <a:latin typeface="Cambria Math" panose="02040503050406030204" pitchFamily="18" charset="0"/>
                  </a:rPr>
                  <a:t>$CQR$</a:t>
                </a:r>
                <a:r>
                  <a:rPr sz="2400" b="0">
                    <a:solidFill>
                      <a:srgbClr val="111827"/>
                    </a:solidFill>
                    <a:latin typeface="Arial"/>
                  </a:rPr>
                  <a:t> where </a:t>
                </a:r>
                <a:r>
                  <a:rPr lang="en-IN" sz="2400">
                    <a:solidFill>
                      <a:srgbClr val="111827"/>
                    </a:solidFill>
                    <a:latin typeface="Cambria Math" panose="02040503050406030204" pitchFamily="18" charset="0"/>
                  </a:rPr>
                  <a:t>$C$</a:t>
                </a:r>
                <a:r>
                  <a:rPr sz="2400" b="0">
                    <a:solidFill>
                      <a:srgbClr val="111827"/>
                    </a:solidFill>
                    <a:latin typeface="Arial"/>
                  </a:rPr>
                  <a:t> is the centre of the hyperbola.</a:t>
                </a:r>
                <a:endParaRPr sz="2400">
                  <a:solidFill>
                    <a:srgbClr val="111827"/>
                  </a:solidFill>
                </a:endParaRPr>
              </a:p>
            </p:txBody>
          </p:sp>
        </mc:Fallback>
      </mc:AlternateContent>
      <p:sp>
        <p:nvSpPr>
          <p:cNvPr id="5" name="Rectangle 4"/>
          <p:cNvSpPr/>
          <p:nvPr/>
        </p:nvSpPr>
        <p:spPr>
          <a:xfrm>
            <a:off x="731520" y="3888739"/>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to a hyperbola and its asymptotes, Area of the triangle formed by the asymptotes and a tangent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tangent at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oMath>
                </a14:m>
                <a:r>
                  <a:rPr sz="2400" b="0">
                    <a:solidFill>
                      <a:srgbClr val="78350F"/>
                    </a:solidFill>
                    <a:latin typeface="Arial"/>
                  </a:rPr>
                  <a:t>; intersect it with the asymptotes </a:t>
                </a:r>
                <a14:m>
                  <m:oMath xmlns:m="http://schemas.openxmlformats.org/officeDocument/2006/math">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tangent at </a:t>
                </a:r>
                <a:r>
                  <a:rPr lang="en-IN" sz="2400">
                    <a:solidFill>
                      <a:srgbClr val="78350F"/>
                    </a:solidFill>
                    <a:latin typeface="Cambria Math" panose="02040503050406030204" pitchFamily="18" charset="0"/>
                  </a:rPr>
                  <a:t>$P$</a:t>
                </a:r>
                <a:r>
                  <a:rPr sz="2400" b="0">
                    <a:solidFill>
                      <a:srgbClr val="78350F"/>
                    </a:solidFill>
                    <a:latin typeface="Arial"/>
                  </a:rPr>
                  <a:t> is </a:t>
                </a:r>
                <a:r>
                  <a:rPr lang="en-IN" sz="2400">
                    <a:solidFill>
                      <a:srgbClr val="78350F"/>
                    </a:solidFill>
                    <a:latin typeface="Cambria Math" panose="02040503050406030204" pitchFamily="18" charset="0"/>
                  </a:rPr>
                  <a:t>$x-y=5$</a:t>
                </a:r>
                <a:r>
                  <a:rPr sz="2400" b="0">
                    <a:solidFill>
                      <a:srgbClr val="78350F"/>
                    </a:solidFill>
                    <a:latin typeface="Arial"/>
                  </a:rPr>
                  <a:t>; intersect it with the asymptotes </a:t>
                </a:r>
                <a:r>
                  <a:rPr lang="en-IN" sz="2400">
                    <a:solidFill>
                      <a:srgbClr val="78350F"/>
                    </a:solidFill>
                    <a:latin typeface="Cambria Math" panose="02040503050406030204" pitchFamily="18" charset="0"/>
                  </a:rPr>
                  <a:t>$2x\mp3y=0$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hyperbola is not legible in the PDF; </a:t>
                </a:r>
                <a14:m>
                  <m:oMath xmlns:m="http://schemas.openxmlformats.org/officeDocument/2006/math">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180</m:t>
                    </m:r>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the hyperbola through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whose tangent there is the printed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Tangent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of </a:t>
                </a:r>
                <a14:m>
                  <m:oMath xmlns:m="http://schemas.openxmlformats.org/officeDocument/2006/math">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180</m:t>
                    </m:r>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in (1) gives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hyperbola is not legible in the PDF; </a:t>
                </a:r>
                <a:r>
                  <a:rPr lang="en-IN" sz="2400">
                    <a:solidFill>
                      <a:srgbClr val="111827"/>
                    </a:solidFill>
                    <a:latin typeface="Cambria Math" panose="02040503050406030204" pitchFamily="18" charset="0"/>
                  </a:rPr>
                  <a:t>$4x^2-9y^2=180$</a:t>
                </a:r>
                <a:r>
                  <a:rPr sz="2400" b="0">
                    <a:solidFill>
                      <a:srgbClr val="111827"/>
                    </a:solidFill>
                    <a:latin typeface="Arial"/>
                  </a:rPr>
                  <a:t>, i.e. </a:t>
                </a:r>
                <a:r>
                  <a:rPr lang="en-IN" sz="2400">
                    <a:solidFill>
                      <a:srgbClr val="111827"/>
                    </a:solidFill>
                    <a:latin typeface="Cambria Math" panose="02040503050406030204" pitchFamily="18" charset="0"/>
                  </a:rPr>
                  <a:t>$\frac{x^2}{45}-\frac{y^2}{20}=1$</a:t>
                </a:r>
                <a:r>
                  <a:rPr sz="2400" b="0">
                    <a:solidFill>
                      <a:srgbClr val="111827"/>
                    </a:solidFill>
                    <a:latin typeface="Arial"/>
                  </a:rPr>
                  <a:t>, is the hyperbola through </a:t>
                </a:r>
                <a:r>
                  <a:rPr lang="en-IN" sz="2400">
                    <a:solidFill>
                      <a:srgbClr val="111827"/>
                    </a:solidFill>
                    <a:latin typeface="Cambria Math" panose="02040503050406030204" pitchFamily="18" charset="0"/>
                  </a:rPr>
                  <a:t>$P(9,4)$</a:t>
                </a:r>
                <a:r>
                  <a:rPr sz="2400" b="0">
                    <a:solidFill>
                      <a:srgbClr val="111827"/>
                    </a:solidFill>
                    <a:latin typeface="Arial"/>
                  </a:rPr>
                  <a:t> whose tangent there is the printed </a:t>
                </a:r>
                <a:r>
                  <a:rPr lang="en-IN" sz="2400">
                    <a:solidFill>
                      <a:srgbClr val="111827"/>
                    </a:solidFill>
                    <a:latin typeface="Cambria Math" panose="02040503050406030204" pitchFamily="18" charset="0"/>
                  </a:rPr>
                  <a:t>$x-y=5$</a:t>
                </a:r>
                <a:r>
                  <a:rPr sz="2400" b="0">
                    <a:solidFill>
                      <a:srgbClr val="111827"/>
                    </a:solidFill>
                    <a:latin typeface="Arial"/>
                  </a:rPr>
                  <a:t>.) Tangent at </a:t>
                </a:r>
                <a:r>
                  <a:rPr lang="en-IN" sz="2400">
                    <a:solidFill>
                      <a:srgbClr val="111827"/>
                    </a:solidFill>
                    <a:latin typeface="Cambria Math" panose="02040503050406030204" pitchFamily="18" charset="0"/>
                  </a:rPr>
                  <a:t>$P(9,4)$</a:t>
                </a:r>
                <a:r>
                  <a:rPr sz="2400" b="0">
                    <a:solidFill>
                      <a:srgbClr val="111827"/>
                    </a:solidFill>
                    <a:latin typeface="Arial"/>
                  </a:rPr>
                  <a:t>: </a:t>
                </a:r>
                <a:r>
                  <a:rPr lang="en-IN" sz="2400">
                    <a:solidFill>
                      <a:srgbClr val="111827"/>
                    </a:solidFill>
                    <a:latin typeface="Cambria Math" panose="02040503050406030204" pitchFamily="18" charset="0"/>
                  </a:rPr>
                  <a:t>$4\cdot9x-9\cdot4y=180$</a:t>
                </a:r>
                <a:r>
                  <a:rPr sz="2400" b="0">
                    <a:solidFill>
                      <a:srgbClr val="111827"/>
                    </a:solidFill>
                    <a:latin typeface="Arial"/>
                  </a:rPr>
                  <a:t>, i.e. </a:t>
                </a:r>
                <a:r>
                  <a:rPr lang="en-IN" sz="2400">
                    <a:solidFill>
                      <a:srgbClr val="111827"/>
                    </a:solidFill>
                    <a:latin typeface="Cambria Math" panose="02040503050406030204" pitchFamily="18" charset="0"/>
                  </a:rPr>
                  <a:t>$x-y=5$</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of </a:t>
                </a:r>
                <a:r>
                  <a:rPr lang="en-IN" sz="2400">
                    <a:solidFill>
                      <a:srgbClr val="111827"/>
                    </a:solidFill>
                    <a:latin typeface="Cambria Math" panose="02040503050406030204" pitchFamily="18" charset="0"/>
                  </a:rPr>
                  <a:t>$4x^2-9y^2=180$</a:t>
                </a:r>
                <a:r>
                  <a:rPr sz="2400" b="0">
                    <a:solidFill>
                      <a:srgbClr val="111827"/>
                    </a:solidFill>
                    <a:latin typeface="Arial"/>
                  </a:rPr>
                  <a:t> are </a:t>
                </a:r>
                <a:r>
                  <a:rPr lang="en-IN" sz="2400">
                    <a:solidFill>
                      <a:srgbClr val="111827"/>
                    </a:solidFill>
                    <a:latin typeface="Cambria Math" panose="02040503050406030204" pitchFamily="18" charset="0"/>
                  </a:rPr>
                  <a:t>$4x^2-9y^2=0$</a:t>
                </a:r>
                <a:r>
                  <a:rPr sz="2400" b="0">
                    <a:solidFill>
                      <a:srgbClr val="111827"/>
                    </a:solidFill>
                    <a:latin typeface="Arial"/>
                  </a:rPr>
                  <a:t>, i.e. </a:t>
                </a:r>
                <a:r>
                  <a:rPr lang="en-IN" sz="2400">
                    <a:solidFill>
                      <a:srgbClr val="111827"/>
                    </a:solidFill>
                    <a:latin typeface="Cambria Math" panose="02040503050406030204" pitchFamily="18" charset="0"/>
                  </a:rPr>
                  <a:t>$2x-3y=0$</a:t>
                </a:r>
                <a:r>
                  <a:rPr sz="2400" b="0">
                    <a:solidFill>
                      <a:srgbClr val="111827"/>
                    </a:solidFill>
                    <a:latin typeface="Arial"/>
                  </a:rPr>
                  <a:t> and </a:t>
                </a:r>
                <a:r>
                  <a:rPr lang="en-IN" sz="2400">
                    <a:solidFill>
                      <a:srgbClr val="111827"/>
                    </a:solidFill>
                    <a:latin typeface="Cambria Math" panose="02040503050406030204" pitchFamily="18" charset="0"/>
                  </a:rPr>
                  <a:t>$2x+3y=0$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$2x+3y=0$</a:t>
                </a:r>
                <a:r>
                  <a:rPr sz="2400" b="0">
                    <a:solidFill>
                      <a:srgbClr val="111827"/>
                    </a:solidFill>
                    <a:latin typeface="Arial"/>
                  </a:rPr>
                  <a:t>: </a:t>
                </a:r>
                <a:r>
                  <a:rPr lang="en-IN" sz="2400">
                    <a:solidFill>
                      <a:srgbClr val="111827"/>
                    </a:solidFill>
                    <a:latin typeface="Cambria Math" panose="02040503050406030204" pitchFamily="18" charset="0"/>
                  </a:rPr>
                  <a:t>$y=-\frac{2x}{3}$</a:t>
                </a:r>
                <a:r>
                  <a:rPr sz="2400" b="0">
                    <a:solidFill>
                      <a:srgbClr val="111827"/>
                    </a:solidFill>
                    <a:latin typeface="Arial"/>
                  </a:rPr>
                  <a:t> in (1) gives </a:t>
                </a:r>
                <a:r>
                  <a:rPr lang="en-IN" sz="2400">
                    <a:solidFill>
                      <a:srgbClr val="111827"/>
                    </a:solidFill>
                    <a:latin typeface="Cambria Math" panose="02040503050406030204" pitchFamily="18" charset="0"/>
                  </a:rPr>
                  <a:t>$x+\frac{2x}{3}=5$</a:t>
                </a:r>
                <a:r>
                  <a:rPr sz="2400" b="0">
                    <a:solidFill>
                      <a:srgbClr val="111827"/>
                    </a:solidFill>
                    <a:latin typeface="Arial"/>
                  </a:rPr>
                  <a:t>, so </a:t>
                </a:r>
                <a:r>
                  <a:rPr lang="en-IN" sz="2400">
                    <a:solidFill>
                      <a:srgbClr val="111827"/>
                    </a:solidFill>
                    <a:latin typeface="Cambria Math" panose="02040503050406030204" pitchFamily="18" charset="0"/>
                  </a:rPr>
                  <a:t>$x=3,\ y=-2$</a:t>
                </a:r>
                <a:r>
                  <a:rPr sz="2400" b="0">
                    <a:solidFill>
                      <a:srgbClr val="111827"/>
                    </a:solidFill>
                    <a:latin typeface="Arial"/>
                  </a:rPr>
                  <a:t>: </a:t>
                </a:r>
                <a:r>
                  <a:rPr lang="en-IN" sz="2400">
                    <a:solidFill>
                      <a:srgbClr val="111827"/>
                    </a:solidFill>
                    <a:latin typeface="Cambria Math" panose="02040503050406030204" pitchFamily="18" charset="0"/>
                  </a:rPr>
                  <a:t>$Q(3,-2)$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in (1)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Midpoint of </a:t>
                </a:r>
                <a14:m>
                  <m:oMath xmlns:m="http://schemas.openxmlformats.org/officeDocument/2006/math">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oMath>
                </a14:m>
                <a:r>
                  <a:rPr sz="2400" b="0">
                    <a:solidFill>
                      <a:srgbClr val="111827"/>
                    </a:solidFill>
                    <a:latin typeface="Arial"/>
                  </a:rPr>
                  <a:t>. Hence proved.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𝑄</m:t>
                            </m:r>
                          </m:sub>
                        </m:sSub>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𝑅</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𝑅</m:t>
                            </m:r>
                          </m:sub>
                        </m:sSub>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𝑄</m:t>
                            </m:r>
                          </m:sub>
                        </m:sSub>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 square units.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$2x-3y=0$</a:t>
                </a:r>
                <a:r>
                  <a:rPr sz="2400" b="0">
                    <a:solidFill>
                      <a:srgbClr val="111827"/>
                    </a:solidFill>
                    <a:latin typeface="Arial"/>
                  </a:rPr>
                  <a:t>: </a:t>
                </a:r>
                <a:r>
                  <a:rPr lang="en-IN" sz="2400">
                    <a:solidFill>
                      <a:srgbClr val="111827"/>
                    </a:solidFill>
                    <a:latin typeface="Cambria Math" panose="02040503050406030204" pitchFamily="18" charset="0"/>
                  </a:rPr>
                  <a:t>$y=\frac{2x}{3}$</a:t>
                </a:r>
                <a:r>
                  <a:rPr sz="2400" b="0">
                    <a:solidFill>
                      <a:srgbClr val="111827"/>
                    </a:solidFill>
                    <a:latin typeface="Arial"/>
                  </a:rPr>
                  <a:t> in (1) gives </a:t>
                </a:r>
                <a:r>
                  <a:rPr lang="en-IN" sz="2400">
                    <a:solidFill>
                      <a:srgbClr val="111827"/>
                    </a:solidFill>
                    <a:latin typeface="Cambria Math" panose="02040503050406030204" pitchFamily="18" charset="0"/>
                  </a:rPr>
                  <a:t>$\frac x3=5$</a:t>
                </a:r>
                <a:r>
                  <a:rPr sz="2400" b="0">
                    <a:solidFill>
                      <a:srgbClr val="111827"/>
                    </a:solidFill>
                    <a:latin typeface="Arial"/>
                  </a:rPr>
                  <a:t>, so </a:t>
                </a:r>
                <a:r>
                  <a:rPr lang="en-IN" sz="2400">
                    <a:solidFill>
                      <a:srgbClr val="111827"/>
                    </a:solidFill>
                    <a:latin typeface="Cambria Math" panose="02040503050406030204" pitchFamily="18" charset="0"/>
                  </a:rPr>
                  <a:t>$x=15,\ y=10$</a:t>
                </a:r>
                <a:r>
                  <a:rPr sz="2400" b="0">
                    <a:solidFill>
                      <a:srgbClr val="111827"/>
                    </a:solidFill>
                    <a:latin typeface="Arial"/>
                  </a:rPr>
                  <a:t>: </a:t>
                </a:r>
                <a:r>
                  <a:rPr lang="en-IN" sz="2400">
                    <a:solidFill>
                      <a:srgbClr val="111827"/>
                    </a:solidFill>
                    <a:latin typeface="Cambria Math" panose="02040503050406030204" pitchFamily="18" charset="0"/>
                  </a:rPr>
                  <a:t>$R(15,10)$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Midpoint of </a:t>
                </a:r>
                <a:r>
                  <a:rPr lang="en-IN" sz="2400">
                    <a:solidFill>
                      <a:srgbClr val="111827"/>
                    </a:solidFill>
                    <a:latin typeface="Cambria Math" panose="02040503050406030204" pitchFamily="18" charset="0"/>
                  </a:rPr>
                  <a:t>$QR=\left(\frac{3+15}{2},\frac{-2+10}{2}\right)=(9,4)=P$</a:t>
                </a:r>
                <a:r>
                  <a:rPr sz="2400" b="0">
                    <a:solidFill>
                      <a:srgbClr val="111827"/>
                    </a:solidFill>
                    <a:latin typeface="Arial"/>
                  </a:rPr>
                  <a:t>. Hence proved.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t>
                </a:r>
                <a:r>
                  <a:rPr lang="en-IN" sz="2400">
                    <a:solidFill>
                      <a:srgbClr val="111827"/>
                    </a:solidFill>
                    <a:latin typeface="Cambria Math" panose="02040503050406030204" pitchFamily="18" charset="0"/>
                  </a:rPr>
                  <a:t>$\triangle CQR$</a:t>
                </a:r>
                <a:r>
                  <a:rPr sz="2400" b="0">
                    <a:solidFill>
                      <a:srgbClr val="111827"/>
                    </a:solidFill>
                    <a:latin typeface="Arial"/>
                  </a:rPr>
                  <a:t> with </a:t>
                </a:r>
                <a:r>
                  <a:rPr lang="en-IN" sz="2400">
                    <a:solidFill>
                      <a:srgbClr val="111827"/>
                    </a:solidFill>
                    <a:latin typeface="Cambria Math" panose="02040503050406030204" pitchFamily="18" charset="0"/>
                  </a:rPr>
                  <a:t>$C(0,0)$</a:t>
                </a:r>
                <a:r>
                  <a:rPr sz="2400" b="0">
                    <a:solidFill>
                      <a:srgbClr val="111827"/>
                    </a:solidFill>
                    <a:latin typeface="Arial"/>
                  </a:rPr>
                  <a:t>: </a:t>
                </a:r>
                <a:r>
                  <a:rPr lang="en-IN" sz="2400">
                    <a:solidFill>
                      <a:srgbClr val="111827"/>
                    </a:solidFill>
                    <a:latin typeface="Cambria Math" panose="02040503050406030204" pitchFamily="18" charset="0"/>
                  </a:rPr>
                  <a:t>$\frac12\left|x_Qy_R-x_Ry_Q\right|=\frac12\left|3\cdot10-15\cdot(-2)\right|=\frac12\cdot60=30$</a:t>
                </a:r>
                <a:r>
                  <a:rPr sz="2400" b="0">
                    <a:solidFill>
                      <a:srgbClr val="111827"/>
                    </a:solidFill>
                    <a:latin typeface="Arial"/>
                  </a:rPr>
                  <a:t> square units.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𝑄</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m:t>
                    </m:r>
                  </m:oMath>
                </a14:m>
                <a:r>
                  <a:rPr sz="2800" b="1">
                    <a:solidFill>
                      <a:srgbClr val="15803D"/>
                    </a:solidFill>
                    <a:latin typeface="Arial"/>
                  </a:rPr>
                  <a:t>, </a:t>
                </a:r>
                <a14:m>
                  <m:oMath xmlns:m="http://schemas.openxmlformats.org/officeDocument/2006/math">
                    <m:r>
                      <a:rPr lang="en-IN" sz="2800" i="1">
                        <a:solidFill>
                          <a:srgbClr val="15803D"/>
                        </a:solidFill>
                        <a:latin typeface="Cambria Math" panose="02040503050406030204" pitchFamily="18" charset="0"/>
                      </a:rPr>
                      <m:t>𝑅</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15</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10</m:t>
                    </m:r>
                    <m:r>
                      <m:rPr>
                        <m:sty m:val="p"/>
                      </m:rPr>
                      <a:rPr lang="en-IN" sz="2800">
                        <a:solidFill>
                          <a:srgbClr val="15803D"/>
                        </a:solidFill>
                        <a:latin typeface="Cambria Math" panose="02040503050406030204" pitchFamily="18" charset="0"/>
                      </a:rPr>
                      <m:t>)</m:t>
                    </m:r>
                  </m:oMath>
                </a14:m>
                <a:r>
                  <a:rPr sz="2800" b="1">
                    <a:solidFill>
                      <a:srgbClr val="15803D"/>
                    </a:solidFill>
                    <a:latin typeface="Arial"/>
                  </a:rPr>
                  <a:t>; </a:t>
                </a:r>
                <a14:m>
                  <m:oMath xmlns:m="http://schemas.openxmlformats.org/officeDocument/2006/math">
                    <m:r>
                      <a:rPr lang="en-IN" sz="2800" i="1">
                        <a:solidFill>
                          <a:srgbClr val="15803D"/>
                        </a:solidFill>
                        <a:latin typeface="Cambria Math" panose="02040503050406030204" pitchFamily="18" charset="0"/>
                      </a:rPr>
                      <m:t>𝑃</m:t>
                    </m:r>
                  </m:oMath>
                </a14:m>
                <a:r>
                  <a:rPr sz="2800" b="1">
                    <a:solidFill>
                      <a:srgbClr val="15803D"/>
                    </a:solidFill>
                    <a:latin typeface="Arial"/>
                  </a:rPr>
                  <a:t> is the midpoint of </a:t>
                </a:r>
                <a14:m>
                  <m:oMath xmlns:m="http://schemas.openxmlformats.org/officeDocument/2006/math">
                    <m:r>
                      <a:rPr lang="en-IN" sz="2800" i="1">
                        <a:solidFill>
                          <a:srgbClr val="15803D"/>
                        </a:solidFill>
                        <a:latin typeface="Cambria Math" panose="02040503050406030204" pitchFamily="18" charset="0"/>
                      </a:rPr>
                      <m:t>𝑄</m:t>
                    </m:r>
                    <m:r>
                      <a:rPr lang="en-IN" sz="2800" i="1">
                        <a:solidFill>
                          <a:srgbClr val="15803D"/>
                        </a:solidFill>
                        <a:latin typeface="Cambria Math" panose="02040503050406030204" pitchFamily="18" charset="0"/>
                      </a:rPr>
                      <m:t>𝑅</m:t>
                    </m:r>
                  </m:oMath>
                </a14:m>
                <a:r>
                  <a:rPr sz="2800" b="1">
                    <a:solidFill>
                      <a:srgbClr val="15803D"/>
                    </a:solidFill>
                    <a:latin typeface="Arial"/>
                  </a:rPr>
                  <a:t>; area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30</m:t>
                    </m:r>
                  </m:oMath>
                </a14:m>
                <a:r>
                  <a:rPr sz="2800" b="1">
                    <a:solidFill>
                      <a:srgbClr val="15803D"/>
                    </a:solidFill>
                    <a:latin typeface="Arial"/>
                  </a:rPr>
                  <a:t> sq. units</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$Q(3,-2)$</a:t>
                </a:r>
                <a:r>
                  <a:rPr sz="2800" b="1">
                    <a:solidFill>
                      <a:srgbClr val="15803D"/>
                    </a:solidFill>
                    <a:latin typeface="Arial"/>
                  </a:rPr>
                  <a:t>, </a:t>
                </a:r>
                <a:r>
                  <a:rPr lang="en-IN" sz="2800">
                    <a:solidFill>
                      <a:srgbClr val="15803D"/>
                    </a:solidFill>
                    <a:latin typeface="Cambria Math" panose="02040503050406030204" pitchFamily="18" charset="0"/>
                  </a:rPr>
                  <a:t>$R(15,10)$</a:t>
                </a:r>
                <a:r>
                  <a:rPr sz="2800" b="1">
                    <a:solidFill>
                      <a:srgbClr val="15803D"/>
                    </a:solidFill>
                    <a:latin typeface="Arial"/>
                  </a:rPr>
                  <a:t>; </a:t>
                </a:r>
                <a:r>
                  <a:rPr lang="en-IN" sz="2800">
                    <a:solidFill>
                      <a:srgbClr val="15803D"/>
                    </a:solidFill>
                    <a:latin typeface="Cambria Math" panose="02040503050406030204" pitchFamily="18" charset="0"/>
                  </a:rPr>
                  <a:t>$P$</a:t>
                </a:r>
                <a:r>
                  <a:rPr sz="2800" b="1">
                    <a:solidFill>
                      <a:srgbClr val="15803D"/>
                    </a:solidFill>
                    <a:latin typeface="Arial"/>
                  </a:rPr>
                  <a:t> is the midpoint of </a:t>
                </a:r>
                <a:r>
                  <a:rPr lang="en-IN" sz="2800">
                    <a:solidFill>
                      <a:srgbClr val="15803D"/>
                    </a:solidFill>
                    <a:latin typeface="Cambria Math" panose="02040503050406030204" pitchFamily="18" charset="0"/>
                  </a:rPr>
                  <a:t>$QR$</a:t>
                </a:r>
                <a:r>
                  <a:rPr sz="2800" b="1">
                    <a:solidFill>
                      <a:srgbClr val="15803D"/>
                    </a:solidFill>
                    <a:latin typeface="Arial"/>
                  </a:rPr>
                  <a:t>; area </a:t>
                </a:r>
                <a:r>
                  <a:rPr lang="en-IN" sz="2800">
                    <a:solidFill>
                      <a:srgbClr val="15803D"/>
                    </a:solidFill>
                    <a:latin typeface="Cambria Math" panose="02040503050406030204" pitchFamily="18" charset="0"/>
                  </a:rPr>
                  <a:t>$=30$</a:t>
                </a:r>
                <a:r>
                  <a:rPr sz="2800" b="1">
                    <a:solidFill>
                      <a:srgbClr val="15803D"/>
                    </a:solidFill>
                    <a:latin typeface="Arial"/>
                  </a:rPr>
                  <a:t> sq. units</a:t>
                </a:r>
                <a:endParaRPr sz="2800">
                  <a:solidFill>
                    <a:srgbClr val="15803D"/>
                  </a:solidFill>
                </a:endParaRPr>
              </a:p>
            </p:txBody>
          </p:sp>
        </mc:Fallback>
      </mc:AlternateContent>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tangent forms a triangle of constant area </a:t>
                </a:r>
                <a14:m>
                  <m:oMath xmlns:m="http://schemas.openxmlformats.org/officeDocument/2006/math">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oMath>
                </a14:m>
                <a:r>
                  <a:rPr sz="2400" b="0">
                    <a:solidFill>
                      <a:srgbClr val="78350F"/>
                    </a:solidFill>
                    <a:latin typeface="Arial"/>
                  </a:rPr>
                  <a:t> with the asymptotes, and the point of contact bisects the intercepted part: check both with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sec</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tangent forms a triangle of constant area </a:t>
                </a:r>
                <a:r>
                  <a:rPr lang="en-IN" sz="2400">
                    <a:solidFill>
                      <a:srgbClr val="78350F"/>
                    </a:solidFill>
                    <a:latin typeface="Cambria Math" panose="02040503050406030204" pitchFamily="18" charset="0"/>
                  </a:rPr>
                  <a:t>$ab$</a:t>
                </a:r>
                <a:r>
                  <a:rPr sz="2400" b="0">
                    <a:solidFill>
                      <a:srgbClr val="78350F"/>
                    </a:solidFill>
                    <a:latin typeface="Arial"/>
                  </a:rPr>
                  <a:t> with the asymptotes, and the point of contact bisects the intercepted part: check both with </a:t>
                </a:r>
                <a:r>
                  <a:rPr lang="en-IN" sz="2400">
                    <a:solidFill>
                      <a:srgbClr val="78350F"/>
                    </a:solidFill>
                    <a:latin typeface="Cambria Math" panose="02040503050406030204" pitchFamily="18" charset="0"/>
                  </a:rPr>
                  <a:t>$P=(a\sec\theta,b\tan\theta)$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tangent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meets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a:rPr lang="en-IN" sz="2400" i="1">
                        <a:solidFill>
                          <a:srgbClr val="111827"/>
                        </a:solidFill>
                        <a:latin typeface="Cambria Math" panose="02040503050406030204" pitchFamily="18" charset="0"/>
                      </a:rPr>
                      <m:t>𝑥</m:t>
                    </m:r>
                  </m:oMath>
                </a14:m>
                <a:r>
                  <a:rPr sz="2400" b="0">
                    <a:solidFill>
                      <a:srgbClr val="111827"/>
                    </a:solidFill>
                    <a:latin typeface="Arial"/>
                  </a:rPr>
                  <a:t> at </a:t>
                </a:r>
                <a14:m>
                  <m:oMath xmlns:m="http://schemas.openxmlformats.org/officeDocument/2006/math">
                    <m:sSub>
                      <m:e>
                        <m:r>
                          <a:rPr lang="en-IN" sz="2400" i="1">
                            <a:solidFill>
                              <a:srgbClr val="111827"/>
                            </a:solidFill>
                            <a:latin typeface="Cambria Math" panose="02040503050406030204" pitchFamily="18" charset="0"/>
                          </a:rPr>
                          <m:t>𝑄</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a:rPr lang="en-IN" sz="2400" i="1">
                        <a:solidFill>
                          <a:srgbClr val="111827"/>
                        </a:solidFill>
                        <a:latin typeface="Cambria Math" panose="02040503050406030204" pitchFamily="18" charset="0"/>
                      </a:rPr>
                      <m:t>𝑥</m:t>
                    </m:r>
                  </m:oMath>
                </a14:m>
                <a:r>
                  <a:rPr sz="2400" b="0">
                    <a:solidFill>
                      <a:srgbClr val="111827"/>
                    </a:solidFill>
                    <a:latin typeface="Arial"/>
                  </a:rPr>
                  <a:t> at </a:t>
                </a:r>
                <a14:m>
                  <m:oMath xmlns:m="http://schemas.openxmlformats.org/officeDocument/2006/math">
                    <m:sSub>
                      <m:e>
                        <m:r>
                          <a:rPr lang="en-IN" sz="2400" i="1">
                            <a:solidFill>
                              <a:srgbClr val="111827"/>
                            </a:solidFill>
                            <a:latin typeface="Cambria Math" panose="02040503050406030204" pitchFamily="18" charset="0"/>
                          </a:rPr>
                          <m:t>𝑄</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Midpoint </a:t>
                </a:r>
                <a14:m>
                  <m:oMath xmlns:m="http://schemas.openxmlformats.org/officeDocument/2006/math">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bisects </a:t>
                </a:r>
                <a14:m>
                  <m:oMath xmlns:m="http://schemas.openxmlformats.org/officeDocument/2006/math">
                    <m:sSub>
                      <m:e>
                        <m:r>
                          <a:rPr lang="en-IN" sz="2400" i="1">
                            <a:solidFill>
                              <a:srgbClr val="111827"/>
                            </a:solidFill>
                            <a:latin typeface="Cambria Math" panose="02040503050406030204" pitchFamily="18" charset="0"/>
                          </a:rPr>
                          <m:t>𝑄</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𝑄</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for every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sSub>
                      <m:e>
                        <m:r>
                          <a:rPr lang="en-IN" sz="2400" i="1">
                            <a:solidFill>
                              <a:srgbClr val="111827"/>
                            </a:solidFill>
                            <a:latin typeface="Cambria Math" panose="02040503050406030204" pitchFamily="18" charset="0"/>
                          </a:rPr>
                          <m:t>𝑄</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𝑄</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$a^2=45,\ b^2=20$</a:t>
                </a:r>
                <a:r>
                  <a:rPr sz="2400" b="0">
                    <a:solidFill>
                      <a:srgbClr val="111827"/>
                    </a:solidFill>
                    <a:latin typeface="Arial"/>
                  </a:rPr>
                  <a:t>. For </a:t>
                </a:r>
                <a:r>
                  <a:rPr lang="en-IN" sz="2400">
                    <a:solidFill>
                      <a:srgbClr val="111827"/>
                    </a:solidFill>
                    <a:latin typeface="Cambria Math" panose="02040503050406030204" pitchFamily="18" charset="0"/>
                  </a:rPr>
                  <a:t>$P(a\sec\theta,b\tan\theta)$</a:t>
                </a:r>
                <a:r>
                  <a:rPr sz="2400" b="0">
                    <a:solidFill>
                      <a:srgbClr val="111827"/>
                    </a:solidFill>
                    <a:latin typeface="Arial"/>
                  </a:rPr>
                  <a:t> the tangent </a:t>
                </a:r>
                <a:r>
                  <a:rPr lang="en-IN" sz="2400">
                    <a:solidFill>
                      <a:srgbClr val="111827"/>
                    </a:solidFill>
                    <a:latin typeface="Cambria Math" panose="02040503050406030204" pitchFamily="18" charset="0"/>
                  </a:rPr>
                  <a:t>$\frac{x\sec\theta}{a}-\frac{y\tan\theta}{b}=1$</a:t>
                </a:r>
                <a:r>
                  <a:rPr sz="2400" b="0">
                    <a:solidFill>
                      <a:srgbClr val="111827"/>
                    </a:solidFill>
                    <a:latin typeface="Arial"/>
                  </a:rPr>
                  <a:t> meets </a:t>
                </a:r>
                <a:r>
                  <a:rPr lang="en-IN" sz="2400">
                    <a:solidFill>
                      <a:srgbClr val="111827"/>
                    </a:solidFill>
                    <a:latin typeface="Cambria Math" panose="02040503050406030204" pitchFamily="18" charset="0"/>
                  </a:rPr>
                  <a:t>$y=\frac bax$</a:t>
                </a:r>
                <a:r>
                  <a:rPr sz="2400" b="0">
                    <a:solidFill>
                      <a:srgbClr val="111827"/>
                    </a:solidFill>
                    <a:latin typeface="Arial"/>
                  </a:rPr>
                  <a:t> at </a:t>
                </a:r>
                <a:r>
                  <a:rPr lang="en-IN" sz="2400">
                    <a:solidFill>
                      <a:srgbClr val="111827"/>
                    </a:solidFill>
                    <a:latin typeface="Cambria Math" panose="02040503050406030204" pitchFamily="18" charset="0"/>
                  </a:rPr>
                  <a:t>$Q_1=\left(a(\sec\theta+\tan\theta),\ b(\sec\theta+\tan\theta)\right)$</a:t>
                </a:r>
                <a:r>
                  <a:rPr sz="2400" b="0">
                    <a:solidFill>
                      <a:srgbClr val="111827"/>
                    </a:solidFill>
                    <a:latin typeface="Arial"/>
                  </a:rPr>
                  <a:t> and </a:t>
                </a:r>
                <a:r>
                  <a:rPr lang="en-IN" sz="2400">
                    <a:solidFill>
                      <a:srgbClr val="111827"/>
                    </a:solidFill>
                    <a:latin typeface="Cambria Math" panose="02040503050406030204" pitchFamily="18" charset="0"/>
                  </a:rPr>
                  <a:t>$y=-\frac bax$</a:t>
                </a:r>
                <a:r>
                  <a:rPr sz="2400" b="0">
                    <a:solidFill>
                      <a:srgbClr val="111827"/>
                    </a:solidFill>
                    <a:latin typeface="Arial"/>
                  </a:rPr>
                  <a:t> at </a:t>
                </a:r>
                <a:r>
                  <a:rPr lang="en-IN" sz="2400">
                    <a:solidFill>
                      <a:srgbClr val="111827"/>
                    </a:solidFill>
                    <a:latin typeface="Cambria Math" panose="02040503050406030204" pitchFamily="18" charset="0"/>
                  </a:rPr>
                  <a:t>$Q_2=\left(a(\sec\theta-\tan\theta),\ -b(\sec\theta-\tan\theta)\right)$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Midpoint </a:t>
                </a:r>
                <a:r>
                  <a:rPr lang="en-IN" sz="2400">
                    <a:solidFill>
                      <a:srgbClr val="111827"/>
                    </a:solidFill>
                    <a:latin typeface="Cambria Math" panose="02040503050406030204" pitchFamily="18" charset="0"/>
                  </a:rPr>
                  <a:t>$=\left(a\sec\theta,\ b\tan\theta\right)=P$</a:t>
                </a:r>
                <a:r>
                  <a:rPr sz="2400" b="0">
                    <a:solidFill>
                      <a:srgbClr val="111827"/>
                    </a:solidFill>
                    <a:latin typeface="Arial"/>
                  </a:rPr>
                  <a:t>: </a:t>
                </a:r>
                <a:r>
                  <a:rPr lang="en-IN" sz="2400">
                    <a:solidFill>
                      <a:srgbClr val="111827"/>
                    </a:solidFill>
                    <a:latin typeface="Cambria Math" panose="02040503050406030204" pitchFamily="18" charset="0"/>
                  </a:rPr>
                  <a:t>$P$</a:t>
                </a:r>
                <a:r>
                  <a:rPr sz="2400" b="0">
                    <a:solidFill>
                      <a:srgbClr val="111827"/>
                    </a:solidFill>
                    <a:latin typeface="Arial"/>
                  </a:rPr>
                  <a:t> bisects </a:t>
                </a:r>
                <a:r>
                  <a:rPr lang="en-IN" sz="2400">
                    <a:solidFill>
                      <a:srgbClr val="111827"/>
                    </a:solidFill>
                    <a:latin typeface="Cambria Math" panose="02040503050406030204" pitchFamily="18" charset="0"/>
                  </a:rPr>
                  <a:t>$Q_1Q_2$</a:t>
                </a:r>
                <a:r>
                  <a:rPr sz="2400" b="0">
                    <a:solidFill>
                      <a:srgbClr val="111827"/>
                    </a:solidFill>
                    <a:latin typeface="Arial"/>
                  </a:rPr>
                  <a:t> for every </a:t>
                </a:r>
                <a:r>
                  <a:rPr lang="en-IN" sz="2400">
                    <a:solidFill>
                      <a:srgbClr val="111827"/>
                    </a:solidFill>
                    <a:latin typeface="Cambria Math" panose="02040503050406030204" pitchFamily="18" charset="0"/>
                  </a:rPr>
                  <a:t>$\theta$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t>
                </a:r>
                <a:r>
                  <a:rPr lang="en-IN" sz="2400">
                    <a:solidFill>
                      <a:srgbClr val="111827"/>
                    </a:solidFill>
                    <a:latin typeface="Cambria Math" panose="02040503050406030204" pitchFamily="18" charset="0"/>
                  </a:rPr>
                  <a:t>$\triangle CQ_1Q_2=\frac12\left|x_1y_2-x_2y_1\right|=\frac12ab\left[(\sec\theta+\tan\theta)(\sec\theta-\tan\theta)\cdot2\right]=ab$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den>
                    </m:f>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area is </a:t>
                </a:r>
                <a14:m>
                  <m:oMath xmlns:m="http://schemas.openxmlformats.org/officeDocument/2006/math">
                    <m:r>
                      <a:rPr lang="en-IN" sz="2400" i="1">
                        <a:solidFill>
                          <a:srgbClr val="111827"/>
                        </a:solidFill>
                        <a:latin typeface="Cambria Math" panose="02040503050406030204" pitchFamily="18" charset="0"/>
                      </a:rPr>
                      <m:t>30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midpoint of </a:t>
                </a:r>
                <a14:m>
                  <m:oMath xmlns:m="http://schemas.openxmlformats.org/officeDocument/2006/math">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$ab=\sqrt{45\cdot20}=30$</a:t>
                </a:r>
                <a:r>
                  <a:rPr sz="2400" b="0">
                    <a:solidFill>
                      <a:srgbClr val="111827"/>
                    </a:solidFill>
                    <a:latin typeface="Arial"/>
                  </a:rPr>
                  <a:t>. For </a:t>
                </a:r>
                <a:r>
                  <a:rPr lang="en-IN" sz="2400">
                    <a:solidFill>
                      <a:srgbClr val="111827"/>
                    </a:solidFill>
                    <a:latin typeface="Cambria Math" panose="02040503050406030204" pitchFamily="18" charset="0"/>
                  </a:rPr>
                  <a:t>$P(9,4)$</a:t>
                </a:r>
                <a:r>
                  <a:rPr sz="2400" b="0">
                    <a:solidFill>
                      <a:srgbClr val="111827"/>
                    </a:solidFill>
                    <a:latin typeface="Arial"/>
                  </a:rPr>
                  <a:t>: </a:t>
                </a:r>
                <a:r>
                  <a:rPr lang="en-IN" sz="2400">
                    <a:solidFill>
                      <a:srgbClr val="111827"/>
                    </a:solidFill>
                    <a:latin typeface="Cambria Math" panose="02040503050406030204" pitchFamily="18" charset="0"/>
                  </a:rPr>
                  <a:t>$\sec\theta=\frac{3}{\sqrt5}$</a:t>
                </a:r>
                <a:r>
                  <a:rPr sz="2400" b="0">
                    <a:solidFill>
                      <a:srgbClr val="111827"/>
                    </a:solidFill>
                    <a:latin typeface="Arial"/>
                  </a:rPr>
                  <a:t>, </a:t>
                </a:r>
                <a:r>
                  <a:rPr lang="en-IN" sz="2400">
                    <a:solidFill>
                      <a:srgbClr val="111827"/>
                    </a:solidFill>
                    <a:latin typeface="Cambria Math" panose="02040503050406030204" pitchFamily="18" charset="0"/>
                  </a:rPr>
                  <a:t>$\tan\theta=\frac{2}{\sqrt5}$</a:t>
                </a:r>
                <a:r>
                  <a:rPr sz="2400" b="0">
                    <a:solidFill>
                      <a:srgbClr val="111827"/>
                    </a:solidFill>
                    <a:latin typeface="Arial"/>
                  </a:rPr>
                  <a:t>, so </a:t>
                </a:r>
                <a:r>
                  <a:rPr lang="en-IN" sz="2400">
                    <a:solidFill>
                      <a:srgbClr val="111827"/>
                    </a:solidFill>
                    <a:latin typeface="Cambria Math" panose="02040503050406030204" pitchFamily="18" charset="0"/>
                  </a:rPr>
                  <a:t>$\sec\theta+\tan\theta=\sqrt5$</a:t>
                </a:r>
                <a:r>
                  <a:rPr sz="2400" b="0">
                    <a:solidFill>
                      <a:srgbClr val="111827"/>
                    </a:solidFill>
                    <a:latin typeface="Arial"/>
                  </a:rPr>
                  <a:t>, giving </a:t>
                </a:r>
                <a:r>
                  <a:rPr lang="en-IN" sz="2400">
                    <a:solidFill>
                      <a:srgbClr val="111827"/>
                    </a:solidFill>
                    <a:latin typeface="Cambria Math" panose="02040503050406030204" pitchFamily="18" charset="0"/>
                  </a:rPr>
                  <a:t>$R=(15,10)$</a:t>
                </a:r>
                <a:r>
                  <a:rPr sz="2400" b="0">
                    <a:solidFill>
                      <a:srgbClr val="111827"/>
                    </a:solidFill>
                    <a:latin typeface="Arial"/>
                  </a:rPr>
                  <a:t> and </a:t>
                </a:r>
                <a:r>
                  <a:rPr lang="en-IN" sz="2400">
                    <a:solidFill>
                      <a:srgbClr val="111827"/>
                    </a:solidFill>
                    <a:latin typeface="Cambria Math" panose="02040503050406030204" pitchFamily="18" charset="0"/>
                  </a:rPr>
                  <a:t>$Q=(3,-2)$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area is </a:t>
                </a:r>
                <a:r>
                  <a:rPr lang="en-IN" sz="2400">
                    <a:solidFill>
                      <a:srgbClr val="111827"/>
                    </a:solidFill>
                    <a:latin typeface="Cambria Math" panose="02040503050406030204" pitchFamily="18" charset="0"/>
                  </a:rPr>
                  <a:t>$30$</a:t>
                </a:r>
                <a:r>
                  <a:rPr sz="2400" b="0">
                    <a:solidFill>
                      <a:srgbClr val="111827"/>
                    </a:solidFill>
                    <a:latin typeface="Arial"/>
                  </a:rPr>
                  <a:t> and </a:t>
                </a:r>
                <a:r>
                  <a:rPr lang="en-IN" sz="2400">
                    <a:solidFill>
                      <a:srgbClr val="111827"/>
                    </a:solidFill>
                    <a:latin typeface="Cambria Math" panose="02040503050406030204" pitchFamily="18" charset="0"/>
                  </a:rPr>
                  <a:t>$P$</a:t>
                </a:r>
                <a:r>
                  <a:rPr sz="2400" b="0">
                    <a:solidFill>
                      <a:srgbClr val="111827"/>
                    </a:solidFill>
                    <a:latin typeface="Arial"/>
                  </a:rPr>
                  <a:t> is the midpoint of </a:t>
                </a:r>
                <a:r>
                  <a:rPr lang="en-IN" sz="2400">
                    <a:solidFill>
                      <a:srgbClr val="111827"/>
                    </a:solidFill>
                    <a:latin typeface="Cambria Math" panose="02040503050406030204" pitchFamily="18" charset="0"/>
                  </a:rPr>
                  <a:t>$QR$</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𝑄</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m:t>
                    </m:r>
                  </m:oMath>
                </a14:m>
                <a:r>
                  <a:rPr sz="2800" b="1">
                    <a:solidFill>
                      <a:srgbClr val="15803D"/>
                    </a:solidFill>
                    <a:latin typeface="Arial"/>
                  </a:rPr>
                  <a:t>, </a:t>
                </a:r>
                <a14:m>
                  <m:oMath xmlns:m="http://schemas.openxmlformats.org/officeDocument/2006/math">
                    <m:r>
                      <a:rPr lang="en-IN" sz="2800" i="1">
                        <a:solidFill>
                          <a:srgbClr val="15803D"/>
                        </a:solidFill>
                        <a:latin typeface="Cambria Math" panose="02040503050406030204" pitchFamily="18" charset="0"/>
                      </a:rPr>
                      <m:t>𝑅</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15</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10</m:t>
                    </m:r>
                    <m:r>
                      <m:rPr>
                        <m:sty m:val="p"/>
                      </m:rPr>
                      <a:rPr lang="en-IN" sz="2800">
                        <a:solidFill>
                          <a:srgbClr val="15803D"/>
                        </a:solidFill>
                        <a:latin typeface="Cambria Math" panose="02040503050406030204" pitchFamily="18" charset="0"/>
                      </a:rPr>
                      <m:t>)</m:t>
                    </m:r>
                  </m:oMath>
                </a14:m>
                <a:r>
                  <a:rPr sz="2800" b="1">
                    <a:solidFill>
                      <a:srgbClr val="15803D"/>
                    </a:solidFill>
                    <a:latin typeface="Arial"/>
                  </a:rPr>
                  <a:t>; </a:t>
                </a:r>
                <a14:m>
                  <m:oMath xmlns:m="http://schemas.openxmlformats.org/officeDocument/2006/math">
                    <m:r>
                      <a:rPr lang="en-IN" sz="2800" i="1">
                        <a:solidFill>
                          <a:srgbClr val="15803D"/>
                        </a:solidFill>
                        <a:latin typeface="Cambria Math" panose="02040503050406030204" pitchFamily="18" charset="0"/>
                      </a:rPr>
                      <m:t>𝑃</m:t>
                    </m:r>
                  </m:oMath>
                </a14:m>
                <a:r>
                  <a:rPr sz="2800" b="1">
                    <a:solidFill>
                      <a:srgbClr val="15803D"/>
                    </a:solidFill>
                    <a:latin typeface="Arial"/>
                  </a:rPr>
                  <a:t> is the midpoint of </a:t>
                </a:r>
                <a14:m>
                  <m:oMath xmlns:m="http://schemas.openxmlformats.org/officeDocument/2006/math">
                    <m:r>
                      <a:rPr lang="en-IN" sz="2800" i="1">
                        <a:solidFill>
                          <a:srgbClr val="15803D"/>
                        </a:solidFill>
                        <a:latin typeface="Cambria Math" panose="02040503050406030204" pitchFamily="18" charset="0"/>
                      </a:rPr>
                      <m:t>𝑄</m:t>
                    </m:r>
                    <m:r>
                      <a:rPr lang="en-IN" sz="2800" i="1">
                        <a:solidFill>
                          <a:srgbClr val="15803D"/>
                        </a:solidFill>
                        <a:latin typeface="Cambria Math" panose="02040503050406030204" pitchFamily="18" charset="0"/>
                      </a:rPr>
                      <m:t>𝑅</m:t>
                    </m:r>
                  </m:oMath>
                </a14:m>
                <a:r>
                  <a:rPr sz="2800" b="1">
                    <a:solidFill>
                      <a:srgbClr val="15803D"/>
                    </a:solidFill>
                    <a:latin typeface="Arial"/>
                  </a:rPr>
                  <a:t>; area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30</m:t>
                    </m:r>
                  </m:oMath>
                </a14:m>
                <a:r>
                  <a:rPr sz="2800" b="1">
                    <a:solidFill>
                      <a:srgbClr val="15803D"/>
                    </a:solidFill>
                    <a:latin typeface="Arial"/>
                  </a:rPr>
                  <a:t> sq. units</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$Q(3,-2)$</a:t>
                </a:r>
                <a:r>
                  <a:rPr sz="2800" b="1">
                    <a:solidFill>
                      <a:srgbClr val="15803D"/>
                    </a:solidFill>
                    <a:latin typeface="Arial"/>
                  </a:rPr>
                  <a:t>, </a:t>
                </a:r>
                <a:r>
                  <a:rPr lang="en-IN" sz="2800">
                    <a:solidFill>
                      <a:srgbClr val="15803D"/>
                    </a:solidFill>
                    <a:latin typeface="Cambria Math" panose="02040503050406030204" pitchFamily="18" charset="0"/>
                  </a:rPr>
                  <a:t>$R(15,10)$</a:t>
                </a:r>
                <a:r>
                  <a:rPr sz="2800" b="1">
                    <a:solidFill>
                      <a:srgbClr val="15803D"/>
                    </a:solidFill>
                    <a:latin typeface="Arial"/>
                  </a:rPr>
                  <a:t>; </a:t>
                </a:r>
                <a:r>
                  <a:rPr lang="en-IN" sz="2800">
                    <a:solidFill>
                      <a:srgbClr val="15803D"/>
                    </a:solidFill>
                    <a:latin typeface="Cambria Math" panose="02040503050406030204" pitchFamily="18" charset="0"/>
                  </a:rPr>
                  <a:t>$P$</a:t>
                </a:r>
                <a:r>
                  <a:rPr sz="2800" b="1">
                    <a:solidFill>
                      <a:srgbClr val="15803D"/>
                    </a:solidFill>
                    <a:latin typeface="Arial"/>
                  </a:rPr>
                  <a:t> is the midpoint of </a:t>
                </a:r>
                <a:r>
                  <a:rPr lang="en-IN" sz="2800">
                    <a:solidFill>
                      <a:srgbClr val="15803D"/>
                    </a:solidFill>
                    <a:latin typeface="Cambria Math" panose="02040503050406030204" pitchFamily="18" charset="0"/>
                  </a:rPr>
                  <a:t>$QR$</a:t>
                </a:r>
                <a:r>
                  <a:rPr sz="2800" b="1">
                    <a:solidFill>
                      <a:srgbClr val="15803D"/>
                    </a:solidFill>
                    <a:latin typeface="Arial"/>
                  </a:rPr>
                  <a:t>; area </a:t>
                </a:r>
                <a:r>
                  <a:rPr lang="en-IN" sz="2800">
                    <a:solidFill>
                      <a:srgbClr val="15803D"/>
                    </a:solidFill>
                    <a:latin typeface="Cambria Math" panose="02040503050406030204" pitchFamily="18" charset="0"/>
                  </a:rPr>
                  <a:t>$=30$</a:t>
                </a:r>
                <a:r>
                  <a:rPr sz="2800" b="1">
                    <a:solidFill>
                      <a:srgbClr val="15803D"/>
                    </a:solidFill>
                    <a:latin typeface="Arial"/>
                  </a:rPr>
                  <a:t> sq. units</a:t>
                </a:r>
                <a:endParaRPr sz="2800">
                  <a:solidFill>
                    <a:srgbClr val="15803D"/>
                  </a:solidFill>
                </a:endParaRPr>
              </a:p>
            </p:txBody>
          </p:sp>
        </mc:Fallback>
      </mc:AlternateContent>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part of any tangent between the asymptotes is bisected at the point of contact.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formed by a tangent and the two asymptotes has constant area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Asymptotes: replace the constant of the equation by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$\frac{x^2}{a^2}-\frac{y^2}{b^2}=1$</a:t>
                </a:r>
                <a:r>
                  <a:rPr sz="2400" b="0">
                    <a:solidFill>
                      <a:srgbClr val="111827"/>
                    </a:solidFill>
                    <a:latin typeface="Arial"/>
                  </a:rPr>
                  <a:t> the part of any tangent between the asymptotes is bisected at the point of contact.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formed by a tangent and the two asymptotes has constant area </a:t>
                </a:r>
                <a:r>
                  <a:rPr lang="en-IN" sz="2400">
                    <a:solidFill>
                      <a:srgbClr val="111827"/>
                    </a:solidFill>
                    <a:latin typeface="Cambria Math" panose="02040503050406030204" pitchFamily="18" charset="0"/>
                  </a:rPr>
                  <a:t>$ab$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Asymptotes: replace the constant of the equation by </a:t>
                </a:r>
                <a:r>
                  <a:rPr lang="en-IN" sz="2400">
                    <a:solidFill>
                      <a:srgbClr val="111827"/>
                    </a:solidFill>
                    <a:latin typeface="Cambria Math" panose="02040503050406030204" pitchFamily="18" charset="0"/>
                  </a:rPr>
                  <a:t>$0$</a:t>
                </a:r>
                <a:r>
                  <a:rPr sz="2400" b="0">
                    <a:solidFill>
                      <a:srgbClr val="111827"/>
                    </a:solidFill>
                    <a:latin typeface="Arial"/>
                  </a:rPr>
                  <a:t>: </a:t>
                </a:r>
                <a:r>
                  <a:rPr lang="en-IN" sz="2400">
                    <a:solidFill>
                      <a:srgbClr val="111827"/>
                    </a:solidFill>
                    <a:latin typeface="Cambria Math" panose="02040503050406030204" pitchFamily="18" charset="0"/>
                  </a:rPr>
                  <a:t>$\frac{x^2}{a^2}-\frac{y^2}{b^2}=0$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$(x_1,y_1)$</a:t>
                </a:r>
                <a:r>
                  <a:rPr sz="2400" b="0">
                    <a:solidFill>
                      <a:srgbClr val="111827"/>
                    </a:solidFill>
                    <a:latin typeface="Arial"/>
                  </a:rPr>
                  <a:t> to </a:t>
                </a:r>
                <a:r>
                  <a:rPr lang="en-IN" sz="2400">
                    <a:solidFill>
                      <a:srgbClr val="111827"/>
                    </a:solidFill>
                    <a:latin typeface="Cambria Math" panose="02040503050406030204" pitchFamily="18" charset="0"/>
                  </a:rPr>
                  <a:t>$4x^2-9y^2=180$</a:t>
                </a:r>
                <a:r>
                  <a:rPr sz="2400" b="0">
                    <a:solidFill>
                      <a:srgbClr val="111827"/>
                    </a:solidFill>
                    <a:latin typeface="Arial"/>
                  </a:rPr>
                  <a:t>: </a:t>
                </a:r>
                <a:r>
                  <a:rPr lang="en-IN" sz="2400">
                    <a:solidFill>
                      <a:srgbClr val="111827"/>
                    </a:solidFill>
                    <a:latin typeface="Cambria Math" panose="02040503050406030204" pitchFamily="18" charset="0"/>
                  </a:rPr>
                  <a:t>$4x_1x-9y_1y=180$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470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on the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meets one of the asymptotes in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If the locus of the mid-point of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a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oMath>
                </a14:m>
                <a:r>
                  <a:rPr sz="2400" b="0">
                    <a:solidFill>
                      <a:srgbClr val="111827"/>
                    </a:solidFill>
                    <a:latin typeface="Arial"/>
                  </a:rPr>
                  <a:t>, find the value of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4470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tangent at </a:t>
                </a:r>
                <a:r>
                  <a:rPr lang="en-IN" sz="2400">
                    <a:solidFill>
                      <a:srgbClr val="111827"/>
                    </a:solidFill>
                    <a:latin typeface="Cambria Math" panose="02040503050406030204" pitchFamily="18" charset="0"/>
                  </a:rPr>
                  <a:t>$P$</a:t>
                </a:r>
                <a:r>
                  <a:rPr sz="2400" b="0">
                    <a:solidFill>
                      <a:srgbClr val="111827"/>
                    </a:solidFill>
                    <a:latin typeface="Arial"/>
                  </a:rPr>
                  <a:t> on the hyperbola </a:t>
                </a:r>
                <a:r>
                  <a:rPr lang="en-IN" sz="2400">
                    <a:solidFill>
                      <a:srgbClr val="111827"/>
                    </a:solidFill>
                    <a:latin typeface="Cambria Math" panose="02040503050406030204" pitchFamily="18" charset="0"/>
                  </a:rPr>
                  <a:t>$\frac{x^2}{a^2}-\frac{y^2}{b^2}=1$</a:t>
                </a:r>
                <a:r>
                  <a:rPr sz="2400" b="0">
                    <a:solidFill>
                      <a:srgbClr val="111827"/>
                    </a:solidFill>
                    <a:latin typeface="Arial"/>
                  </a:rPr>
                  <a:t> meets one of the asymptotes in </a:t>
                </a:r>
                <a:r>
                  <a:rPr lang="en-IN" sz="2400">
                    <a:solidFill>
                      <a:srgbClr val="111827"/>
                    </a:solidFill>
                    <a:latin typeface="Cambria Math" panose="02040503050406030204" pitchFamily="18" charset="0"/>
                  </a:rPr>
                  <a:t>$Q$</a:t>
                </a:r>
                <a:r>
                  <a:rPr sz="2400" b="0">
                    <a:solidFill>
                      <a:srgbClr val="111827"/>
                    </a:solidFill>
                    <a:latin typeface="Arial"/>
                  </a:rPr>
                  <a:t>. If the locus of the mid-point of </a:t>
                </a:r>
                <a:r>
                  <a:rPr lang="en-IN" sz="2400">
                    <a:solidFill>
                      <a:srgbClr val="111827"/>
                    </a:solidFill>
                    <a:latin typeface="Cambria Math" panose="02040503050406030204" pitchFamily="18" charset="0"/>
                  </a:rPr>
                  <a:t>$PQ$</a:t>
                </a:r>
                <a:r>
                  <a:rPr sz="2400" b="0">
                    <a:solidFill>
                      <a:srgbClr val="111827"/>
                    </a:solidFill>
                    <a:latin typeface="Arial"/>
                  </a:rPr>
                  <a:t> is a hyperbola </a:t>
                </a:r>
                <a:r>
                  <a:rPr lang="en-IN" sz="2400">
                    <a:solidFill>
                      <a:srgbClr val="111827"/>
                    </a:solidFill>
                    <a:latin typeface="Cambria Math" panose="02040503050406030204" pitchFamily="18" charset="0"/>
                  </a:rPr>
                  <a:t>$\frac{x^2}{a^2}-\frac{y^2}{b^2}=\lambda$</a:t>
                </a:r>
                <a:r>
                  <a:rPr sz="2400" b="0">
                    <a:solidFill>
                      <a:srgbClr val="111827"/>
                    </a:solidFill>
                    <a:latin typeface="Arial"/>
                  </a:rPr>
                  <a:t>, find the value of </a:t>
                </a:r>
                <a:r>
                  <a:rPr lang="en-IN" sz="2400">
                    <a:solidFill>
                      <a:srgbClr val="111827"/>
                    </a:solidFill>
                    <a:latin typeface="Cambria Math" panose="02040503050406030204" pitchFamily="18" charset="0"/>
                  </a:rPr>
                  <a:t>$4\lambda$</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955795"/>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to a hyperbola and its asymptotes (locus of a midpoint), Locus using parametric coordinates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In the parametrisation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sec</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on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𝑏</m:t>
                        </m:r>
                      </m:num>
                      <m:den>
                        <m:r>
                          <a:rPr lang="en-IN" sz="2400" i="1">
                            <a:solidFill>
                              <a:srgbClr val="78350F"/>
                            </a:solidFill>
                            <a:latin typeface="Cambria Math" panose="02040503050406030204" pitchFamily="18" charset="0"/>
                          </a:rPr>
                          <m:t>𝑎</m:t>
                        </m:r>
                      </m:den>
                    </m:f>
                    <m:r>
                      <a:rPr lang="en-IN" sz="2400" i="1">
                        <a:solidFill>
                          <a:srgbClr val="78350F"/>
                        </a:solidFill>
                        <a:latin typeface="Cambria Math" panose="02040503050406030204" pitchFamily="18" charset="0"/>
                      </a:rPr>
                      <m:t>𝑥</m:t>
                    </m:r>
                  </m:oMath>
                </a14:m>
                <a:r>
                  <a:rPr sz="2400" b="0">
                    <a:solidFill>
                      <a:srgbClr val="78350F"/>
                    </a:solidFill>
                    <a:latin typeface="Arial"/>
                  </a:rPr>
                  <a:t> is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sec</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sec</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e>
                    </m:d>
                  </m:oMath>
                </a14:m>
                <a:r>
                  <a:rPr sz="2400" b="0">
                    <a:solidFill>
                      <a:srgbClr val="78350F"/>
                    </a:solidFill>
                    <a:latin typeface="Arial"/>
                  </a:rPr>
                  <a:t>; the midpoint's coordinates give </a:t>
                </a:r>
                <a14:m>
                  <m:oMath xmlns:m="http://schemas.openxmlformats.org/officeDocument/2006/math">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num>
                      <m:den>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num>
                      <m:den>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num>
                      <m:den>
                        <m:r>
                          <a:rPr lang="en-IN" sz="2400" i="1">
                            <a:solidFill>
                              <a:srgbClr val="78350F"/>
                            </a:solidFill>
                            <a:latin typeface="Cambria Math" panose="02040503050406030204" pitchFamily="18" charset="0"/>
                          </a:rPr>
                          <m:t>4</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In the parametrisation </a:t>
                </a:r>
                <a:r>
                  <a:rPr lang="en-IN" sz="2400">
                    <a:solidFill>
                      <a:srgbClr val="78350F"/>
                    </a:solidFill>
                    <a:latin typeface="Cambria Math" panose="02040503050406030204" pitchFamily="18" charset="0"/>
                  </a:rPr>
                  <a:t>$P(a\sec\theta,b\tan\theta)$</a:t>
                </a:r>
                <a:r>
                  <a:rPr sz="2400" b="0">
                    <a:solidFill>
                      <a:srgbClr val="78350F"/>
                    </a:solidFill>
                    <a:latin typeface="Arial"/>
                  </a:rPr>
                  <a:t>, </a:t>
                </a:r>
                <a:r>
                  <a:rPr lang="en-IN" sz="2400">
                    <a:solidFill>
                      <a:srgbClr val="78350F"/>
                    </a:solidFill>
                    <a:latin typeface="Cambria Math" panose="02040503050406030204" pitchFamily="18" charset="0"/>
                  </a:rPr>
                  <a:t>$Q$</a:t>
                </a:r>
                <a:r>
                  <a:rPr sz="2400" b="0">
                    <a:solidFill>
                      <a:srgbClr val="78350F"/>
                    </a:solidFill>
                    <a:latin typeface="Arial"/>
                  </a:rPr>
                  <a:t> on </a:t>
                </a:r>
                <a:r>
                  <a:rPr lang="en-IN" sz="2400">
                    <a:solidFill>
                      <a:srgbClr val="78350F"/>
                    </a:solidFill>
                    <a:latin typeface="Cambria Math" panose="02040503050406030204" pitchFamily="18" charset="0"/>
                  </a:rPr>
                  <a:t>$y=\frac bax$</a:t>
                </a:r>
                <a:r>
                  <a:rPr sz="2400" b="0">
                    <a:solidFill>
                      <a:srgbClr val="78350F"/>
                    </a:solidFill>
                    <a:latin typeface="Arial"/>
                  </a:rPr>
                  <a:t> is </a:t>
                </a:r>
                <a:r>
                  <a:rPr lang="en-IN" sz="2400">
                    <a:solidFill>
                      <a:srgbClr val="78350F"/>
                    </a:solidFill>
                    <a:latin typeface="Cambria Math" panose="02040503050406030204" pitchFamily="18" charset="0"/>
                  </a:rPr>
                  <a:t>$\left(a(\sec\theta+\tan\theta),b(\sec\theta+\tan\theta)\right)$</a:t>
                </a:r>
                <a:r>
                  <a:rPr sz="2400" b="0">
                    <a:solidFill>
                      <a:srgbClr val="78350F"/>
                    </a:solidFill>
                    <a:latin typeface="Arial"/>
                  </a:rPr>
                  <a:t>; the midpoint's coordinates give </a:t>
                </a:r>
                <a:r>
                  <a:rPr lang="en-IN" sz="2400">
                    <a:solidFill>
                      <a:srgbClr val="78350F"/>
                    </a:solidFill>
                    <a:latin typeface="Cambria Math" panose="02040503050406030204" pitchFamily="18" charset="0"/>
                  </a:rPr>
                  <a:t>$\frac{x^2}{a^2}-\frac{y^2}{b^2}=\frac34$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hyperbola equations are grey boxes and no working is shown; the standard hyperbola and the locus form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oMath>
                </a14:m>
                <a:r>
                  <a:rPr sz="2400" b="0">
                    <a:solidFill>
                      <a:srgbClr val="111827"/>
                    </a:solidFill>
                    <a:latin typeface="Arial"/>
                  </a:rPr>
                  <a:t> are assumed, and the solution is written here.) 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tangent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a:rPr lang="en-IN" sz="2400" i="1">
                        <a:solidFill>
                          <a:srgbClr val="111827"/>
                        </a:solidFill>
                        <a:latin typeface="Cambria Math" panose="02040503050406030204" pitchFamily="18" charset="0"/>
                      </a:rPr>
                      <m:t>𝑥</m:t>
                    </m:r>
                  </m:oMath>
                </a14:m>
                <a:r>
                  <a:rPr sz="2400" b="0">
                    <a:solidFill>
                      <a:srgbClr val="111827"/>
                    </a:solidFill>
                    <a:latin typeface="Arial"/>
                  </a:rPr>
                  <a:t>: substitute: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hyperbola equations are grey boxes and no working is shown; the standard hyperbola and the locus form </a:t>
                </a:r>
                <a:r>
                  <a:rPr lang="en-IN" sz="2400">
                    <a:solidFill>
                      <a:srgbClr val="111827"/>
                    </a:solidFill>
                    <a:latin typeface="Cambria Math" panose="02040503050406030204" pitchFamily="18" charset="0"/>
                  </a:rPr>
                  <a:t>$\frac{x^2}{a^2}-\frac{y^2}{b^2}=\lambda$</a:t>
                </a:r>
                <a:r>
                  <a:rPr sz="2400" b="0">
                    <a:solidFill>
                      <a:srgbClr val="111827"/>
                    </a:solidFill>
                    <a:latin typeface="Arial"/>
                  </a:rPr>
                  <a:t> are assumed, and the solution is written here.) Let </a:t>
                </a:r>
                <a:r>
                  <a:rPr lang="en-IN" sz="2400">
                    <a:solidFill>
                      <a:srgbClr val="111827"/>
                    </a:solidFill>
                    <a:latin typeface="Cambria Math" panose="02040503050406030204" pitchFamily="18" charset="0"/>
                  </a:rPr>
                  <a:t>$P=(a\sec\theta,b\tan\theta)$</a:t>
                </a:r>
                <a:r>
                  <a:rPr sz="2400" b="0">
                    <a:solidFill>
                      <a:srgbClr val="111827"/>
                    </a:solidFill>
                    <a:latin typeface="Arial"/>
                  </a:rPr>
                  <a:t>; tangent </a:t>
                </a:r>
                <a:r>
                  <a:rPr lang="en-IN" sz="2400">
                    <a:solidFill>
                      <a:srgbClr val="111827"/>
                    </a:solidFill>
                    <a:latin typeface="Cambria Math" panose="02040503050406030204" pitchFamily="18" charset="0"/>
                  </a:rPr>
                  <a:t>$\frac{x\sec\theta}{a}-\frac{y\tan\theta}{b}=1$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 </a:t>
                </a:r>
                <a:r>
                  <a:rPr lang="en-IN" sz="2400">
                    <a:solidFill>
                      <a:srgbClr val="111827"/>
                    </a:solidFill>
                    <a:latin typeface="Cambria Math" panose="02040503050406030204" pitchFamily="18" charset="0"/>
                  </a:rPr>
                  <a:t>$y=\frac bax$</a:t>
                </a:r>
                <a:r>
                  <a:rPr sz="2400" b="0">
                    <a:solidFill>
                      <a:srgbClr val="111827"/>
                    </a:solidFill>
                    <a:latin typeface="Arial"/>
                  </a:rPr>
                  <a:t>: substitute: </a:t>
                </a:r>
                <a:r>
                  <a:rPr lang="en-IN" sz="2400">
                    <a:solidFill>
                      <a:srgbClr val="111827"/>
                    </a:solidFill>
                    <a:latin typeface="Cambria Math" panose="02040503050406030204" pitchFamily="18" charset="0"/>
                  </a:rPr>
                  <a:t>$\frac{x}{a}(\sec\theta-\tan\theta)=1$</a:t>
                </a:r>
                <a:r>
                  <a:rPr sz="2400" b="0">
                    <a:solidFill>
                      <a:srgbClr val="111827"/>
                    </a:solidFill>
                    <a:latin typeface="Arial"/>
                  </a:rPr>
                  <a:t>, so </a:t>
                </a:r>
                <a:r>
                  <a:rPr lang="en-IN" sz="2400">
                    <a:solidFill>
                      <a:srgbClr val="111827"/>
                    </a:solidFill>
                    <a:latin typeface="Cambria Math" panose="02040503050406030204" pitchFamily="18" charset="0"/>
                  </a:rPr>
                  <a:t>$x=a(\sec\theta+\tan\theta)$</a:t>
                </a:r>
                <a:r>
                  <a:rPr sz="2400" b="0">
                    <a:solidFill>
                      <a:srgbClr val="111827"/>
                    </a:solidFill>
                    <a:latin typeface="Arial"/>
                  </a:rPr>
                  <a:t> and </a:t>
                </a:r>
                <a:r>
                  <a:rPr lang="en-IN" sz="2400">
                    <a:solidFill>
                      <a:srgbClr val="111827"/>
                    </a:solidFill>
                    <a:latin typeface="Cambria Math" panose="02040503050406030204" pitchFamily="18" charset="0"/>
                  </a:rPr>
                  <a:t>$Q=\left(a(\sec\theta+\tan\theta),\ b(\sec\theta+\tan\theta)\right)$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Midpoint of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sec</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locus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(the other asymptote gives the same locus), 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Midpoint of </a:t>
                </a:r>
                <a:r>
                  <a:rPr lang="en-IN" sz="2400">
                    <a:solidFill>
                      <a:srgbClr val="111827"/>
                    </a:solidFill>
                    <a:latin typeface="Cambria Math" panose="02040503050406030204" pitchFamily="18" charset="0"/>
                  </a:rPr>
                  <a:t>$PQ$</a:t>
                </a:r>
                <a:r>
                  <a:rPr sz="2400" b="0">
                    <a:solidFill>
                      <a:srgbClr val="111827"/>
                    </a:solidFill>
                    <a:latin typeface="Arial"/>
                  </a:rPr>
                  <a:t> </a:t>
                </a:r>
                <a:r>
                  <a:rPr lang="en-IN" sz="2400">
                    <a:solidFill>
                      <a:srgbClr val="111827"/>
                    </a:solidFill>
                    <a:latin typeface="Cambria Math" panose="02040503050406030204" pitchFamily="18" charset="0"/>
                  </a:rPr>
                  <a:t>$=(h,k)$</a:t>
                </a:r>
                <a:r>
                  <a:rPr sz="2400" b="0">
                    <a:solidFill>
                      <a:srgbClr val="111827"/>
                    </a:solidFill>
                    <a:latin typeface="Arial"/>
                  </a:rPr>
                  <a:t> with </a:t>
                </a:r>
                <a:r>
                  <a:rPr lang="en-IN" sz="2400">
                    <a:solidFill>
                      <a:srgbClr val="111827"/>
                    </a:solidFill>
                    <a:latin typeface="Cambria Math" panose="02040503050406030204" pitchFamily="18" charset="0"/>
                  </a:rPr>
                  <a:t>$h=\frac a2(2\sec\theta+\tan\theta)$</a:t>
                </a:r>
                <a:r>
                  <a:rPr sz="2400" b="0">
                    <a:solidFill>
                      <a:srgbClr val="111827"/>
                    </a:solidFill>
                    <a:latin typeface="Arial"/>
                  </a:rPr>
                  <a:t> and </a:t>
                </a:r>
                <a:r>
                  <a:rPr lang="en-IN" sz="2400">
                    <a:solidFill>
                      <a:srgbClr val="111827"/>
                    </a:solidFill>
                    <a:latin typeface="Cambria Math" panose="02040503050406030204" pitchFamily="18" charset="0"/>
                  </a:rPr>
                  <a:t>$k=\frac b2(\sec\theta+2\tan\theta)$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$\frac{h^2}{a^2}-\frac{k^2}{b^2}=\frac14\left[(2\sec\theta+\tan\theta)^2-(\sec\theta+2\tan\theta)^2\right]=\frac14\left[3\sec^2\theta-3\tan^2\theta\right]=\frac34$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locus is </a:t>
                </a:r>
                <a:r>
                  <a:rPr lang="en-IN" sz="2400">
                    <a:solidFill>
                      <a:srgbClr val="111827"/>
                    </a:solidFill>
                    <a:latin typeface="Cambria Math" panose="02040503050406030204" pitchFamily="18" charset="0"/>
                  </a:rPr>
                  <a:t>$\frac{x^2}{a^2}-\frac{y^2}{b^2}=\frac34$</a:t>
                </a:r>
                <a:r>
                  <a:rPr sz="2400" b="0">
                    <a:solidFill>
                      <a:srgbClr val="111827"/>
                    </a:solidFill>
                    <a:latin typeface="Arial"/>
                  </a:rPr>
                  <a:t> (the other asymptote gives the same locus), so </a:t>
                </a:r>
                <a:r>
                  <a:rPr lang="en-IN" sz="2400">
                    <a:solidFill>
                      <a:srgbClr val="111827"/>
                    </a:solidFill>
                    <a:latin typeface="Cambria Math" panose="02040503050406030204" pitchFamily="18" charset="0"/>
                  </a:rPr>
                  <a:t>$\lambda=\frac34$</a:t>
                </a:r>
                <a:r>
                  <a:rPr sz="2400" b="0">
                    <a:solidFill>
                      <a:srgbClr val="111827"/>
                    </a:solidFill>
                    <a:latin typeface="Arial"/>
                  </a:rPr>
                  <a:t> and </a:t>
                </a:r>
                <a:r>
                  <a:rPr lang="en-IN" sz="2400">
                    <a:solidFill>
                      <a:srgbClr val="111827"/>
                    </a:solidFill>
                    <a:latin typeface="Cambria Math" panose="02040503050406030204" pitchFamily="18" charset="0"/>
                  </a:rPr>
                  <a:t>$4\lambda=3$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3</m:t>
                    </m:r>
                  </m:oMath>
                </a14:m>
                <a:r>
                  <a:rPr sz="2800" b="1">
                    <a:solidFill>
                      <a:srgbClr val="15803D"/>
                    </a:solidFill>
                    <a:latin typeface="Arial"/>
                  </a:rPr>
                  <a:t> (the locus is </a:t>
                </a:r>
                <a14:m>
                  <m:oMath xmlns:m="http://schemas.openxmlformats.org/officeDocument/2006/math">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num>
                      <m:den>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num>
                      <m:den>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4</m:t>
                        </m:r>
                      </m:den>
                    </m:f>
                  </m:oMath>
                </a14:m>
                <a:r>
                  <a:rPr sz="2800" b="1">
                    <a:solidFill>
                      <a:srgbClr val="15803D"/>
                    </a:solidFill>
                    <a:latin typeface="Arial"/>
                  </a:rPr>
                  <a:t>)</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$3$</a:t>
                </a:r>
                <a:r>
                  <a:rPr sz="2800" b="1">
                    <a:solidFill>
                      <a:srgbClr val="15803D"/>
                    </a:solidFill>
                    <a:latin typeface="Arial"/>
                  </a:rPr>
                  <a:t> (the locus is </a:t>
                </a:r>
                <a:r>
                  <a:rPr lang="en-IN" sz="2800">
                    <a:solidFill>
                      <a:srgbClr val="15803D"/>
                    </a:solidFill>
                    <a:latin typeface="Cambria Math" panose="02040503050406030204" pitchFamily="18" charset="0"/>
                  </a:rPr>
                  <a:t>$\frac{x^2}{a^2}-\frac{y^2}{b^2}=\frac34$</a:t>
                </a:r>
                <a:r>
                  <a:rPr sz="2800" b="1">
                    <a:solidFill>
                      <a:srgbClr val="15803D"/>
                    </a:solidFill>
                    <a:latin typeface="Arial"/>
                  </a:rPr>
                  <a:t>)</a:t>
                </a:r>
                <a:endParaRPr sz="2800">
                  <a:solidFill>
                    <a:srgbClr val="15803D"/>
                  </a:solidFill>
                </a:endParaRPr>
              </a:p>
            </p:txBody>
          </p:sp>
        </mc:Fallback>
      </mc:AlternateContent>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asymptote-coordinates </a:t>
                </a:r>
                <a14:m>
                  <m:oMath xmlns:m="http://schemas.openxmlformats.org/officeDocument/2006/math">
                    <m:r>
                      <a:rPr lang="en-IN" sz="2400" i="1">
                        <a:solidFill>
                          <a:srgbClr val="78350F"/>
                        </a:solidFill>
                        <a:latin typeface="Cambria Math" panose="02040503050406030204" pitchFamily="18" charset="0"/>
                      </a:rPr>
                      <m:t>𝑈</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𝑥</m:t>
                        </m:r>
                      </m:num>
                      <m:den>
                        <m:r>
                          <a:rPr lang="en-IN" sz="2400" i="1">
                            <a:solidFill>
                              <a:srgbClr val="78350F"/>
                            </a:solidFill>
                            <a:latin typeface="Cambria Math" panose="02040503050406030204" pitchFamily="18" charset="0"/>
                          </a:rPr>
                          <m:t>𝑎</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𝑏</m:t>
                        </m:r>
                      </m:den>
                    </m:f>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𝑥</m:t>
                        </m:r>
                      </m:num>
                      <m:den>
                        <m:r>
                          <a:rPr lang="en-IN" sz="2400" i="1">
                            <a:solidFill>
                              <a:srgbClr val="78350F"/>
                            </a:solidFill>
                            <a:latin typeface="Cambria Math" panose="02040503050406030204" pitchFamily="18" charset="0"/>
                          </a:rPr>
                          <m:t>𝑎</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𝑏</m:t>
                        </m:r>
                      </m:den>
                    </m:f>
                  </m:oMath>
                </a14:m>
                <a:r>
                  <a:rPr sz="2400" b="0">
                    <a:solidFill>
                      <a:srgbClr val="78350F"/>
                    </a:solidFill>
                    <a:latin typeface="Arial"/>
                  </a:rPr>
                  <a:t>: the hyperbola is </a:t>
                </a:r>
                <a14:m>
                  <m:oMath xmlns:m="http://schemas.openxmlformats.org/officeDocument/2006/math">
                    <m:r>
                      <a:rPr lang="en-IN" sz="2400" i="1">
                        <a:solidFill>
                          <a:srgbClr val="78350F"/>
                        </a:solidFill>
                        <a:latin typeface="Cambria Math" panose="02040503050406030204" pitchFamily="18" charset="0"/>
                      </a:rPr>
                      <m:t>𝑈</m:t>
                    </m:r>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the asymptotes are </a:t>
                </a:r>
                <a14:m>
                  <m:oMath xmlns:m="http://schemas.openxmlformats.org/officeDocument/2006/math">
                    <m:r>
                      <a:rPr lang="en-IN" sz="2400" i="1">
                        <a:solidFill>
                          <a:srgbClr val="78350F"/>
                        </a:solidFill>
                        <a:latin typeface="Cambria Math" panose="02040503050406030204" pitchFamily="18" charset="0"/>
                      </a:rPr>
                      <m:t>𝑈</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and midpoints are preserved by this linear map.</a:t>
                </a:r>
                <a:endParaRPr sz="2400">
                  <a:solidFill>
                    <a:srgbClr val="78350F"/>
                  </a:solidFill>
                </a:endParaRPr>
              </a:p>
            </p:txBody>
          </p:sp>
        </mc:Choice>
        <mc:Fallback>
          <p:sp>
            <p:nvSpPr>
              <p:cNvPr id="5" name="Rounded Rectangle 4"/>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asymptote-coordinates </a:t>
                </a:r>
                <a:r>
                  <a:rPr lang="en-IN" sz="2400">
                    <a:solidFill>
                      <a:srgbClr val="78350F"/>
                    </a:solidFill>
                    <a:latin typeface="Cambria Math" panose="02040503050406030204" pitchFamily="18" charset="0"/>
                  </a:rPr>
                  <a:t>$U=\frac xa+\frac yb$</a:t>
                </a:r>
                <a:r>
                  <a:rPr sz="2400" b="0">
                    <a:solidFill>
                      <a:srgbClr val="78350F"/>
                    </a:solidFill>
                    <a:latin typeface="Arial"/>
                  </a:rPr>
                  <a:t>, </a:t>
                </a:r>
                <a:r>
                  <a:rPr lang="en-IN" sz="2400">
                    <a:solidFill>
                      <a:srgbClr val="78350F"/>
                    </a:solidFill>
                    <a:latin typeface="Cambria Math" panose="02040503050406030204" pitchFamily="18" charset="0"/>
                  </a:rPr>
                  <a:t>$V=\frac xa-\frac yb$</a:t>
                </a:r>
                <a:r>
                  <a:rPr sz="2400" b="0">
                    <a:solidFill>
                      <a:srgbClr val="78350F"/>
                    </a:solidFill>
                    <a:latin typeface="Arial"/>
                  </a:rPr>
                  <a:t>: the hyperbola is </a:t>
                </a:r>
                <a:r>
                  <a:rPr lang="en-IN" sz="2400">
                    <a:solidFill>
                      <a:srgbClr val="78350F"/>
                    </a:solidFill>
                    <a:latin typeface="Cambria Math" panose="02040503050406030204" pitchFamily="18" charset="0"/>
                  </a:rPr>
                  <a:t>$UV=1$</a:t>
                </a:r>
                <a:r>
                  <a:rPr sz="2400" b="0">
                    <a:solidFill>
                      <a:srgbClr val="78350F"/>
                    </a:solidFill>
                    <a:latin typeface="Arial"/>
                  </a:rPr>
                  <a:t>, the asymptotes are </a:t>
                </a:r>
                <a:r>
                  <a:rPr lang="en-IN" sz="2400">
                    <a:solidFill>
                      <a:srgbClr val="78350F"/>
                    </a:solidFill>
                    <a:latin typeface="Cambria Math" panose="02040503050406030204" pitchFamily="18" charset="0"/>
                  </a:rPr>
                  <a:t>$U=0,\ V=0$</a:t>
                </a:r>
                <a:r>
                  <a:rPr sz="2400" b="0">
                    <a:solidFill>
                      <a:srgbClr val="78350F"/>
                    </a:solidFill>
                    <a:latin typeface="Arial"/>
                  </a:rPr>
                  <a:t>, and midpoints are preserved by this linear map.</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a:rPr lang="en-IN" sz="2400" i="1">
                        <a:solidFill>
                          <a:srgbClr val="111827"/>
                        </a:solidFill>
                        <a:latin typeface="Cambria Math" panose="02040503050406030204" pitchFamily="18" charset="0"/>
                      </a:rPr>
                      <m:t>𝑉</m:t>
                    </m:r>
                  </m:oMath>
                </a14:m>
                <a:r>
                  <a:rPr sz="2400" b="0">
                    <a:solidFill>
                      <a:srgbClr val="111827"/>
                    </a:solidFill>
                    <a:latin typeface="Arial"/>
                  </a:rPr>
                  <a:t>, so the hyperbola becomes </a:t>
                </a:r>
                <a14:m>
                  <m:oMath xmlns:m="http://schemas.openxmlformats.org/officeDocument/2006/math">
                    <m:r>
                      <a:rPr lang="en-IN" sz="2400" i="1">
                        <a:solidFill>
                          <a:srgbClr val="111827"/>
                        </a:solidFill>
                        <a:latin typeface="Cambria Math" panose="02040503050406030204" pitchFamily="18" charset="0"/>
                      </a:rPr>
                      <m:t>𝑈</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asymptotes become the axes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𝑡</m:t>
                        </m:r>
                      </m:den>
                    </m:f>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tangent to </a:t>
                </a:r>
                <a14:m>
                  <m:oMath xmlns:m="http://schemas.openxmlformats.org/officeDocument/2006/math">
                    <m:r>
                      <a:rPr lang="en-IN" sz="2400" i="1">
                        <a:solidFill>
                          <a:srgbClr val="111827"/>
                        </a:solidFill>
                        <a:latin typeface="Cambria Math" panose="02040503050406030204" pitchFamily="18" charset="0"/>
                      </a:rPr>
                      <m:t>𝑈</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𝑈</m:t>
                        </m:r>
                      </m:num>
                      <m:den>
                        <m:r>
                          <a:rPr lang="en-IN" sz="2400" i="1">
                            <a:solidFill>
                              <a:srgbClr val="111827"/>
                            </a:solidFill>
                            <a:latin typeface="Cambria Math" panose="02040503050406030204" pitchFamily="18" charset="0"/>
                          </a:rPr>
                          <m:t>𝑡</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It meets the asymptote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$\frac{x^2}{a^2}-\frac{y^2}{b^2}=UV$</a:t>
                </a:r>
                <a:r>
                  <a:rPr sz="2400" b="0">
                    <a:solidFill>
                      <a:srgbClr val="111827"/>
                    </a:solidFill>
                    <a:latin typeface="Arial"/>
                  </a:rPr>
                  <a:t>, so the hyperbola becomes </a:t>
                </a:r>
                <a:r>
                  <a:rPr lang="en-IN" sz="2400">
                    <a:solidFill>
                      <a:srgbClr val="111827"/>
                    </a:solidFill>
                    <a:latin typeface="Cambria Math" panose="02040503050406030204" pitchFamily="18" charset="0"/>
                  </a:rPr>
                  <a:t>$UV=1$</a:t>
                </a:r>
                <a:r>
                  <a:rPr sz="2400" b="0">
                    <a:solidFill>
                      <a:srgbClr val="111827"/>
                    </a:solidFill>
                    <a:latin typeface="Arial"/>
                  </a:rPr>
                  <a:t>; the asymptotes become the axes </a:t>
                </a:r>
                <a:r>
                  <a:rPr lang="en-IN" sz="2400">
                    <a:solidFill>
                      <a:srgbClr val="111827"/>
                    </a:solidFill>
                    <a:latin typeface="Cambria Math" panose="02040503050406030204" pitchFamily="18" charset="0"/>
                  </a:rPr>
                  <a:t>$V=0$</a:t>
                </a:r>
                <a:r>
                  <a:rPr sz="2400" b="0">
                    <a:solidFill>
                      <a:srgbClr val="111827"/>
                    </a:solidFill>
                    <a:latin typeface="Arial"/>
                  </a:rPr>
                  <a:t> and </a:t>
                </a:r>
                <a:r>
                  <a:rPr lang="en-IN" sz="2400">
                    <a:solidFill>
                      <a:srgbClr val="111827"/>
                    </a:solidFill>
                    <a:latin typeface="Cambria Math" panose="02040503050406030204" pitchFamily="18" charset="0"/>
                  </a:rPr>
                  <a:t>$U=0$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$P=(t,\frac1t)$</a:t>
                </a:r>
                <a:r>
                  <a:rPr sz="2400" b="0">
                    <a:solidFill>
                      <a:srgbClr val="111827"/>
                    </a:solidFill>
                    <a:latin typeface="Arial"/>
                  </a:rPr>
                  <a:t> in </a:t>
                </a:r>
                <a:r>
                  <a:rPr lang="en-IN" sz="2400">
                    <a:solidFill>
                      <a:srgbClr val="111827"/>
                    </a:solidFill>
                    <a:latin typeface="Cambria Math" panose="02040503050406030204" pitchFamily="18" charset="0"/>
                  </a:rPr>
                  <a:t>$(U,V)$</a:t>
                </a:r>
                <a:r>
                  <a:rPr sz="2400" b="0">
                    <a:solidFill>
                      <a:srgbClr val="111827"/>
                    </a:solidFill>
                    <a:latin typeface="Arial"/>
                  </a:rPr>
                  <a:t>. The tangent to </a:t>
                </a:r>
                <a:r>
                  <a:rPr lang="en-IN" sz="2400">
                    <a:solidFill>
                      <a:srgbClr val="111827"/>
                    </a:solidFill>
                    <a:latin typeface="Cambria Math" panose="02040503050406030204" pitchFamily="18" charset="0"/>
                  </a:rPr>
                  <a:t>$UV=1$</a:t>
                </a:r>
                <a:r>
                  <a:rPr sz="2400" b="0">
                    <a:solidFill>
                      <a:srgbClr val="111827"/>
                    </a:solidFill>
                    <a:latin typeface="Arial"/>
                  </a:rPr>
                  <a:t> at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$\frac Ut+Vt=2$</a:t>
                </a:r>
                <a:r>
                  <a:rPr sz="2400" b="0">
                    <a:solidFill>
                      <a:srgbClr val="111827"/>
                    </a:solidFill>
                    <a:latin typeface="Arial"/>
                  </a:rPr>
                  <a:t>. It meets the asymptote </a:t>
                </a:r>
                <a:r>
                  <a:rPr lang="en-IN" sz="2400">
                    <a:solidFill>
                      <a:srgbClr val="111827"/>
                    </a:solidFill>
                    <a:latin typeface="Cambria Math" panose="02040503050406030204" pitchFamily="18" charset="0"/>
                  </a:rPr>
                  <a:t>$V=0$</a:t>
                </a:r>
                <a:r>
                  <a:rPr sz="2400" b="0">
                    <a:solidFill>
                      <a:srgbClr val="111827"/>
                    </a:solidFill>
                    <a:latin typeface="Arial"/>
                  </a:rPr>
                  <a:t> at </a:t>
                </a:r>
                <a:r>
                  <a:rPr lang="en-IN" sz="2400">
                    <a:solidFill>
                      <a:srgbClr val="111827"/>
                    </a:solidFill>
                    <a:latin typeface="Cambria Math" panose="02040503050406030204" pitchFamily="18" charset="0"/>
                  </a:rPr>
                  <a:t>$U=2t$</a:t>
                </a:r>
                <a:r>
                  <a:rPr sz="2400" b="0">
                    <a:solidFill>
                      <a:srgbClr val="111827"/>
                    </a:solidFill>
                    <a:latin typeface="Arial"/>
                  </a:rPr>
                  <a:t>, i.e. </a:t>
                </a:r>
                <a:r>
                  <a:rPr lang="en-IN" sz="2400">
                    <a:solidFill>
                      <a:srgbClr val="111827"/>
                    </a:solidFill>
                    <a:latin typeface="Cambria Math" panose="02040503050406030204" pitchFamily="18" charset="0"/>
                  </a:rPr>
                  <a:t>$Q=(2t,0)$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Midpoint of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𝑡</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den>
                        </m:f>
                      </m:e>
                    </m:d>
                  </m:oMath>
                </a14:m>
                <a:r>
                  <a:rPr sz="2400" b="0">
                    <a:solidFill>
                      <a:srgbClr val="111827"/>
                    </a:solidFill>
                    <a:latin typeface="Arial"/>
                  </a:rPr>
                  <a:t>, whose </a:t>
                </a:r>
                <a14:m>
                  <m:oMath xmlns:m="http://schemas.openxmlformats.org/officeDocument/2006/math">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𝑡</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𝑈</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the locus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Midpoint of </a:t>
                </a:r>
                <a:r>
                  <a:rPr lang="en-IN" sz="2400">
                    <a:solidFill>
                      <a:srgbClr val="111827"/>
                    </a:solidFill>
                    <a:latin typeface="Cambria Math" panose="02040503050406030204" pitchFamily="18" charset="0"/>
                  </a:rPr>
                  <a:t>$PQ$</a:t>
                </a:r>
                <a:r>
                  <a:rPr sz="2400" b="0">
                    <a:solidFill>
                      <a:srgbClr val="111827"/>
                    </a:solidFill>
                    <a:latin typeface="Arial"/>
                  </a:rPr>
                  <a:t>: </a:t>
                </a:r>
                <a:r>
                  <a:rPr lang="en-IN" sz="2400">
                    <a:solidFill>
                      <a:srgbClr val="111827"/>
                    </a:solidFill>
                    <a:latin typeface="Cambria Math" panose="02040503050406030204" pitchFamily="18" charset="0"/>
                  </a:rPr>
                  <a:t>$\left(\frac{3t}{2},\frac{1}{2t}\right)$</a:t>
                </a:r>
                <a:r>
                  <a:rPr sz="2400" b="0">
                    <a:solidFill>
                      <a:srgbClr val="111827"/>
                    </a:solidFill>
                    <a:latin typeface="Arial"/>
                  </a:rPr>
                  <a:t>, whose </a:t>
                </a:r>
                <a:r>
                  <a:rPr lang="en-IN" sz="2400">
                    <a:solidFill>
                      <a:srgbClr val="111827"/>
                    </a:solidFill>
                    <a:latin typeface="Cambria Math" panose="02040503050406030204" pitchFamily="18" charset="0"/>
                  </a:rPr>
                  <a:t>$U\cdot V=\frac{3t}{2}\cdot\frac1{2t}=\frac34$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$UV=\frac{x^2}{a^2}-\frac{y^2}{b^2}$</a:t>
                </a:r>
                <a:r>
                  <a:rPr sz="2400" b="0">
                    <a:solidFill>
                      <a:srgbClr val="111827"/>
                    </a:solidFill>
                    <a:latin typeface="Arial"/>
                  </a:rPr>
                  <a:t>, the locus is </a:t>
                </a:r>
                <a:r>
                  <a:rPr lang="en-IN" sz="2400">
                    <a:solidFill>
                      <a:srgbClr val="111827"/>
                    </a:solidFill>
                    <a:latin typeface="Cambria Math" panose="02040503050406030204" pitchFamily="18" charset="0"/>
                  </a:rPr>
                  <a:t>$\frac{x^2}{a^2}-\frac{y^2}{b^2}=\frac34$</a:t>
                </a:r>
                <a:r>
                  <a:rPr sz="2400" b="0">
                    <a:solidFill>
                      <a:srgbClr val="111827"/>
                    </a:solidFill>
                    <a:latin typeface="Arial"/>
                  </a:rPr>
                  <a:t>, so </a:t>
                </a:r>
                <a:r>
                  <a:rPr lang="en-IN" sz="2400">
                    <a:solidFill>
                      <a:srgbClr val="111827"/>
                    </a:solidFill>
                    <a:latin typeface="Cambria Math" panose="02040503050406030204" pitchFamily="18" charset="0"/>
                  </a:rPr>
                  <a:t>$4\lambda=3$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3</m:t>
                    </m:r>
                  </m:oMath>
                </a14:m>
                <a:r>
                  <a:rPr sz="2800" b="1">
                    <a:solidFill>
                      <a:srgbClr val="15803D"/>
                    </a:solidFill>
                    <a:latin typeface="Arial"/>
                  </a:rPr>
                  <a:t> (the locus is </a:t>
                </a:r>
                <a14:m>
                  <m:oMath xmlns:m="http://schemas.openxmlformats.org/officeDocument/2006/math">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num>
                      <m:den>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num>
                      <m:den>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4</m:t>
                        </m:r>
                      </m:den>
                    </m:f>
                  </m:oMath>
                </a14:m>
                <a:r>
                  <a:rPr sz="2800" b="1">
                    <a:solidFill>
                      <a:srgbClr val="15803D"/>
                    </a:solidFill>
                    <a:latin typeface="Arial"/>
                  </a:rPr>
                  <a:t>)</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$3$</a:t>
                </a:r>
                <a:r>
                  <a:rPr sz="2800" b="1">
                    <a:solidFill>
                      <a:srgbClr val="15803D"/>
                    </a:solidFill>
                    <a:latin typeface="Arial"/>
                  </a:rPr>
                  <a:t> (the locus is </a:t>
                </a:r>
                <a:r>
                  <a:rPr lang="en-IN" sz="2800">
                    <a:solidFill>
                      <a:srgbClr val="15803D"/>
                    </a:solidFill>
                    <a:latin typeface="Cambria Math" panose="02040503050406030204" pitchFamily="18" charset="0"/>
                  </a:rPr>
                  <a:t>$\frac{x^2}{a^2}-\frac{y^2}{b^2}=\frac34$</a:t>
                </a:r>
                <a:r>
                  <a:rPr sz="2800" b="1">
                    <a:solidFill>
                      <a:srgbClr val="15803D"/>
                    </a:solidFill>
                    <a:latin typeface="Arial"/>
                  </a:rPr>
                  <a:t>)</a:t>
                </a:r>
                <a:endParaRPr sz="2800">
                  <a:solidFill>
                    <a:srgbClr val="15803D"/>
                  </a:solidFill>
                </a:endParaRPr>
              </a:p>
            </p:txBody>
          </p:sp>
        </mc:Fallback>
      </mc:AlternateContent>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asymptote coordinates </a:t>
                </a:r>
                <a14:m>
                  <m:oMath xmlns:m="http://schemas.openxmlformats.org/officeDocument/2006/math">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oMath>
                </a14:m>
                <a:r>
                  <a:rPr sz="2400" b="0">
                    <a:solidFill>
                      <a:srgbClr val="111827"/>
                    </a:solidFill>
                    <a:latin typeface="Arial"/>
                  </a:rPr>
                  <a:t>, the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𝑈</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every property of the rectangular hyperbola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carries over.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a point meets the asymptotes at points which are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point's coordinates, and the point is the midpoint of the intercepted part.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asymptote coordinates </a:t>
                </a:r>
                <a:r>
                  <a:rPr lang="en-IN" sz="2400">
                    <a:solidFill>
                      <a:srgbClr val="111827"/>
                    </a:solidFill>
                    <a:latin typeface="Cambria Math" panose="02040503050406030204" pitchFamily="18" charset="0"/>
                  </a:rPr>
                  <a:t>$U=\frac xa+\frac yb,\ V=\frac xa-\frac yb$</a:t>
                </a:r>
                <a:r>
                  <a:rPr sz="2400" b="0">
                    <a:solidFill>
                      <a:srgbClr val="111827"/>
                    </a:solidFill>
                    <a:latin typeface="Arial"/>
                  </a:rPr>
                  <a:t>, the hyperbola </a:t>
                </a:r>
                <a:r>
                  <a:rPr lang="en-IN" sz="2400">
                    <a:solidFill>
                      <a:srgbClr val="111827"/>
                    </a:solidFill>
                    <a:latin typeface="Cambria Math" panose="02040503050406030204" pitchFamily="18" charset="0"/>
                  </a:rPr>
                  <a:t>$\frac{x^2}{a^2}-\frac{y^2}{b^2}=1$</a:t>
                </a:r>
                <a:r>
                  <a:rPr sz="2400" b="0">
                    <a:solidFill>
                      <a:srgbClr val="111827"/>
                    </a:solidFill>
                    <a:latin typeface="Arial"/>
                  </a:rPr>
                  <a:t> is </a:t>
                </a:r>
                <a:r>
                  <a:rPr lang="en-IN" sz="2400">
                    <a:solidFill>
                      <a:srgbClr val="111827"/>
                    </a:solidFill>
                    <a:latin typeface="Cambria Math" panose="02040503050406030204" pitchFamily="18" charset="0"/>
                  </a:rPr>
                  <a:t>$UV=1$</a:t>
                </a:r>
                <a:r>
                  <a:rPr sz="2400" b="0">
                    <a:solidFill>
                      <a:srgbClr val="111827"/>
                    </a:solidFill>
                    <a:latin typeface="Arial"/>
                  </a:rPr>
                  <a:t> and every property of the rectangular hyperbola </a:t>
                </a:r>
                <a:r>
                  <a:rPr lang="en-IN" sz="2400">
                    <a:solidFill>
                      <a:srgbClr val="111827"/>
                    </a:solidFill>
                    <a:latin typeface="Cambria Math" panose="02040503050406030204" pitchFamily="18" charset="0"/>
                  </a:rPr>
                  <a:t>$XY=c^2$</a:t>
                </a:r>
                <a:r>
                  <a:rPr sz="2400" b="0">
                    <a:solidFill>
                      <a:srgbClr val="111827"/>
                    </a:solidFill>
                    <a:latin typeface="Arial"/>
                  </a:rPr>
                  <a:t> carries over.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a point meets the asymptotes at points which are at </a:t>
                </a:r>
                <a:r>
                  <a:rPr lang="en-IN" sz="2400">
                    <a:solidFill>
                      <a:srgbClr val="111827"/>
                    </a:solidFill>
                    <a:latin typeface="Cambria Math" panose="02040503050406030204" pitchFamily="18" charset="0"/>
                  </a:rPr>
                  <a:t>$2\times$</a:t>
                </a:r>
                <a:r>
                  <a:rPr sz="2400" b="0">
                    <a:solidFill>
                      <a:srgbClr val="111827"/>
                    </a:solidFill>
                    <a:latin typeface="Arial"/>
                  </a:rPr>
                  <a:t> the point's coordinates, and the point is the midpoint of the intercepted part.</a:t>
                </a:r>
                <a:endParaRPr sz="2400">
                  <a:solidFill>
                    <a:srgbClr val="111827"/>
                  </a:solidFill>
                </a:endParaRPr>
              </a:p>
            </p:txBody>
          </p:sp>
        </mc:Fallback>
      </mc:AlternateContent>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midpoint of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on one asymptote) traces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the locus of the midpoint of </a:t>
                </a:r>
                <a14:m>
                  <m:oMath xmlns:m="http://schemas.openxmlformats.org/officeDocument/2006/math">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oMath>
                </a14:m>
                <a:r>
                  <a:rPr sz="2400" b="0">
                    <a:solidFill>
                      <a:srgbClr val="111827"/>
                    </a:solidFill>
                    <a:latin typeface="Arial"/>
                  </a:rPr>
                  <a:t> on different asymptotes) is the hyperbola itself.</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Linear changes of variables preserve midpoints, which makes locus problems on a hyperbola easy in its asymptote coordinates.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midpoint of </a:t>
                </a:r>
                <a:r>
                  <a:rPr lang="en-IN" sz="2400">
                    <a:solidFill>
                      <a:srgbClr val="111827"/>
                    </a:solidFill>
                    <a:latin typeface="Cambria Math" panose="02040503050406030204" pitchFamily="18" charset="0"/>
                  </a:rPr>
                  <a:t>$PQ$</a:t>
                </a:r>
                <a:r>
                  <a:rPr sz="2400" b="0">
                    <a:solidFill>
                      <a:srgbClr val="111827"/>
                    </a:solidFill>
                    <a:latin typeface="Arial"/>
                  </a:rPr>
                  <a:t> (</a:t>
                </a:r>
                <a:r>
                  <a:rPr lang="en-IN" sz="2400">
                    <a:solidFill>
                      <a:srgbClr val="111827"/>
                    </a:solidFill>
                    <a:latin typeface="Cambria Math" panose="02040503050406030204" pitchFamily="18" charset="0"/>
                  </a:rPr>
                  <a:t>$Q$</a:t>
                </a:r>
                <a:r>
                  <a:rPr sz="2400" b="0">
                    <a:solidFill>
                      <a:srgbClr val="111827"/>
                    </a:solidFill>
                    <a:latin typeface="Arial"/>
                  </a:rPr>
                  <a:t> on one asymptote) traces </a:t>
                </a:r>
                <a:r>
                  <a:rPr lang="en-IN" sz="2400">
                    <a:solidFill>
                      <a:srgbClr val="111827"/>
                    </a:solidFill>
                    <a:latin typeface="Cambria Math" panose="02040503050406030204" pitchFamily="18" charset="0"/>
                  </a:rPr>
                  <a:t>$\frac{x^2}{a^2}-\frac{y^2}{b^2}=\frac34$</a:t>
                </a:r>
                <a:r>
                  <a:rPr sz="2400" b="0">
                    <a:solidFill>
                      <a:srgbClr val="111827"/>
                    </a:solidFill>
                    <a:latin typeface="Arial"/>
                  </a:rPr>
                  <a:t>; the locus of the midpoint of </a:t>
                </a:r>
                <a:r>
                  <a:rPr lang="en-IN" sz="2400">
                    <a:solidFill>
                      <a:srgbClr val="111827"/>
                    </a:solidFill>
                    <a:latin typeface="Cambria Math" panose="02040503050406030204" pitchFamily="18" charset="0"/>
                  </a:rPr>
                  <a:t>$QR$</a:t>
                </a:r>
                <a:r>
                  <a:rPr sz="2400" b="0">
                    <a:solidFill>
                      <a:srgbClr val="111827"/>
                    </a:solidFill>
                    <a:latin typeface="Arial"/>
                  </a:rPr>
                  <a:t> (</a:t>
                </a:r>
                <a:r>
                  <a:rPr lang="en-IN" sz="2400">
                    <a:solidFill>
                      <a:srgbClr val="111827"/>
                    </a:solidFill>
                    <a:latin typeface="Cambria Math" panose="02040503050406030204" pitchFamily="18" charset="0"/>
                  </a:rPr>
                  <a:t>$Q,R$</a:t>
                </a:r>
                <a:r>
                  <a:rPr sz="2400" b="0">
                    <a:solidFill>
                      <a:srgbClr val="111827"/>
                    </a:solidFill>
                    <a:latin typeface="Arial"/>
                  </a:rPr>
                  <a:t> on different asymptotes) is the hyperbola itself.</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Linear changes of variables preserve midpoints, which makes locus problems on a hyperbola easy in its asymptote coordinates.</a:t>
                </a:r>
                <a:endParaRPr sz="2400">
                  <a:solidFill>
                    <a:srgbClr val="111827"/>
                  </a:solidFill>
                </a:endParaRPr>
              </a:p>
            </p:txBody>
          </p:sp>
        </mc:Fallback>
      </mc:AlternateContent>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lines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are the asymptotes of a hyperbola, and the line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touches the hyperbola, then the equation of the hyperbola is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oMath>
                </a14:m>
                <a:r>
                  <a:rPr sz="2400" b="0">
                    <a:solidFill>
                      <a:srgbClr val="111827"/>
                    </a:solidFill>
                    <a:latin typeface="Arial"/>
                  </a:rPr>
                  <a:t>. Find the value of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lines </a:t>
                </a:r>
                <a:r>
                  <a:rPr lang="en-IN" sz="2400">
                    <a:solidFill>
                      <a:srgbClr val="111827"/>
                    </a:solidFill>
                    <a:latin typeface="Cambria Math" panose="02040503050406030204" pitchFamily="18" charset="0"/>
                  </a:rPr>
                  <a:t>$x+y+1=0$</a:t>
                </a:r>
                <a:r>
                  <a:rPr sz="2400" b="0">
                    <a:solidFill>
                      <a:srgbClr val="111827"/>
                    </a:solidFill>
                    <a:latin typeface="Arial"/>
                  </a:rPr>
                  <a:t> and </a:t>
                </a:r>
                <a:r>
                  <a:rPr lang="en-IN" sz="2400">
                    <a:solidFill>
                      <a:srgbClr val="111827"/>
                    </a:solidFill>
                    <a:latin typeface="Cambria Math" panose="02040503050406030204" pitchFamily="18" charset="0"/>
                  </a:rPr>
                  <a:t>$2x-y+2=0$</a:t>
                </a:r>
                <a:r>
                  <a:rPr sz="2400" b="0">
                    <a:solidFill>
                      <a:srgbClr val="111827"/>
                    </a:solidFill>
                    <a:latin typeface="Arial"/>
                  </a:rPr>
                  <a:t> are the asymptotes of a hyperbola, and the line </a:t>
                </a:r>
                <a:r>
                  <a:rPr lang="en-IN" sz="2400">
                    <a:solidFill>
                      <a:srgbClr val="111827"/>
                    </a:solidFill>
                    <a:latin typeface="Cambria Math" panose="02040503050406030204" pitchFamily="18" charset="0"/>
                  </a:rPr>
                  <a:t>$x-2=0$</a:t>
                </a:r>
                <a:r>
                  <a:rPr sz="2400" b="0">
                    <a:solidFill>
                      <a:srgbClr val="111827"/>
                    </a:solidFill>
                    <a:latin typeface="Arial"/>
                  </a:rPr>
                  <a:t> touches the hyperbola, then the equation of the hyperbola is </a:t>
                </a:r>
                <a:r>
                  <a:rPr lang="en-IN" sz="2400">
                    <a:solidFill>
                      <a:srgbClr val="111827"/>
                    </a:solidFill>
                    <a:latin typeface="Cambria Math" panose="02040503050406030204" pitchFamily="18" charset="0"/>
                  </a:rPr>
                  <a:t>$4(x+y+1)(2x-y+2)=\lambda$</a:t>
                </a:r>
                <a:r>
                  <a:rPr sz="2400" b="0">
                    <a:solidFill>
                      <a:srgbClr val="111827"/>
                    </a:solidFill>
                    <a:latin typeface="Arial"/>
                  </a:rPr>
                  <a:t>. Find the value of </a:t>
                </a:r>
                <a:r>
                  <a:rPr lang="en-IN" sz="2400">
                    <a:solidFill>
                      <a:srgbClr val="111827"/>
                    </a:solidFill>
                    <a:latin typeface="Cambria Math" panose="02040503050406030204" pitchFamily="18" charset="0"/>
                  </a:rPr>
                  <a:t>$\lambda$</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516884"/>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Hyperbola from its asymptotes (family </a:t>
                </a:r>
                <a14:m>
                  <m:oMath xmlns:m="http://schemas.openxmlformats.org/officeDocument/2006/math">
                    <m:r>
                      <m:rPr>
                        <m:nor/>
                      </m:rPr>
                      <a:rPr lang="en-IN" sz="2400" i="1">
                        <a:solidFill>
                          <a:srgbClr val="111827"/>
                        </a:solidFill>
                        <a:latin typeface="Cambria Math" panose="02040503050406030204" pitchFamily="18" charset="0"/>
                      </a:rPr>
                      <m:t>𝑝𝑎𝑖𝑟 𝑜𝑓 𝑎𝑠𝑦𝑚𝑝𝑡𝑜𝑡𝑒𝑠</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𝑐𝑜𝑛𝑠𝑡𝑎𝑛𝑡</m:t>
                    </m:r>
                  </m:oMath>
                </a14:m>
                <a:r>
                  <a:rPr sz="2400" b="0">
                    <a:solidFill>
                      <a:srgbClr val="111827"/>
                    </a:solidFill>
                    <a:latin typeface="Arial"/>
                  </a:rPr>
                  <a:t>), Tangency of a line to a hyperbola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Choice>
        <mc:Fallback>
          <p:sp>
            <p:nvSpPr>
              <p:cNvPr id="5" name="Rectangle 4"/>
              <p:cNvSpPr/>
              <p:nvPr/>
            </p:nvSpPr>
            <p:spPr>
              <a:xfrm>
                <a:off x="731520" y="3516884"/>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Hyperbola from its asymptotes (family </a:t>
                </a:r>
                <a:r>
                  <a:rPr lang="en-IN" sz="2400">
                    <a:solidFill>
                      <a:srgbClr val="111827"/>
                    </a:solidFill>
                    <a:latin typeface="Cambria Math" panose="02040503050406030204" pitchFamily="18" charset="0"/>
                  </a:rPr>
                  <a:t>$\text{pair of asymptotes}=\text{constant}$</a:t>
                </a:r>
                <a:r>
                  <a:rPr sz="2400" b="0">
                    <a:solidFill>
                      <a:srgbClr val="111827"/>
                    </a:solidFill>
                    <a:latin typeface="Arial"/>
                  </a:rPr>
                  <a:t>), Tangency of a line to a hyperbola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Fallback>
      </mc:AlternateContent>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hyperbola with these asymptotes is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oMath>
                </a14:m>
                <a:r>
                  <a:rPr sz="2400" b="0">
                    <a:solidFill>
                      <a:srgbClr val="78350F"/>
                    </a:solidFill>
                    <a:latin typeface="Arial"/>
                  </a:rPr>
                  <a:t>; tangency of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means equal roots in </a:t>
                </a:r>
                <a14:m>
                  <m:oMath xmlns:m="http://schemas.openxmlformats.org/officeDocument/2006/math">
                    <m:r>
                      <a:rPr lang="en-IN" sz="2400" i="1">
                        <a:solidFill>
                          <a:srgbClr val="78350F"/>
                        </a:solidFill>
                        <a:latin typeface="Cambria Math" panose="02040503050406030204" pitchFamily="18" charset="0"/>
                      </a:rPr>
                      <m:t>𝑦</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hyperbola with these asymptotes is </a:t>
                </a:r>
                <a:r>
                  <a:rPr lang="en-IN" sz="2400">
                    <a:solidFill>
                      <a:srgbClr val="78350F"/>
                    </a:solidFill>
                    <a:latin typeface="Cambria Math" panose="02040503050406030204" pitchFamily="18" charset="0"/>
                  </a:rPr>
                  <a:t>$(x+y+1)(2x-y+2)=c$</a:t>
                </a:r>
                <a:r>
                  <a:rPr sz="2400" b="0">
                    <a:solidFill>
                      <a:srgbClr val="78350F"/>
                    </a:solidFill>
                    <a:latin typeface="Arial"/>
                  </a:rPr>
                  <a:t>; tangency of </a:t>
                </a:r>
                <a:r>
                  <a:rPr lang="en-IN" sz="2400">
                    <a:solidFill>
                      <a:srgbClr val="78350F"/>
                    </a:solidFill>
                    <a:latin typeface="Cambria Math" panose="02040503050406030204" pitchFamily="18" charset="0"/>
                  </a:rPr>
                  <a:t>$x=2$</a:t>
                </a:r>
                <a:r>
                  <a:rPr sz="2400" b="0">
                    <a:solidFill>
                      <a:srgbClr val="78350F"/>
                    </a:solidFill>
                    <a:latin typeface="Arial"/>
                  </a:rPr>
                  <a:t> means equal roots in </a:t>
                </a:r>
                <a:r>
                  <a:rPr lang="en-IN" sz="2400">
                    <a:solidFill>
                      <a:srgbClr val="78350F"/>
                    </a:solidFill>
                    <a:latin typeface="Cambria Math" panose="02040503050406030204" pitchFamily="18" charset="0"/>
                  </a:rPr>
                  <a:t>$y$</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hyperbola with the given asymptotes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Solve with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touches the hyperbola, so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hyperbola with the given asymptotes is </a:t>
                </a:r>
                <a:r>
                  <a:rPr lang="en-IN" sz="2400">
                    <a:solidFill>
                      <a:srgbClr val="111827"/>
                    </a:solidFill>
                    <a:latin typeface="Cambria Math" panose="02040503050406030204" pitchFamily="18" charset="0"/>
                  </a:rPr>
                  <a:t>$(x+y+1)(2x-y+2)=c$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Solve with </a:t>
                </a:r>
                <a:r>
                  <a:rPr lang="en-IN" sz="2400">
                    <a:solidFill>
                      <a:srgbClr val="111827"/>
                    </a:solidFill>
                    <a:latin typeface="Cambria Math" panose="02040503050406030204" pitchFamily="18" charset="0"/>
                  </a:rPr>
                  <a:t>$x=2$</a:t>
                </a:r>
                <a:r>
                  <a:rPr sz="2400" b="0">
                    <a:solidFill>
                      <a:srgbClr val="111827"/>
                    </a:solidFill>
                    <a:latin typeface="Arial"/>
                  </a:rPr>
                  <a:t>: </a:t>
                </a:r>
                <a:r>
                  <a:rPr lang="en-IN" sz="2400">
                    <a:solidFill>
                      <a:srgbClr val="111827"/>
                    </a:solidFill>
                    <a:latin typeface="Cambria Math" panose="02040503050406030204" pitchFamily="18" charset="0"/>
                  </a:rPr>
                  <a:t>$(y+3)(6-y)=c$</a:t>
                </a:r>
                <a:r>
                  <a:rPr sz="2400" b="0">
                    <a:solidFill>
                      <a:srgbClr val="111827"/>
                    </a:solidFill>
                    <a:latin typeface="Arial"/>
                  </a:rPr>
                  <a:t>, i.e. </a:t>
                </a:r>
                <a:r>
                  <a:rPr lang="en-IN" sz="2400">
                    <a:solidFill>
                      <a:srgbClr val="111827"/>
                    </a:solidFill>
                    <a:latin typeface="Cambria Math" panose="02040503050406030204" pitchFamily="18" charset="0"/>
                  </a:rPr>
                  <a:t>$y^2-3y+(c-18)=0$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touches the hyperbola, so </a:t>
                </a:r>
                <a:r>
                  <a:rPr lang="en-IN" sz="2400">
                    <a:solidFill>
                      <a:srgbClr val="111827"/>
                    </a:solidFill>
                    <a:latin typeface="Cambria Math" panose="02040503050406030204" pitchFamily="18" charset="0"/>
                  </a:rPr>
                  <a:t>$D=0$</a:t>
                </a:r>
                <a:r>
                  <a:rPr sz="2400" b="0">
                    <a:solidFill>
                      <a:srgbClr val="111827"/>
                    </a:solidFill>
                    <a:latin typeface="Arial"/>
                  </a:rPr>
                  <a:t>: </a:t>
                </a:r>
                <a:r>
                  <a:rPr lang="en-IN" sz="2400">
                    <a:solidFill>
                      <a:srgbClr val="111827"/>
                    </a:solidFill>
                    <a:latin typeface="Cambria Math" panose="02040503050406030204" pitchFamily="18" charset="0"/>
                  </a:rPr>
                  <a:t>$9-4(c-18)=0$</a:t>
                </a:r>
                <a:r>
                  <a:rPr sz="2400" b="0">
                    <a:solidFill>
                      <a:srgbClr val="111827"/>
                    </a:solidFill>
                    <a:latin typeface="Arial"/>
                  </a:rPr>
                  <a:t>, giving </a:t>
                </a:r>
                <a:r>
                  <a:rPr lang="en-IN" sz="2400">
                    <a:solidFill>
                      <a:srgbClr val="111827"/>
                    </a:solidFill>
                    <a:latin typeface="Cambria Math" panose="02040503050406030204" pitchFamily="18" charset="0"/>
                  </a:rPr>
                  <a:t>$c=\frac{81}{4}$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the hyperbola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the hyperbola is </a:t>
                </a:r>
                <a:r>
                  <a:rPr lang="en-IN" sz="2400">
                    <a:solidFill>
                      <a:srgbClr val="111827"/>
                    </a:solidFill>
                    <a:latin typeface="Cambria Math" panose="02040503050406030204" pitchFamily="18" charset="0"/>
                  </a:rPr>
                  <a:t>$(x+y+1)(2x-y+2)=\frac{81}{4}$</a:t>
                </a:r>
                <a:r>
                  <a:rPr sz="2400" b="0">
                    <a:solidFill>
                      <a:srgbClr val="111827"/>
                    </a:solidFill>
                    <a:latin typeface="Arial"/>
                  </a:rPr>
                  <a:t>, i.e. </a:t>
                </a:r>
                <a:r>
                  <a:rPr lang="en-IN" sz="2400">
                    <a:solidFill>
                      <a:srgbClr val="111827"/>
                    </a:solidFill>
                    <a:latin typeface="Cambria Math" panose="02040503050406030204" pitchFamily="18" charset="0"/>
                  </a:rPr>
                  <a:t>$4(x+y+1)(2x-y+2)=81$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$\lambda=81$</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81</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$81$</a:t>
                </a:r>
                <a:endParaRPr sz="2800">
                  <a:solidFill>
                    <a:srgbClr val="15803D"/>
                  </a:solidFill>
                </a:endParaRPr>
              </a:p>
            </p:txBody>
          </p:sp>
        </mc:Fallback>
      </mc:AlternateContent>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point of contact bisects the part of a tangent between the asymptotes: find the contact point on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as the midpoint and substitute.</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point of contact bisects the part of a tangent between the asymptotes: find the contact point on </a:t>
                </a:r>
                <a:r>
                  <a:rPr lang="en-IN" sz="2400">
                    <a:solidFill>
                      <a:srgbClr val="78350F"/>
                    </a:solidFill>
                    <a:latin typeface="Cambria Math" panose="02040503050406030204" pitchFamily="18" charset="0"/>
                  </a:rPr>
                  <a:t>$x=2$</a:t>
                </a:r>
                <a:r>
                  <a:rPr sz="2400" b="0">
                    <a:solidFill>
                      <a:srgbClr val="78350F"/>
                    </a:solidFill>
                    <a:latin typeface="Arial"/>
                  </a:rPr>
                  <a:t> as the midpoint and substitute.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meets the asymptote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the asymptote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 of contact is the midpoint of this intercept: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 </a:t>
                </a:r>
                <a:r>
                  <a:rPr lang="en-IN" sz="2400">
                    <a:solidFill>
                      <a:srgbClr val="111827"/>
                    </a:solidFill>
                    <a:latin typeface="Cambria Math" panose="02040503050406030204" pitchFamily="18" charset="0"/>
                  </a:rPr>
                  <a:t>$x=2$</a:t>
                </a:r>
                <a:r>
                  <a:rPr sz="2400" b="0">
                    <a:solidFill>
                      <a:srgbClr val="111827"/>
                    </a:solidFill>
                    <a:latin typeface="Arial"/>
                  </a:rPr>
                  <a:t> meets the asymptote </a:t>
                </a:r>
                <a:r>
                  <a:rPr lang="en-IN" sz="2400">
                    <a:solidFill>
                      <a:srgbClr val="111827"/>
                    </a:solidFill>
                    <a:latin typeface="Cambria Math" panose="02040503050406030204" pitchFamily="18" charset="0"/>
                  </a:rPr>
                  <a:t>$x+y+1=0$</a:t>
                </a:r>
                <a:r>
                  <a:rPr sz="2400" b="0">
                    <a:solidFill>
                      <a:srgbClr val="111827"/>
                    </a:solidFill>
                    <a:latin typeface="Arial"/>
                  </a:rPr>
                  <a:t> at </a:t>
                </a:r>
                <a:r>
                  <a:rPr lang="en-IN" sz="2400">
                    <a:solidFill>
                      <a:srgbClr val="111827"/>
                    </a:solidFill>
                    <a:latin typeface="Cambria Math" panose="02040503050406030204" pitchFamily="18" charset="0"/>
                  </a:rPr>
                  <a:t>$y=-3$</a:t>
                </a:r>
                <a:r>
                  <a:rPr sz="2400" b="0">
                    <a:solidFill>
                      <a:srgbClr val="111827"/>
                    </a:solidFill>
                    <a:latin typeface="Arial"/>
                  </a:rPr>
                  <a:t> and the asymptote </a:t>
                </a:r>
                <a:r>
                  <a:rPr lang="en-IN" sz="2400">
                    <a:solidFill>
                      <a:srgbClr val="111827"/>
                    </a:solidFill>
                    <a:latin typeface="Cambria Math" panose="02040503050406030204" pitchFamily="18" charset="0"/>
                  </a:rPr>
                  <a:t>$2x-y+2=0$</a:t>
                </a:r>
                <a:r>
                  <a:rPr sz="2400" b="0">
                    <a:solidFill>
                      <a:srgbClr val="111827"/>
                    </a:solidFill>
                    <a:latin typeface="Arial"/>
                  </a:rPr>
                  <a:t> at </a:t>
                </a:r>
                <a:r>
                  <a:rPr lang="en-IN" sz="2400">
                    <a:solidFill>
                      <a:srgbClr val="111827"/>
                    </a:solidFill>
                    <a:latin typeface="Cambria Math" panose="02040503050406030204" pitchFamily="18" charset="0"/>
                  </a:rPr>
                  <a:t>$y=6$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 of contact is the midpoint of this intercept: </a:t>
                </a:r>
                <a:r>
                  <a:rPr lang="en-IN" sz="2400">
                    <a:solidFill>
                      <a:srgbClr val="111827"/>
                    </a:solidFill>
                    <a:latin typeface="Cambria Math" panose="02040503050406030204" pitchFamily="18" charset="0"/>
                  </a:rPr>
                  <a:t>$\left(2,\frac{-3+6}{2}\right)=\left(2,\frac32\right)$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 lies 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 lies on </a:t>
                </a:r>
                <a:r>
                  <a:rPr lang="en-IN" sz="2400">
                    <a:solidFill>
                      <a:srgbClr val="111827"/>
                    </a:solidFill>
                    <a:latin typeface="Cambria Math" panose="02040503050406030204" pitchFamily="18" charset="0"/>
                  </a:rPr>
                  <a:t>$(x+y+1)(2x-y+2)=c$</a:t>
                </a:r>
                <a:r>
                  <a:rPr sz="2400" b="0">
                    <a:solidFill>
                      <a:srgbClr val="111827"/>
                    </a:solidFill>
                    <a:latin typeface="Arial"/>
                  </a:rPr>
                  <a:t>: </a:t>
                </a:r>
                <a:r>
                  <a:rPr lang="en-IN" sz="2400">
                    <a:solidFill>
                      <a:srgbClr val="111827"/>
                    </a:solidFill>
                    <a:latin typeface="Cambria Math" panose="02040503050406030204" pitchFamily="18" charset="0"/>
                  </a:rPr>
                  <a:t>$c=\left(2+\frac32+1\right)\left(4-\frac32+2\right)=\frac92\cdot\frac92=\frac{81}{4}$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$4(x+y+1)(2x-y+2)=81$</a:t>
                </a:r>
                <a:r>
                  <a:rPr sz="2400" b="0">
                    <a:solidFill>
                      <a:srgbClr val="111827"/>
                    </a:solidFill>
                    <a:latin typeface="Arial"/>
                  </a:rPr>
                  <a:t> and </a:t>
                </a:r>
                <a:r>
                  <a:rPr lang="en-IN" sz="2400">
                    <a:solidFill>
                      <a:srgbClr val="111827"/>
                    </a:solidFill>
                    <a:latin typeface="Cambria Math" panose="02040503050406030204" pitchFamily="18" charset="0"/>
                  </a:rPr>
                  <a:t>$\lambda=81$</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81</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$81$</a:t>
                </a:r>
                <a:endParaRPr sz="2800">
                  <a:solidFill>
                    <a:srgbClr val="15803D"/>
                  </a:solidFill>
                </a:endParaRPr>
              </a:p>
            </p:txBody>
          </p:sp>
        </mc:Fallback>
      </mc:AlternateContent>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Any hyperbola with asymptotes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 one-parameter family); a point on it fixes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part of any tangent intercepted between the asymptotes is bisected at the point of contact.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is tangent to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iff the quadratic obtained by substituting it has a zero discriminant.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gives a double root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in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Any hyperbola with asymptotes </a:t>
                </a:r>
                <a:r>
                  <a:rPr lang="en-IN" sz="2400">
                    <a:solidFill>
                      <a:srgbClr val="111827"/>
                    </a:solidFill>
                    <a:latin typeface="Cambria Math" panose="02040503050406030204" pitchFamily="18" charset="0"/>
                  </a:rPr>
                  <a:t>$L_1=0,\ L_2=0$</a:t>
                </a:r>
                <a:r>
                  <a:rPr sz="2400" b="0">
                    <a:solidFill>
                      <a:srgbClr val="111827"/>
                    </a:solidFill>
                    <a:latin typeface="Arial"/>
                  </a:rPr>
                  <a:t> is </a:t>
                </a:r>
                <a:r>
                  <a:rPr lang="en-IN" sz="2400">
                    <a:solidFill>
                      <a:srgbClr val="111827"/>
                    </a:solidFill>
                    <a:latin typeface="Cambria Math" panose="02040503050406030204" pitchFamily="18" charset="0"/>
                  </a:rPr>
                  <a:t>$L_1L_2=c$</a:t>
                </a:r>
                <a:r>
                  <a:rPr sz="2400" b="0">
                    <a:solidFill>
                      <a:srgbClr val="111827"/>
                    </a:solidFill>
                    <a:latin typeface="Arial"/>
                  </a:rPr>
                  <a:t> (a one-parameter family); a point on it fixes </a:t>
                </a:r>
                <a:r>
                  <a:rPr lang="en-IN" sz="2400">
                    <a:solidFill>
                      <a:srgbClr val="111827"/>
                    </a:solidFill>
                    <a:latin typeface="Cambria Math" panose="02040503050406030204" pitchFamily="18" charset="0"/>
                  </a:rPr>
                  <a:t>$c$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part of any tangent intercepted between the asymptotes is bisected at the point of contact.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is tangent to </a:t>
                </a:r>
                <a:r>
                  <a:rPr lang="en-IN" sz="2400">
                    <a:solidFill>
                      <a:srgbClr val="111827"/>
                    </a:solidFill>
                    <a:latin typeface="Cambria Math" panose="02040503050406030204" pitchFamily="18" charset="0"/>
                  </a:rPr>
                  <a:t>$L_1L_2=c$</a:t>
                </a:r>
                <a:r>
                  <a:rPr sz="2400" b="0">
                    <a:solidFill>
                      <a:srgbClr val="111827"/>
                    </a:solidFill>
                    <a:latin typeface="Arial"/>
                  </a:rPr>
                  <a:t> iff the quadratic obtained by substituting it has a zero discriminant.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$c=\frac{81}{4}$</a:t>
                </a:r>
                <a:r>
                  <a:rPr sz="2400" b="0">
                    <a:solidFill>
                      <a:srgbClr val="111827"/>
                    </a:solidFill>
                    <a:latin typeface="Arial"/>
                  </a:rPr>
                  <a:t> gives a double root </a:t>
                </a:r>
                <a:r>
                  <a:rPr lang="en-IN" sz="2400">
                    <a:solidFill>
                      <a:srgbClr val="111827"/>
                    </a:solidFill>
                    <a:latin typeface="Cambria Math" panose="02040503050406030204" pitchFamily="18" charset="0"/>
                  </a:rPr>
                  <a:t>$y=\frac32$</a:t>
                </a:r>
                <a:r>
                  <a:rPr sz="2400" b="0">
                    <a:solidFill>
                      <a:srgbClr val="111827"/>
                    </a:solidFill>
                    <a:latin typeface="Arial"/>
                  </a:rPr>
                  <a:t> in </a:t>
                </a:r>
                <a:r>
                  <a:rPr lang="en-IN" sz="2400">
                    <a:solidFill>
                      <a:srgbClr val="111827"/>
                    </a:solidFill>
                    <a:latin typeface="Cambria Math" panose="02040503050406030204" pitchFamily="18" charset="0"/>
                  </a:rPr>
                  <a:t>$y^2-3y+\frac94=\left(y-\frac32\right)^2$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3730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Through any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of the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 line </a:t>
                </a:r>
                <a14:m>
                  <m:oMath xmlns:m="http://schemas.openxmlformats.org/officeDocument/2006/math">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oMath>
                </a14:m>
                <a:r>
                  <a:rPr sz="2400" b="0">
                    <a:solidFill>
                      <a:srgbClr val="111827"/>
                    </a:solidFill>
                    <a:latin typeface="Arial"/>
                  </a:rPr>
                  <a:t> is drawn with a fixed gradient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meeting the asymptotes in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Show that the product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constant, equal to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33730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Through any point </a:t>
                </a:r>
                <a:r>
                  <a:rPr lang="en-IN" sz="2400">
                    <a:solidFill>
                      <a:srgbClr val="111827"/>
                    </a:solidFill>
                    <a:latin typeface="Cambria Math" panose="02040503050406030204" pitchFamily="18" charset="0"/>
                  </a:rPr>
                  <a:t>$P$</a:t>
                </a:r>
                <a:r>
                  <a:rPr sz="2400" b="0">
                    <a:solidFill>
                      <a:srgbClr val="111827"/>
                    </a:solidFill>
                    <a:latin typeface="Arial"/>
                  </a:rPr>
                  <a:t> of the hyperbola </a:t>
                </a:r>
                <a:r>
                  <a:rPr lang="en-IN" sz="2400">
                    <a:solidFill>
                      <a:srgbClr val="111827"/>
                    </a:solidFill>
                    <a:latin typeface="Cambria Math" panose="02040503050406030204" pitchFamily="18" charset="0"/>
                  </a:rPr>
                  <a:t>$\frac{x^2}{a^2}-\frac{y^2}{b^2}=1$</a:t>
                </a:r>
                <a:r>
                  <a:rPr sz="2400" b="0">
                    <a:solidFill>
                      <a:srgbClr val="111827"/>
                    </a:solidFill>
                    <a:latin typeface="Arial"/>
                  </a:rPr>
                  <a:t> a line </a:t>
                </a:r>
                <a:r>
                  <a:rPr lang="en-IN" sz="2400">
                    <a:solidFill>
                      <a:srgbClr val="111827"/>
                    </a:solidFill>
                    <a:latin typeface="Cambria Math" panose="02040503050406030204" pitchFamily="18" charset="0"/>
                  </a:rPr>
                  <a:t>$QPR$</a:t>
                </a:r>
                <a:r>
                  <a:rPr sz="2400" b="0">
                    <a:solidFill>
                      <a:srgbClr val="111827"/>
                    </a:solidFill>
                    <a:latin typeface="Arial"/>
                  </a:rPr>
                  <a:t> is drawn with a fixed gradient </a:t>
                </a:r>
                <a:r>
                  <a:rPr lang="en-IN" sz="2400">
                    <a:solidFill>
                      <a:srgbClr val="111827"/>
                    </a:solidFill>
                    <a:latin typeface="Cambria Math" panose="02040503050406030204" pitchFamily="18" charset="0"/>
                  </a:rPr>
                  <a:t>$m$</a:t>
                </a:r>
                <a:r>
                  <a:rPr sz="2400" b="0">
                    <a:solidFill>
                      <a:srgbClr val="111827"/>
                    </a:solidFill>
                    <a:latin typeface="Arial"/>
                  </a:rPr>
                  <a:t>, meeting the asymptotes in </a:t>
                </a:r>
                <a:r>
                  <a:rPr lang="en-IN" sz="2400">
                    <a:solidFill>
                      <a:srgbClr val="111827"/>
                    </a:solidFill>
                    <a:latin typeface="Cambria Math" panose="02040503050406030204" pitchFamily="18" charset="0"/>
                  </a:rPr>
                  <a:t>$Q$</a:t>
                </a:r>
                <a:r>
                  <a:rPr sz="2400" b="0">
                    <a:solidFill>
                      <a:srgbClr val="111827"/>
                    </a:solidFill>
                    <a:latin typeface="Arial"/>
                  </a:rPr>
                  <a:t> and </a:t>
                </a:r>
                <a:r>
                  <a:rPr lang="en-IN" sz="2400">
                    <a:solidFill>
                      <a:srgbClr val="111827"/>
                    </a:solidFill>
                    <a:latin typeface="Cambria Math" panose="02040503050406030204" pitchFamily="18" charset="0"/>
                  </a:rPr>
                  <a:t>$R$</a:t>
                </a:r>
                <a:r>
                  <a:rPr sz="2400" b="0">
                    <a:solidFill>
                      <a:srgbClr val="111827"/>
                    </a:solidFill>
                    <a:latin typeface="Arial"/>
                  </a:rPr>
                  <a:t>. Show that the product </a:t>
                </a:r>
                <a:r>
                  <a:rPr lang="en-IN" sz="2400">
                    <a:solidFill>
                      <a:srgbClr val="111827"/>
                    </a:solidFill>
                    <a:latin typeface="Cambria Math" panose="02040503050406030204" pitchFamily="18" charset="0"/>
                  </a:rPr>
                  <a:t>$(QP)(PR)$</a:t>
                </a:r>
                <a:r>
                  <a:rPr sz="2400" b="0">
                    <a:solidFill>
                      <a:srgbClr val="111827"/>
                    </a:solidFill>
                    <a:latin typeface="Arial"/>
                  </a:rPr>
                  <a:t> is constant, equal to </a:t>
                </a:r>
                <a:r>
                  <a:rPr lang="en-IN" sz="2400">
                    <a:solidFill>
                      <a:srgbClr val="111827"/>
                    </a:solidFill>
                    <a:latin typeface="Cambria Math" panose="02040503050406030204" pitchFamily="18" charset="0"/>
                  </a:rPr>
                  <a:t>$\frac{a^2b^2(1+m^2)}{|b^2-a^2m^2|}$</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846068"/>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Line of fixed gradient through a point of a hyperbola meeting its asymptotes, Product of segments (QP)(PR)</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Take the points of the line as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with </a:t>
                </a:r>
                <a14:m>
                  <m:oMath xmlns:m="http://schemas.openxmlformats.org/officeDocument/2006/math">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oMath>
                </a14:m>
                <a:r>
                  <a:rPr sz="2400" b="0">
                    <a:solidFill>
                      <a:srgbClr val="78350F"/>
                    </a:solidFill>
                    <a:latin typeface="Arial"/>
                  </a:rPr>
                  <a:t>; substituting into the pair of asymptotes gives a quadratic in </a:t>
                </a:r>
                <a14:m>
                  <m:oMath xmlns:m="http://schemas.openxmlformats.org/officeDocument/2006/math">
                    <m:r>
                      <a:rPr lang="en-IN" sz="2400" i="1">
                        <a:solidFill>
                          <a:srgbClr val="78350F"/>
                        </a:solidFill>
                        <a:latin typeface="Cambria Math" panose="02040503050406030204" pitchFamily="18" charset="0"/>
                      </a:rPr>
                      <m:t>𝑟</m:t>
                    </m:r>
                  </m:oMath>
                </a14:m>
                <a:r>
                  <a:rPr sz="2400" b="0">
                    <a:solidFill>
                      <a:srgbClr val="78350F"/>
                    </a:solidFill>
                    <a:latin typeface="Arial"/>
                  </a:rPr>
                  <a:t> whose constant term is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 because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on the hyperbola.</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Take the points of the line as </a:t>
                </a:r>
                <a:r>
                  <a:rPr lang="en-IN" sz="2400">
                    <a:solidFill>
                      <a:srgbClr val="78350F"/>
                    </a:solidFill>
                    <a:latin typeface="Cambria Math" panose="02040503050406030204" pitchFamily="18" charset="0"/>
                  </a:rPr>
                  <a:t>$P+r(\cos\alpha,\sin\alpha)$</a:t>
                </a:r>
                <a:r>
                  <a:rPr sz="2400" b="0">
                    <a:solidFill>
                      <a:srgbClr val="78350F"/>
                    </a:solidFill>
                    <a:latin typeface="Arial"/>
                  </a:rPr>
                  <a:t> with </a:t>
                </a:r>
                <a:r>
                  <a:rPr lang="en-IN" sz="2400">
                    <a:solidFill>
                      <a:srgbClr val="78350F"/>
                    </a:solidFill>
                    <a:latin typeface="Cambria Math" panose="02040503050406030204" pitchFamily="18" charset="0"/>
                  </a:rPr>
                  <a:t>$\tan\alpha=m$</a:t>
                </a:r>
                <a:r>
                  <a:rPr sz="2400" b="0">
                    <a:solidFill>
                      <a:srgbClr val="78350F"/>
                    </a:solidFill>
                    <a:latin typeface="Arial"/>
                  </a:rPr>
                  <a:t>; substituting into the pair of asymptotes gives a quadratic in </a:t>
                </a:r>
                <a:r>
                  <a:rPr lang="en-IN" sz="2400">
                    <a:solidFill>
                      <a:srgbClr val="78350F"/>
                    </a:solidFill>
                    <a:latin typeface="Cambria Math" panose="02040503050406030204" pitchFamily="18" charset="0"/>
                  </a:rPr>
                  <a:t>$r$</a:t>
                </a:r>
                <a:r>
                  <a:rPr sz="2400" b="0">
                    <a:solidFill>
                      <a:srgbClr val="78350F"/>
                    </a:solidFill>
                    <a:latin typeface="Arial"/>
                  </a:rPr>
                  <a:t> whose constant term is </a:t>
                </a:r>
                <a:r>
                  <a:rPr lang="en-IN" sz="2400">
                    <a:solidFill>
                      <a:srgbClr val="78350F"/>
                    </a:solidFill>
                    <a:latin typeface="Cambria Math" panose="02040503050406030204" pitchFamily="18" charset="0"/>
                  </a:rPr>
                  <a:t>$1$</a:t>
                </a:r>
                <a:r>
                  <a:rPr sz="2400" b="0">
                    <a:solidFill>
                      <a:srgbClr val="78350F"/>
                    </a:solidFill>
                    <a:latin typeface="Arial"/>
                  </a:rPr>
                  <a:t> because </a:t>
                </a:r>
                <a:r>
                  <a:rPr lang="en-IN" sz="2400">
                    <a:solidFill>
                      <a:srgbClr val="78350F"/>
                    </a:solidFill>
                    <a:latin typeface="Cambria Math" panose="02040503050406030204" pitchFamily="18" charset="0"/>
                  </a:rPr>
                  <a:t>$P$</a:t>
                </a:r>
                <a:r>
                  <a:rPr sz="2400" b="0">
                    <a:solidFill>
                      <a:srgbClr val="78350F"/>
                    </a:solidFill>
                    <a:latin typeface="Arial"/>
                  </a:rPr>
                  <a:t> is on the hyperbola.</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hyperbola, answer and working are grey boxes; the standard hyperbola is used and the result derived here.) 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f>
                      <m:fPr>
                        <m:type m:val="bar"/>
                        <m:ctrlPr>
                          <a:rPr lang="en-IN" sz="2400" i="1">
                            <a:solidFill>
                              <a:srgbClr val="111827"/>
                            </a:solidFill>
                            <a:latin typeface="Cambria Math" panose="02040503050406030204" pitchFamily="18" charset="0"/>
                          </a:rPr>
                        </m:ctrlPr>
                      </m:fPr>
                      <m:num>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line of gradient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α</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distance from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Substitute: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hyperbola, answer and working are grey boxes; the standard hyperbola is used and the result derived here.) Let </a:t>
                </a:r>
                <a:r>
                  <a:rPr lang="en-IN" sz="2400">
                    <a:solidFill>
                      <a:srgbClr val="111827"/>
                    </a:solidFill>
                    <a:latin typeface="Cambria Math" panose="02040503050406030204" pitchFamily="18" charset="0"/>
                  </a:rPr>
                  <a:t>$P=(x_0,y_0)$</a:t>
                </a:r>
                <a:r>
                  <a:rPr sz="2400" b="0">
                    <a:solidFill>
                      <a:srgbClr val="111827"/>
                    </a:solidFill>
                    <a:latin typeface="Arial"/>
                  </a:rPr>
                  <a:t> with </a:t>
                </a:r>
                <a:r>
                  <a:rPr lang="en-IN" sz="2400">
                    <a:solidFill>
                      <a:srgbClr val="111827"/>
                    </a:solidFill>
                    <a:latin typeface="Cambria Math" panose="02040503050406030204" pitchFamily="18" charset="0"/>
                  </a:rPr>
                  <a:t>$\frac{x_0^2}{a^2}-\frac{y_0^2}{b^2}=1$</a:t>
                </a:r>
                <a:r>
                  <a:rPr sz="2400" b="0">
                    <a:solidFill>
                      <a:srgbClr val="111827"/>
                    </a:solidFill>
                    <a:latin typeface="Arial"/>
                  </a:rPr>
                  <a:t>. The line of gradient </a:t>
                </a:r>
                <a:r>
                  <a:rPr lang="en-IN" sz="2400">
                    <a:solidFill>
                      <a:srgbClr val="111827"/>
                    </a:solidFill>
                    <a:latin typeface="Cambria Math" panose="02040503050406030204" pitchFamily="18" charset="0"/>
                  </a:rPr>
                  <a:t>$m=\tan\alpha$</a:t>
                </a:r>
                <a:r>
                  <a:rPr sz="2400" b="0">
                    <a:solidFill>
                      <a:srgbClr val="111827"/>
                    </a:solidFill>
                    <a:latin typeface="Arial"/>
                  </a:rPr>
                  <a:t>: </a:t>
                </a:r>
                <a:r>
                  <a:rPr lang="en-IN" sz="2400">
                    <a:solidFill>
                      <a:srgbClr val="111827"/>
                    </a:solidFill>
                    <a:latin typeface="Cambria Math" panose="02040503050406030204" pitchFamily="18" charset="0"/>
                  </a:rPr>
                  <a:t>$(x,y)=(x_0+r\cos\alpha,\ y_0+r\sin\alpha)$</a:t>
                </a:r>
                <a:r>
                  <a:rPr sz="2400" b="0">
                    <a:solidFill>
                      <a:srgbClr val="111827"/>
                    </a:solidFill>
                    <a:latin typeface="Arial"/>
                  </a:rPr>
                  <a:t>, where </a:t>
                </a:r>
                <a:r>
                  <a:rPr lang="en-IN" sz="2400">
                    <a:solidFill>
                      <a:srgbClr val="111827"/>
                    </a:solidFill>
                    <a:latin typeface="Cambria Math" panose="02040503050406030204" pitchFamily="18" charset="0"/>
                  </a:rPr>
                  <a:t>$|r|$</a:t>
                </a:r>
                <a:r>
                  <a:rPr sz="2400" b="0">
                    <a:solidFill>
                      <a:srgbClr val="111827"/>
                    </a:solidFill>
                    <a:latin typeface="Arial"/>
                  </a:rPr>
                  <a:t> is the distance from </a:t>
                </a:r>
                <a:r>
                  <a:rPr lang="en-IN" sz="2400">
                    <a:solidFill>
                      <a:srgbClr val="111827"/>
                    </a:solidFill>
                    <a:latin typeface="Cambria Math" panose="02040503050406030204" pitchFamily="18" charset="0"/>
                  </a:rPr>
                  <a:t>$P$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a:t>
                </a:r>
                <a:r>
                  <a:rPr lang="en-IN" sz="2400">
                    <a:solidFill>
                      <a:srgbClr val="111827"/>
                    </a:solidFill>
                    <a:latin typeface="Cambria Math" panose="02040503050406030204" pitchFamily="18" charset="0"/>
                  </a:rPr>
                  <a:t>$\frac{x^2}{a^2}-\frac{y^2}{b^2}=0$</a:t>
                </a:r>
                <a:r>
                  <a:rPr sz="2400" b="0">
                    <a:solidFill>
                      <a:srgbClr val="111827"/>
                    </a:solidFill>
                    <a:latin typeface="Arial"/>
                  </a:rPr>
                  <a:t>. Substitute: </a:t>
                </a:r>
                <a:r>
                  <a:rPr lang="en-IN" sz="2400">
                    <a:solidFill>
                      <a:srgbClr val="111827"/>
                    </a:solidFill>
                    <a:latin typeface="Cambria Math" panose="02040503050406030204" pitchFamily="18" charset="0"/>
                  </a:rPr>
                  <a:t>$\frac{(x_0+r\cos\alpha)^2}{a^2}-\frac{(y_0+r\sin\alpha)^2}{b^2}=0$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Expand: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constant term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two roots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the signed distances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and </a:t>
                </a:r>
                <a14:m>
                  <m:oMath xmlns:m="http://schemas.openxmlformats.org/officeDocument/2006/math">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which does not depend on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(only on the fixed gradient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Expand: </a:t>
                </a:r>
                <a:r>
                  <a:rPr lang="en-IN" sz="2400">
                    <a:solidFill>
                      <a:srgbClr val="111827"/>
                    </a:solidFill>
                    <a:latin typeface="Cambria Math" panose="02040503050406030204" pitchFamily="18" charset="0"/>
                  </a:rPr>
                  <a:t>$r^2\left(\frac{\cos^2\alpha}{a^2}-\frac{\sin^2\alpha}{b^2}\right)+2r\left(\frac{x_0\cos\alpha}{a^2}-\frac{y_0\sin\alpha}{b^2}\right)+\left(\frac{x_0^2}{a^2}-\frac{y_0^2}{b^2}\right)=0$</a:t>
                </a:r>
                <a:r>
                  <a:rPr sz="2400" b="0">
                    <a:solidFill>
                      <a:srgbClr val="111827"/>
                    </a:solidFill>
                    <a:latin typeface="Arial"/>
                  </a:rPr>
                  <a:t>; the constant term is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two roots </a:t>
                </a:r>
                <a:r>
                  <a:rPr lang="en-IN" sz="2400">
                    <a:solidFill>
                      <a:srgbClr val="111827"/>
                    </a:solidFill>
                    <a:latin typeface="Cambria Math" panose="02040503050406030204" pitchFamily="18" charset="0"/>
                  </a:rPr>
                  <a:t>$r_1,r_2$</a:t>
                </a:r>
                <a:r>
                  <a:rPr sz="2400" b="0">
                    <a:solidFill>
                      <a:srgbClr val="111827"/>
                    </a:solidFill>
                    <a:latin typeface="Arial"/>
                  </a:rPr>
                  <a:t> are the signed distances </a:t>
                </a:r>
                <a:r>
                  <a:rPr lang="en-IN" sz="2400">
                    <a:solidFill>
                      <a:srgbClr val="111827"/>
                    </a:solidFill>
                    <a:latin typeface="Cambria Math" panose="02040503050406030204" pitchFamily="18" charset="0"/>
                  </a:rPr>
                  <a:t>$PQ,PR$</a:t>
                </a:r>
                <a:r>
                  <a:rPr sz="2400" b="0">
                    <a:solidFill>
                      <a:srgbClr val="111827"/>
                    </a:solidFill>
                    <a:latin typeface="Arial"/>
                  </a:rPr>
                  <a:t>: </a:t>
                </a:r>
                <a:r>
                  <a:rPr lang="en-IN" sz="2400">
                    <a:solidFill>
                      <a:srgbClr val="111827"/>
                    </a:solidFill>
                    <a:latin typeface="Cambria Math" panose="02040503050406030204" pitchFamily="18" charset="0"/>
                  </a:rPr>
                  <a:t>$r_1r_2=\frac{1}{\frac{\cos^2\alpha}{a^2}-\frac{\sin^2\alpha}{b^2}}=\frac{a^2b^2}{b^2\cos^2\alpha-a^2\sin^2\alpha}$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$\cos^2\alpha=\frac{1}{1+m^2}$</a:t>
                </a:r>
                <a:r>
                  <a:rPr sz="2400" b="0">
                    <a:solidFill>
                      <a:srgbClr val="111827"/>
                    </a:solidFill>
                    <a:latin typeface="Arial"/>
                  </a:rPr>
                  <a:t> and </a:t>
                </a:r>
                <a:r>
                  <a:rPr lang="en-IN" sz="2400">
                    <a:solidFill>
                      <a:srgbClr val="111827"/>
                    </a:solidFill>
                    <a:latin typeface="Cambria Math" panose="02040503050406030204" pitchFamily="18" charset="0"/>
                  </a:rPr>
                  <a:t>$\sin^2\alpha=\frac{m^2}{1+m^2}$</a:t>
                </a:r>
                <a:r>
                  <a:rPr sz="2400" b="0">
                    <a:solidFill>
                      <a:srgbClr val="111827"/>
                    </a:solidFill>
                    <a:latin typeface="Arial"/>
                  </a:rPr>
                  <a:t>: </a:t>
                </a:r>
                <a:r>
                  <a:rPr lang="en-IN" sz="2400">
                    <a:solidFill>
                      <a:srgbClr val="111827"/>
                    </a:solidFill>
                    <a:latin typeface="Cambria Math" panose="02040503050406030204" pitchFamily="18" charset="0"/>
                  </a:rPr>
                  <a:t>$r_1r_2=\frac{a^2b^2(1+m^2)}{b^2-a^2m^2}$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$(QP)(PR)=|r_1r_2|=\frac{a^2b^2(1+m^2)}{|b^2-a^2m^2|}$</a:t>
                </a:r>
                <a:r>
                  <a:rPr sz="2400" b="0">
                    <a:solidFill>
                      <a:srgbClr val="111827"/>
                    </a:solidFill>
                    <a:latin typeface="Arial"/>
                  </a:rPr>
                  <a:t>, which does not depend on </a:t>
                </a:r>
                <a:r>
                  <a:rPr lang="en-IN" sz="2400">
                    <a:solidFill>
                      <a:srgbClr val="111827"/>
                    </a:solidFill>
                    <a:latin typeface="Cambria Math" panose="02040503050406030204" pitchFamily="18" charset="0"/>
                  </a:rPr>
                  <a:t>$P$</a:t>
                </a:r>
                <a:r>
                  <a:rPr sz="2400" b="0">
                    <a:solidFill>
                      <a:srgbClr val="111827"/>
                    </a:solidFill>
                    <a:latin typeface="Arial"/>
                  </a:rPr>
                  <a:t> (only on the fixed gradient </a:t>
                </a:r>
                <a:r>
                  <a:rPr lang="en-IN" sz="2400">
                    <a:solidFill>
                      <a:srgbClr val="111827"/>
                    </a:solidFill>
                    <a:latin typeface="Cambria Math" panose="02040503050406030204" pitchFamily="18" charset="0"/>
                  </a:rPr>
                  <a:t>$m$</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𝑄</m:t>
                    </m:r>
                    <m:r>
                      <a:rPr lang="en-IN" sz="2800" i="1">
                        <a:solidFill>
                          <a:srgbClr val="15803D"/>
                        </a:solidFill>
                        <a:latin typeface="Cambria Math" panose="02040503050406030204" pitchFamily="18" charset="0"/>
                      </a:rPr>
                      <m:t>𝑃</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𝑅</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𝑚</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num>
                      <m:den>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sSup>
                          <m:e>
                            <m:r>
                              <a:rPr lang="en-IN" sz="2800" i="1">
                                <a:solidFill>
                                  <a:srgbClr val="15803D"/>
                                </a:solidFill>
                                <a:latin typeface="Cambria Math" panose="02040503050406030204" pitchFamily="18" charset="0"/>
                              </a:rPr>
                              <m:t>𝑚</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den>
                    </m:f>
                  </m:oMath>
                </a14:m>
                <a:r>
                  <a:rPr sz="2800" b="1">
                    <a:solidFill>
                      <a:srgbClr val="15803D"/>
                    </a:solidFill>
                    <a:latin typeface="Arial"/>
                  </a:rPr>
                  <a:t>, independent of </a:t>
                </a:r>
                <a14:m>
                  <m:oMath xmlns:m="http://schemas.openxmlformats.org/officeDocument/2006/math">
                    <m:r>
                      <a:rPr lang="en-IN" sz="2800" i="1">
                        <a:solidFill>
                          <a:srgbClr val="15803D"/>
                        </a:solidFill>
                        <a:latin typeface="Cambria Math" panose="02040503050406030204" pitchFamily="18" charset="0"/>
                      </a:rPr>
                      <m:t>𝑃</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$(QP)(PR)=\frac{a^2b^2(1+m^2)}{|b^2-a^2m^2|}$</a:t>
                </a:r>
                <a:r>
                  <a:rPr sz="2800" b="1">
                    <a:solidFill>
                      <a:srgbClr val="15803D"/>
                    </a:solidFill>
                    <a:latin typeface="Arial"/>
                  </a:rPr>
                  <a:t>, independent of </a:t>
                </a:r>
                <a:r>
                  <a:rPr lang="en-IN" sz="2800">
                    <a:solidFill>
                      <a:srgbClr val="15803D"/>
                    </a:solidFill>
                    <a:latin typeface="Cambria Math" panose="02040503050406030204" pitchFamily="18" charset="0"/>
                  </a:rPr>
                  <a:t>$P$</a:t>
                </a:r>
                <a:endParaRPr sz="2800">
                  <a:solidFill>
                    <a:srgbClr val="15803D"/>
                  </a:solidFill>
                </a:endParaRPr>
              </a:p>
            </p:txBody>
          </p:sp>
        </mc:Fallback>
      </mc:AlternateContent>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 asymptote coordinates </a:t>
                </a:r>
                <a14:m>
                  <m:oMath xmlns:m="http://schemas.openxmlformats.org/officeDocument/2006/math">
                    <m:r>
                      <a:rPr lang="en-IN" sz="2400" i="1">
                        <a:solidFill>
                          <a:srgbClr val="78350F"/>
                        </a:solidFill>
                        <a:latin typeface="Cambria Math" panose="02040503050406030204" pitchFamily="18" charset="0"/>
                      </a:rPr>
                      <m:t>𝑈</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𝑥</m:t>
                        </m:r>
                      </m:num>
                      <m:den>
                        <m:r>
                          <a:rPr lang="en-IN" sz="2400" i="1">
                            <a:solidFill>
                              <a:srgbClr val="78350F"/>
                            </a:solidFill>
                            <a:latin typeface="Cambria Math" panose="02040503050406030204" pitchFamily="18" charset="0"/>
                          </a:rPr>
                          <m:t>𝑎</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𝑏</m:t>
                        </m:r>
                      </m:den>
                    </m:f>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𝑥</m:t>
                        </m:r>
                      </m:num>
                      <m:den>
                        <m:r>
                          <a:rPr lang="en-IN" sz="2400" i="1">
                            <a:solidFill>
                              <a:srgbClr val="78350F"/>
                            </a:solidFill>
                            <a:latin typeface="Cambria Math" panose="02040503050406030204" pitchFamily="18" charset="0"/>
                          </a:rPr>
                          <m:t>𝑎</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𝑏</m:t>
                        </m:r>
                      </m:den>
                    </m:f>
                  </m:oMath>
                </a14:m>
                <a:r>
                  <a:rPr sz="2400" b="0">
                    <a:solidFill>
                      <a:srgbClr val="78350F"/>
                    </a:solidFill>
                    <a:latin typeface="Arial"/>
                  </a:rPr>
                  <a:t> the hyperbola is </a:t>
                </a:r>
                <a14:m>
                  <m:oMath xmlns:m="http://schemas.openxmlformats.org/officeDocument/2006/math">
                    <m:r>
                      <a:rPr lang="en-IN" sz="2400" i="1">
                        <a:solidFill>
                          <a:srgbClr val="78350F"/>
                        </a:solidFill>
                        <a:latin typeface="Cambria Math" panose="02040503050406030204" pitchFamily="18" charset="0"/>
                      </a:rPr>
                      <m:t>𝑈</m:t>
                    </m:r>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the asymptotes are the axes; then </a:t>
                </a:r>
                <a14:m>
                  <m:oMath xmlns:m="http://schemas.openxmlformats.org/officeDocument/2006/math">
                    <m:r>
                      <a:rPr lang="en-IN" sz="2400" i="1">
                        <a:solidFill>
                          <a:srgbClr val="78350F"/>
                        </a:solidFill>
                        <a:latin typeface="Cambria Math" panose="02040503050406030204" pitchFamily="18" charset="0"/>
                      </a:rPr>
                      <m:t>𝑄</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𝑅</m:t>
                    </m:r>
                  </m:oMath>
                </a14:m>
                <a:r>
                  <a:rPr sz="2400" b="0">
                    <a:solidFill>
                      <a:srgbClr val="78350F"/>
                    </a:solidFill>
                    <a:latin typeface="Arial"/>
                  </a:rPr>
                  <a:t> is read off from </a:t>
                </a:r>
                <a14:m>
                  <m:oMath xmlns:m="http://schemas.openxmlformats.org/officeDocument/2006/math">
                    <m:sSub>
                      <m:e>
                        <m:r>
                          <a:rPr lang="en-IN" sz="2400" i="1">
                            <a:solidFill>
                              <a:srgbClr val="78350F"/>
                            </a:solidFill>
                            <a:latin typeface="Cambria Math" panose="02040503050406030204" pitchFamily="18" charset="0"/>
                          </a:rPr>
                          <m:t>𝑈</m:t>
                        </m:r>
                      </m:e>
                      <m:sub>
                        <m:r>
                          <a:rPr lang="en-IN" sz="2400" i="1">
                            <a:solidFill>
                              <a:srgbClr val="78350F"/>
                            </a:solidFill>
                            <a:latin typeface="Cambria Math" panose="02040503050406030204" pitchFamily="18" charset="0"/>
                          </a:rPr>
                          <m:t>0</m:t>
                        </m:r>
                      </m:sub>
                    </m:sSub>
                    <m:sSub>
                      <m:e>
                        <m:r>
                          <a:rPr lang="en-IN" sz="2400" i="1">
                            <a:solidFill>
                              <a:srgbClr val="78350F"/>
                            </a:solidFill>
                            <a:latin typeface="Cambria Math" panose="02040503050406030204" pitchFamily="18" charset="0"/>
                          </a:rPr>
                          <m:t>𝑉</m:t>
                        </m:r>
                      </m:e>
                      <m:sub>
                        <m:r>
                          <a:rPr lang="en-IN" sz="2400" i="1">
                            <a:solidFill>
                              <a:srgbClr val="78350F"/>
                            </a:solidFill>
                            <a:latin typeface="Cambria Math" panose="02040503050406030204" pitchFamily="18" charset="0"/>
                          </a:rPr>
                          <m:t>0</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 asymptote coordinates </a:t>
                </a:r>
                <a:r>
                  <a:rPr lang="en-IN" sz="2400">
                    <a:solidFill>
                      <a:srgbClr val="78350F"/>
                    </a:solidFill>
                    <a:latin typeface="Cambria Math" panose="02040503050406030204" pitchFamily="18" charset="0"/>
                  </a:rPr>
                  <a:t>$U=\frac xa+\frac yb$</a:t>
                </a:r>
                <a:r>
                  <a:rPr sz="2400" b="0">
                    <a:solidFill>
                      <a:srgbClr val="78350F"/>
                    </a:solidFill>
                    <a:latin typeface="Arial"/>
                  </a:rPr>
                  <a:t>, </a:t>
                </a:r>
                <a:r>
                  <a:rPr lang="en-IN" sz="2400">
                    <a:solidFill>
                      <a:srgbClr val="78350F"/>
                    </a:solidFill>
                    <a:latin typeface="Cambria Math" panose="02040503050406030204" pitchFamily="18" charset="0"/>
                  </a:rPr>
                  <a:t>$V=\frac xa-\frac yb$</a:t>
                </a:r>
                <a:r>
                  <a:rPr sz="2400" b="0">
                    <a:solidFill>
                      <a:srgbClr val="78350F"/>
                    </a:solidFill>
                    <a:latin typeface="Arial"/>
                  </a:rPr>
                  <a:t> the hyperbola is </a:t>
                </a:r>
                <a:r>
                  <a:rPr lang="en-IN" sz="2400">
                    <a:solidFill>
                      <a:srgbClr val="78350F"/>
                    </a:solidFill>
                    <a:latin typeface="Cambria Math" panose="02040503050406030204" pitchFamily="18" charset="0"/>
                  </a:rPr>
                  <a:t>$UV=1$</a:t>
                </a:r>
                <a:r>
                  <a:rPr sz="2400" b="0">
                    <a:solidFill>
                      <a:srgbClr val="78350F"/>
                    </a:solidFill>
                    <a:latin typeface="Arial"/>
                  </a:rPr>
                  <a:t> and the asymptotes are the axes; then </a:t>
                </a:r>
                <a:r>
                  <a:rPr lang="en-IN" sz="2400">
                    <a:solidFill>
                      <a:srgbClr val="78350F"/>
                    </a:solidFill>
                    <a:latin typeface="Cambria Math" panose="02040503050406030204" pitchFamily="18" charset="0"/>
                  </a:rPr>
                  <a:t>$QP\cdot PR$</a:t>
                </a:r>
                <a:r>
                  <a:rPr sz="2400" b="0">
                    <a:solidFill>
                      <a:srgbClr val="78350F"/>
                    </a:solidFill>
                    <a:latin typeface="Arial"/>
                  </a:rPr>
                  <a:t> is read off from </a:t>
                </a:r>
                <a:r>
                  <a:rPr lang="en-IN" sz="2400">
                    <a:solidFill>
                      <a:srgbClr val="78350F"/>
                    </a:solidFill>
                    <a:latin typeface="Cambria Math" panose="02040503050406030204" pitchFamily="18" charset="0"/>
                  </a:rPr>
                  <a:t>$U_0V_0=1$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hyperbola is </a:t>
                </a:r>
                <a14:m>
                  <m:oMath xmlns:m="http://schemas.openxmlformats.org/officeDocument/2006/math">
                    <m:r>
                      <a:rPr lang="en-IN" sz="2400" i="1">
                        <a:solidFill>
                          <a:srgbClr val="111827"/>
                        </a:solidFill>
                        <a:latin typeface="Cambria Math" panose="02040503050406030204" pitchFamily="18" charset="0"/>
                      </a:rPr>
                      <m:t>𝑈</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asymptotes are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(through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say) and </a:t>
                </a:r>
                <a14:m>
                  <m:oMath xmlns:m="http://schemas.openxmlformats.org/officeDocument/2006/math">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(through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𝑈</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𝑉</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𝑈</m:t>
                        </m:r>
                      </m:e>
                      <m:sub>
                        <m:r>
                          <a:rPr lang="en-IN" sz="2400" i="1">
                            <a:solidFill>
                              <a:srgbClr val="111827"/>
                            </a:solidFill>
                            <a:latin typeface="Cambria Math" panose="02040503050406030204" pitchFamily="18" charset="0"/>
                          </a:rPr>
                          <m:t>0</m:t>
                        </m:r>
                      </m:sub>
                    </m:sSub>
                    <m:sSub>
                      <m:e>
                        <m:r>
                          <a:rPr lang="en-IN" sz="2400" i="1">
                            <a:solidFill>
                              <a:srgbClr val="111827"/>
                            </a:solidFill>
                            <a:latin typeface="Cambria Math" panose="02040503050406030204" pitchFamily="18" charset="0"/>
                          </a:rPr>
                          <m:t>𝑉</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Moving along the line by </a:t>
                </a:r>
                <a14:m>
                  <m:oMath xmlns:m="http://schemas.openxmlformats.org/officeDocument/2006/math">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changes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𝑏</m:t>
                            </m:r>
                          </m:den>
                        </m:f>
                      </m:e>
                    </m:d>
                  </m:oMath>
                </a14:m>
                <a:r>
                  <a:rPr sz="2400" b="0">
                    <a:solidFill>
                      <a:srgbClr val="111827"/>
                    </a:solidFill>
                    <a:latin typeface="Arial"/>
                  </a:rPr>
                  <a:t> and the actual length by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227832"/>
                <a:ext cx="10725912" cy="344728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t>
                </a:r>
                <a:r>
                  <a:rPr lang="en-IN" sz="2400">
                    <a:solidFill>
                      <a:srgbClr val="111827"/>
                    </a:solidFill>
                    <a:latin typeface="Cambria Math" panose="02040503050406030204" pitchFamily="18" charset="0"/>
                  </a:rPr>
                  <a:t>$(U,V)$</a:t>
                </a:r>
                <a:r>
                  <a:rPr sz="2400" b="0">
                    <a:solidFill>
                      <a:srgbClr val="111827"/>
                    </a:solidFill>
                    <a:latin typeface="Arial"/>
                  </a:rPr>
                  <a:t> the hyperbola is </a:t>
                </a:r>
                <a:r>
                  <a:rPr lang="en-IN" sz="2400">
                    <a:solidFill>
                      <a:srgbClr val="111827"/>
                    </a:solidFill>
                    <a:latin typeface="Cambria Math" panose="02040503050406030204" pitchFamily="18" charset="0"/>
                  </a:rPr>
                  <a:t>$UV=1$</a:t>
                </a:r>
                <a:r>
                  <a:rPr sz="2400" b="0">
                    <a:solidFill>
                      <a:srgbClr val="111827"/>
                    </a:solidFill>
                    <a:latin typeface="Arial"/>
                  </a:rPr>
                  <a:t> and the asymptotes are </a:t>
                </a:r>
                <a:r>
                  <a:rPr lang="en-IN" sz="2400">
                    <a:solidFill>
                      <a:srgbClr val="111827"/>
                    </a:solidFill>
                    <a:latin typeface="Cambria Math" panose="02040503050406030204" pitchFamily="18" charset="0"/>
                  </a:rPr>
                  <a:t>$V=0$</a:t>
                </a:r>
                <a:r>
                  <a:rPr sz="2400" b="0">
                    <a:solidFill>
                      <a:srgbClr val="111827"/>
                    </a:solidFill>
                    <a:latin typeface="Arial"/>
                  </a:rPr>
                  <a:t> (through </a:t>
                </a:r>
                <a:r>
                  <a:rPr lang="en-IN" sz="2400">
                    <a:solidFill>
                      <a:srgbClr val="111827"/>
                    </a:solidFill>
                    <a:latin typeface="Cambria Math" panose="02040503050406030204" pitchFamily="18" charset="0"/>
                  </a:rPr>
                  <a:t>$R$</a:t>
                </a:r>
                <a:r>
                  <a:rPr sz="2400" b="0">
                    <a:solidFill>
                      <a:srgbClr val="111827"/>
                    </a:solidFill>
                    <a:latin typeface="Arial"/>
                  </a:rPr>
                  <a:t>, say) and </a:t>
                </a:r>
                <a:r>
                  <a:rPr lang="en-IN" sz="2400">
                    <a:solidFill>
                      <a:srgbClr val="111827"/>
                    </a:solidFill>
                    <a:latin typeface="Cambria Math" panose="02040503050406030204" pitchFamily="18" charset="0"/>
                  </a:rPr>
                  <a:t>$U=0$</a:t>
                </a:r>
                <a:r>
                  <a:rPr sz="2400" b="0">
                    <a:solidFill>
                      <a:srgbClr val="111827"/>
                    </a:solidFill>
                    <a:latin typeface="Arial"/>
                  </a:rPr>
                  <a:t> (through </a:t>
                </a:r>
                <a:r>
                  <a:rPr lang="en-IN" sz="2400">
                    <a:solidFill>
                      <a:srgbClr val="111827"/>
                    </a:solidFill>
                    <a:latin typeface="Cambria Math" panose="02040503050406030204" pitchFamily="18" charset="0"/>
                  </a:rPr>
                  <a:t>$Q$</a:t>
                </a:r>
                <a:r>
                  <a:rPr sz="2400" b="0">
                    <a:solidFill>
                      <a:srgbClr val="111827"/>
                    </a:solidFill>
                    <a:latin typeface="Arial"/>
                  </a:rPr>
                  <a:t>). Let </a:t>
                </a:r>
                <a:r>
                  <a:rPr lang="en-IN" sz="2400">
                    <a:solidFill>
                      <a:srgbClr val="111827"/>
                    </a:solidFill>
                    <a:latin typeface="Cambria Math" panose="02040503050406030204" pitchFamily="18" charset="0"/>
                  </a:rPr>
                  <a:t>$P=(U_0,V_0)$</a:t>
                </a:r>
                <a:r>
                  <a:rPr sz="2400" b="0">
                    <a:solidFill>
                      <a:srgbClr val="111827"/>
                    </a:solidFill>
                    <a:latin typeface="Arial"/>
                  </a:rPr>
                  <a:t> with </a:t>
                </a:r>
                <a:r>
                  <a:rPr lang="en-IN" sz="2400">
                    <a:solidFill>
                      <a:srgbClr val="111827"/>
                    </a:solidFill>
                    <a:latin typeface="Cambria Math" panose="02040503050406030204" pitchFamily="18" charset="0"/>
                  </a:rPr>
                  <a:t>$U_0V_0=1$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Moving along the line by </a:t>
                </a:r>
                <a:r>
                  <a:rPr lang="en-IN" sz="2400">
                    <a:solidFill>
                      <a:srgbClr val="111827"/>
                    </a:solidFill>
                    <a:latin typeface="Cambria Math" panose="02040503050406030204" pitchFamily="18" charset="0"/>
                  </a:rPr>
                  <a:t>$dx=1,\ dy=m$</a:t>
                </a:r>
                <a:r>
                  <a:rPr sz="2400" b="0">
                    <a:solidFill>
                      <a:srgbClr val="111827"/>
                    </a:solidFill>
                    <a:latin typeface="Arial"/>
                  </a:rPr>
                  <a:t> changes </a:t>
                </a:r>
                <a:r>
                  <a:rPr lang="en-IN" sz="2400">
                    <a:solidFill>
                      <a:srgbClr val="111827"/>
                    </a:solidFill>
                    <a:latin typeface="Cambria Math" panose="02040503050406030204" pitchFamily="18" charset="0"/>
                  </a:rPr>
                  <a:t>$(U,V)$</a:t>
                </a:r>
                <a:r>
                  <a:rPr sz="2400" b="0">
                    <a:solidFill>
                      <a:srgbClr val="111827"/>
                    </a:solidFill>
                    <a:latin typeface="Arial"/>
                  </a:rPr>
                  <a:t> by </a:t>
                </a:r>
                <a:r>
                  <a:rPr lang="en-IN" sz="2400">
                    <a:solidFill>
                      <a:srgbClr val="111827"/>
                    </a:solidFill>
                    <a:latin typeface="Cambria Math" panose="02040503050406030204" pitchFamily="18" charset="0"/>
                  </a:rPr>
                  <a:t>$(dU,dV)=\left(\frac1a+\frac mb,\ \frac1a-\frac mb\right)$</a:t>
                </a:r>
                <a:r>
                  <a:rPr sz="2400" b="0">
                    <a:solidFill>
                      <a:srgbClr val="111827"/>
                    </a:solidFill>
                    <a:latin typeface="Arial"/>
                  </a:rPr>
                  <a:t> and the actual length by </a:t>
                </a:r>
                <a:r>
                  <a:rPr lang="en-IN" sz="2400">
                    <a:solidFill>
                      <a:srgbClr val="111827"/>
                    </a:solidFill>
                    <a:latin typeface="Cambria Math" panose="02040503050406030204" pitchFamily="18" charset="0"/>
                  </a:rPr>
                  <a:t>$\sqrt{1+m^2}$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points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has </a:t>
                </a:r>
                <a14:m>
                  <m:oMath xmlns:m="http://schemas.openxmlformats.org/officeDocument/2006/math">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𝑅</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𝑉</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𝑉</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has </a:t>
                </a:r>
                <a14:m>
                  <m:oMath xmlns:m="http://schemas.openxmlformats.org/officeDocument/2006/math">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𝑄</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𝑈</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𝑈</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𝑄</m:t>
                        </m:r>
                      </m:sub>
                    </m:sSub>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𝑅</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𝑈</m:t>
                            </m:r>
                          </m:e>
                          <m:sub>
                            <m:r>
                              <a:rPr lang="en-IN" sz="2400" i="1">
                                <a:solidFill>
                                  <a:srgbClr val="111827"/>
                                </a:solidFill>
                                <a:latin typeface="Cambria Math" panose="02040503050406030204" pitchFamily="18" charset="0"/>
                              </a:rPr>
                              <m:t>0</m:t>
                            </m:r>
                          </m:sub>
                        </m:sSub>
                        <m:sSub>
                          <m:e>
                            <m:r>
                              <a:rPr lang="en-IN" sz="2400" i="1">
                                <a:solidFill>
                                  <a:srgbClr val="111827"/>
                                </a:solidFill>
                                <a:latin typeface="Cambria Math" panose="02040503050406030204" pitchFamily="18" charset="0"/>
                              </a:rPr>
                              <m:t>𝑉</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𝑈</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𝑉</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Lengths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e>
                        </m: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points </a:t>
                </a:r>
                <a:r>
                  <a:rPr lang="en-IN" sz="2400">
                    <a:solidFill>
                      <a:srgbClr val="111827"/>
                    </a:solidFill>
                    <a:latin typeface="Cambria Math" panose="02040503050406030204" pitchFamily="18" charset="0"/>
                  </a:rPr>
                  <a:t>$P+\lambda(dU,dV)$</a:t>
                </a:r>
                <a:r>
                  <a:rPr sz="2400" b="0">
                    <a:solidFill>
                      <a:srgbClr val="111827"/>
                    </a:solidFill>
                    <a:latin typeface="Arial"/>
                  </a:rPr>
                  <a:t>: </a:t>
                </a:r>
                <a:r>
                  <a:rPr lang="en-IN" sz="2400">
                    <a:solidFill>
                      <a:srgbClr val="111827"/>
                    </a:solidFill>
                    <a:latin typeface="Cambria Math" panose="02040503050406030204" pitchFamily="18" charset="0"/>
                  </a:rPr>
                  <a:t>$R$</a:t>
                </a:r>
                <a:r>
                  <a:rPr sz="2400" b="0">
                    <a:solidFill>
                      <a:srgbClr val="111827"/>
                    </a:solidFill>
                    <a:latin typeface="Arial"/>
                  </a:rPr>
                  <a:t> at </a:t>
                </a:r>
                <a:r>
                  <a:rPr lang="en-IN" sz="2400">
                    <a:solidFill>
                      <a:srgbClr val="111827"/>
                    </a:solidFill>
                    <a:latin typeface="Cambria Math" panose="02040503050406030204" pitchFamily="18" charset="0"/>
                  </a:rPr>
                  <a:t>$V=0$</a:t>
                </a:r>
                <a:r>
                  <a:rPr sz="2400" b="0">
                    <a:solidFill>
                      <a:srgbClr val="111827"/>
                    </a:solidFill>
                    <a:latin typeface="Arial"/>
                  </a:rPr>
                  <a:t> has </a:t>
                </a:r>
                <a:r>
                  <a:rPr lang="en-IN" sz="2400">
                    <a:solidFill>
                      <a:srgbClr val="111827"/>
                    </a:solidFill>
                    <a:latin typeface="Cambria Math" panose="02040503050406030204" pitchFamily="18" charset="0"/>
                  </a:rPr>
                  <a:t>$\lambda_R=-\frac{V_0}{dV}$</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at </a:t>
                </a:r>
                <a:r>
                  <a:rPr lang="en-IN" sz="2400">
                    <a:solidFill>
                      <a:srgbClr val="111827"/>
                    </a:solidFill>
                    <a:latin typeface="Cambria Math" panose="02040503050406030204" pitchFamily="18" charset="0"/>
                  </a:rPr>
                  <a:t>$U=0$</a:t>
                </a:r>
                <a:r>
                  <a:rPr sz="2400" b="0">
                    <a:solidFill>
                      <a:srgbClr val="111827"/>
                    </a:solidFill>
                    <a:latin typeface="Arial"/>
                  </a:rPr>
                  <a:t> has </a:t>
                </a:r>
                <a:r>
                  <a:rPr lang="en-IN" sz="2400">
                    <a:solidFill>
                      <a:srgbClr val="111827"/>
                    </a:solidFill>
                    <a:latin typeface="Cambria Math" panose="02040503050406030204" pitchFamily="18" charset="0"/>
                  </a:rPr>
                  <a:t>$\lambda_Q=-\frac{U_0}{dU}$</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$\lambda_Q\lambda_R=\frac{U_0V_0}{dU\,dV}=\frac{1}{\frac1{a^2}-\frac{m^2}{b^2}}$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Lengths are </a:t>
                </a:r>
                <a:r>
                  <a:rPr lang="en-IN" sz="2400">
                    <a:solidFill>
                      <a:srgbClr val="111827"/>
                    </a:solidFill>
                    <a:latin typeface="Cambria Math" panose="02040503050406030204" pitchFamily="18" charset="0"/>
                  </a:rPr>
                  <a:t>$|\lambda|\sqrt{1+m^2}$</a:t>
                </a:r>
                <a:r>
                  <a:rPr sz="2400" b="0">
                    <a:solidFill>
                      <a:srgbClr val="111827"/>
                    </a:solidFill>
                    <a:latin typeface="Arial"/>
                  </a:rPr>
                  <a:t>, so </a:t>
                </a:r>
                <a:r>
                  <a:rPr lang="en-IN" sz="2400">
                    <a:solidFill>
                      <a:srgbClr val="111827"/>
                    </a:solidFill>
                    <a:latin typeface="Cambria Math" panose="02040503050406030204" pitchFamily="18" charset="0"/>
                  </a:rPr>
                  <a:t>$(QP)(PR)=\frac{(1+m^2)}{\left|\frac1{a^2}-\frac{m^2}{b^2}\right|}=\frac{a^2b^2(1+m^2)}{|b^2-a^2m^2|}$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𝑄</m:t>
                    </m:r>
                    <m:r>
                      <a:rPr lang="en-IN" sz="2800" i="1">
                        <a:solidFill>
                          <a:srgbClr val="15803D"/>
                        </a:solidFill>
                        <a:latin typeface="Cambria Math" panose="02040503050406030204" pitchFamily="18" charset="0"/>
                      </a:rPr>
                      <m:t>𝑃</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𝑃</m:t>
                    </m:r>
                    <m:r>
                      <a:rPr lang="en-IN" sz="2800" i="1">
                        <a:solidFill>
                          <a:srgbClr val="15803D"/>
                        </a:solidFill>
                        <a:latin typeface="Cambria Math" panose="02040503050406030204" pitchFamily="18" charset="0"/>
                      </a:rPr>
                      <m:t>𝑅</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𝑚</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num>
                      <m:den>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𝑏</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𝑎</m:t>
                            </m:r>
                          </m:e>
                          <m:sup>
                            <m:r>
                              <a:rPr lang="en-IN" sz="2800" i="1">
                                <a:solidFill>
                                  <a:srgbClr val="15803D"/>
                                </a:solidFill>
                                <a:latin typeface="Cambria Math" panose="02040503050406030204" pitchFamily="18" charset="0"/>
                              </a:rPr>
                              <m:t>2</m:t>
                            </m:r>
                          </m:sup>
                        </m:sSup>
                        <m:sSup>
                          <m:e>
                            <m:r>
                              <a:rPr lang="en-IN" sz="2800" i="1">
                                <a:solidFill>
                                  <a:srgbClr val="15803D"/>
                                </a:solidFill>
                                <a:latin typeface="Cambria Math" panose="02040503050406030204" pitchFamily="18" charset="0"/>
                              </a:rPr>
                              <m:t>𝑚</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den>
                    </m:f>
                  </m:oMath>
                </a14:m>
                <a:r>
                  <a:rPr sz="2800" b="1">
                    <a:solidFill>
                      <a:srgbClr val="15803D"/>
                    </a:solidFill>
                    <a:latin typeface="Arial"/>
                  </a:rPr>
                  <a:t>, independent of </a:t>
                </a:r>
                <a14:m>
                  <m:oMath xmlns:m="http://schemas.openxmlformats.org/officeDocument/2006/math">
                    <m:r>
                      <a:rPr lang="en-IN" sz="2800" i="1">
                        <a:solidFill>
                          <a:srgbClr val="15803D"/>
                        </a:solidFill>
                        <a:latin typeface="Cambria Math" panose="02040503050406030204" pitchFamily="18" charset="0"/>
                      </a:rPr>
                      <m:t>𝑃</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$(QP)(PR)=\frac{a^2b^2(1+m^2)}{|b^2-a^2m^2|}$</a:t>
                </a:r>
                <a:r>
                  <a:rPr sz="2800" b="1">
                    <a:solidFill>
                      <a:srgbClr val="15803D"/>
                    </a:solidFill>
                    <a:latin typeface="Arial"/>
                  </a:rPr>
                  <a:t>, independent of </a:t>
                </a:r>
                <a:r>
                  <a:rPr lang="en-IN" sz="2800">
                    <a:solidFill>
                      <a:srgbClr val="15803D"/>
                    </a:solidFill>
                    <a:latin typeface="Cambria Math" panose="02040503050406030204" pitchFamily="18" charset="0"/>
                  </a:rPr>
                  <a:t>$P$</a:t>
                </a:r>
                <a:endParaRPr sz="2800">
                  <a:solidFill>
                    <a:srgbClr val="15803D"/>
                  </a:solidFill>
                </a:endParaRPr>
              </a:p>
            </p:txBody>
          </p:sp>
        </mc:Fallback>
      </mc:AlternateContent>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line through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meeting a pair of lines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oMath>
                </a14:m>
                <a:r>
                  <a:rPr sz="2400" b="0">
                    <a:solidFill>
                      <a:srgbClr val="111827"/>
                    </a:solidFill>
                    <a:latin typeface="Arial"/>
                  </a:rPr>
                  <a:t>, the product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num>
                      <m:den>
                        <m:r>
                          <m:rPr>
                            <m:nor/>
                          </m:rPr>
                          <a:rPr lang="en-IN" sz="2400" i="1">
                            <a:solidFill>
                              <a:srgbClr val="111827"/>
                            </a:solidFill>
                            <a:latin typeface="Cambria Math" panose="02040503050406030204" pitchFamily="18" charset="0"/>
                          </a:rPr>
                          <m:t>(𝑞𝑢𝑎𝑑𝑟𝑎𝑡𝑖𝑐 𝑝𝑎𝑟𝑡 𝑜𝑓 </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0</m:t>
                            </m:r>
                          </m:sub>
                        </m:sSub>
                        <m:r>
                          <m:rPr>
                            <m:nor/>
                          </m:rPr>
                          <a:rPr lang="en-IN" sz="2400" i="1">
                            <a:solidFill>
                              <a:srgbClr val="111827"/>
                            </a:solidFill>
                            <a:latin typeface="Cambria Math" panose="02040503050406030204" pitchFamily="18" charset="0"/>
                          </a:rPr>
                          <m:t> 𝑎𝑙𝑜𝑛𝑔 𝑡ℎ𝑒 𝑑𝑖𝑟𝑒𝑐𝑡𝑖𝑜𝑛)</m:t>
                        </m:r>
                      </m:den>
                    </m:f>
                  </m:oMath>
                </a14:m>
                <a:r>
                  <a:rPr sz="2400" b="0">
                    <a:solidFill>
                      <a:srgbClr val="111827"/>
                    </a:solidFill>
                    <a:latin typeface="Arial"/>
                  </a:rPr>
                  <a:t> - here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because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on the hyperbola.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horizontal direction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product is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for the vertical one it is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(opposite sides).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rectangular hyperbola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 line through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with gradient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product of the horizontal distances from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𝑏</m:t>
                        </m:r>
                      </m:den>
                    </m:f>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a:t>
                </a:r>
                <a14:m>
                  <m:oMath xmlns:m="http://schemas.openxmlformats.org/officeDocument/2006/math">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line through </a:t>
                </a:r>
                <a:r>
                  <a:rPr lang="en-IN" sz="2400">
                    <a:solidFill>
                      <a:srgbClr val="111827"/>
                    </a:solidFill>
                    <a:latin typeface="Cambria Math" panose="02040503050406030204" pitchFamily="18" charset="0"/>
                  </a:rPr>
                  <a:t>$P$</a:t>
                </a:r>
                <a:r>
                  <a:rPr sz="2400" b="0">
                    <a:solidFill>
                      <a:srgbClr val="111827"/>
                    </a:solidFill>
                    <a:latin typeface="Arial"/>
                  </a:rPr>
                  <a:t> meeting a pair of lines </a:t>
                </a:r>
                <a:r>
                  <a:rPr lang="en-IN" sz="2400">
                    <a:solidFill>
                      <a:srgbClr val="111827"/>
                    </a:solidFill>
                    <a:latin typeface="Cambria Math" panose="02040503050406030204" pitchFamily="18" charset="0"/>
                  </a:rPr>
                  <a:t>$S_0=0$</a:t>
                </a:r>
                <a:r>
                  <a:rPr sz="2400" b="0">
                    <a:solidFill>
                      <a:srgbClr val="111827"/>
                    </a:solidFill>
                    <a:latin typeface="Arial"/>
                  </a:rPr>
                  <a:t> at </a:t>
                </a:r>
                <a:r>
                  <a:rPr lang="en-IN" sz="2400">
                    <a:solidFill>
                      <a:srgbClr val="111827"/>
                    </a:solidFill>
                    <a:latin typeface="Cambria Math" panose="02040503050406030204" pitchFamily="18" charset="0"/>
                  </a:rPr>
                  <a:t>$Q,R$</a:t>
                </a:r>
                <a:r>
                  <a:rPr sz="2400" b="0">
                    <a:solidFill>
                      <a:srgbClr val="111827"/>
                    </a:solidFill>
                    <a:latin typeface="Arial"/>
                  </a:rPr>
                  <a:t>, the product </a:t>
                </a:r>
                <a:r>
                  <a:rPr lang="en-IN" sz="2400">
                    <a:solidFill>
                      <a:srgbClr val="111827"/>
                    </a:solidFill>
                    <a:latin typeface="Cambria Math" panose="02040503050406030204" pitchFamily="18" charset="0"/>
                  </a:rPr>
                  <a:t>$PQ\cdot PR=\frac{S_0(P)}{\text{(quadratic part of }S_0\text{ along the direction)}}$</a:t>
                </a:r>
                <a:r>
                  <a:rPr sz="2400" b="0">
                    <a:solidFill>
                      <a:srgbClr val="111827"/>
                    </a:solidFill>
                    <a:latin typeface="Arial"/>
                  </a:rPr>
                  <a:t> - here </a:t>
                </a:r>
                <a:r>
                  <a:rPr lang="en-IN" sz="2400">
                    <a:solidFill>
                      <a:srgbClr val="111827"/>
                    </a:solidFill>
                    <a:latin typeface="Cambria Math" panose="02040503050406030204" pitchFamily="18" charset="0"/>
                  </a:rPr>
                  <a:t>$S_0(P)=1$</a:t>
                </a:r>
                <a:r>
                  <a:rPr sz="2400" b="0">
                    <a:solidFill>
                      <a:srgbClr val="111827"/>
                    </a:solidFill>
                    <a:latin typeface="Arial"/>
                  </a:rPr>
                  <a:t> because </a:t>
                </a:r>
                <a:r>
                  <a:rPr lang="en-IN" sz="2400">
                    <a:solidFill>
                      <a:srgbClr val="111827"/>
                    </a:solidFill>
                    <a:latin typeface="Cambria Math" panose="02040503050406030204" pitchFamily="18" charset="0"/>
                  </a:rPr>
                  <a:t>$P$</a:t>
                </a:r>
                <a:r>
                  <a:rPr sz="2400" b="0">
                    <a:solidFill>
                      <a:srgbClr val="111827"/>
                    </a:solidFill>
                    <a:latin typeface="Arial"/>
                  </a:rPr>
                  <a:t> is on the hyperbola.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horizontal direction (</a:t>
                </a:r>
                <a:r>
                  <a:rPr lang="en-IN" sz="2400">
                    <a:solidFill>
                      <a:srgbClr val="111827"/>
                    </a:solidFill>
                    <a:latin typeface="Cambria Math" panose="02040503050406030204" pitchFamily="18" charset="0"/>
                  </a:rPr>
                  <a:t>$m=0$</a:t>
                </a:r>
                <a:r>
                  <a:rPr sz="2400" b="0">
                    <a:solidFill>
                      <a:srgbClr val="111827"/>
                    </a:solidFill>
                    <a:latin typeface="Arial"/>
                  </a:rPr>
                  <a:t>) the product is </a:t>
                </a:r>
                <a:r>
                  <a:rPr lang="en-IN" sz="2400">
                    <a:solidFill>
                      <a:srgbClr val="111827"/>
                    </a:solidFill>
                    <a:latin typeface="Cambria Math" panose="02040503050406030204" pitchFamily="18" charset="0"/>
                  </a:rPr>
                  <a:t>$a^2$</a:t>
                </a:r>
                <a:r>
                  <a:rPr sz="2400" b="0">
                    <a:solidFill>
                      <a:srgbClr val="111827"/>
                    </a:solidFill>
                    <a:latin typeface="Arial"/>
                  </a:rPr>
                  <a:t>; for the vertical one it is </a:t>
                </a:r>
                <a:r>
                  <a:rPr lang="en-IN" sz="2400">
                    <a:solidFill>
                      <a:srgbClr val="111827"/>
                    </a:solidFill>
                    <a:latin typeface="Cambria Math" panose="02040503050406030204" pitchFamily="18" charset="0"/>
                  </a:rPr>
                  <a:t>$-b^2$</a:t>
                </a:r>
                <a:r>
                  <a:rPr sz="2400" b="0">
                    <a:solidFill>
                      <a:srgbClr val="111827"/>
                    </a:solidFill>
                    <a:latin typeface="Arial"/>
                  </a:rPr>
                  <a:t> (opposite sides).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rectangular hyperbola </a:t>
                </a:r>
                <a:r>
                  <a:rPr lang="en-IN" sz="2400">
                    <a:solidFill>
                      <a:srgbClr val="111827"/>
                    </a:solidFill>
                    <a:latin typeface="Cambria Math" panose="02040503050406030204" pitchFamily="18" charset="0"/>
                  </a:rPr>
                  <a:t>$xy=c^2$</a:t>
                </a:r>
                <a:r>
                  <a:rPr sz="2400" b="0">
                    <a:solidFill>
                      <a:srgbClr val="111827"/>
                    </a:solidFill>
                    <a:latin typeface="Arial"/>
                  </a:rPr>
                  <a:t> and a line through </a:t>
                </a:r>
                <a:r>
                  <a:rPr lang="en-IN" sz="2400">
                    <a:solidFill>
                      <a:srgbClr val="111827"/>
                    </a:solidFill>
                    <a:latin typeface="Cambria Math" panose="02040503050406030204" pitchFamily="18" charset="0"/>
                  </a:rPr>
                  <a:t>$P$</a:t>
                </a:r>
                <a:r>
                  <a:rPr sz="2400" b="0">
                    <a:solidFill>
                      <a:srgbClr val="111827"/>
                    </a:solidFill>
                    <a:latin typeface="Arial"/>
                  </a:rPr>
                  <a:t> with gradient </a:t>
                </a:r>
                <a:r>
                  <a:rPr lang="en-IN" sz="2400">
                    <a:solidFill>
                      <a:srgbClr val="111827"/>
                    </a:solidFill>
                    <a:latin typeface="Cambria Math" panose="02040503050406030204" pitchFamily="18" charset="0"/>
                  </a:rPr>
                  <a:t>$m$</a:t>
                </a:r>
                <a:r>
                  <a:rPr sz="2400" b="0">
                    <a:solidFill>
                      <a:srgbClr val="111827"/>
                    </a:solidFill>
                    <a:latin typeface="Arial"/>
                  </a:rPr>
                  <a:t>: </a:t>
                </a:r>
                <a:r>
                  <a:rPr lang="en-IN" sz="2400">
                    <a:solidFill>
                      <a:srgbClr val="111827"/>
                    </a:solidFill>
                    <a:latin typeface="Cambria Math" panose="02040503050406030204" pitchFamily="18" charset="0"/>
                  </a:rPr>
                  <a:t>$PQ\cdot PR=c^2\cdot\frac{1+m^2}{|m|}$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a:t>
                </a:r>
                <a:r>
                  <a:rPr lang="en-IN" sz="2400">
                    <a:solidFill>
                      <a:srgbClr val="111827"/>
                    </a:solidFill>
                    <a:latin typeface="Cambria Math" panose="02040503050406030204" pitchFamily="18" charset="0"/>
                  </a:rPr>
                  <a:t>$m=0$</a:t>
                </a:r>
                <a:r>
                  <a:rPr sz="2400" b="0">
                    <a:solidFill>
                      <a:srgbClr val="111827"/>
                    </a:solidFill>
                    <a:latin typeface="Arial"/>
                  </a:rPr>
                  <a:t>: </a:t>
                </a:r>
                <a:r>
                  <a:rPr lang="en-IN" sz="2400">
                    <a:solidFill>
                      <a:srgbClr val="111827"/>
                    </a:solidFill>
                    <a:latin typeface="Cambria Math" panose="02040503050406030204" pitchFamily="18" charset="0"/>
                  </a:rPr>
                  <a:t>$QP\cdot PR=a^2$</a:t>
                </a:r>
                <a:r>
                  <a:rPr sz="2400" b="0">
                    <a:solidFill>
                      <a:srgbClr val="111827"/>
                    </a:solidFill>
                    <a:latin typeface="Arial"/>
                  </a:rPr>
                  <a:t> (the product of the horizontal distances from </a:t>
                </a:r>
                <a:r>
                  <a:rPr lang="en-IN" sz="2400">
                    <a:solidFill>
                      <a:srgbClr val="111827"/>
                    </a:solidFill>
                    <a:latin typeface="Cambria Math" panose="02040503050406030204" pitchFamily="18" charset="0"/>
                  </a:rPr>
                  <a:t>$P$</a:t>
                </a:r>
                <a:r>
                  <a:rPr sz="2400" b="0">
                    <a:solidFill>
                      <a:srgbClr val="111827"/>
                    </a:solidFill>
                    <a:latin typeface="Arial"/>
                  </a:rPr>
                  <a:t> to </a:t>
                </a:r>
                <a:r>
                  <a:rPr lang="en-IN" sz="2400">
                    <a:solidFill>
                      <a:srgbClr val="111827"/>
                    </a:solidFill>
                    <a:latin typeface="Cambria Math" panose="02040503050406030204" pitchFamily="18" charset="0"/>
                  </a:rPr>
                  <a:t>$x=\pm\frac ab y_0$</a:t>
                </a:r>
                <a:r>
                  <a:rPr sz="2400" b="0">
                    <a:solidFill>
                      <a:srgbClr val="111827"/>
                    </a:solidFill>
                    <a:latin typeface="Arial"/>
                  </a:rPr>
                  <a:t>: </a:t>
                </a:r>
                <a:r>
                  <a:rPr lang="en-IN" sz="2400">
                    <a:solidFill>
                      <a:srgbClr val="111827"/>
                    </a:solidFill>
                    <a:latin typeface="Cambria Math" panose="02040503050406030204" pitchFamily="18" charset="0"/>
                  </a:rPr>
                  <a:t>$x_0^2-\frac{a^2y_0^2}{b^2}=a^2$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on a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the foot of the perpendicular from it upon the directrix, and the focus are the vertices of an equilateral triangle. Find the area of the equilateral triangle.</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point </a:t>
                </a:r>
                <a:r>
                  <a:rPr lang="en-IN" sz="2400">
                    <a:solidFill>
                      <a:srgbClr val="111827"/>
                    </a:solidFill>
                    <a:latin typeface="Cambria Math" panose="02040503050406030204" pitchFamily="18" charset="0"/>
                  </a:rPr>
                  <a:t>$P$</a:t>
                </a:r>
                <a:r>
                  <a:rPr sz="2400" b="0">
                    <a:solidFill>
                      <a:srgbClr val="111827"/>
                    </a:solidFill>
                    <a:latin typeface="Arial"/>
                  </a:rPr>
                  <a:t> on a parabola </a:t>
                </a:r>
                <a:r>
                  <a:rPr lang="en-IN" sz="2400">
                    <a:solidFill>
                      <a:srgbClr val="111827"/>
                    </a:solidFill>
                    <a:latin typeface="Cambria Math" panose="02040503050406030204" pitchFamily="18" charset="0"/>
                  </a:rPr>
                  <a:t>$y^2=4x$</a:t>
                </a:r>
                <a:r>
                  <a:rPr sz="2400" b="0">
                    <a:solidFill>
                      <a:srgbClr val="111827"/>
                    </a:solidFill>
                    <a:latin typeface="Arial"/>
                  </a:rPr>
                  <a:t>, the foot of the perpendicular from it upon the directrix, and the focus are the vertices of an equilateral triangle. Find the area of the equilateral triangle.</a:t>
                </a:r>
                <a:endParaRPr sz="2400">
                  <a:solidFill>
                    <a:srgbClr val="111827"/>
                  </a:solidFill>
                </a:endParaRPr>
              </a:p>
            </p:txBody>
          </p:sp>
        </mc:Fallback>
      </mc:AlternateContent>
      <p:sp>
        <p:nvSpPr>
          <p:cNvPr id="5" name="Rectangle 4"/>
          <p:cNvSpPr/>
          <p:nvPr/>
        </p:nvSpPr>
        <p:spPr>
          <a:xfrm>
            <a:off x="731520" y="3516884"/>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Focal distance and directrix of a parabola, Equilateral triangle (area)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𝑀</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(focal distance), and </a:t>
                </a:r>
                <a14:m>
                  <m:oMath xmlns:m="http://schemas.openxmlformats.org/officeDocument/2006/math">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e>
                    </m:rad>
                  </m:oMath>
                </a14:m>
                <a:r>
                  <a:rPr sz="2400" b="0">
                    <a:solidFill>
                      <a:srgbClr val="78350F"/>
                    </a:solidFill>
                    <a:latin typeface="Arial"/>
                  </a:rPr>
                  <a:t>; equilateral means </a:t>
                </a:r>
                <a14:m>
                  <m:oMath xmlns:m="http://schemas.openxmlformats.org/officeDocument/2006/math">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𝑀</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t>
                </a:r>
                <a:r>
                  <a:rPr lang="en-IN" sz="2400">
                    <a:solidFill>
                      <a:srgbClr val="78350F"/>
                    </a:solidFill>
                    <a:latin typeface="Cambria Math" panose="02040503050406030204" pitchFamily="18" charset="0"/>
                  </a:rPr>
                  <a:t>$P(t^2,2t)$</a:t>
                </a:r>
                <a:r>
                  <a:rPr sz="2400" b="0">
                    <a:solidFill>
                      <a:srgbClr val="78350F"/>
                    </a:solidFill>
                    <a:latin typeface="Arial"/>
                  </a:rPr>
                  <a:t>, </a:t>
                </a:r>
                <a:r>
                  <a:rPr lang="en-IN" sz="2400">
                    <a:solidFill>
                      <a:srgbClr val="78350F"/>
                    </a:solidFill>
                    <a:latin typeface="Cambria Math" panose="02040503050406030204" pitchFamily="18" charset="0"/>
                  </a:rPr>
                  <a:t>$PM=PS=1+t^2$</a:t>
                </a:r>
                <a:r>
                  <a:rPr sz="2400" b="0">
                    <a:solidFill>
                      <a:srgbClr val="78350F"/>
                    </a:solidFill>
                    <a:latin typeface="Arial"/>
                  </a:rPr>
                  <a:t> (focal distance), and </a:t>
                </a:r>
                <a:r>
                  <a:rPr lang="en-IN" sz="2400">
                    <a:solidFill>
                      <a:srgbClr val="78350F"/>
                    </a:solidFill>
                    <a:latin typeface="Cambria Math" panose="02040503050406030204" pitchFamily="18" charset="0"/>
                  </a:rPr>
                  <a:t>$MS=2\sqrt{1+t^2}$</a:t>
                </a:r>
                <a:r>
                  <a:rPr sz="2400" b="0">
                    <a:solidFill>
                      <a:srgbClr val="78350F"/>
                    </a:solidFill>
                    <a:latin typeface="Arial"/>
                  </a:rPr>
                  <a:t>; equilateral means </a:t>
                </a:r>
                <a:r>
                  <a:rPr lang="en-IN" sz="2400">
                    <a:solidFill>
                      <a:srgbClr val="78350F"/>
                    </a:solidFill>
                    <a:latin typeface="Cambria Math" panose="02040503050406030204" pitchFamily="18" charset="0"/>
                  </a:rPr>
                  <a:t>$MS=PM$</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the focus is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(focal distance equals the distance from the directrix).</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$P=(t^2,2t)$</a:t>
                </a:r>
                <a:r>
                  <a:rPr sz="2400" b="0">
                    <a:solidFill>
                      <a:srgbClr val="111827"/>
                    </a:solidFill>
                    <a:latin typeface="Arial"/>
                  </a:rPr>
                  <a:t> on </a:t>
                </a:r>
                <a:r>
                  <a:rPr lang="en-IN" sz="2400">
                    <a:solidFill>
                      <a:srgbClr val="111827"/>
                    </a:solidFill>
                    <a:latin typeface="Cambria Math" panose="02040503050406030204" pitchFamily="18" charset="0"/>
                  </a:rPr>
                  <a:t>$y^2=4x$</a:t>
                </a:r>
                <a:r>
                  <a:rPr sz="2400" b="0">
                    <a:solidFill>
                      <a:srgbClr val="111827"/>
                    </a:solidFill>
                    <a:latin typeface="Arial"/>
                  </a:rPr>
                  <a:t>; the focus is </a:t>
                </a:r>
                <a:r>
                  <a:rPr lang="en-IN" sz="2400">
                    <a:solidFill>
                      <a:srgbClr val="111827"/>
                    </a:solidFill>
                    <a:latin typeface="Cambria Math" panose="02040503050406030204" pitchFamily="18" charset="0"/>
                  </a:rPr>
                  <a:t>$S(1,0)$</a:t>
                </a:r>
                <a:r>
                  <a:rPr sz="2400" b="0">
                    <a:solidFill>
                      <a:srgbClr val="111827"/>
                    </a:solidFill>
                    <a:latin typeface="Arial"/>
                  </a:rPr>
                  <a:t> and the directrix </a:t>
                </a:r>
                <a:r>
                  <a:rPr lang="en-IN" sz="2400">
                    <a:solidFill>
                      <a:srgbClr val="111827"/>
                    </a:solidFill>
                    <a:latin typeface="Cambria Math" panose="02040503050406030204" pitchFamily="18" charset="0"/>
                  </a:rPr>
                  <a:t>$x=-1$</a:t>
                </a:r>
                <a:r>
                  <a:rPr sz="2400" b="0">
                    <a:solidFill>
                      <a:srgbClr val="111827"/>
                    </a:solidFill>
                    <a:latin typeface="Arial"/>
                  </a:rPr>
                  <a:t>, so </a:t>
                </a:r>
                <a:r>
                  <a:rPr lang="en-IN" sz="2400">
                    <a:solidFill>
                      <a:srgbClr val="111827"/>
                    </a:solidFill>
                    <a:latin typeface="Cambria Math" panose="02040503050406030204" pitchFamily="18" charset="0"/>
                  </a:rPr>
                  <a:t>$M=(-1,2t)$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$PM=t^2+1=1+t^2$</a:t>
                </a:r>
                <a:r>
                  <a:rPr sz="2400" b="0">
                    <a:solidFill>
                      <a:srgbClr val="111827"/>
                    </a:solidFill>
                    <a:latin typeface="Arial"/>
                  </a:rPr>
                  <a:t> and </a:t>
                </a:r>
                <a:r>
                  <a:rPr lang="en-IN" sz="2400">
                    <a:solidFill>
                      <a:srgbClr val="111827"/>
                    </a:solidFill>
                    <a:latin typeface="Cambria Math" panose="02040503050406030204" pitchFamily="18" charset="0"/>
                  </a:rPr>
                  <a:t>$PS=1+t^2$</a:t>
                </a:r>
                <a:r>
                  <a:rPr sz="2400" b="0">
                    <a:solidFill>
                      <a:srgbClr val="111827"/>
                    </a:solidFill>
                    <a:latin typeface="Arial"/>
                  </a:rPr>
                  <a:t> (focal distance equals the distance from the directrix).</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$MS=\sqrt{(1+1)^2+(0-2t)^2}=2\sqrt{1+t^2}$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Equilateral: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Side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Equilateral: </a:t>
                </a:r>
                <a:r>
                  <a:rPr lang="en-IN" sz="2400">
                    <a:solidFill>
                      <a:srgbClr val="111827"/>
                    </a:solidFill>
                    <a:latin typeface="Cambria Math" panose="02040503050406030204" pitchFamily="18" charset="0"/>
                  </a:rPr>
                  <a:t>$MS=PM$</a:t>
                </a:r>
                <a:r>
                  <a:rPr sz="2400" b="0">
                    <a:solidFill>
                      <a:srgbClr val="111827"/>
                    </a:solidFill>
                    <a:latin typeface="Arial"/>
                  </a:rPr>
                  <a:t>, so </a:t>
                </a:r>
                <a:r>
                  <a:rPr lang="en-IN" sz="2400">
                    <a:solidFill>
                      <a:srgbClr val="111827"/>
                    </a:solidFill>
                    <a:latin typeface="Cambria Math" panose="02040503050406030204" pitchFamily="18" charset="0"/>
                  </a:rPr>
                  <a:t>$2\sqrt{1+t^2}=1+t^2$</a:t>
                </a:r>
                <a:r>
                  <a:rPr sz="2400" b="0">
                    <a:solidFill>
                      <a:srgbClr val="111827"/>
                    </a:solidFill>
                    <a:latin typeface="Arial"/>
                  </a:rPr>
                  <a:t>, i.e. </a:t>
                </a:r>
                <a:r>
                  <a:rPr lang="en-IN" sz="2400">
                    <a:solidFill>
                      <a:srgbClr val="111827"/>
                    </a:solidFill>
                    <a:latin typeface="Cambria Math" panose="02040503050406030204" pitchFamily="18" charset="0"/>
                  </a:rPr>
                  <a:t>$\sqrt{1+t^2}=2$</a:t>
                </a:r>
                <a:r>
                  <a:rPr sz="2400" b="0">
                    <a:solidFill>
                      <a:srgbClr val="111827"/>
                    </a:solidFill>
                    <a:latin typeface="Arial"/>
                  </a:rPr>
                  <a:t> and </a:t>
                </a:r>
                <a:r>
                  <a:rPr lang="en-IN" sz="2400">
                    <a:solidFill>
                      <a:srgbClr val="111827"/>
                    </a:solidFill>
                    <a:latin typeface="Cambria Math" panose="02040503050406030204" pitchFamily="18" charset="0"/>
                  </a:rPr>
                  <a:t>$t^2=3$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Side </a:t>
                </a:r>
                <a:r>
                  <a:rPr lang="en-IN" sz="2400">
                    <a:solidFill>
                      <a:srgbClr val="111827"/>
                    </a:solidFill>
                    <a:latin typeface="Cambria Math" panose="02040503050406030204" pitchFamily="18" charset="0"/>
                  </a:rPr>
                  <a:t>$=PM=1+t^2=4$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$=\frac{\sqrt3}{4}\cdot4^2=4\sqrt3$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4</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$4\sqrt3$</a:t>
                </a:r>
                <a:endParaRPr sz="2800">
                  <a:solidFill>
                    <a:srgbClr val="15803D"/>
                  </a:solidFill>
                </a:endParaRPr>
              </a:p>
            </p:txBody>
          </p:sp>
        </mc:Fallback>
      </mc:AlternateContent>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side </a:t>
                </a:r>
                <a14:m>
                  <m:oMath xmlns:m="http://schemas.openxmlformats.org/officeDocument/2006/math">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𝑃</m:t>
                    </m:r>
                  </m:oMath>
                </a14:m>
                <a:r>
                  <a:rPr sz="2400" b="0">
                    <a:solidFill>
                      <a:srgbClr val="78350F"/>
                    </a:solidFill>
                    <a:latin typeface="Arial"/>
                  </a:rPr>
                  <a:t> is horizontal, so </a:t>
                </a:r>
                <a14:m>
                  <m:oMath xmlns:m="http://schemas.openxmlformats.org/officeDocument/2006/math">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𝑆</m:t>
                    </m:r>
                  </m:oMath>
                </a14:m>
                <a:r>
                  <a:rPr sz="2400" b="0">
                    <a:solidFill>
                      <a:srgbClr val="78350F"/>
                    </a:solidFill>
                    <a:latin typeface="Arial"/>
                  </a:rPr>
                  <a:t> must make </a:t>
                </a:r>
                <a14:m>
                  <m:oMath xmlns:m="http://schemas.openxmlformats.org/officeDocument/2006/math">
                    <m:sSup>
                      <m:e>
                        <m:r>
                          <a:rPr lang="en-IN" sz="2400" i="1">
                            <a:solidFill>
                              <a:srgbClr val="78350F"/>
                            </a:solidFill>
                            <a:latin typeface="Cambria Math" panose="02040503050406030204" pitchFamily="18" charset="0"/>
                          </a:rPr>
                          <m:t>60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with the horizontal: its slope is </a:t>
                </a:r>
                <a14:m>
                  <m:oMath xmlns:m="http://schemas.openxmlformats.org/officeDocument/2006/math">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side </a:t>
                </a:r>
                <a:r>
                  <a:rPr lang="en-IN" sz="2400">
                    <a:solidFill>
                      <a:srgbClr val="78350F"/>
                    </a:solidFill>
                    <a:latin typeface="Cambria Math" panose="02040503050406030204" pitchFamily="18" charset="0"/>
                  </a:rPr>
                  <a:t>$MP$</a:t>
                </a:r>
                <a:r>
                  <a:rPr sz="2400" b="0">
                    <a:solidFill>
                      <a:srgbClr val="78350F"/>
                    </a:solidFill>
                    <a:latin typeface="Arial"/>
                  </a:rPr>
                  <a:t> is horizontal, so </a:t>
                </a:r>
                <a:r>
                  <a:rPr lang="en-IN" sz="2400">
                    <a:solidFill>
                      <a:srgbClr val="78350F"/>
                    </a:solidFill>
                    <a:latin typeface="Cambria Math" panose="02040503050406030204" pitchFamily="18" charset="0"/>
                  </a:rPr>
                  <a:t>$MS$</a:t>
                </a:r>
                <a:r>
                  <a:rPr sz="2400" b="0">
                    <a:solidFill>
                      <a:srgbClr val="78350F"/>
                    </a:solidFill>
                    <a:latin typeface="Arial"/>
                  </a:rPr>
                  <a:t> must make </a:t>
                </a:r>
                <a:r>
                  <a:rPr lang="en-IN" sz="2400">
                    <a:solidFill>
                      <a:srgbClr val="78350F"/>
                    </a:solidFill>
                    <a:latin typeface="Cambria Math" panose="02040503050406030204" pitchFamily="18" charset="0"/>
                  </a:rPr>
                  <a:t>$60^\circ$</a:t>
                </a:r>
                <a:r>
                  <a:rPr sz="2400" b="0">
                    <a:solidFill>
                      <a:srgbClr val="78350F"/>
                    </a:solidFill>
                    <a:latin typeface="Arial"/>
                  </a:rPr>
                  <a:t> with the horizontal: its slope is </a:t>
                </a:r>
                <a:r>
                  <a:rPr lang="en-IN" sz="2400">
                    <a:solidFill>
                      <a:srgbClr val="78350F"/>
                    </a:solidFill>
                    <a:latin typeface="Cambria Math" panose="02040503050406030204" pitchFamily="18" charset="0"/>
                  </a:rPr>
                  <a:t>$\pm\sqrt3$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oMath>
                </a14:m>
                <a:r>
                  <a:rPr sz="2400" b="0">
                    <a:solidFill>
                      <a:srgbClr val="111827"/>
                    </a:solidFill>
                    <a:latin typeface="Arial"/>
                  </a:rPr>
                  <a:t> is parallel to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the equilateral triangle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𝑆</m:t>
                    </m:r>
                  </m:oMath>
                </a14:m>
                <a:r>
                  <a:rPr sz="2400" b="0">
                    <a:solidFill>
                      <a:srgbClr val="111827"/>
                    </a:solidFill>
                    <a:latin typeface="Arial"/>
                  </a:rPr>
                  <a:t> the angle at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so the line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𝑆</m:t>
                    </m:r>
                  </m:oMath>
                </a14:m>
                <a:r>
                  <a:rPr sz="2400" b="0">
                    <a:solidFill>
                      <a:srgbClr val="111827"/>
                    </a:solidFill>
                    <a:latin typeface="Arial"/>
                  </a:rPr>
                  <a:t> makes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with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its slope is </a:t>
                </a:r>
                <a14:m>
                  <m:oMath xmlns:m="http://schemas.openxmlformats.org/officeDocument/2006/math">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of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Side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$P(t^2,2t)$</a:t>
                </a:r>
                <a:r>
                  <a:rPr sz="2400" b="0">
                    <a:solidFill>
                      <a:srgbClr val="111827"/>
                    </a:solidFill>
                    <a:latin typeface="Arial"/>
                  </a:rPr>
                  <a:t>, </a:t>
                </a:r>
                <a:r>
                  <a:rPr lang="en-IN" sz="2400">
                    <a:solidFill>
                      <a:srgbClr val="111827"/>
                    </a:solidFill>
                    <a:latin typeface="Cambria Math" panose="02040503050406030204" pitchFamily="18" charset="0"/>
                  </a:rPr>
                  <a:t>$M(-1,2t)$</a:t>
                </a:r>
                <a:r>
                  <a:rPr sz="2400" b="0">
                    <a:solidFill>
                      <a:srgbClr val="111827"/>
                    </a:solidFill>
                    <a:latin typeface="Arial"/>
                  </a:rPr>
                  <a:t>, </a:t>
                </a:r>
                <a:r>
                  <a:rPr lang="en-IN" sz="2400">
                    <a:solidFill>
                      <a:srgbClr val="111827"/>
                    </a:solidFill>
                    <a:latin typeface="Cambria Math" panose="02040503050406030204" pitchFamily="18" charset="0"/>
                  </a:rPr>
                  <a:t>$S(1,0)$</a:t>
                </a:r>
                <a:r>
                  <a:rPr sz="2400" b="0">
                    <a:solidFill>
                      <a:srgbClr val="111827"/>
                    </a:solidFill>
                    <a:latin typeface="Arial"/>
                  </a:rPr>
                  <a:t>: </a:t>
                </a:r>
                <a:r>
                  <a:rPr lang="en-IN" sz="2400">
                    <a:solidFill>
                      <a:srgbClr val="111827"/>
                    </a:solidFill>
                    <a:latin typeface="Cambria Math" panose="02040503050406030204" pitchFamily="18" charset="0"/>
                  </a:rPr>
                  <a:t>$PM$</a:t>
                </a:r>
                <a:r>
                  <a:rPr sz="2400" b="0">
                    <a:solidFill>
                      <a:srgbClr val="111827"/>
                    </a:solidFill>
                    <a:latin typeface="Arial"/>
                  </a:rPr>
                  <a:t> is parallel to the </a:t>
                </a:r>
                <a:r>
                  <a:rPr lang="en-IN" sz="2400">
                    <a:solidFill>
                      <a:srgbClr val="111827"/>
                    </a:solidFill>
                    <a:latin typeface="Cambria Math" panose="02040503050406030204" pitchFamily="18" charset="0"/>
                  </a:rPr>
                  <a:t>$x$</a:t>
                </a:r>
                <a:r>
                  <a:rPr sz="2400" b="0">
                    <a:solidFill>
                      <a:srgbClr val="111827"/>
                    </a:solidFill>
                    <a:latin typeface="Arial"/>
                  </a:rPr>
                  <a:t>-axis.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the equilateral triangle </a:t>
                </a:r>
                <a:r>
                  <a:rPr lang="en-IN" sz="2400">
                    <a:solidFill>
                      <a:srgbClr val="111827"/>
                    </a:solidFill>
                    <a:latin typeface="Cambria Math" panose="02040503050406030204" pitchFamily="18" charset="0"/>
                  </a:rPr>
                  <a:t>$PMS$</a:t>
                </a:r>
                <a:r>
                  <a:rPr sz="2400" b="0">
                    <a:solidFill>
                      <a:srgbClr val="111827"/>
                    </a:solidFill>
                    <a:latin typeface="Arial"/>
                  </a:rPr>
                  <a:t> the angle at </a:t>
                </a:r>
                <a:r>
                  <a:rPr lang="en-IN" sz="2400">
                    <a:solidFill>
                      <a:srgbClr val="111827"/>
                    </a:solidFill>
                    <a:latin typeface="Cambria Math" panose="02040503050406030204" pitchFamily="18" charset="0"/>
                  </a:rPr>
                  <a:t>$M$</a:t>
                </a:r>
                <a:r>
                  <a:rPr sz="2400" b="0">
                    <a:solidFill>
                      <a:srgbClr val="111827"/>
                    </a:solidFill>
                    <a:latin typeface="Arial"/>
                  </a:rPr>
                  <a:t> is </a:t>
                </a:r>
                <a:r>
                  <a:rPr lang="en-IN" sz="2400">
                    <a:solidFill>
                      <a:srgbClr val="111827"/>
                    </a:solidFill>
                    <a:latin typeface="Cambria Math" panose="02040503050406030204" pitchFamily="18" charset="0"/>
                  </a:rPr>
                  <a:t>$60^\circ$</a:t>
                </a:r>
                <a:r>
                  <a:rPr sz="2400" b="0">
                    <a:solidFill>
                      <a:srgbClr val="111827"/>
                    </a:solidFill>
                    <a:latin typeface="Arial"/>
                  </a:rPr>
                  <a:t>, so the line </a:t>
                </a:r>
                <a:r>
                  <a:rPr lang="en-IN" sz="2400">
                    <a:solidFill>
                      <a:srgbClr val="111827"/>
                    </a:solidFill>
                    <a:latin typeface="Cambria Math" panose="02040503050406030204" pitchFamily="18" charset="0"/>
                  </a:rPr>
                  <a:t>$MS$</a:t>
                </a:r>
                <a:r>
                  <a:rPr sz="2400" b="0">
                    <a:solidFill>
                      <a:srgbClr val="111827"/>
                    </a:solidFill>
                    <a:latin typeface="Arial"/>
                  </a:rPr>
                  <a:t> makes </a:t>
                </a:r>
                <a:r>
                  <a:rPr lang="en-IN" sz="2400">
                    <a:solidFill>
                      <a:srgbClr val="111827"/>
                    </a:solidFill>
                    <a:latin typeface="Cambria Math" panose="02040503050406030204" pitchFamily="18" charset="0"/>
                  </a:rPr>
                  <a:t>$60^\circ$</a:t>
                </a:r>
                <a:r>
                  <a:rPr sz="2400" b="0">
                    <a:solidFill>
                      <a:srgbClr val="111827"/>
                    </a:solidFill>
                    <a:latin typeface="Arial"/>
                  </a:rPr>
                  <a:t> with the </a:t>
                </a:r>
                <a:r>
                  <a:rPr lang="en-IN" sz="2400">
                    <a:solidFill>
                      <a:srgbClr val="111827"/>
                    </a:solidFill>
                    <a:latin typeface="Cambria Math" panose="02040503050406030204" pitchFamily="18" charset="0"/>
                  </a:rPr>
                  <a:t>$x$</a:t>
                </a:r>
                <a:r>
                  <a:rPr sz="2400" b="0">
                    <a:solidFill>
                      <a:srgbClr val="111827"/>
                    </a:solidFill>
                    <a:latin typeface="Arial"/>
                  </a:rPr>
                  <a:t>-axis: its slope is </a:t>
                </a:r>
                <a:r>
                  <a:rPr lang="en-IN" sz="2400">
                    <a:solidFill>
                      <a:srgbClr val="111827"/>
                    </a:solidFill>
                    <a:latin typeface="Cambria Math" panose="02040503050406030204" pitchFamily="18" charset="0"/>
                  </a:rPr>
                  <a:t>$\pm\sqrt3$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of </a:t>
                </a:r>
                <a:r>
                  <a:rPr lang="en-IN" sz="2400">
                    <a:solidFill>
                      <a:srgbClr val="111827"/>
                    </a:solidFill>
                    <a:latin typeface="Cambria Math" panose="02040503050406030204" pitchFamily="18" charset="0"/>
                  </a:rPr>
                  <a:t>$MS=\frac{0-2t}{1-(-1)}=-t$</a:t>
                </a:r>
                <a:r>
                  <a:rPr sz="2400" b="0">
                    <a:solidFill>
                      <a:srgbClr val="111827"/>
                    </a:solidFill>
                    <a:latin typeface="Arial"/>
                  </a:rPr>
                  <a:t>, so </a:t>
                </a:r>
                <a:r>
                  <a:rPr lang="en-IN" sz="2400">
                    <a:solidFill>
                      <a:srgbClr val="111827"/>
                    </a:solidFill>
                    <a:latin typeface="Cambria Math" panose="02040503050406030204" pitchFamily="18" charset="0"/>
                  </a:rPr>
                  <a:t>$|t|=\sqrt3$</a:t>
                </a:r>
                <a:r>
                  <a:rPr sz="2400" b="0">
                    <a:solidFill>
                      <a:srgbClr val="111827"/>
                    </a:solidFill>
                    <a:latin typeface="Arial"/>
                  </a:rPr>
                  <a:t> and </a:t>
                </a:r>
                <a:r>
                  <a:rPr lang="en-IN" sz="2400">
                    <a:solidFill>
                      <a:srgbClr val="111827"/>
                    </a:solidFill>
                    <a:latin typeface="Cambria Math" panose="02040503050406030204" pitchFamily="18" charset="0"/>
                  </a:rPr>
                  <a:t>$t^2=3$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Side </a:t>
                </a:r>
                <a:r>
                  <a:rPr lang="en-IN" sz="2400">
                    <a:solidFill>
                      <a:srgbClr val="111827"/>
                    </a:solidFill>
                    <a:latin typeface="Cambria Math" panose="02040503050406030204" pitchFamily="18" charset="0"/>
                  </a:rPr>
                  <a:t>$=PM=1+t^2=4$</a:t>
                </a:r>
                <a:r>
                  <a:rPr sz="2400" b="0">
                    <a:solidFill>
                      <a:srgbClr val="111827"/>
                    </a:solidFill>
                    <a:latin typeface="Arial"/>
                  </a:rPr>
                  <a:t>, area </a:t>
                </a:r>
                <a:r>
                  <a:rPr lang="en-IN" sz="2400">
                    <a:solidFill>
                      <a:srgbClr val="111827"/>
                    </a:solidFill>
                    <a:latin typeface="Cambria Math" panose="02040503050406030204" pitchFamily="18" charset="0"/>
                  </a:rPr>
                  <a:t>$=\frac{\sqrt3}{4}\cdot16=4\sqrt3$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4</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$4\sqrt3$</a:t>
                </a:r>
                <a:endParaRPr sz="2800">
                  <a:solidFill>
                    <a:srgbClr val="15803D"/>
                  </a:solidFill>
                </a:endParaRPr>
              </a:p>
            </p:txBody>
          </p:sp>
        </mc:Fallback>
      </mc:AlternateContent>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Focus-directrix property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𝑆</m:t>
                    </m:r>
                  </m:oMath>
                </a14:m>
                <a:r>
                  <a:rPr sz="2400" b="0">
                    <a:solidFill>
                      <a:srgbClr val="111827"/>
                    </a:solidFill>
                    <a:latin typeface="Arial"/>
                  </a:rPr>
                  <a:t> (foot of the directrix, point, focus) is isosceles with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oMath>
                </a14:m>
                <a:r>
                  <a:rPr sz="2400" b="0">
                    <a:solidFill>
                      <a:srgbClr val="111827"/>
                    </a:solidFill>
                    <a:latin typeface="Arial"/>
                  </a:rPr>
                  <a:t> and equilateral iff the angle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𝑆</m:t>
                    </m:r>
                  </m:oMath>
                </a14:m>
                <a:r>
                  <a:rPr sz="2400" b="0">
                    <a:solidFill>
                      <a:srgbClr val="111827"/>
                    </a:solidFill>
                    <a:latin typeface="Arial"/>
                  </a:rPr>
                  <a:t> from the foot on the directrix to the focus has slope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𝑃</m:t>
                            </m:r>
                          </m:sub>
                        </m:sSub>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the angle at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arctan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an equilateral triangle of side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sSup>
                      <m:e>
                        <m:r>
                          <a:rPr lang="en-IN" sz="2400" i="1">
                            <a:solidFill>
                              <a:srgbClr val="111827"/>
                            </a:solidFill>
                            <a:latin typeface="Cambria Math" panose="02040503050406030204" pitchFamily="18" charset="0"/>
                          </a:rPr>
                          <m:t>𝑠</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Focus-directrix property of </a:t>
                </a:r>
                <a:r>
                  <a:rPr lang="en-IN" sz="2400">
                    <a:solidFill>
                      <a:srgbClr val="111827"/>
                    </a:solidFill>
                    <a:latin typeface="Cambria Math" panose="02040503050406030204" pitchFamily="18" charset="0"/>
                  </a:rPr>
                  <a:t>$y^2=4ax$</a:t>
                </a:r>
                <a:r>
                  <a:rPr sz="2400" b="0">
                    <a:solidFill>
                      <a:srgbClr val="111827"/>
                    </a:solidFill>
                    <a:latin typeface="Arial"/>
                  </a:rPr>
                  <a:t>: </a:t>
                </a:r>
                <a:r>
                  <a:rPr lang="en-IN" sz="2400">
                    <a:solidFill>
                      <a:srgbClr val="111827"/>
                    </a:solidFill>
                    <a:latin typeface="Cambria Math" panose="02040503050406030204" pitchFamily="18" charset="0"/>
                  </a:rPr>
                  <a:t>$PS=PM=a+x_P$</a:t>
                </a:r>
                <a:r>
                  <a:rPr sz="2400" b="0">
                    <a:solidFill>
                      <a:srgbClr val="111827"/>
                    </a:solidFill>
                    <a:latin typeface="Arial"/>
                  </a:rPr>
                  <a:t>; for </a:t>
                </a:r>
                <a:r>
                  <a:rPr lang="en-IN" sz="2400">
                    <a:solidFill>
                      <a:srgbClr val="111827"/>
                    </a:solidFill>
                    <a:latin typeface="Cambria Math" panose="02040503050406030204" pitchFamily="18" charset="0"/>
                  </a:rPr>
                  <a:t>$P(at^2,2at)$</a:t>
                </a:r>
                <a:r>
                  <a:rPr sz="2400" b="0">
                    <a:solidFill>
                      <a:srgbClr val="111827"/>
                    </a:solidFill>
                    <a:latin typeface="Arial"/>
                  </a:rPr>
                  <a:t>, </a:t>
                </a:r>
                <a:r>
                  <a:rPr lang="en-IN" sz="2400">
                    <a:solidFill>
                      <a:srgbClr val="111827"/>
                    </a:solidFill>
                    <a:latin typeface="Cambria Math" panose="02040503050406030204" pitchFamily="18" charset="0"/>
                  </a:rPr>
                  <a:t>$PS=a(1+t^2)$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a:t>
                </a:r>
                <a:r>
                  <a:rPr lang="en-IN" sz="2400">
                    <a:solidFill>
                      <a:srgbClr val="111827"/>
                    </a:solidFill>
                    <a:latin typeface="Cambria Math" panose="02040503050406030204" pitchFamily="18" charset="0"/>
                  </a:rPr>
                  <a:t>$PMS$</a:t>
                </a:r>
                <a:r>
                  <a:rPr sz="2400" b="0">
                    <a:solidFill>
                      <a:srgbClr val="111827"/>
                    </a:solidFill>
                    <a:latin typeface="Arial"/>
                  </a:rPr>
                  <a:t> (foot of the directrix, point, focus) is isosceles with </a:t>
                </a:r>
                <a:r>
                  <a:rPr lang="en-IN" sz="2400">
                    <a:solidFill>
                      <a:srgbClr val="111827"/>
                    </a:solidFill>
                    <a:latin typeface="Cambria Math" panose="02040503050406030204" pitchFamily="18" charset="0"/>
                  </a:rPr>
                  <a:t>$PS=PM$</a:t>
                </a:r>
                <a:r>
                  <a:rPr sz="2400" b="0">
                    <a:solidFill>
                      <a:srgbClr val="111827"/>
                    </a:solidFill>
                    <a:latin typeface="Arial"/>
                  </a:rPr>
                  <a:t> and equilateral iff the angle at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$60^\circ$</a:t>
                </a:r>
                <a:r>
                  <a:rPr sz="2400" b="0">
                    <a:solidFill>
                      <a:srgbClr val="111827"/>
                    </a:solidFill>
                    <a:latin typeface="Arial"/>
                  </a:rPr>
                  <a:t>, i.e. </a:t>
                </a:r>
                <a:r>
                  <a:rPr lang="en-IN" sz="2400">
                    <a:solidFill>
                      <a:srgbClr val="111827"/>
                    </a:solidFill>
                    <a:latin typeface="Cambria Math" panose="02040503050406030204" pitchFamily="18" charset="0"/>
                  </a:rPr>
                  <a:t>$t^2=3$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a:t>
                </a:r>
                <a:r>
                  <a:rPr lang="en-IN" sz="2400">
                    <a:solidFill>
                      <a:srgbClr val="111827"/>
                    </a:solidFill>
                    <a:latin typeface="Cambria Math" panose="02040503050406030204" pitchFamily="18" charset="0"/>
                  </a:rPr>
                  <a:t>$MS$</a:t>
                </a:r>
                <a:r>
                  <a:rPr sz="2400" b="0">
                    <a:solidFill>
                      <a:srgbClr val="111827"/>
                    </a:solidFill>
                    <a:latin typeface="Arial"/>
                  </a:rPr>
                  <a:t> from the foot on the directrix to the focus has slope </a:t>
                </a:r>
                <a:r>
                  <a:rPr lang="en-IN" sz="2400">
                    <a:solidFill>
                      <a:srgbClr val="111827"/>
                    </a:solidFill>
                    <a:latin typeface="Cambria Math" panose="02040503050406030204" pitchFamily="18" charset="0"/>
                  </a:rPr>
                  <a:t>$-\frac{y_P}{2a}=-t$</a:t>
                </a:r>
                <a:r>
                  <a:rPr sz="2400" b="0">
                    <a:solidFill>
                      <a:srgbClr val="111827"/>
                    </a:solidFill>
                    <a:latin typeface="Arial"/>
                  </a:rPr>
                  <a:t>; the angle at </a:t>
                </a:r>
                <a:r>
                  <a:rPr lang="en-IN" sz="2400">
                    <a:solidFill>
                      <a:srgbClr val="111827"/>
                    </a:solidFill>
                    <a:latin typeface="Cambria Math" panose="02040503050406030204" pitchFamily="18" charset="0"/>
                  </a:rPr>
                  <a:t>$M$</a:t>
                </a:r>
                <a:r>
                  <a:rPr sz="2400" b="0">
                    <a:solidFill>
                      <a:srgbClr val="111827"/>
                    </a:solidFill>
                    <a:latin typeface="Arial"/>
                  </a:rPr>
                  <a:t> is </a:t>
                </a:r>
                <a:r>
                  <a:rPr lang="en-IN" sz="2400">
                    <a:solidFill>
                      <a:srgbClr val="111827"/>
                    </a:solidFill>
                    <a:latin typeface="Cambria Math" panose="02040503050406030204" pitchFamily="18" charset="0"/>
                  </a:rPr>
                  <a:t>$\arctan|t|$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an equilateral triangle of side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$\frac{\sqrt3}{4}s^2$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two concentric circles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on the Argand plane. A variable parabola is drawn through the points where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meets the real axis and having an arbitrary tangent drawn to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as its directrix. If the locus of the focus of the parabola is a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then find the area of the quadrilateral formed by the tangents at the ends of the latus-rectum of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two concentric circles </a:t>
                </a:r>
                <a:r>
                  <a:rPr lang="en-IN" sz="2400">
                    <a:solidFill>
                      <a:srgbClr val="111827"/>
                    </a:solidFill>
                    <a:latin typeface="Cambria Math" panose="02040503050406030204" pitchFamily="18" charset="0"/>
                  </a:rPr>
                  <a:t>$S_1:|z|=1$</a:t>
                </a:r>
                <a:r>
                  <a:rPr sz="2400" b="0">
                    <a:solidFill>
                      <a:srgbClr val="111827"/>
                    </a:solidFill>
                    <a:latin typeface="Arial"/>
                  </a:rPr>
                  <a:t> and </a:t>
                </a:r>
                <a:r>
                  <a:rPr lang="en-IN" sz="2400">
                    <a:solidFill>
                      <a:srgbClr val="111827"/>
                    </a:solidFill>
                    <a:latin typeface="Cambria Math" panose="02040503050406030204" pitchFamily="18" charset="0"/>
                  </a:rPr>
                  <a:t>$S_2:|z|=2$</a:t>
                </a:r>
                <a:r>
                  <a:rPr sz="2400" b="0">
                    <a:solidFill>
                      <a:srgbClr val="111827"/>
                    </a:solidFill>
                    <a:latin typeface="Arial"/>
                  </a:rPr>
                  <a:t> on the Argand plane. A variable parabola is drawn through the points where </a:t>
                </a:r>
                <a:r>
                  <a:rPr lang="en-IN" sz="2400">
                    <a:solidFill>
                      <a:srgbClr val="111827"/>
                    </a:solidFill>
                    <a:latin typeface="Cambria Math" panose="02040503050406030204" pitchFamily="18" charset="0"/>
                  </a:rPr>
                  <a:t>$S_1$</a:t>
                </a:r>
                <a:r>
                  <a:rPr sz="2400" b="0">
                    <a:solidFill>
                      <a:srgbClr val="111827"/>
                    </a:solidFill>
                    <a:latin typeface="Arial"/>
                  </a:rPr>
                  <a:t> meets the real axis and having an arbitrary tangent drawn to </a:t>
                </a:r>
                <a:r>
                  <a:rPr lang="en-IN" sz="2400">
                    <a:solidFill>
                      <a:srgbClr val="111827"/>
                    </a:solidFill>
                    <a:latin typeface="Cambria Math" panose="02040503050406030204" pitchFamily="18" charset="0"/>
                  </a:rPr>
                  <a:t>$S_2$</a:t>
                </a:r>
                <a:r>
                  <a:rPr sz="2400" b="0">
                    <a:solidFill>
                      <a:srgbClr val="111827"/>
                    </a:solidFill>
                    <a:latin typeface="Arial"/>
                  </a:rPr>
                  <a:t> as its directrix. If the locus of the focus of the parabola is a conic </a:t>
                </a:r>
                <a:r>
                  <a:rPr lang="en-IN" sz="2400">
                    <a:solidFill>
                      <a:srgbClr val="111827"/>
                    </a:solidFill>
                    <a:latin typeface="Cambria Math" panose="02040503050406030204" pitchFamily="18" charset="0"/>
                  </a:rPr>
                  <a:t>$C$</a:t>
                </a:r>
                <a:r>
                  <a:rPr sz="2400" b="0">
                    <a:solidFill>
                      <a:srgbClr val="111827"/>
                    </a:solidFill>
                    <a:latin typeface="Arial"/>
                  </a:rPr>
                  <a:t>, then find the area of the quadrilateral formed by the tangents at the ends of the latus-rectum of conic </a:t>
                </a:r>
                <a:r>
                  <a:rPr lang="en-IN" sz="2400">
                    <a:solidFill>
                      <a:srgbClr val="111827"/>
                    </a:solidFill>
                    <a:latin typeface="Cambria Math" panose="02040503050406030204" pitchFamily="18" charset="0"/>
                  </a:rPr>
                  <a:t>$C$</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2605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Parabola through two points with a variable tangent to a circle as directrix (locus of the focus), Latus rectum and tangents at its ends (area of the quadrilateral)</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distances of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from the focus equal their distances from the directrix: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oMath>
                </a14:m>
                <a:r>
                  <a:rPr sz="2400" b="0">
                    <a:solidFill>
                      <a:srgbClr val="78350F"/>
                    </a:solidFill>
                    <a:latin typeface="Arial"/>
                  </a:rPr>
                  <a:t>, whose sum is </a:t>
                </a:r>
                <a14:m>
                  <m:oMath xmlns:m="http://schemas.openxmlformats.org/officeDocument/2006/math">
                    <m:r>
                      <a:rPr lang="en-IN" sz="2400" i="1">
                        <a:solidFill>
                          <a:srgbClr val="78350F"/>
                        </a:solidFill>
                        <a:latin typeface="Cambria Math" panose="02040503050406030204" pitchFamily="18" charset="0"/>
                      </a:rPr>
                      <m:t>4</m:t>
                    </m:r>
                  </m:oMath>
                </a14:m>
                <a:r>
                  <a:rPr sz="2400" b="0">
                    <a:solidFill>
                      <a:srgbClr val="78350F"/>
                    </a:solidFill>
                    <a:latin typeface="Arial"/>
                  </a:rPr>
                  <a:t>: the focus lies on an ellipse with foci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distances of </a:t>
                </a:r>
                <a:r>
                  <a:rPr lang="en-IN" sz="2400">
                    <a:solidFill>
                      <a:srgbClr val="78350F"/>
                    </a:solidFill>
                    <a:latin typeface="Cambria Math" panose="02040503050406030204" pitchFamily="18" charset="0"/>
                  </a:rPr>
                  <a:t>$(\pm1,0)$</a:t>
                </a:r>
                <a:r>
                  <a:rPr sz="2400" b="0">
                    <a:solidFill>
                      <a:srgbClr val="78350F"/>
                    </a:solidFill>
                    <a:latin typeface="Arial"/>
                  </a:rPr>
                  <a:t> from the focus equal their distances from the directrix: </a:t>
                </a:r>
                <a:r>
                  <a:rPr lang="en-IN" sz="2400">
                    <a:solidFill>
                      <a:srgbClr val="78350F"/>
                    </a:solidFill>
                    <a:latin typeface="Cambria Math" panose="02040503050406030204" pitchFamily="18" charset="0"/>
                  </a:rPr>
                  <a:t>$2-\cos\theta$</a:t>
                </a:r>
                <a:r>
                  <a:rPr sz="2400" b="0">
                    <a:solidFill>
                      <a:srgbClr val="78350F"/>
                    </a:solidFill>
                    <a:latin typeface="Arial"/>
                  </a:rPr>
                  <a:t> and </a:t>
                </a:r>
                <a:r>
                  <a:rPr lang="en-IN" sz="2400">
                    <a:solidFill>
                      <a:srgbClr val="78350F"/>
                    </a:solidFill>
                    <a:latin typeface="Cambria Math" panose="02040503050406030204" pitchFamily="18" charset="0"/>
                  </a:rPr>
                  <a:t>$2+\cos\theta$</a:t>
                </a:r>
                <a:r>
                  <a:rPr sz="2400" b="0">
                    <a:solidFill>
                      <a:srgbClr val="78350F"/>
                    </a:solidFill>
                    <a:latin typeface="Arial"/>
                  </a:rPr>
                  <a:t>, whose sum is </a:t>
                </a:r>
                <a:r>
                  <a:rPr lang="en-IN" sz="2400">
                    <a:solidFill>
                      <a:srgbClr val="78350F"/>
                    </a:solidFill>
                    <a:latin typeface="Cambria Math" panose="02040503050406030204" pitchFamily="18" charset="0"/>
                  </a:rPr>
                  <a:t>$4$</a:t>
                </a:r>
                <a:r>
                  <a:rPr sz="2400" b="0">
                    <a:solidFill>
                      <a:srgbClr val="78350F"/>
                    </a:solidFill>
                    <a:latin typeface="Arial"/>
                  </a:rPr>
                  <a:t>: the focus lies on an ellipse with foci </a:t>
                </a:r>
                <a:r>
                  <a:rPr lang="en-IN" sz="2400">
                    <a:solidFill>
                      <a:srgbClr val="78350F"/>
                    </a:solidFill>
                    <a:latin typeface="Cambria Math" panose="02040503050406030204" pitchFamily="18" charset="0"/>
                  </a:rPr>
                  <a:t>$(\pm1,0)$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parabola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Let its directrix be the tangent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to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let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the focus.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of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equals its distance from the directrix: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....(1)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(2)</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(1):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....(3).</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parabola passes through </a:t>
                </a:r>
                <a:r>
                  <a:rPr lang="en-IN" sz="2400">
                    <a:solidFill>
                      <a:srgbClr val="111827"/>
                    </a:solidFill>
                    <a:latin typeface="Cambria Math" panose="02040503050406030204" pitchFamily="18" charset="0"/>
                  </a:rPr>
                  <a:t>$(1,0)$</a:t>
                </a:r>
                <a:r>
                  <a:rPr sz="2400" b="0">
                    <a:solidFill>
                      <a:srgbClr val="111827"/>
                    </a:solidFill>
                    <a:latin typeface="Arial"/>
                  </a:rPr>
                  <a:t> and </a:t>
                </a:r>
                <a:r>
                  <a:rPr lang="en-IN" sz="2400">
                    <a:solidFill>
                      <a:srgbClr val="111827"/>
                    </a:solidFill>
                    <a:latin typeface="Cambria Math" panose="02040503050406030204" pitchFamily="18" charset="0"/>
                  </a:rPr>
                  <a:t>$(-1,0)$</a:t>
                </a:r>
                <a:r>
                  <a:rPr sz="2400" b="0">
                    <a:solidFill>
                      <a:srgbClr val="111827"/>
                    </a:solidFill>
                    <a:latin typeface="Arial"/>
                  </a:rPr>
                  <a:t>. Let its directrix be the tangent </a:t>
                </a:r>
                <a:r>
                  <a:rPr lang="en-IN" sz="2400">
                    <a:solidFill>
                      <a:srgbClr val="111827"/>
                    </a:solidFill>
                    <a:latin typeface="Cambria Math" panose="02040503050406030204" pitchFamily="18" charset="0"/>
                  </a:rPr>
                  <a:t>$x\cos\theta+y\sin\theta=2$</a:t>
                </a:r>
                <a:r>
                  <a:rPr sz="2400" b="0">
                    <a:solidFill>
                      <a:srgbClr val="111827"/>
                    </a:solidFill>
                    <a:latin typeface="Arial"/>
                  </a:rPr>
                  <a:t> to </a:t>
                </a:r>
                <a:r>
                  <a:rPr lang="en-IN" sz="2400">
                    <a:solidFill>
                      <a:srgbClr val="111827"/>
                    </a:solidFill>
                    <a:latin typeface="Cambria Math" panose="02040503050406030204" pitchFamily="18" charset="0"/>
                  </a:rPr>
                  <a:t>$S_2$</a:t>
                </a:r>
                <a:r>
                  <a:rPr sz="2400" b="0">
                    <a:solidFill>
                      <a:srgbClr val="111827"/>
                    </a:solidFill>
                    <a:latin typeface="Arial"/>
                  </a:rPr>
                  <a:t>, and let </a:t>
                </a:r>
                <a:r>
                  <a:rPr lang="en-IN" sz="2400">
                    <a:solidFill>
                      <a:srgbClr val="111827"/>
                    </a:solidFill>
                    <a:latin typeface="Cambria Math" panose="02040503050406030204" pitchFamily="18" charset="0"/>
                  </a:rPr>
                  <a:t>$M(h,k)$</a:t>
                </a:r>
                <a:r>
                  <a:rPr sz="2400" b="0">
                    <a:solidFill>
                      <a:srgbClr val="111827"/>
                    </a:solidFill>
                    <a:latin typeface="Arial"/>
                  </a:rPr>
                  <a:t> be the focus.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of </a:t>
                </a:r>
                <a:r>
                  <a:rPr lang="en-IN" sz="2400">
                    <a:solidFill>
                      <a:srgbClr val="111827"/>
                    </a:solidFill>
                    <a:latin typeface="Cambria Math" panose="02040503050406030204" pitchFamily="18" charset="0"/>
                  </a:rPr>
                  <a:t>$(\pm1,0)$</a:t>
                </a:r>
                <a:r>
                  <a:rPr sz="2400" b="0">
                    <a:solidFill>
                      <a:srgbClr val="111827"/>
                    </a:solidFill>
                    <a:latin typeface="Arial"/>
                  </a:rPr>
                  <a:t> from </a:t>
                </a:r>
                <a:r>
                  <a:rPr lang="en-IN" sz="2400">
                    <a:solidFill>
                      <a:srgbClr val="111827"/>
                    </a:solidFill>
                    <a:latin typeface="Cambria Math" panose="02040503050406030204" pitchFamily="18" charset="0"/>
                  </a:rPr>
                  <a:t>$M$</a:t>
                </a:r>
                <a:r>
                  <a:rPr sz="2400" b="0">
                    <a:solidFill>
                      <a:srgbClr val="111827"/>
                    </a:solidFill>
                    <a:latin typeface="Arial"/>
                  </a:rPr>
                  <a:t> equals its distance from the directrix: </a:t>
                </a:r>
                <a:r>
                  <a:rPr lang="en-IN" sz="2400">
                    <a:solidFill>
                      <a:srgbClr val="111827"/>
                    </a:solidFill>
                    <a:latin typeface="Cambria Math" panose="02040503050406030204" pitchFamily="18" charset="0"/>
                  </a:rPr>
                  <a:t>$(h-1)^2+k^2=(\cos\theta-2)^2$</a:t>
                </a:r>
                <a:r>
                  <a:rPr sz="2400" b="0">
                    <a:solidFill>
                      <a:srgbClr val="111827"/>
                    </a:solidFill>
                    <a:latin typeface="Arial"/>
                  </a:rPr>
                  <a:t> ....(1) and </a:t>
                </a:r>
                <a:r>
                  <a:rPr lang="en-IN" sz="2400">
                    <a:solidFill>
                      <a:srgbClr val="111827"/>
                    </a:solidFill>
                    <a:latin typeface="Cambria Math" panose="02040503050406030204" pitchFamily="18" charset="0"/>
                  </a:rPr>
                  <a:t>$(h+1)^2+k^2=(\cos\theta+2)^2$</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(2)</a:t>
                </a:r>
                <a:r>
                  <a:rPr lang="en-IN" sz="2400">
                    <a:solidFill>
                      <a:srgbClr val="111827"/>
                    </a:solidFill>
                    <a:latin typeface="Cambria Math" panose="02040503050406030204" pitchFamily="18" charset="0"/>
                  </a:rPr>
                  <a:t>$-$</a:t>
                </a:r>
                <a:r>
                  <a:rPr sz="2400" b="0">
                    <a:solidFill>
                      <a:srgbClr val="111827"/>
                    </a:solidFill>
                    <a:latin typeface="Arial"/>
                  </a:rPr>
                  <a:t>(1): </a:t>
                </a:r>
                <a:r>
                  <a:rPr lang="en-IN" sz="2400">
                    <a:solidFill>
                      <a:srgbClr val="111827"/>
                    </a:solidFill>
                    <a:latin typeface="Cambria Math" panose="02040503050406030204" pitchFamily="18" charset="0"/>
                  </a:rPr>
                  <a:t>$4h=8\cos\theta$</a:t>
                </a:r>
                <a:r>
                  <a:rPr sz="2400" b="0">
                    <a:solidFill>
                      <a:srgbClr val="111827"/>
                    </a:solidFill>
                    <a:latin typeface="Arial"/>
                  </a:rPr>
                  <a:t>, so </a:t>
                </a:r>
                <a:r>
                  <a:rPr lang="en-IN" sz="2400">
                    <a:solidFill>
                      <a:srgbClr val="111827"/>
                    </a:solidFill>
                    <a:latin typeface="Cambria Math" panose="02040503050406030204" pitchFamily="18" charset="0"/>
                  </a:rPr>
                  <a:t>$\cos\theta=\frac h2$</a:t>
                </a:r>
                <a:r>
                  <a:rPr sz="2400" b="0">
                    <a:solidFill>
                      <a:srgbClr val="111827"/>
                    </a:solidFill>
                    <a:latin typeface="Arial"/>
                  </a:rPr>
                  <a:t> ....(3).</a:t>
                </a:r>
                <a:endParaRPr sz="2400">
                  <a:solidFill>
                    <a:srgbClr val="111827"/>
                  </a:solidFill>
                </a:endParaRPr>
              </a:p>
            </p:txBody>
          </p:sp>
        </mc:Fallback>
      </mc:AlternateContent>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(2)</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(1):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....(4).</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(3) and (4): </a:t>
                </a:r>
                <a14:m>
                  <m:oMath xmlns:m="http://schemas.openxmlformats.org/officeDocument/2006/math">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the focus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 ellipse)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(2)</a:t>
                </a:r>
                <a:r>
                  <a:rPr lang="en-IN" sz="2400">
                    <a:solidFill>
                      <a:srgbClr val="111827"/>
                    </a:solidFill>
                    <a:latin typeface="Cambria Math" panose="02040503050406030204" pitchFamily="18" charset="0"/>
                  </a:rPr>
                  <a:t>$+$</a:t>
                </a:r>
                <a:r>
                  <a:rPr sz="2400" b="0">
                    <a:solidFill>
                      <a:srgbClr val="111827"/>
                    </a:solidFill>
                    <a:latin typeface="Arial"/>
                  </a:rPr>
                  <a:t>(1): </a:t>
                </a:r>
                <a:r>
                  <a:rPr lang="en-IN" sz="2400">
                    <a:solidFill>
                      <a:srgbClr val="111827"/>
                    </a:solidFill>
                    <a:latin typeface="Cambria Math" panose="02040503050406030204" pitchFamily="18" charset="0"/>
                  </a:rPr>
                  <a:t>$2(h^2+k^2+1)=2(\cos^2\theta+4)$</a:t>
                </a:r>
                <a:r>
                  <a:rPr sz="2400" b="0">
                    <a:solidFill>
                      <a:srgbClr val="111827"/>
                    </a:solidFill>
                    <a:latin typeface="Arial"/>
                  </a:rPr>
                  <a:t>, so </a:t>
                </a:r>
                <a:r>
                  <a:rPr lang="en-IN" sz="2400">
                    <a:solidFill>
                      <a:srgbClr val="111827"/>
                    </a:solidFill>
                    <a:latin typeface="Cambria Math" panose="02040503050406030204" pitchFamily="18" charset="0"/>
                  </a:rPr>
                  <a:t>$h^2+k^2+1=\cos^2\theta+4$</a:t>
                </a:r>
                <a:r>
                  <a:rPr sz="2400" b="0">
                    <a:solidFill>
                      <a:srgbClr val="111827"/>
                    </a:solidFill>
                    <a:latin typeface="Arial"/>
                  </a:rPr>
                  <a:t> ....(4).</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(3) and (4): </a:t>
                </a:r>
                <a:r>
                  <a:rPr lang="en-IN" sz="2400">
                    <a:solidFill>
                      <a:srgbClr val="111827"/>
                    </a:solidFill>
                    <a:latin typeface="Cambria Math" panose="02040503050406030204" pitchFamily="18" charset="0"/>
                  </a:rPr>
                  <a:t>$h^2+k^2+1=4+\frac{h^2}{4}$</a:t>
                </a:r>
                <a:r>
                  <a:rPr sz="2400" b="0">
                    <a:solidFill>
                      <a:srgbClr val="111827"/>
                    </a:solidFill>
                    <a:latin typeface="Arial"/>
                  </a:rPr>
                  <a:t>, i.e. </a:t>
                </a:r>
                <a:r>
                  <a:rPr lang="en-IN" sz="2400">
                    <a:solidFill>
                      <a:srgbClr val="111827"/>
                    </a:solidFill>
                    <a:latin typeface="Cambria Math" panose="02040503050406030204" pitchFamily="18" charset="0"/>
                  </a:rPr>
                  <a:t>$\frac{3h^2}{4}+k^2=3$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the focus is </a:t>
                </a:r>
                <a:r>
                  <a:rPr lang="en-IN" sz="2400">
                    <a:solidFill>
                      <a:srgbClr val="111827"/>
                    </a:solidFill>
                    <a:latin typeface="Cambria Math" panose="02040503050406030204" pitchFamily="18" charset="0"/>
                  </a:rPr>
                  <a:t>$\frac{x^2}{4}+\frac{y^2}{3}=1$</a:t>
                </a:r>
                <a:r>
                  <a:rPr sz="2400" b="0">
                    <a:solidFill>
                      <a:srgbClr val="111827"/>
                    </a:solidFill>
                    <a:latin typeface="Arial"/>
                  </a:rPr>
                  <a:t> (an ellipse) with </a:t>
                </a:r>
                <a:r>
                  <a:rPr lang="en-IN" sz="2400">
                    <a:solidFill>
                      <a:srgbClr val="111827"/>
                    </a:solidFill>
                    <a:latin typeface="Cambria Math" panose="02040503050406030204" pitchFamily="18" charset="0"/>
                  </a:rPr>
                  <a:t>$a=2$</a:t>
                </a:r>
                <a:r>
                  <a:rPr sz="2400" b="0">
                    <a:solidFill>
                      <a:srgbClr val="111827"/>
                    </a:solidFill>
                    <a:latin typeface="Arial"/>
                  </a:rPr>
                  <a:t>, </a:t>
                </a:r>
                <a:r>
                  <a:rPr lang="en-IN" sz="2400">
                    <a:solidFill>
                      <a:srgbClr val="111827"/>
                    </a:solidFill>
                    <a:latin typeface="Cambria Math" panose="02040503050406030204" pitchFamily="18" charset="0"/>
                  </a:rPr>
                  <a:t>$b^2=3$</a:t>
                </a:r>
                <a:r>
                  <a:rPr sz="2400" b="0">
                    <a:solidFill>
                      <a:srgbClr val="111827"/>
                    </a:solidFill>
                    <a:latin typeface="Arial"/>
                  </a:rPr>
                  <a:t>, </a:t>
                </a:r>
                <a:r>
                  <a:rPr lang="en-IN" sz="2400">
                    <a:solidFill>
                      <a:srgbClr val="111827"/>
                    </a:solidFill>
                    <a:latin typeface="Cambria Math" panose="02040503050406030204" pitchFamily="18" charset="0"/>
                  </a:rPr>
                  <a:t>$e^2=1-\frac34=\frac14$</a:t>
                </a:r>
                <a:r>
                  <a:rPr sz="2400" b="0">
                    <a:solidFill>
                      <a:srgbClr val="111827"/>
                    </a:solidFill>
                    <a:latin typeface="Arial"/>
                  </a:rPr>
                  <a:t>, so </a:t>
                </a:r>
                <a:r>
                  <a:rPr lang="en-IN" sz="2400">
                    <a:solidFill>
                      <a:srgbClr val="111827"/>
                    </a:solidFill>
                    <a:latin typeface="Cambria Math" panose="02040503050406030204" pitchFamily="18" charset="0"/>
                  </a:rPr>
                  <a:t>$e=\frac12$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tangents at the ends of the latus rectum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they meet the major axis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minor axis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They form a rhombus with diagonals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square units.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tangents at the ends of the latus rectum </a:t>
                </a:r>
                <a:r>
                  <a:rPr lang="en-IN" sz="2400">
                    <a:solidFill>
                      <a:srgbClr val="111827"/>
                    </a:solidFill>
                    <a:latin typeface="Cambria Math" panose="02040503050406030204" pitchFamily="18" charset="0"/>
                  </a:rPr>
                  <a:t>$\left(\pm ae,\pm\frac{b^2}{a}\right)=\left(\pm1,\pm\frac32\right)$</a:t>
                </a:r>
                <a:r>
                  <a:rPr sz="2400" b="0">
                    <a:solidFill>
                      <a:srgbClr val="111827"/>
                    </a:solidFill>
                    <a:latin typeface="Arial"/>
                  </a:rPr>
                  <a:t> are </a:t>
                </a:r>
                <a:r>
                  <a:rPr lang="en-IN" sz="2400">
                    <a:solidFill>
                      <a:srgbClr val="111827"/>
                    </a:solidFill>
                    <a:latin typeface="Cambria Math" panose="02040503050406030204" pitchFamily="18" charset="0"/>
                  </a:rPr>
                  <a:t>$x\pm2y=\pm4$</a:t>
                </a:r>
                <a:r>
                  <a:rPr sz="2400" b="0">
                    <a:solidFill>
                      <a:srgbClr val="111827"/>
                    </a:solidFill>
                    <a:latin typeface="Arial"/>
                  </a:rPr>
                  <a:t>; they meet the major axis at </a:t>
                </a:r>
                <a:r>
                  <a:rPr lang="en-IN" sz="2400">
                    <a:solidFill>
                      <a:srgbClr val="111827"/>
                    </a:solidFill>
                    <a:latin typeface="Cambria Math" panose="02040503050406030204" pitchFamily="18" charset="0"/>
                  </a:rPr>
                  <a:t>$\left(\pm\frac ae,0\right)=(\pm4,0)$</a:t>
                </a:r>
                <a:r>
                  <a:rPr sz="2400" b="0">
                    <a:solidFill>
                      <a:srgbClr val="111827"/>
                    </a:solidFill>
                    <a:latin typeface="Arial"/>
                  </a:rPr>
                  <a:t> and the minor axis at </a:t>
                </a:r>
                <a:r>
                  <a:rPr lang="en-IN" sz="2400">
                    <a:solidFill>
                      <a:srgbClr val="111827"/>
                    </a:solidFill>
                    <a:latin typeface="Cambria Math" panose="02040503050406030204" pitchFamily="18" charset="0"/>
                  </a:rPr>
                  <a:t>$(0,\pm a)=(0,\pm2)$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They form a rhombus with diagonals </a:t>
                </a:r>
                <a:r>
                  <a:rPr lang="en-IN" sz="2400">
                    <a:solidFill>
                      <a:srgbClr val="111827"/>
                    </a:solidFill>
                    <a:latin typeface="Cambria Math" panose="02040503050406030204" pitchFamily="18" charset="0"/>
                  </a:rPr>
                  <a:t>$\frac{2a}{e}=8$</a:t>
                </a:r>
                <a:r>
                  <a:rPr sz="2400" b="0">
                    <a:solidFill>
                      <a:srgbClr val="111827"/>
                    </a:solidFill>
                    <a:latin typeface="Arial"/>
                  </a:rPr>
                  <a:t> and </a:t>
                </a:r>
                <a:r>
                  <a:rPr lang="en-IN" sz="2400">
                    <a:solidFill>
                      <a:srgbClr val="111827"/>
                    </a:solidFill>
                    <a:latin typeface="Cambria Math" panose="02040503050406030204" pitchFamily="18" charset="0"/>
                  </a:rPr>
                  <a:t>$2a=4$</a:t>
                </a:r>
                <a:r>
                  <a:rPr sz="2400" b="0">
                    <a:solidFill>
                      <a:srgbClr val="111827"/>
                    </a:solidFill>
                    <a:latin typeface="Arial"/>
                  </a:rPr>
                  <a:t>: area </a:t>
                </a:r>
                <a:r>
                  <a:rPr lang="en-IN" sz="2400">
                    <a:solidFill>
                      <a:srgbClr val="111827"/>
                    </a:solidFill>
                    <a:latin typeface="Cambria Math" panose="02040503050406030204" pitchFamily="18" charset="0"/>
                  </a:rPr>
                  <a:t>$=\frac12\cdot8\cdot4=\frac{2a^2}{e}=16$</a:t>
                </a:r>
                <a:r>
                  <a:rPr sz="2400" b="0">
                    <a:solidFill>
                      <a:srgbClr val="111827"/>
                    </a:solidFill>
                    <a:latin typeface="Arial"/>
                  </a:rPr>
                  <a:t> square units.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16</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$16$</a:t>
                </a:r>
                <a:endParaRPr sz="2800">
                  <a:solidFill>
                    <a:srgbClr val="15803D"/>
                  </a:solidFill>
                </a:endParaRPr>
              </a:p>
            </p:txBody>
          </p:sp>
        </mc:Fallback>
      </mc:AlternateContent>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distances of </a:t>
                </a:r>
                <a14:m>
                  <m:oMath xmlns:m="http://schemas.openxmlformats.org/officeDocument/2006/math">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from the tangent line are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oMath>
                </a14:m>
                <a:r>
                  <a:rPr sz="2400" b="0">
                    <a:solidFill>
                      <a:srgbClr val="78350F"/>
                    </a:solidFill>
                    <a:latin typeface="Arial"/>
                  </a:rPr>
                  <a:t>; since </a:t>
                </a:r>
                <a14:m>
                  <m:oMath xmlns:m="http://schemas.openxmlformats.org/officeDocument/2006/math">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𝐴</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𝐵</m:t>
                    </m:r>
                  </m:oMath>
                </a14:m>
                <a:r>
                  <a:rPr sz="2400" b="0">
                    <a:solidFill>
                      <a:srgbClr val="78350F"/>
                    </a:solidFill>
                    <a:latin typeface="Arial"/>
                  </a:rPr>
                  <a:t> equal them, </a:t>
                </a:r>
                <a14:m>
                  <m:oMath xmlns:m="http://schemas.openxmlformats.org/officeDocument/2006/math">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 at once.</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distances of </a:t>
                </a:r>
                <a:r>
                  <a:rPr lang="en-IN" sz="2400">
                    <a:solidFill>
                      <a:srgbClr val="78350F"/>
                    </a:solidFill>
                    <a:latin typeface="Cambria Math" panose="02040503050406030204" pitchFamily="18" charset="0"/>
                  </a:rPr>
                  <a:t>$A(1,0)$</a:t>
                </a:r>
                <a:r>
                  <a:rPr sz="2400" b="0">
                    <a:solidFill>
                      <a:srgbClr val="78350F"/>
                    </a:solidFill>
                    <a:latin typeface="Arial"/>
                  </a:rPr>
                  <a:t> and </a:t>
                </a:r>
                <a:r>
                  <a:rPr lang="en-IN" sz="2400">
                    <a:solidFill>
                      <a:srgbClr val="78350F"/>
                    </a:solidFill>
                    <a:latin typeface="Cambria Math" panose="02040503050406030204" pitchFamily="18" charset="0"/>
                  </a:rPr>
                  <a:t>$B(-1,0)$</a:t>
                </a:r>
                <a:r>
                  <a:rPr sz="2400" b="0">
                    <a:solidFill>
                      <a:srgbClr val="78350F"/>
                    </a:solidFill>
                    <a:latin typeface="Arial"/>
                  </a:rPr>
                  <a:t> from the tangent line are </a:t>
                </a:r>
                <a:r>
                  <a:rPr lang="en-IN" sz="2400">
                    <a:solidFill>
                      <a:srgbClr val="78350F"/>
                    </a:solidFill>
                    <a:latin typeface="Cambria Math" panose="02040503050406030204" pitchFamily="18" charset="0"/>
                  </a:rPr>
                  <a:t>$2-\cos\theta$</a:t>
                </a:r>
                <a:r>
                  <a:rPr sz="2400" b="0">
                    <a:solidFill>
                      <a:srgbClr val="78350F"/>
                    </a:solidFill>
                    <a:latin typeface="Arial"/>
                  </a:rPr>
                  <a:t> and </a:t>
                </a:r>
                <a:r>
                  <a:rPr lang="en-IN" sz="2400">
                    <a:solidFill>
                      <a:srgbClr val="78350F"/>
                    </a:solidFill>
                    <a:latin typeface="Cambria Math" panose="02040503050406030204" pitchFamily="18" charset="0"/>
                  </a:rPr>
                  <a:t>$2+\cos\theta$</a:t>
                </a:r>
                <a:r>
                  <a:rPr sz="2400" b="0">
                    <a:solidFill>
                      <a:srgbClr val="78350F"/>
                    </a:solidFill>
                    <a:latin typeface="Arial"/>
                  </a:rPr>
                  <a:t>; since </a:t>
                </a:r>
                <a:r>
                  <a:rPr lang="en-IN" sz="2400">
                    <a:solidFill>
                      <a:srgbClr val="78350F"/>
                    </a:solidFill>
                    <a:latin typeface="Cambria Math" panose="02040503050406030204" pitchFamily="18" charset="0"/>
                  </a:rPr>
                  <a:t>$MA$</a:t>
                </a:r>
                <a:r>
                  <a:rPr sz="2400" b="0">
                    <a:solidFill>
                      <a:srgbClr val="78350F"/>
                    </a:solidFill>
                    <a:latin typeface="Arial"/>
                  </a:rPr>
                  <a:t> and </a:t>
                </a:r>
                <a:r>
                  <a:rPr lang="en-IN" sz="2400">
                    <a:solidFill>
                      <a:srgbClr val="78350F"/>
                    </a:solidFill>
                    <a:latin typeface="Cambria Math" panose="02040503050406030204" pitchFamily="18" charset="0"/>
                  </a:rPr>
                  <a:t>$MB$</a:t>
                </a:r>
                <a:r>
                  <a:rPr sz="2400" b="0">
                    <a:solidFill>
                      <a:srgbClr val="78350F"/>
                    </a:solidFill>
                    <a:latin typeface="Arial"/>
                  </a:rPr>
                  <a:t> equal them, </a:t>
                </a:r>
                <a:r>
                  <a:rPr lang="en-IN" sz="2400">
                    <a:solidFill>
                      <a:srgbClr val="78350F"/>
                    </a:solidFill>
                    <a:latin typeface="Cambria Math" panose="02040503050406030204" pitchFamily="18" charset="0"/>
                  </a:rPr>
                  <a:t>$MA+MB=4$</a:t>
                </a:r>
                <a:r>
                  <a:rPr sz="2400" b="0">
                    <a:solidFill>
                      <a:srgbClr val="78350F"/>
                    </a:solidFill>
                    <a:latin typeface="Arial"/>
                  </a:rPr>
                  <a:t> at once.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at the signed distances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(both on the same side).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lie on the parabola, so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is the focus).</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directrix </a:t>
                </a:r>
                <a:r>
                  <a:rPr lang="en-IN" sz="2400">
                    <a:solidFill>
                      <a:srgbClr val="111827"/>
                    </a:solidFill>
                    <a:latin typeface="Cambria Math" panose="02040503050406030204" pitchFamily="18" charset="0"/>
                  </a:rPr>
                  <a:t>$x\cos\theta+y\sin\theta=2$</a:t>
                </a:r>
                <a:r>
                  <a:rPr sz="2400" b="0">
                    <a:solidFill>
                      <a:srgbClr val="111827"/>
                    </a:solidFill>
                    <a:latin typeface="Arial"/>
                  </a:rPr>
                  <a:t> is at the signed distances </a:t>
                </a:r>
                <a:r>
                  <a:rPr lang="en-IN" sz="2400">
                    <a:solidFill>
                      <a:srgbClr val="111827"/>
                    </a:solidFill>
                    <a:latin typeface="Cambria Math" panose="02040503050406030204" pitchFamily="18" charset="0"/>
                  </a:rPr>
                  <a:t>$2-\cos\theta$</a:t>
                </a:r>
                <a:r>
                  <a:rPr sz="2400" b="0">
                    <a:solidFill>
                      <a:srgbClr val="111827"/>
                    </a:solidFill>
                    <a:latin typeface="Arial"/>
                  </a:rPr>
                  <a:t> from </a:t>
                </a:r>
                <a:r>
                  <a:rPr lang="en-IN" sz="2400">
                    <a:solidFill>
                      <a:srgbClr val="111827"/>
                    </a:solidFill>
                    <a:latin typeface="Cambria Math" panose="02040503050406030204" pitchFamily="18" charset="0"/>
                  </a:rPr>
                  <a:t>$A(1,0)$</a:t>
                </a:r>
                <a:r>
                  <a:rPr sz="2400" b="0">
                    <a:solidFill>
                      <a:srgbClr val="111827"/>
                    </a:solidFill>
                    <a:latin typeface="Arial"/>
                  </a:rPr>
                  <a:t> and </a:t>
                </a:r>
                <a:r>
                  <a:rPr lang="en-IN" sz="2400">
                    <a:solidFill>
                      <a:srgbClr val="111827"/>
                    </a:solidFill>
                    <a:latin typeface="Cambria Math" panose="02040503050406030204" pitchFamily="18" charset="0"/>
                  </a:rPr>
                  <a:t>$2+\cos\theta$</a:t>
                </a:r>
                <a:r>
                  <a:rPr sz="2400" b="0">
                    <a:solidFill>
                      <a:srgbClr val="111827"/>
                    </a:solidFill>
                    <a:latin typeface="Arial"/>
                  </a:rPr>
                  <a:t> from </a:t>
                </a:r>
                <a:r>
                  <a:rPr lang="en-IN" sz="2400">
                    <a:solidFill>
                      <a:srgbClr val="111827"/>
                    </a:solidFill>
                    <a:latin typeface="Cambria Math" panose="02040503050406030204" pitchFamily="18" charset="0"/>
                  </a:rPr>
                  <a:t>$B(-1,0)$</a:t>
                </a:r>
                <a:r>
                  <a:rPr sz="2400" b="0">
                    <a:solidFill>
                      <a:srgbClr val="111827"/>
                    </a:solidFill>
                    <a:latin typeface="Arial"/>
                  </a:rPr>
                  <a:t> (both on the same side).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a:t>
                </a:r>
                <a:r>
                  <a:rPr sz="2400" b="0">
                    <a:solidFill>
                      <a:srgbClr val="111827"/>
                    </a:solidFill>
                    <a:latin typeface="Arial"/>
                  </a:rPr>
                  <a:t> lie on the parabola, so </a:t>
                </a:r>
                <a:r>
                  <a:rPr lang="en-IN" sz="2400">
                    <a:solidFill>
                      <a:srgbClr val="111827"/>
                    </a:solidFill>
                    <a:latin typeface="Cambria Math" panose="02040503050406030204" pitchFamily="18" charset="0"/>
                  </a:rPr>
                  <a:t>$MA=2-\cos\theta$</a:t>
                </a:r>
                <a:r>
                  <a:rPr sz="2400" b="0">
                    <a:solidFill>
                      <a:srgbClr val="111827"/>
                    </a:solidFill>
                    <a:latin typeface="Arial"/>
                  </a:rPr>
                  <a:t> and </a:t>
                </a:r>
                <a:r>
                  <a:rPr lang="en-IN" sz="2400">
                    <a:solidFill>
                      <a:srgbClr val="111827"/>
                    </a:solidFill>
                    <a:latin typeface="Cambria Math" panose="02040503050406030204" pitchFamily="18" charset="0"/>
                  </a:rPr>
                  <a:t>$MB=2+\cos\theta$</a:t>
                </a:r>
                <a:r>
                  <a:rPr sz="2400" b="0">
                    <a:solidFill>
                      <a:srgbClr val="111827"/>
                    </a:solidFill>
                    <a:latin typeface="Arial"/>
                  </a:rPr>
                  <a:t> (</a:t>
                </a:r>
                <a:r>
                  <a:rPr lang="en-IN" sz="2400">
                    <a:solidFill>
                      <a:srgbClr val="111827"/>
                    </a:solidFill>
                    <a:latin typeface="Cambria Math" panose="02040503050406030204" pitchFamily="18" charset="0"/>
                  </a:rPr>
                  <a:t>$M$</a:t>
                </a:r>
                <a:r>
                  <a:rPr sz="2400" b="0">
                    <a:solidFill>
                      <a:srgbClr val="111827"/>
                    </a:solidFill>
                    <a:latin typeface="Arial"/>
                  </a:rPr>
                  <a:t> is the focus).</a:t>
                </a:r>
                <a:endParaRPr sz="2400">
                  <a:solidFill>
                    <a:srgbClr val="111827"/>
                  </a:solidFill>
                </a:endParaRPr>
              </a:p>
            </p:txBody>
          </p:sp>
        </mc:Fallback>
      </mc:AlternateContent>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 constant larger than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lies on the ellipse with foci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area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$MA+MB=4$</a:t>
                </a:r>
                <a:r>
                  <a:rPr sz="2400" b="0">
                    <a:solidFill>
                      <a:srgbClr val="111827"/>
                    </a:solidFill>
                    <a:latin typeface="Arial"/>
                  </a:rPr>
                  <a:t>, a constant larger than </a:t>
                </a:r>
                <a:r>
                  <a:rPr lang="en-IN" sz="2400">
                    <a:solidFill>
                      <a:srgbClr val="111827"/>
                    </a:solidFill>
                    <a:latin typeface="Cambria Math" panose="02040503050406030204" pitchFamily="18" charset="0"/>
                  </a:rPr>
                  <a:t>$AB=2$</a:t>
                </a:r>
                <a:r>
                  <a:rPr sz="2400" b="0">
                    <a:solidFill>
                      <a:srgbClr val="111827"/>
                    </a:solidFill>
                    <a:latin typeface="Arial"/>
                  </a:rPr>
                  <a:t>: </a:t>
                </a:r>
                <a:r>
                  <a:rPr lang="en-IN" sz="2400">
                    <a:solidFill>
                      <a:srgbClr val="111827"/>
                    </a:solidFill>
                    <a:latin typeface="Cambria Math" panose="02040503050406030204" pitchFamily="18" charset="0"/>
                  </a:rPr>
                  <a:t>$M$</a:t>
                </a:r>
                <a:r>
                  <a:rPr sz="2400" b="0">
                    <a:solidFill>
                      <a:srgbClr val="111827"/>
                    </a:solidFill>
                    <a:latin typeface="Arial"/>
                  </a:rPr>
                  <a:t> lies on the ellipse with foci </a:t>
                </a:r>
                <a:r>
                  <a:rPr lang="en-IN" sz="2400">
                    <a:solidFill>
                      <a:srgbClr val="111827"/>
                    </a:solidFill>
                    <a:latin typeface="Cambria Math" panose="02040503050406030204" pitchFamily="18" charset="0"/>
                  </a:rPr>
                  <a:t>$(\pm1,0)$</a:t>
                </a:r>
                <a:r>
                  <a:rPr sz="2400" b="0">
                    <a:solidFill>
                      <a:srgbClr val="111827"/>
                    </a:solidFill>
                    <a:latin typeface="Arial"/>
                  </a:rPr>
                  <a:t> and </a:t>
                </a:r>
                <a:r>
                  <a:rPr lang="en-IN" sz="2400">
                    <a:solidFill>
                      <a:srgbClr val="111827"/>
                    </a:solidFill>
                    <a:latin typeface="Cambria Math" panose="02040503050406030204" pitchFamily="18" charset="0"/>
                  </a:rPr>
                  <a:t>$2a=4$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$a=2$</a:t>
                </a:r>
                <a:r>
                  <a:rPr sz="2400" b="0">
                    <a:solidFill>
                      <a:srgbClr val="111827"/>
                    </a:solidFill>
                    <a:latin typeface="Arial"/>
                  </a:rPr>
                  <a:t>, </a:t>
                </a:r>
                <a:r>
                  <a:rPr lang="en-IN" sz="2400">
                    <a:solidFill>
                      <a:srgbClr val="111827"/>
                    </a:solidFill>
                    <a:latin typeface="Cambria Math" panose="02040503050406030204" pitchFamily="18" charset="0"/>
                  </a:rPr>
                  <a:t>$c=1$</a:t>
                </a:r>
                <a:r>
                  <a:rPr sz="2400" b="0">
                    <a:solidFill>
                      <a:srgbClr val="111827"/>
                    </a:solidFill>
                    <a:latin typeface="Arial"/>
                  </a:rPr>
                  <a:t>, </a:t>
                </a:r>
                <a:r>
                  <a:rPr lang="en-IN" sz="2400">
                    <a:solidFill>
                      <a:srgbClr val="111827"/>
                    </a:solidFill>
                    <a:latin typeface="Cambria Math" panose="02040503050406030204" pitchFamily="18" charset="0"/>
                  </a:rPr>
                  <a:t>$b^2=3$</a:t>
                </a:r>
                <a:r>
                  <a:rPr sz="2400" b="0">
                    <a:solidFill>
                      <a:srgbClr val="111827"/>
                    </a:solidFill>
                    <a:latin typeface="Arial"/>
                  </a:rPr>
                  <a:t>: </a:t>
                </a:r>
                <a:r>
                  <a:rPr lang="en-IN" sz="2400">
                    <a:solidFill>
                      <a:srgbClr val="111827"/>
                    </a:solidFill>
                    <a:latin typeface="Cambria Math" panose="02040503050406030204" pitchFamily="18" charset="0"/>
                  </a:rPr>
                  <a:t>$\frac{x^2}{4}+\frac{y^2}{3}=1$</a:t>
                </a:r>
                <a:r>
                  <a:rPr sz="2400" b="0">
                    <a:solidFill>
                      <a:srgbClr val="111827"/>
                    </a:solidFill>
                    <a:latin typeface="Arial"/>
                  </a:rPr>
                  <a:t>, </a:t>
                </a:r>
                <a:r>
                  <a:rPr lang="en-IN" sz="2400">
                    <a:solidFill>
                      <a:srgbClr val="111827"/>
                    </a:solidFill>
                    <a:latin typeface="Cambria Math" panose="02040503050406030204" pitchFamily="18" charset="0"/>
                  </a:rPr>
                  <a:t>$e=\frac12$</a:t>
                </a:r>
                <a:r>
                  <a:rPr sz="2400" b="0">
                    <a:solidFill>
                      <a:srgbClr val="111827"/>
                    </a:solidFill>
                    <a:latin typeface="Arial"/>
                  </a:rPr>
                  <a:t>; the area is </a:t>
                </a:r>
                <a:r>
                  <a:rPr lang="en-IN" sz="2400">
                    <a:solidFill>
                      <a:srgbClr val="111827"/>
                    </a:solidFill>
                    <a:latin typeface="Cambria Math" panose="02040503050406030204" pitchFamily="18" charset="0"/>
                  </a:rPr>
                  <a:t>$\frac{2a^2}{e}=16$</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16</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$16$</a:t>
                </a:r>
                <a:endParaRPr sz="2800">
                  <a:solidFill>
                    <a:srgbClr val="15803D"/>
                  </a:solidFill>
                </a:endParaRPr>
              </a:p>
            </p:txBody>
          </p:sp>
        </mc:Fallback>
      </mc:AlternateContent>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lie on a parabola with focus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and directrix </a:t>
                </a:r>
                <a14:m>
                  <m:oMath xmlns:m="http://schemas.openxmlformats.org/officeDocument/2006/math">
                    <m:r>
                      <a:rPr lang="en-IN" sz="2400" i="1">
                        <a:solidFill>
                          <a:srgbClr val="111827"/>
                        </a:solidFill>
                        <a:latin typeface="Cambria Math" panose="02040503050406030204" pitchFamily="18" charset="0"/>
                      </a:rPr>
                      <m:t>ℓ</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ℓ</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ℓ</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tangent to a circle of radius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about the origin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oMath>
                </a14:m>
                <a:r>
                  <a:rPr sz="2400" b="0">
                    <a:solidFill>
                      <a:srgbClr val="111827"/>
                    </a:solidFill>
                    <a:latin typeface="Arial"/>
                  </a:rPr>
                  <a:t>) the distances of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with sum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𝑅</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tangents at the ends of the latera recta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form a rhombus with diagonals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area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𝑒</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e>
                    </m:d>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𝑒</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meeting the axes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𝑒</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$A,B$</a:t>
                </a:r>
                <a:r>
                  <a:rPr sz="2400" b="0">
                    <a:solidFill>
                      <a:srgbClr val="111827"/>
                    </a:solidFill>
                    <a:latin typeface="Arial"/>
                  </a:rPr>
                  <a:t> lie on a parabola with focus </a:t>
                </a:r>
                <a:r>
                  <a:rPr lang="en-IN" sz="2400">
                    <a:solidFill>
                      <a:srgbClr val="111827"/>
                    </a:solidFill>
                    <a:latin typeface="Cambria Math" panose="02040503050406030204" pitchFamily="18" charset="0"/>
                  </a:rPr>
                  <a:t>$M$</a:t>
                </a:r>
                <a:r>
                  <a:rPr sz="2400" b="0">
                    <a:solidFill>
                      <a:srgbClr val="111827"/>
                    </a:solidFill>
                    <a:latin typeface="Arial"/>
                  </a:rPr>
                  <a:t> and directrix </a:t>
                </a:r>
                <a:r>
                  <a:rPr lang="en-IN" sz="2400">
                    <a:solidFill>
                      <a:srgbClr val="111827"/>
                    </a:solidFill>
                    <a:latin typeface="Cambria Math" panose="02040503050406030204" pitchFamily="18" charset="0"/>
                  </a:rPr>
                  <a:t>$\ell$</a:t>
                </a:r>
                <a:r>
                  <a:rPr sz="2400" b="0">
                    <a:solidFill>
                      <a:srgbClr val="111827"/>
                    </a:solidFill>
                    <a:latin typeface="Arial"/>
                  </a:rPr>
                  <a:t>, then </a:t>
                </a:r>
                <a:r>
                  <a:rPr lang="en-IN" sz="2400">
                    <a:solidFill>
                      <a:srgbClr val="111827"/>
                    </a:solidFill>
                    <a:latin typeface="Cambria Math" panose="02040503050406030204" pitchFamily="18" charset="0"/>
                  </a:rPr>
                  <a:t>$MA=d(A,\ell)$</a:t>
                </a:r>
                <a:r>
                  <a:rPr sz="2400" b="0">
                    <a:solidFill>
                      <a:srgbClr val="111827"/>
                    </a:solidFill>
                    <a:latin typeface="Arial"/>
                  </a:rPr>
                  <a:t> and </a:t>
                </a:r>
                <a:r>
                  <a:rPr lang="en-IN" sz="2400">
                    <a:solidFill>
                      <a:srgbClr val="111827"/>
                    </a:solidFill>
                    <a:latin typeface="Cambria Math" panose="02040503050406030204" pitchFamily="18" charset="0"/>
                  </a:rPr>
                  <a:t>$MB=d(B,\ell)$</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tangent to a circle of radius </a:t>
                </a:r>
                <a:r>
                  <a:rPr lang="en-IN" sz="2400">
                    <a:solidFill>
                      <a:srgbClr val="111827"/>
                    </a:solidFill>
                    <a:latin typeface="Cambria Math" panose="02040503050406030204" pitchFamily="18" charset="0"/>
                  </a:rPr>
                  <a:t>$R$</a:t>
                </a:r>
                <a:r>
                  <a:rPr sz="2400" b="0">
                    <a:solidFill>
                      <a:srgbClr val="111827"/>
                    </a:solidFill>
                    <a:latin typeface="Arial"/>
                  </a:rPr>
                  <a:t> about the origin (</a:t>
                </a:r>
                <a:r>
                  <a:rPr lang="en-IN" sz="2400">
                    <a:solidFill>
                      <a:srgbClr val="111827"/>
                    </a:solidFill>
                    <a:latin typeface="Cambria Math" panose="02040503050406030204" pitchFamily="18" charset="0"/>
                  </a:rPr>
                  <a:t>$x\cos\theta+y\sin\theta=R$</a:t>
                </a:r>
                <a:r>
                  <a:rPr sz="2400" b="0">
                    <a:solidFill>
                      <a:srgbClr val="111827"/>
                    </a:solidFill>
                    <a:latin typeface="Arial"/>
                  </a:rPr>
                  <a:t>) the distances of </a:t>
                </a:r>
                <a:r>
                  <a:rPr lang="en-IN" sz="2400">
                    <a:solidFill>
                      <a:srgbClr val="111827"/>
                    </a:solidFill>
                    <a:latin typeface="Cambria Math" panose="02040503050406030204" pitchFamily="18" charset="0"/>
                  </a:rPr>
                  <a:t>$(\pm c,0)$</a:t>
                </a:r>
                <a:r>
                  <a:rPr sz="2400" b="0">
                    <a:solidFill>
                      <a:srgbClr val="111827"/>
                    </a:solidFill>
                    <a:latin typeface="Arial"/>
                  </a:rPr>
                  <a:t> are </a:t>
                </a:r>
                <a:r>
                  <a:rPr lang="en-IN" sz="2400">
                    <a:solidFill>
                      <a:srgbClr val="111827"/>
                    </a:solidFill>
                    <a:latin typeface="Cambria Math" panose="02040503050406030204" pitchFamily="18" charset="0"/>
                  </a:rPr>
                  <a:t>$R\mp c\cos\theta$</a:t>
                </a:r>
                <a:r>
                  <a:rPr sz="2400" b="0">
                    <a:solidFill>
                      <a:srgbClr val="111827"/>
                    </a:solidFill>
                    <a:latin typeface="Arial"/>
                  </a:rPr>
                  <a:t>, with sum </a:t>
                </a:r>
                <a:r>
                  <a:rPr lang="en-IN" sz="2400">
                    <a:solidFill>
                      <a:srgbClr val="111827"/>
                    </a:solidFill>
                    <a:latin typeface="Cambria Math" panose="02040503050406030204" pitchFamily="18" charset="0"/>
                  </a:rPr>
                  <a:t>$2R$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tangents at the ends of the latera recta of </a:t>
                </a:r>
                <a:r>
                  <a:rPr lang="en-IN" sz="2400">
                    <a:solidFill>
                      <a:srgbClr val="111827"/>
                    </a:solidFill>
                    <a:latin typeface="Cambria Math" panose="02040503050406030204" pitchFamily="18" charset="0"/>
                  </a:rPr>
                  <a:t>$\frac{x^2}{a^2}+\frac{y^2}{b^2}=1$</a:t>
                </a:r>
                <a:r>
                  <a:rPr sz="2400" b="0">
                    <a:solidFill>
                      <a:srgbClr val="111827"/>
                    </a:solidFill>
                    <a:latin typeface="Arial"/>
                  </a:rPr>
                  <a:t> form a rhombus with diagonals </a:t>
                </a:r>
                <a:r>
                  <a:rPr lang="en-IN" sz="2400">
                    <a:solidFill>
                      <a:srgbClr val="111827"/>
                    </a:solidFill>
                    <a:latin typeface="Cambria Math" panose="02040503050406030204" pitchFamily="18" charset="0"/>
                  </a:rPr>
                  <a:t>$\frac{2a}{e}$</a:t>
                </a:r>
                <a:r>
                  <a:rPr sz="2400" b="0">
                    <a:solidFill>
                      <a:srgbClr val="111827"/>
                    </a:solidFill>
                    <a:latin typeface="Arial"/>
                  </a:rPr>
                  <a:t> and </a:t>
                </a:r>
                <a:r>
                  <a:rPr lang="en-IN" sz="2400">
                    <a:solidFill>
                      <a:srgbClr val="111827"/>
                    </a:solidFill>
                    <a:latin typeface="Cambria Math" panose="02040503050406030204" pitchFamily="18" charset="0"/>
                  </a:rPr>
                  <a:t>$2a$</a:t>
                </a:r>
                <a:r>
                  <a:rPr sz="2400" b="0">
                    <a:solidFill>
                      <a:srgbClr val="111827"/>
                    </a:solidFill>
                    <a:latin typeface="Arial"/>
                  </a:rPr>
                  <a:t>: area </a:t>
                </a:r>
                <a:r>
                  <a:rPr lang="en-IN" sz="2400">
                    <a:solidFill>
                      <a:srgbClr val="111827"/>
                    </a:solidFill>
                    <a:latin typeface="Cambria Math" panose="02040503050406030204" pitchFamily="18" charset="0"/>
                  </a:rPr>
                  <a:t>$\frac{2a^2}{e}$</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tangent at </a:t>
                </a:r>
                <a:r>
                  <a:rPr lang="en-IN" sz="2400">
                    <a:solidFill>
                      <a:srgbClr val="111827"/>
                    </a:solidFill>
                    <a:latin typeface="Cambria Math" panose="02040503050406030204" pitchFamily="18" charset="0"/>
                  </a:rPr>
                  <a:t>$\left(ae,\frac{b^2}{a}\right)$</a:t>
                </a:r>
                <a:r>
                  <a:rPr sz="2400" b="0">
                    <a:solidFill>
                      <a:srgbClr val="111827"/>
                    </a:solidFill>
                    <a:latin typeface="Arial"/>
                  </a:rPr>
                  <a:t> is </a:t>
                </a:r>
                <a:r>
                  <a:rPr lang="en-IN" sz="2400">
                    <a:solidFill>
                      <a:srgbClr val="111827"/>
                    </a:solidFill>
                    <a:latin typeface="Cambria Math" panose="02040503050406030204" pitchFamily="18" charset="0"/>
                  </a:rPr>
                  <a:t>$\frac{ex}{a}+\frac{y}{a}=1$</a:t>
                </a:r>
                <a:r>
                  <a:rPr sz="2400" b="0">
                    <a:solidFill>
                      <a:srgbClr val="111827"/>
                    </a:solidFill>
                    <a:latin typeface="Arial"/>
                  </a:rPr>
                  <a:t>, meeting the axes at </a:t>
                </a:r>
                <a:r>
                  <a:rPr lang="en-IN" sz="2400">
                    <a:solidFill>
                      <a:srgbClr val="111827"/>
                    </a:solidFill>
                    <a:latin typeface="Cambria Math" panose="02040503050406030204" pitchFamily="18" charset="0"/>
                  </a:rPr>
                  <a:t>$\left(\frac ae,0\right)$</a:t>
                </a:r>
                <a:r>
                  <a:rPr sz="2400" b="0">
                    <a:solidFill>
                      <a:srgbClr val="111827"/>
                    </a:solidFill>
                    <a:latin typeface="Arial"/>
                  </a:rPr>
                  <a:t> and </a:t>
                </a:r>
                <a:r>
                  <a:rPr lang="en-IN" sz="2400">
                    <a:solidFill>
                      <a:srgbClr val="111827"/>
                    </a:solidFill>
                    <a:latin typeface="Cambria Math" panose="02040503050406030204" pitchFamily="18" charset="0"/>
                  </a:rPr>
                  <a:t>$(0,a)$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2</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Comprehension Type (Paragraph Based Single Correct)</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Q56 – Q61</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No marking scheme printed in the paper</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Assumed +3 each (JEE Advanced default for paragraph)</a:t>
            </a:r>
            <a:endParaRPr sz="2800">
              <a:solidFill>
                <a:srgbClr val="FFFFFF"/>
              </a:solidFill>
            </a:endParaRPr>
          </a:p>
        </p:txBody>
      </p:sp>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10997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From a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three normals are drawn to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such that two of them make angles with the abscissa axis, the product of whose tangents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Suppose the locus of the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 part of a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Now a circle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described on the chord of the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as diameter passing through the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with gradient unity. Suppose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the coordinates of the centre of this circle. If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the two asymptotes of the hyperbola with length of its transverse axis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oMath>
                </a14:m>
                <a:r>
                  <a:rPr sz="2400" b="0">
                    <a:solidFill>
                      <a:srgbClr val="111827"/>
                    </a:solidFill>
                    <a:latin typeface="Arial"/>
                  </a:rPr>
                  <a:t> (principal axes of the hyperbola along the coordinate axes), then answer the following questions.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Locus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circle   (B) parabola   (C) ellipse   (D) hyperbola</a:t>
                </a:r>
                <a:endParaRPr sz="2400">
                  <a:solidFill>
                    <a:srgbClr val="111827"/>
                  </a:solidFill>
                </a:endParaRPr>
              </a:p>
            </p:txBody>
          </p:sp>
        </mc:Choice>
        <mc:Fallback>
          <p:sp>
            <p:nvSpPr>
              <p:cNvPr id="4" name="Rounded Rectangle 3"/>
              <p:cNvSpPr/>
              <p:nvPr/>
            </p:nvSpPr>
            <p:spPr>
              <a:xfrm>
                <a:off x="731520" y="1280160"/>
                <a:ext cx="10725912" cy="510997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From a point </a:t>
                </a:r>
                <a:r>
                  <a:rPr lang="en-IN" sz="2400">
                    <a:solidFill>
                      <a:srgbClr val="111827"/>
                    </a:solidFill>
                    <a:latin typeface="Cambria Math" panose="02040503050406030204" pitchFamily="18" charset="0"/>
                  </a:rPr>
                  <a:t>$P$</a:t>
                </a:r>
                <a:r>
                  <a:rPr sz="2400" b="0">
                    <a:solidFill>
                      <a:srgbClr val="111827"/>
                    </a:solidFill>
                    <a:latin typeface="Arial"/>
                  </a:rPr>
                  <a:t> three normals are drawn to the parabola </a:t>
                </a:r>
                <a:r>
                  <a:rPr lang="en-IN" sz="2400">
                    <a:solidFill>
                      <a:srgbClr val="111827"/>
                    </a:solidFill>
                    <a:latin typeface="Cambria Math" panose="02040503050406030204" pitchFamily="18" charset="0"/>
                  </a:rPr>
                  <a:t>$y^2=4x$</a:t>
                </a:r>
                <a:r>
                  <a:rPr sz="2400" b="0">
                    <a:solidFill>
                      <a:srgbClr val="111827"/>
                    </a:solidFill>
                    <a:latin typeface="Arial"/>
                  </a:rPr>
                  <a:t> such that two of them make angles with the abscissa axis, the product of whose tangents is </a:t>
                </a:r>
                <a:r>
                  <a:rPr lang="en-IN" sz="2400">
                    <a:solidFill>
                      <a:srgbClr val="111827"/>
                    </a:solidFill>
                    <a:latin typeface="Cambria Math" panose="02040503050406030204" pitchFamily="18" charset="0"/>
                  </a:rPr>
                  <a:t>$2$</a:t>
                </a:r>
                <a:r>
                  <a:rPr sz="2400" b="0">
                    <a:solidFill>
                      <a:srgbClr val="111827"/>
                    </a:solidFill>
                    <a:latin typeface="Arial"/>
                  </a:rPr>
                  <a:t>. Suppose the locus of the point </a:t>
                </a:r>
                <a:r>
                  <a:rPr lang="en-IN" sz="2400">
                    <a:solidFill>
                      <a:srgbClr val="111827"/>
                    </a:solidFill>
                    <a:latin typeface="Cambria Math" panose="02040503050406030204" pitchFamily="18" charset="0"/>
                  </a:rPr>
                  <a:t>$P$</a:t>
                </a:r>
                <a:r>
                  <a:rPr sz="2400" b="0">
                    <a:solidFill>
                      <a:srgbClr val="111827"/>
                    </a:solidFill>
                    <a:latin typeface="Arial"/>
                  </a:rPr>
                  <a:t> is a part of a conic </a:t>
                </a:r>
                <a:r>
                  <a:rPr lang="en-IN" sz="2400">
                    <a:solidFill>
                      <a:srgbClr val="111827"/>
                    </a:solidFill>
                    <a:latin typeface="Cambria Math" panose="02040503050406030204" pitchFamily="18" charset="0"/>
                  </a:rPr>
                  <a:t>$C$</a:t>
                </a:r>
                <a:r>
                  <a:rPr sz="2400" b="0">
                    <a:solidFill>
                      <a:srgbClr val="111827"/>
                    </a:solidFill>
                    <a:latin typeface="Arial"/>
                  </a:rPr>
                  <a:t>. Now a circle </a:t>
                </a:r>
                <a:r>
                  <a:rPr lang="en-IN" sz="2400">
                    <a:solidFill>
                      <a:srgbClr val="111827"/>
                    </a:solidFill>
                    <a:latin typeface="Cambria Math" panose="02040503050406030204" pitchFamily="18" charset="0"/>
                  </a:rPr>
                  <a:t>$S=0$</a:t>
                </a:r>
                <a:r>
                  <a:rPr sz="2400" b="0">
                    <a:solidFill>
                      <a:srgbClr val="111827"/>
                    </a:solidFill>
                    <a:latin typeface="Arial"/>
                  </a:rPr>
                  <a:t> is described on the chord of the conic </a:t>
                </a:r>
                <a:r>
                  <a:rPr lang="en-IN" sz="2400">
                    <a:solidFill>
                      <a:srgbClr val="111827"/>
                    </a:solidFill>
                    <a:latin typeface="Cambria Math" panose="02040503050406030204" pitchFamily="18" charset="0"/>
                  </a:rPr>
                  <a:t>$C$</a:t>
                </a:r>
                <a:r>
                  <a:rPr sz="2400" b="0">
                    <a:solidFill>
                      <a:srgbClr val="111827"/>
                    </a:solidFill>
                    <a:latin typeface="Arial"/>
                  </a:rPr>
                  <a:t> as diameter passing through the point </a:t>
                </a:r>
                <a:r>
                  <a:rPr lang="en-IN" sz="2400">
                    <a:solidFill>
                      <a:srgbClr val="111827"/>
                    </a:solidFill>
                    <a:latin typeface="Cambria Math" panose="02040503050406030204" pitchFamily="18" charset="0"/>
                  </a:rPr>
                  <a:t>$(1,0)$</a:t>
                </a:r>
                <a:r>
                  <a:rPr sz="2400" b="0">
                    <a:solidFill>
                      <a:srgbClr val="111827"/>
                    </a:solidFill>
                    <a:latin typeface="Arial"/>
                  </a:rPr>
                  <a:t> and with gradient unity. Suppose </a:t>
                </a:r>
                <a:r>
                  <a:rPr lang="en-IN" sz="2400">
                    <a:solidFill>
                      <a:srgbClr val="111827"/>
                    </a:solidFill>
                    <a:latin typeface="Cambria Math" panose="02040503050406030204" pitchFamily="18" charset="0"/>
                  </a:rPr>
                  <a:t>$(a,b)$</a:t>
                </a:r>
                <a:r>
                  <a:rPr sz="2400" b="0">
                    <a:solidFill>
                      <a:srgbClr val="111827"/>
                    </a:solidFill>
                    <a:latin typeface="Arial"/>
                  </a:rPr>
                  <a:t> are the coordinates of the centre of this circle. If </a:t>
                </a:r>
                <a:r>
                  <a:rPr lang="en-IN" sz="2400">
                    <a:solidFill>
                      <a:srgbClr val="111827"/>
                    </a:solidFill>
                    <a:latin typeface="Cambria Math" panose="02040503050406030204" pitchFamily="18" charset="0"/>
                  </a:rPr>
                  <a:t>$L_1$</a:t>
                </a:r>
                <a:r>
                  <a:rPr sz="2400" b="0">
                    <a:solidFill>
                      <a:srgbClr val="111827"/>
                    </a:solidFill>
                    <a:latin typeface="Arial"/>
                  </a:rPr>
                  <a:t> and </a:t>
                </a:r>
                <a:r>
                  <a:rPr lang="en-IN" sz="2400">
                    <a:solidFill>
                      <a:srgbClr val="111827"/>
                    </a:solidFill>
                    <a:latin typeface="Cambria Math" panose="02040503050406030204" pitchFamily="18" charset="0"/>
                  </a:rPr>
                  <a:t>$L_2$</a:t>
                </a:r>
                <a:r>
                  <a:rPr sz="2400" b="0">
                    <a:solidFill>
                      <a:srgbClr val="111827"/>
                    </a:solidFill>
                    <a:latin typeface="Arial"/>
                  </a:rPr>
                  <a:t> are the two asymptotes of the hyperbola with length of its transverse axis </a:t>
                </a:r>
                <a:r>
                  <a:rPr lang="en-IN" sz="2400">
                    <a:solidFill>
                      <a:srgbClr val="111827"/>
                    </a:solidFill>
                    <a:latin typeface="Cambria Math" panose="02040503050406030204" pitchFamily="18" charset="0"/>
                  </a:rPr>
                  <a:t>$2a$</a:t>
                </a:r>
                <a:r>
                  <a:rPr sz="2400" b="0">
                    <a:solidFill>
                      <a:srgbClr val="111827"/>
                    </a:solidFill>
                    <a:latin typeface="Arial"/>
                  </a:rPr>
                  <a:t> and </a:t>
                </a:r>
                <a:r>
                  <a:rPr lang="en-IN" sz="2400">
                    <a:solidFill>
                      <a:srgbClr val="111827"/>
                    </a:solidFill>
                    <a:latin typeface="Cambria Math" panose="02040503050406030204" pitchFamily="18" charset="0"/>
                  </a:rPr>
                  <a:t>$2b$</a:t>
                </a:r>
                <a:r>
                  <a:rPr sz="2400" b="0">
                    <a:solidFill>
                      <a:srgbClr val="111827"/>
                    </a:solidFill>
                    <a:latin typeface="Arial"/>
                  </a:rPr>
                  <a:t> (principal axes of the hyperbola along the coordinate axes), then answer the following questions.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Locus of </a:t>
                </a:r>
                <a:r>
                  <a:rPr lang="en-IN" sz="2400">
                    <a:solidFill>
                      <a:srgbClr val="111827"/>
                    </a:solidFill>
                    <a:latin typeface="Cambria Math" panose="02040503050406030204" pitchFamily="18" charset="0"/>
                  </a:rPr>
                  <a:t>$P$</a:t>
                </a:r>
                <a:r>
                  <a:rPr sz="2400" b="0">
                    <a:solidFill>
                      <a:srgbClr val="111827"/>
                    </a:solidFill>
                    <a:latin typeface="Arial"/>
                  </a:rPr>
                  <a:t> is a:</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circle   (B) parabola   (C) ellipse   (D) hyperbola</a:t>
                </a:r>
                <a:endParaRPr sz="2400">
                  <a:solidFill>
                    <a:srgbClr val="111827"/>
                  </a:solidFill>
                </a:endParaRPr>
              </a:p>
            </p:txBody>
          </p:sp>
        </mc:Fallback>
      </mc:AlternateContent>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Normals to a parabola from a point (slope form), Locus of a point from a relation between slopes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slopes of the three normals are the roots of </a:t>
                </a:r>
                <a14:m>
                  <m:oMath xmlns:m="http://schemas.openxmlformats.org/officeDocument/2006/math">
                    <m:sSup>
                      <m:e>
                        <m:r>
                          <a:rPr lang="en-IN" sz="2400" i="1">
                            <a:solidFill>
                              <a:srgbClr val="78350F"/>
                            </a:solidFill>
                            <a:latin typeface="Cambria Math" panose="02040503050406030204" pitchFamily="18" charset="0"/>
                          </a:rPr>
                          <m:t>𝑚</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a:t>
                </a:r>
                <a14:m>
                  <m:oMath xmlns:m="http://schemas.openxmlformats.org/officeDocument/2006/math">
                    <m:sSub>
                      <m:e>
                        <m:r>
                          <a:rPr lang="en-IN" sz="2400" i="1">
                            <a:solidFill>
                              <a:srgbClr val="78350F"/>
                            </a:solidFill>
                            <a:latin typeface="Cambria Math" panose="02040503050406030204" pitchFamily="18" charset="0"/>
                          </a:rPr>
                          <m:t>𝑚</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𝑚</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fixes </a:t>
                </a:r>
                <a14:m>
                  <m:oMath xmlns:m="http://schemas.openxmlformats.org/officeDocument/2006/math">
                    <m:sSub>
                      <m:e>
                        <m:r>
                          <a:rPr lang="en-IN" sz="2400" i="1">
                            <a:solidFill>
                              <a:srgbClr val="78350F"/>
                            </a:solidFill>
                            <a:latin typeface="Cambria Math" panose="02040503050406030204" pitchFamily="18" charset="0"/>
                          </a:rPr>
                          <m:t>𝑚</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𝑘</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and substituting gives </a:t>
                </a:r>
                <a14:m>
                  <m:oMath xmlns:m="http://schemas.openxmlformats.org/officeDocument/2006/math">
                    <m:sSup>
                      <m:e>
                        <m:r>
                          <a:rPr lang="en-IN" sz="2400" i="1">
                            <a:solidFill>
                              <a:srgbClr val="78350F"/>
                            </a:solidFill>
                            <a:latin typeface="Cambria Math" panose="02040503050406030204" pitchFamily="18" charset="0"/>
                          </a:rPr>
                          <m:t>𝑘</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ℎ</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slopes of the three normals are the roots of </a:t>
                </a:r>
                <a:r>
                  <a:rPr lang="en-IN" sz="2400">
                    <a:solidFill>
                      <a:srgbClr val="78350F"/>
                    </a:solidFill>
                    <a:latin typeface="Cambria Math" panose="02040503050406030204" pitchFamily="18" charset="0"/>
                  </a:rPr>
                  <a:t>$m^3+(2-h)m+k=0$</a:t>
                </a:r>
                <a:r>
                  <a:rPr sz="2400" b="0">
                    <a:solidFill>
                      <a:srgbClr val="78350F"/>
                    </a:solidFill>
                    <a:latin typeface="Arial"/>
                  </a:rPr>
                  <a:t>; </a:t>
                </a:r>
                <a:r>
                  <a:rPr lang="en-IN" sz="2400">
                    <a:solidFill>
                      <a:srgbClr val="78350F"/>
                    </a:solidFill>
                    <a:latin typeface="Cambria Math" panose="02040503050406030204" pitchFamily="18" charset="0"/>
                  </a:rPr>
                  <a:t>$m_1m_2=2$</a:t>
                </a:r>
                <a:r>
                  <a:rPr sz="2400" b="0">
                    <a:solidFill>
                      <a:srgbClr val="78350F"/>
                    </a:solidFill>
                    <a:latin typeface="Arial"/>
                  </a:rPr>
                  <a:t> fixes </a:t>
                </a:r>
                <a:r>
                  <a:rPr lang="en-IN" sz="2400">
                    <a:solidFill>
                      <a:srgbClr val="78350F"/>
                    </a:solidFill>
                    <a:latin typeface="Cambria Math" panose="02040503050406030204" pitchFamily="18" charset="0"/>
                  </a:rPr>
                  <a:t>$m_3=-\frac k2$</a:t>
                </a:r>
                <a:r>
                  <a:rPr sz="2400" b="0">
                    <a:solidFill>
                      <a:srgbClr val="78350F"/>
                    </a:solidFill>
                    <a:latin typeface="Arial"/>
                  </a:rPr>
                  <a:t>, and substituting gives </a:t>
                </a:r>
                <a:r>
                  <a:rPr lang="en-IN" sz="2400">
                    <a:solidFill>
                      <a:srgbClr val="78350F"/>
                    </a:solidFill>
                    <a:latin typeface="Cambria Math" panose="02040503050406030204" pitchFamily="18" charset="0"/>
                  </a:rPr>
                  <a:t>$k^2=4h$</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166360"/>
                <a:ext cx="10725912" cy="15087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of slope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Through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....(1).</a:t>
                </a:r>
                <a:endParaRPr sz="2400">
                  <a:solidFill>
                    <a:srgbClr val="111827"/>
                  </a:solidFill>
                </a:endParaRPr>
              </a:p>
            </p:txBody>
          </p:sp>
        </mc:Choice>
        <mc:Fallback>
          <p:sp>
            <p:nvSpPr>
              <p:cNvPr id="6" name="Rectangle 5"/>
              <p:cNvSpPr/>
              <p:nvPr/>
            </p:nvSpPr>
            <p:spPr>
              <a:xfrm>
                <a:off x="731520" y="5166360"/>
                <a:ext cx="10725912" cy="15087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of slope </a:t>
                </a:r>
                <a:r>
                  <a:rPr lang="en-IN" sz="2400">
                    <a:solidFill>
                      <a:srgbClr val="111827"/>
                    </a:solidFill>
                    <a:latin typeface="Cambria Math" panose="02040503050406030204" pitchFamily="18" charset="0"/>
                  </a:rPr>
                  <a:t>$m$</a:t>
                </a:r>
                <a:r>
                  <a:rPr sz="2400" b="0">
                    <a:solidFill>
                      <a:srgbClr val="111827"/>
                    </a:solidFill>
                    <a:latin typeface="Arial"/>
                  </a:rPr>
                  <a:t> to </a:t>
                </a:r>
                <a:r>
                  <a:rPr lang="en-IN" sz="2400">
                    <a:solidFill>
                      <a:srgbClr val="111827"/>
                    </a:solidFill>
                    <a:latin typeface="Cambria Math" panose="02040503050406030204" pitchFamily="18" charset="0"/>
                  </a:rPr>
                  <a:t>$y^2=4x$</a:t>
                </a:r>
                <a:r>
                  <a:rPr sz="2400" b="0">
                    <a:solidFill>
                      <a:srgbClr val="111827"/>
                    </a:solidFill>
                    <a:latin typeface="Arial"/>
                  </a:rPr>
                  <a:t> is </a:t>
                </a:r>
                <a:r>
                  <a:rPr lang="en-IN" sz="2400">
                    <a:solidFill>
                      <a:srgbClr val="111827"/>
                    </a:solidFill>
                    <a:latin typeface="Cambria Math" panose="02040503050406030204" pitchFamily="18" charset="0"/>
                  </a:rPr>
                  <a:t>$y=mx-2m-m^3$</a:t>
                </a:r>
                <a:r>
                  <a:rPr sz="2400" b="0">
                    <a:solidFill>
                      <a:srgbClr val="111827"/>
                    </a:solidFill>
                    <a:latin typeface="Arial"/>
                  </a:rPr>
                  <a:t>. Through </a:t>
                </a:r>
                <a:r>
                  <a:rPr lang="en-IN" sz="2400">
                    <a:solidFill>
                      <a:srgbClr val="111827"/>
                    </a:solidFill>
                    <a:latin typeface="Cambria Math" panose="02040503050406030204" pitchFamily="18" charset="0"/>
                  </a:rPr>
                  <a:t>$P(h,k)$</a:t>
                </a:r>
                <a:r>
                  <a:rPr sz="2400" b="0">
                    <a:solidFill>
                      <a:srgbClr val="111827"/>
                    </a:solidFill>
                    <a:latin typeface="Arial"/>
                  </a:rPr>
                  <a:t>: </a:t>
                </a:r>
                <a:r>
                  <a:rPr lang="en-IN" sz="2400">
                    <a:solidFill>
                      <a:srgbClr val="111827"/>
                    </a:solidFill>
                    <a:latin typeface="Cambria Math" panose="02040503050406030204" pitchFamily="18" charset="0"/>
                  </a:rPr>
                  <a:t>$m^3+(2-h)m+k=0$</a:t>
                </a:r>
                <a:r>
                  <a:rPr sz="2400" b="0">
                    <a:solidFill>
                      <a:srgbClr val="111827"/>
                    </a:solidFill>
                    <a:latin typeface="Arial"/>
                  </a:rPr>
                  <a:t> ....(1).</a:t>
                </a:r>
                <a:endParaRPr sz="2400">
                  <a:solidFill>
                    <a:srgbClr val="111827"/>
                  </a:solidFill>
                </a:endParaRPr>
              </a:p>
            </p:txBody>
          </p:sp>
        </mc:Fallback>
      </mc:AlternateContent>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roots be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Given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satisfies (1):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multiply by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a parabola. Answer (B).</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roots be </a:t>
                </a:r>
                <a:r>
                  <a:rPr lang="en-IN" sz="2400">
                    <a:solidFill>
                      <a:srgbClr val="111827"/>
                    </a:solidFill>
                    <a:latin typeface="Cambria Math" panose="02040503050406030204" pitchFamily="18" charset="0"/>
                  </a:rPr>
                  <a:t>$m_1,m_2,m_3$</a:t>
                </a:r>
                <a:r>
                  <a:rPr sz="2400" b="0">
                    <a:solidFill>
                      <a:srgbClr val="111827"/>
                    </a:solidFill>
                    <a:latin typeface="Arial"/>
                  </a:rPr>
                  <a:t>. Then </a:t>
                </a:r>
                <a:r>
                  <a:rPr lang="en-IN" sz="2400">
                    <a:solidFill>
                      <a:srgbClr val="111827"/>
                    </a:solidFill>
                    <a:latin typeface="Cambria Math" panose="02040503050406030204" pitchFamily="18" charset="0"/>
                  </a:rPr>
                  <a:t>$m_1m_2m_3=-k$</a:t>
                </a:r>
                <a:r>
                  <a:rPr sz="2400" b="0">
                    <a:solidFill>
                      <a:srgbClr val="111827"/>
                    </a:solidFill>
                    <a:latin typeface="Arial"/>
                  </a:rPr>
                  <a:t>. Given </a:t>
                </a:r>
                <a:r>
                  <a:rPr lang="en-IN" sz="2400">
                    <a:solidFill>
                      <a:srgbClr val="111827"/>
                    </a:solidFill>
                    <a:latin typeface="Cambria Math" panose="02040503050406030204" pitchFamily="18" charset="0"/>
                  </a:rPr>
                  <a:t>$m_1m_2=2$</a:t>
                </a:r>
                <a:r>
                  <a:rPr sz="2400" b="0">
                    <a:solidFill>
                      <a:srgbClr val="111827"/>
                    </a:solidFill>
                    <a:latin typeface="Arial"/>
                  </a:rPr>
                  <a:t>: </a:t>
                </a:r>
                <a:r>
                  <a:rPr lang="en-IN" sz="2400">
                    <a:solidFill>
                      <a:srgbClr val="111827"/>
                    </a:solidFill>
                    <a:latin typeface="Cambria Math" panose="02040503050406030204" pitchFamily="18" charset="0"/>
                  </a:rPr>
                  <a:t>$m_3=-\frac{k}{2}$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$m_3$</a:t>
                </a:r>
                <a:r>
                  <a:rPr sz="2400" b="0">
                    <a:solidFill>
                      <a:srgbClr val="111827"/>
                    </a:solidFill>
                    <a:latin typeface="Arial"/>
                  </a:rPr>
                  <a:t> satisfies (1): </a:t>
                </a:r>
                <a:r>
                  <a:rPr lang="en-IN" sz="2400">
                    <a:solidFill>
                      <a:srgbClr val="111827"/>
                    </a:solidFill>
                    <a:latin typeface="Cambria Math" panose="02040503050406030204" pitchFamily="18" charset="0"/>
                  </a:rPr>
                  <a:t>$-\frac{k^3}{8}-\frac{(2-h)k}{2}+k=0$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$k\ne0$</a:t>
                </a:r>
                <a:r>
                  <a:rPr sz="2400" b="0">
                    <a:solidFill>
                      <a:srgbClr val="111827"/>
                    </a:solidFill>
                    <a:latin typeface="Arial"/>
                  </a:rPr>
                  <a:t>, multiply by </a:t>
                </a:r>
                <a:r>
                  <a:rPr lang="en-IN" sz="2400">
                    <a:solidFill>
                      <a:srgbClr val="111827"/>
                    </a:solidFill>
                    <a:latin typeface="Cambria Math" panose="02040503050406030204" pitchFamily="18" charset="0"/>
                  </a:rPr>
                  <a:t>$-\frac8k$</a:t>
                </a:r>
                <a:r>
                  <a:rPr sz="2400" b="0">
                    <a:solidFill>
                      <a:srgbClr val="111827"/>
                    </a:solidFill>
                    <a:latin typeface="Arial"/>
                  </a:rPr>
                  <a:t>: </a:t>
                </a:r>
                <a:r>
                  <a:rPr lang="en-IN" sz="2400">
                    <a:solidFill>
                      <a:srgbClr val="111827"/>
                    </a:solidFill>
                    <a:latin typeface="Cambria Math" panose="02040503050406030204" pitchFamily="18" charset="0"/>
                  </a:rPr>
                  <a:t>$k^2+4(2-h)-8=0$</a:t>
                </a:r>
                <a:r>
                  <a:rPr sz="2400" b="0">
                    <a:solidFill>
                      <a:srgbClr val="111827"/>
                    </a:solidFill>
                    <a:latin typeface="Arial"/>
                  </a:rPr>
                  <a:t>, i.e. </a:t>
                </a:r>
                <a:r>
                  <a:rPr lang="en-IN" sz="2400">
                    <a:solidFill>
                      <a:srgbClr val="111827"/>
                    </a:solidFill>
                    <a:latin typeface="Cambria Math" panose="02040503050406030204" pitchFamily="18" charset="0"/>
                  </a:rPr>
                  <a:t>$k^2-4h=0$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$y^2=4x$</a:t>
                </a:r>
                <a:r>
                  <a:rPr sz="2400" b="0">
                    <a:solidFill>
                      <a:srgbClr val="111827"/>
                    </a:solidFill>
                    <a:latin typeface="Arial"/>
                  </a:rPr>
                  <a:t>, a parabola. Answer (B).</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parabola</a:t>
            </a:r>
            <a:endParaRPr sz="2800">
              <a:solidFill>
                <a:srgbClr val="15803D"/>
              </a:solidFill>
            </a:endParaRPr>
          </a:p>
        </p:txBody>
      </p:sp>
    </p:spTree>
  </p:cSld>
  <p:clrMapOvr>
    <a:masterClrMapping/>
  </p:clrMapOvr>
</p:sld>
</file>

<file path=ppt/slides/slide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Normals at the feet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meet on the parabola exactly when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(slopes </a:t>
                </a:r>
                <a14:m>
                  <m:oMath xmlns:m="http://schemas.openxmlformats.org/officeDocument/2006/math">
                    <m:sSub>
                      <m:e>
                        <m:r>
                          <a:rPr lang="en-IN" sz="2400" i="1">
                            <a:solidFill>
                              <a:srgbClr val="78350F"/>
                            </a:solidFill>
                            <a:latin typeface="Cambria Math" panose="02040503050406030204" pitchFamily="18" charset="0"/>
                          </a:rPr>
                          <m:t>𝑚</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𝑖</m:t>
                        </m:r>
                      </m:sub>
                    </m:sSub>
                  </m:oMath>
                </a14:m>
                <a:r>
                  <a:rPr sz="2400" b="0">
                    <a:solidFill>
                      <a:srgbClr val="78350F"/>
                    </a:solidFill>
                    <a:latin typeface="Arial"/>
                  </a:rPr>
                  <a:t>), and the intersection point then satisfies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𝑥</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Normals at the feet </a:t>
                </a:r>
                <a:r>
                  <a:rPr lang="en-IN" sz="2400">
                    <a:solidFill>
                      <a:srgbClr val="78350F"/>
                    </a:solidFill>
                    <a:latin typeface="Cambria Math" panose="02040503050406030204" pitchFamily="18" charset="0"/>
                  </a:rPr>
                  <a:t>$t_1,t_2$</a:t>
                </a:r>
                <a:r>
                  <a:rPr sz="2400" b="0">
                    <a:solidFill>
                      <a:srgbClr val="78350F"/>
                    </a:solidFill>
                    <a:latin typeface="Arial"/>
                  </a:rPr>
                  <a:t> meet on the parabola exactly when </a:t>
                </a:r>
                <a:r>
                  <a:rPr lang="en-IN" sz="2400">
                    <a:solidFill>
                      <a:srgbClr val="78350F"/>
                    </a:solidFill>
                    <a:latin typeface="Cambria Math" panose="02040503050406030204" pitchFamily="18" charset="0"/>
                  </a:rPr>
                  <a:t>$t_1t_2=2$</a:t>
                </a:r>
                <a:r>
                  <a:rPr sz="2400" b="0">
                    <a:solidFill>
                      <a:srgbClr val="78350F"/>
                    </a:solidFill>
                    <a:latin typeface="Arial"/>
                  </a:rPr>
                  <a:t> (slopes </a:t>
                </a:r>
                <a:r>
                  <a:rPr lang="en-IN" sz="2400">
                    <a:solidFill>
                      <a:srgbClr val="78350F"/>
                    </a:solidFill>
                    <a:latin typeface="Cambria Math" panose="02040503050406030204" pitchFamily="18" charset="0"/>
                  </a:rPr>
                  <a:t>$m_i=-t_i$</a:t>
                </a:r>
                <a:r>
                  <a:rPr sz="2400" b="0">
                    <a:solidFill>
                      <a:srgbClr val="78350F"/>
                    </a:solidFill>
                    <a:latin typeface="Arial"/>
                  </a:rPr>
                  <a:t>), and the intersection point then satisfies </a:t>
                </a:r>
                <a:r>
                  <a:rPr lang="en-IN" sz="2400">
                    <a:solidFill>
                      <a:srgbClr val="78350F"/>
                    </a:solidFill>
                    <a:latin typeface="Cambria Math" panose="02040503050406030204" pitchFamily="18" charset="0"/>
                  </a:rPr>
                  <a:t>$y^2=4x$</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the normal at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has slope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means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meet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$y^2=4x$</a:t>
                </a:r>
                <a:r>
                  <a:rPr sz="2400" b="0">
                    <a:solidFill>
                      <a:srgbClr val="111827"/>
                    </a:solidFill>
                    <a:latin typeface="Arial"/>
                  </a:rPr>
                  <a:t> the normal at </a:t>
                </a:r>
                <a:r>
                  <a:rPr lang="en-IN" sz="2400">
                    <a:solidFill>
                      <a:srgbClr val="111827"/>
                    </a:solidFill>
                    <a:latin typeface="Cambria Math" panose="02040503050406030204" pitchFamily="18" charset="0"/>
                  </a:rPr>
                  <a:t>$t$</a:t>
                </a:r>
                <a:r>
                  <a:rPr sz="2400" b="0">
                    <a:solidFill>
                      <a:srgbClr val="111827"/>
                    </a:solidFill>
                    <a:latin typeface="Arial"/>
                  </a:rPr>
                  <a:t> has slope </a:t>
                </a:r>
                <a:r>
                  <a:rPr lang="en-IN" sz="2400">
                    <a:solidFill>
                      <a:srgbClr val="111827"/>
                    </a:solidFill>
                    <a:latin typeface="Cambria Math" panose="02040503050406030204" pitchFamily="18" charset="0"/>
                  </a:rPr>
                  <a:t>$m=-t$</a:t>
                </a:r>
                <a:r>
                  <a:rPr sz="2400" b="0">
                    <a:solidFill>
                      <a:srgbClr val="111827"/>
                    </a:solidFill>
                    <a:latin typeface="Arial"/>
                  </a:rPr>
                  <a:t>, so </a:t>
                </a:r>
                <a:r>
                  <a:rPr lang="en-IN" sz="2400">
                    <a:solidFill>
                      <a:srgbClr val="111827"/>
                    </a:solidFill>
                    <a:latin typeface="Cambria Math" panose="02040503050406030204" pitchFamily="18" charset="0"/>
                  </a:rPr>
                  <a:t>$m_1m_2=2$</a:t>
                </a:r>
                <a:r>
                  <a:rPr sz="2400" b="0">
                    <a:solidFill>
                      <a:srgbClr val="111827"/>
                    </a:solidFill>
                    <a:latin typeface="Arial"/>
                  </a:rPr>
                  <a:t> means </a:t>
                </a:r>
                <a:r>
                  <a:rPr lang="en-IN" sz="2400">
                    <a:solidFill>
                      <a:srgbClr val="111827"/>
                    </a:solidFill>
                    <a:latin typeface="Cambria Math" panose="02040503050406030204" pitchFamily="18" charset="0"/>
                  </a:rPr>
                  <a:t>$t_1t_2=2$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normals at </a:t>
                </a:r>
                <a:r>
                  <a:rPr lang="en-IN" sz="2400">
                    <a:solidFill>
                      <a:srgbClr val="111827"/>
                    </a:solidFill>
                    <a:latin typeface="Cambria Math" panose="02040503050406030204" pitchFamily="18" charset="0"/>
                  </a:rPr>
                  <a:t>$t_1,t_2$</a:t>
                </a:r>
                <a:r>
                  <a:rPr sz="2400" b="0">
                    <a:solidFill>
                      <a:srgbClr val="111827"/>
                    </a:solidFill>
                    <a:latin typeface="Arial"/>
                  </a:rPr>
                  <a:t> meet at </a:t>
                </a:r>
                <a:r>
                  <a:rPr lang="en-IN" sz="2400">
                    <a:solidFill>
                      <a:srgbClr val="111827"/>
                    </a:solidFill>
                    <a:latin typeface="Cambria Math" panose="02040503050406030204" pitchFamily="18" charset="0"/>
                  </a:rPr>
                  <a:t>$P=\left(t_1^2+t_2^2+t_1t_2+2,\ -t_1t_2(t_1+t_2)\right)$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$t_1t_2=2$</a:t>
                </a:r>
                <a:r>
                  <a:rPr sz="2400" b="0">
                    <a:solidFill>
                      <a:srgbClr val="111827"/>
                    </a:solidFill>
                    <a:latin typeface="Arial"/>
                  </a:rPr>
                  <a:t>: </a:t>
                </a:r>
                <a:r>
                  <a:rPr lang="en-IN" sz="2400">
                    <a:solidFill>
                      <a:srgbClr val="111827"/>
                    </a:solidFill>
                    <a:latin typeface="Cambria Math" panose="02040503050406030204" pitchFamily="18" charset="0"/>
                  </a:rPr>
                  <a:t>$x=t_1^2+t_2^2+4$</a:t>
                </a:r>
                <a:r>
                  <a:rPr sz="2400" b="0">
                    <a:solidFill>
                      <a:srgbClr val="111827"/>
                    </a:solidFill>
                    <a:latin typeface="Arial"/>
                  </a:rPr>
                  <a:t> and </a:t>
                </a:r>
                <a:r>
                  <a:rPr lang="en-IN" sz="2400">
                    <a:solidFill>
                      <a:srgbClr val="111827"/>
                    </a:solidFill>
                    <a:latin typeface="Cambria Math" panose="02040503050406030204" pitchFamily="18" charset="0"/>
                  </a:rPr>
                  <a:t>$y=-2(t_1+t_2)$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lies on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(B).</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$y^2=4(t_1+t_2)^2=4(t_1^2+t_2^2+4)=4x$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a:t>
                </a:r>
                <a:r>
                  <a:rPr sz="2400" b="0">
                    <a:solidFill>
                      <a:srgbClr val="111827"/>
                    </a:solidFill>
                    <a:latin typeface="Arial"/>
                  </a:rPr>
                  <a:t> lies on the parabola </a:t>
                </a:r>
                <a:r>
                  <a:rPr lang="en-IN" sz="2400">
                    <a:solidFill>
                      <a:srgbClr val="111827"/>
                    </a:solidFill>
                    <a:latin typeface="Cambria Math" panose="02040503050406030204" pitchFamily="18" charset="0"/>
                  </a:rPr>
                  <a:t>$y^2=4x$</a:t>
                </a:r>
                <a:r>
                  <a:rPr sz="2400" b="0">
                    <a:solidFill>
                      <a:srgbClr val="111827"/>
                    </a:solidFill>
                    <a:latin typeface="Arial"/>
                  </a:rPr>
                  <a:t>: (B).</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parabola</a:t>
            </a:r>
            <a:endParaRPr sz="2800">
              <a:solidFill>
                <a:srgbClr val="15803D"/>
              </a:solidFill>
            </a:endParaRPr>
          </a:p>
        </p:txBody>
      </p:sp>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Normals at the feet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meet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Normals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meet on the parabola iff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form: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three normal slopes satisfy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 point whose two normals have slope product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Normals at the feet </a:t>
                </a:r>
                <a:r>
                  <a:rPr lang="en-IN" sz="2400">
                    <a:solidFill>
                      <a:srgbClr val="111827"/>
                    </a:solidFill>
                    <a:latin typeface="Cambria Math" panose="02040503050406030204" pitchFamily="18" charset="0"/>
                  </a:rPr>
                  <a:t>$t_1,t_2$</a:t>
                </a:r>
                <a:r>
                  <a:rPr sz="2400" b="0">
                    <a:solidFill>
                      <a:srgbClr val="111827"/>
                    </a:solidFill>
                    <a:latin typeface="Arial"/>
                  </a:rPr>
                  <a:t> of </a:t>
                </a:r>
                <a:r>
                  <a:rPr lang="en-IN" sz="2400">
                    <a:solidFill>
                      <a:srgbClr val="111827"/>
                    </a:solidFill>
                    <a:latin typeface="Cambria Math" panose="02040503050406030204" pitchFamily="18" charset="0"/>
                  </a:rPr>
                  <a:t>$y^2=4ax$</a:t>
                </a:r>
                <a:r>
                  <a:rPr sz="2400" b="0">
                    <a:solidFill>
                      <a:srgbClr val="111827"/>
                    </a:solidFill>
                    <a:latin typeface="Arial"/>
                  </a:rPr>
                  <a:t> meet at </a:t>
                </a:r>
                <a:r>
                  <a:rPr lang="en-IN" sz="2400">
                    <a:solidFill>
                      <a:srgbClr val="111827"/>
                    </a:solidFill>
                    <a:latin typeface="Cambria Math" panose="02040503050406030204" pitchFamily="18" charset="0"/>
                  </a:rPr>
                  <a:t>$\left(a(t_1^2+t_2^2+t_1t_2+2),\ -at_1t_2(t_1+t_2)\right)$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Normals at </a:t>
                </a:r>
                <a:r>
                  <a:rPr lang="en-IN" sz="2400">
                    <a:solidFill>
                      <a:srgbClr val="111827"/>
                    </a:solidFill>
                    <a:latin typeface="Cambria Math" panose="02040503050406030204" pitchFamily="18" charset="0"/>
                  </a:rPr>
                  <a:t>$t_1,t_2$</a:t>
                </a:r>
                <a:r>
                  <a:rPr sz="2400" b="0">
                    <a:solidFill>
                      <a:srgbClr val="111827"/>
                    </a:solidFill>
                    <a:latin typeface="Arial"/>
                  </a:rPr>
                  <a:t> meet on the parabola iff </a:t>
                </a:r>
                <a:r>
                  <a:rPr lang="en-IN" sz="2400">
                    <a:solidFill>
                      <a:srgbClr val="111827"/>
                    </a:solidFill>
                    <a:latin typeface="Cambria Math" panose="02040503050406030204" pitchFamily="18" charset="0"/>
                  </a:rPr>
                  <a:t>$t_1t_2=2$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Slope form: from </a:t>
                </a:r>
                <a:r>
                  <a:rPr lang="en-IN" sz="2400">
                    <a:solidFill>
                      <a:srgbClr val="111827"/>
                    </a:solidFill>
                    <a:latin typeface="Cambria Math" panose="02040503050406030204" pitchFamily="18" charset="0"/>
                  </a:rPr>
                  <a:t>$(h,k)$</a:t>
                </a:r>
                <a:r>
                  <a:rPr sz="2400" b="0">
                    <a:solidFill>
                      <a:srgbClr val="111827"/>
                    </a:solidFill>
                    <a:latin typeface="Arial"/>
                  </a:rPr>
                  <a:t> the three normal slopes satisfy </a:t>
                </a:r>
                <a:r>
                  <a:rPr lang="en-IN" sz="2400">
                    <a:solidFill>
                      <a:srgbClr val="111827"/>
                    </a:solidFill>
                    <a:latin typeface="Cambria Math" panose="02040503050406030204" pitchFamily="18" charset="0"/>
                  </a:rPr>
                  <a:t>$m_1+m_2+m_3=0$</a:t>
                </a:r>
                <a:r>
                  <a:rPr sz="2400" b="0">
                    <a:solidFill>
                      <a:srgbClr val="111827"/>
                    </a:solidFill>
                    <a:latin typeface="Arial"/>
                  </a:rPr>
                  <a:t>, </a:t>
                </a:r>
                <a:r>
                  <a:rPr lang="en-IN" sz="2400">
                    <a:solidFill>
                      <a:srgbClr val="111827"/>
                    </a:solidFill>
                    <a:latin typeface="Cambria Math" panose="02040503050406030204" pitchFamily="18" charset="0"/>
                  </a:rPr>
                  <a:t>$\sum m_im_j=2a-h$</a:t>
                </a:r>
                <a:r>
                  <a:rPr sz="2400" b="0">
                    <a:solidFill>
                      <a:srgbClr val="111827"/>
                    </a:solidFill>
                    <a:latin typeface="Arial"/>
                  </a:rPr>
                  <a:t>, </a:t>
                </a:r>
                <a:r>
                  <a:rPr lang="en-IN" sz="2400">
                    <a:solidFill>
                      <a:srgbClr val="111827"/>
                    </a:solidFill>
                    <a:latin typeface="Cambria Math" panose="02040503050406030204" pitchFamily="18" charset="0"/>
                  </a:rPr>
                  <a:t>$m_1m_2m_3=-k$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locus of a point whose two normals have slope product </a:t>
                </a:r>
                <a:r>
                  <a:rPr lang="en-IN" sz="2400">
                    <a:solidFill>
                      <a:srgbClr val="111827"/>
                    </a:solidFill>
                    <a:latin typeface="Cambria Math" panose="02040503050406030204" pitchFamily="18" charset="0"/>
                  </a:rPr>
                  <a:t>$\alpha$</a:t>
                </a:r>
                <a:r>
                  <a:rPr sz="2400" b="0">
                    <a:solidFill>
                      <a:srgbClr val="111827"/>
                    </a:solidFill>
                    <a:latin typeface="Arial"/>
                  </a:rPr>
                  <a:t> is </a:t>
                </a:r>
                <a:r>
                  <a:rPr lang="en-IN" sz="2400">
                    <a:solidFill>
                      <a:srgbClr val="111827"/>
                    </a:solidFill>
                    <a:latin typeface="Cambria Math" panose="02040503050406030204" pitchFamily="18" charset="0"/>
                  </a:rPr>
                  <a:t>$y^2=\alpha^2x+\alpha^3-2\alpha^2$</a:t>
                </a:r>
                <a:r>
                  <a:rPr sz="2400" b="0">
                    <a:solidFill>
                      <a:srgbClr val="111827"/>
                    </a:solidFill>
                    <a:latin typeface="Arial"/>
                  </a:rPr>
                  <a:t> (for </a:t>
                </a:r>
                <a:r>
                  <a:rPr lang="en-IN" sz="2400">
                    <a:solidFill>
                      <a:srgbClr val="111827"/>
                    </a:solidFill>
                    <a:latin typeface="Cambria Math" panose="02040503050406030204" pitchFamily="18" charset="0"/>
                  </a:rPr>
                  <a:t>$y^2=4x$</a:t>
                </a:r>
                <a:r>
                  <a:rPr sz="2400" b="0">
                    <a:solidFill>
                      <a:srgbClr val="111827"/>
                    </a:solidFill>
                    <a:latin typeface="Arial"/>
                  </a:rPr>
                  <a:t>); </a:t>
                </a:r>
                <a:r>
                  <a:rPr lang="en-IN" sz="2400">
                    <a:solidFill>
                      <a:srgbClr val="111827"/>
                    </a:solidFill>
                    <a:latin typeface="Cambria Math" panose="02040503050406030204" pitchFamily="18" charset="0"/>
                  </a:rPr>
                  <a:t>$\alpha=2$</a:t>
                </a:r>
                <a:r>
                  <a:rPr sz="2400" b="0">
                    <a:solidFill>
                      <a:srgbClr val="111827"/>
                    </a:solidFill>
                    <a:latin typeface="Arial"/>
                  </a:rPr>
                  <a:t> gives </a:t>
                </a:r>
                <a:r>
                  <a:rPr lang="en-IN" sz="2400">
                    <a:solidFill>
                      <a:srgbClr val="111827"/>
                    </a:solidFill>
                    <a:latin typeface="Cambria Math" panose="02040503050406030204" pitchFamily="18" charset="0"/>
                  </a:rPr>
                  <a:t>$y^2=4x$</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86664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From a point </a:t>
                </a:r>
                <a14:m>
                  <m:oMath xmlns:m="http://schemas.openxmlformats.org/officeDocument/2006/math">
                    <m:r>
                      <a:rPr lang="en-IN" sz="2000" i="1">
                        <a:solidFill>
                          <a:srgbClr val="111827"/>
                        </a:solidFill>
                        <a:latin typeface="Cambria Math" panose="02040503050406030204" pitchFamily="18" charset="0"/>
                      </a:rPr>
                      <m:t>𝑃</m:t>
                    </m:r>
                  </m:oMath>
                </a14:m>
                <a:r>
                  <a:rPr sz="2000" b="0">
                    <a:solidFill>
                      <a:srgbClr val="111827"/>
                    </a:solidFill>
                    <a:latin typeface="Arial"/>
                  </a:rPr>
                  <a:t> three normals are drawn to the parabola </a:t>
                </a:r>
                <a14:m>
                  <m:oMath xmlns:m="http://schemas.openxmlformats.org/officeDocument/2006/math">
                    <m:sSup>
                      <m:e>
                        <m:r>
                          <a:rPr lang="en-IN" sz="2000" i="1">
                            <a:solidFill>
                              <a:srgbClr val="111827"/>
                            </a:solidFill>
                            <a:latin typeface="Cambria Math" panose="02040503050406030204" pitchFamily="18" charset="0"/>
                          </a:rPr>
                          <m:t>𝑦</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4</m:t>
                    </m:r>
                    <m:r>
                      <a:rPr lang="en-IN" sz="2000" i="1">
                        <a:solidFill>
                          <a:srgbClr val="111827"/>
                        </a:solidFill>
                        <a:latin typeface="Cambria Math" panose="02040503050406030204" pitchFamily="18" charset="0"/>
                      </a:rPr>
                      <m:t>𝑥</m:t>
                    </m:r>
                  </m:oMath>
                </a14:m>
                <a:r>
                  <a:rPr sz="2000" b="0">
                    <a:solidFill>
                      <a:srgbClr val="111827"/>
                    </a:solidFill>
                    <a:latin typeface="Arial"/>
                  </a:rPr>
                  <a:t> such that two of them make angles with the abscissa axis, the product of whose tangents is </a:t>
                </a:r>
                <a14:m>
                  <m:oMath xmlns:m="http://schemas.openxmlformats.org/officeDocument/2006/math">
                    <m:r>
                      <a:rPr lang="en-IN" sz="2000" i="1">
                        <a:solidFill>
                          <a:srgbClr val="111827"/>
                        </a:solidFill>
                        <a:latin typeface="Cambria Math" panose="02040503050406030204" pitchFamily="18" charset="0"/>
                      </a:rPr>
                      <m:t>2</m:t>
                    </m:r>
                  </m:oMath>
                </a14:m>
                <a:r>
                  <a:rPr sz="2000" b="0">
                    <a:solidFill>
                      <a:srgbClr val="111827"/>
                    </a:solidFill>
                    <a:latin typeface="Arial"/>
                  </a:rPr>
                  <a:t>. Suppose the locus of the point </a:t>
                </a:r>
                <a14:m>
                  <m:oMath xmlns:m="http://schemas.openxmlformats.org/officeDocument/2006/math">
                    <m:r>
                      <a:rPr lang="en-IN" sz="2000" i="1">
                        <a:solidFill>
                          <a:srgbClr val="111827"/>
                        </a:solidFill>
                        <a:latin typeface="Cambria Math" panose="02040503050406030204" pitchFamily="18" charset="0"/>
                      </a:rPr>
                      <m:t>𝑃</m:t>
                    </m:r>
                  </m:oMath>
                </a14:m>
                <a:r>
                  <a:rPr sz="2000" b="0">
                    <a:solidFill>
                      <a:srgbClr val="111827"/>
                    </a:solidFill>
                    <a:latin typeface="Arial"/>
                  </a:rPr>
                  <a:t> is a part of a conic </a:t>
                </a:r>
                <a14:m>
                  <m:oMath xmlns:m="http://schemas.openxmlformats.org/officeDocument/2006/math">
                    <m:r>
                      <a:rPr lang="en-IN" sz="2000" i="1">
                        <a:solidFill>
                          <a:srgbClr val="111827"/>
                        </a:solidFill>
                        <a:latin typeface="Cambria Math" panose="02040503050406030204" pitchFamily="18" charset="0"/>
                      </a:rPr>
                      <m:t>𝐶</m:t>
                    </m:r>
                  </m:oMath>
                </a14:m>
                <a:r>
                  <a:rPr sz="2000" b="0">
                    <a:solidFill>
                      <a:srgbClr val="111827"/>
                    </a:solidFill>
                    <a:latin typeface="Arial"/>
                  </a:rPr>
                  <a:t>. Now a circle </a:t>
                </a:r>
                <a14:m>
                  <m:oMath xmlns:m="http://schemas.openxmlformats.org/officeDocument/2006/math">
                    <m:r>
                      <a:rPr lang="en-IN" sz="2000" i="1">
                        <a:solidFill>
                          <a:srgbClr val="111827"/>
                        </a:solidFill>
                        <a:latin typeface="Cambria Math" panose="02040503050406030204" pitchFamily="18" charset="0"/>
                      </a:rPr>
                      <m:t>𝑆</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oMath>
                </a14:m>
                <a:r>
                  <a:rPr sz="2000" b="0">
                    <a:solidFill>
                      <a:srgbClr val="111827"/>
                    </a:solidFill>
                    <a:latin typeface="Arial"/>
                  </a:rPr>
                  <a:t> is described on the chord of the conic </a:t>
                </a:r>
                <a14:m>
                  <m:oMath xmlns:m="http://schemas.openxmlformats.org/officeDocument/2006/math">
                    <m:r>
                      <a:rPr lang="en-IN" sz="2000" i="1">
                        <a:solidFill>
                          <a:srgbClr val="111827"/>
                        </a:solidFill>
                        <a:latin typeface="Cambria Math" panose="02040503050406030204" pitchFamily="18" charset="0"/>
                      </a:rPr>
                      <m:t>𝐶</m:t>
                    </m:r>
                  </m:oMath>
                </a14:m>
                <a:r>
                  <a:rPr sz="2000" b="0">
                    <a:solidFill>
                      <a:srgbClr val="111827"/>
                    </a:solidFill>
                    <a:latin typeface="Arial"/>
                  </a:rPr>
                  <a:t> as diameter passing through the point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and with gradient unity. Suppose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𝑎</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𝑏</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are the coordinates of the centre of this circle. If </a:t>
                </a:r>
                <a14:m>
                  <m:oMath xmlns:m="http://schemas.openxmlformats.org/officeDocument/2006/math">
                    <m:sSub>
                      <m:e>
                        <m:r>
                          <a:rPr lang="en-IN" sz="2000" i="1">
                            <a:solidFill>
                              <a:srgbClr val="111827"/>
                            </a:solidFill>
                            <a:latin typeface="Cambria Math" panose="02040503050406030204" pitchFamily="18" charset="0"/>
                          </a:rPr>
                          <m:t>𝐿</m:t>
                        </m:r>
                      </m:e>
                      <m:sub>
                        <m:r>
                          <a:rPr lang="en-IN" sz="2000" i="1">
                            <a:solidFill>
                              <a:srgbClr val="111827"/>
                            </a:solidFill>
                            <a:latin typeface="Cambria Math" panose="02040503050406030204" pitchFamily="18" charset="0"/>
                          </a:rPr>
                          <m:t>1</m:t>
                        </m:r>
                      </m:sub>
                    </m:sSub>
                  </m:oMath>
                </a14:m>
                <a:r>
                  <a:rPr sz="2000" b="0">
                    <a:solidFill>
                      <a:srgbClr val="111827"/>
                    </a:solidFill>
                    <a:latin typeface="Arial"/>
                  </a:rPr>
                  <a:t> and </a:t>
                </a:r>
                <a14:m>
                  <m:oMath xmlns:m="http://schemas.openxmlformats.org/officeDocument/2006/math">
                    <m:sSub>
                      <m:e>
                        <m:r>
                          <a:rPr lang="en-IN" sz="2000" i="1">
                            <a:solidFill>
                              <a:srgbClr val="111827"/>
                            </a:solidFill>
                            <a:latin typeface="Cambria Math" panose="02040503050406030204" pitchFamily="18" charset="0"/>
                          </a:rPr>
                          <m:t>𝐿</m:t>
                        </m:r>
                      </m:e>
                      <m:sub>
                        <m:r>
                          <a:rPr lang="en-IN" sz="2000" i="1">
                            <a:solidFill>
                              <a:srgbClr val="111827"/>
                            </a:solidFill>
                            <a:latin typeface="Cambria Math" panose="02040503050406030204" pitchFamily="18" charset="0"/>
                          </a:rPr>
                          <m:t>2</m:t>
                        </m:r>
                      </m:sub>
                    </m:sSub>
                  </m:oMath>
                </a14:m>
                <a:r>
                  <a:rPr sz="2000" b="0">
                    <a:solidFill>
                      <a:srgbClr val="111827"/>
                    </a:solidFill>
                    <a:latin typeface="Arial"/>
                  </a:rPr>
                  <a:t> are the two asymptotes of the hyperbola with length of its transverse axis </a:t>
                </a:r>
                <a14:m>
                  <m:oMath xmlns:m="http://schemas.openxmlformats.org/officeDocument/2006/math">
                    <m:r>
                      <a:rPr lang="en-IN" sz="2000" i="1">
                        <a:solidFill>
                          <a:srgbClr val="111827"/>
                        </a:solidFill>
                        <a:latin typeface="Cambria Math" panose="02040503050406030204" pitchFamily="18" charset="0"/>
                      </a:rPr>
                      <m:t>2</m:t>
                    </m:r>
                    <m:r>
                      <a:rPr lang="en-IN" sz="2000" i="1">
                        <a:solidFill>
                          <a:srgbClr val="111827"/>
                        </a:solidFill>
                        <a:latin typeface="Cambria Math" panose="02040503050406030204" pitchFamily="18" charset="0"/>
                      </a:rPr>
                      <m:t>𝑎</m:t>
                    </m:r>
                  </m:oMath>
                </a14:m>
                <a:r>
                  <a:rPr sz="2000" b="0">
                    <a:solidFill>
                      <a:srgbClr val="111827"/>
                    </a:solidFill>
                    <a:latin typeface="Arial"/>
                  </a:rPr>
                  <a:t> and </a:t>
                </a:r>
                <a14:m>
                  <m:oMath xmlns:m="http://schemas.openxmlformats.org/officeDocument/2006/math">
                    <m:r>
                      <a:rPr lang="en-IN" sz="2000" i="1">
                        <a:solidFill>
                          <a:srgbClr val="111827"/>
                        </a:solidFill>
                        <a:latin typeface="Cambria Math" panose="02040503050406030204" pitchFamily="18" charset="0"/>
                      </a:rPr>
                      <m:t>2</m:t>
                    </m:r>
                    <m:r>
                      <a:rPr lang="en-IN" sz="2000" i="1">
                        <a:solidFill>
                          <a:srgbClr val="111827"/>
                        </a:solidFill>
                        <a:latin typeface="Cambria Math" panose="02040503050406030204" pitchFamily="18" charset="0"/>
                      </a:rPr>
                      <m:t>𝑏</m:t>
                    </m:r>
                  </m:oMath>
                </a14:m>
                <a:r>
                  <a:rPr sz="2000" b="0">
                    <a:solidFill>
                      <a:srgbClr val="111827"/>
                    </a:solidFill>
                    <a:latin typeface="Arial"/>
                  </a:rPr>
                  <a:t> (principal axes of the hyperbola along the coordinate axes), then answer the following questions.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Radius of the circle </a:t>
                </a:r>
                <a14:m>
                  <m:oMath xmlns:m="http://schemas.openxmlformats.org/officeDocument/2006/math">
                    <m:r>
                      <a:rPr lang="en-IN" sz="2000" i="1">
                        <a:solidFill>
                          <a:srgbClr val="111827"/>
                        </a:solidFill>
                        <a:latin typeface="Cambria Math" panose="02040503050406030204" pitchFamily="18" charset="0"/>
                      </a:rPr>
                      <m:t>𝑆</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t>
                </a:r>
                <a14:m>
                  <m:oMath xmlns:m="http://schemas.openxmlformats.org/officeDocument/2006/math">
                    <m:r>
                      <a:rPr lang="en-IN" sz="2000" i="1">
                        <a:solidFill>
                          <a:srgbClr val="111827"/>
                        </a:solidFill>
                        <a:latin typeface="Cambria Math" panose="02040503050406030204" pitchFamily="18" charset="0"/>
                      </a:rPr>
                      <m:t>4</m:t>
                    </m:r>
                  </m:oMath>
                </a14:m>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t>
                </a:r>
                <a14:m>
                  <m:oMath xmlns:m="http://schemas.openxmlformats.org/officeDocument/2006/math">
                    <m:r>
                      <a:rPr lang="en-IN" sz="2000" i="1">
                        <a:solidFill>
                          <a:srgbClr val="111827"/>
                        </a:solidFill>
                        <a:latin typeface="Cambria Math" panose="02040503050406030204" pitchFamily="18" charset="0"/>
                      </a:rPr>
                      <m:t>5</m:t>
                    </m:r>
                  </m:oMath>
                </a14:m>
                <a:endParaRPr sz="2000">
                  <a:solidFill>
                    <a:srgbClr val="111827"/>
                  </a:solidFill>
                </a:endParaRPr>
              </a:p>
              <a:p>
                <a:pPr algn="l">
                  <a:spcAft>
                    <a:spcPts val="500"/>
                  </a:spcAft>
                  <a:defRPr sz="2000">
                    <a:solidFill>
                      <a:srgbClr val="111827"/>
                    </a:solidFill>
                  </a:defRPr>
                </a:pPr>
                <a:r>
                  <a:rPr sz="2000" b="0">
                    <a:solidFill>
                      <a:srgbClr val="111827"/>
                    </a:solidFill>
                    <a:latin typeface="Arial"/>
                  </a:rPr>
                  <a:t>(C) (option not legible in the PDF)</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(option not legible in the PDF)</a:t>
                </a:r>
                <a:endParaRPr sz="2000">
                  <a:solidFill>
                    <a:srgbClr val="111827"/>
                  </a:solidFill>
                </a:endParaRPr>
              </a:p>
            </p:txBody>
          </p:sp>
        </mc:Choice>
        <mc:Fallback>
          <p:sp>
            <p:nvSpPr>
              <p:cNvPr id="4" name="Rounded Rectangle 3"/>
              <p:cNvSpPr/>
              <p:nvPr/>
            </p:nvSpPr>
            <p:spPr>
              <a:xfrm>
                <a:off x="731520" y="1280160"/>
                <a:ext cx="10725912" cy="486664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From a point </a:t>
                </a:r>
                <a:r>
                  <a:rPr lang="en-IN" sz="2000">
                    <a:solidFill>
                      <a:srgbClr val="111827"/>
                    </a:solidFill>
                    <a:latin typeface="Cambria Math" panose="02040503050406030204" pitchFamily="18" charset="0"/>
                  </a:rPr>
                  <a:t>$P$</a:t>
                </a:r>
                <a:r>
                  <a:rPr sz="2000" b="0">
                    <a:solidFill>
                      <a:srgbClr val="111827"/>
                    </a:solidFill>
                    <a:latin typeface="Arial"/>
                  </a:rPr>
                  <a:t> three normals are drawn to the parabola </a:t>
                </a:r>
                <a:r>
                  <a:rPr lang="en-IN" sz="2000">
                    <a:solidFill>
                      <a:srgbClr val="111827"/>
                    </a:solidFill>
                    <a:latin typeface="Cambria Math" panose="02040503050406030204" pitchFamily="18" charset="0"/>
                  </a:rPr>
                  <a:t>$y^2=4x$</a:t>
                </a:r>
                <a:r>
                  <a:rPr sz="2000" b="0">
                    <a:solidFill>
                      <a:srgbClr val="111827"/>
                    </a:solidFill>
                    <a:latin typeface="Arial"/>
                  </a:rPr>
                  <a:t> such that two of them make angles with the abscissa axis, the product of whose tangents is </a:t>
                </a:r>
                <a:r>
                  <a:rPr lang="en-IN" sz="2000">
                    <a:solidFill>
                      <a:srgbClr val="111827"/>
                    </a:solidFill>
                    <a:latin typeface="Cambria Math" panose="02040503050406030204" pitchFamily="18" charset="0"/>
                  </a:rPr>
                  <a:t>$2$</a:t>
                </a:r>
                <a:r>
                  <a:rPr sz="2000" b="0">
                    <a:solidFill>
                      <a:srgbClr val="111827"/>
                    </a:solidFill>
                    <a:latin typeface="Arial"/>
                  </a:rPr>
                  <a:t>. Suppose the locus of the point </a:t>
                </a:r>
                <a:r>
                  <a:rPr lang="en-IN" sz="2000">
                    <a:solidFill>
                      <a:srgbClr val="111827"/>
                    </a:solidFill>
                    <a:latin typeface="Cambria Math" panose="02040503050406030204" pitchFamily="18" charset="0"/>
                  </a:rPr>
                  <a:t>$P$</a:t>
                </a:r>
                <a:r>
                  <a:rPr sz="2000" b="0">
                    <a:solidFill>
                      <a:srgbClr val="111827"/>
                    </a:solidFill>
                    <a:latin typeface="Arial"/>
                  </a:rPr>
                  <a:t> is a part of a conic </a:t>
                </a:r>
                <a:r>
                  <a:rPr lang="en-IN" sz="2000">
                    <a:solidFill>
                      <a:srgbClr val="111827"/>
                    </a:solidFill>
                    <a:latin typeface="Cambria Math" panose="02040503050406030204" pitchFamily="18" charset="0"/>
                  </a:rPr>
                  <a:t>$C$</a:t>
                </a:r>
                <a:r>
                  <a:rPr sz="2000" b="0">
                    <a:solidFill>
                      <a:srgbClr val="111827"/>
                    </a:solidFill>
                    <a:latin typeface="Arial"/>
                  </a:rPr>
                  <a:t>. Now a circle </a:t>
                </a:r>
                <a:r>
                  <a:rPr lang="en-IN" sz="2000">
                    <a:solidFill>
                      <a:srgbClr val="111827"/>
                    </a:solidFill>
                    <a:latin typeface="Cambria Math" panose="02040503050406030204" pitchFamily="18" charset="0"/>
                  </a:rPr>
                  <a:t>$S=0$</a:t>
                </a:r>
                <a:r>
                  <a:rPr sz="2000" b="0">
                    <a:solidFill>
                      <a:srgbClr val="111827"/>
                    </a:solidFill>
                    <a:latin typeface="Arial"/>
                  </a:rPr>
                  <a:t> is described on the chord of the conic </a:t>
                </a:r>
                <a:r>
                  <a:rPr lang="en-IN" sz="2000">
                    <a:solidFill>
                      <a:srgbClr val="111827"/>
                    </a:solidFill>
                    <a:latin typeface="Cambria Math" panose="02040503050406030204" pitchFamily="18" charset="0"/>
                  </a:rPr>
                  <a:t>$C$</a:t>
                </a:r>
                <a:r>
                  <a:rPr sz="2000" b="0">
                    <a:solidFill>
                      <a:srgbClr val="111827"/>
                    </a:solidFill>
                    <a:latin typeface="Arial"/>
                  </a:rPr>
                  <a:t> as diameter passing through the point </a:t>
                </a:r>
                <a:r>
                  <a:rPr lang="en-IN" sz="2000">
                    <a:solidFill>
                      <a:srgbClr val="111827"/>
                    </a:solidFill>
                    <a:latin typeface="Cambria Math" panose="02040503050406030204" pitchFamily="18" charset="0"/>
                  </a:rPr>
                  <a:t>$(1,0)$</a:t>
                </a:r>
                <a:r>
                  <a:rPr sz="2000" b="0">
                    <a:solidFill>
                      <a:srgbClr val="111827"/>
                    </a:solidFill>
                    <a:latin typeface="Arial"/>
                  </a:rPr>
                  <a:t> and with gradient unity. Suppose </a:t>
                </a:r>
                <a:r>
                  <a:rPr lang="en-IN" sz="2000">
                    <a:solidFill>
                      <a:srgbClr val="111827"/>
                    </a:solidFill>
                    <a:latin typeface="Cambria Math" panose="02040503050406030204" pitchFamily="18" charset="0"/>
                  </a:rPr>
                  <a:t>$(a,b)$</a:t>
                </a:r>
                <a:r>
                  <a:rPr sz="2000" b="0">
                    <a:solidFill>
                      <a:srgbClr val="111827"/>
                    </a:solidFill>
                    <a:latin typeface="Arial"/>
                  </a:rPr>
                  <a:t> are the coordinates of the centre of this circle. If </a:t>
                </a:r>
                <a:r>
                  <a:rPr lang="en-IN" sz="2000">
                    <a:solidFill>
                      <a:srgbClr val="111827"/>
                    </a:solidFill>
                    <a:latin typeface="Cambria Math" panose="02040503050406030204" pitchFamily="18" charset="0"/>
                  </a:rPr>
                  <a:t>$L_1$</a:t>
                </a:r>
                <a:r>
                  <a:rPr sz="2000" b="0">
                    <a:solidFill>
                      <a:srgbClr val="111827"/>
                    </a:solidFill>
                    <a:latin typeface="Arial"/>
                  </a:rPr>
                  <a:t> and </a:t>
                </a:r>
                <a:r>
                  <a:rPr lang="en-IN" sz="2000">
                    <a:solidFill>
                      <a:srgbClr val="111827"/>
                    </a:solidFill>
                    <a:latin typeface="Cambria Math" panose="02040503050406030204" pitchFamily="18" charset="0"/>
                  </a:rPr>
                  <a:t>$L_2$</a:t>
                </a:r>
                <a:r>
                  <a:rPr sz="2000" b="0">
                    <a:solidFill>
                      <a:srgbClr val="111827"/>
                    </a:solidFill>
                    <a:latin typeface="Arial"/>
                  </a:rPr>
                  <a:t> are the two asymptotes of the hyperbola with length of its transverse axis </a:t>
                </a:r>
                <a:r>
                  <a:rPr lang="en-IN" sz="2000">
                    <a:solidFill>
                      <a:srgbClr val="111827"/>
                    </a:solidFill>
                    <a:latin typeface="Cambria Math" panose="02040503050406030204" pitchFamily="18" charset="0"/>
                  </a:rPr>
                  <a:t>$2a$</a:t>
                </a:r>
                <a:r>
                  <a:rPr sz="2000" b="0">
                    <a:solidFill>
                      <a:srgbClr val="111827"/>
                    </a:solidFill>
                    <a:latin typeface="Arial"/>
                  </a:rPr>
                  <a:t> and </a:t>
                </a:r>
                <a:r>
                  <a:rPr lang="en-IN" sz="2000">
                    <a:solidFill>
                      <a:srgbClr val="111827"/>
                    </a:solidFill>
                    <a:latin typeface="Cambria Math" panose="02040503050406030204" pitchFamily="18" charset="0"/>
                  </a:rPr>
                  <a:t>$2b$</a:t>
                </a:r>
                <a:r>
                  <a:rPr sz="2000" b="0">
                    <a:solidFill>
                      <a:srgbClr val="111827"/>
                    </a:solidFill>
                    <a:latin typeface="Arial"/>
                  </a:rPr>
                  <a:t> (principal axes of the hyperbola along the coordinate axes), then answer the following questions.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Radius of the circle </a:t>
                </a:r>
                <a:r>
                  <a:rPr lang="en-IN" sz="2000">
                    <a:solidFill>
                      <a:srgbClr val="111827"/>
                    </a:solidFill>
                    <a:latin typeface="Cambria Math" panose="02040503050406030204" pitchFamily="18" charset="0"/>
                  </a:rPr>
                  <a:t>$S=0$</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t>
                </a:r>
                <a:r>
                  <a:rPr lang="en-IN" sz="2000">
                    <a:solidFill>
                      <a:srgbClr val="111827"/>
                    </a:solidFill>
                    <a:latin typeface="Cambria Math" panose="02040503050406030204" pitchFamily="18" charset="0"/>
                  </a:rPr>
                  <a:t>$4$</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t>
                </a:r>
                <a:r>
                  <a:rPr lang="en-IN" sz="2000">
                    <a:solidFill>
                      <a:srgbClr val="111827"/>
                    </a:solidFill>
                    <a:latin typeface="Cambria Math" panose="02040503050406030204" pitchFamily="18" charset="0"/>
                  </a:rPr>
                  <a:t>$5$</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(option not legible in the PDF)</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(option not legible in the PDF)</a:t>
                </a:r>
                <a:endParaRPr sz="2000">
                  <a:solidFill>
                    <a:srgbClr val="111827"/>
                  </a:solidFill>
                </a:endParaRPr>
              </a:p>
            </p:txBody>
          </p:sp>
        </mc:Fallback>
      </mc:AlternateContent>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Focal chord of a parabola (parameters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Circle on a chord as diameter</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Choice>
        <mc:Fallback>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Focal chord of a parabola (parameters </a:t>
                </a:r>
                <a:r>
                  <a:rPr lang="en-IN" sz="2400">
                    <a:solidFill>
                      <a:srgbClr val="111827"/>
                    </a:solidFill>
                    <a:latin typeface="Cambria Math" panose="02040503050406030204" pitchFamily="18" charset="0"/>
                  </a:rPr>
                  <a:t>$t_1+t_2$</a:t>
                </a:r>
                <a:r>
                  <a:rPr sz="2400" b="0">
                    <a:solidFill>
                      <a:srgbClr val="111827"/>
                    </a:solidFill>
                    <a:latin typeface="Arial"/>
                  </a:rPr>
                  <a:t>, </a:t>
                </a:r>
                <a:r>
                  <a:rPr lang="en-IN" sz="2400">
                    <a:solidFill>
                      <a:srgbClr val="111827"/>
                    </a:solidFill>
                    <a:latin typeface="Cambria Math" panose="02040503050406030204" pitchFamily="18" charset="0"/>
                  </a:rPr>
                  <a:t>$t_1t_2$</a:t>
                </a:r>
                <a:r>
                  <a:rPr sz="2400" b="0">
                    <a:solidFill>
                      <a:srgbClr val="111827"/>
                    </a:solidFill>
                    <a:latin typeface="Arial"/>
                  </a:rPr>
                  <a:t>), Circle on a chord as diameter</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chord through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is a focal chord with slope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the circle on it as diameter is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chord through </a:t>
                </a:r>
                <a:r>
                  <a:rPr lang="en-IN" sz="2400">
                    <a:solidFill>
                      <a:srgbClr val="78350F"/>
                    </a:solidFill>
                    <a:latin typeface="Cambria Math" panose="02040503050406030204" pitchFamily="18" charset="0"/>
                  </a:rPr>
                  <a:t>$(1,0)$</a:t>
                </a:r>
                <a:r>
                  <a:rPr sz="2400" b="0">
                    <a:solidFill>
                      <a:srgbClr val="78350F"/>
                    </a:solidFill>
                    <a:latin typeface="Arial"/>
                  </a:rPr>
                  <a:t> is a focal chord with slope </a:t>
                </a:r>
                <a:r>
                  <a:rPr lang="en-IN" sz="2400">
                    <a:solidFill>
                      <a:srgbClr val="78350F"/>
                    </a:solidFill>
                    <a:latin typeface="Cambria Math" panose="02040503050406030204" pitchFamily="18" charset="0"/>
                  </a:rPr>
                  <a:t>$1$</a:t>
                </a:r>
                <a:r>
                  <a:rPr sz="2400" b="0">
                    <a:solidFill>
                      <a:srgbClr val="78350F"/>
                    </a:solidFill>
                    <a:latin typeface="Arial"/>
                  </a:rPr>
                  <a:t>: </a:t>
                </a:r>
                <a:r>
                  <a:rPr lang="en-IN" sz="2400">
                    <a:solidFill>
                      <a:srgbClr val="78350F"/>
                    </a:solidFill>
                    <a:latin typeface="Cambria Math" panose="02040503050406030204" pitchFamily="18" charset="0"/>
                  </a:rPr>
                  <a:t>$t_1+t_2=2$</a:t>
                </a:r>
                <a:r>
                  <a:rPr sz="2400" b="0">
                    <a:solidFill>
                      <a:srgbClr val="78350F"/>
                    </a:solidFill>
                    <a:latin typeface="Arial"/>
                  </a:rPr>
                  <a:t>, </a:t>
                </a:r>
                <a:r>
                  <a:rPr lang="en-IN" sz="2400">
                    <a:solidFill>
                      <a:srgbClr val="78350F"/>
                    </a:solidFill>
                    <a:latin typeface="Cambria Math" panose="02040503050406030204" pitchFamily="18" charset="0"/>
                  </a:rPr>
                  <a:t>$t_1t_2=-1$</a:t>
                </a:r>
                <a:r>
                  <a:rPr sz="2400" b="0">
                    <a:solidFill>
                      <a:srgbClr val="78350F"/>
                    </a:solidFill>
                    <a:latin typeface="Arial"/>
                  </a:rPr>
                  <a:t>; the circle on it as diameter is </a:t>
                </a:r>
                <a:r>
                  <a:rPr lang="en-IN" sz="2400">
                    <a:solidFill>
                      <a:srgbClr val="78350F"/>
                    </a:solidFill>
                    <a:latin typeface="Cambria Math" panose="02040503050406030204" pitchFamily="18" charset="0"/>
                  </a:rPr>
                  <a:t>$x^2+y^2-6x-4y-3=0$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of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passes through the focus, so it is a focal chord with end points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chord of </a:t>
                </a:r>
                <a:r>
                  <a:rPr lang="en-IN" sz="2400">
                    <a:solidFill>
                      <a:srgbClr val="111827"/>
                    </a:solidFill>
                    <a:latin typeface="Cambria Math" panose="02040503050406030204" pitchFamily="18" charset="0"/>
                  </a:rPr>
                  <a:t>$C:\ y^2=4x$</a:t>
                </a:r>
                <a:r>
                  <a:rPr sz="2400" b="0">
                    <a:solidFill>
                      <a:srgbClr val="111827"/>
                    </a:solidFill>
                    <a:latin typeface="Arial"/>
                  </a:rPr>
                  <a:t> through </a:t>
                </a:r>
                <a:r>
                  <a:rPr lang="en-IN" sz="2400">
                    <a:solidFill>
                      <a:srgbClr val="111827"/>
                    </a:solidFill>
                    <a:latin typeface="Cambria Math" panose="02040503050406030204" pitchFamily="18" charset="0"/>
                  </a:rPr>
                  <a:t>$(1,0)$</a:t>
                </a:r>
                <a:r>
                  <a:rPr sz="2400" b="0">
                    <a:solidFill>
                      <a:srgbClr val="111827"/>
                    </a:solidFill>
                    <a:latin typeface="Arial"/>
                  </a:rPr>
                  <a:t> passes through the focus, so it is a focal chord with end points </a:t>
                </a:r>
                <a:r>
                  <a:rPr lang="en-IN" sz="2400">
                    <a:solidFill>
                      <a:srgbClr val="111827"/>
                    </a:solidFill>
                    <a:latin typeface="Cambria Math" panose="02040503050406030204" pitchFamily="18" charset="0"/>
                  </a:rPr>
                  <a:t>$(t_1^2,2t_1),(t_2^2,2t_2)$</a:t>
                </a:r>
                <a:r>
                  <a:rPr sz="2400" b="0">
                    <a:solidFill>
                      <a:srgbClr val="111827"/>
                    </a:solidFill>
                    <a:latin typeface="Arial"/>
                  </a:rPr>
                  <a:t> and </a:t>
                </a:r>
                <a:r>
                  <a:rPr lang="en-IN" sz="2400">
                    <a:solidFill>
                      <a:srgbClr val="111827"/>
                    </a:solidFill>
                    <a:latin typeface="Cambria Math" panose="02040503050406030204" pitchFamily="18" charset="0"/>
                  </a:rPr>
                  <a:t>$t_1t_2=-1$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Its gradient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Circle on this chord as diameter: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and </a:t>
                </a:r>
                <a14:m>
                  <m:oMath xmlns:m="http://schemas.openxmlformats.org/officeDocument/2006/math">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centre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radius is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Answer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Its gradient is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$\frac{2}{t_1+t_2}=1$</a:t>
                </a:r>
                <a:r>
                  <a:rPr sz="2400" b="0">
                    <a:solidFill>
                      <a:srgbClr val="111827"/>
                    </a:solidFill>
                    <a:latin typeface="Arial"/>
                  </a:rPr>
                  <a:t>, so </a:t>
                </a:r>
                <a:r>
                  <a:rPr lang="en-IN" sz="2400">
                    <a:solidFill>
                      <a:srgbClr val="111827"/>
                    </a:solidFill>
                    <a:latin typeface="Cambria Math" panose="02040503050406030204" pitchFamily="18" charset="0"/>
                  </a:rPr>
                  <a:t>$t_1+t_2=2$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Circle on this chord as diameter: </a:t>
                </a:r>
                <a:r>
                  <a:rPr lang="en-IN" sz="2400">
                    <a:solidFill>
                      <a:srgbClr val="111827"/>
                    </a:solidFill>
                    <a:latin typeface="Cambria Math" panose="02040503050406030204" pitchFamily="18" charset="0"/>
                  </a:rPr>
                  <a:t>$(x-t_1^2)(x-t_2^2)+(y-2t_1)(y-2t_2)=0$</a:t>
                </a:r>
                <a:r>
                  <a:rPr sz="2400" b="0">
                    <a:solidFill>
                      <a:srgbClr val="111827"/>
                    </a:solidFill>
                    <a:latin typeface="Arial"/>
                  </a:rPr>
                  <a:t>, i.e. </a:t>
                </a:r>
                <a:r>
                  <a:rPr lang="en-IN" sz="2400">
                    <a:solidFill>
                      <a:srgbClr val="111827"/>
                    </a:solidFill>
                    <a:latin typeface="Cambria Math" panose="02040503050406030204" pitchFamily="18" charset="0"/>
                  </a:rPr>
                  <a:t>$x^2+y^2-x(t_1^2+t_2^2)+t_1^2t_2^2-2y(t_1+t_2)+4t_1t_2=0$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$t_1^2+t_2^2=(t_1+t_2)^2-2t_1t_2=4+2=6$</a:t>
                </a:r>
                <a:r>
                  <a:rPr sz="2400" b="0">
                    <a:solidFill>
                      <a:srgbClr val="111827"/>
                    </a:solidFill>
                    <a:latin typeface="Arial"/>
                  </a:rPr>
                  <a:t> and </a:t>
                </a:r>
                <a:r>
                  <a:rPr lang="en-IN" sz="2400">
                    <a:solidFill>
                      <a:srgbClr val="111827"/>
                    </a:solidFill>
                    <a:latin typeface="Cambria Math" panose="02040503050406030204" pitchFamily="18" charset="0"/>
                  </a:rPr>
                  <a:t>$t_1^2t_2^2=1$</a:t>
                </a:r>
                <a:r>
                  <a:rPr sz="2400" b="0">
                    <a:solidFill>
                      <a:srgbClr val="111827"/>
                    </a:solidFill>
                    <a:latin typeface="Arial"/>
                  </a:rPr>
                  <a:t>: </a:t>
                </a:r>
                <a:r>
                  <a:rPr lang="en-IN" sz="2400">
                    <a:solidFill>
                      <a:srgbClr val="111827"/>
                    </a:solidFill>
                    <a:latin typeface="Cambria Math" panose="02040503050406030204" pitchFamily="18" charset="0"/>
                  </a:rPr>
                  <a:t>$x^2+y^2-6x+1-4y-4=0$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 x^2+y^2-6x-4y-3=0$</a:t>
                </a:r>
                <a:r>
                  <a:rPr sz="2400" b="0">
                    <a:solidFill>
                      <a:srgbClr val="111827"/>
                    </a:solidFill>
                    <a:latin typeface="Arial"/>
                  </a:rPr>
                  <a:t>; the centre is </a:t>
                </a:r>
                <a:r>
                  <a:rPr lang="en-IN" sz="2400">
                    <a:solidFill>
                      <a:srgbClr val="111827"/>
                    </a:solidFill>
                    <a:latin typeface="Cambria Math" panose="02040503050406030204" pitchFamily="18" charset="0"/>
                  </a:rPr>
                  <a:t>$(a,b)=(3,2)$</a:t>
                </a:r>
                <a:r>
                  <a:rPr sz="2400" b="0">
                    <a:solidFill>
                      <a:srgbClr val="111827"/>
                    </a:solidFill>
                    <a:latin typeface="Arial"/>
                  </a:rPr>
                  <a:t> and the radius is </a:t>
                </a:r>
                <a:r>
                  <a:rPr lang="en-IN" sz="2400">
                    <a:solidFill>
                      <a:srgbClr val="111827"/>
                    </a:solidFill>
                    <a:latin typeface="Cambria Math" panose="02040503050406030204" pitchFamily="18" charset="0"/>
                  </a:rPr>
                  <a:t>$\sqrt{9+4+3}=4$</a:t>
                </a:r>
                <a:r>
                  <a:rPr sz="2400" b="0">
                    <a:solidFill>
                      <a:srgbClr val="111827"/>
                    </a:solidFill>
                    <a:latin typeface="Arial"/>
                  </a:rPr>
                  <a:t>. Answer (A).</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r>
                      <a:rPr lang="en-IN" sz="2800" i="1">
                        <a:solidFill>
                          <a:srgbClr val="15803D"/>
                        </a:solidFill>
                        <a:latin typeface="Cambria Math" panose="02040503050406030204" pitchFamily="18" charset="0"/>
                      </a:rPr>
                      <m:t>4</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$4$</a:t>
                </a:r>
                <a:endParaRPr sz="2800">
                  <a:solidFill>
                    <a:srgbClr val="15803D"/>
                  </a:solidFill>
                </a:endParaRPr>
              </a:p>
            </p:txBody>
          </p:sp>
        </mc:Fallback>
      </mc:AlternateContent>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centre is the midpoint of the focal chord, and the length of a focal chord inclined at </a:t>
                </a:r>
                <a14:m>
                  <m:oMath xmlns:m="http://schemas.openxmlformats.org/officeDocument/2006/math">
                    <m:r>
                      <a:rPr lang="en-IN" sz="2400" i="1">
                        <a:solidFill>
                          <a:srgbClr val="78350F"/>
                        </a:solidFill>
                        <a:latin typeface="Cambria Math" panose="02040503050406030204" pitchFamily="18" charset="0"/>
                      </a:rPr>
                      <m:t>θ</m:t>
                    </m:r>
                  </m:oMath>
                </a14:m>
                <a:r>
                  <a:rPr sz="2400" b="0">
                    <a:solidFill>
                      <a:srgbClr val="78350F"/>
                    </a:solidFill>
                    <a:latin typeface="Arial"/>
                  </a:rPr>
                  <a:t> is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𝑎</m:t>
                        </m:r>
                      </m:num>
                      <m:den>
                        <m:sSup>
                          <m:e>
                            <m:r>
                              <m:rPr>
                                <m:sty m:val="p"/>
                              </m:rPr>
                              <a:rPr lang="en-IN" sz="2400">
                                <a:solidFill>
                                  <a:srgbClr val="78350F"/>
                                </a:solidFill>
                                <a:latin typeface="Cambria Math" panose="02040503050406030204" pitchFamily="18" charset="0"/>
                              </a:rPr>
                              <m:t>sin</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θ</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centre is the midpoint of the focal chord, and the length of a focal chord inclined at </a:t>
                </a:r>
                <a:r>
                  <a:rPr lang="en-IN" sz="2400">
                    <a:solidFill>
                      <a:srgbClr val="78350F"/>
                    </a:solidFill>
                    <a:latin typeface="Cambria Math" panose="02040503050406030204" pitchFamily="18" charset="0"/>
                  </a:rPr>
                  <a:t>$\theta$</a:t>
                </a:r>
                <a:r>
                  <a:rPr sz="2400" b="0">
                    <a:solidFill>
                      <a:srgbClr val="78350F"/>
                    </a:solidFill>
                    <a:latin typeface="Arial"/>
                  </a:rPr>
                  <a:t> is </a:t>
                </a:r>
                <a:r>
                  <a:rPr lang="en-IN" sz="2400">
                    <a:solidFill>
                      <a:srgbClr val="78350F"/>
                    </a:solidFill>
                    <a:latin typeface="Cambria Math" panose="02040503050406030204" pitchFamily="18" charset="0"/>
                  </a:rPr>
                  <a:t>$\frac{4a}{\sin^2\theta}$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focal chord has slope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Midpoint: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centre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focal chord has slope </a:t>
                </a:r>
                <a:r>
                  <a:rPr lang="en-IN" sz="2400">
                    <a:solidFill>
                      <a:srgbClr val="111827"/>
                    </a:solidFill>
                    <a:latin typeface="Cambria Math" panose="02040503050406030204" pitchFamily="18" charset="0"/>
                  </a:rPr>
                  <a:t>$1$</a:t>
                </a:r>
                <a:r>
                  <a:rPr sz="2400" b="0">
                    <a:solidFill>
                      <a:srgbClr val="111827"/>
                    </a:solidFill>
                    <a:latin typeface="Arial"/>
                  </a:rPr>
                  <a:t> through </a:t>
                </a:r>
                <a:r>
                  <a:rPr lang="en-IN" sz="2400">
                    <a:solidFill>
                      <a:srgbClr val="111827"/>
                    </a:solidFill>
                    <a:latin typeface="Cambria Math" panose="02040503050406030204" pitchFamily="18" charset="0"/>
                  </a:rPr>
                  <a:t>$(1,0)$</a:t>
                </a:r>
                <a:r>
                  <a:rPr sz="2400" b="0">
                    <a:solidFill>
                      <a:srgbClr val="111827"/>
                    </a:solidFill>
                    <a:latin typeface="Arial"/>
                  </a:rPr>
                  <a:t>: </a:t>
                </a:r>
                <a:r>
                  <a:rPr lang="en-IN" sz="2400">
                    <a:solidFill>
                      <a:srgbClr val="111827"/>
                    </a:solidFill>
                    <a:latin typeface="Cambria Math" panose="02040503050406030204" pitchFamily="18" charset="0"/>
                  </a:rPr>
                  <a:t>$y=x-1$</a:t>
                </a:r>
                <a:r>
                  <a:rPr sz="2400" b="0">
                    <a:solidFill>
                      <a:srgbClr val="111827"/>
                    </a:solidFill>
                    <a:latin typeface="Arial"/>
                  </a:rPr>
                  <a:t>. With </a:t>
                </a:r>
                <a:r>
                  <a:rPr lang="en-IN" sz="2400">
                    <a:solidFill>
                      <a:srgbClr val="111827"/>
                    </a:solidFill>
                    <a:latin typeface="Cambria Math" panose="02040503050406030204" pitchFamily="18" charset="0"/>
                  </a:rPr>
                  <a:t>$y^2=4x$</a:t>
                </a:r>
                <a:r>
                  <a:rPr sz="2400" b="0">
                    <a:solidFill>
                      <a:srgbClr val="111827"/>
                    </a:solidFill>
                    <a:latin typeface="Arial"/>
                  </a:rPr>
                  <a:t>: </a:t>
                </a:r>
                <a:r>
                  <a:rPr lang="en-IN" sz="2400">
                    <a:solidFill>
                      <a:srgbClr val="111827"/>
                    </a:solidFill>
                    <a:latin typeface="Cambria Math" panose="02040503050406030204" pitchFamily="18" charset="0"/>
                  </a:rPr>
                  <a:t>$(x-1)^2=4x$</a:t>
                </a:r>
                <a:r>
                  <a:rPr sz="2400" b="0">
                    <a:solidFill>
                      <a:srgbClr val="111827"/>
                    </a:solidFill>
                    <a:latin typeface="Arial"/>
                  </a:rPr>
                  <a:t>, i.e. </a:t>
                </a:r>
                <a:r>
                  <a:rPr lang="en-IN" sz="2400">
                    <a:solidFill>
                      <a:srgbClr val="111827"/>
                    </a:solidFill>
                    <a:latin typeface="Cambria Math" panose="02040503050406030204" pitchFamily="18" charset="0"/>
                  </a:rPr>
                  <a:t>$x^2-6x+1=0$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Midpoint: </a:t>
                </a:r>
                <a:r>
                  <a:rPr lang="en-IN" sz="2400">
                    <a:solidFill>
                      <a:srgbClr val="111827"/>
                    </a:solidFill>
                    <a:latin typeface="Cambria Math" panose="02040503050406030204" pitchFamily="18" charset="0"/>
                  </a:rPr>
                  <a:t>$x=\frac{6}{2}=3$</a:t>
                </a:r>
                <a:r>
                  <a:rPr sz="2400" b="0">
                    <a:solidFill>
                      <a:srgbClr val="111827"/>
                    </a:solidFill>
                    <a:latin typeface="Arial"/>
                  </a:rPr>
                  <a:t>, </a:t>
                </a:r>
                <a:r>
                  <a:rPr lang="en-IN" sz="2400">
                    <a:solidFill>
                      <a:srgbClr val="111827"/>
                    </a:solidFill>
                    <a:latin typeface="Cambria Math" panose="02040503050406030204" pitchFamily="18" charset="0"/>
                  </a:rPr>
                  <a:t>$y=3-1=2$</a:t>
                </a:r>
                <a:r>
                  <a:rPr sz="2400" b="0">
                    <a:solidFill>
                      <a:srgbClr val="111827"/>
                    </a:solidFill>
                    <a:latin typeface="Arial"/>
                  </a:rPr>
                  <a:t>: the centre is </a:t>
                </a:r>
                <a:r>
                  <a:rPr lang="en-IN" sz="2400">
                    <a:solidFill>
                      <a:srgbClr val="111827"/>
                    </a:solidFill>
                    <a:latin typeface="Cambria Math" panose="02040503050406030204" pitchFamily="18" charset="0"/>
                  </a:rPr>
                  <a:t>$(3,2)$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Length of a focal chord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inclined at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to the axis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num>
                      <m:den>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sSup>
                          <m:e>
                            <m:r>
                              <m:rPr>
                                <m:sty m:val="p"/>
                              </m:rPr>
                              <a:rPr lang="en-IN" sz="2400">
                                <a:solidFill>
                                  <a:srgbClr val="111827"/>
                                </a:solidFill>
                                <a:latin typeface="Cambria Math" panose="02040503050406030204" pitchFamily="18" charset="0"/>
                              </a:rPr>
                              <m:t>sin</m:t>
                            </m:r>
                          </m:e>
                          <m:sup>
                            <m:sSup>
                              <m:e>
                                <m:r>
                                  <a:rPr lang="en-IN" sz="2400" i="1">
                                    <a:solidFill>
                                      <a:srgbClr val="111827"/>
                                    </a:solidFill>
                                    <a:latin typeface="Cambria Math" panose="02040503050406030204" pitchFamily="18" charset="0"/>
                                  </a:rPr>
                                  <m:t>245</m:t>
                                </m:r>
                              </m:e>
                              <m:sup>
                                <m:r>
                                  <m:rPr>
                                    <m:sty m:val="p"/>
                                  </m:rPr>
                                  <a:rPr lang="en-IN" sz="2400">
                                    <a:solidFill>
                                      <a:srgbClr val="111827"/>
                                    </a:solidFill>
                                    <a:latin typeface="Cambria Math" panose="02040503050406030204" pitchFamily="18" charset="0"/>
                                  </a:rPr>
                                  <m:t>∘</m:t>
                                </m:r>
                              </m:sup>
                            </m:sSup>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radius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Answer (A).</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Length of a focal chord of </a:t>
                </a:r>
                <a:r>
                  <a:rPr lang="en-IN" sz="2400">
                    <a:solidFill>
                      <a:srgbClr val="111827"/>
                    </a:solidFill>
                    <a:latin typeface="Cambria Math" panose="02040503050406030204" pitchFamily="18" charset="0"/>
                  </a:rPr>
                  <a:t>$y^2=4ax$</a:t>
                </a:r>
                <a:r>
                  <a:rPr sz="2400" b="0">
                    <a:solidFill>
                      <a:srgbClr val="111827"/>
                    </a:solidFill>
                    <a:latin typeface="Arial"/>
                  </a:rPr>
                  <a:t> inclined at </a:t>
                </a:r>
                <a:r>
                  <a:rPr lang="en-IN" sz="2400">
                    <a:solidFill>
                      <a:srgbClr val="111827"/>
                    </a:solidFill>
                    <a:latin typeface="Cambria Math" panose="02040503050406030204" pitchFamily="18" charset="0"/>
                  </a:rPr>
                  <a:t>$\theta$</a:t>
                </a:r>
                <a:r>
                  <a:rPr sz="2400" b="0">
                    <a:solidFill>
                      <a:srgbClr val="111827"/>
                    </a:solidFill>
                    <a:latin typeface="Arial"/>
                  </a:rPr>
                  <a:t> to the axis is </a:t>
                </a:r>
                <a:r>
                  <a:rPr lang="en-IN" sz="2400">
                    <a:solidFill>
                      <a:srgbClr val="111827"/>
                    </a:solidFill>
                    <a:latin typeface="Cambria Math" panose="02040503050406030204" pitchFamily="18" charset="0"/>
                  </a:rPr>
                  <a:t>$\frac{4a}{\sin^2\theta}=\frac{4}{\sin^245^\circ}=8$</a:t>
                </a:r>
                <a:r>
                  <a:rPr sz="2400" b="0">
                    <a:solidFill>
                      <a:srgbClr val="111827"/>
                    </a:solidFill>
                    <a:latin typeface="Arial"/>
                  </a:rPr>
                  <a:t> (</a:t>
                </a:r>
                <a:r>
                  <a:rPr lang="en-IN" sz="2400">
                    <a:solidFill>
                      <a:srgbClr val="111827"/>
                    </a:solidFill>
                    <a:latin typeface="Cambria Math" panose="02040503050406030204" pitchFamily="18" charset="0"/>
                  </a:rPr>
                  <a:t>$a=1$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radius is </a:t>
                </a:r>
                <a:r>
                  <a:rPr lang="en-IN" sz="2400">
                    <a:solidFill>
                      <a:srgbClr val="111827"/>
                    </a:solidFill>
                    <a:latin typeface="Cambria Math" panose="02040503050406030204" pitchFamily="18" charset="0"/>
                  </a:rPr>
                  <a:t>$\frac82=4$</a:t>
                </a:r>
                <a:r>
                  <a:rPr sz="2400" b="0">
                    <a:solidFill>
                      <a:srgbClr val="111827"/>
                    </a:solidFill>
                    <a:latin typeface="Arial"/>
                  </a:rPr>
                  <a:t>. Answer (A).</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r>
                      <a:rPr lang="en-IN" sz="2800" i="1">
                        <a:solidFill>
                          <a:srgbClr val="15803D"/>
                        </a:solidFill>
                        <a:latin typeface="Cambria Math" panose="02040503050406030204" pitchFamily="18" charset="0"/>
                      </a:rPr>
                      <m:t>4</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$4$</a:t>
                </a:r>
                <a:endParaRPr sz="2800">
                  <a:solidFill>
                    <a:srgbClr val="15803D"/>
                  </a:solidFill>
                </a:endParaRPr>
              </a:p>
            </p:txBody>
          </p:sp>
        </mc:Fallback>
      </mc:AlternateContent>
    </p:spTree>
  </p:cSld>
  <p:clrMapOvr>
    <a:masterClrMapping/>
  </p:clrMapOvr>
</p:sld>
</file>

<file path=ppt/slides/slide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focal chord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joins the parameters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𝑡</m:t>
                        </m:r>
                      </m:den>
                    </m:f>
                  </m:oMath>
                </a14:m>
                <a:r>
                  <a:rPr sz="2400" b="0">
                    <a:solidFill>
                      <a:srgbClr val="111827"/>
                    </a:solidFill>
                    <a:latin typeface="Arial"/>
                  </a:rPr>
                  <a:t>; its slope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num>
                      <m:den>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and its length is </a:t>
                </a:r>
                <a14:m>
                  <m:oMath xmlns:m="http://schemas.openxmlformats.org/officeDocument/2006/math">
                    <m:r>
                      <a:rPr lang="en-IN" sz="2400" i="1">
                        <a:solidFill>
                          <a:srgbClr val="111827"/>
                        </a:solidFill>
                        <a:latin typeface="Cambria Math" panose="02040503050406030204" pitchFamily="18" charset="0"/>
                      </a:rPr>
                      <m:t>𝑎</m:t>
                    </m:r>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𝑡</m:t>
                                </m:r>
                              </m:den>
                            </m:f>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 of a focal chord inclined at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to the axis: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num>
                      <m:den>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oMath>
                </a14:m>
                <a:r>
                  <a:rPr sz="2400" b="0">
                    <a:solidFill>
                      <a:srgbClr val="111827"/>
                    </a:solidFill>
                    <a:latin typeface="Arial"/>
                  </a:rPr>
                  <a:t> (least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the latus rectum).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Circle with diameter joining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centre of the circle on a focal chord as diameter is the midpoint of the chord: here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focal chord of </a:t>
                </a:r>
                <a:r>
                  <a:rPr lang="en-IN" sz="2400">
                    <a:solidFill>
                      <a:srgbClr val="111827"/>
                    </a:solidFill>
                    <a:latin typeface="Cambria Math" panose="02040503050406030204" pitchFamily="18" charset="0"/>
                  </a:rPr>
                  <a:t>$y^2=4ax$</a:t>
                </a:r>
                <a:r>
                  <a:rPr sz="2400" b="0">
                    <a:solidFill>
                      <a:srgbClr val="111827"/>
                    </a:solidFill>
                    <a:latin typeface="Arial"/>
                  </a:rPr>
                  <a:t> joins the parameters </a:t>
                </a:r>
                <a:r>
                  <a:rPr lang="en-IN" sz="2400">
                    <a:solidFill>
                      <a:srgbClr val="111827"/>
                    </a:solidFill>
                    <a:latin typeface="Cambria Math" panose="02040503050406030204" pitchFamily="18" charset="0"/>
                  </a:rPr>
                  <a:t>$t$</a:t>
                </a:r>
                <a:r>
                  <a:rPr sz="2400" b="0">
                    <a:solidFill>
                      <a:srgbClr val="111827"/>
                    </a:solidFill>
                    <a:latin typeface="Arial"/>
                  </a:rPr>
                  <a:t> and </a:t>
                </a:r>
                <a:r>
                  <a:rPr lang="en-IN" sz="2400">
                    <a:solidFill>
                      <a:srgbClr val="111827"/>
                    </a:solidFill>
                    <a:latin typeface="Cambria Math" panose="02040503050406030204" pitchFamily="18" charset="0"/>
                  </a:rPr>
                  <a:t>$-\frac1t$</a:t>
                </a:r>
                <a:r>
                  <a:rPr sz="2400" b="0">
                    <a:solidFill>
                      <a:srgbClr val="111827"/>
                    </a:solidFill>
                    <a:latin typeface="Arial"/>
                  </a:rPr>
                  <a:t>; its slope is </a:t>
                </a:r>
                <a:r>
                  <a:rPr lang="en-IN" sz="2400">
                    <a:solidFill>
                      <a:srgbClr val="111827"/>
                    </a:solidFill>
                    <a:latin typeface="Cambria Math" panose="02040503050406030204" pitchFamily="18" charset="0"/>
                  </a:rPr>
                  <a:t>$\frac{2t}{t^2-1}$</a:t>
                </a:r>
                <a:r>
                  <a:rPr sz="2400" b="0">
                    <a:solidFill>
                      <a:srgbClr val="111827"/>
                    </a:solidFill>
                    <a:latin typeface="Arial"/>
                  </a:rPr>
                  <a:t> and its length is </a:t>
                </a:r>
                <a:r>
                  <a:rPr lang="en-IN" sz="2400">
                    <a:solidFill>
                      <a:srgbClr val="111827"/>
                    </a:solidFill>
                    <a:latin typeface="Cambria Math" panose="02040503050406030204" pitchFamily="18" charset="0"/>
                  </a:rPr>
                  <a:t>$a\left(t+\frac1t\right)^2$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 of a focal chord inclined at </a:t>
                </a:r>
                <a:r>
                  <a:rPr lang="en-IN" sz="2400">
                    <a:solidFill>
                      <a:srgbClr val="111827"/>
                    </a:solidFill>
                    <a:latin typeface="Cambria Math" panose="02040503050406030204" pitchFamily="18" charset="0"/>
                  </a:rPr>
                  <a:t>$\theta$</a:t>
                </a:r>
                <a:r>
                  <a:rPr sz="2400" b="0">
                    <a:solidFill>
                      <a:srgbClr val="111827"/>
                    </a:solidFill>
                    <a:latin typeface="Arial"/>
                  </a:rPr>
                  <a:t> to the axis: </a:t>
                </a:r>
                <a:r>
                  <a:rPr lang="en-IN" sz="2400">
                    <a:solidFill>
                      <a:srgbClr val="111827"/>
                    </a:solidFill>
                    <a:latin typeface="Cambria Math" panose="02040503050406030204" pitchFamily="18" charset="0"/>
                  </a:rPr>
                  <a:t>$\frac{4a}{\sin^2\theta}$</a:t>
                </a:r>
                <a:r>
                  <a:rPr sz="2400" b="0">
                    <a:solidFill>
                      <a:srgbClr val="111827"/>
                    </a:solidFill>
                    <a:latin typeface="Arial"/>
                  </a:rPr>
                  <a:t> (least </a:t>
                </a:r>
                <a:r>
                  <a:rPr lang="en-IN" sz="2400">
                    <a:solidFill>
                      <a:srgbClr val="111827"/>
                    </a:solidFill>
                    <a:latin typeface="Cambria Math" panose="02040503050406030204" pitchFamily="18" charset="0"/>
                  </a:rPr>
                  <a:t>$4a$</a:t>
                </a:r>
                <a:r>
                  <a:rPr sz="2400" b="0">
                    <a:solidFill>
                      <a:srgbClr val="111827"/>
                    </a:solidFill>
                    <a:latin typeface="Arial"/>
                  </a:rPr>
                  <a:t> at </a:t>
                </a:r>
                <a:r>
                  <a:rPr lang="en-IN" sz="2400">
                    <a:solidFill>
                      <a:srgbClr val="111827"/>
                    </a:solidFill>
                    <a:latin typeface="Cambria Math" panose="02040503050406030204" pitchFamily="18" charset="0"/>
                  </a:rPr>
                  <a:t>$\theta=90^\circ$</a:t>
                </a:r>
                <a:r>
                  <a:rPr sz="2400" b="0">
                    <a:solidFill>
                      <a:srgbClr val="111827"/>
                    </a:solidFill>
                    <a:latin typeface="Arial"/>
                  </a:rPr>
                  <a:t>, the latus rectum).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Circle with diameter joining </a:t>
                </a:r>
                <a:r>
                  <a:rPr lang="en-IN" sz="2400">
                    <a:solidFill>
                      <a:srgbClr val="111827"/>
                    </a:solidFill>
                    <a:latin typeface="Cambria Math" panose="02040503050406030204" pitchFamily="18" charset="0"/>
                  </a:rPr>
                  <a:t>$(x_1,y_1),(x_2,y_2)$</a:t>
                </a:r>
                <a:r>
                  <a:rPr sz="2400" b="0">
                    <a:solidFill>
                      <a:srgbClr val="111827"/>
                    </a:solidFill>
                    <a:latin typeface="Arial"/>
                  </a:rPr>
                  <a:t>: </a:t>
                </a:r>
                <a:r>
                  <a:rPr lang="en-IN" sz="2400">
                    <a:solidFill>
                      <a:srgbClr val="111827"/>
                    </a:solidFill>
                    <a:latin typeface="Cambria Math" panose="02040503050406030204" pitchFamily="18" charset="0"/>
                  </a:rPr>
                  <a:t>$(x-x_1)(x-x_2)+(y-y_1)(y-y_2)=0$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centre of the circle on a focal chord as diameter is the midpoint of the chord: here </a:t>
                </a:r>
                <a:r>
                  <a:rPr lang="en-IN" sz="2400">
                    <a:solidFill>
                      <a:srgbClr val="111827"/>
                    </a:solidFill>
                    <a:latin typeface="Cambria Math" panose="02040503050406030204" pitchFamily="18" charset="0"/>
                  </a:rPr>
                  <a:t>$\left(a(t_1^2+t_2^2)/2,\ a(t_1+t_2)\right)=(3,2)$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84784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From a point </a:t>
                </a:r>
                <a14:m>
                  <m:oMath xmlns:m="http://schemas.openxmlformats.org/officeDocument/2006/math">
                    <m:r>
                      <a:rPr lang="en-IN" sz="2200" i="1">
                        <a:solidFill>
                          <a:srgbClr val="111827"/>
                        </a:solidFill>
                        <a:latin typeface="Cambria Math" panose="02040503050406030204" pitchFamily="18" charset="0"/>
                      </a:rPr>
                      <m:t>𝑃</m:t>
                    </m:r>
                  </m:oMath>
                </a14:m>
                <a:r>
                  <a:rPr sz="2200" b="0">
                    <a:solidFill>
                      <a:srgbClr val="111827"/>
                    </a:solidFill>
                    <a:latin typeface="Arial"/>
                  </a:rPr>
                  <a:t> three normals are drawn to the parabola </a:t>
                </a:r>
                <a14:m>
                  <m:oMath xmlns:m="http://schemas.openxmlformats.org/officeDocument/2006/math">
                    <m:sSup>
                      <m:e>
                        <m:r>
                          <a:rPr lang="en-IN" sz="2200" i="1">
                            <a:solidFill>
                              <a:srgbClr val="111827"/>
                            </a:solidFill>
                            <a:latin typeface="Cambria Math" panose="02040503050406030204" pitchFamily="18" charset="0"/>
                          </a:rPr>
                          <m:t>𝑦</m:t>
                        </m:r>
                      </m:e>
                      <m:sup>
                        <m:r>
                          <a:rPr lang="en-IN" sz="2200" i="1">
                            <a:solidFill>
                              <a:srgbClr val="111827"/>
                            </a:solidFill>
                            <a:latin typeface="Cambria Math" panose="02040503050406030204" pitchFamily="18" charset="0"/>
                          </a:rPr>
                          <m:t>2</m:t>
                        </m:r>
                      </m:sup>
                    </m:sSup>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4</m:t>
                    </m:r>
                    <m:r>
                      <a:rPr lang="en-IN" sz="2200" i="1">
                        <a:solidFill>
                          <a:srgbClr val="111827"/>
                        </a:solidFill>
                        <a:latin typeface="Cambria Math" panose="02040503050406030204" pitchFamily="18" charset="0"/>
                      </a:rPr>
                      <m:t>𝑥</m:t>
                    </m:r>
                  </m:oMath>
                </a14:m>
                <a:r>
                  <a:rPr sz="2200" b="0">
                    <a:solidFill>
                      <a:srgbClr val="111827"/>
                    </a:solidFill>
                    <a:latin typeface="Arial"/>
                  </a:rPr>
                  <a:t> such that two of them make angles with the abscissa axis, the product of whose tangents is </a:t>
                </a:r>
                <a14:m>
                  <m:oMath xmlns:m="http://schemas.openxmlformats.org/officeDocument/2006/math">
                    <m:r>
                      <a:rPr lang="en-IN" sz="2200" i="1">
                        <a:solidFill>
                          <a:srgbClr val="111827"/>
                        </a:solidFill>
                        <a:latin typeface="Cambria Math" panose="02040503050406030204" pitchFamily="18" charset="0"/>
                      </a:rPr>
                      <m:t>2</m:t>
                    </m:r>
                  </m:oMath>
                </a14:m>
                <a:r>
                  <a:rPr sz="2200" b="0">
                    <a:solidFill>
                      <a:srgbClr val="111827"/>
                    </a:solidFill>
                    <a:latin typeface="Arial"/>
                  </a:rPr>
                  <a:t>. Suppose the locus of the point </a:t>
                </a:r>
                <a14:m>
                  <m:oMath xmlns:m="http://schemas.openxmlformats.org/officeDocument/2006/math">
                    <m:r>
                      <a:rPr lang="en-IN" sz="2200" i="1">
                        <a:solidFill>
                          <a:srgbClr val="111827"/>
                        </a:solidFill>
                        <a:latin typeface="Cambria Math" panose="02040503050406030204" pitchFamily="18" charset="0"/>
                      </a:rPr>
                      <m:t>𝑃</m:t>
                    </m:r>
                  </m:oMath>
                </a14:m>
                <a:r>
                  <a:rPr sz="2200" b="0">
                    <a:solidFill>
                      <a:srgbClr val="111827"/>
                    </a:solidFill>
                    <a:latin typeface="Arial"/>
                  </a:rPr>
                  <a:t> is a part of a conic </a:t>
                </a:r>
                <a14:m>
                  <m:oMath xmlns:m="http://schemas.openxmlformats.org/officeDocument/2006/math">
                    <m:r>
                      <a:rPr lang="en-IN" sz="2200" i="1">
                        <a:solidFill>
                          <a:srgbClr val="111827"/>
                        </a:solidFill>
                        <a:latin typeface="Cambria Math" panose="02040503050406030204" pitchFamily="18" charset="0"/>
                      </a:rPr>
                      <m:t>𝐶</m:t>
                    </m:r>
                  </m:oMath>
                </a14:m>
                <a:r>
                  <a:rPr sz="2200" b="0">
                    <a:solidFill>
                      <a:srgbClr val="111827"/>
                    </a:solidFill>
                    <a:latin typeface="Arial"/>
                  </a:rPr>
                  <a:t>. Now a circle </a:t>
                </a:r>
                <a14:m>
                  <m:oMath xmlns:m="http://schemas.openxmlformats.org/officeDocument/2006/math">
                    <m:r>
                      <a:rPr lang="en-IN" sz="2200" i="1">
                        <a:solidFill>
                          <a:srgbClr val="111827"/>
                        </a:solidFill>
                        <a:latin typeface="Cambria Math" panose="02040503050406030204" pitchFamily="18" charset="0"/>
                      </a:rPr>
                      <m:t>𝑆</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0</m:t>
                    </m:r>
                  </m:oMath>
                </a14:m>
                <a:r>
                  <a:rPr sz="2200" b="0">
                    <a:solidFill>
                      <a:srgbClr val="111827"/>
                    </a:solidFill>
                    <a:latin typeface="Arial"/>
                  </a:rPr>
                  <a:t> is described on the chord of the conic </a:t>
                </a:r>
                <a14:m>
                  <m:oMath xmlns:m="http://schemas.openxmlformats.org/officeDocument/2006/math">
                    <m:r>
                      <a:rPr lang="en-IN" sz="2200" i="1">
                        <a:solidFill>
                          <a:srgbClr val="111827"/>
                        </a:solidFill>
                        <a:latin typeface="Cambria Math" panose="02040503050406030204" pitchFamily="18" charset="0"/>
                      </a:rPr>
                      <m:t>𝐶</m:t>
                    </m:r>
                  </m:oMath>
                </a14:m>
                <a:r>
                  <a:rPr sz="2200" b="0">
                    <a:solidFill>
                      <a:srgbClr val="111827"/>
                    </a:solidFill>
                    <a:latin typeface="Arial"/>
                  </a:rPr>
                  <a:t> as diameter passing through the point </a:t>
                </a:r>
                <a14:m>
                  <m:oMath xmlns:m="http://schemas.openxmlformats.org/officeDocument/2006/math">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1</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0</m:t>
                    </m:r>
                    <m:r>
                      <m:rPr>
                        <m:sty m:val="p"/>
                      </m:rPr>
                      <a:rPr lang="en-IN" sz="2200">
                        <a:solidFill>
                          <a:srgbClr val="111827"/>
                        </a:solidFill>
                        <a:latin typeface="Cambria Math" panose="02040503050406030204" pitchFamily="18" charset="0"/>
                      </a:rPr>
                      <m:t>)</m:t>
                    </m:r>
                  </m:oMath>
                </a14:m>
                <a:r>
                  <a:rPr sz="2200" b="0">
                    <a:solidFill>
                      <a:srgbClr val="111827"/>
                    </a:solidFill>
                    <a:latin typeface="Arial"/>
                  </a:rPr>
                  <a:t> and with gradient unity. Suppose </a:t>
                </a:r>
                <a14:m>
                  <m:oMath xmlns:m="http://schemas.openxmlformats.org/officeDocument/2006/math">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𝑎</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𝑏</m:t>
                    </m:r>
                    <m:r>
                      <m:rPr>
                        <m:sty m:val="p"/>
                      </m:rPr>
                      <a:rPr lang="en-IN" sz="2200">
                        <a:solidFill>
                          <a:srgbClr val="111827"/>
                        </a:solidFill>
                        <a:latin typeface="Cambria Math" panose="02040503050406030204" pitchFamily="18" charset="0"/>
                      </a:rPr>
                      <m:t>)</m:t>
                    </m:r>
                  </m:oMath>
                </a14:m>
                <a:r>
                  <a:rPr sz="2200" b="0">
                    <a:solidFill>
                      <a:srgbClr val="111827"/>
                    </a:solidFill>
                    <a:latin typeface="Arial"/>
                  </a:rPr>
                  <a:t> are the coordinates of the centre of this circle. If </a:t>
                </a:r>
                <a14:m>
                  <m:oMath xmlns:m="http://schemas.openxmlformats.org/officeDocument/2006/math">
                    <m:sSub>
                      <m:e>
                        <m:r>
                          <a:rPr lang="en-IN" sz="2200" i="1">
                            <a:solidFill>
                              <a:srgbClr val="111827"/>
                            </a:solidFill>
                            <a:latin typeface="Cambria Math" panose="02040503050406030204" pitchFamily="18" charset="0"/>
                          </a:rPr>
                          <m:t>𝐿</m:t>
                        </m:r>
                      </m:e>
                      <m:sub>
                        <m:r>
                          <a:rPr lang="en-IN" sz="2200" i="1">
                            <a:solidFill>
                              <a:srgbClr val="111827"/>
                            </a:solidFill>
                            <a:latin typeface="Cambria Math" panose="02040503050406030204" pitchFamily="18" charset="0"/>
                          </a:rPr>
                          <m:t>1</m:t>
                        </m:r>
                      </m:sub>
                    </m:sSub>
                  </m:oMath>
                </a14:m>
                <a:r>
                  <a:rPr sz="2200" b="0">
                    <a:solidFill>
                      <a:srgbClr val="111827"/>
                    </a:solidFill>
                    <a:latin typeface="Arial"/>
                  </a:rPr>
                  <a:t> and </a:t>
                </a:r>
                <a14:m>
                  <m:oMath xmlns:m="http://schemas.openxmlformats.org/officeDocument/2006/math">
                    <m:sSub>
                      <m:e>
                        <m:r>
                          <a:rPr lang="en-IN" sz="2200" i="1">
                            <a:solidFill>
                              <a:srgbClr val="111827"/>
                            </a:solidFill>
                            <a:latin typeface="Cambria Math" panose="02040503050406030204" pitchFamily="18" charset="0"/>
                          </a:rPr>
                          <m:t>𝐿</m:t>
                        </m:r>
                      </m:e>
                      <m:sub>
                        <m:r>
                          <a:rPr lang="en-IN" sz="2200" i="1">
                            <a:solidFill>
                              <a:srgbClr val="111827"/>
                            </a:solidFill>
                            <a:latin typeface="Cambria Math" panose="02040503050406030204" pitchFamily="18" charset="0"/>
                          </a:rPr>
                          <m:t>2</m:t>
                        </m:r>
                      </m:sub>
                    </m:sSub>
                  </m:oMath>
                </a14:m>
                <a:r>
                  <a:rPr sz="2200" b="0">
                    <a:solidFill>
                      <a:srgbClr val="111827"/>
                    </a:solidFill>
                    <a:latin typeface="Arial"/>
                  </a:rPr>
                  <a:t> are the two asymptotes of the hyperbola with length of its transverse axis </a:t>
                </a:r>
                <a14:m>
                  <m:oMath xmlns:m="http://schemas.openxmlformats.org/officeDocument/2006/math">
                    <m:r>
                      <a:rPr lang="en-IN" sz="2200" i="1">
                        <a:solidFill>
                          <a:srgbClr val="111827"/>
                        </a:solidFill>
                        <a:latin typeface="Cambria Math" panose="02040503050406030204" pitchFamily="18" charset="0"/>
                      </a:rPr>
                      <m:t>2</m:t>
                    </m:r>
                    <m:r>
                      <a:rPr lang="en-IN" sz="2200" i="1">
                        <a:solidFill>
                          <a:srgbClr val="111827"/>
                        </a:solidFill>
                        <a:latin typeface="Cambria Math" panose="02040503050406030204" pitchFamily="18" charset="0"/>
                      </a:rPr>
                      <m:t>𝑎</m:t>
                    </m:r>
                  </m:oMath>
                </a14:m>
                <a:r>
                  <a:rPr sz="2200" b="0">
                    <a:solidFill>
                      <a:srgbClr val="111827"/>
                    </a:solidFill>
                    <a:latin typeface="Arial"/>
                  </a:rPr>
                  <a:t> and </a:t>
                </a:r>
                <a14:m>
                  <m:oMath xmlns:m="http://schemas.openxmlformats.org/officeDocument/2006/math">
                    <m:r>
                      <a:rPr lang="en-IN" sz="2200" i="1">
                        <a:solidFill>
                          <a:srgbClr val="111827"/>
                        </a:solidFill>
                        <a:latin typeface="Cambria Math" panose="02040503050406030204" pitchFamily="18" charset="0"/>
                      </a:rPr>
                      <m:t>2</m:t>
                    </m:r>
                    <m:r>
                      <a:rPr lang="en-IN" sz="2200" i="1">
                        <a:solidFill>
                          <a:srgbClr val="111827"/>
                        </a:solidFill>
                        <a:latin typeface="Cambria Math" panose="02040503050406030204" pitchFamily="18" charset="0"/>
                      </a:rPr>
                      <m:t>𝑏</m:t>
                    </m:r>
                  </m:oMath>
                </a14:m>
                <a:r>
                  <a:rPr sz="2200" b="0">
                    <a:solidFill>
                      <a:srgbClr val="111827"/>
                    </a:solidFill>
                    <a:latin typeface="Arial"/>
                  </a:rPr>
                  <a:t> (principal axes of the hyperbola along the coordinate axes), then answer the following questions.</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The angle </a:t>
                </a:r>
                <a14:m>
                  <m:oMath xmlns:m="http://schemas.openxmlformats.org/officeDocument/2006/math">
                    <m:r>
                      <a:rPr lang="en-IN" sz="2200" i="1">
                        <a:solidFill>
                          <a:srgbClr val="111827"/>
                        </a:solidFill>
                        <a:latin typeface="Cambria Math" panose="02040503050406030204" pitchFamily="18" charset="0"/>
                      </a:rPr>
                      <m:t>α</m:t>
                    </m:r>
                    <m:r>
                      <m:rPr>
                        <m:sty m:val="p"/>
                      </m:rPr>
                      <a:rPr lang="en-IN" sz="2200">
                        <a:solidFill>
                          <a:srgbClr val="111827"/>
                        </a:solidFill>
                        <a:latin typeface="Cambria Math" panose="02040503050406030204" pitchFamily="18" charset="0"/>
                      </a:rPr>
                      <m:t>∈</m:t>
                    </m:r>
                    <m:d>
                      <m:dPr>
                        <m:begChr m:val="("/>
                        <m:sepChr m:val=""/>
                        <m:endChr m:val=")"/>
                        <m:grow/>
                        <m:ctrlPr>
                          <a:rPr lang="en-IN" sz="2200" i="1">
                            <a:solidFill>
                              <a:srgbClr val="111827"/>
                            </a:solidFill>
                            <a:latin typeface="Cambria Math" panose="02040503050406030204" pitchFamily="18" charset="0"/>
                          </a:rPr>
                        </m:ctrlPr>
                      </m:dPr>
                      <m:e>
                        <m:r>
                          <a:rPr lang="en-IN" sz="2200" i="1">
                            <a:solidFill>
                              <a:srgbClr val="111827"/>
                            </a:solidFill>
                            <a:latin typeface="Cambria Math" panose="02040503050406030204" pitchFamily="18" charset="0"/>
                          </a:rPr>
                          <m:t>0</m:t>
                        </m:r>
                        <m:r>
                          <m:rPr>
                            <m:sty m:val="p"/>
                          </m:rPr>
                          <a:rPr lang="en-IN" sz="2200">
                            <a:solidFill>
                              <a:srgbClr val="111827"/>
                            </a:solidFill>
                            <a:latin typeface="Cambria Math" panose="02040503050406030204" pitchFamily="18" charset="0"/>
                          </a:rPr>
                          <m:t>,</m:t>
                        </m:r>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π</m:t>
                            </m:r>
                          </m:num>
                          <m:den>
                            <m:r>
                              <a:rPr lang="en-IN" sz="2200" i="1">
                                <a:solidFill>
                                  <a:srgbClr val="111827"/>
                                </a:solidFill>
                                <a:latin typeface="Cambria Math" panose="02040503050406030204" pitchFamily="18" charset="0"/>
                              </a:rPr>
                              <m:t>2</m:t>
                            </m:r>
                          </m:den>
                        </m:f>
                      </m:e>
                    </m:d>
                  </m:oMath>
                </a14:m>
                <a:r>
                  <a:rPr sz="2200" b="0">
                    <a:solidFill>
                      <a:srgbClr val="111827"/>
                    </a:solidFill>
                    <a:latin typeface="Arial"/>
                  </a:rPr>
                  <a:t> between the two asymptotes of the hyperbola lies in the interval:</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a:t>
                </a:r>
                <a14:m>
                  <m:oMath xmlns:m="http://schemas.openxmlformats.org/officeDocument/2006/math">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0</m:t>
                    </m:r>
                    <m:r>
                      <m:rPr>
                        <m:sty m:val="p"/>
                      </m:rPr>
                      <a:rPr lang="en-IN" sz="2200">
                        <a:solidFill>
                          <a:srgbClr val="111827"/>
                        </a:solidFill>
                        <a:latin typeface="Cambria Math" panose="02040503050406030204" pitchFamily="18" charset="0"/>
                      </a:rPr>
                      <m:t>,</m:t>
                    </m:r>
                    <m:sSup>
                      <m:e>
                        <m:r>
                          <a:rPr lang="en-IN" sz="2200" i="1">
                            <a:solidFill>
                              <a:srgbClr val="111827"/>
                            </a:solidFill>
                            <a:latin typeface="Cambria Math" panose="02040503050406030204" pitchFamily="18" charset="0"/>
                          </a:rPr>
                          <m:t>15</m:t>
                        </m:r>
                      </m:e>
                      <m:sup>
                        <m:r>
                          <m:rPr>
                            <m:sty m:val="p"/>
                          </m:rPr>
                          <a:rPr lang="en-IN" sz="2200">
                            <a:solidFill>
                              <a:srgbClr val="111827"/>
                            </a:solidFill>
                            <a:latin typeface="Cambria Math" panose="02040503050406030204" pitchFamily="18" charset="0"/>
                          </a:rPr>
                          <m:t>∘</m:t>
                        </m:r>
                      </m:sup>
                    </m:sSup>
                    <m:r>
                      <m:rPr>
                        <m:sty m:val="p"/>
                      </m:rPr>
                      <a:rPr lang="en-IN" sz="2200">
                        <a:solidFill>
                          <a:srgbClr val="111827"/>
                        </a:solidFill>
                        <a:latin typeface="Cambria Math" panose="02040503050406030204" pitchFamily="18" charset="0"/>
                      </a:rPr>
                      <m:t>)</m:t>
                    </m:r>
                  </m:oMath>
                </a14:m>
                <a:r>
                  <a:rPr sz="2200" b="0">
                    <a:solidFill>
                      <a:srgbClr val="111827"/>
                    </a:solidFill>
                    <a:latin typeface="Arial"/>
                  </a:rPr>
                  <a:t>   (B) </a:t>
                </a:r>
                <a14:m>
                  <m:oMath xmlns:m="http://schemas.openxmlformats.org/officeDocument/2006/math">
                    <m:r>
                      <m:rPr>
                        <m:sty m:val="p"/>
                      </m:rPr>
                      <a:rPr lang="en-IN" sz="2200">
                        <a:solidFill>
                          <a:srgbClr val="111827"/>
                        </a:solidFill>
                        <a:latin typeface="Cambria Math" panose="02040503050406030204" pitchFamily="18" charset="0"/>
                      </a:rPr>
                      <m:t>(</m:t>
                    </m:r>
                    <m:sSup>
                      <m:e>
                        <m:r>
                          <a:rPr lang="en-IN" sz="2200" i="1">
                            <a:solidFill>
                              <a:srgbClr val="111827"/>
                            </a:solidFill>
                            <a:latin typeface="Cambria Math" panose="02040503050406030204" pitchFamily="18" charset="0"/>
                          </a:rPr>
                          <m:t>30</m:t>
                        </m:r>
                      </m:e>
                      <m:sup>
                        <m:r>
                          <m:rPr>
                            <m:sty m:val="p"/>
                          </m:rPr>
                          <a:rPr lang="en-IN" sz="2200">
                            <a:solidFill>
                              <a:srgbClr val="111827"/>
                            </a:solidFill>
                            <a:latin typeface="Cambria Math" panose="02040503050406030204" pitchFamily="18" charset="0"/>
                          </a:rPr>
                          <m:t>∘</m:t>
                        </m:r>
                      </m:sup>
                    </m:sSup>
                    <m:r>
                      <m:rPr>
                        <m:sty m:val="p"/>
                      </m:rPr>
                      <a:rPr lang="en-IN" sz="2200">
                        <a:solidFill>
                          <a:srgbClr val="111827"/>
                        </a:solidFill>
                        <a:latin typeface="Cambria Math" panose="02040503050406030204" pitchFamily="18" charset="0"/>
                      </a:rPr>
                      <m:t>,</m:t>
                    </m:r>
                    <m:sSup>
                      <m:e>
                        <m:r>
                          <a:rPr lang="en-IN" sz="2200" i="1">
                            <a:solidFill>
                              <a:srgbClr val="111827"/>
                            </a:solidFill>
                            <a:latin typeface="Cambria Math" panose="02040503050406030204" pitchFamily="18" charset="0"/>
                          </a:rPr>
                          <m:t>45</m:t>
                        </m:r>
                      </m:e>
                      <m:sup>
                        <m:r>
                          <m:rPr>
                            <m:sty m:val="p"/>
                          </m:rPr>
                          <a:rPr lang="en-IN" sz="2200">
                            <a:solidFill>
                              <a:srgbClr val="111827"/>
                            </a:solidFill>
                            <a:latin typeface="Cambria Math" panose="02040503050406030204" pitchFamily="18" charset="0"/>
                          </a:rPr>
                          <m:t>∘</m:t>
                        </m:r>
                      </m:sup>
                    </m:sSup>
                    <m:r>
                      <m:rPr>
                        <m:sty m:val="p"/>
                      </m:rPr>
                      <a:rPr lang="en-IN" sz="2200">
                        <a:solidFill>
                          <a:srgbClr val="111827"/>
                        </a:solidFill>
                        <a:latin typeface="Cambria Math" panose="02040503050406030204" pitchFamily="18" charset="0"/>
                      </a:rPr>
                      <m:t>)</m:t>
                    </m:r>
                  </m:oMath>
                </a14:m>
                <a:r>
                  <a:rPr sz="2200" b="0">
                    <a:solidFill>
                      <a:srgbClr val="111827"/>
                    </a:solidFill>
                    <a:latin typeface="Arial"/>
                  </a:rPr>
                  <a:t>   (C) </a:t>
                </a:r>
                <a14:m>
                  <m:oMath xmlns:m="http://schemas.openxmlformats.org/officeDocument/2006/math">
                    <m:r>
                      <m:rPr>
                        <m:sty m:val="p"/>
                      </m:rPr>
                      <a:rPr lang="en-IN" sz="2200">
                        <a:solidFill>
                          <a:srgbClr val="111827"/>
                        </a:solidFill>
                        <a:latin typeface="Cambria Math" panose="02040503050406030204" pitchFamily="18" charset="0"/>
                      </a:rPr>
                      <m:t>(</m:t>
                    </m:r>
                    <m:sSup>
                      <m:e>
                        <m:r>
                          <a:rPr lang="en-IN" sz="2200" i="1">
                            <a:solidFill>
                              <a:srgbClr val="111827"/>
                            </a:solidFill>
                            <a:latin typeface="Cambria Math" panose="02040503050406030204" pitchFamily="18" charset="0"/>
                          </a:rPr>
                          <m:t>45</m:t>
                        </m:r>
                      </m:e>
                      <m:sup>
                        <m:r>
                          <m:rPr>
                            <m:sty m:val="p"/>
                          </m:rPr>
                          <a:rPr lang="en-IN" sz="2200">
                            <a:solidFill>
                              <a:srgbClr val="111827"/>
                            </a:solidFill>
                            <a:latin typeface="Cambria Math" panose="02040503050406030204" pitchFamily="18" charset="0"/>
                          </a:rPr>
                          <m:t>∘</m:t>
                        </m:r>
                      </m:sup>
                    </m:sSup>
                    <m:r>
                      <m:rPr>
                        <m:sty m:val="p"/>
                      </m:rPr>
                      <a:rPr lang="en-IN" sz="2200">
                        <a:solidFill>
                          <a:srgbClr val="111827"/>
                        </a:solidFill>
                        <a:latin typeface="Cambria Math" panose="02040503050406030204" pitchFamily="18" charset="0"/>
                      </a:rPr>
                      <m:t>,</m:t>
                    </m:r>
                    <m:sSup>
                      <m:e>
                        <m:r>
                          <a:rPr lang="en-IN" sz="2200" i="1">
                            <a:solidFill>
                              <a:srgbClr val="111827"/>
                            </a:solidFill>
                            <a:latin typeface="Cambria Math" panose="02040503050406030204" pitchFamily="18" charset="0"/>
                          </a:rPr>
                          <m:t>60</m:t>
                        </m:r>
                      </m:e>
                      <m:sup>
                        <m:r>
                          <m:rPr>
                            <m:sty m:val="p"/>
                          </m:rPr>
                          <a:rPr lang="en-IN" sz="2200">
                            <a:solidFill>
                              <a:srgbClr val="111827"/>
                            </a:solidFill>
                            <a:latin typeface="Cambria Math" panose="02040503050406030204" pitchFamily="18" charset="0"/>
                          </a:rPr>
                          <m:t>∘</m:t>
                        </m:r>
                      </m:sup>
                    </m:sSup>
                    <m:r>
                      <m:rPr>
                        <m:sty m:val="p"/>
                      </m:rPr>
                      <a:rPr lang="en-IN" sz="2200">
                        <a:solidFill>
                          <a:srgbClr val="111827"/>
                        </a:solidFill>
                        <a:latin typeface="Cambria Math" panose="02040503050406030204" pitchFamily="18" charset="0"/>
                      </a:rPr>
                      <m:t>)</m:t>
                    </m:r>
                  </m:oMath>
                </a14:m>
                <a:r>
                  <a:rPr sz="2200" b="0">
                    <a:solidFill>
                      <a:srgbClr val="111827"/>
                    </a:solidFill>
                    <a:latin typeface="Arial"/>
                  </a:rPr>
                  <a:t>   (D) </a:t>
                </a:r>
                <a14:m>
                  <m:oMath xmlns:m="http://schemas.openxmlformats.org/officeDocument/2006/math">
                    <m:r>
                      <m:rPr>
                        <m:sty m:val="p"/>
                      </m:rPr>
                      <a:rPr lang="en-IN" sz="2200">
                        <a:solidFill>
                          <a:srgbClr val="111827"/>
                        </a:solidFill>
                        <a:latin typeface="Cambria Math" panose="02040503050406030204" pitchFamily="18" charset="0"/>
                      </a:rPr>
                      <m:t>(</m:t>
                    </m:r>
                    <m:sSup>
                      <m:e>
                        <m:r>
                          <a:rPr lang="en-IN" sz="2200" i="1">
                            <a:solidFill>
                              <a:srgbClr val="111827"/>
                            </a:solidFill>
                            <a:latin typeface="Cambria Math" panose="02040503050406030204" pitchFamily="18" charset="0"/>
                          </a:rPr>
                          <m:t>60</m:t>
                        </m:r>
                      </m:e>
                      <m:sup>
                        <m:r>
                          <m:rPr>
                            <m:sty m:val="p"/>
                          </m:rPr>
                          <a:rPr lang="en-IN" sz="2200">
                            <a:solidFill>
                              <a:srgbClr val="111827"/>
                            </a:solidFill>
                            <a:latin typeface="Cambria Math" panose="02040503050406030204" pitchFamily="18" charset="0"/>
                          </a:rPr>
                          <m:t>∘</m:t>
                        </m:r>
                      </m:sup>
                    </m:sSup>
                    <m:r>
                      <m:rPr>
                        <m:sty m:val="p"/>
                      </m:rPr>
                      <a:rPr lang="en-IN" sz="2200">
                        <a:solidFill>
                          <a:srgbClr val="111827"/>
                        </a:solidFill>
                        <a:latin typeface="Cambria Math" panose="02040503050406030204" pitchFamily="18" charset="0"/>
                      </a:rPr>
                      <m:t>,</m:t>
                    </m:r>
                    <m:sSup>
                      <m:e>
                        <m:r>
                          <a:rPr lang="en-IN" sz="2200" i="1">
                            <a:solidFill>
                              <a:srgbClr val="111827"/>
                            </a:solidFill>
                            <a:latin typeface="Cambria Math" panose="02040503050406030204" pitchFamily="18" charset="0"/>
                          </a:rPr>
                          <m:t>75</m:t>
                        </m:r>
                      </m:e>
                      <m:sup>
                        <m:r>
                          <m:rPr>
                            <m:sty m:val="p"/>
                          </m:rPr>
                          <a:rPr lang="en-IN" sz="2200">
                            <a:solidFill>
                              <a:srgbClr val="111827"/>
                            </a:solidFill>
                            <a:latin typeface="Cambria Math" panose="02040503050406030204" pitchFamily="18" charset="0"/>
                          </a:rPr>
                          <m:t>∘</m:t>
                        </m:r>
                      </m:sup>
                    </m:sSup>
                    <m:r>
                      <m:rPr>
                        <m:sty m:val="p"/>
                      </m:rPr>
                      <a:rPr lang="en-IN" sz="2200">
                        <a:solidFill>
                          <a:srgbClr val="111827"/>
                        </a:solidFill>
                        <a:latin typeface="Cambria Math" panose="02040503050406030204" pitchFamily="18" charset="0"/>
                      </a:rPr>
                      <m:t>)</m:t>
                    </m:r>
                  </m:oMath>
                </a14:m>
                <a:endParaRPr sz="2200">
                  <a:solidFill>
                    <a:srgbClr val="111827"/>
                  </a:solidFill>
                </a:endParaRPr>
              </a:p>
            </p:txBody>
          </p:sp>
        </mc:Choice>
        <mc:Fallback>
          <p:sp>
            <p:nvSpPr>
              <p:cNvPr id="4" name="Rounded Rectangle 3"/>
              <p:cNvSpPr/>
              <p:nvPr/>
            </p:nvSpPr>
            <p:spPr>
              <a:xfrm>
                <a:off x="731520" y="1280160"/>
                <a:ext cx="10725912" cy="484784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From a point </a:t>
                </a:r>
                <a:r>
                  <a:rPr lang="en-IN" sz="2200">
                    <a:solidFill>
                      <a:srgbClr val="111827"/>
                    </a:solidFill>
                    <a:latin typeface="Cambria Math" panose="02040503050406030204" pitchFamily="18" charset="0"/>
                  </a:rPr>
                  <a:t>$P$</a:t>
                </a:r>
                <a:r>
                  <a:rPr sz="2200" b="0">
                    <a:solidFill>
                      <a:srgbClr val="111827"/>
                    </a:solidFill>
                    <a:latin typeface="Arial"/>
                  </a:rPr>
                  <a:t> three normals are drawn to the parabola </a:t>
                </a:r>
                <a:r>
                  <a:rPr lang="en-IN" sz="2200">
                    <a:solidFill>
                      <a:srgbClr val="111827"/>
                    </a:solidFill>
                    <a:latin typeface="Cambria Math" panose="02040503050406030204" pitchFamily="18" charset="0"/>
                  </a:rPr>
                  <a:t>$y^2=4x$</a:t>
                </a:r>
                <a:r>
                  <a:rPr sz="2200" b="0">
                    <a:solidFill>
                      <a:srgbClr val="111827"/>
                    </a:solidFill>
                    <a:latin typeface="Arial"/>
                  </a:rPr>
                  <a:t> such that two of them make angles with the abscissa axis, the product of whose tangents is </a:t>
                </a:r>
                <a:r>
                  <a:rPr lang="en-IN" sz="2200">
                    <a:solidFill>
                      <a:srgbClr val="111827"/>
                    </a:solidFill>
                    <a:latin typeface="Cambria Math" panose="02040503050406030204" pitchFamily="18" charset="0"/>
                  </a:rPr>
                  <a:t>$2$</a:t>
                </a:r>
                <a:r>
                  <a:rPr sz="2200" b="0">
                    <a:solidFill>
                      <a:srgbClr val="111827"/>
                    </a:solidFill>
                    <a:latin typeface="Arial"/>
                  </a:rPr>
                  <a:t>. Suppose the locus of the point </a:t>
                </a:r>
                <a:r>
                  <a:rPr lang="en-IN" sz="2200">
                    <a:solidFill>
                      <a:srgbClr val="111827"/>
                    </a:solidFill>
                    <a:latin typeface="Cambria Math" panose="02040503050406030204" pitchFamily="18" charset="0"/>
                  </a:rPr>
                  <a:t>$P$</a:t>
                </a:r>
                <a:r>
                  <a:rPr sz="2200" b="0">
                    <a:solidFill>
                      <a:srgbClr val="111827"/>
                    </a:solidFill>
                    <a:latin typeface="Arial"/>
                  </a:rPr>
                  <a:t> is a part of a conic </a:t>
                </a:r>
                <a:r>
                  <a:rPr lang="en-IN" sz="2200">
                    <a:solidFill>
                      <a:srgbClr val="111827"/>
                    </a:solidFill>
                    <a:latin typeface="Cambria Math" panose="02040503050406030204" pitchFamily="18" charset="0"/>
                  </a:rPr>
                  <a:t>$C$</a:t>
                </a:r>
                <a:r>
                  <a:rPr sz="2200" b="0">
                    <a:solidFill>
                      <a:srgbClr val="111827"/>
                    </a:solidFill>
                    <a:latin typeface="Arial"/>
                  </a:rPr>
                  <a:t>. Now a circle </a:t>
                </a:r>
                <a:r>
                  <a:rPr lang="en-IN" sz="2200">
                    <a:solidFill>
                      <a:srgbClr val="111827"/>
                    </a:solidFill>
                    <a:latin typeface="Cambria Math" panose="02040503050406030204" pitchFamily="18" charset="0"/>
                  </a:rPr>
                  <a:t>$S=0$</a:t>
                </a:r>
                <a:r>
                  <a:rPr sz="2200" b="0">
                    <a:solidFill>
                      <a:srgbClr val="111827"/>
                    </a:solidFill>
                    <a:latin typeface="Arial"/>
                  </a:rPr>
                  <a:t> is described on the chord of the conic </a:t>
                </a:r>
                <a:r>
                  <a:rPr lang="en-IN" sz="2200">
                    <a:solidFill>
                      <a:srgbClr val="111827"/>
                    </a:solidFill>
                    <a:latin typeface="Cambria Math" panose="02040503050406030204" pitchFamily="18" charset="0"/>
                  </a:rPr>
                  <a:t>$C$</a:t>
                </a:r>
                <a:r>
                  <a:rPr sz="2200" b="0">
                    <a:solidFill>
                      <a:srgbClr val="111827"/>
                    </a:solidFill>
                    <a:latin typeface="Arial"/>
                  </a:rPr>
                  <a:t> as diameter passing through the point </a:t>
                </a:r>
                <a:r>
                  <a:rPr lang="en-IN" sz="2200">
                    <a:solidFill>
                      <a:srgbClr val="111827"/>
                    </a:solidFill>
                    <a:latin typeface="Cambria Math" panose="02040503050406030204" pitchFamily="18" charset="0"/>
                  </a:rPr>
                  <a:t>$(1,0)$</a:t>
                </a:r>
                <a:r>
                  <a:rPr sz="2200" b="0">
                    <a:solidFill>
                      <a:srgbClr val="111827"/>
                    </a:solidFill>
                    <a:latin typeface="Arial"/>
                  </a:rPr>
                  <a:t> and with gradient unity. Suppose </a:t>
                </a:r>
                <a:r>
                  <a:rPr lang="en-IN" sz="2200">
                    <a:solidFill>
                      <a:srgbClr val="111827"/>
                    </a:solidFill>
                    <a:latin typeface="Cambria Math" panose="02040503050406030204" pitchFamily="18" charset="0"/>
                  </a:rPr>
                  <a:t>$(a,b)$</a:t>
                </a:r>
                <a:r>
                  <a:rPr sz="2200" b="0">
                    <a:solidFill>
                      <a:srgbClr val="111827"/>
                    </a:solidFill>
                    <a:latin typeface="Arial"/>
                  </a:rPr>
                  <a:t> are the coordinates of the centre of this circle. If </a:t>
                </a:r>
                <a:r>
                  <a:rPr lang="en-IN" sz="2200">
                    <a:solidFill>
                      <a:srgbClr val="111827"/>
                    </a:solidFill>
                    <a:latin typeface="Cambria Math" panose="02040503050406030204" pitchFamily="18" charset="0"/>
                  </a:rPr>
                  <a:t>$L_1$</a:t>
                </a:r>
                <a:r>
                  <a:rPr sz="2200" b="0">
                    <a:solidFill>
                      <a:srgbClr val="111827"/>
                    </a:solidFill>
                    <a:latin typeface="Arial"/>
                  </a:rPr>
                  <a:t> and </a:t>
                </a:r>
                <a:r>
                  <a:rPr lang="en-IN" sz="2200">
                    <a:solidFill>
                      <a:srgbClr val="111827"/>
                    </a:solidFill>
                    <a:latin typeface="Cambria Math" panose="02040503050406030204" pitchFamily="18" charset="0"/>
                  </a:rPr>
                  <a:t>$L_2$</a:t>
                </a:r>
                <a:r>
                  <a:rPr sz="2200" b="0">
                    <a:solidFill>
                      <a:srgbClr val="111827"/>
                    </a:solidFill>
                    <a:latin typeface="Arial"/>
                  </a:rPr>
                  <a:t> are the two asymptotes of the hyperbola with length of its transverse axis </a:t>
                </a:r>
                <a:r>
                  <a:rPr lang="en-IN" sz="2200">
                    <a:solidFill>
                      <a:srgbClr val="111827"/>
                    </a:solidFill>
                    <a:latin typeface="Cambria Math" panose="02040503050406030204" pitchFamily="18" charset="0"/>
                  </a:rPr>
                  <a:t>$2a$</a:t>
                </a:r>
                <a:r>
                  <a:rPr sz="2200" b="0">
                    <a:solidFill>
                      <a:srgbClr val="111827"/>
                    </a:solidFill>
                    <a:latin typeface="Arial"/>
                  </a:rPr>
                  <a:t> and </a:t>
                </a:r>
                <a:r>
                  <a:rPr lang="en-IN" sz="2200">
                    <a:solidFill>
                      <a:srgbClr val="111827"/>
                    </a:solidFill>
                    <a:latin typeface="Cambria Math" panose="02040503050406030204" pitchFamily="18" charset="0"/>
                  </a:rPr>
                  <a:t>$2b$</a:t>
                </a:r>
                <a:r>
                  <a:rPr sz="2200" b="0">
                    <a:solidFill>
                      <a:srgbClr val="111827"/>
                    </a:solidFill>
                    <a:latin typeface="Arial"/>
                  </a:rPr>
                  <a:t> (principal axes of the hyperbola along the coordinate axes), then answer the following questions.</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The angle </a:t>
                </a:r>
                <a:r>
                  <a:rPr lang="en-IN" sz="2200">
                    <a:solidFill>
                      <a:srgbClr val="111827"/>
                    </a:solidFill>
                    <a:latin typeface="Cambria Math" panose="02040503050406030204" pitchFamily="18" charset="0"/>
                  </a:rPr>
                  <a:t>$\alpha\in\left(0,\frac\pi2\right)$</a:t>
                </a:r>
                <a:r>
                  <a:rPr sz="2200" b="0">
                    <a:solidFill>
                      <a:srgbClr val="111827"/>
                    </a:solidFill>
                    <a:latin typeface="Arial"/>
                  </a:rPr>
                  <a:t> between the two asymptotes of the hyperbola lies in the interval:</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a:t>
                </a:r>
                <a:r>
                  <a:rPr lang="en-IN" sz="2200">
                    <a:solidFill>
                      <a:srgbClr val="111827"/>
                    </a:solidFill>
                    <a:latin typeface="Cambria Math" panose="02040503050406030204" pitchFamily="18" charset="0"/>
                  </a:rPr>
                  <a:t>$(0,15^\circ)$</a:t>
                </a:r>
                <a:r>
                  <a:rPr sz="2200" b="0">
                    <a:solidFill>
                      <a:srgbClr val="111827"/>
                    </a:solidFill>
                    <a:latin typeface="Arial"/>
                  </a:rPr>
                  <a:t>   (B) </a:t>
                </a:r>
                <a:r>
                  <a:rPr lang="en-IN" sz="2200">
                    <a:solidFill>
                      <a:srgbClr val="111827"/>
                    </a:solidFill>
                    <a:latin typeface="Cambria Math" panose="02040503050406030204" pitchFamily="18" charset="0"/>
                  </a:rPr>
                  <a:t>$(30^\circ,45^\circ)$</a:t>
                </a:r>
                <a:r>
                  <a:rPr sz="2200" b="0">
                    <a:solidFill>
                      <a:srgbClr val="111827"/>
                    </a:solidFill>
                    <a:latin typeface="Arial"/>
                  </a:rPr>
                  <a:t>   (C) </a:t>
                </a:r>
                <a:r>
                  <a:rPr lang="en-IN" sz="2200">
                    <a:solidFill>
                      <a:srgbClr val="111827"/>
                    </a:solidFill>
                    <a:latin typeface="Cambria Math" panose="02040503050406030204" pitchFamily="18" charset="0"/>
                  </a:rPr>
                  <a:t>$(45^\circ,60^\circ)$</a:t>
                </a:r>
                <a:r>
                  <a:rPr sz="2200" b="0">
                    <a:solidFill>
                      <a:srgbClr val="111827"/>
                    </a:solidFill>
                    <a:latin typeface="Arial"/>
                  </a:rPr>
                  <a:t>   (D) </a:t>
                </a:r>
                <a:r>
                  <a:rPr lang="en-IN" sz="2200">
                    <a:solidFill>
                      <a:srgbClr val="111827"/>
                    </a:solidFill>
                    <a:latin typeface="Cambria Math" panose="02040503050406030204" pitchFamily="18" charset="0"/>
                  </a:rPr>
                  <a:t>$(60^\circ,75^\circ)$</a:t>
                </a:r>
                <a:endParaRPr sz="2200">
                  <a:solidFill>
                    <a:srgbClr val="111827"/>
                  </a:solidFill>
                </a:endParaRPr>
              </a:p>
            </p:txBody>
          </p:sp>
        </mc:Fallback>
      </mc:AlternateContent>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Asymptotes of a hyperbola (angle between them), Inverse tangent bounds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hyperbola is </a:t>
                </a:r>
                <a14:m>
                  <m:oMath xmlns:m="http://schemas.openxmlformats.org/officeDocument/2006/math">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num>
                      <m:den>
                        <m:r>
                          <a:rPr lang="en-IN" sz="2400" i="1">
                            <a:solidFill>
                              <a:srgbClr val="78350F"/>
                            </a:solidFill>
                            <a:latin typeface="Cambria Math" panose="02040503050406030204" pitchFamily="18" charset="0"/>
                          </a:rPr>
                          <m:t>9</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num>
                      <m:den>
                        <m:r>
                          <a:rPr lang="en-IN" sz="2400" i="1">
                            <a:solidFill>
                              <a:srgbClr val="78350F"/>
                            </a:solidFill>
                            <a:latin typeface="Cambria Math" panose="02040503050406030204" pitchFamily="18" charset="0"/>
                          </a:rPr>
                          <m:t>4</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each asymptote has </a:t>
                </a:r>
                <a14:m>
                  <m:oMath xmlns:m="http://schemas.openxmlformats.org/officeDocument/2006/math">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2</m:t>
                        </m:r>
                      </m:num>
                      <m:den>
                        <m:r>
                          <a:rPr lang="en-IN" sz="2400" i="1">
                            <a:solidFill>
                              <a:srgbClr val="78350F"/>
                            </a:solidFill>
                            <a:latin typeface="Cambria Math" panose="02040503050406030204" pitchFamily="18" charset="0"/>
                          </a:rPr>
                          <m:t>3</m:t>
                        </m:r>
                      </m:den>
                    </m:f>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θ</m:t>
                    </m:r>
                  </m:oMath>
                </a14:m>
                <a:r>
                  <a:rPr sz="2400" b="0">
                    <a:solidFill>
                      <a:srgbClr val="78350F"/>
                    </a:solidFill>
                    <a:latin typeface="Arial"/>
                  </a:rPr>
                  <a:t>, so </a:t>
                </a:r>
                <a14:m>
                  <m:oMath xmlns:m="http://schemas.openxmlformats.org/officeDocument/2006/math">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12</m:t>
                        </m:r>
                      </m:num>
                      <m:den>
                        <m:r>
                          <a:rPr lang="en-IN" sz="2400" i="1">
                            <a:solidFill>
                              <a:srgbClr val="78350F"/>
                            </a:solidFill>
                            <a:latin typeface="Cambria Math" panose="02040503050406030204" pitchFamily="18" charset="0"/>
                          </a:rPr>
                          <m:t>5</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hyperbola is </a:t>
                </a:r>
                <a:r>
                  <a:rPr lang="en-IN" sz="2400">
                    <a:solidFill>
                      <a:srgbClr val="78350F"/>
                    </a:solidFill>
                    <a:latin typeface="Cambria Math" panose="02040503050406030204" pitchFamily="18" charset="0"/>
                  </a:rPr>
                  <a:t>$\frac{x^2}{9}-\frac{y^2}{4}=1$</a:t>
                </a:r>
                <a:r>
                  <a:rPr sz="2400" b="0">
                    <a:solidFill>
                      <a:srgbClr val="78350F"/>
                    </a:solidFill>
                    <a:latin typeface="Arial"/>
                  </a:rPr>
                  <a:t>; each asymptote has </a:t>
                </a:r>
                <a:r>
                  <a:rPr lang="en-IN" sz="2400">
                    <a:solidFill>
                      <a:srgbClr val="78350F"/>
                    </a:solidFill>
                    <a:latin typeface="Cambria Math" panose="02040503050406030204" pitchFamily="18" charset="0"/>
                  </a:rPr>
                  <a:t>$\tan\theta=\frac23$</a:t>
                </a:r>
                <a:r>
                  <a:rPr sz="2400" b="0">
                    <a:solidFill>
                      <a:srgbClr val="78350F"/>
                    </a:solidFill>
                    <a:latin typeface="Arial"/>
                  </a:rPr>
                  <a:t> and </a:t>
                </a:r>
                <a:r>
                  <a:rPr lang="en-IN" sz="2400">
                    <a:solidFill>
                      <a:srgbClr val="78350F"/>
                    </a:solidFill>
                    <a:latin typeface="Cambria Math" panose="02040503050406030204" pitchFamily="18" charset="0"/>
                  </a:rPr>
                  <a:t>$\alpha=2\theta$</a:t>
                </a:r>
                <a:r>
                  <a:rPr sz="2400" b="0">
                    <a:solidFill>
                      <a:srgbClr val="78350F"/>
                    </a:solidFill>
                    <a:latin typeface="Arial"/>
                  </a:rPr>
                  <a:t>, so </a:t>
                </a:r>
                <a:r>
                  <a:rPr lang="en-IN" sz="2400">
                    <a:solidFill>
                      <a:srgbClr val="78350F"/>
                    </a:solidFill>
                    <a:latin typeface="Cambria Math" panose="02040503050406030204" pitchFamily="18" charset="0"/>
                  </a:rPr>
                  <a:t>$\tan\alpha=\frac{12}{5}$</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the previous part the centre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hyperbola has transverse axis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and conjugate axis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the previous part the centre is </a:t>
                </a:r>
                <a:r>
                  <a:rPr lang="en-IN" sz="2400">
                    <a:solidFill>
                      <a:srgbClr val="111827"/>
                    </a:solidFill>
                    <a:latin typeface="Cambria Math" panose="02040503050406030204" pitchFamily="18" charset="0"/>
                  </a:rPr>
                  <a:t>$(a,b)=(3,2)$</a:t>
                </a:r>
                <a:r>
                  <a:rPr sz="2400" b="0">
                    <a:solidFill>
                      <a:srgbClr val="111827"/>
                    </a:solidFill>
                    <a:latin typeface="Arial"/>
                  </a:rPr>
                  <a:t>. The hyperbola has transverse axis </a:t>
                </a:r>
                <a:r>
                  <a:rPr lang="en-IN" sz="2400">
                    <a:solidFill>
                      <a:srgbClr val="111827"/>
                    </a:solidFill>
                    <a:latin typeface="Cambria Math" panose="02040503050406030204" pitchFamily="18" charset="0"/>
                  </a:rPr>
                  <a:t>$2a=6$</a:t>
                </a:r>
                <a:r>
                  <a:rPr sz="2400" b="0">
                    <a:solidFill>
                      <a:srgbClr val="111827"/>
                    </a:solidFill>
                    <a:latin typeface="Arial"/>
                  </a:rPr>
                  <a:t> and conjugate axis </a:t>
                </a:r>
                <a:r>
                  <a:rPr lang="en-IN" sz="2400">
                    <a:solidFill>
                      <a:srgbClr val="111827"/>
                    </a:solidFill>
                    <a:latin typeface="Cambria Math" panose="02040503050406030204" pitchFamily="18" charset="0"/>
                  </a:rPr>
                  <a:t>$2b=4$</a:t>
                </a:r>
                <a:r>
                  <a:rPr sz="2400" b="0">
                    <a:solidFill>
                      <a:srgbClr val="111827"/>
                    </a:solidFill>
                    <a:latin typeface="Arial"/>
                  </a:rPr>
                  <a:t>: </a:t>
                </a:r>
                <a:r>
                  <a:rPr lang="en-IN" sz="2400">
                    <a:solidFill>
                      <a:srgbClr val="111827"/>
                    </a:solidFill>
                    <a:latin typeface="Cambria Math" panose="02040503050406030204" pitchFamily="18" charset="0"/>
                  </a:rPr>
                  <a:t>$\frac{x^2}{9}-\frac{y^2}{4}=1$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Its asymptotes are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a:rPr lang="en-IN" sz="2400" i="1">
                        <a:solidFill>
                          <a:srgbClr val="111827"/>
                        </a:solidFill>
                        <a:latin typeface="Cambria Math" panose="02040503050406030204" pitchFamily="18" charset="0"/>
                      </a:rPr>
                      <m:t>𝑥</m:t>
                    </m:r>
                  </m:oMath>
                </a14:m>
                <a:r>
                  <a:rPr sz="2400" b="0">
                    <a:solidFill>
                      <a:srgbClr val="111827"/>
                    </a:solidFill>
                    <a:latin typeface="Arial"/>
                  </a:rPr>
                  <a:t>. Let each make an angle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with the transverse axis: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(acute) angle between the asymptotes is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num>
                      <m:den>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9</m:t>
                            </m:r>
                          </m:den>
                        </m:f>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1.73</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75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3.73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Answer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Its asymptotes are </a:t>
                </a:r>
                <a:r>
                  <a:rPr lang="en-IN" sz="2400">
                    <a:solidFill>
                      <a:srgbClr val="111827"/>
                    </a:solidFill>
                    <a:latin typeface="Cambria Math" panose="02040503050406030204" pitchFamily="18" charset="0"/>
                  </a:rPr>
                  <a:t>$y=\pm\frac23x$</a:t>
                </a:r>
                <a:r>
                  <a:rPr sz="2400" b="0">
                    <a:solidFill>
                      <a:srgbClr val="111827"/>
                    </a:solidFill>
                    <a:latin typeface="Arial"/>
                  </a:rPr>
                  <a:t>. Let each make an angle </a:t>
                </a:r>
                <a:r>
                  <a:rPr lang="en-IN" sz="2400">
                    <a:solidFill>
                      <a:srgbClr val="111827"/>
                    </a:solidFill>
                    <a:latin typeface="Cambria Math" panose="02040503050406030204" pitchFamily="18" charset="0"/>
                  </a:rPr>
                  <a:t>$\theta$</a:t>
                </a:r>
                <a:r>
                  <a:rPr sz="2400" b="0">
                    <a:solidFill>
                      <a:srgbClr val="111827"/>
                    </a:solidFill>
                    <a:latin typeface="Arial"/>
                  </a:rPr>
                  <a:t> with the transverse axis: </a:t>
                </a:r>
                <a:r>
                  <a:rPr lang="en-IN" sz="2400">
                    <a:solidFill>
                      <a:srgbClr val="111827"/>
                    </a:solidFill>
                    <a:latin typeface="Cambria Math" panose="02040503050406030204" pitchFamily="18" charset="0"/>
                  </a:rPr>
                  <a:t>$\tan\theta=\frac23$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(acute) angle between the asymptotes is </a:t>
                </a:r>
                <a:r>
                  <a:rPr lang="en-IN" sz="2400">
                    <a:solidFill>
                      <a:srgbClr val="111827"/>
                    </a:solidFill>
                    <a:latin typeface="Cambria Math" panose="02040503050406030204" pitchFamily="18" charset="0"/>
                  </a:rPr>
                  <a:t>$\alpha=2\theta$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$\tan\alpha=\frac{2\tan\theta}{1-\tan^2\theta}=\frac{\frac43}{\frac59}=\frac{12}{5}$</a:t>
                </a:r>
                <a:r>
                  <a:rPr sz="2400" b="0">
                    <a:solidFill>
                      <a:srgbClr val="111827"/>
                    </a:solidFill>
                    <a:latin typeface="Arial"/>
                  </a:rPr>
                  <a:t>, so </a:t>
                </a:r>
                <a:r>
                  <a:rPr lang="en-IN" sz="2400">
                    <a:solidFill>
                      <a:srgbClr val="111827"/>
                    </a:solidFill>
                    <a:latin typeface="Cambria Math" panose="02040503050406030204" pitchFamily="18" charset="0"/>
                  </a:rPr>
                  <a:t>$\alpha=\tan^{-1}\frac{12}{5}$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$\tan60^\circ=\sqrt3\approx1.73&lt;\frac{12}{5}=2.4&lt;\tan75^\circ=2+\sqrt3\approx3.73$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$\alpha\in(60^\circ,75^\circ)$</a:t>
                </a:r>
                <a:r>
                  <a:rPr sz="2400" b="0">
                    <a:solidFill>
                      <a:srgbClr val="111827"/>
                    </a:solidFill>
                    <a:latin typeface="Arial"/>
                  </a:rPr>
                  <a:t>. Answer (D).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14:m>
                  <m:oMath xmlns:m="http://schemas.openxmlformats.org/officeDocument/2006/math">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60</m:t>
                        </m:r>
                      </m:e>
                      <m:sup>
                        <m:r>
                          <m:rPr>
                            <m:sty m:val="p"/>
                          </m:rPr>
                          <a:rPr lang="en-IN" sz="2800">
                            <a:solidFill>
                              <a:srgbClr val="15803D"/>
                            </a:solidFill>
                            <a:latin typeface="Cambria Math" panose="02040503050406030204" pitchFamily="18" charset="0"/>
                          </a:rPr>
                          <m:t>∘</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75</m:t>
                        </m:r>
                      </m:e>
                      <m:sup>
                        <m:r>
                          <m:rPr>
                            <m:sty m:val="p"/>
                          </m:rPr>
                          <a:rPr lang="en-IN" sz="2800">
                            <a:solidFill>
                              <a:srgbClr val="15803D"/>
                            </a:solidFill>
                            <a:latin typeface="Cambria Math" panose="02040503050406030204" pitchFamily="18" charset="0"/>
                          </a:rPr>
                          <m:t>∘</m:t>
                        </m:r>
                      </m:sup>
                    </m:sSup>
                    <m:r>
                      <m:rPr>
                        <m:sty m:val="p"/>
                      </m:rPr>
                      <a:rPr lang="en-IN" sz="2800">
                        <a:solidFill>
                          <a:srgbClr val="15803D"/>
                        </a:solidFill>
                        <a:latin typeface="Cambria Math" panose="02040503050406030204" pitchFamily="18" charset="0"/>
                      </a:rPr>
                      <m:t>)</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r>
                  <a:rPr lang="en-IN" sz="2800">
                    <a:solidFill>
                      <a:srgbClr val="15803D"/>
                    </a:solidFill>
                    <a:latin typeface="Cambria Math" panose="02040503050406030204" pitchFamily="18" charset="0"/>
                  </a:rPr>
                  <a:t>$(60^\circ,75^\circ)$</a:t>
                </a:r>
                <a:endParaRPr sz="2800">
                  <a:solidFill>
                    <a:srgbClr val="15803D"/>
                  </a:solidFill>
                </a:endParaRPr>
              </a:p>
            </p:txBody>
          </p:sp>
        </mc:Fallback>
      </mc:AlternateContent>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t>
                </a:r>
                <a14:m>
                  <m:oMath xmlns:m="http://schemas.openxmlformats.org/officeDocument/2006/math">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num>
                      <m:den>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5</m:t>
                        </m:r>
                      </m:num>
                      <m:den>
                        <m:r>
                          <a:rPr lang="en-IN" sz="2400" i="1">
                            <a:solidFill>
                              <a:srgbClr val="78350F"/>
                            </a:solidFill>
                            <a:latin typeface="Cambria Math" panose="02040503050406030204" pitchFamily="18" charset="0"/>
                          </a:rPr>
                          <m:t>13</m:t>
                        </m:r>
                      </m:den>
                    </m:f>
                  </m:oMath>
                </a14:m>
                <a:r>
                  <a:rPr sz="2400" b="0">
                    <a:solidFill>
                      <a:srgbClr val="78350F"/>
                    </a:solidFill>
                    <a:latin typeface="Arial"/>
                  </a:rPr>
                  <a:t> and compare with </a:t>
                </a:r>
                <a14:m>
                  <m:oMath xmlns:m="http://schemas.openxmlformats.org/officeDocument/2006/math">
                    <m:r>
                      <m:rPr>
                        <m:sty m:val="p"/>
                      </m:rPr>
                      <a:rPr lang="en-IN" sz="2400">
                        <a:solidFill>
                          <a:srgbClr val="78350F"/>
                        </a:solidFill>
                        <a:latin typeface="Cambria Math" panose="02040503050406030204" pitchFamily="18" charset="0"/>
                      </a:rPr>
                      <m:t>cos</m:t>
                    </m:r>
                    <m:sSup>
                      <m:e>
                        <m:r>
                          <a:rPr lang="en-IN" sz="2400" i="1">
                            <a:solidFill>
                              <a:srgbClr val="78350F"/>
                            </a:solidFill>
                            <a:latin typeface="Cambria Math" panose="02040503050406030204" pitchFamily="18" charset="0"/>
                          </a:rPr>
                          <m:t>75</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cos</m:t>
                    </m:r>
                    <m:sSup>
                      <m:e>
                        <m:r>
                          <a:rPr lang="en-IN" sz="2400" i="1">
                            <a:solidFill>
                              <a:srgbClr val="78350F"/>
                            </a:solidFill>
                            <a:latin typeface="Cambria Math" panose="02040503050406030204" pitchFamily="18" charset="0"/>
                          </a:rPr>
                          <m:t>60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t>
                </a:r>
                <a:r>
                  <a:rPr lang="en-IN" sz="2400">
                    <a:solidFill>
                      <a:srgbClr val="78350F"/>
                    </a:solidFill>
                    <a:latin typeface="Cambria Math" panose="02040503050406030204" pitchFamily="18" charset="0"/>
                  </a:rPr>
                  <a:t>$\cos\alpha=\frac{a^2-b^2}{a^2+b^2}=\frac{5}{13}$</a:t>
                </a:r>
                <a:r>
                  <a:rPr sz="2400" b="0">
                    <a:solidFill>
                      <a:srgbClr val="78350F"/>
                    </a:solidFill>
                    <a:latin typeface="Arial"/>
                  </a:rPr>
                  <a:t> and compare with </a:t>
                </a:r>
                <a:r>
                  <a:rPr lang="en-IN" sz="2400">
                    <a:solidFill>
                      <a:srgbClr val="78350F"/>
                    </a:solidFill>
                    <a:latin typeface="Cambria Math" panose="02040503050406030204" pitchFamily="18" charset="0"/>
                  </a:rPr>
                  <a:t>$\cos75^\circ$</a:t>
                </a:r>
                <a:r>
                  <a:rPr sz="2400" b="0">
                    <a:solidFill>
                      <a:srgbClr val="78350F"/>
                    </a:solidFill>
                    <a:latin typeface="Arial"/>
                  </a:rPr>
                  <a:t> and </a:t>
                </a:r>
                <a:r>
                  <a:rPr lang="en-IN" sz="2400">
                    <a:solidFill>
                      <a:srgbClr val="78350F"/>
                    </a:solidFill>
                    <a:latin typeface="Cambria Math" panose="02040503050406030204" pitchFamily="18" charset="0"/>
                  </a:rPr>
                  <a:t>$\cos60^\circ$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angle between the asymptotes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a:rPr lang="en-IN" sz="2400" i="1">
                        <a:solidFill>
                          <a:srgbClr val="111827"/>
                        </a:solidFill>
                        <a:latin typeface="Cambria Math" panose="02040503050406030204" pitchFamily="18" charset="0"/>
                      </a:rPr>
                      <m:t>𝑋</m:t>
                    </m:r>
                  </m:oMath>
                </a14:m>
                <a:r>
                  <a:rPr sz="2400" b="0">
                    <a:solidFill>
                      <a:srgbClr val="111827"/>
                    </a:solidFill>
                    <a:latin typeface="Arial"/>
                  </a:rPr>
                  <a:t> satisfies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13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0.385</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angle between the asymptotes </a:t>
                </a:r>
                <a:r>
                  <a:rPr lang="en-IN" sz="2400">
                    <a:solidFill>
                      <a:srgbClr val="111827"/>
                    </a:solidFill>
                    <a:latin typeface="Cambria Math" panose="02040503050406030204" pitchFamily="18" charset="0"/>
                  </a:rPr>
                  <a:t>$y=\pm\frac baX$</a:t>
                </a:r>
                <a:r>
                  <a:rPr sz="2400" b="0">
                    <a:solidFill>
                      <a:srgbClr val="111827"/>
                    </a:solidFill>
                    <a:latin typeface="Arial"/>
                  </a:rPr>
                  <a:t> satisfies </a:t>
                </a:r>
                <a:r>
                  <a:rPr lang="en-IN" sz="2400">
                    <a:solidFill>
                      <a:srgbClr val="111827"/>
                    </a:solidFill>
                    <a:latin typeface="Cambria Math" panose="02040503050406030204" pitchFamily="18" charset="0"/>
                  </a:rPr>
                  <a:t>$\cos\alpha=\frac{1-\tan^2\theta}{1+\tan^2\theta}=\frac{a^2-b^2}{a^2+b^2}$</a:t>
                </a:r>
                <a:r>
                  <a:rPr sz="2400" b="0">
                    <a:solidFill>
                      <a:srgbClr val="111827"/>
                    </a:solidFill>
                    <a:latin typeface="Arial"/>
                  </a:rPr>
                  <a:t> with </a:t>
                </a:r>
                <a:r>
                  <a:rPr lang="en-IN" sz="2400">
                    <a:solidFill>
                      <a:srgbClr val="111827"/>
                    </a:solidFill>
                    <a:latin typeface="Cambria Math" panose="02040503050406030204" pitchFamily="18" charset="0"/>
                  </a:rPr>
                  <a:t>$a=3,b=2$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$\cos\alpha=\frac{9-4}{9+4}=\frac{5}{13}\approx0.385$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75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0.259</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0.385</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0.5</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cos</m:t>
                    </m:r>
                  </m:oMath>
                </a14:m>
                <a:r>
                  <a:rPr sz="2400" b="0">
                    <a:solidFill>
                      <a:srgbClr val="111827"/>
                    </a:solidFill>
                    <a:latin typeface="Arial"/>
                  </a:rPr>
                  <a:t> decreases 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&lt;</m:t>
                    </m:r>
                    <m:sSup>
                      <m:e>
                        <m:r>
                          <a:rPr lang="en-IN" sz="2400" i="1">
                            <a:solidFill>
                              <a:srgbClr val="111827"/>
                            </a:solidFill>
                            <a:latin typeface="Cambria Math" panose="02040503050406030204" pitchFamily="18" charset="0"/>
                          </a:rPr>
                          <m:t>75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Answer (D).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$\cos75^\circ=\frac{\sqrt6-\sqrt2}{4}\approx0.259&lt;0.385&lt;\cos60^\circ=0.5$</a:t>
                </a:r>
                <a:r>
                  <a:rPr sz="2400" b="0">
                    <a:solidFill>
                      <a:srgbClr val="111827"/>
                    </a:solidFill>
                    <a:latin typeface="Arial"/>
                  </a:rPr>
                  <a:t>, and </a:t>
                </a:r>
                <a:r>
                  <a:rPr lang="en-IN" sz="2400">
                    <a:solidFill>
                      <a:srgbClr val="111827"/>
                    </a:solidFill>
                    <a:latin typeface="Cambria Math" panose="02040503050406030204" pitchFamily="18" charset="0"/>
                  </a:rPr>
                  <a:t>$\cos$</a:t>
                </a:r>
                <a:r>
                  <a:rPr sz="2400" b="0">
                    <a:solidFill>
                      <a:srgbClr val="111827"/>
                    </a:solidFill>
                    <a:latin typeface="Arial"/>
                  </a:rPr>
                  <a:t> decreases on </a:t>
                </a:r>
                <a:r>
                  <a:rPr lang="en-IN" sz="2400">
                    <a:solidFill>
                      <a:srgbClr val="111827"/>
                    </a:solidFill>
                    <a:latin typeface="Cambria Math" panose="02040503050406030204" pitchFamily="18" charset="0"/>
                  </a:rPr>
                  <a:t>$(0,90^\circ)$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$60^\circ&lt;\alpha&lt;75^\circ$</a:t>
                </a:r>
                <a:r>
                  <a:rPr sz="2400" b="0">
                    <a:solidFill>
                      <a:srgbClr val="111827"/>
                    </a:solidFill>
                    <a:latin typeface="Arial"/>
                  </a:rPr>
                  <a:t>. Answer (D).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14:m>
                  <m:oMath xmlns:m="http://schemas.openxmlformats.org/officeDocument/2006/math">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60</m:t>
                        </m:r>
                      </m:e>
                      <m:sup>
                        <m:r>
                          <m:rPr>
                            <m:sty m:val="p"/>
                          </m:rPr>
                          <a:rPr lang="en-IN" sz="2800">
                            <a:solidFill>
                              <a:srgbClr val="15803D"/>
                            </a:solidFill>
                            <a:latin typeface="Cambria Math" panose="02040503050406030204" pitchFamily="18" charset="0"/>
                          </a:rPr>
                          <m:t>∘</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75</m:t>
                        </m:r>
                      </m:e>
                      <m:sup>
                        <m:r>
                          <m:rPr>
                            <m:sty m:val="p"/>
                          </m:rPr>
                          <a:rPr lang="en-IN" sz="2800">
                            <a:solidFill>
                              <a:srgbClr val="15803D"/>
                            </a:solidFill>
                            <a:latin typeface="Cambria Math" panose="02040503050406030204" pitchFamily="18" charset="0"/>
                          </a:rPr>
                          <m:t>∘</m:t>
                        </m:r>
                      </m:sup>
                    </m:sSup>
                    <m:r>
                      <m:rPr>
                        <m:sty m:val="p"/>
                      </m:rPr>
                      <a:rPr lang="en-IN" sz="2800">
                        <a:solidFill>
                          <a:srgbClr val="15803D"/>
                        </a:solidFill>
                        <a:latin typeface="Cambria Math" panose="02040503050406030204" pitchFamily="18" charset="0"/>
                      </a:rPr>
                      <m:t>)</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r>
                  <a:rPr lang="en-IN" sz="2800">
                    <a:solidFill>
                      <a:srgbClr val="15803D"/>
                    </a:solidFill>
                    <a:latin typeface="Cambria Math" panose="02040503050406030204" pitchFamily="18" charset="0"/>
                  </a:rPr>
                  <a:t>$(60^\circ,75^\circ)$</a:t>
                </a:r>
                <a:endParaRPr sz="2800">
                  <a:solidFill>
                    <a:srgbClr val="15803D"/>
                  </a:solidFill>
                </a:endParaRPr>
              </a:p>
            </p:txBody>
          </p:sp>
        </mc:Fallback>
      </mc:AlternateContent>
    </p:spTree>
  </p:cSld>
  <p:clrMapOvr>
    <a:masterClrMapping/>
  </p:clrMapOvr>
</p:sld>
</file>

<file path=ppt/slides/slide3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Asymptotes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a:rPr lang="en-IN" sz="2400" i="1">
                        <a:solidFill>
                          <a:srgbClr val="111827"/>
                        </a:solidFill>
                        <a:latin typeface="Cambria Math" panose="02040503050406030204" pitchFamily="18" charset="0"/>
                      </a:rPr>
                      <m:t>𝑥</m:t>
                    </m:r>
                  </m:oMath>
                </a14:m>
                <a:r>
                  <a:rPr sz="2400" b="0">
                    <a:solidFill>
                      <a:srgbClr val="111827"/>
                    </a:solidFill>
                    <a:latin typeface="Arial"/>
                  </a:rPr>
                  <a:t>; the angle between them is </a:t>
                </a:r>
                <a14:m>
                  <m:oMath xmlns:m="http://schemas.openxmlformats.org/officeDocument/2006/math">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(acute if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Bounds: </a:t>
                </a:r>
                <a14:m>
                  <m:oMath xmlns:m="http://schemas.openxmlformats.org/officeDocument/2006/math">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75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75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are perpendicular iff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(rectangular hyperbola), where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Asymptotes of </a:t>
                </a:r>
                <a:r>
                  <a:rPr lang="en-IN" sz="2400">
                    <a:solidFill>
                      <a:srgbClr val="111827"/>
                    </a:solidFill>
                    <a:latin typeface="Cambria Math" panose="02040503050406030204" pitchFamily="18" charset="0"/>
                  </a:rPr>
                  <a:t>$\frac{x^2}{a^2}-\frac{y^2}{b^2}=1$</a:t>
                </a:r>
                <a:r>
                  <a:rPr sz="2400" b="0">
                    <a:solidFill>
                      <a:srgbClr val="111827"/>
                    </a:solidFill>
                    <a:latin typeface="Arial"/>
                  </a:rPr>
                  <a:t>: </a:t>
                </a:r>
                <a:r>
                  <a:rPr lang="en-IN" sz="2400">
                    <a:solidFill>
                      <a:srgbClr val="111827"/>
                    </a:solidFill>
                    <a:latin typeface="Cambria Math" panose="02040503050406030204" pitchFamily="18" charset="0"/>
                  </a:rPr>
                  <a:t>$y=\pm\frac bax$</a:t>
                </a:r>
                <a:r>
                  <a:rPr sz="2400" b="0">
                    <a:solidFill>
                      <a:srgbClr val="111827"/>
                    </a:solidFill>
                    <a:latin typeface="Arial"/>
                  </a:rPr>
                  <a:t>; the angle between them is </a:t>
                </a:r>
                <a:r>
                  <a:rPr lang="en-IN" sz="2400">
                    <a:solidFill>
                      <a:srgbClr val="111827"/>
                    </a:solidFill>
                    <a:latin typeface="Cambria Math" panose="02040503050406030204" pitchFamily="18" charset="0"/>
                  </a:rPr>
                  <a:t>$2\tan^{-1}\frac ba$</a:t>
                </a:r>
                <a:r>
                  <a:rPr sz="2400" b="0">
                    <a:solidFill>
                      <a:srgbClr val="111827"/>
                    </a:solidFill>
                    <a:latin typeface="Arial"/>
                  </a:rPr>
                  <a:t> (acute if </a:t>
                </a:r>
                <a:r>
                  <a:rPr lang="en-IN" sz="2400">
                    <a:solidFill>
                      <a:srgbClr val="111827"/>
                    </a:solidFill>
                    <a:latin typeface="Cambria Math" panose="02040503050406030204" pitchFamily="18" charset="0"/>
                  </a:rPr>
                  <a:t>$b&lt;a$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$\tan\alpha=\frac{2ab}{a^2-b^2}$</a:t>
                </a:r>
                <a:r>
                  <a:rPr sz="2400" b="0">
                    <a:solidFill>
                      <a:srgbClr val="111827"/>
                    </a:solidFill>
                    <a:latin typeface="Arial"/>
                  </a:rPr>
                  <a:t> and </a:t>
                </a:r>
                <a:r>
                  <a:rPr lang="en-IN" sz="2400">
                    <a:solidFill>
                      <a:srgbClr val="111827"/>
                    </a:solidFill>
                    <a:latin typeface="Cambria Math" panose="02040503050406030204" pitchFamily="18" charset="0"/>
                  </a:rPr>
                  <a:t>$\cos\alpha=\frac{a^2-b^2}{a^2+b^2}$</a:t>
                </a:r>
                <a:r>
                  <a:rPr sz="2400" b="0">
                    <a:solidFill>
                      <a:srgbClr val="111827"/>
                    </a:solidFill>
                    <a:latin typeface="Arial"/>
                  </a:rPr>
                  <a:t> for </a:t>
                </a:r>
                <a:r>
                  <a:rPr lang="en-IN" sz="2400">
                    <a:solidFill>
                      <a:srgbClr val="111827"/>
                    </a:solidFill>
                    <a:latin typeface="Cambria Math" panose="02040503050406030204" pitchFamily="18" charset="0"/>
                  </a:rPr>
                  <a:t>$\alpha=2\tan^{-1}\frac ba$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Bounds: </a:t>
                </a:r>
                <a:r>
                  <a:rPr lang="en-IN" sz="2400">
                    <a:solidFill>
                      <a:srgbClr val="111827"/>
                    </a:solidFill>
                    <a:latin typeface="Cambria Math" panose="02040503050406030204" pitchFamily="18" charset="0"/>
                  </a:rPr>
                  <a:t>$\tan60^\circ=\sqrt3$</a:t>
                </a:r>
                <a:r>
                  <a:rPr sz="2400" b="0">
                    <a:solidFill>
                      <a:srgbClr val="111827"/>
                    </a:solidFill>
                    <a:latin typeface="Arial"/>
                  </a:rPr>
                  <a:t>, </a:t>
                </a:r>
                <a:r>
                  <a:rPr lang="en-IN" sz="2400">
                    <a:solidFill>
                      <a:srgbClr val="111827"/>
                    </a:solidFill>
                    <a:latin typeface="Cambria Math" panose="02040503050406030204" pitchFamily="18" charset="0"/>
                  </a:rPr>
                  <a:t>$\tan75^\circ=2+\sqrt3$</a:t>
                </a:r>
                <a:r>
                  <a:rPr sz="2400" b="0">
                    <a:solidFill>
                      <a:srgbClr val="111827"/>
                    </a:solidFill>
                    <a:latin typeface="Arial"/>
                  </a:rPr>
                  <a:t>; </a:t>
                </a:r>
                <a:r>
                  <a:rPr lang="en-IN" sz="2400">
                    <a:solidFill>
                      <a:srgbClr val="111827"/>
                    </a:solidFill>
                    <a:latin typeface="Cambria Math" panose="02040503050406030204" pitchFamily="18" charset="0"/>
                  </a:rPr>
                  <a:t>$\cos75^\circ=\frac{\sqrt6-\sqrt2}{4}$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asymptotes are perpendicular iff </a:t>
                </a:r>
                <a:r>
                  <a:rPr lang="en-IN" sz="2400">
                    <a:solidFill>
                      <a:srgbClr val="111827"/>
                    </a:solidFill>
                    <a:latin typeface="Cambria Math" panose="02040503050406030204" pitchFamily="18" charset="0"/>
                  </a:rPr>
                  <a:t>$a=b$</a:t>
                </a:r>
                <a:r>
                  <a:rPr sz="2400" b="0">
                    <a:solidFill>
                      <a:srgbClr val="111827"/>
                    </a:solidFill>
                    <a:latin typeface="Arial"/>
                  </a:rPr>
                  <a:t> (rectangular hyperbola), where </a:t>
                </a:r>
                <a:r>
                  <a:rPr lang="en-IN" sz="2400">
                    <a:solidFill>
                      <a:srgbClr val="111827"/>
                    </a:solidFill>
                    <a:latin typeface="Cambria Math" panose="02040503050406030204" pitchFamily="18" charset="0"/>
                  </a:rPr>
                  <a:t>$\cos\alpha=0$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55675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passes through the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is such that the segment of any of its tangents at any point contained between the co-ordinate axes is bisected at the point of tangency. Let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denote the circle described on the foci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of the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as diameter.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Vertex of the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(option not legible in the PDF)</a:t>
                </a:r>
                <a:endParaRPr sz="2400">
                  <a:solidFill>
                    <a:srgbClr val="111827"/>
                  </a:solidFill>
                </a:endParaRPr>
              </a:p>
            </p:txBody>
          </p:sp>
        </mc:Choice>
        <mc:Fallback>
          <p:sp>
            <p:nvSpPr>
              <p:cNvPr id="4" name="Rounded Rectangle 3"/>
              <p:cNvSpPr/>
              <p:nvPr/>
            </p:nvSpPr>
            <p:spPr>
              <a:xfrm>
                <a:off x="731520" y="1280160"/>
                <a:ext cx="10725912" cy="455675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conic </a:t>
                </a:r>
                <a:r>
                  <a:rPr lang="en-IN" sz="2400">
                    <a:solidFill>
                      <a:srgbClr val="111827"/>
                    </a:solidFill>
                    <a:latin typeface="Cambria Math" panose="02040503050406030204" pitchFamily="18" charset="0"/>
                  </a:rPr>
                  <a:t>$C$</a:t>
                </a:r>
                <a:r>
                  <a:rPr sz="2400" b="0">
                    <a:solidFill>
                      <a:srgbClr val="111827"/>
                    </a:solidFill>
                    <a:latin typeface="Arial"/>
                  </a:rPr>
                  <a:t> passes through the point </a:t>
                </a:r>
                <a:r>
                  <a:rPr lang="en-IN" sz="2400">
                    <a:solidFill>
                      <a:srgbClr val="111827"/>
                    </a:solidFill>
                    <a:latin typeface="Cambria Math" panose="02040503050406030204" pitchFamily="18" charset="0"/>
                  </a:rPr>
                  <a:t>$(2,4)$</a:t>
                </a:r>
                <a:r>
                  <a:rPr sz="2400" b="0">
                    <a:solidFill>
                      <a:srgbClr val="111827"/>
                    </a:solidFill>
                    <a:latin typeface="Arial"/>
                  </a:rPr>
                  <a:t> and is such that the segment of any of its tangents at any point contained between the co-ordinate axes is bisected at the point of tangency. Let </a:t>
                </a:r>
                <a:r>
                  <a:rPr lang="en-IN" sz="2400">
                    <a:solidFill>
                      <a:srgbClr val="111827"/>
                    </a:solidFill>
                    <a:latin typeface="Cambria Math" panose="02040503050406030204" pitchFamily="18" charset="0"/>
                  </a:rPr>
                  <a:t>$S$</a:t>
                </a:r>
                <a:r>
                  <a:rPr sz="2400" b="0">
                    <a:solidFill>
                      <a:srgbClr val="111827"/>
                    </a:solidFill>
                    <a:latin typeface="Arial"/>
                  </a:rPr>
                  <a:t> denote the circle described on the foci </a:t>
                </a:r>
                <a:r>
                  <a:rPr lang="en-IN" sz="2400">
                    <a:solidFill>
                      <a:srgbClr val="111827"/>
                    </a:solidFill>
                    <a:latin typeface="Cambria Math" panose="02040503050406030204" pitchFamily="18" charset="0"/>
                  </a:rPr>
                  <a:t>$F_1$</a:t>
                </a:r>
                <a:r>
                  <a:rPr sz="2400" b="0">
                    <a:solidFill>
                      <a:srgbClr val="111827"/>
                    </a:solidFill>
                    <a:latin typeface="Arial"/>
                  </a:rPr>
                  <a:t> and </a:t>
                </a:r>
                <a:r>
                  <a:rPr lang="en-IN" sz="2400">
                    <a:solidFill>
                      <a:srgbClr val="111827"/>
                    </a:solidFill>
                    <a:latin typeface="Cambria Math" panose="02040503050406030204" pitchFamily="18" charset="0"/>
                  </a:rPr>
                  <a:t>$F_2$</a:t>
                </a:r>
                <a:r>
                  <a:rPr sz="2400" b="0">
                    <a:solidFill>
                      <a:srgbClr val="111827"/>
                    </a:solidFill>
                    <a:latin typeface="Arial"/>
                  </a:rPr>
                  <a:t> of the conic </a:t>
                </a:r>
                <a:r>
                  <a:rPr lang="en-IN" sz="2400">
                    <a:solidFill>
                      <a:srgbClr val="111827"/>
                    </a:solidFill>
                    <a:latin typeface="Cambria Math" panose="02040503050406030204" pitchFamily="18" charset="0"/>
                  </a:rPr>
                  <a:t>$C$</a:t>
                </a:r>
                <a:r>
                  <a:rPr sz="2400" b="0">
                    <a:solidFill>
                      <a:srgbClr val="111827"/>
                    </a:solidFill>
                    <a:latin typeface="Arial"/>
                  </a:rPr>
                  <a:t> as diameter.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Vertex of the conic </a:t>
                </a:r>
                <a:r>
                  <a:rPr lang="en-IN" sz="2400">
                    <a:solidFill>
                      <a:srgbClr val="111827"/>
                    </a:solidFill>
                    <a:latin typeface="Cambria Math" panose="02040503050406030204" pitchFamily="18" charset="0"/>
                  </a:rPr>
                  <a:t>$C$</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$(2,2),\ (-2,-2)$</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$\left(2\sqrt2,2\sqrt2\right),\ \left(-2\sqrt2,-2\sqrt2\right)$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$(4,4),\ (-4,-4)$</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(option not legible in the PDF)</a:t>
                </a:r>
                <a:endParaRPr sz="2400">
                  <a:solidFill>
                    <a:srgbClr val="111827"/>
                  </a:solidFill>
                </a:endParaRPr>
              </a:p>
            </p:txBody>
          </p:sp>
        </mc:Fallback>
      </mc:AlternateContent>
    </p:spTree>
  </p:cSld>
  <p:clrMapOvr>
    <a:masterClrMapping/>
  </p:clrMapOvr>
</p:sld>
</file>

<file path=ppt/slides/slide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Differential equation from a bisected tangent intercept, Rectangular hyperbola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(vertices)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Choice>
        <mc:Fallback>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Differential equation from a bisected tangent intercept, Rectangular hyperbola </a:t>
                </a:r>
                <a:r>
                  <a:rPr lang="en-IN" sz="2400">
                    <a:solidFill>
                      <a:srgbClr val="111827"/>
                    </a:solidFill>
                    <a:latin typeface="Cambria Math" panose="02040503050406030204" pitchFamily="18" charset="0"/>
                  </a:rPr>
                  <a:t>$xy=c^2$</a:t>
                </a:r>
                <a:r>
                  <a:rPr sz="2400" b="0">
                    <a:solidFill>
                      <a:srgbClr val="111827"/>
                    </a:solidFill>
                    <a:latin typeface="Arial"/>
                  </a:rPr>
                  <a:t> (vertices)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3438144"/>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Bisection of the intercept at the point of contact gives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𝑑</m:t>
                        </m:r>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𝑑</m:t>
                        </m:r>
                        <m:r>
                          <a:rPr lang="en-IN" sz="2400" i="1">
                            <a:solidFill>
                              <a:srgbClr val="78350F"/>
                            </a:solidFill>
                            <a:latin typeface="Cambria Math" panose="02040503050406030204" pitchFamily="18" charset="0"/>
                          </a:rPr>
                          <m:t>𝑥</m:t>
                        </m:r>
                      </m:den>
                    </m:f>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𝑥</m:t>
                        </m:r>
                      </m:den>
                    </m:f>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𝑥</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oMath>
                </a14:m>
                <a:r>
                  <a:rPr sz="2400" b="0">
                    <a:solidFill>
                      <a:srgbClr val="78350F"/>
                    </a:solidFill>
                    <a:latin typeface="Arial"/>
                  </a:rPr>
                  <a:t>; through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𝑥</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Bisection of the intercept at the point of contact gives </a:t>
                </a:r>
                <a:r>
                  <a:rPr lang="en-IN" sz="2400">
                    <a:solidFill>
                      <a:srgbClr val="78350F"/>
                    </a:solidFill>
                    <a:latin typeface="Cambria Math" panose="02040503050406030204" pitchFamily="18" charset="0"/>
                  </a:rPr>
                  <a:t>$\frac{dy}{dx}=-\frac yx$</a:t>
                </a:r>
                <a:r>
                  <a:rPr sz="2400" b="0">
                    <a:solidFill>
                      <a:srgbClr val="78350F"/>
                    </a:solidFill>
                    <a:latin typeface="Arial"/>
                  </a:rPr>
                  <a:t>, so </a:t>
                </a:r>
                <a:r>
                  <a:rPr lang="en-IN" sz="2400">
                    <a:solidFill>
                      <a:srgbClr val="78350F"/>
                    </a:solidFill>
                    <a:latin typeface="Cambria Math" panose="02040503050406030204" pitchFamily="18" charset="0"/>
                  </a:rPr>
                  <a:t>$xy=c$</a:t>
                </a:r>
                <a:r>
                  <a:rPr sz="2400" b="0">
                    <a:solidFill>
                      <a:srgbClr val="78350F"/>
                    </a:solidFill>
                    <a:latin typeface="Arial"/>
                  </a:rPr>
                  <a:t>; through </a:t>
                </a:r>
                <a:r>
                  <a:rPr lang="en-IN" sz="2400">
                    <a:solidFill>
                      <a:srgbClr val="78350F"/>
                    </a:solidFill>
                    <a:latin typeface="Cambria Math" panose="02040503050406030204" pitchFamily="18" charset="0"/>
                  </a:rPr>
                  <a:t>$(2,4)$</a:t>
                </a:r>
                <a:r>
                  <a:rPr sz="2400" b="0">
                    <a:solidFill>
                      <a:srgbClr val="78350F"/>
                    </a:solidFill>
                    <a:latin typeface="Arial"/>
                  </a:rPr>
                  <a:t>: </a:t>
                </a:r>
                <a:r>
                  <a:rPr lang="en-IN" sz="2400">
                    <a:solidFill>
                      <a:srgbClr val="78350F"/>
                    </a:solidFill>
                    <a:latin typeface="Cambria Math" panose="02040503050406030204" pitchFamily="18" charset="0"/>
                  </a:rPr>
                  <a:t>$xy=8$</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tangent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a:t>
                </a:r>
                <a14:m>
                  <m:oMath xmlns:m="http://schemas.openxmlformats.org/officeDocument/2006/math">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Putting </a:t>
                </a:r>
                <a14:m>
                  <m:oMath xmlns:m="http://schemas.openxmlformats.org/officeDocument/2006/math">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Putting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tangent at </a:t>
                </a:r>
                <a:r>
                  <a:rPr lang="en-IN" sz="2400">
                    <a:solidFill>
                      <a:srgbClr val="111827"/>
                    </a:solidFill>
                    <a:latin typeface="Cambria Math" panose="02040503050406030204" pitchFamily="18" charset="0"/>
                  </a:rPr>
                  <a:t>$P(x,y)$</a:t>
                </a:r>
                <a:r>
                  <a:rPr sz="2400" b="0">
                    <a:solidFill>
                      <a:srgbClr val="111827"/>
                    </a:solidFill>
                    <a:latin typeface="Arial"/>
                  </a:rPr>
                  <a:t> be </a:t>
                </a:r>
                <a:r>
                  <a:rPr lang="en-IN" sz="2400">
                    <a:solidFill>
                      <a:srgbClr val="111827"/>
                    </a:solidFill>
                    <a:latin typeface="Cambria Math" panose="02040503050406030204" pitchFamily="18" charset="0"/>
                  </a:rPr>
                  <a:t>$Y-y=m(X-x)$</a:t>
                </a:r>
                <a:r>
                  <a:rPr sz="2400" b="0">
                    <a:solidFill>
                      <a:srgbClr val="111827"/>
                    </a:solidFill>
                    <a:latin typeface="Arial"/>
                  </a:rPr>
                  <a:t> with </a:t>
                </a:r>
                <a:r>
                  <a:rPr lang="en-IN" sz="2400">
                    <a:solidFill>
                      <a:srgbClr val="111827"/>
                    </a:solidFill>
                    <a:latin typeface="Cambria Math" panose="02040503050406030204" pitchFamily="18" charset="0"/>
                  </a:rPr>
                  <a:t>$m=\frac{dy}{dx}$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Putting </a:t>
                </a:r>
                <a:r>
                  <a:rPr lang="en-IN" sz="2400">
                    <a:solidFill>
                      <a:srgbClr val="111827"/>
                    </a:solidFill>
                    <a:latin typeface="Cambria Math" panose="02040503050406030204" pitchFamily="18" charset="0"/>
                  </a:rPr>
                  <a:t>$Y=0$</a:t>
                </a:r>
                <a:r>
                  <a:rPr sz="2400" b="0">
                    <a:solidFill>
                      <a:srgbClr val="111827"/>
                    </a:solidFill>
                    <a:latin typeface="Arial"/>
                  </a:rPr>
                  <a:t>: </a:t>
                </a:r>
                <a:r>
                  <a:rPr lang="en-IN" sz="2400">
                    <a:solidFill>
                      <a:srgbClr val="111827"/>
                    </a:solidFill>
                    <a:latin typeface="Cambria Math" panose="02040503050406030204" pitchFamily="18" charset="0"/>
                  </a:rPr>
                  <a:t>$X=x-\frac{y}{m}$</a:t>
                </a:r>
                <a:r>
                  <a:rPr sz="2400" b="0">
                    <a:solidFill>
                      <a:srgbClr val="111827"/>
                    </a:solidFill>
                    <a:latin typeface="Arial"/>
                  </a:rPr>
                  <a:t>. Putting </a:t>
                </a:r>
                <a:r>
                  <a:rPr lang="en-IN" sz="2400">
                    <a:solidFill>
                      <a:srgbClr val="111827"/>
                    </a:solidFill>
                    <a:latin typeface="Cambria Math" panose="02040503050406030204" pitchFamily="18" charset="0"/>
                  </a:rPr>
                  <a:t>$X=0$</a:t>
                </a:r>
                <a:r>
                  <a:rPr sz="2400" b="0">
                    <a:solidFill>
                      <a:srgbClr val="111827"/>
                    </a:solidFill>
                    <a:latin typeface="Arial"/>
                  </a:rPr>
                  <a:t>: </a:t>
                </a:r>
                <a:r>
                  <a:rPr lang="en-IN" sz="2400">
                    <a:solidFill>
                      <a:srgbClr val="111827"/>
                    </a:solidFill>
                    <a:latin typeface="Cambria Math" panose="02040503050406030204" pitchFamily="18" charset="0"/>
                  </a:rPr>
                  <a:t>$Y=y-mx$</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bisects the intercepted segment: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𝑚</m:t>
                            </m:r>
                          </m:den>
                        </m:f>
                      </m:e>
                    </m:d>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Both give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curve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The conic is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 rectangular hyperbola with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transverse axis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so the vertices are where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meets it: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i.e.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e>
                    </m:d>
                  </m:oMath>
                </a14:m>
                <a:r>
                  <a:rPr sz="2400" b="0">
                    <a:solidFill>
                      <a:srgbClr val="111827"/>
                    </a:solidFill>
                    <a:latin typeface="Arial"/>
                  </a:rPr>
                  <a:t> and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e>
                    </m:d>
                  </m:oMath>
                </a14:m>
                <a:r>
                  <a:rPr sz="2400" b="0">
                    <a:solidFill>
                      <a:srgbClr val="111827"/>
                    </a:solidFill>
                    <a:latin typeface="Arial"/>
                  </a:rPr>
                  <a:t>. Answer (B).</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t>
                </a:r>
                <a:r>
                  <a:rPr sz="2400" b="0">
                    <a:solidFill>
                      <a:srgbClr val="111827"/>
                    </a:solidFill>
                    <a:latin typeface="Arial"/>
                  </a:rPr>
                  <a:t> bisects the intercepted segment: </a:t>
                </a:r>
                <a:r>
                  <a:rPr lang="en-IN" sz="2400">
                    <a:solidFill>
                      <a:srgbClr val="111827"/>
                    </a:solidFill>
                    <a:latin typeface="Cambria Math" panose="02040503050406030204" pitchFamily="18" charset="0"/>
                  </a:rPr>
                  <a:t>$x=\frac12\left(x-\frac ym\right)$</a:t>
                </a:r>
                <a:r>
                  <a:rPr sz="2400" b="0">
                    <a:solidFill>
                      <a:srgbClr val="111827"/>
                    </a:solidFill>
                    <a:latin typeface="Arial"/>
                  </a:rPr>
                  <a:t>, i.e. </a:t>
                </a:r>
                <a:r>
                  <a:rPr lang="en-IN" sz="2400">
                    <a:solidFill>
                      <a:srgbClr val="111827"/>
                    </a:solidFill>
                    <a:latin typeface="Cambria Math" panose="02040503050406030204" pitchFamily="18" charset="0"/>
                  </a:rPr>
                  <a:t>$x-\frac ym=2x$</a:t>
                </a:r>
                <a:r>
                  <a:rPr sz="2400" b="0">
                    <a:solidFill>
                      <a:srgbClr val="111827"/>
                    </a:solidFill>
                    <a:latin typeface="Arial"/>
                  </a:rPr>
                  <a:t>, so </a:t>
                </a:r>
                <a:r>
                  <a:rPr lang="en-IN" sz="2400">
                    <a:solidFill>
                      <a:srgbClr val="111827"/>
                    </a:solidFill>
                    <a:latin typeface="Cambria Math" panose="02040503050406030204" pitchFamily="18" charset="0"/>
                  </a:rPr>
                  <a:t>$-\frac ym=x$</a:t>
                </a:r>
                <a:r>
                  <a:rPr sz="2400" b="0">
                    <a:solidFill>
                      <a:srgbClr val="111827"/>
                    </a:solidFill>
                    <a:latin typeface="Arial"/>
                  </a:rPr>
                  <a:t>; and </a:t>
                </a:r>
                <a:r>
                  <a:rPr lang="en-IN" sz="2400">
                    <a:solidFill>
                      <a:srgbClr val="111827"/>
                    </a:solidFill>
                    <a:latin typeface="Cambria Math" panose="02040503050406030204" pitchFamily="18" charset="0"/>
                  </a:rPr>
                  <a:t>$y=\frac12(y-mx)$</a:t>
                </a:r>
                <a:r>
                  <a:rPr sz="2400" b="0">
                    <a:solidFill>
                      <a:srgbClr val="111827"/>
                    </a:solidFill>
                    <a:latin typeface="Arial"/>
                  </a:rPr>
                  <a:t>, i.e. </a:t>
                </a:r>
                <a:r>
                  <a:rPr lang="en-IN" sz="2400">
                    <a:solidFill>
                      <a:srgbClr val="111827"/>
                    </a:solidFill>
                    <a:latin typeface="Cambria Math" panose="02040503050406030204" pitchFamily="18" charset="0"/>
                  </a:rPr>
                  <a:t>$-mx=y$</a:t>
                </a:r>
                <a:r>
                  <a:rPr sz="2400" b="0">
                    <a:solidFill>
                      <a:srgbClr val="111827"/>
                    </a:solidFill>
                    <a:latin typeface="Arial"/>
                  </a:rPr>
                  <a:t>. Both give </a:t>
                </a:r>
                <a:r>
                  <a:rPr lang="en-IN" sz="2400">
                    <a:solidFill>
                      <a:srgbClr val="111827"/>
                    </a:solidFill>
                    <a:latin typeface="Cambria Math" panose="02040503050406030204" pitchFamily="18" charset="0"/>
                  </a:rPr>
                  <a:t>$m=-\frac yx$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$\frac{dy}{dx}=-\frac yx$</a:t>
                </a:r>
                <a:r>
                  <a:rPr sz="2400" b="0">
                    <a:solidFill>
                      <a:srgbClr val="111827"/>
                    </a:solidFill>
                    <a:latin typeface="Arial"/>
                  </a:rPr>
                  <a:t>, i.e. </a:t>
                </a:r>
                <a:r>
                  <a:rPr lang="en-IN" sz="2400">
                    <a:solidFill>
                      <a:srgbClr val="111827"/>
                    </a:solidFill>
                    <a:latin typeface="Cambria Math" panose="02040503050406030204" pitchFamily="18" charset="0"/>
                  </a:rPr>
                  <a:t>$x\,dy+y\,dx=0$</a:t>
                </a:r>
                <a:r>
                  <a:rPr sz="2400" b="0">
                    <a:solidFill>
                      <a:srgbClr val="111827"/>
                    </a:solidFill>
                    <a:latin typeface="Arial"/>
                  </a:rPr>
                  <a:t>, and </a:t>
                </a:r>
                <a:r>
                  <a:rPr lang="en-IN" sz="2400">
                    <a:solidFill>
                      <a:srgbClr val="111827"/>
                    </a:solidFill>
                    <a:latin typeface="Cambria Math" panose="02040503050406030204" pitchFamily="18" charset="0"/>
                  </a:rPr>
                  <a:t>$xy=c$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curve passes through </a:t>
                </a:r>
                <a:r>
                  <a:rPr lang="en-IN" sz="2400">
                    <a:solidFill>
                      <a:srgbClr val="111827"/>
                    </a:solidFill>
                    <a:latin typeface="Cambria Math" panose="02040503050406030204" pitchFamily="18" charset="0"/>
                  </a:rPr>
                  <a:t>$(2,4)$</a:t>
                </a:r>
                <a:r>
                  <a:rPr sz="2400" b="0">
                    <a:solidFill>
                      <a:srgbClr val="111827"/>
                    </a:solidFill>
                    <a:latin typeface="Arial"/>
                  </a:rPr>
                  <a:t>: </a:t>
                </a:r>
                <a:r>
                  <a:rPr lang="en-IN" sz="2400">
                    <a:solidFill>
                      <a:srgbClr val="111827"/>
                    </a:solidFill>
                    <a:latin typeface="Cambria Math" panose="02040503050406030204" pitchFamily="18" charset="0"/>
                  </a:rPr>
                  <a:t>$c=8$</a:t>
                </a:r>
                <a:r>
                  <a:rPr sz="2400" b="0">
                    <a:solidFill>
                      <a:srgbClr val="111827"/>
                    </a:solidFill>
                    <a:latin typeface="Arial"/>
                  </a:rPr>
                  <a:t>. The conic is </a:t>
                </a:r>
                <a:r>
                  <a:rPr lang="en-IN" sz="2400">
                    <a:solidFill>
                      <a:srgbClr val="111827"/>
                    </a:solidFill>
                    <a:latin typeface="Cambria Math" panose="02040503050406030204" pitchFamily="18" charset="0"/>
                  </a:rPr>
                  <a:t>$xy=8$</a:t>
                </a:r>
                <a:r>
                  <a:rPr sz="2400" b="0">
                    <a:solidFill>
                      <a:srgbClr val="111827"/>
                    </a:solidFill>
                    <a:latin typeface="Arial"/>
                  </a:rPr>
                  <a:t>, a rectangular hyperbola with </a:t>
                </a:r>
                <a:r>
                  <a:rPr lang="en-IN" sz="2400">
                    <a:solidFill>
                      <a:srgbClr val="111827"/>
                    </a:solidFill>
                    <a:latin typeface="Cambria Math" panose="02040503050406030204" pitchFamily="18" charset="0"/>
                  </a:rPr>
                  <a:t>$e=\sqrt2$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transverse axis is </a:t>
                </a:r>
                <a:r>
                  <a:rPr lang="en-IN" sz="2400">
                    <a:solidFill>
                      <a:srgbClr val="111827"/>
                    </a:solidFill>
                    <a:latin typeface="Cambria Math" panose="02040503050406030204" pitchFamily="18" charset="0"/>
                  </a:rPr>
                  <a:t>$y=x$</a:t>
                </a:r>
                <a:r>
                  <a:rPr sz="2400" b="0">
                    <a:solidFill>
                      <a:srgbClr val="111827"/>
                    </a:solidFill>
                    <a:latin typeface="Arial"/>
                  </a:rPr>
                  <a:t>, so the vertices are where </a:t>
                </a:r>
                <a:r>
                  <a:rPr lang="en-IN" sz="2400">
                    <a:solidFill>
                      <a:srgbClr val="111827"/>
                    </a:solidFill>
                    <a:latin typeface="Cambria Math" panose="02040503050406030204" pitchFamily="18" charset="0"/>
                  </a:rPr>
                  <a:t>$y=x$</a:t>
                </a:r>
                <a:r>
                  <a:rPr sz="2400" b="0">
                    <a:solidFill>
                      <a:srgbClr val="111827"/>
                    </a:solidFill>
                    <a:latin typeface="Arial"/>
                  </a:rPr>
                  <a:t> meets it: </a:t>
                </a:r>
                <a:r>
                  <a:rPr lang="en-IN" sz="2400">
                    <a:solidFill>
                      <a:srgbClr val="111827"/>
                    </a:solidFill>
                    <a:latin typeface="Cambria Math" panose="02040503050406030204" pitchFamily="18" charset="0"/>
                  </a:rPr>
                  <a:t>$x^2=8$</a:t>
                </a:r>
                <a:r>
                  <a:rPr sz="2400" b="0">
                    <a:solidFill>
                      <a:srgbClr val="111827"/>
                    </a:solidFill>
                    <a:latin typeface="Arial"/>
                  </a:rPr>
                  <a:t>, i.e. </a:t>
                </a:r>
                <a:r>
                  <a:rPr lang="en-IN" sz="2400">
                    <a:solidFill>
                      <a:srgbClr val="111827"/>
                    </a:solidFill>
                    <a:latin typeface="Cambria Math" panose="02040503050406030204" pitchFamily="18" charset="0"/>
                  </a:rPr>
                  <a:t>$\left(2\sqrt2,2\sqrt2\right)$</a:t>
                </a:r>
                <a:r>
                  <a:rPr sz="2400" b="0">
                    <a:solidFill>
                      <a:srgbClr val="111827"/>
                    </a:solidFill>
                    <a:latin typeface="Arial"/>
                  </a:rPr>
                  <a:t> and </a:t>
                </a:r>
                <a:r>
                  <a:rPr lang="en-IN" sz="2400">
                    <a:solidFill>
                      <a:srgbClr val="111827"/>
                    </a:solidFill>
                    <a:latin typeface="Cambria Math" panose="02040503050406030204" pitchFamily="18" charset="0"/>
                  </a:rPr>
                  <a:t>$\left(-2\sqrt2,-2\sqrt2\right)$</a:t>
                </a:r>
                <a:r>
                  <a:rPr sz="2400" b="0">
                    <a:solidFill>
                      <a:srgbClr val="111827"/>
                    </a:solidFill>
                    <a:latin typeface="Arial"/>
                  </a:rPr>
                  <a:t>. Answer (B).</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14:m>
                  <m:oMath xmlns:m="http://schemas.openxmlformats.org/officeDocument/2006/math">
                    <m:d>
                      <m:dPr>
                        <m:begChr m:val="("/>
                        <m:sepChr m:val=""/>
                        <m:endChr m:val=")"/>
                        <m:grow/>
                        <m:ctrlPr>
                          <a:rPr lang="en-IN" sz="2800" i="1">
                            <a:solidFill>
                              <a:srgbClr val="15803D"/>
                            </a:solidFill>
                            <a:latin typeface="Cambria Math" panose="02040503050406030204" pitchFamily="18" charset="0"/>
                          </a:rPr>
                        </m:ctrlPr>
                      </m:dPr>
                      <m:e>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e>
                    </m:d>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 </m:t>
                    </m:r>
                    <m:d>
                      <m:dPr>
                        <m:begChr m:val="("/>
                        <m:sepChr m:val=""/>
                        <m:endChr m:val=")"/>
                        <m:grow/>
                        <m:ctrlPr>
                          <a:rPr lang="en-IN" sz="2800" i="1">
                            <a:solidFill>
                              <a:srgbClr val="15803D"/>
                            </a:solidFill>
                            <a:latin typeface="Cambria Math" panose="02040503050406030204" pitchFamily="18" charset="0"/>
                          </a:rPr>
                        </m:ctrlPr>
                      </m:dPr>
                      <m:e>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e>
                    </m:d>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r>
                  <a:rPr lang="en-IN" sz="2800">
                    <a:solidFill>
                      <a:srgbClr val="15803D"/>
                    </a:solidFill>
                    <a:latin typeface="Cambria Math" panose="02040503050406030204" pitchFamily="18" charset="0"/>
                  </a:rPr>
                  <a:t>$\left(2\sqrt2,2\sqrt2\right),\ \left(-2\sqrt2,-2\sqrt2\right)$</a:t>
                </a:r>
                <a:endParaRPr sz="2800">
                  <a:solidFill>
                    <a:srgbClr val="15803D"/>
                  </a:solidFill>
                </a:endParaRPr>
              </a:p>
            </p:txBody>
          </p:sp>
        </mc:Fallback>
      </mc:AlternateContent>
    </p:spTree>
  </p:cSld>
  <p:clrMapOvr>
    <a:masterClrMapping/>
  </p:clrMapOvr>
</p:sld>
</file>

<file path=ppt/slides/slide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vertices are the points of the curve nearest to the centre; minimise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on </a:t>
                </a:r>
                <a14:m>
                  <m:oMath xmlns:m="http://schemas.openxmlformats.org/officeDocument/2006/math">
                    <m:r>
                      <a:rPr lang="en-IN" sz="2400" i="1">
                        <a:solidFill>
                          <a:srgbClr val="78350F"/>
                        </a:solidFill>
                        <a:latin typeface="Cambria Math" panose="02040503050406030204" pitchFamily="18" charset="0"/>
                      </a:rPr>
                      <m:t>𝑥</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oMath>
                </a14:m>
                <a:r>
                  <a:rPr sz="2400" b="0">
                    <a:solidFill>
                      <a:srgbClr val="78350F"/>
                    </a:solidFill>
                    <a:latin typeface="Arial"/>
                  </a:rPr>
                  <a:t> by AM-GM.</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vertices are the points of the curve nearest to the centre; minimise </a:t>
                </a:r>
                <a:r>
                  <a:rPr lang="en-IN" sz="2400">
                    <a:solidFill>
                      <a:srgbClr val="78350F"/>
                    </a:solidFill>
                    <a:latin typeface="Cambria Math" panose="02040503050406030204" pitchFamily="18" charset="0"/>
                  </a:rPr>
                  <a:t>$x^2+y^2$</a:t>
                </a:r>
                <a:r>
                  <a:rPr sz="2400" b="0">
                    <a:solidFill>
                      <a:srgbClr val="78350F"/>
                    </a:solidFill>
                    <a:latin typeface="Arial"/>
                  </a:rPr>
                  <a:t> on </a:t>
                </a:r>
                <a:r>
                  <a:rPr lang="en-IN" sz="2400">
                    <a:solidFill>
                      <a:srgbClr val="78350F"/>
                    </a:solidFill>
                    <a:latin typeface="Cambria Math" panose="02040503050406030204" pitchFamily="18" charset="0"/>
                  </a:rPr>
                  <a:t>$xy=8$</a:t>
                </a:r>
                <a:r>
                  <a:rPr sz="2400" b="0">
                    <a:solidFill>
                      <a:srgbClr val="78350F"/>
                    </a:solidFill>
                    <a:latin typeface="Arial"/>
                  </a:rPr>
                  <a:t> by AM-GM.</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conic is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The vertices of a hyperbola are the points of the curve at the least distance from the centre (on the transverse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AM-GM: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with equality iff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giving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e>
                    </m:d>
                  </m:oMath>
                </a14:m>
                <a:r>
                  <a:rPr sz="2400" b="0">
                    <a:solidFill>
                      <a:srgbClr val="111827"/>
                    </a:solidFill>
                    <a:latin typeface="Arial"/>
                  </a:rPr>
                  <a:t> and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e>
                    </m:d>
                  </m:oMath>
                </a14:m>
                <a:r>
                  <a:rPr sz="2400" b="0">
                    <a:solidFill>
                      <a:srgbClr val="111827"/>
                    </a:solidFill>
                    <a:latin typeface="Arial"/>
                  </a:rPr>
                  <a:t>. Answer (B).</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conic is </a:t>
                </a:r>
                <a:r>
                  <a:rPr lang="en-IN" sz="2400">
                    <a:solidFill>
                      <a:srgbClr val="111827"/>
                    </a:solidFill>
                    <a:latin typeface="Cambria Math" panose="02040503050406030204" pitchFamily="18" charset="0"/>
                  </a:rPr>
                  <a:t>$xy=8$</a:t>
                </a:r>
                <a:r>
                  <a:rPr sz="2400" b="0">
                    <a:solidFill>
                      <a:srgbClr val="111827"/>
                    </a:solidFill>
                    <a:latin typeface="Arial"/>
                  </a:rPr>
                  <a:t>. The vertices of a hyperbola are the points of the curve at the least distance from the centre (on the transverse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AM-GM: </a:t>
                </a:r>
                <a:r>
                  <a:rPr lang="en-IN" sz="2400">
                    <a:solidFill>
                      <a:srgbClr val="111827"/>
                    </a:solidFill>
                    <a:latin typeface="Cambria Math" panose="02040503050406030204" pitchFamily="18" charset="0"/>
                  </a:rPr>
                  <a:t>$x^2+y^2\ge2|xy|=16$</a:t>
                </a:r>
                <a:r>
                  <a:rPr sz="2400" b="0">
                    <a:solidFill>
                      <a:srgbClr val="111827"/>
                    </a:solidFill>
                    <a:latin typeface="Arial"/>
                  </a:rPr>
                  <a:t>, with equality iff </a:t>
                </a:r>
                <a:r>
                  <a:rPr lang="en-IN" sz="2400">
                    <a:solidFill>
                      <a:srgbClr val="111827"/>
                    </a:solidFill>
                    <a:latin typeface="Cambria Math" panose="02040503050406030204" pitchFamily="18" charset="0"/>
                  </a:rPr>
                  <a:t>$|x|=|y|$</a:t>
                </a:r>
                <a:r>
                  <a:rPr sz="2400" b="0">
                    <a:solidFill>
                      <a:srgbClr val="111827"/>
                    </a:solidFill>
                    <a:latin typeface="Arial"/>
                  </a:rPr>
                  <a:t>, i.e. </a:t>
                </a:r>
                <a:r>
                  <a:rPr lang="en-IN" sz="2400">
                    <a:solidFill>
                      <a:srgbClr val="111827"/>
                    </a:solidFill>
                    <a:latin typeface="Cambria Math" panose="02040503050406030204" pitchFamily="18" charset="0"/>
                  </a:rPr>
                  <a:t>$x=y$</a:t>
                </a:r>
                <a:r>
                  <a:rPr sz="2400" b="0">
                    <a:solidFill>
                      <a:srgbClr val="111827"/>
                    </a:solidFill>
                    <a:latin typeface="Arial"/>
                  </a:rPr>
                  <a:t> (as </a:t>
                </a:r>
                <a:r>
                  <a:rPr lang="en-IN" sz="2400">
                    <a:solidFill>
                      <a:srgbClr val="111827"/>
                    </a:solidFill>
                    <a:latin typeface="Cambria Math" panose="02040503050406030204" pitchFamily="18" charset="0"/>
                  </a:rPr>
                  <a:t>$xy&gt;0$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$x^2=8$</a:t>
                </a:r>
                <a:r>
                  <a:rPr sz="2400" b="0">
                    <a:solidFill>
                      <a:srgbClr val="111827"/>
                    </a:solidFill>
                    <a:latin typeface="Arial"/>
                  </a:rPr>
                  <a:t>: </a:t>
                </a:r>
                <a:r>
                  <a:rPr lang="en-IN" sz="2400">
                    <a:solidFill>
                      <a:srgbClr val="111827"/>
                    </a:solidFill>
                    <a:latin typeface="Cambria Math" panose="02040503050406030204" pitchFamily="18" charset="0"/>
                  </a:rPr>
                  <a:t>$x=\pm2\sqrt2$</a:t>
                </a:r>
                <a:r>
                  <a:rPr sz="2400" b="0">
                    <a:solidFill>
                      <a:srgbClr val="111827"/>
                    </a:solidFill>
                    <a:latin typeface="Arial"/>
                  </a:rPr>
                  <a:t>, giving </a:t>
                </a:r>
                <a:r>
                  <a:rPr lang="en-IN" sz="2400">
                    <a:solidFill>
                      <a:srgbClr val="111827"/>
                    </a:solidFill>
                    <a:latin typeface="Cambria Math" panose="02040503050406030204" pitchFamily="18" charset="0"/>
                  </a:rPr>
                  <a:t>$\left(2\sqrt2,2\sqrt2\right)$</a:t>
                </a:r>
                <a:r>
                  <a:rPr sz="2400" b="0">
                    <a:solidFill>
                      <a:srgbClr val="111827"/>
                    </a:solidFill>
                    <a:latin typeface="Arial"/>
                  </a:rPr>
                  <a:t> and </a:t>
                </a:r>
                <a:r>
                  <a:rPr lang="en-IN" sz="2400">
                    <a:solidFill>
                      <a:srgbClr val="111827"/>
                    </a:solidFill>
                    <a:latin typeface="Cambria Math" panose="02040503050406030204" pitchFamily="18" charset="0"/>
                  </a:rPr>
                  <a:t>$\left(-2\sqrt2,-2\sqrt2\right)$</a:t>
                </a:r>
                <a:r>
                  <a:rPr sz="2400" b="0">
                    <a:solidFill>
                      <a:srgbClr val="111827"/>
                    </a:solidFill>
                    <a:latin typeface="Arial"/>
                  </a:rPr>
                  <a:t>. Answer (B).</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14:m>
                  <m:oMath xmlns:m="http://schemas.openxmlformats.org/officeDocument/2006/math">
                    <m:d>
                      <m:dPr>
                        <m:begChr m:val="("/>
                        <m:sepChr m:val=""/>
                        <m:endChr m:val=")"/>
                        <m:grow/>
                        <m:ctrlPr>
                          <a:rPr lang="en-IN" sz="2800" i="1">
                            <a:solidFill>
                              <a:srgbClr val="15803D"/>
                            </a:solidFill>
                            <a:latin typeface="Cambria Math" panose="02040503050406030204" pitchFamily="18" charset="0"/>
                          </a:rPr>
                        </m:ctrlPr>
                      </m:dPr>
                      <m:e>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e>
                    </m:d>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 </m:t>
                    </m:r>
                    <m:d>
                      <m:dPr>
                        <m:begChr m:val="("/>
                        <m:sepChr m:val=""/>
                        <m:endChr m:val=")"/>
                        <m:grow/>
                        <m:ctrlPr>
                          <a:rPr lang="en-IN" sz="2800" i="1">
                            <a:solidFill>
                              <a:srgbClr val="15803D"/>
                            </a:solidFill>
                            <a:latin typeface="Cambria Math" panose="02040503050406030204" pitchFamily="18" charset="0"/>
                          </a:rPr>
                        </m:ctrlPr>
                      </m:dPr>
                      <m:e>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e>
                    </m:d>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r>
                  <a:rPr lang="en-IN" sz="2800">
                    <a:solidFill>
                      <a:srgbClr val="15803D"/>
                    </a:solidFill>
                    <a:latin typeface="Cambria Math" panose="02040503050406030204" pitchFamily="18" charset="0"/>
                  </a:rPr>
                  <a:t>$\left(2\sqrt2,2\sqrt2\right),\ \left(-2\sqrt2,-2\sqrt2\right)$</a:t>
                </a:r>
                <a:endParaRPr sz="2800">
                  <a:solidFill>
                    <a:srgbClr val="15803D"/>
                  </a:solidFill>
                </a:endParaRPr>
              </a:p>
            </p:txBody>
          </p:sp>
        </mc:Fallback>
      </mc:AlternateContent>
    </p:spTree>
  </p:cSld>
  <p:clrMapOvr>
    <a:masterClrMapping/>
  </p:clrMapOvr>
</p:sld>
</file>

<file path=ppt/slides/slide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the part of any tangent between the axes is bisected at the point of contact, the curve is a rectangular hyperbola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tangent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𝑡</m:t>
                            </m:r>
                          </m:den>
                        </m:f>
                      </m:e>
                    </m:d>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𝑡</m:t>
                    </m:r>
                  </m:oMath>
                </a14:m>
                <a:r>
                  <a:rPr sz="2400" b="0">
                    <a:solidFill>
                      <a:srgbClr val="111827"/>
                    </a:solidFill>
                    <a:latin typeface="Arial"/>
                  </a:rPr>
                  <a:t>, with intercepts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𝑡</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𝑡</m:t>
                        </m:r>
                      </m:den>
                    </m:f>
                  </m:oMath>
                </a14:m>
                <a:r>
                  <a:rPr sz="2400" b="0">
                    <a:solidFill>
                      <a:srgbClr val="111827"/>
                    </a:solidFill>
                    <a:latin typeface="Arial"/>
                  </a:rPr>
                  <a:t> - the midpoint is the point of contact.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Rectangular hyperbola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𝑐</m:t>
                    </m:r>
                  </m:oMath>
                </a14:m>
                <a:r>
                  <a:rPr sz="2400" b="0">
                    <a:solidFill>
                      <a:srgbClr val="111827"/>
                    </a:solidFill>
                    <a:latin typeface="Arial"/>
                  </a:rPr>
                  <a:t>, vertices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foci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directrices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𝑐</m:t>
                    </m:r>
                  </m:oMath>
                </a14:m>
                <a:r>
                  <a:rPr sz="2400" b="0">
                    <a:solidFill>
                      <a:srgbClr val="111827"/>
                    </a:solidFill>
                    <a:latin typeface="Arial"/>
                  </a:rPr>
                  <a:t>. (Here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vertices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foci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Nearest points of a curve to the centre are found by minimising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(AM-GM for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the part of any tangent between the axes is bisected at the point of contact, the curve is a rectangular hyperbola </a:t>
                </a:r>
                <a:r>
                  <a:rPr lang="en-IN" sz="2400">
                    <a:solidFill>
                      <a:srgbClr val="111827"/>
                    </a:solidFill>
                    <a:latin typeface="Cambria Math" panose="02040503050406030204" pitchFamily="18" charset="0"/>
                  </a:rPr>
                  <a:t>$xy=c$</a:t>
                </a:r>
                <a:r>
                  <a:rPr sz="2400" b="0">
                    <a:solidFill>
                      <a:srgbClr val="111827"/>
                    </a:solidFill>
                    <a:latin typeface="Arial"/>
                  </a:rPr>
                  <a:t> (since </a:t>
                </a:r>
                <a:r>
                  <a:rPr lang="en-IN" sz="2400">
                    <a:solidFill>
                      <a:srgbClr val="111827"/>
                    </a:solidFill>
                    <a:latin typeface="Cambria Math" panose="02040503050406030204" pitchFamily="18" charset="0"/>
                  </a:rPr>
                  <a:t>$d(xy)=0$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$xy=c^2$</a:t>
                </a:r>
                <a:r>
                  <a:rPr sz="2400" b="0">
                    <a:solidFill>
                      <a:srgbClr val="111827"/>
                    </a:solidFill>
                    <a:latin typeface="Arial"/>
                  </a:rPr>
                  <a:t>: the tangent at </a:t>
                </a:r>
                <a:r>
                  <a:rPr lang="en-IN" sz="2400">
                    <a:solidFill>
                      <a:srgbClr val="111827"/>
                    </a:solidFill>
                    <a:latin typeface="Cambria Math" panose="02040503050406030204" pitchFamily="18" charset="0"/>
                  </a:rPr>
                  <a:t>$\left(ct,\frac ct\right)$</a:t>
                </a:r>
                <a:r>
                  <a:rPr sz="2400" b="0">
                    <a:solidFill>
                      <a:srgbClr val="111827"/>
                    </a:solidFill>
                    <a:latin typeface="Arial"/>
                  </a:rPr>
                  <a:t> is </a:t>
                </a:r>
                <a:r>
                  <a:rPr lang="en-IN" sz="2400">
                    <a:solidFill>
                      <a:srgbClr val="111827"/>
                    </a:solidFill>
                    <a:latin typeface="Cambria Math" panose="02040503050406030204" pitchFamily="18" charset="0"/>
                  </a:rPr>
                  <a:t>$x+t^2y=2ct$</a:t>
                </a:r>
                <a:r>
                  <a:rPr sz="2400" b="0">
                    <a:solidFill>
                      <a:srgbClr val="111827"/>
                    </a:solidFill>
                    <a:latin typeface="Arial"/>
                  </a:rPr>
                  <a:t>, with intercepts </a:t>
                </a:r>
                <a:r>
                  <a:rPr lang="en-IN" sz="2400">
                    <a:solidFill>
                      <a:srgbClr val="111827"/>
                    </a:solidFill>
                    <a:latin typeface="Cambria Math" panose="02040503050406030204" pitchFamily="18" charset="0"/>
                  </a:rPr>
                  <a:t>$2ct$</a:t>
                </a:r>
                <a:r>
                  <a:rPr sz="2400" b="0">
                    <a:solidFill>
                      <a:srgbClr val="111827"/>
                    </a:solidFill>
                    <a:latin typeface="Arial"/>
                  </a:rPr>
                  <a:t> and </a:t>
                </a:r>
                <a:r>
                  <a:rPr lang="en-IN" sz="2400">
                    <a:solidFill>
                      <a:srgbClr val="111827"/>
                    </a:solidFill>
                    <a:latin typeface="Cambria Math" panose="02040503050406030204" pitchFamily="18" charset="0"/>
                  </a:rPr>
                  <a:t>$\frac{2c}{t}$</a:t>
                </a:r>
                <a:r>
                  <a:rPr sz="2400" b="0">
                    <a:solidFill>
                      <a:srgbClr val="111827"/>
                    </a:solidFill>
                    <a:latin typeface="Arial"/>
                  </a:rPr>
                  <a:t> - the midpoint is the point of contact.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Rectangular hyperbola </a:t>
                </a:r>
                <a:r>
                  <a:rPr lang="en-IN" sz="2400">
                    <a:solidFill>
                      <a:srgbClr val="111827"/>
                    </a:solidFill>
                    <a:latin typeface="Cambria Math" panose="02040503050406030204" pitchFamily="18" charset="0"/>
                  </a:rPr>
                  <a:t>$xy=c^2$</a:t>
                </a:r>
                <a:r>
                  <a:rPr sz="2400" b="0">
                    <a:solidFill>
                      <a:srgbClr val="111827"/>
                    </a:solidFill>
                    <a:latin typeface="Arial"/>
                  </a:rPr>
                  <a:t>: </a:t>
                </a:r>
                <a:r>
                  <a:rPr lang="en-IN" sz="2400">
                    <a:solidFill>
                      <a:srgbClr val="111827"/>
                    </a:solidFill>
                    <a:latin typeface="Cambria Math" panose="02040503050406030204" pitchFamily="18" charset="0"/>
                  </a:rPr>
                  <a:t>$e=\sqrt2$</a:t>
                </a:r>
                <a:r>
                  <a:rPr sz="2400" b="0">
                    <a:solidFill>
                      <a:srgbClr val="111827"/>
                    </a:solidFill>
                    <a:latin typeface="Arial"/>
                  </a:rPr>
                  <a:t>, </a:t>
                </a:r>
                <a:r>
                  <a:rPr lang="en-IN" sz="2400">
                    <a:solidFill>
                      <a:srgbClr val="111827"/>
                    </a:solidFill>
                    <a:latin typeface="Cambria Math" panose="02040503050406030204" pitchFamily="18" charset="0"/>
                  </a:rPr>
                  <a:t>$a=\sqrt2c$</a:t>
                </a:r>
                <a:r>
                  <a:rPr sz="2400" b="0">
                    <a:solidFill>
                      <a:srgbClr val="111827"/>
                    </a:solidFill>
                    <a:latin typeface="Arial"/>
                  </a:rPr>
                  <a:t>, vertices </a:t>
                </a:r>
                <a:r>
                  <a:rPr lang="en-IN" sz="2400">
                    <a:solidFill>
                      <a:srgbClr val="111827"/>
                    </a:solidFill>
                    <a:latin typeface="Cambria Math" panose="02040503050406030204" pitchFamily="18" charset="0"/>
                  </a:rPr>
                  <a:t>$(\pm c,\pm c)$</a:t>
                </a:r>
                <a:r>
                  <a:rPr sz="2400" b="0">
                    <a:solidFill>
                      <a:srgbClr val="111827"/>
                    </a:solidFill>
                    <a:latin typeface="Arial"/>
                  </a:rPr>
                  <a:t>, foci </a:t>
                </a:r>
                <a:r>
                  <a:rPr lang="en-IN" sz="2400">
                    <a:solidFill>
                      <a:srgbClr val="111827"/>
                    </a:solidFill>
                    <a:latin typeface="Cambria Math" panose="02040503050406030204" pitchFamily="18" charset="0"/>
                  </a:rPr>
                  <a:t>$(\pm\sqrt2c,\pm\sqrt2c)$</a:t>
                </a:r>
                <a:r>
                  <a:rPr sz="2400" b="0">
                    <a:solidFill>
                      <a:srgbClr val="111827"/>
                    </a:solidFill>
                    <a:latin typeface="Arial"/>
                  </a:rPr>
                  <a:t>, directrices </a:t>
                </a:r>
                <a:r>
                  <a:rPr lang="en-IN" sz="2400">
                    <a:solidFill>
                      <a:srgbClr val="111827"/>
                    </a:solidFill>
                    <a:latin typeface="Cambria Math" panose="02040503050406030204" pitchFamily="18" charset="0"/>
                  </a:rPr>
                  <a:t>$x+y=\pm\sqrt2c$</a:t>
                </a:r>
                <a:r>
                  <a:rPr sz="2400" b="0">
                    <a:solidFill>
                      <a:srgbClr val="111827"/>
                    </a:solidFill>
                    <a:latin typeface="Arial"/>
                  </a:rPr>
                  <a:t>. (Here </a:t>
                </a:r>
                <a:r>
                  <a:rPr lang="en-IN" sz="2400">
                    <a:solidFill>
                      <a:srgbClr val="111827"/>
                    </a:solidFill>
                    <a:latin typeface="Cambria Math" panose="02040503050406030204" pitchFamily="18" charset="0"/>
                  </a:rPr>
                  <a:t>$c^2=8$</a:t>
                </a:r>
                <a:r>
                  <a:rPr sz="2400" b="0">
                    <a:solidFill>
                      <a:srgbClr val="111827"/>
                    </a:solidFill>
                    <a:latin typeface="Arial"/>
                  </a:rPr>
                  <a:t>: vertices </a:t>
                </a:r>
                <a:r>
                  <a:rPr lang="en-IN" sz="2400">
                    <a:solidFill>
                      <a:srgbClr val="111827"/>
                    </a:solidFill>
                    <a:latin typeface="Cambria Math" panose="02040503050406030204" pitchFamily="18" charset="0"/>
                  </a:rPr>
                  <a:t>$(\pm2\sqrt2,\pm2\sqrt2)$</a:t>
                </a:r>
                <a:r>
                  <a:rPr sz="2400" b="0">
                    <a:solidFill>
                      <a:srgbClr val="111827"/>
                    </a:solidFill>
                    <a:latin typeface="Arial"/>
                  </a:rPr>
                  <a:t>, foci </a:t>
                </a:r>
                <a:r>
                  <a:rPr lang="en-IN" sz="2400">
                    <a:solidFill>
                      <a:srgbClr val="111827"/>
                    </a:solidFill>
                    <a:latin typeface="Cambria Math" panose="02040503050406030204" pitchFamily="18" charset="0"/>
                  </a:rPr>
                  <a:t>$(\pm4,\pm4)$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Nearest points of a curve to the centre are found by minimising </a:t>
                </a:r>
                <a:r>
                  <a:rPr lang="en-IN" sz="2400">
                    <a:solidFill>
                      <a:srgbClr val="111827"/>
                    </a:solidFill>
                    <a:latin typeface="Cambria Math" panose="02040503050406030204" pitchFamily="18" charset="0"/>
                  </a:rPr>
                  <a:t>$x^2+y^2$</a:t>
                </a:r>
                <a:r>
                  <a:rPr sz="2400" b="0">
                    <a:solidFill>
                      <a:srgbClr val="111827"/>
                    </a:solidFill>
                    <a:latin typeface="Arial"/>
                  </a:rPr>
                  <a:t> (AM-GM for </a:t>
                </a:r>
                <a:r>
                  <a:rPr lang="en-IN" sz="2400">
                    <a:solidFill>
                      <a:srgbClr val="111827"/>
                    </a:solidFill>
                    <a:latin typeface="Cambria Math" panose="02040503050406030204" pitchFamily="18" charset="0"/>
                  </a:rPr>
                  <a:t>$xy=c^2$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250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passes through the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is such that the segment of any of its tangents at any point contained between the co-ordinate axes is bisected at the point of tangency. Let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denote the circle described on the foci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of the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as diameter.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Director circle of the conic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(B)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(C)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(D) None</a:t>
                </a:r>
                <a:endParaRPr sz="2400">
                  <a:solidFill>
                    <a:srgbClr val="111827"/>
                  </a:solidFill>
                </a:endParaRPr>
              </a:p>
            </p:txBody>
          </p:sp>
        </mc:Choice>
        <mc:Fallback>
          <p:sp>
            <p:nvSpPr>
              <p:cNvPr id="4" name="Rounded Rectangle 3"/>
              <p:cNvSpPr/>
              <p:nvPr/>
            </p:nvSpPr>
            <p:spPr>
              <a:xfrm>
                <a:off x="731520" y="1280160"/>
                <a:ext cx="10725912" cy="3250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conic </a:t>
                </a:r>
                <a:r>
                  <a:rPr lang="en-IN" sz="2400">
                    <a:solidFill>
                      <a:srgbClr val="111827"/>
                    </a:solidFill>
                    <a:latin typeface="Cambria Math" panose="02040503050406030204" pitchFamily="18" charset="0"/>
                  </a:rPr>
                  <a:t>$C$</a:t>
                </a:r>
                <a:r>
                  <a:rPr sz="2400" b="0">
                    <a:solidFill>
                      <a:srgbClr val="111827"/>
                    </a:solidFill>
                    <a:latin typeface="Arial"/>
                  </a:rPr>
                  <a:t> passes through the point </a:t>
                </a:r>
                <a:r>
                  <a:rPr lang="en-IN" sz="2400">
                    <a:solidFill>
                      <a:srgbClr val="111827"/>
                    </a:solidFill>
                    <a:latin typeface="Cambria Math" panose="02040503050406030204" pitchFamily="18" charset="0"/>
                  </a:rPr>
                  <a:t>$(2,4)$</a:t>
                </a:r>
                <a:r>
                  <a:rPr sz="2400" b="0">
                    <a:solidFill>
                      <a:srgbClr val="111827"/>
                    </a:solidFill>
                    <a:latin typeface="Arial"/>
                  </a:rPr>
                  <a:t> and is such that the segment of any of its tangents at any point contained between the co-ordinate axes is bisected at the point of tangency. Let </a:t>
                </a:r>
                <a:r>
                  <a:rPr lang="en-IN" sz="2400">
                    <a:solidFill>
                      <a:srgbClr val="111827"/>
                    </a:solidFill>
                    <a:latin typeface="Cambria Math" panose="02040503050406030204" pitchFamily="18" charset="0"/>
                  </a:rPr>
                  <a:t>$S$</a:t>
                </a:r>
                <a:r>
                  <a:rPr sz="2400" b="0">
                    <a:solidFill>
                      <a:srgbClr val="111827"/>
                    </a:solidFill>
                    <a:latin typeface="Arial"/>
                  </a:rPr>
                  <a:t> denote the circle described on the foci </a:t>
                </a:r>
                <a:r>
                  <a:rPr lang="en-IN" sz="2400">
                    <a:solidFill>
                      <a:srgbClr val="111827"/>
                    </a:solidFill>
                    <a:latin typeface="Cambria Math" panose="02040503050406030204" pitchFamily="18" charset="0"/>
                  </a:rPr>
                  <a:t>$F_1$</a:t>
                </a:r>
                <a:r>
                  <a:rPr sz="2400" b="0">
                    <a:solidFill>
                      <a:srgbClr val="111827"/>
                    </a:solidFill>
                    <a:latin typeface="Arial"/>
                  </a:rPr>
                  <a:t> and </a:t>
                </a:r>
                <a:r>
                  <a:rPr lang="en-IN" sz="2400">
                    <a:solidFill>
                      <a:srgbClr val="111827"/>
                    </a:solidFill>
                    <a:latin typeface="Cambria Math" panose="02040503050406030204" pitchFamily="18" charset="0"/>
                  </a:rPr>
                  <a:t>$F_2$</a:t>
                </a:r>
                <a:r>
                  <a:rPr sz="2400" b="0">
                    <a:solidFill>
                      <a:srgbClr val="111827"/>
                    </a:solidFill>
                    <a:latin typeface="Arial"/>
                  </a:rPr>
                  <a:t> of the conic </a:t>
                </a:r>
                <a:r>
                  <a:rPr lang="en-IN" sz="2400">
                    <a:solidFill>
                      <a:srgbClr val="111827"/>
                    </a:solidFill>
                    <a:latin typeface="Cambria Math" panose="02040503050406030204" pitchFamily="18" charset="0"/>
                  </a:rPr>
                  <a:t>$C$</a:t>
                </a:r>
                <a:r>
                  <a:rPr sz="2400" b="0">
                    <a:solidFill>
                      <a:srgbClr val="111827"/>
                    </a:solidFill>
                    <a:latin typeface="Arial"/>
                  </a:rPr>
                  <a:t> as diameter.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Director circle of the conic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$x^2+y^2=4$</a:t>
                </a:r>
                <a:r>
                  <a:rPr sz="2400" b="0">
                    <a:solidFill>
                      <a:srgbClr val="111827"/>
                    </a:solidFill>
                    <a:latin typeface="Arial"/>
                  </a:rPr>
                  <a:t>   (B) </a:t>
                </a:r>
                <a:r>
                  <a:rPr lang="en-IN" sz="2400">
                    <a:solidFill>
                      <a:srgbClr val="111827"/>
                    </a:solidFill>
                    <a:latin typeface="Cambria Math" panose="02040503050406030204" pitchFamily="18" charset="0"/>
                  </a:rPr>
                  <a:t>$x^2+y^2=8$</a:t>
                </a:r>
                <a:r>
                  <a:rPr sz="2400" b="0">
                    <a:solidFill>
                      <a:srgbClr val="111827"/>
                    </a:solidFill>
                    <a:latin typeface="Arial"/>
                  </a:rPr>
                  <a:t>   (C) </a:t>
                </a:r>
                <a:r>
                  <a:rPr lang="en-IN" sz="2400">
                    <a:solidFill>
                      <a:srgbClr val="111827"/>
                    </a:solidFill>
                    <a:latin typeface="Cambria Math" panose="02040503050406030204" pitchFamily="18" charset="0"/>
                  </a:rPr>
                  <a:t>$x^2+y^2=2$</a:t>
                </a:r>
                <a:r>
                  <a:rPr sz="2400" b="0">
                    <a:solidFill>
                      <a:srgbClr val="111827"/>
                    </a:solidFill>
                    <a:latin typeface="Arial"/>
                  </a:rPr>
                  <a:t>   (D) None</a:t>
                </a:r>
                <a:endParaRPr sz="2400">
                  <a:solidFill>
                    <a:srgbClr val="111827"/>
                  </a:solidFill>
                </a:endParaRPr>
              </a:p>
            </p:txBody>
          </p:sp>
        </mc:Fallback>
      </mc:AlternateContent>
    </p:spTree>
  </p:cSld>
  <p:clrMapOvr>
    <a:masterClrMapping/>
  </p:clrMapOvr>
</p:sld>
</file>

<file path=ppt/slides/slide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Director circle of a hyperbola, Rectangular hyperbola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t>
                </a:r>
                <a14:m>
                  <m:oMath xmlns:m="http://schemas.openxmlformats.org/officeDocument/2006/math">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num>
                      <m:den>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num>
                      <m:den>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the director circle is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for the rectangular hyperbola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oMath>
                </a14:m>
                <a:r>
                  <a:rPr sz="2400" b="0">
                    <a:solidFill>
                      <a:srgbClr val="78350F"/>
                    </a:solidFill>
                    <a:latin typeface="Arial"/>
                  </a:rPr>
                  <a:t> this is the point circle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t>
                </a:r>
                <a:r>
                  <a:rPr lang="en-IN" sz="2400">
                    <a:solidFill>
                      <a:srgbClr val="78350F"/>
                    </a:solidFill>
                    <a:latin typeface="Cambria Math" panose="02040503050406030204" pitchFamily="18" charset="0"/>
                  </a:rPr>
                  <a:t>$\frac{x^2}{a^2}-\frac{y^2}{b^2}=1$</a:t>
                </a:r>
                <a:r>
                  <a:rPr sz="2400" b="0">
                    <a:solidFill>
                      <a:srgbClr val="78350F"/>
                    </a:solidFill>
                    <a:latin typeface="Arial"/>
                  </a:rPr>
                  <a:t> the director circle is </a:t>
                </a:r>
                <a:r>
                  <a:rPr lang="en-IN" sz="2400">
                    <a:solidFill>
                      <a:srgbClr val="78350F"/>
                    </a:solidFill>
                    <a:latin typeface="Cambria Math" panose="02040503050406030204" pitchFamily="18" charset="0"/>
                  </a:rPr>
                  <a:t>$x^2+y^2=a^2-b^2$</a:t>
                </a:r>
                <a:r>
                  <a:rPr sz="2400" b="0">
                    <a:solidFill>
                      <a:srgbClr val="78350F"/>
                    </a:solidFill>
                    <a:latin typeface="Arial"/>
                  </a:rPr>
                  <a:t>; for the rectangular hyperbola </a:t>
                </a:r>
                <a:r>
                  <a:rPr lang="en-IN" sz="2400">
                    <a:solidFill>
                      <a:srgbClr val="78350F"/>
                    </a:solidFill>
                    <a:latin typeface="Cambria Math" panose="02040503050406030204" pitchFamily="18" charset="0"/>
                  </a:rPr>
                  <a:t>$a=b$</a:t>
                </a:r>
                <a:r>
                  <a:rPr sz="2400" b="0">
                    <a:solidFill>
                      <a:srgbClr val="78350F"/>
                    </a:solidFill>
                    <a:latin typeface="Arial"/>
                  </a:rPr>
                  <a:t> this is the point circle </a:t>
                </a:r>
                <a:r>
                  <a:rPr lang="en-IN" sz="2400">
                    <a:solidFill>
                      <a:srgbClr val="78350F"/>
                    </a:solidFill>
                    <a:latin typeface="Cambria Math" panose="02040503050406030204" pitchFamily="18" charset="0"/>
                  </a:rPr>
                  <a:t>$x^2+y^2=0$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495544"/>
                <a:ext cx="10725912" cy="117957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conic is the rectangular hyperbola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(equivalently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in its axes),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495544"/>
                <a:ext cx="10725912" cy="117957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conic is the rectangular hyperbola </a:t>
                </a:r>
                <a:r>
                  <a:rPr lang="en-IN" sz="2400">
                    <a:solidFill>
                      <a:srgbClr val="111827"/>
                    </a:solidFill>
                    <a:latin typeface="Cambria Math" panose="02040503050406030204" pitchFamily="18" charset="0"/>
                  </a:rPr>
                  <a:t>$xy=8$</a:t>
                </a:r>
                <a:r>
                  <a:rPr sz="2400" b="0">
                    <a:solidFill>
                      <a:srgbClr val="111827"/>
                    </a:solidFill>
                    <a:latin typeface="Arial"/>
                  </a:rPr>
                  <a:t> (equivalently </a:t>
                </a:r>
                <a:r>
                  <a:rPr lang="en-IN" sz="2400">
                    <a:solidFill>
                      <a:srgbClr val="111827"/>
                    </a:solidFill>
                    <a:latin typeface="Cambria Math" panose="02040503050406030204" pitchFamily="18" charset="0"/>
                  </a:rPr>
                  <a:t>$\frac{x^2}{16}-\frac{y^2}{16}=1$</a:t>
                </a:r>
                <a:r>
                  <a:rPr sz="2400" b="0">
                    <a:solidFill>
                      <a:srgbClr val="111827"/>
                    </a:solidFill>
                    <a:latin typeface="Arial"/>
                  </a:rPr>
                  <a:t> in its axes), with </a:t>
                </a:r>
                <a:r>
                  <a:rPr lang="en-IN" sz="2400">
                    <a:solidFill>
                      <a:srgbClr val="111827"/>
                    </a:solidFill>
                    <a:latin typeface="Cambria Math" panose="02040503050406030204" pitchFamily="18" charset="0"/>
                  </a:rPr>
                  <a:t>$a=b=4$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director circle (locus of points from which perpendicular tangents are drawn)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the director circle is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only the centre (a point circle, no real 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None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oMath>
                </a14:m>
                <a:r>
                  <a:rPr sz="2400" b="0">
                    <a:solidFill>
                      <a:srgbClr val="111827"/>
                    </a:solidFill>
                    <a:latin typeface="Arial"/>
                  </a:rPr>
                  <a:t> is this, so the answer is (D) None.</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director circle (locus of points from which perpendicular tangents are drawn) of </a:t>
                </a:r>
                <a:r>
                  <a:rPr lang="en-IN" sz="2400">
                    <a:solidFill>
                      <a:srgbClr val="111827"/>
                    </a:solidFill>
                    <a:latin typeface="Cambria Math" panose="02040503050406030204" pitchFamily="18" charset="0"/>
                  </a:rPr>
                  <a:t>$\frac{x^2}{a^2}-\frac{y^2}{b^2}=1$</a:t>
                </a:r>
                <a:r>
                  <a:rPr sz="2400" b="0">
                    <a:solidFill>
                      <a:srgbClr val="111827"/>
                    </a:solidFill>
                    <a:latin typeface="Arial"/>
                  </a:rPr>
                  <a:t> is </a:t>
                </a:r>
                <a:r>
                  <a:rPr lang="en-IN" sz="2400">
                    <a:solidFill>
                      <a:srgbClr val="111827"/>
                    </a:solidFill>
                    <a:latin typeface="Cambria Math" panose="02040503050406030204" pitchFamily="18" charset="0"/>
                  </a:rPr>
                  <a:t>$x^2+y^2=a^2-b^2$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$a^2-b^2=0$</a:t>
                </a:r>
                <a:r>
                  <a:rPr sz="2400" b="0">
                    <a:solidFill>
                      <a:srgbClr val="111827"/>
                    </a:solidFill>
                    <a:latin typeface="Arial"/>
                  </a:rPr>
                  <a:t>, so the director circle is </a:t>
                </a:r>
                <a:r>
                  <a:rPr lang="en-IN" sz="2400">
                    <a:solidFill>
                      <a:srgbClr val="111827"/>
                    </a:solidFill>
                    <a:latin typeface="Cambria Math" panose="02040503050406030204" pitchFamily="18" charset="0"/>
                  </a:rPr>
                  <a:t>$x^2+y^2=0$</a:t>
                </a:r>
                <a:r>
                  <a:rPr sz="2400" b="0">
                    <a:solidFill>
                      <a:srgbClr val="111827"/>
                    </a:solidFill>
                    <a:latin typeface="Arial"/>
                  </a:rPr>
                  <a:t>: only the centre (a point circle, no real 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None of </a:t>
                </a:r>
                <a:r>
                  <a:rPr lang="en-IN" sz="2400">
                    <a:solidFill>
                      <a:srgbClr val="111827"/>
                    </a:solidFill>
                    <a:latin typeface="Cambria Math" panose="02040503050406030204" pitchFamily="18" charset="0"/>
                  </a:rPr>
                  <a:t>$x^2+y^2=4,\ 8,\ 2$</a:t>
                </a:r>
                <a:r>
                  <a:rPr sz="2400" b="0">
                    <a:solidFill>
                      <a:srgbClr val="111827"/>
                    </a:solidFill>
                    <a:latin typeface="Arial"/>
                  </a:rPr>
                  <a:t> is this, so the answer is (D) None.</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None</a:t>
            </a:r>
            <a:endParaRPr sz="2800">
              <a:solidFill>
                <a:srgbClr val="15803D"/>
              </a:solidFill>
            </a:endParaRPr>
          </a:p>
        </p:txBody>
      </p:sp>
    </p:spTree>
  </p:cSld>
  <p:clrMapOvr>
    <a:masterClrMapping/>
  </p:clrMapOvr>
</p:sld>
</file>

<file path=ppt/slides/slide3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From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 pair of tangents to </a:t>
                </a:r>
                <a14:m>
                  <m:oMath xmlns:m="http://schemas.openxmlformats.org/officeDocument/2006/math">
                    <m:r>
                      <a:rPr lang="en-IN" sz="2400" i="1">
                        <a:solidFill>
                          <a:srgbClr val="78350F"/>
                        </a:solidFill>
                        <a:latin typeface="Cambria Math" panose="02040503050406030204" pitchFamily="18" charset="0"/>
                      </a:rPr>
                      <m:t>𝑥</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oMath>
                </a14:m>
                <a:r>
                  <a:rPr sz="2400" b="0">
                    <a:solidFill>
                      <a:srgbClr val="78350F"/>
                    </a:solidFill>
                    <a:latin typeface="Arial"/>
                  </a:rPr>
                  <a:t> is </a:t>
                </a:r>
                <a14:m>
                  <m:oMath xmlns:m="http://schemas.openxmlformats.org/officeDocument/2006/math">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11</m:t>
                        </m:r>
                      </m:sub>
                    </m:sSub>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𝑇</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the tangents are perpendicular iff the coefficients of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add to zero.</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From </a:t>
                </a:r>
                <a:r>
                  <a:rPr lang="en-IN" sz="2400">
                    <a:solidFill>
                      <a:srgbClr val="78350F"/>
                    </a:solidFill>
                    <a:latin typeface="Cambria Math" panose="02040503050406030204" pitchFamily="18" charset="0"/>
                  </a:rPr>
                  <a:t>$(h,k)$</a:t>
                </a:r>
                <a:r>
                  <a:rPr sz="2400" b="0">
                    <a:solidFill>
                      <a:srgbClr val="78350F"/>
                    </a:solidFill>
                    <a:latin typeface="Arial"/>
                  </a:rPr>
                  <a:t> the pair of tangents to </a:t>
                </a:r>
                <a:r>
                  <a:rPr lang="en-IN" sz="2400">
                    <a:solidFill>
                      <a:srgbClr val="78350F"/>
                    </a:solidFill>
                    <a:latin typeface="Cambria Math" panose="02040503050406030204" pitchFamily="18" charset="0"/>
                  </a:rPr>
                  <a:t>$xy=8$</a:t>
                </a:r>
                <a:r>
                  <a:rPr sz="2400" b="0">
                    <a:solidFill>
                      <a:srgbClr val="78350F"/>
                    </a:solidFill>
                    <a:latin typeface="Arial"/>
                  </a:rPr>
                  <a:t> is </a:t>
                </a:r>
                <a:r>
                  <a:rPr lang="en-IN" sz="2400">
                    <a:solidFill>
                      <a:srgbClr val="78350F"/>
                    </a:solidFill>
                    <a:latin typeface="Cambria Math" panose="02040503050406030204" pitchFamily="18" charset="0"/>
                  </a:rPr>
                  <a:t>$S\cdot S_{11}=T^2$</a:t>
                </a:r>
                <a:r>
                  <a:rPr sz="2400" b="0">
                    <a:solidFill>
                      <a:srgbClr val="78350F"/>
                    </a:solidFill>
                    <a:latin typeface="Arial"/>
                  </a:rPr>
                  <a:t>; the tangents are perpendicular iff the coefficients of </a:t>
                </a:r>
                <a:r>
                  <a:rPr lang="en-IN" sz="2400">
                    <a:solidFill>
                      <a:srgbClr val="78350F"/>
                    </a:solidFill>
                    <a:latin typeface="Cambria Math" panose="02040503050406030204" pitchFamily="18" charset="0"/>
                  </a:rPr>
                  <a:t>$x^2$</a:t>
                </a:r>
                <a:r>
                  <a:rPr sz="2400" b="0">
                    <a:solidFill>
                      <a:srgbClr val="78350F"/>
                    </a:solidFill>
                    <a:latin typeface="Arial"/>
                  </a:rPr>
                  <a:t> and </a:t>
                </a:r>
                <a:r>
                  <a:rPr lang="en-IN" sz="2400">
                    <a:solidFill>
                      <a:srgbClr val="78350F"/>
                    </a:solidFill>
                    <a:latin typeface="Cambria Math" panose="02040503050406030204" pitchFamily="18" charset="0"/>
                  </a:rPr>
                  <a:t>$y^2$</a:t>
                </a:r>
                <a:r>
                  <a:rPr sz="2400" b="0">
                    <a:solidFill>
                      <a:srgbClr val="78350F"/>
                    </a:solidFill>
                    <a:latin typeface="Arial"/>
                  </a:rPr>
                  <a:t> add to zero.</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The pair of tangents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coefficient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oMath>
                </a14:m>
                <a:r>
                  <a:rPr sz="2400" b="0">
                    <a:solidFill>
                      <a:srgbClr val="111827"/>
                    </a:solidFill>
                    <a:latin typeface="Arial"/>
                  </a:rPr>
                  <a:t> (the left side has no square terms).</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$S\equiv xy-8$</a:t>
                </a:r>
                <a:r>
                  <a:rPr sz="2400" b="0">
                    <a:solidFill>
                      <a:srgbClr val="111827"/>
                    </a:solidFill>
                    <a:latin typeface="Arial"/>
                  </a:rPr>
                  <a:t>, </a:t>
                </a:r>
                <a:r>
                  <a:rPr lang="en-IN" sz="2400">
                    <a:solidFill>
                      <a:srgbClr val="111827"/>
                    </a:solidFill>
                    <a:latin typeface="Cambria Math" panose="02040503050406030204" pitchFamily="18" charset="0"/>
                  </a:rPr>
                  <a:t>$S_{11}=hk-8$</a:t>
                </a:r>
                <a:r>
                  <a:rPr sz="2400" b="0">
                    <a:solidFill>
                      <a:srgbClr val="111827"/>
                    </a:solidFill>
                    <a:latin typeface="Arial"/>
                  </a:rPr>
                  <a:t> and </a:t>
                </a:r>
                <a:r>
                  <a:rPr lang="en-IN" sz="2400">
                    <a:solidFill>
                      <a:srgbClr val="111827"/>
                    </a:solidFill>
                    <a:latin typeface="Cambria Math" panose="02040503050406030204" pitchFamily="18" charset="0"/>
                  </a:rPr>
                  <a:t>$T\equiv\frac{hy+kx}{2}-8$</a:t>
                </a:r>
                <a:r>
                  <a:rPr sz="2400" b="0">
                    <a:solidFill>
                      <a:srgbClr val="111827"/>
                    </a:solidFill>
                    <a:latin typeface="Arial"/>
                  </a:rPr>
                  <a:t>. The pair of tangents from </a:t>
                </a:r>
                <a:r>
                  <a:rPr lang="en-IN" sz="2400">
                    <a:solidFill>
                      <a:srgbClr val="111827"/>
                    </a:solidFill>
                    <a:latin typeface="Cambria Math" panose="02040503050406030204" pitchFamily="18" charset="0"/>
                  </a:rPr>
                  <a:t>$(h,k)$</a:t>
                </a:r>
                <a:r>
                  <a:rPr sz="2400" b="0">
                    <a:solidFill>
                      <a:srgbClr val="111827"/>
                    </a:solidFill>
                    <a:latin typeface="Arial"/>
                  </a:rPr>
                  <a:t> is </a:t>
                </a:r>
                <a:r>
                  <a:rPr lang="en-IN" sz="2400">
                    <a:solidFill>
                      <a:srgbClr val="111827"/>
                    </a:solidFill>
                    <a:latin typeface="Cambria Math" panose="02040503050406030204" pitchFamily="18" charset="0"/>
                  </a:rPr>
                  <a:t>$(xy-8)(hk-8)=\left(\frac{hy+kx}{2}-8\right)^2$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Coefficient of </a:t>
                </a:r>
                <a:r>
                  <a:rPr lang="en-IN" sz="2400">
                    <a:solidFill>
                      <a:srgbClr val="111827"/>
                    </a:solidFill>
                    <a:latin typeface="Cambria Math" panose="02040503050406030204" pitchFamily="18" charset="0"/>
                  </a:rPr>
                  <a:t>$x^2$</a:t>
                </a:r>
                <a:r>
                  <a:rPr sz="2400" b="0">
                    <a:solidFill>
                      <a:srgbClr val="111827"/>
                    </a:solidFill>
                    <a:latin typeface="Arial"/>
                  </a:rPr>
                  <a:t>: </a:t>
                </a:r>
                <a:r>
                  <a:rPr lang="en-IN" sz="2400">
                    <a:solidFill>
                      <a:srgbClr val="111827"/>
                    </a:solidFill>
                    <a:latin typeface="Cambria Math" panose="02040503050406030204" pitchFamily="18" charset="0"/>
                  </a:rPr>
                  <a:t>$-\frac{k^2}{4}$</a:t>
                </a:r>
                <a:r>
                  <a:rPr sz="2400" b="0">
                    <a:solidFill>
                      <a:srgbClr val="111827"/>
                    </a:solidFill>
                    <a:latin typeface="Arial"/>
                  </a:rPr>
                  <a:t>; coefficient of </a:t>
                </a:r>
                <a:r>
                  <a:rPr lang="en-IN" sz="2400">
                    <a:solidFill>
                      <a:srgbClr val="111827"/>
                    </a:solidFill>
                    <a:latin typeface="Cambria Math" panose="02040503050406030204" pitchFamily="18" charset="0"/>
                  </a:rPr>
                  <a:t>$y^2$</a:t>
                </a:r>
                <a:r>
                  <a:rPr sz="2400" b="0">
                    <a:solidFill>
                      <a:srgbClr val="111827"/>
                    </a:solidFill>
                    <a:latin typeface="Arial"/>
                  </a:rPr>
                  <a:t>: </a:t>
                </a:r>
                <a:r>
                  <a:rPr lang="en-IN" sz="2400">
                    <a:solidFill>
                      <a:srgbClr val="111827"/>
                    </a:solidFill>
                    <a:latin typeface="Cambria Math" panose="02040503050406030204" pitchFamily="18" charset="0"/>
                  </a:rPr>
                  <a:t>$-\frac{h^2}{4}$</a:t>
                </a:r>
                <a:r>
                  <a:rPr sz="2400" b="0">
                    <a:solidFill>
                      <a:srgbClr val="111827"/>
                    </a:solidFill>
                    <a:latin typeface="Arial"/>
                  </a:rPr>
                  <a:t> (the left side has no square terms).</a:t>
                </a:r>
                <a:endParaRPr sz="2400">
                  <a:solidFill>
                    <a:srgbClr val="111827"/>
                  </a:solidFill>
                </a:endParaRPr>
              </a:p>
            </p:txBody>
          </p:sp>
        </mc:Fallback>
      </mc:AlternateContent>
    </p:spTree>
  </p:cSld>
  <p:clrMapOvr>
    <a:masterClrMapping/>
  </p:clrMapOvr>
</p:sld>
</file>

<file path=ppt/slides/slide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Perpendicular tangents: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satisfies this (and the tangents from the centre are the asymptotes, which are perpendicular): the director circle degenerates to a point. Answer (D).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Perpendicular tangents: </a:t>
                </a:r>
                <a:r>
                  <a:rPr lang="en-IN" sz="2400">
                    <a:solidFill>
                      <a:srgbClr val="111827"/>
                    </a:solidFill>
                    <a:latin typeface="Cambria Math" panose="02040503050406030204" pitchFamily="18" charset="0"/>
                  </a:rPr>
                  <a:t>$-\frac{k^2}{4}-\frac{h^2}{4}=0$</a:t>
                </a:r>
                <a:r>
                  <a:rPr sz="2400" b="0">
                    <a:solidFill>
                      <a:srgbClr val="111827"/>
                    </a:solidFill>
                    <a:latin typeface="Arial"/>
                  </a:rPr>
                  <a:t>, i.e. </a:t>
                </a:r>
                <a:r>
                  <a:rPr lang="en-IN" sz="2400">
                    <a:solidFill>
                      <a:srgbClr val="111827"/>
                    </a:solidFill>
                    <a:latin typeface="Cambria Math" panose="02040503050406030204" pitchFamily="18" charset="0"/>
                  </a:rPr>
                  <a:t>$h^2+k^2=0$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a:t>
                </a:r>
                <a:r>
                  <a:rPr lang="en-IN" sz="2400">
                    <a:solidFill>
                      <a:srgbClr val="111827"/>
                    </a:solidFill>
                    <a:latin typeface="Cambria Math" panose="02040503050406030204" pitchFamily="18" charset="0"/>
                  </a:rPr>
                  <a:t>$(0,0)$</a:t>
                </a:r>
                <a:r>
                  <a:rPr sz="2400" b="0">
                    <a:solidFill>
                      <a:srgbClr val="111827"/>
                    </a:solidFill>
                    <a:latin typeface="Arial"/>
                  </a:rPr>
                  <a:t> satisfies this (and the tangents from the centre are the asymptotes, which are perpendicular): the director circle degenerates to a point. Answer (D).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None</a:t>
            </a:r>
            <a:endParaRPr sz="2800">
              <a:solidFill>
                <a:srgbClr val="15803D"/>
              </a:solidFill>
            </a:endParaRPr>
          </a:p>
        </p:txBody>
      </p:sp>
    </p:spTree>
  </p:cSld>
  <p:clrMapOvr>
    <a:masterClrMapping/>
  </p:clrMapOvr>
</p:sld>
</file>

<file path=ppt/slides/slide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Director circle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of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it is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(real only if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Rectangular hyperbola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the director circle is a point circle (the centre); no pair of tangents is perpendicular except the asymptotes.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the director circle degenerates to the directrix.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 of tangents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𝑇</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perpendicular iff </a:t>
                </a:r>
                <a14:m>
                  <m:oMath xmlns:m="http://schemas.openxmlformats.org/officeDocument/2006/math">
                    <m:r>
                      <m:rPr>
                        <m:nor/>
                      </m:rPr>
                      <a:rPr lang="en-IN" sz="2400" i="1">
                        <a:solidFill>
                          <a:srgbClr val="111827"/>
                        </a:solidFill>
                        <a:latin typeface="Cambria Math" panose="02040503050406030204" pitchFamily="18" charset="0"/>
                      </a:rPr>
                      <m:t>𝑐𝑜𝑒𝑓𝑓</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𝑐𝑜𝑒𝑓𝑓</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Director circle of </a:t>
                </a:r>
                <a:r>
                  <a:rPr lang="en-IN" sz="2400">
                    <a:solidFill>
                      <a:srgbClr val="111827"/>
                    </a:solidFill>
                    <a:latin typeface="Cambria Math" panose="02040503050406030204" pitchFamily="18" charset="0"/>
                  </a:rPr>
                  <a:t>$\frac{x^2}{a^2}+\frac{y^2}{b^2}=1$</a:t>
                </a:r>
                <a:r>
                  <a:rPr sz="2400" b="0">
                    <a:solidFill>
                      <a:srgbClr val="111827"/>
                    </a:solidFill>
                    <a:latin typeface="Arial"/>
                  </a:rPr>
                  <a:t> is </a:t>
                </a:r>
                <a:r>
                  <a:rPr lang="en-IN" sz="2400">
                    <a:solidFill>
                      <a:srgbClr val="111827"/>
                    </a:solidFill>
                    <a:latin typeface="Cambria Math" panose="02040503050406030204" pitchFamily="18" charset="0"/>
                  </a:rPr>
                  <a:t>$x^2+y^2=a^2+b^2$</a:t>
                </a:r>
                <a:r>
                  <a:rPr sz="2400" b="0">
                    <a:solidFill>
                      <a:srgbClr val="111827"/>
                    </a:solidFill>
                    <a:latin typeface="Arial"/>
                  </a:rPr>
                  <a:t>; of </a:t>
                </a:r>
                <a:r>
                  <a:rPr lang="en-IN" sz="2400">
                    <a:solidFill>
                      <a:srgbClr val="111827"/>
                    </a:solidFill>
                    <a:latin typeface="Cambria Math" panose="02040503050406030204" pitchFamily="18" charset="0"/>
                  </a:rPr>
                  <a:t>$\frac{x^2}{a^2}-\frac{y^2}{b^2}=1$</a:t>
                </a:r>
                <a:r>
                  <a:rPr sz="2400" b="0">
                    <a:solidFill>
                      <a:srgbClr val="111827"/>
                    </a:solidFill>
                    <a:latin typeface="Arial"/>
                  </a:rPr>
                  <a:t> it is </a:t>
                </a:r>
                <a:r>
                  <a:rPr lang="en-IN" sz="2400">
                    <a:solidFill>
                      <a:srgbClr val="111827"/>
                    </a:solidFill>
                    <a:latin typeface="Cambria Math" panose="02040503050406030204" pitchFamily="18" charset="0"/>
                  </a:rPr>
                  <a:t>$x^2+y^2=a^2-b^2$</a:t>
                </a:r>
                <a:r>
                  <a:rPr sz="2400" b="0">
                    <a:solidFill>
                      <a:srgbClr val="111827"/>
                    </a:solidFill>
                    <a:latin typeface="Arial"/>
                  </a:rPr>
                  <a:t> (real only if </a:t>
                </a:r>
                <a:r>
                  <a:rPr lang="en-IN" sz="2400">
                    <a:solidFill>
                      <a:srgbClr val="111827"/>
                    </a:solidFill>
                    <a:latin typeface="Cambria Math" panose="02040503050406030204" pitchFamily="18" charset="0"/>
                  </a:rPr>
                  <a:t>$a&gt;b$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Rectangular hyperbola (</a:t>
                </a:r>
                <a:r>
                  <a:rPr lang="en-IN" sz="2400">
                    <a:solidFill>
                      <a:srgbClr val="111827"/>
                    </a:solidFill>
                    <a:latin typeface="Cambria Math" panose="02040503050406030204" pitchFamily="18" charset="0"/>
                  </a:rPr>
                  <a:t>$a=b$</a:t>
                </a:r>
                <a:r>
                  <a:rPr sz="2400" b="0">
                    <a:solidFill>
                      <a:srgbClr val="111827"/>
                    </a:solidFill>
                    <a:latin typeface="Arial"/>
                  </a:rPr>
                  <a:t>): the director circle is a point circle (the centre); no pair of tangents is perpendicular except the asymptotes.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$y^2=4ax$</a:t>
                </a:r>
                <a:r>
                  <a:rPr sz="2400" b="0">
                    <a:solidFill>
                      <a:srgbClr val="111827"/>
                    </a:solidFill>
                    <a:latin typeface="Arial"/>
                  </a:rPr>
                  <a:t> the director circle degenerates to the directrix.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 of tangents from </a:t>
                </a:r>
                <a:r>
                  <a:rPr lang="en-IN" sz="2400">
                    <a:solidFill>
                      <a:srgbClr val="111827"/>
                    </a:solidFill>
                    <a:latin typeface="Cambria Math" panose="02040503050406030204" pitchFamily="18" charset="0"/>
                  </a:rPr>
                  <a:t>$(h,k)$</a:t>
                </a:r>
                <a:r>
                  <a:rPr sz="2400" b="0">
                    <a:solidFill>
                      <a:srgbClr val="111827"/>
                    </a:solidFill>
                    <a:latin typeface="Arial"/>
                  </a:rPr>
                  <a:t>: </a:t>
                </a:r>
                <a:r>
                  <a:rPr lang="en-IN" sz="2400">
                    <a:solidFill>
                      <a:srgbClr val="111827"/>
                    </a:solidFill>
                    <a:latin typeface="Cambria Math" panose="02040503050406030204" pitchFamily="18" charset="0"/>
                  </a:rPr>
                  <a:t>$S\cdot S_{11}=T^2$</a:t>
                </a:r>
                <a:r>
                  <a:rPr sz="2400" b="0">
                    <a:solidFill>
                      <a:srgbClr val="111827"/>
                    </a:solidFill>
                    <a:latin typeface="Arial"/>
                  </a:rPr>
                  <a:t>; perpendicular iff </a:t>
                </a:r>
                <a:r>
                  <a:rPr lang="en-IN" sz="2400">
                    <a:solidFill>
                      <a:srgbClr val="111827"/>
                    </a:solidFill>
                    <a:latin typeface="Cambria Math" panose="02040503050406030204" pitchFamily="18" charset="0"/>
                  </a:rPr>
                  <a:t>$\text{coeff}(x^2)+\text{coeff}(y^2)=0$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250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passes through the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is such that the segment of any of its tangents at any point contained between the co-ordinate axes is bisected at the point of tangency. Let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denote the circle described on the foci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of the conic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as diameter.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Equation of the circle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(B)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(C)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oMath>
                </a14:m>
                <a:r>
                  <a:rPr sz="2400" b="0">
                    <a:solidFill>
                      <a:srgbClr val="111827"/>
                    </a:solidFill>
                    <a:latin typeface="Arial"/>
                  </a:rPr>
                  <a:t>   (D)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endParaRPr sz="2400">
                  <a:solidFill>
                    <a:srgbClr val="111827"/>
                  </a:solidFill>
                </a:endParaRPr>
              </a:p>
            </p:txBody>
          </p:sp>
        </mc:Choice>
        <mc:Fallback>
          <p:sp>
            <p:nvSpPr>
              <p:cNvPr id="4" name="Rounded Rectangle 3"/>
              <p:cNvSpPr/>
              <p:nvPr/>
            </p:nvSpPr>
            <p:spPr>
              <a:xfrm>
                <a:off x="731520" y="1280160"/>
                <a:ext cx="10725912" cy="3250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conic </a:t>
                </a:r>
                <a:r>
                  <a:rPr lang="en-IN" sz="2400">
                    <a:solidFill>
                      <a:srgbClr val="111827"/>
                    </a:solidFill>
                    <a:latin typeface="Cambria Math" panose="02040503050406030204" pitchFamily="18" charset="0"/>
                  </a:rPr>
                  <a:t>$C$</a:t>
                </a:r>
                <a:r>
                  <a:rPr sz="2400" b="0">
                    <a:solidFill>
                      <a:srgbClr val="111827"/>
                    </a:solidFill>
                    <a:latin typeface="Arial"/>
                  </a:rPr>
                  <a:t> passes through the point </a:t>
                </a:r>
                <a:r>
                  <a:rPr lang="en-IN" sz="2400">
                    <a:solidFill>
                      <a:srgbClr val="111827"/>
                    </a:solidFill>
                    <a:latin typeface="Cambria Math" panose="02040503050406030204" pitchFamily="18" charset="0"/>
                  </a:rPr>
                  <a:t>$(2,4)$</a:t>
                </a:r>
                <a:r>
                  <a:rPr sz="2400" b="0">
                    <a:solidFill>
                      <a:srgbClr val="111827"/>
                    </a:solidFill>
                    <a:latin typeface="Arial"/>
                  </a:rPr>
                  <a:t> and is such that the segment of any of its tangents at any point contained between the co-ordinate axes is bisected at the point of tangency. Let </a:t>
                </a:r>
                <a:r>
                  <a:rPr lang="en-IN" sz="2400">
                    <a:solidFill>
                      <a:srgbClr val="111827"/>
                    </a:solidFill>
                    <a:latin typeface="Cambria Math" panose="02040503050406030204" pitchFamily="18" charset="0"/>
                  </a:rPr>
                  <a:t>$S$</a:t>
                </a:r>
                <a:r>
                  <a:rPr sz="2400" b="0">
                    <a:solidFill>
                      <a:srgbClr val="111827"/>
                    </a:solidFill>
                    <a:latin typeface="Arial"/>
                  </a:rPr>
                  <a:t> denote the circle described on the foci </a:t>
                </a:r>
                <a:r>
                  <a:rPr lang="en-IN" sz="2400">
                    <a:solidFill>
                      <a:srgbClr val="111827"/>
                    </a:solidFill>
                    <a:latin typeface="Cambria Math" panose="02040503050406030204" pitchFamily="18" charset="0"/>
                  </a:rPr>
                  <a:t>$F_1$</a:t>
                </a:r>
                <a:r>
                  <a:rPr sz="2400" b="0">
                    <a:solidFill>
                      <a:srgbClr val="111827"/>
                    </a:solidFill>
                    <a:latin typeface="Arial"/>
                  </a:rPr>
                  <a:t> and </a:t>
                </a:r>
                <a:r>
                  <a:rPr lang="en-IN" sz="2400">
                    <a:solidFill>
                      <a:srgbClr val="111827"/>
                    </a:solidFill>
                    <a:latin typeface="Cambria Math" panose="02040503050406030204" pitchFamily="18" charset="0"/>
                  </a:rPr>
                  <a:t>$F_2$</a:t>
                </a:r>
                <a:r>
                  <a:rPr sz="2400" b="0">
                    <a:solidFill>
                      <a:srgbClr val="111827"/>
                    </a:solidFill>
                    <a:latin typeface="Arial"/>
                  </a:rPr>
                  <a:t> of the conic </a:t>
                </a:r>
                <a:r>
                  <a:rPr lang="en-IN" sz="2400">
                    <a:solidFill>
                      <a:srgbClr val="111827"/>
                    </a:solidFill>
                    <a:latin typeface="Cambria Math" panose="02040503050406030204" pitchFamily="18" charset="0"/>
                  </a:rPr>
                  <a:t>$C$</a:t>
                </a:r>
                <a:r>
                  <a:rPr sz="2400" b="0">
                    <a:solidFill>
                      <a:srgbClr val="111827"/>
                    </a:solidFill>
                    <a:latin typeface="Arial"/>
                  </a:rPr>
                  <a:t> as diameter.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Equation of the circle </a:t>
                </a:r>
                <a:r>
                  <a:rPr lang="en-IN" sz="2400">
                    <a:solidFill>
                      <a:srgbClr val="111827"/>
                    </a:solidFill>
                    <a:latin typeface="Cambria Math" panose="02040503050406030204" pitchFamily="18" charset="0"/>
                  </a:rPr>
                  <a:t>$S$</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$x^2+y^2=16$</a:t>
                </a:r>
                <a:r>
                  <a:rPr sz="2400" b="0">
                    <a:solidFill>
                      <a:srgbClr val="111827"/>
                    </a:solidFill>
                    <a:latin typeface="Arial"/>
                  </a:rPr>
                  <a:t>   (B) </a:t>
                </a:r>
                <a:r>
                  <a:rPr lang="en-IN" sz="2400">
                    <a:solidFill>
                      <a:srgbClr val="111827"/>
                    </a:solidFill>
                    <a:latin typeface="Cambria Math" panose="02040503050406030204" pitchFamily="18" charset="0"/>
                  </a:rPr>
                  <a:t>$x^2+y^2=8$</a:t>
                </a:r>
                <a:r>
                  <a:rPr sz="2400" b="0">
                    <a:solidFill>
                      <a:srgbClr val="111827"/>
                    </a:solidFill>
                    <a:latin typeface="Arial"/>
                  </a:rPr>
                  <a:t>   (C) </a:t>
                </a:r>
                <a:r>
                  <a:rPr lang="en-IN" sz="2400">
                    <a:solidFill>
                      <a:srgbClr val="111827"/>
                    </a:solidFill>
                    <a:latin typeface="Cambria Math" panose="02040503050406030204" pitchFamily="18" charset="0"/>
                  </a:rPr>
                  <a:t>$x^2+y^2=32$</a:t>
                </a:r>
                <a:r>
                  <a:rPr sz="2400" b="0">
                    <a:solidFill>
                      <a:srgbClr val="111827"/>
                    </a:solidFill>
                    <a:latin typeface="Arial"/>
                  </a:rPr>
                  <a:t>   (D) </a:t>
                </a:r>
                <a:r>
                  <a:rPr lang="en-IN" sz="2400">
                    <a:solidFill>
                      <a:srgbClr val="111827"/>
                    </a:solidFill>
                    <a:latin typeface="Cambria Math" panose="02040503050406030204" pitchFamily="18" charset="0"/>
                  </a:rPr>
                  <a:t>$x^2+y^2=4$</a:t>
                </a:r>
                <a:endParaRPr sz="2400">
                  <a:solidFill>
                    <a:srgbClr val="111827"/>
                  </a:solidFill>
                </a:endParaRPr>
              </a:p>
            </p:txBody>
          </p:sp>
        </mc:Fallback>
      </mc:AlternateContent>
    </p:spTree>
  </p:cSld>
  <p:clrMapOvr>
    <a:masterClrMapping/>
  </p:clrMapOvr>
</p:sld>
</file>

<file path=ppt/slides/slide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Foci of a rectangular hyperbola, Circle on the segment joining the foci as diameter</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t>
                </a:r>
                <a14:m>
                  <m:oMath xmlns:m="http://schemas.openxmlformats.org/officeDocument/2006/math">
                    <m:r>
                      <a:rPr lang="en-IN" sz="2400" i="1">
                        <a:solidFill>
                          <a:srgbClr val="78350F"/>
                        </a:solidFill>
                        <a:latin typeface="Cambria Math" panose="02040503050406030204" pitchFamily="18" charset="0"/>
                      </a:rPr>
                      <m:t>𝑥</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oMath>
                </a14:m>
                <a:r>
                  <a:rPr sz="2400" b="0">
                    <a:solidFill>
                      <a:srgbClr val="78350F"/>
                    </a:solidFill>
                    <a:latin typeface="Arial"/>
                  </a:rPr>
                  <a:t> the foci are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𝑆</m:t>
                    </m:r>
                  </m:oMath>
                </a14:m>
                <a:r>
                  <a:rPr sz="2400" b="0">
                    <a:solidFill>
                      <a:srgbClr val="78350F"/>
                    </a:solidFill>
                    <a:latin typeface="Arial"/>
                  </a:rPr>
                  <a:t> has centre the origin and radius </a:t>
                </a:r>
                <a14:m>
                  <m:oMath xmlns:m="http://schemas.openxmlformats.org/officeDocument/2006/math">
                    <m:r>
                      <a:rPr lang="en-IN" sz="2400" i="1">
                        <a:solidFill>
                          <a:srgbClr val="78350F"/>
                        </a:solidFill>
                        <a:latin typeface="Cambria Math" panose="02040503050406030204" pitchFamily="18" charset="0"/>
                      </a:rPr>
                      <m:t>4</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t>
                </a:r>
                <a:r>
                  <a:rPr lang="en-IN" sz="2400">
                    <a:solidFill>
                      <a:srgbClr val="78350F"/>
                    </a:solidFill>
                    <a:latin typeface="Cambria Math" panose="02040503050406030204" pitchFamily="18" charset="0"/>
                  </a:rPr>
                  <a:t>$xy=8$</a:t>
                </a:r>
                <a:r>
                  <a:rPr sz="2400" b="0">
                    <a:solidFill>
                      <a:srgbClr val="78350F"/>
                    </a:solidFill>
                    <a:latin typeface="Arial"/>
                  </a:rPr>
                  <a:t> the foci are </a:t>
                </a:r>
                <a:r>
                  <a:rPr lang="en-IN" sz="2400">
                    <a:solidFill>
                      <a:srgbClr val="78350F"/>
                    </a:solidFill>
                    <a:latin typeface="Cambria Math" panose="02040503050406030204" pitchFamily="18" charset="0"/>
                  </a:rPr>
                  <a:t>$(4,4),(-4,-4)$</a:t>
                </a:r>
                <a:r>
                  <a:rPr sz="2400" b="0">
                    <a:solidFill>
                      <a:srgbClr val="78350F"/>
                    </a:solidFill>
                    <a:latin typeface="Arial"/>
                  </a:rPr>
                  <a:t>, so </a:t>
                </a:r>
                <a:r>
                  <a:rPr lang="en-IN" sz="2400">
                    <a:solidFill>
                      <a:srgbClr val="78350F"/>
                    </a:solidFill>
                    <a:latin typeface="Cambria Math" panose="02040503050406030204" pitchFamily="18" charset="0"/>
                  </a:rPr>
                  <a:t>$S$</a:t>
                </a:r>
                <a:r>
                  <a:rPr sz="2400" b="0">
                    <a:solidFill>
                      <a:srgbClr val="78350F"/>
                    </a:solidFill>
                    <a:latin typeface="Arial"/>
                  </a:rPr>
                  <a:t> has centre the origin and radius </a:t>
                </a:r>
                <a:r>
                  <a:rPr lang="en-IN" sz="2400">
                    <a:solidFill>
                      <a:srgbClr val="78350F"/>
                    </a:solidFill>
                    <a:latin typeface="Cambria Math" panose="02040503050406030204" pitchFamily="18" charset="0"/>
                  </a:rPr>
                  <a:t>$4\sqrt2$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conic is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 rectangular hyperbola with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and vertices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e>
                    </m:d>
                  </m:oMath>
                </a14:m>
                <a:r>
                  <a:rPr sz="2400" b="0">
                    <a:solidFill>
                      <a:srgbClr val="111827"/>
                    </a:solidFill>
                    <a:latin typeface="Arial"/>
                  </a:rPr>
                  <a:t> (previous parts),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conic is </a:t>
                </a:r>
                <a:r>
                  <a:rPr lang="en-IN" sz="2400">
                    <a:solidFill>
                      <a:srgbClr val="111827"/>
                    </a:solidFill>
                    <a:latin typeface="Cambria Math" panose="02040503050406030204" pitchFamily="18" charset="0"/>
                  </a:rPr>
                  <a:t>$xy=8$</a:t>
                </a:r>
                <a:r>
                  <a:rPr sz="2400" b="0">
                    <a:solidFill>
                      <a:srgbClr val="111827"/>
                    </a:solidFill>
                    <a:latin typeface="Arial"/>
                  </a:rPr>
                  <a:t>, a rectangular hyperbola with </a:t>
                </a:r>
                <a:r>
                  <a:rPr lang="en-IN" sz="2400">
                    <a:solidFill>
                      <a:srgbClr val="111827"/>
                    </a:solidFill>
                    <a:latin typeface="Cambria Math" panose="02040503050406030204" pitchFamily="18" charset="0"/>
                  </a:rPr>
                  <a:t>$e=\sqrt2$</a:t>
                </a:r>
                <a:r>
                  <a:rPr sz="2400" b="0">
                    <a:solidFill>
                      <a:srgbClr val="111827"/>
                    </a:solidFill>
                    <a:latin typeface="Arial"/>
                  </a:rPr>
                  <a:t> and vertices </a:t>
                </a:r>
                <a:r>
                  <a:rPr lang="en-IN" sz="2400">
                    <a:solidFill>
                      <a:srgbClr val="111827"/>
                    </a:solidFill>
                    <a:latin typeface="Cambria Math" panose="02040503050406030204" pitchFamily="18" charset="0"/>
                  </a:rPr>
                  <a:t>$\left(\pm2\sqrt2,\pm2\sqrt2\right)$</a:t>
                </a:r>
                <a:r>
                  <a:rPr sz="2400" b="0">
                    <a:solidFill>
                      <a:srgbClr val="111827"/>
                    </a:solidFill>
                    <a:latin typeface="Arial"/>
                  </a:rPr>
                  <a:t> (previous parts), so </a:t>
                </a:r>
                <a:r>
                  <a:rPr lang="en-IN" sz="2400">
                    <a:solidFill>
                      <a:srgbClr val="111827"/>
                    </a:solidFill>
                    <a:latin typeface="Cambria Math" panose="02040503050406030204" pitchFamily="18" charset="0"/>
                  </a:rPr>
                  <a:t>$a=\sqrt{8+8}=4$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foci are at distance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from the centre along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circle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on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as diameter has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radius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Equation of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oMath>
                </a14:m>
                <a:r>
                  <a:rPr sz="2400" b="0">
                    <a:solidFill>
                      <a:srgbClr val="111827"/>
                    </a:solidFill>
                    <a:latin typeface="Arial"/>
                  </a:rPr>
                  <a:t>. Answer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foci are at distance </a:t>
                </a:r>
                <a:r>
                  <a:rPr lang="en-IN" sz="2400">
                    <a:solidFill>
                      <a:srgbClr val="111827"/>
                    </a:solidFill>
                    <a:latin typeface="Cambria Math" panose="02040503050406030204" pitchFamily="18" charset="0"/>
                  </a:rPr>
                  <a:t>$ae=4\sqrt2$</a:t>
                </a:r>
                <a:r>
                  <a:rPr sz="2400" b="0">
                    <a:solidFill>
                      <a:srgbClr val="111827"/>
                    </a:solidFill>
                    <a:latin typeface="Arial"/>
                  </a:rPr>
                  <a:t> from the centre along </a:t>
                </a:r>
                <a:r>
                  <a:rPr lang="en-IN" sz="2400">
                    <a:solidFill>
                      <a:srgbClr val="111827"/>
                    </a:solidFill>
                    <a:latin typeface="Cambria Math" panose="02040503050406030204" pitchFamily="18" charset="0"/>
                  </a:rPr>
                  <a:t>$y=x$</a:t>
                </a:r>
                <a:r>
                  <a:rPr sz="2400" b="0">
                    <a:solidFill>
                      <a:srgbClr val="111827"/>
                    </a:solidFill>
                    <a:latin typeface="Arial"/>
                  </a:rPr>
                  <a:t>: </a:t>
                </a:r>
                <a:r>
                  <a:rPr lang="en-IN" sz="2400">
                    <a:solidFill>
                      <a:srgbClr val="111827"/>
                    </a:solidFill>
                    <a:latin typeface="Cambria Math" panose="02040503050406030204" pitchFamily="18" charset="0"/>
                  </a:rPr>
                  <a:t>$F_1(4,4)$</a:t>
                </a:r>
                <a:r>
                  <a:rPr sz="2400" b="0">
                    <a:solidFill>
                      <a:srgbClr val="111827"/>
                    </a:solidFill>
                    <a:latin typeface="Arial"/>
                  </a:rPr>
                  <a:t> and </a:t>
                </a:r>
                <a:r>
                  <a:rPr lang="en-IN" sz="2400">
                    <a:solidFill>
                      <a:srgbClr val="111827"/>
                    </a:solidFill>
                    <a:latin typeface="Cambria Math" panose="02040503050406030204" pitchFamily="18" charset="0"/>
                  </a:rPr>
                  <a:t>$F_2(-4,-4)$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circle </a:t>
                </a:r>
                <a:r>
                  <a:rPr lang="en-IN" sz="2400">
                    <a:solidFill>
                      <a:srgbClr val="111827"/>
                    </a:solidFill>
                    <a:latin typeface="Cambria Math" panose="02040503050406030204" pitchFamily="18" charset="0"/>
                  </a:rPr>
                  <a:t>$S$</a:t>
                </a:r>
                <a:r>
                  <a:rPr sz="2400" b="0">
                    <a:solidFill>
                      <a:srgbClr val="111827"/>
                    </a:solidFill>
                    <a:latin typeface="Arial"/>
                  </a:rPr>
                  <a:t> on </a:t>
                </a:r>
                <a:r>
                  <a:rPr lang="en-IN" sz="2400">
                    <a:solidFill>
                      <a:srgbClr val="111827"/>
                    </a:solidFill>
                    <a:latin typeface="Cambria Math" panose="02040503050406030204" pitchFamily="18" charset="0"/>
                  </a:rPr>
                  <a:t>$F_1F_2$</a:t>
                </a:r>
                <a:r>
                  <a:rPr sz="2400" b="0">
                    <a:solidFill>
                      <a:srgbClr val="111827"/>
                    </a:solidFill>
                    <a:latin typeface="Arial"/>
                  </a:rPr>
                  <a:t> as diameter has centre </a:t>
                </a:r>
                <a:r>
                  <a:rPr lang="en-IN" sz="2400">
                    <a:solidFill>
                      <a:srgbClr val="111827"/>
                    </a:solidFill>
                    <a:latin typeface="Cambria Math" panose="02040503050406030204" pitchFamily="18" charset="0"/>
                  </a:rPr>
                  <a:t>$(0,0)$</a:t>
                </a:r>
                <a:r>
                  <a:rPr sz="2400" b="0">
                    <a:solidFill>
                      <a:srgbClr val="111827"/>
                    </a:solidFill>
                    <a:latin typeface="Arial"/>
                  </a:rPr>
                  <a:t> and radius </a:t>
                </a:r>
                <a:r>
                  <a:rPr lang="en-IN" sz="2400">
                    <a:solidFill>
                      <a:srgbClr val="111827"/>
                    </a:solidFill>
                    <a:latin typeface="Cambria Math" panose="02040503050406030204" pitchFamily="18" charset="0"/>
                  </a:rPr>
                  <a:t>$\frac{F_1F_2}{2}=\frac{\sqrt{64+64}}{2}=4\sqrt2$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Equation of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$x^2+y^2=32$</a:t>
                </a:r>
                <a:r>
                  <a:rPr sz="2400" b="0">
                    <a:solidFill>
                      <a:srgbClr val="111827"/>
                    </a:solidFill>
                    <a:latin typeface="Arial"/>
                  </a:rPr>
                  <a:t>. Answer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32</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$x^2+y^2=32$</a:t>
                </a:r>
                <a:endParaRPr sz="2800">
                  <a:solidFill>
                    <a:srgbClr val="15803D"/>
                  </a:solidFill>
                </a:endParaRPr>
              </a:p>
            </p:txBody>
          </p:sp>
        </mc:Fallback>
      </mc:AlternateContent>
    </p:spTree>
  </p:cSld>
  <p:clrMapOvr>
    <a:masterClrMapping/>
  </p:clrMapOvr>
</p:sld>
</file>

<file path=ppt/slides/slide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a:t>
                </a:r>
                <a14:m>
                  <m:oMath xmlns:m="http://schemas.openxmlformats.org/officeDocument/2006/math">
                    <m:r>
                      <a:rPr lang="en-IN" sz="2400" i="1">
                        <a:solidFill>
                          <a:srgbClr val="78350F"/>
                        </a:solidFill>
                        <a:latin typeface="Cambria Math" panose="02040503050406030204" pitchFamily="18" charset="0"/>
                      </a:rPr>
                      <m:t>𝑥</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𝑐</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the foci are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with </a:t>
                </a:r>
                <a14:m>
                  <m:oMath xmlns:m="http://schemas.openxmlformats.org/officeDocument/2006/math">
                    <m:sSup>
                      <m:e>
                        <m:r>
                          <a:rPr lang="en-IN" sz="2400" i="1">
                            <a:solidFill>
                              <a:srgbClr val="78350F"/>
                            </a:solidFill>
                            <a:latin typeface="Cambria Math" panose="02040503050406030204" pitchFamily="18" charset="0"/>
                          </a:rPr>
                          <m:t>𝑐</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oMath>
                </a14:m>
                <a:r>
                  <a:rPr sz="2400" b="0">
                    <a:solidFill>
                      <a:srgbClr val="78350F"/>
                    </a:solidFill>
                    <a:latin typeface="Arial"/>
                  </a:rPr>
                  <a:t> the circle on them as diameter has radius </a:t>
                </a:r>
                <a14:m>
                  <m:oMath xmlns:m="http://schemas.openxmlformats.org/officeDocument/2006/math">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a:t>
                </a:r>
                <a:r>
                  <a:rPr lang="en-IN" sz="2400">
                    <a:solidFill>
                      <a:srgbClr val="78350F"/>
                    </a:solidFill>
                    <a:latin typeface="Cambria Math" panose="02040503050406030204" pitchFamily="18" charset="0"/>
                  </a:rPr>
                  <a:t>$xy=c^2$</a:t>
                </a:r>
                <a:r>
                  <a:rPr sz="2400" b="0">
                    <a:solidFill>
                      <a:srgbClr val="78350F"/>
                    </a:solidFill>
                    <a:latin typeface="Arial"/>
                  </a:rPr>
                  <a:t> the foci are </a:t>
                </a:r>
                <a:r>
                  <a:rPr lang="en-IN" sz="2400">
                    <a:solidFill>
                      <a:srgbClr val="78350F"/>
                    </a:solidFill>
                    <a:latin typeface="Cambria Math" panose="02040503050406030204" pitchFamily="18" charset="0"/>
                  </a:rPr>
                  <a:t>$(\pm\sqrt2c,\pm\sqrt2c)$</a:t>
                </a:r>
                <a:r>
                  <a:rPr sz="2400" b="0">
                    <a:solidFill>
                      <a:srgbClr val="78350F"/>
                    </a:solidFill>
                    <a:latin typeface="Arial"/>
                  </a:rPr>
                  <a:t>; with </a:t>
                </a:r>
                <a:r>
                  <a:rPr lang="en-IN" sz="2400">
                    <a:solidFill>
                      <a:srgbClr val="78350F"/>
                    </a:solidFill>
                    <a:latin typeface="Cambria Math" panose="02040503050406030204" pitchFamily="18" charset="0"/>
                  </a:rPr>
                  <a:t>$c^2=8$</a:t>
                </a:r>
                <a:r>
                  <a:rPr sz="2400" b="0">
                    <a:solidFill>
                      <a:srgbClr val="78350F"/>
                    </a:solidFill>
                    <a:latin typeface="Arial"/>
                  </a:rPr>
                  <a:t> the circle on them as diameter has radius </a:t>
                </a:r>
                <a:r>
                  <a:rPr lang="en-IN" sz="2400">
                    <a:solidFill>
                      <a:srgbClr val="78350F"/>
                    </a:solidFill>
                    <a:latin typeface="Cambria Math" panose="02040503050406030204" pitchFamily="18" charset="0"/>
                  </a:rPr>
                  <a:t>$\sqrt2\cdot c\cdot\sqrt2=2c=4\sqrt2$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focus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satisfies </a:t>
                </a:r>
                <a14:m>
                  <m:oMath xmlns:m="http://schemas.openxmlformats.org/officeDocument/2006/math">
                    <m:sSup>
                      <m:e>
                        <m:r>
                          <a:rPr lang="en-IN" sz="2400" i="1">
                            <a:solidFill>
                              <a:srgbClr val="111827"/>
                            </a:solidFill>
                            <a:latin typeface="Cambria Math" panose="02040503050406030204" pitchFamily="18" charset="0"/>
                          </a:rPr>
                          <m:t>𝑓</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(focal property, equivalent to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𝑓</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the foci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circle on them as diameter: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𝑓</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𝑓</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oMath>
                </a14:m>
                <a:r>
                  <a:rPr sz="2400" b="0">
                    <a:solidFill>
                      <a:srgbClr val="111827"/>
                    </a:solidFill>
                    <a:latin typeface="Arial"/>
                  </a:rPr>
                  <a:t>. Answer (C):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$xy=c^2$</a:t>
                </a:r>
                <a:r>
                  <a:rPr sz="2400" b="0">
                    <a:solidFill>
                      <a:srgbClr val="111827"/>
                    </a:solidFill>
                    <a:latin typeface="Arial"/>
                  </a:rPr>
                  <a:t>, the focus </a:t>
                </a:r>
                <a:r>
                  <a:rPr lang="en-IN" sz="2400">
                    <a:solidFill>
                      <a:srgbClr val="111827"/>
                    </a:solidFill>
                    <a:latin typeface="Cambria Math" panose="02040503050406030204" pitchFamily="18" charset="0"/>
                  </a:rPr>
                  <a:t>$(f,f)$</a:t>
                </a:r>
                <a:r>
                  <a:rPr sz="2400" b="0">
                    <a:solidFill>
                      <a:srgbClr val="111827"/>
                    </a:solidFill>
                    <a:latin typeface="Arial"/>
                  </a:rPr>
                  <a:t> satisfies </a:t>
                </a:r>
                <a:r>
                  <a:rPr lang="en-IN" sz="2400">
                    <a:solidFill>
                      <a:srgbClr val="111827"/>
                    </a:solidFill>
                    <a:latin typeface="Cambria Math" panose="02040503050406030204" pitchFamily="18" charset="0"/>
                  </a:rPr>
                  <a:t>$f^2=2c^2$</a:t>
                </a:r>
                <a:r>
                  <a:rPr sz="2400" b="0">
                    <a:solidFill>
                      <a:srgbClr val="111827"/>
                    </a:solidFill>
                    <a:latin typeface="Arial"/>
                  </a:rPr>
                  <a:t> (focal property, equivalent to </a:t>
                </a:r>
                <a:r>
                  <a:rPr lang="en-IN" sz="2400">
                    <a:solidFill>
                      <a:srgbClr val="111827"/>
                    </a:solidFill>
                    <a:latin typeface="Cambria Math" panose="02040503050406030204" pitchFamily="18" charset="0"/>
                  </a:rPr>
                  <a:t>$ae=\sqrt2\cdot a$</a:t>
                </a:r>
                <a:r>
                  <a:rPr sz="2400" b="0">
                    <a:solidFill>
                      <a:srgbClr val="111827"/>
                    </a:solidFill>
                    <a:latin typeface="Arial"/>
                  </a:rPr>
                  <a:t> with </a:t>
                </a:r>
                <a:r>
                  <a:rPr lang="en-IN" sz="2400">
                    <a:solidFill>
                      <a:srgbClr val="111827"/>
                    </a:solidFill>
                    <a:latin typeface="Cambria Math" panose="02040503050406030204" pitchFamily="18" charset="0"/>
                  </a:rPr>
                  <a:t>$a=\sqrt2c$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$c^2=8$</a:t>
                </a:r>
                <a:r>
                  <a:rPr sz="2400" b="0">
                    <a:solidFill>
                      <a:srgbClr val="111827"/>
                    </a:solidFill>
                    <a:latin typeface="Arial"/>
                  </a:rPr>
                  <a:t>: </a:t>
                </a:r>
                <a:r>
                  <a:rPr lang="en-IN" sz="2400">
                    <a:solidFill>
                      <a:srgbClr val="111827"/>
                    </a:solidFill>
                    <a:latin typeface="Cambria Math" panose="02040503050406030204" pitchFamily="18" charset="0"/>
                  </a:rPr>
                  <a:t>$f^2=16$</a:t>
                </a:r>
                <a:r>
                  <a:rPr sz="2400" b="0">
                    <a:solidFill>
                      <a:srgbClr val="111827"/>
                    </a:solidFill>
                    <a:latin typeface="Arial"/>
                  </a:rPr>
                  <a:t>, </a:t>
                </a:r>
                <a:r>
                  <a:rPr lang="en-IN" sz="2400">
                    <a:solidFill>
                      <a:srgbClr val="111827"/>
                    </a:solidFill>
                    <a:latin typeface="Cambria Math" panose="02040503050406030204" pitchFamily="18" charset="0"/>
                  </a:rPr>
                  <a:t>$f=\pm4$</a:t>
                </a:r>
                <a:r>
                  <a:rPr sz="2400" b="0">
                    <a:solidFill>
                      <a:srgbClr val="111827"/>
                    </a:solidFill>
                    <a:latin typeface="Arial"/>
                  </a:rPr>
                  <a:t>, so the foci are </a:t>
                </a:r>
                <a:r>
                  <a:rPr lang="en-IN" sz="2400">
                    <a:solidFill>
                      <a:srgbClr val="111827"/>
                    </a:solidFill>
                    <a:latin typeface="Cambria Math" panose="02040503050406030204" pitchFamily="18" charset="0"/>
                  </a:rPr>
                  <a:t>$(4,4)$</a:t>
                </a:r>
                <a:r>
                  <a:rPr sz="2400" b="0">
                    <a:solidFill>
                      <a:srgbClr val="111827"/>
                    </a:solidFill>
                    <a:latin typeface="Arial"/>
                  </a:rPr>
                  <a:t> and </a:t>
                </a:r>
                <a:r>
                  <a:rPr lang="en-IN" sz="2400">
                    <a:solidFill>
                      <a:srgbClr val="111827"/>
                    </a:solidFill>
                    <a:latin typeface="Cambria Math" panose="02040503050406030204" pitchFamily="18" charset="0"/>
                  </a:rPr>
                  <a:t>$(-4,-4)$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circle on them as diameter: centre </a:t>
                </a:r>
                <a:r>
                  <a:rPr lang="en-IN" sz="2400">
                    <a:solidFill>
                      <a:srgbClr val="111827"/>
                    </a:solidFill>
                    <a:latin typeface="Cambria Math" panose="02040503050406030204" pitchFamily="18" charset="0"/>
                  </a:rPr>
                  <a:t>$(0,0)$</a:t>
                </a:r>
                <a:r>
                  <a:rPr sz="2400" b="0">
                    <a:solidFill>
                      <a:srgbClr val="111827"/>
                    </a:solidFill>
                    <a:latin typeface="Arial"/>
                  </a:rPr>
                  <a:t> and </a:t>
                </a:r>
                <a:r>
                  <a:rPr lang="en-IN" sz="2400">
                    <a:solidFill>
                      <a:srgbClr val="111827"/>
                    </a:solidFill>
                    <a:latin typeface="Cambria Math" panose="02040503050406030204" pitchFamily="18" charset="0"/>
                  </a:rPr>
                  <a:t>$r^2=f^2+f^2=32$</a:t>
                </a:r>
                <a:r>
                  <a:rPr sz="2400" b="0">
                    <a:solidFill>
                      <a:srgbClr val="111827"/>
                    </a:solidFill>
                    <a:latin typeface="Arial"/>
                  </a:rPr>
                  <a:t>. Answer (C): </a:t>
                </a:r>
                <a:r>
                  <a:rPr lang="en-IN" sz="2400">
                    <a:solidFill>
                      <a:srgbClr val="111827"/>
                    </a:solidFill>
                    <a:latin typeface="Cambria Math" panose="02040503050406030204" pitchFamily="18" charset="0"/>
                  </a:rPr>
                  <a:t>$x^2+y^2=32$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32</m:t>
                    </m:r>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$x^2+y^2=32$</a:t>
                </a:r>
                <a:endParaRPr sz="2800">
                  <a:solidFill>
                    <a:srgbClr val="15803D"/>
                  </a:solidFill>
                </a:endParaRPr>
              </a:p>
            </p:txBody>
          </p:sp>
        </mc:Fallback>
      </mc:AlternateContent>
    </p:spTree>
  </p:cSld>
  <p:clrMapOvr>
    <a:masterClrMapping/>
  </p:clrMapOvr>
</p:sld>
</file>

<file path=ppt/slides/slide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Rectangular hyperbola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foci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(same sign), centre at the origin,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Circle on the foci as diameter: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𝑒</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between the foci of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𝑐</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and the radius is </a:t>
                </a:r>
                <a14:m>
                  <m:oMath xmlns:m="http://schemas.openxmlformats.org/officeDocument/2006/math">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general hyperbola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circle on the foci as diameter is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Rectangular hyperbola </a:t>
                </a:r>
                <a:r>
                  <a:rPr lang="en-IN" sz="2400">
                    <a:solidFill>
                      <a:srgbClr val="111827"/>
                    </a:solidFill>
                    <a:latin typeface="Cambria Math" panose="02040503050406030204" pitchFamily="18" charset="0"/>
                  </a:rPr>
                  <a:t>$xy=c^2$</a:t>
                </a:r>
                <a:r>
                  <a:rPr sz="2400" b="0">
                    <a:solidFill>
                      <a:srgbClr val="111827"/>
                    </a:solidFill>
                    <a:latin typeface="Arial"/>
                  </a:rPr>
                  <a:t>: foci </a:t>
                </a:r>
                <a:r>
                  <a:rPr lang="en-IN" sz="2400">
                    <a:solidFill>
                      <a:srgbClr val="111827"/>
                    </a:solidFill>
                    <a:latin typeface="Cambria Math" panose="02040503050406030204" pitchFamily="18" charset="0"/>
                  </a:rPr>
                  <a:t>$(\pm\sqrt2c,\pm\sqrt2c)$</a:t>
                </a:r>
                <a:r>
                  <a:rPr sz="2400" b="0">
                    <a:solidFill>
                      <a:srgbClr val="111827"/>
                    </a:solidFill>
                    <a:latin typeface="Arial"/>
                  </a:rPr>
                  <a:t> (same sign), centre at the origin, </a:t>
                </a:r>
                <a:r>
                  <a:rPr lang="en-IN" sz="2400">
                    <a:solidFill>
                      <a:srgbClr val="111827"/>
                    </a:solidFill>
                    <a:latin typeface="Cambria Math" panose="02040503050406030204" pitchFamily="18" charset="0"/>
                  </a:rPr>
                  <a:t>$a=b=\sqrt2c$</a:t>
                </a:r>
                <a:r>
                  <a:rPr sz="2400" b="0">
                    <a:solidFill>
                      <a:srgbClr val="111827"/>
                    </a:solidFill>
                    <a:latin typeface="Arial"/>
                  </a:rPr>
                  <a:t>, </a:t>
                </a:r>
                <a:r>
                  <a:rPr lang="en-IN" sz="2400">
                    <a:solidFill>
                      <a:srgbClr val="111827"/>
                    </a:solidFill>
                    <a:latin typeface="Cambria Math" panose="02040503050406030204" pitchFamily="18" charset="0"/>
                  </a:rPr>
                  <a:t>$e=\sqrt2$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Circle on the foci as diameter: </a:t>
                </a:r>
                <a:r>
                  <a:rPr lang="en-IN" sz="2400">
                    <a:solidFill>
                      <a:srgbClr val="111827"/>
                    </a:solidFill>
                    <a:latin typeface="Cambria Math" panose="02040503050406030204" pitchFamily="18" charset="0"/>
                  </a:rPr>
                  <a:t>$x^2+y^2=(ae)^2=2a^2=4c^2$</a:t>
                </a:r>
                <a:r>
                  <a:rPr sz="2400" b="0">
                    <a:solidFill>
                      <a:srgbClr val="111827"/>
                    </a:solidFill>
                    <a:latin typeface="Arial"/>
                  </a:rPr>
                  <a:t> (here </a:t>
                </a:r>
                <a:r>
                  <a:rPr lang="en-IN" sz="2400">
                    <a:solidFill>
                      <a:srgbClr val="111827"/>
                    </a:solidFill>
                    <a:latin typeface="Cambria Math" panose="02040503050406030204" pitchFamily="18" charset="0"/>
                  </a:rPr>
                  <a:t>$4\cdot8=32$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between the foci of </a:t>
                </a:r>
                <a:r>
                  <a:rPr lang="en-IN" sz="2400">
                    <a:solidFill>
                      <a:srgbClr val="111827"/>
                    </a:solidFill>
                    <a:latin typeface="Cambria Math" panose="02040503050406030204" pitchFamily="18" charset="0"/>
                  </a:rPr>
                  <a:t>$xy=c^2$</a:t>
                </a:r>
                <a:r>
                  <a:rPr sz="2400" b="0">
                    <a:solidFill>
                      <a:srgbClr val="111827"/>
                    </a:solidFill>
                    <a:latin typeface="Arial"/>
                  </a:rPr>
                  <a:t> is </a:t>
                </a:r>
                <a:r>
                  <a:rPr lang="en-IN" sz="2400">
                    <a:solidFill>
                      <a:srgbClr val="111827"/>
                    </a:solidFill>
                    <a:latin typeface="Cambria Math" panose="02040503050406030204" pitchFamily="18" charset="0"/>
                  </a:rPr>
                  <a:t>$4c$</a:t>
                </a:r>
                <a:r>
                  <a:rPr sz="2400" b="0">
                    <a:solidFill>
                      <a:srgbClr val="111827"/>
                    </a:solidFill>
                    <a:latin typeface="Arial"/>
                  </a:rPr>
                  <a:t> (here </a:t>
                </a:r>
                <a:r>
                  <a:rPr lang="en-IN" sz="2400">
                    <a:solidFill>
                      <a:srgbClr val="111827"/>
                    </a:solidFill>
                    <a:latin typeface="Cambria Math" panose="02040503050406030204" pitchFamily="18" charset="0"/>
                  </a:rPr>
                  <a:t>$c=2\sqrt2$</a:t>
                </a:r>
                <a:r>
                  <a:rPr sz="2400" b="0">
                    <a:solidFill>
                      <a:srgbClr val="111827"/>
                    </a:solidFill>
                    <a:latin typeface="Arial"/>
                  </a:rPr>
                  <a:t>, so </a:t>
                </a:r>
                <a:r>
                  <a:rPr lang="en-IN" sz="2400">
                    <a:solidFill>
                      <a:srgbClr val="111827"/>
                    </a:solidFill>
                    <a:latin typeface="Cambria Math" panose="02040503050406030204" pitchFamily="18" charset="0"/>
                  </a:rPr>
                  <a:t>$F_1F_2=8\sqrt2$</a:t>
                </a:r>
                <a:r>
                  <a:rPr sz="2400" b="0">
                    <a:solidFill>
                      <a:srgbClr val="111827"/>
                    </a:solidFill>
                    <a:latin typeface="Arial"/>
                  </a:rPr>
                  <a:t> and the radius is </a:t>
                </a:r>
                <a:r>
                  <a:rPr lang="en-IN" sz="2400">
                    <a:solidFill>
                      <a:srgbClr val="111827"/>
                    </a:solidFill>
                    <a:latin typeface="Cambria Math" panose="02040503050406030204" pitchFamily="18" charset="0"/>
                  </a:rPr>
                  <a:t>$4\sqrt2$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general hyperbola </a:t>
                </a:r>
                <a:r>
                  <a:rPr lang="en-IN" sz="2400">
                    <a:solidFill>
                      <a:srgbClr val="111827"/>
                    </a:solidFill>
                    <a:latin typeface="Cambria Math" panose="02040503050406030204" pitchFamily="18" charset="0"/>
                  </a:rPr>
                  <a:t>$\frac{x^2}{a^2}-\frac{y^2}{b^2}=1$</a:t>
                </a:r>
                <a:r>
                  <a:rPr sz="2400" b="0">
                    <a:solidFill>
                      <a:srgbClr val="111827"/>
                    </a:solidFill>
                    <a:latin typeface="Arial"/>
                  </a:rPr>
                  <a:t> the circle on the foci as diameter is </a:t>
                </a:r>
                <a:r>
                  <a:rPr lang="en-IN" sz="2400">
                    <a:solidFill>
                      <a:srgbClr val="111827"/>
                    </a:solidFill>
                    <a:latin typeface="Cambria Math" panose="02040503050406030204" pitchFamily="18" charset="0"/>
                  </a:rPr>
                  <a:t>$x^2+y^2=a^2+b^2$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3</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Match the Column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Q62 – Q65</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No marking scheme printed in the paper</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Assumed +3 each (JEE Advanced default for matching)</a:t>
            </a:r>
            <a:endParaRPr sz="2800">
              <a:solidFill>
                <a:srgbClr val="FFFFFF"/>
              </a:solidFill>
            </a:endParaRPr>
          </a:p>
        </p:txBody>
      </p:sp>
    </p:spTree>
  </p:cSld>
  <p:clrMapOvr>
    <a:masterClrMapping/>
  </p:clrMapOvr>
</p:sld>
</file>

<file path=ppt/slides/slide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35482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oMath>
                </a14:m>
                <a:r>
                  <a:rPr sz="2400" b="0">
                    <a:solidFill>
                      <a:srgbClr val="111827"/>
                    </a:solidFill>
                    <a:latin typeface="Arial"/>
                  </a:rPr>
                  <a:t>:\nColumn I\n(A) Tangent and normal at the extremities of the latus rectum intersect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at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respectively. The coordinates of the middle point of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are\n(B) Variable chords of the parabola passing through a fixed point </a:t>
                </a:r>
                <a14:m>
                  <m:oMath xmlns:m="http://schemas.openxmlformats.org/officeDocument/2006/math">
                    <m:r>
                      <a:rPr lang="en-IN" sz="2400" i="1">
                        <a:solidFill>
                          <a:srgbClr val="111827"/>
                        </a:solidFill>
                        <a:latin typeface="Cambria Math" panose="02040503050406030204" pitchFamily="18" charset="0"/>
                      </a:rPr>
                      <m:t>𝐾</m:t>
                    </m:r>
                  </m:oMath>
                </a14:m>
                <a:r>
                  <a:rPr sz="2400" b="0">
                    <a:solidFill>
                      <a:srgbClr val="111827"/>
                    </a:solidFill>
                    <a:latin typeface="Arial"/>
                  </a:rPr>
                  <a:t> on the axis, such that the sum of the squares of the reciprocals of the two parts of the chords through </a:t>
                </a:r>
                <a14:m>
                  <m:oMath xmlns:m="http://schemas.openxmlformats.org/officeDocument/2006/math">
                    <m:r>
                      <a:rPr lang="en-IN" sz="2400" i="1">
                        <a:solidFill>
                          <a:srgbClr val="111827"/>
                        </a:solidFill>
                        <a:latin typeface="Cambria Math" panose="02040503050406030204" pitchFamily="18" charset="0"/>
                      </a:rPr>
                      <m:t>𝐾</m:t>
                    </m:r>
                  </m:oMath>
                </a14:m>
                <a:r>
                  <a:rPr sz="2400" b="0">
                    <a:solidFill>
                      <a:srgbClr val="111827"/>
                    </a:solidFill>
                    <a:latin typeface="Arial"/>
                  </a:rPr>
                  <a:t> is a constant. The coordinates of the point </a:t>
                </a:r>
                <a14:m>
                  <m:oMath xmlns:m="http://schemas.openxmlformats.org/officeDocument/2006/math">
                    <m:r>
                      <a:rPr lang="en-IN" sz="2400" i="1">
                        <a:solidFill>
                          <a:srgbClr val="111827"/>
                        </a:solidFill>
                        <a:latin typeface="Cambria Math" panose="02040503050406030204" pitchFamily="18" charset="0"/>
                      </a:rPr>
                      <m:t>𝐾</m:t>
                    </m:r>
                  </m:oMath>
                </a14:m>
                <a:r>
                  <a:rPr sz="2400" b="0">
                    <a:solidFill>
                      <a:srgbClr val="111827"/>
                    </a:solidFill>
                    <a:latin typeface="Arial"/>
                  </a:rPr>
                  <a:t> are\n(C) All variable chords of the parabola subtending a right angle at the origin are concurrent at the point\n(D)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are the chords of the parabola which intersect at a point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on the axis. The radical axis of the two circles described on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as diameter always passes through\nColumn II\n(P)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\n(Q)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\n(R)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\n(S)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endParaRPr sz="2400">
                  <a:solidFill>
                    <a:srgbClr val="111827"/>
                  </a:solidFill>
                </a:endParaRPr>
              </a:p>
            </p:txBody>
          </p:sp>
        </mc:Choice>
        <mc:Fallback>
          <p:sp>
            <p:nvSpPr>
              <p:cNvPr id="4" name="Rounded Rectangle 3"/>
              <p:cNvSpPr/>
              <p:nvPr/>
            </p:nvSpPr>
            <p:spPr>
              <a:xfrm>
                <a:off x="731520" y="1280160"/>
                <a:ext cx="10725912" cy="535482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parabola </a:t>
                </a:r>
                <a:r>
                  <a:rPr lang="en-IN" sz="2400">
                    <a:solidFill>
                      <a:srgbClr val="111827"/>
                    </a:solidFill>
                    <a:latin typeface="Cambria Math" panose="02040503050406030204" pitchFamily="18" charset="0"/>
                  </a:rPr>
                  <a:t>$y^2=12x$</a:t>
                </a:r>
                <a:r>
                  <a:rPr sz="2400" b="0">
                    <a:solidFill>
                      <a:srgbClr val="111827"/>
                    </a:solidFill>
                    <a:latin typeface="Arial"/>
                  </a:rPr>
                  <a:t>:\nColumn I\n(A) Tangent and normal at the extremities of the latus rectum intersect the </a:t>
                </a:r>
                <a:r>
                  <a:rPr lang="en-IN" sz="2400">
                    <a:solidFill>
                      <a:srgbClr val="111827"/>
                    </a:solidFill>
                    <a:latin typeface="Cambria Math" panose="02040503050406030204" pitchFamily="18" charset="0"/>
                  </a:rPr>
                  <a:t>$x$</a:t>
                </a:r>
                <a:r>
                  <a:rPr sz="2400" b="0">
                    <a:solidFill>
                      <a:srgbClr val="111827"/>
                    </a:solidFill>
                    <a:latin typeface="Arial"/>
                  </a:rPr>
                  <a:t>-axis at </a:t>
                </a:r>
                <a:r>
                  <a:rPr lang="en-IN" sz="2400">
                    <a:solidFill>
                      <a:srgbClr val="111827"/>
                    </a:solidFill>
                    <a:latin typeface="Cambria Math" panose="02040503050406030204" pitchFamily="18" charset="0"/>
                  </a:rPr>
                  <a:t>$T$</a:t>
                </a:r>
                <a:r>
                  <a:rPr sz="2400" b="0">
                    <a:solidFill>
                      <a:srgbClr val="111827"/>
                    </a:solidFill>
                    <a:latin typeface="Arial"/>
                  </a:rPr>
                  <a:t> and </a:t>
                </a:r>
                <a:r>
                  <a:rPr lang="en-IN" sz="2400">
                    <a:solidFill>
                      <a:srgbClr val="111827"/>
                    </a:solidFill>
                    <a:latin typeface="Cambria Math" panose="02040503050406030204" pitchFamily="18" charset="0"/>
                  </a:rPr>
                  <a:t>$G$</a:t>
                </a:r>
                <a:r>
                  <a:rPr sz="2400" b="0">
                    <a:solidFill>
                      <a:srgbClr val="111827"/>
                    </a:solidFill>
                    <a:latin typeface="Arial"/>
                  </a:rPr>
                  <a:t> respectively. The coordinates of the middle point of </a:t>
                </a:r>
                <a:r>
                  <a:rPr lang="en-IN" sz="2400">
                    <a:solidFill>
                      <a:srgbClr val="111827"/>
                    </a:solidFill>
                    <a:latin typeface="Cambria Math" panose="02040503050406030204" pitchFamily="18" charset="0"/>
                  </a:rPr>
                  <a:t>$T$</a:t>
                </a:r>
                <a:r>
                  <a:rPr sz="2400" b="0">
                    <a:solidFill>
                      <a:srgbClr val="111827"/>
                    </a:solidFill>
                    <a:latin typeface="Arial"/>
                  </a:rPr>
                  <a:t> and </a:t>
                </a:r>
                <a:r>
                  <a:rPr lang="en-IN" sz="2400">
                    <a:solidFill>
                      <a:srgbClr val="111827"/>
                    </a:solidFill>
                    <a:latin typeface="Cambria Math" panose="02040503050406030204" pitchFamily="18" charset="0"/>
                  </a:rPr>
                  <a:t>$G$</a:t>
                </a:r>
                <a:r>
                  <a:rPr sz="2400" b="0">
                    <a:solidFill>
                      <a:srgbClr val="111827"/>
                    </a:solidFill>
                    <a:latin typeface="Arial"/>
                  </a:rPr>
                  <a:t> are\n(B) Variable chords of the parabola passing through a fixed point </a:t>
                </a:r>
                <a:r>
                  <a:rPr lang="en-IN" sz="2400">
                    <a:solidFill>
                      <a:srgbClr val="111827"/>
                    </a:solidFill>
                    <a:latin typeface="Cambria Math" panose="02040503050406030204" pitchFamily="18" charset="0"/>
                  </a:rPr>
                  <a:t>$K$</a:t>
                </a:r>
                <a:r>
                  <a:rPr sz="2400" b="0">
                    <a:solidFill>
                      <a:srgbClr val="111827"/>
                    </a:solidFill>
                    <a:latin typeface="Arial"/>
                  </a:rPr>
                  <a:t> on the axis, such that the sum of the squares of the reciprocals of the two parts of the chords through </a:t>
                </a:r>
                <a:r>
                  <a:rPr lang="en-IN" sz="2400">
                    <a:solidFill>
                      <a:srgbClr val="111827"/>
                    </a:solidFill>
                    <a:latin typeface="Cambria Math" panose="02040503050406030204" pitchFamily="18" charset="0"/>
                  </a:rPr>
                  <a:t>$K$</a:t>
                </a:r>
                <a:r>
                  <a:rPr sz="2400" b="0">
                    <a:solidFill>
                      <a:srgbClr val="111827"/>
                    </a:solidFill>
                    <a:latin typeface="Arial"/>
                  </a:rPr>
                  <a:t> is a constant. The coordinates of the point </a:t>
                </a:r>
                <a:r>
                  <a:rPr lang="en-IN" sz="2400">
                    <a:solidFill>
                      <a:srgbClr val="111827"/>
                    </a:solidFill>
                    <a:latin typeface="Cambria Math" panose="02040503050406030204" pitchFamily="18" charset="0"/>
                  </a:rPr>
                  <a:t>$K$</a:t>
                </a:r>
                <a:r>
                  <a:rPr sz="2400" b="0">
                    <a:solidFill>
                      <a:srgbClr val="111827"/>
                    </a:solidFill>
                    <a:latin typeface="Arial"/>
                  </a:rPr>
                  <a:t> are\n(C) All variable chords of the parabola subtending a right angle at the origin are concurrent at the point\n(D) </a:t>
                </a:r>
                <a:r>
                  <a:rPr lang="en-IN" sz="2400">
                    <a:solidFill>
                      <a:srgbClr val="111827"/>
                    </a:solidFill>
                    <a:latin typeface="Cambria Math" panose="02040503050406030204" pitchFamily="18" charset="0"/>
                  </a:rPr>
                  <a:t>$AB$</a:t>
                </a:r>
                <a:r>
                  <a:rPr sz="2400" b="0">
                    <a:solidFill>
                      <a:srgbClr val="111827"/>
                    </a:solidFill>
                    <a:latin typeface="Arial"/>
                  </a:rPr>
                  <a:t> and </a:t>
                </a:r>
                <a:r>
                  <a:rPr lang="en-IN" sz="2400">
                    <a:solidFill>
                      <a:srgbClr val="111827"/>
                    </a:solidFill>
                    <a:latin typeface="Cambria Math" panose="02040503050406030204" pitchFamily="18" charset="0"/>
                  </a:rPr>
                  <a:t>$CD$</a:t>
                </a:r>
                <a:r>
                  <a:rPr sz="2400" b="0">
                    <a:solidFill>
                      <a:srgbClr val="111827"/>
                    </a:solidFill>
                    <a:latin typeface="Arial"/>
                  </a:rPr>
                  <a:t> are the chords of the parabola which intersect at a point </a:t>
                </a:r>
                <a:r>
                  <a:rPr lang="en-IN" sz="2400">
                    <a:solidFill>
                      <a:srgbClr val="111827"/>
                    </a:solidFill>
                    <a:latin typeface="Cambria Math" panose="02040503050406030204" pitchFamily="18" charset="0"/>
                  </a:rPr>
                  <a:t>$E$</a:t>
                </a:r>
                <a:r>
                  <a:rPr sz="2400" b="0">
                    <a:solidFill>
                      <a:srgbClr val="111827"/>
                    </a:solidFill>
                    <a:latin typeface="Arial"/>
                  </a:rPr>
                  <a:t> on the axis. The radical axis of the two circles described on </a:t>
                </a:r>
                <a:r>
                  <a:rPr lang="en-IN" sz="2400">
                    <a:solidFill>
                      <a:srgbClr val="111827"/>
                    </a:solidFill>
                    <a:latin typeface="Cambria Math" panose="02040503050406030204" pitchFamily="18" charset="0"/>
                  </a:rPr>
                  <a:t>$AB$</a:t>
                </a:r>
                <a:r>
                  <a:rPr sz="2400" b="0">
                    <a:solidFill>
                      <a:srgbClr val="111827"/>
                    </a:solidFill>
                    <a:latin typeface="Arial"/>
                  </a:rPr>
                  <a:t> and </a:t>
                </a:r>
                <a:r>
                  <a:rPr lang="en-IN" sz="2400">
                    <a:solidFill>
                      <a:srgbClr val="111827"/>
                    </a:solidFill>
                    <a:latin typeface="Cambria Math" panose="02040503050406030204" pitchFamily="18" charset="0"/>
                  </a:rPr>
                  <a:t>$CD$</a:t>
                </a:r>
                <a:r>
                  <a:rPr sz="2400" b="0">
                    <a:solidFill>
                      <a:srgbClr val="111827"/>
                    </a:solidFill>
                    <a:latin typeface="Arial"/>
                  </a:rPr>
                  <a:t> as diameter always passes through\nColumn II\n(P) </a:t>
                </a:r>
                <a:r>
                  <a:rPr lang="en-IN" sz="2400">
                    <a:solidFill>
                      <a:srgbClr val="111827"/>
                    </a:solidFill>
                    <a:latin typeface="Cambria Math" panose="02040503050406030204" pitchFamily="18" charset="0"/>
                  </a:rPr>
                  <a:t>$(0,0)$</a:t>
                </a:r>
                <a:r>
                  <a:rPr sz="2400" b="0">
                    <a:solidFill>
                      <a:srgbClr val="111827"/>
                    </a:solidFill>
                    <a:latin typeface="Arial"/>
                  </a:rPr>
                  <a:t>\n(Q) </a:t>
                </a:r>
                <a:r>
                  <a:rPr lang="en-IN" sz="2400">
                    <a:solidFill>
                      <a:srgbClr val="111827"/>
                    </a:solidFill>
                    <a:latin typeface="Cambria Math" panose="02040503050406030204" pitchFamily="18" charset="0"/>
                  </a:rPr>
                  <a:t>$(3,0)$</a:t>
                </a:r>
                <a:r>
                  <a:rPr sz="2400" b="0">
                    <a:solidFill>
                      <a:srgbClr val="111827"/>
                    </a:solidFill>
                    <a:latin typeface="Arial"/>
                  </a:rPr>
                  <a:t>\n(R) </a:t>
                </a:r>
                <a:r>
                  <a:rPr lang="en-IN" sz="2400">
                    <a:solidFill>
                      <a:srgbClr val="111827"/>
                    </a:solidFill>
                    <a:latin typeface="Cambria Math" panose="02040503050406030204" pitchFamily="18" charset="0"/>
                  </a:rPr>
                  <a:t>$(6,0)$</a:t>
                </a:r>
                <a:r>
                  <a:rPr sz="2400" b="0">
                    <a:solidFill>
                      <a:srgbClr val="111827"/>
                    </a:solidFill>
                    <a:latin typeface="Arial"/>
                  </a:rPr>
                  <a:t>\n(S) </a:t>
                </a:r>
                <a:r>
                  <a:rPr lang="en-IN" sz="2400">
                    <a:solidFill>
                      <a:srgbClr val="111827"/>
                    </a:solidFill>
                    <a:latin typeface="Cambria Math" panose="02040503050406030204" pitchFamily="18" charset="0"/>
                  </a:rPr>
                  <a:t>$(12,0)$</a:t>
                </a:r>
                <a:endParaRPr sz="2400">
                  <a:solidFill>
                    <a:srgbClr val="111827"/>
                  </a:solidFill>
                </a:endParaRPr>
              </a:p>
            </p:txBody>
          </p:sp>
        </mc:Fallback>
      </mc:AlternateContent>
    </p:spTree>
  </p:cSld>
  <p:clrMapOvr>
    <a:masterClrMapping/>
  </p:clrMapOvr>
</p:sld>
</file>

<file path=ppt/slides/slide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Tangent, normal, chords and circles on chords of a parabola (axis points)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 (A) midpoint is the focus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(B) </a:t>
                </a:r>
                <a14:m>
                  <m:oMath xmlns:m="http://schemas.openxmlformats.org/officeDocument/2006/math">
                    <m:r>
                      <a:rPr lang="en-IN" sz="2400" i="1">
                        <a:solidFill>
                          <a:srgbClr val="78350F"/>
                        </a:solidFill>
                        <a:latin typeface="Cambria Math" panose="02040503050406030204" pitchFamily="18" charset="0"/>
                      </a:rPr>
                      <m:t>𝐾</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(C) chords pass through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(D) the origin has equal power with respect to both circles.</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a:t>
                </a:r>
                <a:r>
                  <a:rPr lang="en-IN" sz="2400">
                    <a:solidFill>
                      <a:srgbClr val="78350F"/>
                    </a:solidFill>
                    <a:latin typeface="Cambria Math" panose="02040503050406030204" pitchFamily="18" charset="0"/>
                  </a:rPr>
                  <a:t>$y^2=4ax,\ a=3$</a:t>
                </a:r>
                <a:r>
                  <a:rPr sz="2400" b="0">
                    <a:solidFill>
                      <a:srgbClr val="78350F"/>
                    </a:solidFill>
                    <a:latin typeface="Arial"/>
                  </a:rPr>
                  <a:t>: (A) midpoint is the focus </a:t>
                </a:r>
                <a:r>
                  <a:rPr lang="en-IN" sz="2400">
                    <a:solidFill>
                      <a:srgbClr val="78350F"/>
                    </a:solidFill>
                    <a:latin typeface="Cambria Math" panose="02040503050406030204" pitchFamily="18" charset="0"/>
                  </a:rPr>
                  <a:t>$(a,0)$</a:t>
                </a:r>
                <a:r>
                  <a:rPr sz="2400" b="0">
                    <a:solidFill>
                      <a:srgbClr val="78350F"/>
                    </a:solidFill>
                    <a:latin typeface="Arial"/>
                  </a:rPr>
                  <a:t>; (B) </a:t>
                </a:r>
                <a:r>
                  <a:rPr lang="en-IN" sz="2400">
                    <a:solidFill>
                      <a:srgbClr val="78350F"/>
                    </a:solidFill>
                    <a:latin typeface="Cambria Math" panose="02040503050406030204" pitchFamily="18" charset="0"/>
                  </a:rPr>
                  <a:t>$K=(2a,0)$</a:t>
                </a:r>
                <a:r>
                  <a:rPr sz="2400" b="0">
                    <a:solidFill>
                      <a:srgbClr val="78350F"/>
                    </a:solidFill>
                    <a:latin typeface="Arial"/>
                  </a:rPr>
                  <a:t>; (C) chords pass through </a:t>
                </a:r>
                <a:r>
                  <a:rPr lang="en-IN" sz="2400">
                    <a:solidFill>
                      <a:srgbClr val="78350F"/>
                    </a:solidFill>
                    <a:latin typeface="Cambria Math" panose="02040503050406030204" pitchFamily="18" charset="0"/>
                  </a:rPr>
                  <a:t>$(4a,0)$</a:t>
                </a:r>
                <a:r>
                  <a:rPr sz="2400" b="0">
                    <a:solidFill>
                      <a:srgbClr val="78350F"/>
                    </a:solidFill>
                    <a:latin typeface="Arial"/>
                  </a:rPr>
                  <a:t>; (D) the origin has equal power with respect to both circles.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$y^2=12x$</a:t>
                </a:r>
                <a:r>
                  <a:rPr sz="2400" b="0">
                    <a:solidFill>
                      <a:srgbClr val="111827"/>
                    </a:solidFill>
                    <a:latin typeface="Arial"/>
                  </a:rPr>
                  <a:t> so </a:t>
                </a:r>
                <a:r>
                  <a:rPr lang="en-IN" sz="2400">
                    <a:solidFill>
                      <a:srgbClr val="111827"/>
                    </a:solidFill>
                    <a:latin typeface="Cambria Math" panose="02040503050406030204" pitchFamily="18" charset="0"/>
                  </a:rPr>
                  <a:t>$a=3$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end of the latus rectum is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Tangent: </a:t>
                </a:r>
                <a14:m>
                  <m:oMath xmlns:m="http://schemas.openxmlformats.org/officeDocument/2006/math">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Normal: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Midpoint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Let the chord through </a:t>
                </a:r>
                <a14:m>
                  <m:oMath xmlns:m="http://schemas.openxmlformats.org/officeDocument/2006/math">
                    <m:r>
                      <a:rPr lang="en-IN" sz="2400" i="1">
                        <a:solidFill>
                          <a:srgbClr val="111827"/>
                        </a:solidFill>
                        <a:latin typeface="Cambria Math" panose="02040503050406030204" pitchFamily="18" charset="0"/>
                      </a:rPr>
                      <m:t>𝐾</m:t>
                    </m:r>
                  </m:oMath>
                </a14:m>
                <a:r>
                  <a:rPr sz="2400" b="0">
                    <a:solidFill>
                      <a:srgbClr val="111827"/>
                    </a:solidFill>
                    <a:latin typeface="Arial"/>
                  </a:rPr>
                  <a:t> meet the parabola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squares of the two parts are </a:t>
                </a:r>
                <a14:m>
                  <m:oMath xmlns:m="http://schemas.openxmlformats.org/officeDocument/2006/math">
                    <m:r>
                      <a:rPr lang="en-IN" sz="2400" i="1">
                        <a:solidFill>
                          <a:srgbClr val="111827"/>
                        </a:solidFill>
                        <a:latin typeface="Cambria Math" panose="02040503050406030204" pitchFamily="18" charset="0"/>
                      </a:rPr>
                      <m:t>𝐾</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𝐾</m:t>
                    </m:r>
                    <m:sSup>
                      <m:e>
                        <m:r>
                          <a:rPr lang="en-IN" sz="2400" i="1">
                            <a:solidFill>
                              <a:srgbClr val="111827"/>
                            </a:solidFill>
                            <a:latin typeface="Cambria Math" panose="02040503050406030204" pitchFamily="18" charset="0"/>
                          </a:rPr>
                          <m:t>𝑄</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𝐾</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𝐾</m:t>
                        </m:r>
                        <m:sSup>
                          <m:e>
                            <m:r>
                              <a:rPr lang="en-IN" sz="2400" i="1">
                                <a:solidFill>
                                  <a:srgbClr val="111827"/>
                                </a:solidFill>
                                <a:latin typeface="Cambria Math" panose="02040503050406030204" pitchFamily="18" charset="0"/>
                              </a:rPr>
                              <m:t>𝑄</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d>
                      </m:den>
                    </m:f>
                  </m:oMath>
                </a14:m>
                <a:r>
                  <a:rPr sz="2400" b="0">
                    <a:solidFill>
                      <a:srgbClr val="111827"/>
                    </a:solidFill>
                    <a:latin typeface="Arial"/>
                  </a:rPr>
                  <a:t>, constant for every chord iff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𝑡</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𝑡</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constant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R.</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end of the latus rectum is </a:t>
                </a:r>
                <a:r>
                  <a:rPr lang="en-IN" sz="2400">
                    <a:solidFill>
                      <a:srgbClr val="111827"/>
                    </a:solidFill>
                    <a:latin typeface="Cambria Math" panose="02040503050406030204" pitchFamily="18" charset="0"/>
                  </a:rPr>
                  <a:t>$L(a,2a)=(3,6)$</a:t>
                </a:r>
                <a:r>
                  <a:rPr sz="2400" b="0">
                    <a:solidFill>
                      <a:srgbClr val="111827"/>
                    </a:solidFill>
                    <a:latin typeface="Arial"/>
                  </a:rPr>
                  <a:t>. Tangent: </a:t>
                </a:r>
                <a:r>
                  <a:rPr lang="en-IN" sz="2400">
                    <a:solidFill>
                      <a:srgbClr val="111827"/>
                    </a:solidFill>
                    <a:latin typeface="Cambria Math" panose="02040503050406030204" pitchFamily="18" charset="0"/>
                  </a:rPr>
                  <a:t>$6y=6(x+3)$</a:t>
                </a:r>
                <a:r>
                  <a:rPr sz="2400" b="0">
                    <a:solidFill>
                      <a:srgbClr val="111827"/>
                    </a:solidFill>
                    <a:latin typeface="Arial"/>
                  </a:rPr>
                  <a:t>, i.e. </a:t>
                </a:r>
                <a:r>
                  <a:rPr lang="en-IN" sz="2400">
                    <a:solidFill>
                      <a:srgbClr val="111827"/>
                    </a:solidFill>
                    <a:latin typeface="Cambria Math" panose="02040503050406030204" pitchFamily="18" charset="0"/>
                  </a:rPr>
                  <a:t>$x-y+3=0$</a:t>
                </a:r>
                <a:r>
                  <a:rPr sz="2400" b="0">
                    <a:solidFill>
                      <a:srgbClr val="111827"/>
                    </a:solidFill>
                    <a:latin typeface="Arial"/>
                  </a:rPr>
                  <a:t>, so </a:t>
                </a:r>
                <a:r>
                  <a:rPr lang="en-IN" sz="2400">
                    <a:solidFill>
                      <a:srgbClr val="111827"/>
                    </a:solidFill>
                    <a:latin typeface="Cambria Math" panose="02040503050406030204" pitchFamily="18" charset="0"/>
                  </a:rPr>
                  <a:t>$T(-3,0)$</a:t>
                </a:r>
                <a:r>
                  <a:rPr sz="2400" b="0">
                    <a:solidFill>
                      <a:srgbClr val="111827"/>
                    </a:solidFill>
                    <a:latin typeface="Arial"/>
                  </a:rPr>
                  <a:t>. Normal: </a:t>
                </a:r>
                <a:r>
                  <a:rPr lang="en-IN" sz="2400">
                    <a:solidFill>
                      <a:srgbClr val="111827"/>
                    </a:solidFill>
                    <a:latin typeface="Cambria Math" panose="02040503050406030204" pitchFamily="18" charset="0"/>
                  </a:rPr>
                  <a:t>$y-6=-1(x-3)$</a:t>
                </a:r>
                <a:r>
                  <a:rPr sz="2400" b="0">
                    <a:solidFill>
                      <a:srgbClr val="111827"/>
                    </a:solidFill>
                    <a:latin typeface="Arial"/>
                  </a:rPr>
                  <a:t>, i.e. </a:t>
                </a:r>
                <a:r>
                  <a:rPr lang="en-IN" sz="2400">
                    <a:solidFill>
                      <a:srgbClr val="111827"/>
                    </a:solidFill>
                    <a:latin typeface="Cambria Math" panose="02040503050406030204" pitchFamily="18" charset="0"/>
                  </a:rPr>
                  <a:t>$x+y-9=0$</a:t>
                </a:r>
                <a:r>
                  <a:rPr sz="2400" b="0">
                    <a:solidFill>
                      <a:srgbClr val="111827"/>
                    </a:solidFill>
                    <a:latin typeface="Arial"/>
                  </a:rPr>
                  <a:t>, so </a:t>
                </a:r>
                <a:r>
                  <a:rPr lang="en-IN" sz="2400">
                    <a:solidFill>
                      <a:srgbClr val="111827"/>
                    </a:solidFill>
                    <a:latin typeface="Cambria Math" panose="02040503050406030204" pitchFamily="18" charset="0"/>
                  </a:rPr>
                  <a:t>$G(9,0)$</a:t>
                </a:r>
                <a:r>
                  <a:rPr sz="2400" b="0">
                    <a:solidFill>
                      <a:srgbClr val="111827"/>
                    </a:solidFill>
                    <a:latin typeface="Arial"/>
                  </a:rPr>
                  <a:t>. Midpoint </a:t>
                </a:r>
                <a:r>
                  <a:rPr lang="en-IN" sz="2400">
                    <a:solidFill>
                      <a:srgbClr val="111827"/>
                    </a:solidFill>
                    <a:latin typeface="Cambria Math" panose="02040503050406030204" pitchFamily="18" charset="0"/>
                  </a:rPr>
                  <a:t>$=(3,0)$</a:t>
                </a:r>
                <a:r>
                  <a:rPr sz="2400" b="0">
                    <a:solidFill>
                      <a:srgbClr val="111827"/>
                    </a:solidFill>
                    <a:latin typeface="Arial"/>
                  </a:rPr>
                  <a:t>: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Let the chord through </a:t>
                </a:r>
                <a:r>
                  <a:rPr lang="en-IN" sz="2400">
                    <a:solidFill>
                      <a:srgbClr val="111827"/>
                    </a:solidFill>
                    <a:latin typeface="Cambria Math" panose="02040503050406030204" pitchFamily="18" charset="0"/>
                  </a:rPr>
                  <a:t>$K$</a:t>
                </a:r>
                <a:r>
                  <a:rPr sz="2400" b="0">
                    <a:solidFill>
                      <a:srgbClr val="111827"/>
                    </a:solidFill>
                    <a:latin typeface="Arial"/>
                  </a:rPr>
                  <a:t> meet the parabola at </a:t>
                </a:r>
                <a:r>
                  <a:rPr lang="en-IN" sz="2400">
                    <a:solidFill>
                      <a:srgbClr val="111827"/>
                    </a:solidFill>
                    <a:latin typeface="Cambria Math" panose="02040503050406030204" pitchFamily="18" charset="0"/>
                  </a:rPr>
                  <a:t>$P(t),\ Q(t_1)$</a:t>
                </a:r>
                <a:r>
                  <a:rPr sz="2400" b="0">
                    <a:solidFill>
                      <a:srgbClr val="111827"/>
                    </a:solidFill>
                    <a:latin typeface="Arial"/>
                  </a:rPr>
                  <a:t>; then </a:t>
                </a:r>
                <a:r>
                  <a:rPr lang="en-IN" sz="2400">
                    <a:solidFill>
                      <a:srgbClr val="111827"/>
                    </a:solidFill>
                    <a:latin typeface="Cambria Math" panose="02040503050406030204" pitchFamily="18" charset="0"/>
                  </a:rPr>
                  <a:t>$K=(-att_1,0)$</a:t>
                </a:r>
                <a:r>
                  <a:rPr sz="2400" b="0">
                    <a:solidFill>
                      <a:srgbClr val="111827"/>
                    </a:solidFill>
                    <a:latin typeface="Arial"/>
                  </a:rPr>
                  <a:t>. The squares of the two parts are </a:t>
                </a:r>
                <a:r>
                  <a:rPr lang="en-IN" sz="2400">
                    <a:solidFill>
                      <a:srgbClr val="111827"/>
                    </a:solidFill>
                    <a:latin typeface="Cambria Math" panose="02040503050406030204" pitchFamily="18" charset="0"/>
                  </a:rPr>
                  <a:t>$KP^2=a^2t^2\left[(t+t_1)^2+4\right]$</a:t>
                </a:r>
                <a:r>
                  <a:rPr sz="2400" b="0">
                    <a:solidFill>
                      <a:srgbClr val="111827"/>
                    </a:solidFill>
                    <a:latin typeface="Arial"/>
                  </a:rPr>
                  <a:t> and </a:t>
                </a:r>
                <a:r>
                  <a:rPr lang="en-IN" sz="2400">
                    <a:solidFill>
                      <a:srgbClr val="111827"/>
                    </a:solidFill>
                    <a:latin typeface="Cambria Math" panose="02040503050406030204" pitchFamily="18" charset="0"/>
                  </a:rPr>
                  <a:t>$KQ^2=a^2t_1^2\left[(t+t_1)^2+4\right]$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$\frac1{KP^2}+\frac1{KQ^2}=\frac{t^2+t_1^2}{a^2t^2t_1^2\left[(t+t_1)^2+4\right]}=\frac{(t+t_1)^2-2tt_1}{a^2t^2t_1^2\left[(t+t_1)^2+4\right]}$</a:t>
                </a:r>
                <a:r>
                  <a:rPr sz="2400" b="0">
                    <a:solidFill>
                      <a:srgbClr val="111827"/>
                    </a:solidFill>
                    <a:latin typeface="Arial"/>
                  </a:rPr>
                  <a:t>, constant for every chord iff </a:t>
                </a:r>
                <a:r>
                  <a:rPr lang="en-IN" sz="2400">
                    <a:solidFill>
                      <a:srgbClr val="111827"/>
                    </a:solidFill>
                    <a:latin typeface="Cambria Math" panose="02040503050406030204" pitchFamily="18" charset="0"/>
                  </a:rPr>
                  <a:t>$-2tt_1=4$</a:t>
                </a:r>
                <a:r>
                  <a:rPr sz="2400" b="0">
                    <a:solidFill>
                      <a:srgbClr val="111827"/>
                    </a:solidFill>
                    <a:latin typeface="Arial"/>
                  </a:rPr>
                  <a:t>, i.e. </a:t>
                </a:r>
                <a:r>
                  <a:rPr lang="en-IN" sz="2400">
                    <a:solidFill>
                      <a:srgbClr val="111827"/>
                    </a:solidFill>
                    <a:latin typeface="Cambria Math" panose="02040503050406030204" pitchFamily="18" charset="0"/>
                  </a:rPr>
                  <a:t>$4+2tt_1=0$</a:t>
                </a:r>
                <a:r>
                  <a:rPr sz="2400" b="0">
                    <a:solidFill>
                      <a:srgbClr val="111827"/>
                    </a:solidFill>
                    <a:latin typeface="Arial"/>
                  </a:rPr>
                  <a:t> and </a:t>
                </a:r>
                <a:r>
                  <a:rPr lang="en-IN" sz="2400">
                    <a:solidFill>
                      <a:srgbClr val="111827"/>
                    </a:solidFill>
                    <a:latin typeface="Cambria Math" panose="02040503050406030204" pitchFamily="18" charset="0"/>
                  </a:rPr>
                  <a:t>$tt_1=-2$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$K=(-att_1,0)=(2a,0)=(6,0)$</a:t>
                </a:r>
                <a:r>
                  <a:rPr sz="2400" b="0">
                    <a:solidFill>
                      <a:srgbClr val="111827"/>
                    </a:solidFill>
                    <a:latin typeface="Arial"/>
                  </a:rPr>
                  <a:t> (and the constant is </a:t>
                </a:r>
                <a:r>
                  <a:rPr lang="en-IN" sz="2400">
                    <a:solidFill>
                      <a:srgbClr val="111827"/>
                    </a:solidFill>
                    <a:latin typeface="Cambria Math" panose="02040503050406030204" pitchFamily="18" charset="0"/>
                  </a:rPr>
                  <a:t>$\frac{1}{4a^2}$</a:t>
                </a:r>
                <a:r>
                  <a:rPr sz="2400" b="0">
                    <a:solidFill>
                      <a:srgbClr val="111827"/>
                    </a:solidFill>
                    <a:latin typeface="Arial"/>
                  </a:rPr>
                  <a:t>): R.</a:t>
                </a:r>
                <a:endParaRPr sz="2400">
                  <a:solidFill>
                    <a:srgbClr val="111827"/>
                  </a:solidFill>
                </a:endParaRPr>
              </a:p>
            </p:txBody>
          </p:sp>
        </mc:Fallback>
      </mc:AlternateContent>
    </p:spTree>
  </p:cSld>
  <p:clrMapOvr>
    <a:masterClrMapping/>
  </p:clrMapOvr>
</p:sld>
</file>

<file path=ppt/slides/slide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Let the chord be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Homogenising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oMath>
                </a14:m>
                <a:r>
                  <a:rPr sz="2400" b="0">
                    <a:solidFill>
                      <a:srgbClr val="111827"/>
                    </a:solidFill>
                    <a:latin typeface="Arial"/>
                  </a:rPr>
                  <a:t> with it: </a:t>
                </a:r>
                <a14:m>
                  <m:oMath xmlns:m="http://schemas.openxmlformats.org/officeDocument/2006/math">
                    <m:r>
                      <a:rPr lang="en-IN" sz="2400" i="1">
                        <a:solidFill>
                          <a:srgbClr val="111827"/>
                        </a:solidFill>
                        <a:latin typeface="Cambria Math" panose="02040503050406030204" pitchFamily="18" charset="0"/>
                      </a:rPr>
                      <m:t>𝑐</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𝑐</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𝑚</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chords subtend a right angle at the origin: coefficient sum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𝑚</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chord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Let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pass through </a:t>
                </a:r>
                <a14:m>
                  <m:oMath xmlns:m="http://schemas.openxmlformats.org/officeDocument/2006/math">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similarly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Let the chord be </a:t>
                </a:r>
                <a:r>
                  <a:rPr lang="en-IN" sz="2400">
                    <a:solidFill>
                      <a:srgbClr val="111827"/>
                    </a:solidFill>
                    <a:latin typeface="Cambria Math" panose="02040503050406030204" pitchFamily="18" charset="0"/>
                  </a:rPr>
                  <a:t>$y=mx+c$</a:t>
                </a:r>
                <a:r>
                  <a:rPr sz="2400" b="0">
                    <a:solidFill>
                      <a:srgbClr val="111827"/>
                    </a:solidFill>
                    <a:latin typeface="Arial"/>
                  </a:rPr>
                  <a:t>. Homogenising </a:t>
                </a:r>
                <a:r>
                  <a:rPr lang="en-IN" sz="2400">
                    <a:solidFill>
                      <a:srgbClr val="111827"/>
                    </a:solidFill>
                    <a:latin typeface="Cambria Math" panose="02040503050406030204" pitchFamily="18" charset="0"/>
                  </a:rPr>
                  <a:t>$y^2=12x$</a:t>
                </a:r>
                <a:r>
                  <a:rPr sz="2400" b="0">
                    <a:solidFill>
                      <a:srgbClr val="111827"/>
                    </a:solidFill>
                    <a:latin typeface="Arial"/>
                  </a:rPr>
                  <a:t> with it: </a:t>
                </a:r>
                <a:r>
                  <a:rPr lang="en-IN" sz="2400">
                    <a:solidFill>
                      <a:srgbClr val="111827"/>
                    </a:solidFill>
                    <a:latin typeface="Cambria Math" panose="02040503050406030204" pitchFamily="18" charset="0"/>
                  </a:rPr>
                  <a:t>$cy^2=12x(y-mx)$</a:t>
                </a:r>
                <a:r>
                  <a:rPr sz="2400" b="0">
                    <a:solidFill>
                      <a:srgbClr val="111827"/>
                    </a:solidFill>
                    <a:latin typeface="Arial"/>
                  </a:rPr>
                  <a:t>, i.e. </a:t>
                </a:r>
                <a:r>
                  <a:rPr lang="en-IN" sz="2400">
                    <a:solidFill>
                      <a:srgbClr val="111827"/>
                    </a:solidFill>
                    <a:latin typeface="Cambria Math" panose="02040503050406030204" pitchFamily="18" charset="0"/>
                  </a:rPr>
                  <a:t>$cy^2-12xy+12mx^2=0$</a:t>
                </a:r>
                <a:r>
                  <a:rPr sz="2400" b="0">
                    <a:solidFill>
                      <a:srgbClr val="111827"/>
                    </a:solidFill>
                    <a:latin typeface="Arial"/>
                  </a:rPr>
                  <a:t>. The chords subtend a right angle at the origin: coefficient sum </a:t>
                </a:r>
                <a:r>
                  <a:rPr lang="en-IN" sz="2400">
                    <a:solidFill>
                      <a:srgbClr val="111827"/>
                    </a:solidFill>
                    <a:latin typeface="Cambria Math" panose="02040503050406030204" pitchFamily="18" charset="0"/>
                  </a:rPr>
                  <a:t>$c+12m=0$</a:t>
                </a:r>
                <a:r>
                  <a:rPr sz="2400" b="0">
                    <a:solidFill>
                      <a:srgbClr val="111827"/>
                    </a:solidFill>
                    <a:latin typeface="Arial"/>
                  </a:rPr>
                  <a:t>, so </a:t>
                </a:r>
                <a:r>
                  <a:rPr lang="en-IN" sz="2400">
                    <a:solidFill>
                      <a:srgbClr val="111827"/>
                    </a:solidFill>
                    <a:latin typeface="Cambria Math" panose="02040503050406030204" pitchFamily="18" charset="0"/>
                  </a:rPr>
                  <a:t>$c=-12m$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chord is </a:t>
                </a:r>
                <a:r>
                  <a:rPr lang="en-IN" sz="2400">
                    <a:solidFill>
                      <a:srgbClr val="111827"/>
                    </a:solidFill>
                    <a:latin typeface="Cambria Math" panose="02040503050406030204" pitchFamily="18" charset="0"/>
                  </a:rPr>
                  <a:t>$y=m(x-12)$</a:t>
                </a:r>
                <a:r>
                  <a:rPr sz="2400" b="0">
                    <a:solidFill>
                      <a:srgbClr val="111827"/>
                    </a:solidFill>
                    <a:latin typeface="Arial"/>
                  </a:rPr>
                  <a:t>: it passes through </a:t>
                </a:r>
                <a:r>
                  <a:rPr lang="en-IN" sz="2400">
                    <a:solidFill>
                      <a:srgbClr val="111827"/>
                    </a:solidFill>
                    <a:latin typeface="Cambria Math" panose="02040503050406030204" pitchFamily="18" charset="0"/>
                  </a:rPr>
                  <a:t>$(12,0)$</a:t>
                </a:r>
                <a:r>
                  <a:rPr sz="2400" b="0">
                    <a:solidFill>
                      <a:srgbClr val="111827"/>
                    </a:solidFill>
                    <a:latin typeface="Arial"/>
                  </a:rPr>
                  <a:t>: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Let </a:t>
                </a:r>
                <a:r>
                  <a:rPr lang="en-IN" sz="2400">
                    <a:solidFill>
                      <a:srgbClr val="111827"/>
                    </a:solidFill>
                    <a:latin typeface="Cambria Math" panose="02040503050406030204" pitchFamily="18" charset="0"/>
                  </a:rPr>
                  <a:t>$AB$</a:t>
                </a:r>
                <a:r>
                  <a:rPr sz="2400" b="0">
                    <a:solidFill>
                      <a:srgbClr val="111827"/>
                    </a:solidFill>
                    <a:latin typeface="Arial"/>
                  </a:rPr>
                  <a:t> pass through </a:t>
                </a:r>
                <a:r>
                  <a:rPr lang="en-IN" sz="2400">
                    <a:solidFill>
                      <a:srgbClr val="111827"/>
                    </a:solidFill>
                    <a:latin typeface="Cambria Math" panose="02040503050406030204" pitchFamily="18" charset="0"/>
                  </a:rPr>
                  <a:t>$E(c,0)$</a:t>
                </a:r>
                <a:r>
                  <a:rPr sz="2400" b="0">
                    <a:solidFill>
                      <a:srgbClr val="111827"/>
                    </a:solidFill>
                    <a:latin typeface="Arial"/>
                  </a:rPr>
                  <a:t>: </a:t>
                </a:r>
                <a:r>
                  <a:rPr lang="en-IN" sz="2400">
                    <a:solidFill>
                      <a:srgbClr val="111827"/>
                    </a:solidFill>
                    <a:latin typeface="Cambria Math" panose="02040503050406030204" pitchFamily="18" charset="0"/>
                  </a:rPr>
                  <a:t>$AB:\ 2x-(t_1+t_2)y+2at_1t_2=0$</a:t>
                </a:r>
                <a:r>
                  <a:rPr sz="2400" b="0">
                    <a:solidFill>
                      <a:srgbClr val="111827"/>
                    </a:solidFill>
                    <a:latin typeface="Arial"/>
                  </a:rPr>
                  <a:t> gives </a:t>
                </a:r>
                <a:r>
                  <a:rPr lang="en-IN" sz="2400">
                    <a:solidFill>
                      <a:srgbClr val="111827"/>
                    </a:solidFill>
                    <a:latin typeface="Cambria Math" panose="02040503050406030204" pitchFamily="18" charset="0"/>
                  </a:rPr>
                  <a:t>$t_1t_2=-\frac ca$</a:t>
                </a:r>
                <a:r>
                  <a:rPr sz="2400" b="0">
                    <a:solidFill>
                      <a:srgbClr val="111827"/>
                    </a:solidFill>
                    <a:latin typeface="Arial"/>
                  </a:rPr>
                  <a:t>; similarly </a:t>
                </a:r>
                <a:r>
                  <a:rPr lang="en-IN" sz="2400">
                    <a:solidFill>
                      <a:srgbClr val="111827"/>
                    </a:solidFill>
                    <a:latin typeface="Cambria Math" panose="02040503050406030204" pitchFamily="18" charset="0"/>
                  </a:rPr>
                  <a:t>$t_3t_4=-\frac ca$</a:t>
                </a:r>
                <a:r>
                  <a:rPr sz="2400" b="0">
                    <a:solidFill>
                      <a:srgbClr val="111827"/>
                    </a:solidFill>
                    <a:latin typeface="Arial"/>
                  </a:rPr>
                  <a:t> for </a:t>
                </a:r>
                <a:r>
                  <a:rPr lang="en-IN" sz="2400">
                    <a:solidFill>
                      <a:srgbClr val="111827"/>
                    </a:solidFill>
                    <a:latin typeface="Cambria Math" panose="02040503050406030204" pitchFamily="18" charset="0"/>
                  </a:rPr>
                  <a:t>$CD$</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Circle with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as diameter: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Circle with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as diameter: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radical axis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has no constant term, so it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Circle with </a:t>
                </a:r>
                <a:r>
                  <a:rPr lang="en-IN" sz="2400">
                    <a:solidFill>
                      <a:srgbClr val="111827"/>
                    </a:solidFill>
                    <a:latin typeface="Cambria Math" panose="02040503050406030204" pitchFamily="18" charset="0"/>
                  </a:rPr>
                  <a:t>$AB$</a:t>
                </a:r>
                <a:r>
                  <a:rPr sz="2400" b="0">
                    <a:solidFill>
                      <a:srgbClr val="111827"/>
                    </a:solidFill>
                    <a:latin typeface="Arial"/>
                  </a:rPr>
                  <a:t> as diameter: </a:t>
                </a:r>
                <a:r>
                  <a:rPr lang="en-IN" sz="2400">
                    <a:solidFill>
                      <a:srgbClr val="111827"/>
                    </a:solidFill>
                    <a:latin typeface="Cambria Math" panose="02040503050406030204" pitchFamily="18" charset="0"/>
                  </a:rPr>
                  <a:t>$S_1:\ x^2+y^2-a(t_1^2+t_2^2)x-2a(t_1+t_2)y+c^2-4ac=0$</a:t>
                </a:r>
                <a:r>
                  <a:rPr sz="2400" b="0">
                    <a:solidFill>
                      <a:srgbClr val="111827"/>
                    </a:solidFill>
                    <a:latin typeface="Arial"/>
                  </a:rPr>
                  <a:t>. Circle with </a:t>
                </a:r>
                <a:r>
                  <a:rPr lang="en-IN" sz="2400">
                    <a:solidFill>
                      <a:srgbClr val="111827"/>
                    </a:solidFill>
                    <a:latin typeface="Cambria Math" panose="02040503050406030204" pitchFamily="18" charset="0"/>
                  </a:rPr>
                  <a:t>$CD$</a:t>
                </a:r>
                <a:r>
                  <a:rPr sz="2400" b="0">
                    <a:solidFill>
                      <a:srgbClr val="111827"/>
                    </a:solidFill>
                    <a:latin typeface="Arial"/>
                  </a:rPr>
                  <a:t> as diameter: </a:t>
                </a:r>
                <a:r>
                  <a:rPr lang="en-IN" sz="2400">
                    <a:solidFill>
                      <a:srgbClr val="111827"/>
                    </a:solidFill>
                    <a:latin typeface="Cambria Math" panose="02040503050406030204" pitchFamily="18" charset="0"/>
                  </a:rPr>
                  <a:t>$S_2:\ x^2+y^2-a(t_3^2+t_4^2)x-2a(t_3+t_4)y+c^2-4ac=0$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radical axis </a:t>
                </a:r>
                <a:r>
                  <a:rPr lang="en-IN" sz="2400">
                    <a:solidFill>
                      <a:srgbClr val="111827"/>
                    </a:solidFill>
                    <a:latin typeface="Cambria Math" panose="02040503050406030204" pitchFamily="18" charset="0"/>
                  </a:rPr>
                  <a:t>$S_1-S_2=0$</a:t>
                </a:r>
                <a:r>
                  <a:rPr sz="2400" b="0">
                    <a:solidFill>
                      <a:srgbClr val="111827"/>
                    </a:solidFill>
                    <a:latin typeface="Arial"/>
                  </a:rPr>
                  <a:t> has no constant term, so it passes through </a:t>
                </a:r>
                <a:r>
                  <a:rPr lang="en-IN" sz="2400">
                    <a:solidFill>
                      <a:srgbClr val="111827"/>
                    </a:solidFill>
                    <a:latin typeface="Cambria Math" panose="02040503050406030204" pitchFamily="18" charset="0"/>
                  </a:rPr>
                  <a:t>$(0,0)$</a:t>
                </a:r>
                <a:r>
                  <a:rPr sz="2400" b="0">
                    <a:solidFill>
                      <a:srgbClr val="111827"/>
                    </a:solidFill>
                    <a:latin typeface="Arial"/>
                  </a:rPr>
                  <a:t>: P.</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 Q, (B) - R, (C) - S, (D) - P</a:t>
            </a:r>
            <a:endParaRPr sz="2800">
              <a:solidFill>
                <a:srgbClr val="15803D"/>
              </a:solidFill>
            </a:endParaRPr>
          </a:p>
        </p:txBody>
      </p:sp>
    </p:spTree>
  </p:cSld>
  <p:clrMapOvr>
    <a:masterClrMapping/>
  </p:clrMapOvr>
</p:sld>
</file>

<file path=ppt/slides/slide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8531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the tangent and normal at the latus-rectum end meet the axis at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(C) use </a:t>
                </a:r>
                <a14:m>
                  <m:oMath xmlns:m="http://schemas.openxmlformats.org/officeDocument/2006/math">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𝑡</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 (D) the power of the origin with respect to a circle on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as diameter is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𝐵</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8531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the tangent and normal at the latus-rectum end meet the axis at </a:t>
                </a:r>
                <a:r>
                  <a:rPr lang="en-IN" sz="2400">
                    <a:solidFill>
                      <a:srgbClr val="78350F"/>
                    </a:solidFill>
                    <a:latin typeface="Cambria Math" panose="02040503050406030204" pitchFamily="18" charset="0"/>
                  </a:rPr>
                  <a:t>$(-a,0)$</a:t>
                </a:r>
                <a:r>
                  <a:rPr sz="2400" b="0">
                    <a:solidFill>
                      <a:srgbClr val="78350F"/>
                    </a:solidFill>
                    <a:latin typeface="Arial"/>
                  </a:rPr>
                  <a:t> and </a:t>
                </a:r>
                <a:r>
                  <a:rPr lang="en-IN" sz="2400">
                    <a:solidFill>
                      <a:srgbClr val="78350F"/>
                    </a:solidFill>
                    <a:latin typeface="Cambria Math" panose="02040503050406030204" pitchFamily="18" charset="0"/>
                  </a:rPr>
                  <a:t>$(3a,0)$</a:t>
                </a:r>
                <a:r>
                  <a:rPr sz="2400" b="0">
                    <a:solidFill>
                      <a:srgbClr val="78350F"/>
                    </a:solidFill>
                    <a:latin typeface="Arial"/>
                  </a:rPr>
                  <a:t>; (C) use </a:t>
                </a:r>
                <a:r>
                  <a:rPr lang="en-IN" sz="2400">
                    <a:solidFill>
                      <a:srgbClr val="78350F"/>
                    </a:solidFill>
                    <a:latin typeface="Cambria Math" panose="02040503050406030204" pitchFamily="18" charset="0"/>
                  </a:rPr>
                  <a:t>$t_1t_2=-4$</a:t>
                </a:r>
                <a:r>
                  <a:rPr sz="2400" b="0">
                    <a:solidFill>
                      <a:srgbClr val="78350F"/>
                    </a:solidFill>
                    <a:latin typeface="Arial"/>
                  </a:rPr>
                  <a:t>; (D) the power of the origin with respect to a circle on </a:t>
                </a:r>
                <a:r>
                  <a:rPr lang="en-IN" sz="2400">
                    <a:solidFill>
                      <a:srgbClr val="78350F"/>
                    </a:solidFill>
                    <a:latin typeface="Cambria Math" panose="02040503050406030204" pitchFamily="18" charset="0"/>
                  </a:rPr>
                  <a:t>$AB$</a:t>
                </a:r>
                <a:r>
                  <a:rPr sz="2400" b="0">
                    <a:solidFill>
                      <a:srgbClr val="78350F"/>
                    </a:solidFill>
                    <a:latin typeface="Arial"/>
                  </a:rPr>
                  <a:t> as diameter is </a:t>
                </a:r>
                <a:r>
                  <a:rPr lang="en-IN" sz="2400">
                    <a:solidFill>
                      <a:srgbClr val="78350F"/>
                    </a:solidFill>
                    <a:latin typeface="Cambria Math" panose="02040503050406030204" pitchFamily="18" charset="0"/>
                  </a:rPr>
                  <a:t>$\vec{OA}\cdot\vec{OB}$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270504"/>
                <a:ext cx="10725912" cy="34046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For the end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the latus rectum, the tangent meets the axis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normal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midpoint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Let the chord through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make an angle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with the axis: points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Sup>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Sup>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num>
                      <m:den>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constant in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R.</a:t>
                </a:r>
                <a:endParaRPr sz="2400">
                  <a:solidFill>
                    <a:srgbClr val="111827"/>
                  </a:solidFill>
                </a:endParaRPr>
              </a:p>
            </p:txBody>
          </p:sp>
        </mc:Choice>
        <mc:Fallback>
          <p:sp>
            <p:nvSpPr>
              <p:cNvPr id="6" name="Rectangle 5"/>
              <p:cNvSpPr/>
              <p:nvPr/>
            </p:nvSpPr>
            <p:spPr>
              <a:xfrm>
                <a:off x="731520" y="3270504"/>
                <a:ext cx="10725912" cy="34046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For the end </a:t>
                </a:r>
                <a:r>
                  <a:rPr lang="en-IN" sz="2400">
                    <a:solidFill>
                      <a:srgbClr val="111827"/>
                    </a:solidFill>
                    <a:latin typeface="Cambria Math" panose="02040503050406030204" pitchFamily="18" charset="0"/>
                  </a:rPr>
                  <a:t>$(a,2a)$</a:t>
                </a:r>
                <a:r>
                  <a:rPr sz="2400" b="0">
                    <a:solidFill>
                      <a:srgbClr val="111827"/>
                    </a:solidFill>
                    <a:latin typeface="Arial"/>
                  </a:rPr>
                  <a:t> of the latus rectum, the tangent meets the axis at </a:t>
                </a:r>
                <a:r>
                  <a:rPr lang="en-IN" sz="2400">
                    <a:solidFill>
                      <a:srgbClr val="111827"/>
                    </a:solidFill>
                    <a:latin typeface="Cambria Math" panose="02040503050406030204" pitchFamily="18" charset="0"/>
                  </a:rPr>
                  <a:t>$(-a,0)=(-3,0)$</a:t>
                </a:r>
                <a:r>
                  <a:rPr sz="2400" b="0">
                    <a:solidFill>
                      <a:srgbClr val="111827"/>
                    </a:solidFill>
                    <a:latin typeface="Arial"/>
                  </a:rPr>
                  <a:t> and the normal at </a:t>
                </a:r>
                <a:r>
                  <a:rPr lang="en-IN" sz="2400">
                    <a:solidFill>
                      <a:srgbClr val="111827"/>
                    </a:solidFill>
                    <a:latin typeface="Cambria Math" panose="02040503050406030204" pitchFamily="18" charset="0"/>
                  </a:rPr>
                  <a:t>$(3a,0)=(9,0)$</a:t>
                </a:r>
                <a:r>
                  <a:rPr sz="2400" b="0">
                    <a:solidFill>
                      <a:srgbClr val="111827"/>
                    </a:solidFill>
                    <a:latin typeface="Arial"/>
                  </a:rPr>
                  <a:t>; midpoint </a:t>
                </a:r>
                <a:r>
                  <a:rPr lang="en-IN" sz="2400">
                    <a:solidFill>
                      <a:srgbClr val="111827"/>
                    </a:solidFill>
                    <a:latin typeface="Cambria Math" panose="02040503050406030204" pitchFamily="18" charset="0"/>
                  </a:rPr>
                  <a:t>$(a,0)=(3,0)$</a:t>
                </a:r>
                <a:r>
                  <a:rPr sz="2400" b="0">
                    <a:solidFill>
                      <a:srgbClr val="111827"/>
                    </a:solidFill>
                    <a:latin typeface="Arial"/>
                  </a:rPr>
                  <a:t>: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Let the chord through </a:t>
                </a:r>
                <a:r>
                  <a:rPr lang="en-IN" sz="2400">
                    <a:solidFill>
                      <a:srgbClr val="111827"/>
                    </a:solidFill>
                    <a:latin typeface="Cambria Math" panose="02040503050406030204" pitchFamily="18" charset="0"/>
                  </a:rPr>
                  <a:t>$K(h,0)$</a:t>
                </a:r>
                <a:r>
                  <a:rPr sz="2400" b="0">
                    <a:solidFill>
                      <a:srgbClr val="111827"/>
                    </a:solidFill>
                    <a:latin typeface="Arial"/>
                  </a:rPr>
                  <a:t> make an angle </a:t>
                </a:r>
                <a:r>
                  <a:rPr lang="en-IN" sz="2400">
                    <a:solidFill>
                      <a:srgbClr val="111827"/>
                    </a:solidFill>
                    <a:latin typeface="Cambria Math" panose="02040503050406030204" pitchFamily="18" charset="0"/>
                  </a:rPr>
                  <a:t>$\varphi$</a:t>
                </a:r>
                <a:r>
                  <a:rPr sz="2400" b="0">
                    <a:solidFill>
                      <a:srgbClr val="111827"/>
                    </a:solidFill>
                    <a:latin typeface="Arial"/>
                  </a:rPr>
                  <a:t> with the axis: points </a:t>
                </a:r>
                <a:r>
                  <a:rPr lang="en-IN" sz="2400">
                    <a:solidFill>
                      <a:srgbClr val="111827"/>
                    </a:solidFill>
                    <a:latin typeface="Cambria Math" panose="02040503050406030204" pitchFamily="18" charset="0"/>
                  </a:rPr>
                  <a:t>$K+r(\cos\varphi,\sin\varphi)$</a:t>
                </a:r>
                <a:r>
                  <a:rPr sz="2400" b="0">
                    <a:solidFill>
                      <a:srgbClr val="111827"/>
                    </a:solidFill>
                    <a:latin typeface="Arial"/>
                  </a:rPr>
                  <a:t> give </a:t>
                </a:r>
                <a:r>
                  <a:rPr lang="en-IN" sz="2400">
                    <a:solidFill>
                      <a:srgbClr val="111827"/>
                    </a:solidFill>
                    <a:latin typeface="Cambria Math" panose="02040503050406030204" pitchFamily="18" charset="0"/>
                  </a:rPr>
                  <a:t>$r^2\sin^2\varphi-4a\cos\varphi\,r-4ah=0$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$\frac1{r_1^2}+\frac1{r_2^2}=\frac{(r_1+r_2)^2-2r_1r_2}{(r_1r_2)^2}=\frac{2a\cos^2\varphi+h\sin^2\varphi}{2ah^2}$</a:t>
                </a:r>
                <a:r>
                  <a:rPr sz="2400" b="0">
                    <a:solidFill>
                      <a:srgbClr val="111827"/>
                    </a:solidFill>
                    <a:latin typeface="Arial"/>
                  </a:rPr>
                  <a:t>, constant in </a:t>
                </a:r>
                <a:r>
                  <a:rPr lang="en-IN" sz="2400">
                    <a:solidFill>
                      <a:srgbClr val="111827"/>
                    </a:solidFill>
                    <a:latin typeface="Cambria Math" panose="02040503050406030204" pitchFamily="18" charset="0"/>
                  </a:rPr>
                  <a:t>$\varphi$</a:t>
                </a:r>
                <a:r>
                  <a:rPr sz="2400" b="0">
                    <a:solidFill>
                      <a:srgbClr val="111827"/>
                    </a:solidFill>
                    <a:latin typeface="Arial"/>
                  </a:rPr>
                  <a:t> iff </a:t>
                </a:r>
                <a:r>
                  <a:rPr lang="en-IN" sz="2400">
                    <a:solidFill>
                      <a:srgbClr val="111827"/>
                    </a:solidFill>
                    <a:latin typeface="Cambria Math" panose="02040503050406030204" pitchFamily="18" charset="0"/>
                  </a:rPr>
                  <a:t>$h=2a=6$</a:t>
                </a:r>
                <a:r>
                  <a:rPr sz="2400" b="0">
                    <a:solidFill>
                      <a:srgbClr val="111827"/>
                    </a:solidFill>
                    <a:latin typeface="Arial"/>
                  </a:rPr>
                  <a:t>: R.</a:t>
                </a:r>
                <a:endParaRPr sz="2400">
                  <a:solidFill>
                    <a:srgbClr val="111827"/>
                  </a:solidFill>
                </a:endParaRPr>
              </a:p>
            </p:txBody>
          </p:sp>
        </mc:Fallback>
      </mc:AlternateContent>
    </p:spTree>
  </p:cSld>
  <p:clrMapOvr>
    <a:masterClrMapping/>
  </p:clrMapOvr>
</p:sld>
</file>

<file path=ppt/slides/slide3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the slopes of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are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the chord meets the axis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The power of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with respect to the circle on diameter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is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sSubSup>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oMath>
                </a14:m>
                <a:r>
                  <a:rPr sz="2400" b="0">
                    <a:solidFill>
                      <a:srgbClr val="111827"/>
                    </a:solidFill>
                    <a:latin typeface="Arial"/>
                  </a:rPr>
                  <a:t>, the same for the circle on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(since </a:t>
                </a:r>
                <a14:m>
                  <m:oMath xmlns:m="http://schemas.openxmlformats.org/officeDocument/2006/math">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𝑡</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too).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has equal power with respect to both circles and lies on their radical axis: P.</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$OA\perp OB$</a:t>
                </a:r>
                <a:r>
                  <a:rPr sz="2400" b="0">
                    <a:solidFill>
                      <a:srgbClr val="111827"/>
                    </a:solidFill>
                    <a:latin typeface="Arial"/>
                  </a:rPr>
                  <a:t>: the slopes of </a:t>
                </a:r>
                <a:r>
                  <a:rPr lang="en-IN" sz="2400">
                    <a:solidFill>
                      <a:srgbClr val="111827"/>
                    </a:solidFill>
                    <a:latin typeface="Cambria Math" panose="02040503050406030204" pitchFamily="18" charset="0"/>
                  </a:rPr>
                  <a:t>$OA,OB$</a:t>
                </a:r>
                <a:r>
                  <a:rPr sz="2400" b="0">
                    <a:solidFill>
                      <a:srgbClr val="111827"/>
                    </a:solidFill>
                    <a:latin typeface="Arial"/>
                  </a:rPr>
                  <a:t> are </a:t>
                </a:r>
                <a:r>
                  <a:rPr lang="en-IN" sz="2400">
                    <a:solidFill>
                      <a:srgbClr val="111827"/>
                    </a:solidFill>
                    <a:latin typeface="Cambria Math" panose="02040503050406030204" pitchFamily="18" charset="0"/>
                  </a:rPr>
                  <a:t>$\frac{2}{t_1},\frac{2}{t_2}$</a:t>
                </a:r>
                <a:r>
                  <a:rPr sz="2400" b="0">
                    <a:solidFill>
                      <a:srgbClr val="111827"/>
                    </a:solidFill>
                    <a:latin typeface="Arial"/>
                  </a:rPr>
                  <a:t>, so </a:t>
                </a:r>
                <a:r>
                  <a:rPr lang="en-IN" sz="2400">
                    <a:solidFill>
                      <a:srgbClr val="111827"/>
                    </a:solidFill>
                    <a:latin typeface="Cambria Math" panose="02040503050406030204" pitchFamily="18" charset="0"/>
                  </a:rPr>
                  <a:t>$\frac{4}{t_1t_2}=-1$</a:t>
                </a:r>
                <a:r>
                  <a:rPr sz="2400" b="0">
                    <a:solidFill>
                      <a:srgbClr val="111827"/>
                    </a:solidFill>
                    <a:latin typeface="Arial"/>
                  </a:rPr>
                  <a:t> and </a:t>
                </a:r>
                <a:r>
                  <a:rPr lang="en-IN" sz="2400">
                    <a:solidFill>
                      <a:srgbClr val="111827"/>
                    </a:solidFill>
                    <a:latin typeface="Cambria Math" panose="02040503050406030204" pitchFamily="18" charset="0"/>
                  </a:rPr>
                  <a:t>$t_1t_2=-4$</a:t>
                </a:r>
                <a:r>
                  <a:rPr sz="2400" b="0">
                    <a:solidFill>
                      <a:srgbClr val="111827"/>
                    </a:solidFill>
                    <a:latin typeface="Arial"/>
                  </a:rPr>
                  <a:t>; the chord meets the axis at </a:t>
                </a:r>
                <a:r>
                  <a:rPr lang="en-IN" sz="2400">
                    <a:solidFill>
                      <a:srgbClr val="111827"/>
                    </a:solidFill>
                    <a:latin typeface="Cambria Math" panose="02040503050406030204" pitchFamily="18" charset="0"/>
                  </a:rPr>
                  <a:t>$(-at_1t_2,0)=(4a,0)=(12,0)$</a:t>
                </a:r>
                <a:r>
                  <a:rPr sz="2400" b="0">
                    <a:solidFill>
                      <a:srgbClr val="111827"/>
                    </a:solidFill>
                    <a:latin typeface="Arial"/>
                  </a:rPr>
                  <a:t>: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The power of </a:t>
                </a:r>
                <a:r>
                  <a:rPr lang="en-IN" sz="2400">
                    <a:solidFill>
                      <a:srgbClr val="111827"/>
                    </a:solidFill>
                    <a:latin typeface="Cambria Math" panose="02040503050406030204" pitchFamily="18" charset="0"/>
                  </a:rPr>
                  <a:t>$O$</a:t>
                </a:r>
                <a:r>
                  <a:rPr sz="2400" b="0">
                    <a:solidFill>
                      <a:srgbClr val="111827"/>
                    </a:solidFill>
                    <a:latin typeface="Arial"/>
                  </a:rPr>
                  <a:t> with respect to the circle on diameter </a:t>
                </a:r>
                <a:r>
                  <a:rPr lang="en-IN" sz="2400">
                    <a:solidFill>
                      <a:srgbClr val="111827"/>
                    </a:solidFill>
                    <a:latin typeface="Cambria Math" panose="02040503050406030204" pitchFamily="18" charset="0"/>
                  </a:rPr>
                  <a:t>$AB$</a:t>
                </a:r>
                <a:r>
                  <a:rPr sz="2400" b="0">
                    <a:solidFill>
                      <a:srgbClr val="111827"/>
                    </a:solidFill>
                    <a:latin typeface="Arial"/>
                  </a:rPr>
                  <a:t> is </a:t>
                </a:r>
                <a:r>
                  <a:rPr lang="en-IN" sz="2400">
                    <a:solidFill>
                      <a:srgbClr val="111827"/>
                    </a:solidFill>
                    <a:latin typeface="Cambria Math" panose="02040503050406030204" pitchFamily="18" charset="0"/>
                  </a:rPr>
                  <a:t>$\vec{OA}\cdot\vec{OB}=a^2t_1^2t_2^2+4a^2t_1t_2=c^2-4ac$</a:t>
                </a:r>
                <a:r>
                  <a:rPr sz="2400" b="0">
                    <a:solidFill>
                      <a:srgbClr val="111827"/>
                    </a:solidFill>
                    <a:latin typeface="Arial"/>
                  </a:rPr>
                  <a:t>, the same for the circle on </a:t>
                </a:r>
                <a:r>
                  <a:rPr lang="en-IN" sz="2400">
                    <a:solidFill>
                      <a:srgbClr val="111827"/>
                    </a:solidFill>
                    <a:latin typeface="Cambria Math" panose="02040503050406030204" pitchFamily="18" charset="0"/>
                  </a:rPr>
                  <a:t>$CD$</a:t>
                </a:r>
                <a:r>
                  <a:rPr sz="2400" b="0">
                    <a:solidFill>
                      <a:srgbClr val="111827"/>
                    </a:solidFill>
                    <a:latin typeface="Arial"/>
                  </a:rPr>
                  <a:t> (since </a:t>
                </a:r>
                <a:r>
                  <a:rPr lang="en-IN" sz="2400">
                    <a:solidFill>
                      <a:srgbClr val="111827"/>
                    </a:solidFill>
                    <a:latin typeface="Cambria Math" panose="02040503050406030204" pitchFamily="18" charset="0"/>
                  </a:rPr>
                  <a:t>$t_3t_4=-\frac ca$</a:t>
                </a:r>
                <a:r>
                  <a:rPr sz="2400" b="0">
                    <a:solidFill>
                      <a:srgbClr val="111827"/>
                    </a:solidFill>
                    <a:latin typeface="Arial"/>
                  </a:rPr>
                  <a:t> too).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$O$</a:t>
                </a:r>
                <a:r>
                  <a:rPr sz="2400" b="0">
                    <a:solidFill>
                      <a:srgbClr val="111827"/>
                    </a:solidFill>
                    <a:latin typeface="Arial"/>
                  </a:rPr>
                  <a:t> has equal power with respect to both circles and lies on their radical axis: P.</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 Q, (B) - R, (C) - S, (D) - P</a:t>
            </a:r>
            <a:endParaRPr sz="2800">
              <a:solidFill>
                <a:srgbClr val="15803D"/>
              </a:solidFill>
            </a:endParaRPr>
          </a:p>
        </p:txBody>
      </p:sp>
    </p:spTree>
  </p:cSld>
  <p:clrMapOvr>
    <a:masterClrMapping/>
  </p:clrMapOvr>
</p:sld>
</file>

<file path=ppt/slides/slide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tangent and normal at the end of the latus rectum meet the axis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their midpoint is the focus.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Chords through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𝐾</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𝐾</m:t>
                        </m:r>
                        <m:sSup>
                          <m:e>
                            <m:r>
                              <a:rPr lang="en-IN" sz="2400" i="1">
                                <a:solidFill>
                                  <a:srgbClr val="111827"/>
                                </a:solidFill>
                                <a:latin typeface="Cambria Math" panose="02040503050406030204" pitchFamily="18" charset="0"/>
                              </a:rPr>
                              <m:t>𝑄</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constant exist only for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where the constant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chords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subtending a right angle at the vertex pass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 general point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the curve they pass through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radical axis of the circles on two chords through a common point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of the axis passes through the vertex (the power of the vertex is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oMath>
                </a14:m>
                <a:r>
                  <a:rPr sz="2400" b="0">
                    <a:solidFill>
                      <a:srgbClr val="111827"/>
                    </a:solidFill>
                    <a:latin typeface="Arial"/>
                  </a:rPr>
                  <a:t> for every chord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$y^2=4ax$</a:t>
                </a:r>
                <a:r>
                  <a:rPr sz="2400" b="0">
                    <a:solidFill>
                      <a:srgbClr val="111827"/>
                    </a:solidFill>
                    <a:latin typeface="Arial"/>
                  </a:rPr>
                  <a:t>: tangent and normal at the end of the latus rectum meet the axis at </a:t>
                </a:r>
                <a:r>
                  <a:rPr lang="en-IN" sz="2400">
                    <a:solidFill>
                      <a:srgbClr val="111827"/>
                    </a:solidFill>
                    <a:latin typeface="Cambria Math" panose="02040503050406030204" pitchFamily="18" charset="0"/>
                  </a:rPr>
                  <a:t>$(-a,0)$</a:t>
                </a:r>
                <a:r>
                  <a:rPr sz="2400" b="0">
                    <a:solidFill>
                      <a:srgbClr val="111827"/>
                    </a:solidFill>
                    <a:latin typeface="Arial"/>
                  </a:rPr>
                  <a:t> and </a:t>
                </a:r>
                <a:r>
                  <a:rPr lang="en-IN" sz="2400">
                    <a:solidFill>
                      <a:srgbClr val="111827"/>
                    </a:solidFill>
                    <a:latin typeface="Cambria Math" panose="02040503050406030204" pitchFamily="18" charset="0"/>
                  </a:rPr>
                  <a:t>$(3a,0)$</a:t>
                </a:r>
                <a:r>
                  <a:rPr sz="2400" b="0">
                    <a:solidFill>
                      <a:srgbClr val="111827"/>
                    </a:solidFill>
                    <a:latin typeface="Arial"/>
                  </a:rPr>
                  <a:t>; their midpoint is the focus.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Chords through </a:t>
                </a:r>
                <a:r>
                  <a:rPr lang="en-IN" sz="2400">
                    <a:solidFill>
                      <a:srgbClr val="111827"/>
                    </a:solidFill>
                    <a:latin typeface="Cambria Math" panose="02040503050406030204" pitchFamily="18" charset="0"/>
                  </a:rPr>
                  <a:t>$K(h,0)$</a:t>
                </a:r>
                <a:r>
                  <a:rPr sz="2400" b="0">
                    <a:solidFill>
                      <a:srgbClr val="111827"/>
                    </a:solidFill>
                    <a:latin typeface="Arial"/>
                  </a:rPr>
                  <a:t> with </a:t>
                </a:r>
                <a:r>
                  <a:rPr lang="en-IN" sz="2400">
                    <a:solidFill>
                      <a:srgbClr val="111827"/>
                    </a:solidFill>
                    <a:latin typeface="Cambria Math" panose="02040503050406030204" pitchFamily="18" charset="0"/>
                  </a:rPr>
                  <a:t>$\frac1{KP^2}+\frac1{KQ^2}$</a:t>
                </a:r>
                <a:r>
                  <a:rPr sz="2400" b="0">
                    <a:solidFill>
                      <a:srgbClr val="111827"/>
                    </a:solidFill>
                    <a:latin typeface="Arial"/>
                  </a:rPr>
                  <a:t> constant exist only for </a:t>
                </a:r>
                <a:r>
                  <a:rPr lang="en-IN" sz="2400">
                    <a:solidFill>
                      <a:srgbClr val="111827"/>
                    </a:solidFill>
                    <a:latin typeface="Cambria Math" panose="02040503050406030204" pitchFamily="18" charset="0"/>
                  </a:rPr>
                  <a:t>$K=(2a,0)$</a:t>
                </a:r>
                <a:r>
                  <a:rPr sz="2400" b="0">
                    <a:solidFill>
                      <a:srgbClr val="111827"/>
                    </a:solidFill>
                    <a:latin typeface="Arial"/>
                  </a:rPr>
                  <a:t>, where the constant is </a:t>
                </a:r>
                <a:r>
                  <a:rPr lang="en-IN" sz="2400">
                    <a:solidFill>
                      <a:srgbClr val="111827"/>
                    </a:solidFill>
                    <a:latin typeface="Cambria Math" panose="02040503050406030204" pitchFamily="18" charset="0"/>
                  </a:rPr>
                  <a:t>$\frac{1}{4a^2}$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chords of </a:t>
                </a:r>
                <a:r>
                  <a:rPr lang="en-IN" sz="2400">
                    <a:solidFill>
                      <a:srgbClr val="111827"/>
                    </a:solidFill>
                    <a:latin typeface="Cambria Math" panose="02040503050406030204" pitchFamily="18" charset="0"/>
                  </a:rPr>
                  <a:t>$y^2=4ax$</a:t>
                </a:r>
                <a:r>
                  <a:rPr sz="2400" b="0">
                    <a:solidFill>
                      <a:srgbClr val="111827"/>
                    </a:solidFill>
                    <a:latin typeface="Arial"/>
                  </a:rPr>
                  <a:t> subtending a right angle at the vertex pass through </a:t>
                </a:r>
                <a:r>
                  <a:rPr lang="en-IN" sz="2400">
                    <a:solidFill>
                      <a:srgbClr val="111827"/>
                    </a:solidFill>
                    <a:latin typeface="Cambria Math" panose="02040503050406030204" pitchFamily="18" charset="0"/>
                  </a:rPr>
                  <a:t>$(4a,0)$</a:t>
                </a:r>
                <a:r>
                  <a:rPr sz="2400" b="0">
                    <a:solidFill>
                      <a:srgbClr val="111827"/>
                    </a:solidFill>
                    <a:latin typeface="Arial"/>
                  </a:rPr>
                  <a:t>; at a general point </a:t>
                </a:r>
                <a:r>
                  <a:rPr lang="en-IN" sz="2400">
                    <a:solidFill>
                      <a:srgbClr val="111827"/>
                    </a:solidFill>
                    <a:latin typeface="Cambria Math" panose="02040503050406030204" pitchFamily="18" charset="0"/>
                  </a:rPr>
                  <a:t>$(x_0,y_0)$</a:t>
                </a:r>
                <a:r>
                  <a:rPr sz="2400" b="0">
                    <a:solidFill>
                      <a:srgbClr val="111827"/>
                    </a:solidFill>
                    <a:latin typeface="Arial"/>
                  </a:rPr>
                  <a:t> of the curve they pass through </a:t>
                </a:r>
                <a:r>
                  <a:rPr lang="en-IN" sz="2400">
                    <a:solidFill>
                      <a:srgbClr val="111827"/>
                    </a:solidFill>
                    <a:latin typeface="Cambria Math" panose="02040503050406030204" pitchFamily="18" charset="0"/>
                  </a:rPr>
                  <a:t>$(x_0+4a,-y_0)$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radical axis of the circles on two chords through a common point </a:t>
                </a:r>
                <a:r>
                  <a:rPr lang="en-IN" sz="2400">
                    <a:solidFill>
                      <a:srgbClr val="111827"/>
                    </a:solidFill>
                    <a:latin typeface="Cambria Math" panose="02040503050406030204" pitchFamily="18" charset="0"/>
                  </a:rPr>
                  <a:t>$E$</a:t>
                </a:r>
                <a:r>
                  <a:rPr sz="2400" b="0">
                    <a:solidFill>
                      <a:srgbClr val="111827"/>
                    </a:solidFill>
                    <a:latin typeface="Arial"/>
                  </a:rPr>
                  <a:t> of the axis passes through the vertex (the power of the vertex is </a:t>
                </a:r>
                <a:r>
                  <a:rPr lang="en-IN" sz="2400">
                    <a:solidFill>
                      <a:srgbClr val="111827"/>
                    </a:solidFill>
                    <a:latin typeface="Cambria Math" panose="02040503050406030204" pitchFamily="18" charset="0"/>
                  </a:rPr>
                  <a:t>$x_1x_2+y_1y_2=c^2-4ac$</a:t>
                </a:r>
                <a:r>
                  <a:rPr sz="2400" b="0">
                    <a:solidFill>
                      <a:srgbClr val="111827"/>
                    </a:solidFill>
                    <a:latin typeface="Arial"/>
                  </a:rPr>
                  <a:t> for every chord through </a:t>
                </a:r>
                <a:r>
                  <a:rPr lang="en-IN" sz="2400">
                    <a:solidFill>
                      <a:srgbClr val="111827"/>
                    </a:solidFill>
                    <a:latin typeface="Cambria Math" panose="02040503050406030204" pitchFamily="18" charset="0"/>
                  </a:rPr>
                  <a:t>$(c,0)$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98297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Match the properties given in Column I with the corresponding curves given in Column II.\nColumn I\n(A) The curve such that the product of the distances of any of its tangents from two given points is constant, can be\n(B) A curve for which the length of the subnormal at any of its points is equal to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and the curve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can be\n(C) A curve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is such that the segment joining any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on the curve and the point of intersection of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with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is bisected by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The curve can be\n(D) A curve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is such that the length of the normal at any of its points is equal to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The curve can be\nColumn II\n(P) Circle\n(Q) Parabola\n(R) Ellipse\n(S) Hyperbola</a:t>
                </a:r>
                <a:endParaRPr sz="2400">
                  <a:solidFill>
                    <a:srgbClr val="111827"/>
                  </a:solidFill>
                </a:endParaRPr>
              </a:p>
            </p:txBody>
          </p:sp>
        </mc:Choice>
        <mc:Fallback>
          <p:sp>
            <p:nvSpPr>
              <p:cNvPr id="4" name="Rounded Rectangle 3"/>
              <p:cNvSpPr/>
              <p:nvPr/>
            </p:nvSpPr>
            <p:spPr>
              <a:xfrm>
                <a:off x="731520" y="1280160"/>
                <a:ext cx="10725912" cy="498297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Match the properties given in Column I with the corresponding curves given in Column II.\nColumn I\n(A) The curve such that the product of the distances of any of its tangents from two given points is constant, can be\n(B) A curve for which the length of the subnormal at any of its points is equal to </a:t>
                </a:r>
                <a:r>
                  <a:rPr lang="en-IN" sz="2400">
                    <a:solidFill>
                      <a:srgbClr val="111827"/>
                    </a:solidFill>
                    <a:latin typeface="Cambria Math" panose="02040503050406030204" pitchFamily="18" charset="0"/>
                  </a:rPr>
                  <a:t>$2$</a:t>
                </a:r>
                <a:r>
                  <a:rPr sz="2400" b="0">
                    <a:solidFill>
                      <a:srgbClr val="111827"/>
                    </a:solidFill>
                    <a:latin typeface="Arial"/>
                  </a:rPr>
                  <a:t> and the curve passes through </a:t>
                </a:r>
                <a:r>
                  <a:rPr lang="en-IN" sz="2400">
                    <a:solidFill>
                      <a:srgbClr val="111827"/>
                    </a:solidFill>
                    <a:latin typeface="Cambria Math" panose="02040503050406030204" pitchFamily="18" charset="0"/>
                  </a:rPr>
                  <a:t>$(1,2)$</a:t>
                </a:r>
                <a:r>
                  <a:rPr sz="2400" b="0">
                    <a:solidFill>
                      <a:srgbClr val="111827"/>
                    </a:solidFill>
                    <a:latin typeface="Arial"/>
                  </a:rPr>
                  <a:t>, can be\n(C) A curve passes through </a:t>
                </a:r>
                <a:r>
                  <a:rPr lang="en-IN" sz="2400">
                    <a:solidFill>
                      <a:srgbClr val="111827"/>
                    </a:solidFill>
                    <a:latin typeface="Cambria Math" panose="02040503050406030204" pitchFamily="18" charset="0"/>
                  </a:rPr>
                  <a:t>$(1,4)$</a:t>
                </a:r>
                <a:r>
                  <a:rPr sz="2400" b="0">
                    <a:solidFill>
                      <a:srgbClr val="111827"/>
                    </a:solidFill>
                    <a:latin typeface="Arial"/>
                  </a:rPr>
                  <a:t> and is such that the segment joining any point </a:t>
                </a:r>
                <a:r>
                  <a:rPr lang="en-IN" sz="2400">
                    <a:solidFill>
                      <a:srgbClr val="111827"/>
                    </a:solidFill>
                    <a:latin typeface="Cambria Math" panose="02040503050406030204" pitchFamily="18" charset="0"/>
                  </a:rPr>
                  <a:t>$P$</a:t>
                </a:r>
                <a:r>
                  <a:rPr sz="2400" b="0">
                    <a:solidFill>
                      <a:srgbClr val="111827"/>
                    </a:solidFill>
                    <a:latin typeface="Arial"/>
                  </a:rPr>
                  <a:t> on the curve and the point of intersection of the normal at </a:t>
                </a:r>
                <a:r>
                  <a:rPr lang="en-IN" sz="2400">
                    <a:solidFill>
                      <a:srgbClr val="111827"/>
                    </a:solidFill>
                    <a:latin typeface="Cambria Math" panose="02040503050406030204" pitchFamily="18" charset="0"/>
                  </a:rPr>
                  <a:t>$P$</a:t>
                </a:r>
                <a:r>
                  <a:rPr sz="2400" b="0">
                    <a:solidFill>
                      <a:srgbClr val="111827"/>
                    </a:solidFill>
                    <a:latin typeface="Arial"/>
                  </a:rPr>
                  <a:t> with the </a:t>
                </a:r>
                <a:r>
                  <a:rPr lang="en-IN" sz="2400">
                    <a:solidFill>
                      <a:srgbClr val="111827"/>
                    </a:solidFill>
                    <a:latin typeface="Cambria Math" panose="02040503050406030204" pitchFamily="18" charset="0"/>
                  </a:rPr>
                  <a:t>$x$</a:t>
                </a:r>
                <a:r>
                  <a:rPr sz="2400" b="0">
                    <a:solidFill>
                      <a:srgbClr val="111827"/>
                    </a:solidFill>
                    <a:latin typeface="Arial"/>
                  </a:rPr>
                  <a:t>-axis is bisected by the </a:t>
                </a:r>
                <a:r>
                  <a:rPr lang="en-IN" sz="2400">
                    <a:solidFill>
                      <a:srgbClr val="111827"/>
                    </a:solidFill>
                    <a:latin typeface="Cambria Math" panose="02040503050406030204" pitchFamily="18" charset="0"/>
                  </a:rPr>
                  <a:t>$y$</a:t>
                </a:r>
                <a:r>
                  <a:rPr sz="2400" b="0">
                    <a:solidFill>
                      <a:srgbClr val="111827"/>
                    </a:solidFill>
                    <a:latin typeface="Arial"/>
                  </a:rPr>
                  <a:t>-axis. The curve can be\n(D) A curve passes through </a:t>
                </a:r>
                <a:r>
                  <a:rPr lang="en-IN" sz="2400">
                    <a:solidFill>
                      <a:srgbClr val="111827"/>
                    </a:solidFill>
                    <a:latin typeface="Cambria Math" panose="02040503050406030204" pitchFamily="18" charset="0"/>
                  </a:rPr>
                  <a:t>$(1,2)$</a:t>
                </a:r>
                <a:r>
                  <a:rPr sz="2400" b="0">
                    <a:solidFill>
                      <a:srgbClr val="111827"/>
                    </a:solidFill>
                    <a:latin typeface="Arial"/>
                  </a:rPr>
                  <a:t> and is such that the length of the normal at any of its points is equal to </a:t>
                </a:r>
                <a:r>
                  <a:rPr lang="en-IN" sz="2400">
                    <a:solidFill>
                      <a:srgbClr val="111827"/>
                    </a:solidFill>
                    <a:latin typeface="Cambria Math" panose="02040503050406030204" pitchFamily="18" charset="0"/>
                  </a:rPr>
                  <a:t>$2$</a:t>
                </a:r>
                <a:r>
                  <a:rPr sz="2400" b="0">
                    <a:solidFill>
                      <a:srgbClr val="111827"/>
                    </a:solidFill>
                    <a:latin typeface="Arial"/>
                  </a:rPr>
                  <a:t>. The curve can be\nColumn II\n(P) Circle\n(Q) Parabola\n(R) Ellipse\n(S) Hyperbola</a:t>
                </a:r>
                <a:endParaRPr sz="2400">
                  <a:solidFill>
                    <a:srgbClr val="111827"/>
                  </a:solidFill>
                </a:endParaRPr>
              </a:p>
            </p:txBody>
          </p:sp>
        </mc:Fallback>
      </mc:AlternateContent>
    </p:spTree>
  </p:cSld>
  <p:clrMapOvr>
    <a:masterClrMapping/>
  </p:clrMapOvr>
</p:sld>
</file>

<file path=ppt/slides/slide3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Curves from properties of tangents and normals (differential equations), Standard properties of conics (focal perpendiculars, subnormal, normal length)</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a:t>
                </a:r>
                <a14:m>
                  <m:oMath xmlns:m="http://schemas.openxmlformats.org/officeDocument/2006/math">
                    <m:sSub>
                      <m:e>
                        <m:r>
                          <a:rPr lang="en-IN" sz="2400" i="1">
                            <a:solidFill>
                              <a:srgbClr val="78350F"/>
                            </a:solidFill>
                            <a:latin typeface="Cambria Math" panose="02040503050406030204" pitchFamily="18" charset="0"/>
                          </a:rPr>
                          <m:t>𝑝</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𝑝</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holds for ellipse and hyperbola; (B) </a:t>
                </a:r>
                <a14:m>
                  <m:oMath xmlns:m="http://schemas.openxmlformats.org/officeDocument/2006/math">
                    <m:r>
                      <a:rPr lang="en-IN" sz="2400" i="1">
                        <a:solidFill>
                          <a:srgbClr val="78350F"/>
                        </a:solidFill>
                        <a:latin typeface="Cambria Math" panose="02040503050406030204" pitchFamily="18" charset="0"/>
                      </a:rPr>
                      <m:t>𝑦</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𝑑</m:t>
                        </m:r>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𝑑</m:t>
                        </m:r>
                        <m:r>
                          <a:rPr lang="en-IN" sz="2400" i="1">
                            <a:solidFill>
                              <a:srgbClr val="78350F"/>
                            </a:solidFill>
                            <a:latin typeface="Cambria Math" panose="02040503050406030204" pitchFamily="18" charset="0"/>
                          </a:rPr>
                          <m:t>𝑥</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(C) </a:t>
                </a:r>
                <a14:m>
                  <m:oMath xmlns:m="http://schemas.openxmlformats.org/officeDocument/2006/math">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𝑑</m:t>
                        </m:r>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𝑑</m:t>
                        </m:r>
                        <m:r>
                          <a:rPr lang="en-IN" sz="2400" i="1">
                            <a:solidFill>
                              <a:srgbClr val="78350F"/>
                            </a:solidFill>
                            <a:latin typeface="Cambria Math" panose="02040503050406030204" pitchFamily="18" charset="0"/>
                          </a:rPr>
                          <m:t>𝑥</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(D)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d>
                              <m:dPr>
                                <m:begChr m:val="("/>
                                <m:sepChr m:val=""/>
                                <m:endChr m:val=")"/>
                                <m:grow/>
                                <m:ctrlPr>
                                  <a:rPr lang="en-IN" sz="2400" i="1">
                                    <a:solidFill>
                                      <a:srgbClr val="78350F"/>
                                    </a:solidFill>
                                    <a:latin typeface="Cambria Math" panose="02040503050406030204" pitchFamily="18" charset="0"/>
                                  </a:rPr>
                                </m:ctrlPr>
                              </m:dPr>
                              <m:e>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𝑑</m:t>
                                    </m:r>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𝑑</m:t>
                                    </m:r>
                                    <m:r>
                                      <a:rPr lang="en-IN" sz="2400" i="1">
                                        <a:solidFill>
                                          <a:srgbClr val="78350F"/>
                                        </a:solidFill>
                                        <a:latin typeface="Cambria Math" panose="02040503050406030204" pitchFamily="18" charset="0"/>
                                      </a:rPr>
                                      <m:t>𝑥</m:t>
                                    </m:r>
                                  </m:den>
                                </m:f>
                              </m:e>
                            </m:d>
                          </m:e>
                          <m:sup>
                            <m:r>
                              <a:rPr lang="en-IN" sz="2400" i="1">
                                <a:solidFill>
                                  <a:srgbClr val="78350F"/>
                                </a:solidFill>
                                <a:latin typeface="Cambria Math" panose="02040503050406030204" pitchFamily="18" charset="0"/>
                              </a:rPr>
                              <m:t>2</m:t>
                            </m:r>
                          </m:sup>
                        </m:sSup>
                      </m:e>
                    </m:d>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a:t>
                </a:r>
                <a:r>
                  <a:rPr lang="en-IN" sz="2400">
                    <a:solidFill>
                      <a:srgbClr val="78350F"/>
                    </a:solidFill>
                    <a:latin typeface="Cambria Math" panose="02040503050406030204" pitchFamily="18" charset="0"/>
                  </a:rPr>
                  <a:t>$p_1p_2=b^2$</a:t>
                </a:r>
                <a:r>
                  <a:rPr sz="2400" b="0">
                    <a:solidFill>
                      <a:srgbClr val="78350F"/>
                    </a:solidFill>
                    <a:latin typeface="Arial"/>
                  </a:rPr>
                  <a:t> holds for ellipse and hyperbola; (B) </a:t>
                </a:r>
                <a:r>
                  <a:rPr lang="en-IN" sz="2400">
                    <a:solidFill>
                      <a:srgbClr val="78350F"/>
                    </a:solidFill>
                    <a:latin typeface="Cambria Math" panose="02040503050406030204" pitchFamily="18" charset="0"/>
                  </a:rPr>
                  <a:t>$y\frac{dy}{dx}=2$</a:t>
                </a:r>
                <a:r>
                  <a:rPr sz="2400" b="0">
                    <a:solidFill>
                      <a:srgbClr val="78350F"/>
                    </a:solidFill>
                    <a:latin typeface="Arial"/>
                  </a:rPr>
                  <a:t>; (C) </a:t>
                </a:r>
                <a:r>
                  <a:rPr lang="en-IN" sz="2400">
                    <a:solidFill>
                      <a:srgbClr val="78350F"/>
                    </a:solidFill>
                    <a:latin typeface="Cambria Math" panose="02040503050406030204" pitchFamily="18" charset="0"/>
                  </a:rPr>
                  <a:t>$2x+y\frac{dy}{dx}=0$</a:t>
                </a:r>
                <a:r>
                  <a:rPr sz="2400" b="0">
                    <a:solidFill>
                      <a:srgbClr val="78350F"/>
                    </a:solidFill>
                    <a:latin typeface="Arial"/>
                  </a:rPr>
                  <a:t>; (D) </a:t>
                </a:r>
                <a:r>
                  <a:rPr lang="en-IN" sz="2400">
                    <a:solidFill>
                      <a:srgbClr val="78350F"/>
                    </a:solidFill>
                    <a:latin typeface="Cambria Math" panose="02040503050406030204" pitchFamily="18" charset="0"/>
                  </a:rPr>
                  <a:t>$y^2\left(1+\left(\frac{dy}{dx}\right)^2\right)=4$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123688"/>
                <a:ext cx="10725912" cy="15514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product of the perpendiculars from the two foci on any tangent of an ellipse or a hyperbola is the constant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curve can be an ellipse (R) or a hyperbola (S).</a:t>
                </a:r>
                <a:endParaRPr sz="2400">
                  <a:solidFill>
                    <a:srgbClr val="111827"/>
                  </a:solidFill>
                </a:endParaRPr>
              </a:p>
            </p:txBody>
          </p:sp>
        </mc:Choice>
        <mc:Fallback>
          <p:sp>
            <p:nvSpPr>
              <p:cNvPr id="6" name="Rectangle 5"/>
              <p:cNvSpPr/>
              <p:nvPr/>
            </p:nvSpPr>
            <p:spPr>
              <a:xfrm>
                <a:off x="731520" y="5123688"/>
                <a:ext cx="10725912" cy="15514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product of the perpendiculars from the two foci on any tangent of an ellipse or a hyperbola is the constant </a:t>
                </a:r>
                <a:r>
                  <a:rPr lang="en-IN" sz="2400">
                    <a:solidFill>
                      <a:srgbClr val="111827"/>
                    </a:solidFill>
                    <a:latin typeface="Cambria Math" panose="02040503050406030204" pitchFamily="18" charset="0"/>
                  </a:rPr>
                  <a:t>$b^2$</a:t>
                </a:r>
                <a:r>
                  <a:rPr sz="2400" b="0">
                    <a:solidFill>
                      <a:srgbClr val="111827"/>
                    </a:solidFill>
                    <a:latin typeface="Arial"/>
                  </a:rPr>
                  <a:t> (</a:t>
                </a:r>
                <a:r>
                  <a:rPr lang="en-IN" sz="2400">
                    <a:solidFill>
                      <a:srgbClr val="111827"/>
                    </a:solidFill>
                    <a:latin typeface="Cambria Math" panose="02040503050406030204" pitchFamily="18" charset="0"/>
                  </a:rPr>
                  <a:t>$p_1p_2=b^2$</a:t>
                </a:r>
                <a:r>
                  <a:rPr sz="2400" b="0">
                    <a:solidFill>
                      <a:srgbClr val="111827"/>
                    </a:solidFill>
                    <a:latin typeface="Arial"/>
                  </a:rPr>
                  <a:t>): the curve can be an ellipse (R) or a hyperbola (S).</a:t>
                </a:r>
                <a:endParaRPr sz="2400">
                  <a:solidFill>
                    <a:srgbClr val="111827"/>
                  </a:solidFill>
                </a:endParaRPr>
              </a:p>
            </p:txBody>
          </p:sp>
        </mc:Fallback>
      </mc:AlternateContent>
    </p:spTree>
  </p:cSld>
  <p:clrMapOvr>
    <a:masterClrMapping/>
  </p:clrMapOvr>
</p:sld>
</file>

<file path=ppt/slides/slide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Subnormal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a parabola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Normal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oMath>
                </a14:m>
                <a:r>
                  <a:rPr sz="2400" b="0">
                    <a:solidFill>
                      <a:srgbClr val="111827"/>
                    </a:solidFill>
                    <a:latin typeface="Arial"/>
                  </a:rPr>
                  <a:t>. The segment from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bisected by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so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-coordinates add to zero: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It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 ellipse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Length of the normal </a:t>
                </a:r>
                <a14:m>
                  <m:oMath xmlns:m="http://schemas.openxmlformats.org/officeDocument/2006/math">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Subnormal </a:t>
                </a:r>
                <a:r>
                  <a:rPr lang="en-IN" sz="2400">
                    <a:solidFill>
                      <a:srgbClr val="111827"/>
                    </a:solidFill>
                    <a:latin typeface="Cambria Math" panose="02040503050406030204" pitchFamily="18" charset="0"/>
                  </a:rPr>
                  <a:t>$=y\frac{dy}{dx}=2$</a:t>
                </a:r>
                <a:r>
                  <a:rPr sz="2400" b="0">
                    <a:solidFill>
                      <a:srgbClr val="111827"/>
                    </a:solidFill>
                    <a:latin typeface="Arial"/>
                  </a:rPr>
                  <a:t>, so </a:t>
                </a:r>
                <a:r>
                  <a:rPr lang="en-IN" sz="2400">
                    <a:solidFill>
                      <a:srgbClr val="111827"/>
                    </a:solidFill>
                    <a:latin typeface="Cambria Math" panose="02040503050406030204" pitchFamily="18" charset="0"/>
                  </a:rPr>
                  <a:t>$\frac{y^2}{2}=2x+C$</a:t>
                </a:r>
                <a:r>
                  <a:rPr sz="2400" b="0">
                    <a:solidFill>
                      <a:srgbClr val="111827"/>
                    </a:solidFill>
                    <a:latin typeface="Arial"/>
                  </a:rPr>
                  <a:t>. At </a:t>
                </a:r>
                <a:r>
                  <a:rPr lang="en-IN" sz="2400">
                    <a:solidFill>
                      <a:srgbClr val="111827"/>
                    </a:solidFill>
                    <a:latin typeface="Cambria Math" panose="02040503050406030204" pitchFamily="18" charset="0"/>
                  </a:rPr>
                  <a:t>$(1,2)$</a:t>
                </a:r>
                <a:r>
                  <a:rPr sz="2400" b="0">
                    <a:solidFill>
                      <a:srgbClr val="111827"/>
                    </a:solidFill>
                    <a:latin typeface="Arial"/>
                  </a:rPr>
                  <a:t>: </a:t>
                </a:r>
                <a:r>
                  <a:rPr lang="en-IN" sz="2400">
                    <a:solidFill>
                      <a:srgbClr val="111827"/>
                    </a:solidFill>
                    <a:latin typeface="Cambria Math" panose="02040503050406030204" pitchFamily="18" charset="0"/>
                  </a:rPr>
                  <a:t>$2=2+C$</a:t>
                </a:r>
                <a:r>
                  <a:rPr sz="2400" b="0">
                    <a:solidFill>
                      <a:srgbClr val="111827"/>
                    </a:solidFill>
                    <a:latin typeface="Arial"/>
                  </a:rPr>
                  <a:t>, so </a:t>
                </a:r>
                <a:r>
                  <a:rPr lang="en-IN" sz="2400">
                    <a:solidFill>
                      <a:srgbClr val="111827"/>
                    </a:solidFill>
                    <a:latin typeface="Cambria Math" panose="02040503050406030204" pitchFamily="18" charset="0"/>
                  </a:rPr>
                  <a:t>$C=0$</a:t>
                </a:r>
                <a:r>
                  <a:rPr sz="2400" b="0">
                    <a:solidFill>
                      <a:srgbClr val="111827"/>
                    </a:solidFill>
                    <a:latin typeface="Arial"/>
                  </a:rPr>
                  <a:t> and </a:t>
                </a:r>
                <a:r>
                  <a:rPr lang="en-IN" sz="2400">
                    <a:solidFill>
                      <a:srgbClr val="111827"/>
                    </a:solidFill>
                    <a:latin typeface="Cambria Math" panose="02040503050406030204" pitchFamily="18" charset="0"/>
                  </a:rPr>
                  <a:t>$y^2=4x$</a:t>
                </a:r>
                <a:r>
                  <a:rPr sz="2400" b="0">
                    <a:solidFill>
                      <a:srgbClr val="111827"/>
                    </a:solidFill>
                    <a:latin typeface="Arial"/>
                  </a:rPr>
                  <a:t>: a parabola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Normal at </a:t>
                </a:r>
                <a:r>
                  <a:rPr lang="en-IN" sz="2400">
                    <a:solidFill>
                      <a:srgbClr val="111827"/>
                    </a:solidFill>
                    <a:latin typeface="Cambria Math" panose="02040503050406030204" pitchFamily="18" charset="0"/>
                  </a:rPr>
                  <a:t>$P(x,y)$</a:t>
                </a:r>
                <a:r>
                  <a:rPr sz="2400" b="0">
                    <a:solidFill>
                      <a:srgbClr val="111827"/>
                    </a:solidFill>
                    <a:latin typeface="Arial"/>
                  </a:rPr>
                  <a:t> with </a:t>
                </a:r>
                <a:r>
                  <a:rPr lang="en-IN" sz="2400">
                    <a:solidFill>
                      <a:srgbClr val="111827"/>
                    </a:solidFill>
                    <a:latin typeface="Cambria Math" panose="02040503050406030204" pitchFamily="18" charset="0"/>
                  </a:rPr>
                  <a:t>$m=\frac{dy}{dx}$</a:t>
                </a:r>
                <a:r>
                  <a:rPr sz="2400" b="0">
                    <a:solidFill>
                      <a:srgbClr val="111827"/>
                    </a:solidFill>
                    <a:latin typeface="Arial"/>
                  </a:rPr>
                  <a:t>: </a:t>
                </a:r>
                <a:r>
                  <a:rPr lang="en-IN" sz="2400">
                    <a:solidFill>
                      <a:srgbClr val="111827"/>
                    </a:solidFill>
                    <a:latin typeface="Cambria Math" panose="02040503050406030204" pitchFamily="18" charset="0"/>
                  </a:rPr>
                  <a:t>$Y-y=-\frac1m(X-x)$</a:t>
                </a:r>
                <a:r>
                  <a:rPr sz="2400" b="0">
                    <a:solidFill>
                      <a:srgbClr val="111827"/>
                    </a:solidFill>
                    <a:latin typeface="Arial"/>
                  </a:rPr>
                  <a:t>. With </a:t>
                </a:r>
                <a:r>
                  <a:rPr lang="en-IN" sz="2400">
                    <a:solidFill>
                      <a:srgbClr val="111827"/>
                    </a:solidFill>
                    <a:latin typeface="Cambria Math" panose="02040503050406030204" pitchFamily="18" charset="0"/>
                  </a:rPr>
                  <a:t>$Y=0$</a:t>
                </a:r>
                <a:r>
                  <a:rPr sz="2400" b="0">
                    <a:solidFill>
                      <a:srgbClr val="111827"/>
                    </a:solidFill>
                    <a:latin typeface="Arial"/>
                  </a:rPr>
                  <a:t>: </a:t>
                </a:r>
                <a:r>
                  <a:rPr lang="en-IN" sz="2400">
                    <a:solidFill>
                      <a:srgbClr val="111827"/>
                    </a:solidFill>
                    <a:latin typeface="Cambria Math" panose="02040503050406030204" pitchFamily="18" charset="0"/>
                  </a:rPr>
                  <a:t>$X=x+my$</a:t>
                </a:r>
                <a:r>
                  <a:rPr sz="2400" b="0">
                    <a:solidFill>
                      <a:srgbClr val="111827"/>
                    </a:solidFill>
                    <a:latin typeface="Arial"/>
                  </a:rPr>
                  <a:t>. The segment from </a:t>
                </a:r>
                <a:r>
                  <a:rPr lang="en-IN" sz="2400">
                    <a:solidFill>
                      <a:srgbClr val="111827"/>
                    </a:solidFill>
                    <a:latin typeface="Cambria Math" panose="02040503050406030204" pitchFamily="18" charset="0"/>
                  </a:rPr>
                  <a:t>$P$</a:t>
                </a:r>
                <a:r>
                  <a:rPr sz="2400" b="0">
                    <a:solidFill>
                      <a:srgbClr val="111827"/>
                    </a:solidFill>
                    <a:latin typeface="Arial"/>
                  </a:rPr>
                  <a:t> to </a:t>
                </a:r>
                <a:r>
                  <a:rPr lang="en-IN" sz="2400">
                    <a:solidFill>
                      <a:srgbClr val="111827"/>
                    </a:solidFill>
                    <a:latin typeface="Cambria Math" panose="02040503050406030204" pitchFamily="18" charset="0"/>
                  </a:rPr>
                  <a:t>$G(x+my,0)$</a:t>
                </a:r>
                <a:r>
                  <a:rPr sz="2400" b="0">
                    <a:solidFill>
                      <a:srgbClr val="111827"/>
                    </a:solidFill>
                    <a:latin typeface="Arial"/>
                  </a:rPr>
                  <a:t> is bisected by the </a:t>
                </a:r>
                <a:r>
                  <a:rPr lang="en-IN" sz="2400">
                    <a:solidFill>
                      <a:srgbClr val="111827"/>
                    </a:solidFill>
                    <a:latin typeface="Cambria Math" panose="02040503050406030204" pitchFamily="18" charset="0"/>
                  </a:rPr>
                  <a:t>$y$</a:t>
                </a:r>
                <a:r>
                  <a:rPr sz="2400" b="0">
                    <a:solidFill>
                      <a:srgbClr val="111827"/>
                    </a:solidFill>
                    <a:latin typeface="Arial"/>
                  </a:rPr>
                  <a:t>-axis, so the </a:t>
                </a:r>
                <a:r>
                  <a:rPr lang="en-IN" sz="2400">
                    <a:solidFill>
                      <a:srgbClr val="111827"/>
                    </a:solidFill>
                    <a:latin typeface="Cambria Math" panose="02040503050406030204" pitchFamily="18" charset="0"/>
                  </a:rPr>
                  <a:t>$x$</a:t>
                </a:r>
                <a:r>
                  <a:rPr sz="2400" b="0">
                    <a:solidFill>
                      <a:srgbClr val="111827"/>
                    </a:solidFill>
                    <a:latin typeface="Arial"/>
                  </a:rPr>
                  <a:t>-coordinates add to zero: </a:t>
                </a:r>
                <a:r>
                  <a:rPr lang="en-IN" sz="2400">
                    <a:solidFill>
                      <a:srgbClr val="111827"/>
                    </a:solidFill>
                    <a:latin typeface="Cambria Math" panose="02040503050406030204" pitchFamily="18" charset="0"/>
                  </a:rPr>
                  <a:t>$x+(x+my)=0$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$2x+y\frac{dy}{dx}=0$</a:t>
                </a:r>
                <a:r>
                  <a:rPr sz="2400" b="0">
                    <a:solidFill>
                      <a:srgbClr val="111827"/>
                    </a:solidFill>
                    <a:latin typeface="Arial"/>
                  </a:rPr>
                  <a:t>, i.e. </a:t>
                </a:r>
                <a:r>
                  <a:rPr lang="en-IN" sz="2400">
                    <a:solidFill>
                      <a:srgbClr val="111827"/>
                    </a:solidFill>
                    <a:latin typeface="Cambria Math" panose="02040503050406030204" pitchFamily="18" charset="0"/>
                  </a:rPr>
                  <a:t>$2x\,dx+y\,dy=0$</a:t>
                </a:r>
                <a:r>
                  <a:rPr sz="2400" b="0">
                    <a:solidFill>
                      <a:srgbClr val="111827"/>
                    </a:solidFill>
                    <a:latin typeface="Arial"/>
                  </a:rPr>
                  <a:t>, and </a:t>
                </a:r>
                <a:r>
                  <a:rPr lang="en-IN" sz="2400">
                    <a:solidFill>
                      <a:srgbClr val="111827"/>
                    </a:solidFill>
                    <a:latin typeface="Cambria Math" panose="02040503050406030204" pitchFamily="18" charset="0"/>
                  </a:rPr>
                  <a:t>$x^2+\frac{y^2}{2}=C$</a:t>
                </a:r>
                <a:r>
                  <a:rPr sz="2400" b="0">
                    <a:solidFill>
                      <a:srgbClr val="111827"/>
                    </a:solidFill>
                    <a:latin typeface="Arial"/>
                  </a:rPr>
                  <a:t>. It passes through </a:t>
                </a:r>
                <a:r>
                  <a:rPr lang="en-IN" sz="2400">
                    <a:solidFill>
                      <a:srgbClr val="111827"/>
                    </a:solidFill>
                    <a:latin typeface="Cambria Math" panose="02040503050406030204" pitchFamily="18" charset="0"/>
                  </a:rPr>
                  <a:t>$(1,4)$</a:t>
                </a:r>
                <a:r>
                  <a:rPr sz="2400" b="0">
                    <a:solidFill>
                      <a:srgbClr val="111827"/>
                    </a:solidFill>
                    <a:latin typeface="Arial"/>
                  </a:rPr>
                  <a:t>: </a:t>
                </a:r>
                <a:r>
                  <a:rPr lang="en-IN" sz="2400">
                    <a:solidFill>
                      <a:srgbClr val="111827"/>
                    </a:solidFill>
                    <a:latin typeface="Cambria Math" panose="02040503050406030204" pitchFamily="18" charset="0"/>
                  </a:rPr>
                  <a:t>$1+8=C=9$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$x^2+\frac{y^2}{2}=9$</a:t>
                </a:r>
                <a:r>
                  <a:rPr sz="2400" b="0">
                    <a:solidFill>
                      <a:srgbClr val="111827"/>
                    </a:solidFill>
                    <a:latin typeface="Arial"/>
                  </a:rPr>
                  <a:t>, i.e. </a:t>
                </a:r>
                <a:r>
                  <a:rPr lang="en-IN" sz="2400">
                    <a:solidFill>
                      <a:srgbClr val="111827"/>
                    </a:solidFill>
                    <a:latin typeface="Cambria Math" panose="02040503050406030204" pitchFamily="18" charset="0"/>
                  </a:rPr>
                  <a:t>$\frac{x^2}{9}+\frac{y^2}{18}=1$</a:t>
                </a:r>
                <a:r>
                  <a:rPr sz="2400" b="0">
                    <a:solidFill>
                      <a:srgbClr val="111827"/>
                    </a:solidFill>
                    <a:latin typeface="Arial"/>
                  </a:rPr>
                  <a:t>: an ellipse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Length of the normal </a:t>
                </a:r>
                <a:r>
                  <a:rPr lang="en-IN" sz="2400">
                    <a:solidFill>
                      <a:srgbClr val="111827"/>
                    </a:solidFill>
                    <a:latin typeface="Cambria Math" panose="02040503050406030204" pitchFamily="18" charset="0"/>
                  </a:rPr>
                  <a:t>$=\sqrt{(x+my-x)^2+y^2}=|y|\sqrt{1+m^2}=2$</a:t>
                </a:r>
                <a:r>
                  <a:rPr sz="2400" b="0">
                    <a:solidFill>
                      <a:srgbClr val="111827"/>
                    </a:solidFill>
                    <a:latin typeface="Arial"/>
                  </a:rPr>
                  <a:t>, so </a:t>
                </a:r>
                <a:r>
                  <a:rPr lang="en-IN" sz="2400">
                    <a:solidFill>
                      <a:srgbClr val="111827"/>
                    </a:solidFill>
                    <a:latin typeface="Cambria Math" panose="02040503050406030204" pitchFamily="18" charset="0"/>
                  </a:rPr>
                  <a:t>$m^2y^2+y^2=4$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𝑦</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Taking the sign for which the curve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 circle (P).</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$m^2=\frac{4-y^2}{y^2}$</a:t>
                </a:r>
                <a:r>
                  <a:rPr sz="2400" b="0">
                    <a:solidFill>
                      <a:srgbClr val="111827"/>
                    </a:solidFill>
                    <a:latin typeface="Arial"/>
                  </a:rPr>
                  <a:t>, so </a:t>
                </a:r>
                <a:r>
                  <a:rPr lang="en-IN" sz="2400">
                    <a:solidFill>
                      <a:srgbClr val="111827"/>
                    </a:solidFill>
                    <a:latin typeface="Cambria Math" panose="02040503050406030204" pitchFamily="18" charset="0"/>
                  </a:rPr>
                  <a:t>$y\frac{dy}{dx}=\pm\sqrt{4-y^2}$</a:t>
                </a:r>
                <a:r>
                  <a:rPr sz="2400" b="0">
                    <a:solidFill>
                      <a:srgbClr val="111827"/>
                    </a:solidFill>
                    <a:latin typeface="Arial"/>
                  </a:rPr>
                  <a:t> and </a:t>
                </a:r>
                <a:r>
                  <a:rPr lang="en-IN" sz="2400">
                    <a:solidFill>
                      <a:srgbClr val="111827"/>
                    </a:solidFill>
                    <a:latin typeface="Cambria Math" panose="02040503050406030204" pitchFamily="18" charset="0"/>
                  </a:rPr>
                  <a:t>$-\sqrt{4-y^2}=\pm x+C$</a:t>
                </a:r>
                <a:r>
                  <a:rPr sz="2400" b="0">
                    <a:solidFill>
                      <a:srgbClr val="111827"/>
                    </a:solidFill>
                    <a:latin typeface="Arial"/>
                  </a:rPr>
                  <a:t>. Taking the sign for which the curve passes through </a:t>
                </a:r>
                <a:r>
                  <a:rPr lang="en-IN" sz="2400">
                    <a:solidFill>
                      <a:srgbClr val="111827"/>
                    </a:solidFill>
                    <a:latin typeface="Cambria Math" panose="02040503050406030204" pitchFamily="18" charset="0"/>
                  </a:rPr>
                  <a:t>$(1,2)$</a:t>
                </a:r>
                <a:r>
                  <a:rPr sz="2400" b="0">
                    <a:solidFill>
                      <a:srgbClr val="111827"/>
                    </a:solidFill>
                    <a:latin typeface="Arial"/>
                  </a:rPr>
                  <a:t>: </a:t>
                </a:r>
                <a:r>
                  <a:rPr lang="en-IN" sz="2400">
                    <a:solidFill>
                      <a:srgbClr val="111827"/>
                    </a:solidFill>
                    <a:latin typeface="Cambria Math" panose="02040503050406030204" pitchFamily="18" charset="0"/>
                  </a:rPr>
                  <a:t>$-\sqrt{4-y^2}=x+C$</a:t>
                </a:r>
                <a:r>
                  <a:rPr sz="2400" b="0">
                    <a:solidFill>
                      <a:srgbClr val="111827"/>
                    </a:solidFill>
                    <a:latin typeface="Arial"/>
                  </a:rPr>
                  <a:t> with </a:t>
                </a:r>
                <a:r>
                  <a:rPr lang="en-IN" sz="2400">
                    <a:solidFill>
                      <a:srgbClr val="111827"/>
                    </a:solidFill>
                    <a:latin typeface="Cambria Math" panose="02040503050406030204" pitchFamily="18" charset="0"/>
                  </a:rPr>
                  <a:t>$x=1,\ y=2$</a:t>
                </a:r>
                <a:r>
                  <a:rPr sz="2400" b="0">
                    <a:solidFill>
                      <a:srgbClr val="111827"/>
                    </a:solidFill>
                    <a:latin typeface="Arial"/>
                  </a:rPr>
                  <a:t> gives </a:t>
                </a:r>
                <a:r>
                  <a:rPr lang="en-IN" sz="2400">
                    <a:solidFill>
                      <a:srgbClr val="111827"/>
                    </a:solidFill>
                    <a:latin typeface="Cambria Math" panose="02040503050406030204" pitchFamily="18" charset="0"/>
                  </a:rPr>
                  <a:t>$C=-1$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$4-y^2=(x-1)^2$</a:t>
                </a:r>
                <a:r>
                  <a:rPr sz="2400" b="0">
                    <a:solidFill>
                      <a:srgbClr val="111827"/>
                    </a:solidFill>
                    <a:latin typeface="Arial"/>
                  </a:rPr>
                  <a:t>, i.e. </a:t>
                </a:r>
                <a:r>
                  <a:rPr lang="en-IN" sz="2400">
                    <a:solidFill>
                      <a:srgbClr val="111827"/>
                    </a:solidFill>
                    <a:latin typeface="Cambria Math" panose="02040503050406030204" pitchFamily="18" charset="0"/>
                  </a:rPr>
                  <a:t>$(x-1)^2+y^2=4$</a:t>
                </a:r>
                <a:r>
                  <a:rPr sz="2400" b="0">
                    <a:solidFill>
                      <a:srgbClr val="111827"/>
                    </a:solidFill>
                    <a:latin typeface="Arial"/>
                  </a:rPr>
                  <a:t>: a circle (P).</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 R, S; (B) - Q; (C) - R; (D) - P</a:t>
            </a:r>
            <a:endParaRPr sz="2800">
              <a:solidFill>
                <a:srgbClr val="15803D"/>
              </a:solidFill>
            </a:endParaRPr>
          </a:p>
        </p:txBody>
      </p:sp>
    </p:spTree>
  </p:cSld>
  <p:clrMapOvr>
    <a:masterClrMapping/>
  </p:clrMapOvr>
</p:sld>
</file>

<file path=ppt/slides/slide3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Recognise each curve by its standard property: constant subnormal </a:t>
                </a:r>
                <a14:m>
                  <m:oMath xmlns:m="http://schemas.openxmlformats.org/officeDocument/2006/math">
                    <m:r>
                      <m:rPr>
                        <m:sty m:val="p"/>
                      </m:rPr>
                      <a:rPr lang="en-IN" sz="2400">
                        <a:solidFill>
                          <a:srgbClr val="78350F"/>
                        </a:solidFill>
                        <a:latin typeface="Cambria Math" panose="02040503050406030204" pitchFamily="18" charset="0"/>
                      </a:rPr>
                      <m:t>⇒</m:t>
                    </m:r>
                  </m:oMath>
                </a14:m>
                <a:r>
                  <a:rPr sz="2400" b="0">
                    <a:solidFill>
                      <a:srgbClr val="78350F"/>
                    </a:solidFill>
                    <a:latin typeface="Arial"/>
                  </a:rPr>
                  <a:t> parabola (</a:t>
                </a:r>
                <a14:m>
                  <m:oMath xmlns:m="http://schemas.openxmlformats.org/officeDocument/2006/math">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constant normal length </a:t>
                </a:r>
                <a14:m>
                  <m:oMath xmlns:m="http://schemas.openxmlformats.org/officeDocument/2006/math">
                    <m:r>
                      <m:rPr>
                        <m:sty m:val="p"/>
                      </m:rPr>
                      <a:rPr lang="en-IN" sz="2400">
                        <a:solidFill>
                          <a:srgbClr val="78350F"/>
                        </a:solidFill>
                        <a:latin typeface="Cambria Math" panose="02040503050406030204" pitchFamily="18" charset="0"/>
                      </a:rPr>
                      <m:t>⇒</m:t>
                    </m:r>
                  </m:oMath>
                </a14:m>
                <a:r>
                  <a:rPr sz="2400" b="0">
                    <a:solidFill>
                      <a:srgbClr val="78350F"/>
                    </a:solidFill>
                    <a:latin typeface="Arial"/>
                  </a:rPr>
                  <a:t> circle of that radius; (C) the normal passes through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Recognise each curve by its standard property: constant subnormal </a:t>
                </a:r>
                <a:r>
                  <a:rPr lang="en-IN" sz="2400">
                    <a:solidFill>
                      <a:srgbClr val="78350F"/>
                    </a:solidFill>
                    <a:latin typeface="Cambria Math" panose="02040503050406030204" pitchFamily="18" charset="0"/>
                  </a:rPr>
                  <a:t>$\Rightarrow$</a:t>
                </a:r>
                <a:r>
                  <a:rPr sz="2400" b="0">
                    <a:solidFill>
                      <a:srgbClr val="78350F"/>
                    </a:solidFill>
                    <a:latin typeface="Arial"/>
                  </a:rPr>
                  <a:t> parabola (</a:t>
                </a:r>
                <a:r>
                  <a:rPr lang="en-IN" sz="2400">
                    <a:solidFill>
                      <a:srgbClr val="78350F"/>
                    </a:solidFill>
                    <a:latin typeface="Cambria Math" panose="02040503050406030204" pitchFamily="18" charset="0"/>
                  </a:rPr>
                  <a:t>$2a=2$</a:t>
                </a:r>
                <a:r>
                  <a:rPr sz="2400" b="0">
                    <a:solidFill>
                      <a:srgbClr val="78350F"/>
                    </a:solidFill>
                    <a:latin typeface="Arial"/>
                  </a:rPr>
                  <a:t>); constant normal length </a:t>
                </a:r>
                <a:r>
                  <a:rPr lang="en-IN" sz="2400">
                    <a:solidFill>
                      <a:srgbClr val="78350F"/>
                    </a:solidFill>
                    <a:latin typeface="Cambria Math" panose="02040503050406030204" pitchFamily="18" charset="0"/>
                  </a:rPr>
                  <a:t>$\Rightarrow$</a:t>
                </a:r>
                <a:r>
                  <a:rPr sz="2400" b="0">
                    <a:solidFill>
                      <a:srgbClr val="78350F"/>
                    </a:solidFill>
                    <a:latin typeface="Arial"/>
                  </a:rPr>
                  <a:t> circle of that radius; (C) the normal passes through </a:t>
                </a:r>
                <a:r>
                  <a:rPr lang="en-IN" sz="2400">
                    <a:solidFill>
                      <a:srgbClr val="78350F"/>
                    </a:solidFill>
                    <a:latin typeface="Cambria Math" panose="02040503050406030204" pitchFamily="18" charset="0"/>
                  </a:rPr>
                  <a:t>$(-x,0)$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the subnormal is the constant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Subnormal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means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oMath>
                </a14:m>
                <a:r>
                  <a:rPr sz="2400" b="0">
                    <a:solidFill>
                      <a:srgbClr val="111827"/>
                    </a:solidFill>
                    <a:latin typeface="Arial"/>
                  </a:rPr>
                  <a: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Parabola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The normal of a circle is a radius, so its length is the radius: a circle of radius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centred on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Circle (P).</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For </a:t>
                </a:r>
                <a:r>
                  <a:rPr lang="en-IN" sz="2400">
                    <a:solidFill>
                      <a:srgbClr val="111827"/>
                    </a:solidFill>
                    <a:latin typeface="Cambria Math" panose="02040503050406030204" pitchFamily="18" charset="0"/>
                  </a:rPr>
                  <a:t>$y^2=4ax$</a:t>
                </a:r>
                <a:r>
                  <a:rPr sz="2400" b="0">
                    <a:solidFill>
                      <a:srgbClr val="111827"/>
                    </a:solidFill>
                    <a:latin typeface="Arial"/>
                  </a:rPr>
                  <a:t> the subnormal is the constant </a:t>
                </a:r>
                <a:r>
                  <a:rPr lang="en-IN" sz="2400">
                    <a:solidFill>
                      <a:srgbClr val="111827"/>
                    </a:solidFill>
                    <a:latin typeface="Cambria Math" panose="02040503050406030204" pitchFamily="18" charset="0"/>
                  </a:rPr>
                  <a:t>$2a$</a:t>
                </a:r>
                <a:r>
                  <a:rPr sz="2400" b="0">
                    <a:solidFill>
                      <a:srgbClr val="111827"/>
                    </a:solidFill>
                    <a:latin typeface="Arial"/>
                  </a:rPr>
                  <a:t>. Subnormal </a:t>
                </a:r>
                <a:r>
                  <a:rPr lang="en-IN" sz="2400">
                    <a:solidFill>
                      <a:srgbClr val="111827"/>
                    </a:solidFill>
                    <a:latin typeface="Cambria Math" panose="02040503050406030204" pitchFamily="18" charset="0"/>
                  </a:rPr>
                  <a:t>$2$</a:t>
                </a:r>
                <a:r>
                  <a:rPr sz="2400" b="0">
                    <a:solidFill>
                      <a:srgbClr val="111827"/>
                    </a:solidFill>
                    <a:latin typeface="Arial"/>
                  </a:rPr>
                  <a:t> means </a:t>
                </a:r>
                <a:r>
                  <a:rPr lang="en-IN" sz="2400">
                    <a:solidFill>
                      <a:srgbClr val="111827"/>
                    </a:solidFill>
                    <a:latin typeface="Cambria Math" panose="02040503050406030204" pitchFamily="18" charset="0"/>
                  </a:rPr>
                  <a:t>$a=1$</a:t>
                </a:r>
                <a:r>
                  <a:rPr sz="2400" b="0">
                    <a:solidFill>
                      <a:srgbClr val="111827"/>
                    </a:solidFill>
                    <a:latin typeface="Arial"/>
                  </a:rPr>
                  <a:t>; </a:t>
                </a:r>
                <a:r>
                  <a:rPr lang="en-IN" sz="2400">
                    <a:solidFill>
                      <a:srgbClr val="111827"/>
                    </a:solidFill>
                    <a:latin typeface="Cambria Math" panose="02040503050406030204" pitchFamily="18" charset="0"/>
                  </a:rPr>
                  <a:t>$y^2=4x$</a:t>
                </a:r>
                <a:r>
                  <a:rPr sz="2400" b="0">
                    <a:solidFill>
                      <a:srgbClr val="111827"/>
                    </a:solidFill>
                    <a:latin typeface="Arial"/>
                  </a:rPr>
                  <a:t> passes through </a:t>
                </a:r>
                <a:r>
                  <a:rPr lang="en-IN" sz="2400">
                    <a:solidFill>
                      <a:srgbClr val="111827"/>
                    </a:solidFill>
                    <a:latin typeface="Cambria Math" panose="02040503050406030204" pitchFamily="18" charset="0"/>
                  </a:rPr>
                  <a:t>$(1,2)$</a:t>
                </a:r>
                <a:r>
                  <a:rPr sz="2400" b="0">
                    <a:solidFill>
                      <a:srgbClr val="111827"/>
                    </a:solidFill>
                    <a:latin typeface="Arial"/>
                  </a:rPr>
                  <a:t>. Parabola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The normal of a circle is a radius, so its length is the radius: a circle of radius </a:t>
                </a:r>
                <a:r>
                  <a:rPr lang="en-IN" sz="2400">
                    <a:solidFill>
                      <a:srgbClr val="111827"/>
                    </a:solidFill>
                    <a:latin typeface="Cambria Math" panose="02040503050406030204" pitchFamily="18" charset="0"/>
                  </a:rPr>
                  <a:t>$2$</a:t>
                </a:r>
                <a:r>
                  <a:rPr sz="2400" b="0">
                    <a:solidFill>
                      <a:srgbClr val="111827"/>
                    </a:solidFill>
                    <a:latin typeface="Arial"/>
                  </a:rPr>
                  <a:t> centred on the </a:t>
                </a:r>
                <a:r>
                  <a:rPr lang="en-IN" sz="2400">
                    <a:solidFill>
                      <a:srgbClr val="111827"/>
                    </a:solidFill>
                    <a:latin typeface="Cambria Math" panose="02040503050406030204" pitchFamily="18" charset="0"/>
                  </a:rPr>
                  <a:t>$x$</a:t>
                </a:r>
                <a:r>
                  <a:rPr sz="2400" b="0">
                    <a:solidFill>
                      <a:srgbClr val="111827"/>
                    </a:solidFill>
                    <a:latin typeface="Arial"/>
                  </a:rPr>
                  <a:t>-axis, </a:t>
                </a:r>
                <a:r>
                  <a:rPr lang="en-IN" sz="2400">
                    <a:solidFill>
                      <a:srgbClr val="111827"/>
                    </a:solidFill>
                    <a:latin typeface="Cambria Math" panose="02040503050406030204" pitchFamily="18" charset="0"/>
                  </a:rPr>
                  <a:t>$(x-c)^2+y^2=4$</a:t>
                </a:r>
                <a:r>
                  <a:rPr sz="2400" b="0">
                    <a:solidFill>
                      <a:srgbClr val="111827"/>
                    </a:solidFill>
                    <a:latin typeface="Arial"/>
                  </a:rPr>
                  <a:t>, through </a:t>
                </a:r>
                <a:r>
                  <a:rPr lang="en-IN" sz="2400">
                    <a:solidFill>
                      <a:srgbClr val="111827"/>
                    </a:solidFill>
                    <a:latin typeface="Cambria Math" panose="02040503050406030204" pitchFamily="18" charset="0"/>
                  </a:rPr>
                  <a:t>$(1,2)$</a:t>
                </a:r>
                <a:r>
                  <a:rPr sz="2400" b="0">
                    <a:solidFill>
                      <a:srgbClr val="111827"/>
                    </a:solidFill>
                    <a:latin typeface="Arial"/>
                  </a:rPr>
                  <a:t> gives </a:t>
                </a:r>
                <a:r>
                  <a:rPr lang="en-IN" sz="2400">
                    <a:solidFill>
                      <a:srgbClr val="111827"/>
                    </a:solidFill>
                    <a:latin typeface="Cambria Math" panose="02040503050406030204" pitchFamily="18" charset="0"/>
                  </a:rPr>
                  <a:t>$(1-c)^2+4=4$</a:t>
                </a:r>
                <a:r>
                  <a:rPr sz="2400" b="0">
                    <a:solidFill>
                      <a:srgbClr val="111827"/>
                    </a:solidFill>
                    <a:latin typeface="Arial"/>
                  </a:rPr>
                  <a:t>, </a:t>
                </a:r>
                <a:r>
                  <a:rPr lang="en-IN" sz="2400">
                    <a:solidFill>
                      <a:srgbClr val="111827"/>
                    </a:solidFill>
                    <a:latin typeface="Cambria Math" panose="02040503050406030204" pitchFamily="18" charset="0"/>
                  </a:rPr>
                  <a:t>$c=1$</a:t>
                </a:r>
                <a:r>
                  <a:rPr sz="2400" b="0">
                    <a:solidFill>
                      <a:srgbClr val="111827"/>
                    </a:solidFill>
                    <a:latin typeface="Arial"/>
                  </a:rPr>
                  <a:t>: </a:t>
                </a:r>
                <a:r>
                  <a:rPr lang="en-IN" sz="2400">
                    <a:solidFill>
                      <a:srgbClr val="111827"/>
                    </a:solidFill>
                    <a:latin typeface="Cambria Math" panose="02040503050406030204" pitchFamily="18" charset="0"/>
                  </a:rPr>
                  <a:t>$(x-1)^2+y^2=4$</a:t>
                </a:r>
                <a:r>
                  <a:rPr sz="2400" b="0">
                    <a:solidFill>
                      <a:srgbClr val="111827"/>
                    </a:solidFill>
                    <a:latin typeface="Arial"/>
                  </a:rPr>
                  <a:t>. Circle (P).</a:t>
                </a:r>
                <a:endParaRPr sz="2400">
                  <a:solidFill>
                    <a:srgbClr val="111827"/>
                  </a:solidFill>
                </a:endParaRPr>
              </a:p>
            </p:txBody>
          </p:sp>
        </mc:Fallback>
      </mc:AlternateContent>
    </p:spTree>
  </p:cSld>
  <p:clrMapOvr>
    <a:masterClrMapping/>
  </p:clrMapOvr>
</p:sld>
</file>

<file path=ppt/slides/slide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bisects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𝐺</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iff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𝐺</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passes through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its slope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den>
                    </m:f>
                  </m:oMath>
                </a14:m>
                <a:r>
                  <a:rPr sz="2400" b="0">
                    <a:solidFill>
                      <a:srgbClr val="111827"/>
                    </a:solidFill>
                    <a:latin typeface="Arial"/>
                  </a:rPr>
                  <a:t> and the tangent slope is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𝑦</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 ellipse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for the ellipse and the hyperbola, so (R) and (S).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The </a:t>
                </a:r>
                <a:r>
                  <a:rPr lang="en-IN" sz="2400">
                    <a:solidFill>
                      <a:srgbClr val="111827"/>
                    </a:solidFill>
                    <a:latin typeface="Cambria Math" panose="02040503050406030204" pitchFamily="18" charset="0"/>
                  </a:rPr>
                  <a:t>$y$</a:t>
                </a:r>
                <a:r>
                  <a:rPr sz="2400" b="0">
                    <a:solidFill>
                      <a:srgbClr val="111827"/>
                    </a:solidFill>
                    <a:latin typeface="Arial"/>
                  </a:rPr>
                  <a:t>-axis bisects </a:t>
                </a:r>
                <a:r>
                  <a:rPr lang="en-IN" sz="2400">
                    <a:solidFill>
                      <a:srgbClr val="111827"/>
                    </a:solidFill>
                    <a:latin typeface="Cambria Math" panose="02040503050406030204" pitchFamily="18" charset="0"/>
                  </a:rPr>
                  <a:t>$P(x,y)$</a:t>
                </a:r>
                <a:r>
                  <a:rPr sz="2400" b="0">
                    <a:solidFill>
                      <a:srgbClr val="111827"/>
                    </a:solidFill>
                    <a:latin typeface="Arial"/>
                  </a:rPr>
                  <a:t> and </a:t>
                </a:r>
                <a:r>
                  <a:rPr lang="en-IN" sz="2400">
                    <a:solidFill>
                      <a:srgbClr val="111827"/>
                    </a:solidFill>
                    <a:latin typeface="Cambria Math" panose="02040503050406030204" pitchFamily="18" charset="0"/>
                  </a:rPr>
                  <a:t>$G(x_G,0)$</a:t>
                </a:r>
                <a:r>
                  <a:rPr sz="2400" b="0">
                    <a:solidFill>
                      <a:srgbClr val="111827"/>
                    </a:solidFill>
                    <a:latin typeface="Arial"/>
                  </a:rPr>
                  <a:t> iff </a:t>
                </a:r>
                <a:r>
                  <a:rPr lang="en-IN" sz="2400">
                    <a:solidFill>
                      <a:srgbClr val="111827"/>
                    </a:solidFill>
                    <a:latin typeface="Cambria Math" panose="02040503050406030204" pitchFamily="18" charset="0"/>
                  </a:rPr>
                  <a:t>$x_G=-x$</a:t>
                </a:r>
                <a:r>
                  <a:rPr sz="2400" b="0">
                    <a:solidFill>
                      <a:srgbClr val="111827"/>
                    </a:solidFill>
                    <a:latin typeface="Arial"/>
                  </a:rPr>
                  <a:t>: the normal at </a:t>
                </a:r>
                <a:r>
                  <a:rPr lang="en-IN" sz="2400">
                    <a:solidFill>
                      <a:srgbClr val="111827"/>
                    </a:solidFill>
                    <a:latin typeface="Cambria Math" panose="02040503050406030204" pitchFamily="18" charset="0"/>
                  </a:rPr>
                  <a:t>$P$</a:t>
                </a:r>
                <a:r>
                  <a:rPr sz="2400" b="0">
                    <a:solidFill>
                      <a:srgbClr val="111827"/>
                    </a:solidFill>
                    <a:latin typeface="Arial"/>
                  </a:rPr>
                  <a:t> passes through </a:t>
                </a:r>
                <a:r>
                  <a:rPr lang="en-IN" sz="2400">
                    <a:solidFill>
                      <a:srgbClr val="111827"/>
                    </a:solidFill>
                    <a:latin typeface="Cambria Math" panose="02040503050406030204" pitchFamily="18" charset="0"/>
                  </a:rPr>
                  <a:t>$(-x,0)$</a:t>
                </a:r>
                <a:r>
                  <a:rPr sz="2400" b="0">
                    <a:solidFill>
                      <a:srgbClr val="111827"/>
                    </a:solidFill>
                    <a:latin typeface="Arial"/>
                  </a:rPr>
                  <a:t>, so its slope is </a:t>
                </a:r>
                <a:r>
                  <a:rPr lang="en-IN" sz="2400">
                    <a:solidFill>
                      <a:srgbClr val="111827"/>
                    </a:solidFill>
                    <a:latin typeface="Cambria Math" panose="02040503050406030204" pitchFamily="18" charset="0"/>
                  </a:rPr>
                  <a:t>$\frac{y}{2x}$</a:t>
                </a:r>
                <a:r>
                  <a:rPr sz="2400" b="0">
                    <a:solidFill>
                      <a:srgbClr val="111827"/>
                    </a:solidFill>
                    <a:latin typeface="Arial"/>
                  </a:rPr>
                  <a:t> and the tangent slope is </a:t>
                </a:r>
                <a:r>
                  <a:rPr lang="en-IN" sz="2400">
                    <a:solidFill>
                      <a:srgbClr val="111827"/>
                    </a:solidFill>
                    <a:latin typeface="Cambria Math" panose="02040503050406030204" pitchFamily="18" charset="0"/>
                  </a:rPr>
                  <a:t>$-\frac{2x}{y}$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$y\,dy=-2x\,dx$</a:t>
                </a:r>
                <a:r>
                  <a:rPr sz="2400" b="0">
                    <a:solidFill>
                      <a:srgbClr val="111827"/>
                    </a:solidFill>
                    <a:latin typeface="Arial"/>
                  </a:rPr>
                  <a:t> gives </a:t>
                </a:r>
                <a:r>
                  <a:rPr lang="en-IN" sz="2400">
                    <a:solidFill>
                      <a:srgbClr val="111827"/>
                    </a:solidFill>
                    <a:latin typeface="Cambria Math" panose="02040503050406030204" pitchFamily="18" charset="0"/>
                  </a:rPr>
                  <a:t>$x^2+\frac{y^2}{2}=9$</a:t>
                </a:r>
                <a:r>
                  <a:rPr sz="2400" b="0">
                    <a:solidFill>
                      <a:srgbClr val="111827"/>
                    </a:solidFill>
                    <a:latin typeface="Arial"/>
                  </a:rPr>
                  <a:t> (through </a:t>
                </a:r>
                <a:r>
                  <a:rPr lang="en-IN" sz="2400">
                    <a:solidFill>
                      <a:srgbClr val="111827"/>
                    </a:solidFill>
                    <a:latin typeface="Cambria Math" panose="02040503050406030204" pitchFamily="18" charset="0"/>
                  </a:rPr>
                  <a:t>$(1,4)$</a:t>
                </a:r>
                <a:r>
                  <a:rPr sz="2400" b="0">
                    <a:solidFill>
                      <a:srgbClr val="111827"/>
                    </a:solidFill>
                    <a:latin typeface="Arial"/>
                  </a:rPr>
                  <a:t>): an ellipse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$p_1p_2=b^2$</a:t>
                </a:r>
                <a:r>
                  <a:rPr sz="2400" b="0">
                    <a:solidFill>
                      <a:srgbClr val="111827"/>
                    </a:solidFill>
                    <a:latin typeface="Arial"/>
                  </a:rPr>
                  <a:t> for the ellipse and the hyperbola, so (R) and (S).</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 R, S; (B) - Q; (C) - R; (D) - P</a:t>
            </a:r>
            <a:endParaRPr sz="2800">
              <a:solidFill>
                <a:srgbClr val="15803D"/>
              </a:solidFill>
            </a:endParaRPr>
          </a:p>
        </p:txBody>
      </p:sp>
    </p:spTree>
  </p:cSld>
  <p:clrMapOvr>
    <a:masterClrMapping/>
  </p:clrMapOvr>
</p:sld>
</file>

<file path=ppt/slides/slide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Foci of an ellipse or hyperbola: the product of the perpendiculars on any tangent is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conversely a constant product from two points gives a central conic.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Subnormal </a:t>
                </a:r>
                <a14:m>
                  <m:oMath xmlns:m="http://schemas.openxmlformats.org/officeDocument/2006/math">
                    <m:r>
                      <a:rPr lang="en-IN" sz="2400" i="1">
                        <a:solidFill>
                          <a:srgbClr val="111827"/>
                        </a:solidFill>
                        <a:latin typeface="Cambria Math" panose="02040503050406030204" pitchFamily="18" charset="0"/>
                      </a:rPr>
                      <m:t>𝑦</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den>
                    </m:f>
                  </m:oMath>
                </a14:m>
                <a:r>
                  <a:rPr sz="2400" b="0">
                    <a:solidFill>
                      <a:srgbClr val="111827"/>
                    </a:solidFill>
                    <a:latin typeface="Arial"/>
                  </a:rPr>
                  <a:t> is constant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for a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subtangent is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 of the normal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den>
                                </m:f>
                              </m:e>
                            </m:d>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 a constant normal length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gives circles of radius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centred on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bisecting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𝐺</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on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forces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the normal passes through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Foci of an ellipse or hyperbola: the product of the perpendiculars on any tangent is </a:t>
                </a:r>
                <a:r>
                  <a:rPr lang="en-IN" sz="2400">
                    <a:solidFill>
                      <a:srgbClr val="111827"/>
                    </a:solidFill>
                    <a:latin typeface="Cambria Math" panose="02040503050406030204" pitchFamily="18" charset="0"/>
                  </a:rPr>
                  <a:t>$b^2$</a:t>
                </a:r>
                <a:r>
                  <a:rPr sz="2400" b="0">
                    <a:solidFill>
                      <a:srgbClr val="111827"/>
                    </a:solidFill>
                    <a:latin typeface="Arial"/>
                  </a:rPr>
                  <a:t>; conversely a constant product from two points gives a central conic.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Subnormal </a:t>
                </a:r>
                <a:r>
                  <a:rPr lang="en-IN" sz="2400">
                    <a:solidFill>
                      <a:srgbClr val="111827"/>
                    </a:solidFill>
                    <a:latin typeface="Cambria Math" panose="02040503050406030204" pitchFamily="18" charset="0"/>
                  </a:rPr>
                  <a:t>$y\frac{dy}{dx}$</a:t>
                </a:r>
                <a:r>
                  <a:rPr sz="2400" b="0">
                    <a:solidFill>
                      <a:srgbClr val="111827"/>
                    </a:solidFill>
                    <a:latin typeface="Arial"/>
                  </a:rPr>
                  <a:t> is constant </a:t>
                </a:r>
                <a:r>
                  <a:rPr lang="en-IN" sz="2400">
                    <a:solidFill>
                      <a:srgbClr val="111827"/>
                    </a:solidFill>
                    <a:latin typeface="Cambria Math" panose="02040503050406030204" pitchFamily="18" charset="0"/>
                  </a:rPr>
                  <a:t>$=2a$</a:t>
                </a:r>
                <a:r>
                  <a:rPr sz="2400" b="0">
                    <a:solidFill>
                      <a:srgbClr val="111827"/>
                    </a:solidFill>
                    <a:latin typeface="Arial"/>
                  </a:rPr>
                  <a:t> for a parabola </a:t>
                </a:r>
                <a:r>
                  <a:rPr lang="en-IN" sz="2400">
                    <a:solidFill>
                      <a:srgbClr val="111827"/>
                    </a:solidFill>
                    <a:latin typeface="Cambria Math" panose="02040503050406030204" pitchFamily="18" charset="0"/>
                  </a:rPr>
                  <a:t>$y^2=4ax$</a:t>
                </a:r>
                <a:r>
                  <a:rPr sz="2400" b="0">
                    <a:solidFill>
                      <a:srgbClr val="111827"/>
                    </a:solidFill>
                    <a:latin typeface="Arial"/>
                  </a:rPr>
                  <a:t>; subtangent is </a:t>
                </a:r>
                <a:r>
                  <a:rPr lang="en-IN" sz="2400">
                    <a:solidFill>
                      <a:srgbClr val="111827"/>
                    </a:solidFill>
                    <a:latin typeface="Cambria Math" panose="02040503050406030204" pitchFamily="18" charset="0"/>
                  </a:rPr>
                  <a:t>$2x$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 of the normal </a:t>
                </a:r>
                <a:r>
                  <a:rPr lang="en-IN" sz="2400">
                    <a:solidFill>
                      <a:srgbClr val="111827"/>
                    </a:solidFill>
                    <a:latin typeface="Cambria Math" panose="02040503050406030204" pitchFamily="18" charset="0"/>
                  </a:rPr>
                  <a:t>$=|y|\sqrt{1+\left(\frac{dy}{dx}\right)^2}$</a:t>
                </a:r>
                <a:r>
                  <a:rPr sz="2400" b="0">
                    <a:solidFill>
                      <a:srgbClr val="111827"/>
                    </a:solidFill>
                    <a:latin typeface="Arial"/>
                  </a:rPr>
                  <a:t>; a constant normal length </a:t>
                </a:r>
                <a:r>
                  <a:rPr lang="en-IN" sz="2400">
                    <a:solidFill>
                      <a:srgbClr val="111827"/>
                    </a:solidFill>
                    <a:latin typeface="Cambria Math" panose="02040503050406030204" pitchFamily="18" charset="0"/>
                  </a:rPr>
                  <a:t>$R$</a:t>
                </a:r>
                <a:r>
                  <a:rPr sz="2400" b="0">
                    <a:solidFill>
                      <a:srgbClr val="111827"/>
                    </a:solidFill>
                    <a:latin typeface="Arial"/>
                  </a:rPr>
                  <a:t> gives circles of radius </a:t>
                </a:r>
                <a:r>
                  <a:rPr lang="en-IN" sz="2400">
                    <a:solidFill>
                      <a:srgbClr val="111827"/>
                    </a:solidFill>
                    <a:latin typeface="Cambria Math" panose="02040503050406030204" pitchFamily="18" charset="0"/>
                  </a:rPr>
                  <a:t>$R$</a:t>
                </a:r>
                <a:r>
                  <a:rPr sz="2400" b="0">
                    <a:solidFill>
                      <a:srgbClr val="111827"/>
                    </a:solidFill>
                    <a:latin typeface="Arial"/>
                  </a:rPr>
                  <a:t> centred on the </a:t>
                </a:r>
                <a:r>
                  <a:rPr lang="en-IN" sz="2400">
                    <a:solidFill>
                      <a:srgbClr val="111827"/>
                    </a:solidFill>
                    <a:latin typeface="Cambria Math" panose="02040503050406030204" pitchFamily="18" charset="0"/>
                  </a:rPr>
                  <a:t>$x$</a:t>
                </a:r>
                <a:r>
                  <a:rPr sz="2400" b="0">
                    <a:solidFill>
                      <a:srgbClr val="111827"/>
                    </a:solidFill>
                    <a:latin typeface="Arial"/>
                  </a:rPr>
                  <a:t>-axis.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r>
                  <a:rPr lang="en-IN" sz="2400">
                    <a:solidFill>
                      <a:srgbClr val="111827"/>
                    </a:solidFill>
                    <a:latin typeface="Cambria Math" panose="02040503050406030204" pitchFamily="18" charset="0"/>
                  </a:rPr>
                  <a:t>$y$</a:t>
                </a:r>
                <a:r>
                  <a:rPr sz="2400" b="0">
                    <a:solidFill>
                      <a:srgbClr val="111827"/>
                    </a:solidFill>
                    <a:latin typeface="Arial"/>
                  </a:rPr>
                  <a:t>-axis bisecting </a:t>
                </a:r>
                <a:r>
                  <a:rPr lang="en-IN" sz="2400">
                    <a:solidFill>
                      <a:srgbClr val="111827"/>
                    </a:solidFill>
                    <a:latin typeface="Cambria Math" panose="02040503050406030204" pitchFamily="18" charset="0"/>
                  </a:rPr>
                  <a:t>$PG$</a:t>
                </a:r>
                <a:r>
                  <a:rPr sz="2400" b="0">
                    <a:solidFill>
                      <a:srgbClr val="111827"/>
                    </a:solidFill>
                    <a:latin typeface="Arial"/>
                  </a:rPr>
                  <a:t> (</a:t>
                </a:r>
                <a:r>
                  <a:rPr lang="en-IN" sz="2400">
                    <a:solidFill>
                      <a:srgbClr val="111827"/>
                    </a:solidFill>
                    <a:latin typeface="Cambria Math" panose="02040503050406030204" pitchFamily="18" charset="0"/>
                  </a:rPr>
                  <a:t>$G$</a:t>
                </a:r>
                <a:r>
                  <a:rPr sz="2400" b="0">
                    <a:solidFill>
                      <a:srgbClr val="111827"/>
                    </a:solidFill>
                    <a:latin typeface="Arial"/>
                  </a:rPr>
                  <a:t> on the </a:t>
                </a:r>
                <a:r>
                  <a:rPr lang="en-IN" sz="2400">
                    <a:solidFill>
                      <a:srgbClr val="111827"/>
                    </a:solidFill>
                    <a:latin typeface="Cambria Math" panose="02040503050406030204" pitchFamily="18" charset="0"/>
                  </a:rPr>
                  <a:t>$x$</a:t>
                </a:r>
                <a:r>
                  <a:rPr sz="2400" b="0">
                    <a:solidFill>
                      <a:srgbClr val="111827"/>
                    </a:solidFill>
                    <a:latin typeface="Arial"/>
                  </a:rPr>
                  <a:t>-axis) forces </a:t>
                </a:r>
                <a:r>
                  <a:rPr lang="en-IN" sz="2400">
                    <a:solidFill>
                      <a:srgbClr val="111827"/>
                    </a:solidFill>
                    <a:latin typeface="Cambria Math" panose="02040503050406030204" pitchFamily="18" charset="0"/>
                  </a:rPr>
                  <a:t>$G=(-x,0)$</a:t>
                </a:r>
                <a:r>
                  <a:rPr sz="2400" b="0">
                    <a:solidFill>
                      <a:srgbClr val="111827"/>
                    </a:solidFill>
                    <a:latin typeface="Arial"/>
                  </a:rPr>
                  <a:t>, so the normal passes through </a:t>
                </a:r>
                <a:r>
                  <a:rPr lang="en-IN" sz="2400">
                    <a:solidFill>
                      <a:srgbClr val="111827"/>
                    </a:solidFill>
                    <a:latin typeface="Cambria Math" panose="02040503050406030204" pitchFamily="18" charset="0"/>
                  </a:rPr>
                  <a:t>$(-x,0)$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94030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ellipse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centre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and a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on it with eccentric angle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The normal drawn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intersects the major and minor axes in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respectively. </a:t>
                </a:r>
                <a14:m>
                  <m:oMath xmlns:m="http://schemas.openxmlformats.org/officeDocument/2006/math">
                    <m:sSub>
                      <m:e>
                        <m:r>
                          <a:rPr lang="en-IN" sz="2400" i="1">
                            <a:solidFill>
                              <a:srgbClr val="111827"/>
                            </a:solidFill>
                            <a:latin typeface="Cambria Math" panose="02040503050406030204" pitchFamily="18" charset="0"/>
                          </a:rPr>
                          <m:t>𝑁</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𝑁</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the feet of the perpendiculars from the foci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respectively on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is the foot of the perpendicular from the centre of the ellipse on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intersects the axis of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Match the entries of Column I with the entries of Column II.\nColumn I\n(A)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equal to\n(B)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equal to\n(C)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𝑁</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𝑁</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equal to\n(D)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equal to\nColumn II\n(P)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\n(Q) </a:t>
                </a:r>
                <a14:m>
                  <m:oMath xmlns:m="http://schemas.openxmlformats.org/officeDocument/2006/math">
                    <m:r>
                      <a:rPr lang="en-IN" sz="2400" i="1">
                        <a:solidFill>
                          <a:srgbClr val="111827"/>
                        </a:solidFill>
                        <a:latin typeface="Cambria Math" panose="02040503050406030204" pitchFamily="18" charset="0"/>
                      </a:rPr>
                      <m:t>16</m:t>
                    </m:r>
                  </m:oMath>
                </a14:m>
                <a:r>
                  <a:rPr sz="2400" b="0">
                    <a:solidFill>
                      <a:srgbClr val="111827"/>
                    </a:solidFill>
                    <a:latin typeface="Arial"/>
                  </a:rPr>
                  <a:t>\n(R) </a:t>
                </a:r>
                <a14:m>
                  <m:oMath xmlns:m="http://schemas.openxmlformats.org/officeDocument/2006/math">
                    <m:r>
                      <a:rPr lang="en-IN" sz="2400" i="1">
                        <a:solidFill>
                          <a:srgbClr val="111827"/>
                        </a:solidFill>
                        <a:latin typeface="Cambria Math" panose="02040503050406030204" pitchFamily="18" charset="0"/>
                      </a:rPr>
                      <m:t>17</m:t>
                    </m:r>
                  </m:oMath>
                </a14:m>
                <a:r>
                  <a:rPr sz="2400" b="0">
                    <a:solidFill>
                      <a:srgbClr val="111827"/>
                    </a:solidFill>
                    <a:latin typeface="Arial"/>
                  </a:rPr>
                  <a:t>\n(S) </a:t>
                </a:r>
                <a14:m>
                  <m:oMath xmlns:m="http://schemas.openxmlformats.org/officeDocument/2006/math">
                    <m:r>
                      <a:rPr lang="en-IN" sz="2400" i="1">
                        <a:solidFill>
                          <a:srgbClr val="111827"/>
                        </a:solidFill>
                        <a:latin typeface="Cambria Math" panose="02040503050406030204" pitchFamily="18" charset="0"/>
                      </a:rPr>
                      <m:t>25</m:t>
                    </m:r>
                  </m:oMath>
                </a14:m>
                <a:endParaRPr sz="2400">
                  <a:solidFill>
                    <a:srgbClr val="111827"/>
                  </a:solidFill>
                </a:endParaRPr>
              </a:p>
            </p:txBody>
          </p:sp>
        </mc:Choice>
        <mc:Fallback>
          <p:sp>
            <p:nvSpPr>
              <p:cNvPr id="4" name="Rounded Rectangle 3"/>
              <p:cNvSpPr/>
              <p:nvPr/>
            </p:nvSpPr>
            <p:spPr>
              <a:xfrm>
                <a:off x="731520" y="1280160"/>
                <a:ext cx="10725912" cy="494030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ellipse </a:t>
                </a:r>
                <a:r>
                  <a:rPr lang="en-IN" sz="2400">
                    <a:solidFill>
                      <a:srgbClr val="111827"/>
                    </a:solidFill>
                    <a:latin typeface="Cambria Math" panose="02040503050406030204" pitchFamily="18" charset="0"/>
                  </a:rPr>
                  <a:t>$\frac{x^2}{25}+\frac{y^2}{9}=1$</a:t>
                </a:r>
                <a:r>
                  <a:rPr sz="2400" b="0">
                    <a:solidFill>
                      <a:srgbClr val="111827"/>
                    </a:solidFill>
                    <a:latin typeface="Arial"/>
                  </a:rPr>
                  <a:t> with centre </a:t>
                </a:r>
                <a:r>
                  <a:rPr lang="en-IN" sz="2400">
                    <a:solidFill>
                      <a:srgbClr val="111827"/>
                    </a:solidFill>
                    <a:latin typeface="Cambria Math" panose="02040503050406030204" pitchFamily="18" charset="0"/>
                  </a:rPr>
                  <a:t>$C$</a:t>
                </a:r>
                <a:r>
                  <a:rPr sz="2400" b="0">
                    <a:solidFill>
                      <a:srgbClr val="111827"/>
                    </a:solidFill>
                    <a:latin typeface="Arial"/>
                  </a:rPr>
                  <a:t> and a point </a:t>
                </a:r>
                <a:r>
                  <a:rPr lang="en-IN" sz="2400">
                    <a:solidFill>
                      <a:srgbClr val="111827"/>
                    </a:solidFill>
                    <a:latin typeface="Cambria Math" panose="02040503050406030204" pitchFamily="18" charset="0"/>
                  </a:rPr>
                  <a:t>$P$</a:t>
                </a:r>
                <a:r>
                  <a:rPr sz="2400" b="0">
                    <a:solidFill>
                      <a:srgbClr val="111827"/>
                    </a:solidFill>
                    <a:latin typeface="Arial"/>
                  </a:rPr>
                  <a:t> on it with eccentric angle </a:t>
                </a:r>
                <a:r>
                  <a:rPr lang="en-IN" sz="2400">
                    <a:solidFill>
                      <a:srgbClr val="111827"/>
                    </a:solidFill>
                    <a:latin typeface="Cambria Math" panose="02040503050406030204" pitchFamily="18" charset="0"/>
                  </a:rPr>
                  <a:t>$\frac\pi4$</a:t>
                </a:r>
                <a:r>
                  <a:rPr sz="2400" b="0">
                    <a:solidFill>
                      <a:srgbClr val="111827"/>
                    </a:solidFill>
                    <a:latin typeface="Arial"/>
                  </a:rPr>
                  <a:t>. The normal drawn at </a:t>
                </a:r>
                <a:r>
                  <a:rPr lang="en-IN" sz="2400">
                    <a:solidFill>
                      <a:srgbClr val="111827"/>
                    </a:solidFill>
                    <a:latin typeface="Cambria Math" panose="02040503050406030204" pitchFamily="18" charset="0"/>
                  </a:rPr>
                  <a:t>$P$</a:t>
                </a:r>
                <a:r>
                  <a:rPr sz="2400" b="0">
                    <a:solidFill>
                      <a:srgbClr val="111827"/>
                    </a:solidFill>
                    <a:latin typeface="Arial"/>
                  </a:rPr>
                  <a:t> intersects the major and minor axes in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respectively. </a:t>
                </a:r>
                <a:r>
                  <a:rPr lang="en-IN" sz="2400">
                    <a:solidFill>
                      <a:srgbClr val="111827"/>
                    </a:solidFill>
                    <a:latin typeface="Cambria Math" panose="02040503050406030204" pitchFamily="18" charset="0"/>
                  </a:rPr>
                  <a:t>$N_1$</a:t>
                </a:r>
                <a:r>
                  <a:rPr sz="2400" b="0">
                    <a:solidFill>
                      <a:srgbClr val="111827"/>
                    </a:solidFill>
                    <a:latin typeface="Arial"/>
                  </a:rPr>
                  <a:t> and </a:t>
                </a:r>
                <a:r>
                  <a:rPr lang="en-IN" sz="2400">
                    <a:solidFill>
                      <a:srgbClr val="111827"/>
                    </a:solidFill>
                    <a:latin typeface="Cambria Math" panose="02040503050406030204" pitchFamily="18" charset="0"/>
                  </a:rPr>
                  <a:t>$N_2$</a:t>
                </a:r>
                <a:r>
                  <a:rPr sz="2400" b="0">
                    <a:solidFill>
                      <a:srgbClr val="111827"/>
                    </a:solidFill>
                    <a:latin typeface="Arial"/>
                  </a:rPr>
                  <a:t> are the feet of the perpendiculars from the foci </a:t>
                </a:r>
                <a:r>
                  <a:rPr lang="en-IN" sz="2400">
                    <a:solidFill>
                      <a:srgbClr val="111827"/>
                    </a:solidFill>
                    <a:latin typeface="Cambria Math" panose="02040503050406030204" pitchFamily="18" charset="0"/>
                  </a:rPr>
                  <a:t>$S_1$</a:t>
                </a:r>
                <a:r>
                  <a:rPr sz="2400" b="0">
                    <a:solidFill>
                      <a:srgbClr val="111827"/>
                    </a:solidFill>
                    <a:latin typeface="Arial"/>
                  </a:rPr>
                  <a:t> and </a:t>
                </a:r>
                <a:r>
                  <a:rPr lang="en-IN" sz="2400">
                    <a:solidFill>
                      <a:srgbClr val="111827"/>
                    </a:solidFill>
                    <a:latin typeface="Cambria Math" panose="02040503050406030204" pitchFamily="18" charset="0"/>
                  </a:rPr>
                  <a:t>$S_2$</a:t>
                </a:r>
                <a:r>
                  <a:rPr sz="2400" b="0">
                    <a:solidFill>
                      <a:srgbClr val="111827"/>
                    </a:solidFill>
                    <a:latin typeface="Arial"/>
                  </a:rPr>
                  <a:t> respectively on the tangent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$N$</a:t>
                </a:r>
                <a:r>
                  <a:rPr sz="2400" b="0">
                    <a:solidFill>
                      <a:srgbClr val="111827"/>
                    </a:solidFill>
                    <a:latin typeface="Arial"/>
                  </a:rPr>
                  <a:t> is the foot of the perpendicular from the centre of the ellipse on the normal at </a:t>
                </a:r>
                <a:r>
                  <a:rPr lang="en-IN" sz="2400">
                    <a:solidFill>
                      <a:srgbClr val="111827"/>
                    </a:solidFill>
                    <a:latin typeface="Cambria Math" panose="02040503050406030204" pitchFamily="18" charset="0"/>
                  </a:rPr>
                  <a:t>$P$</a:t>
                </a:r>
                <a:r>
                  <a:rPr sz="2400" b="0">
                    <a:solidFill>
                      <a:srgbClr val="111827"/>
                    </a:solidFill>
                    <a:latin typeface="Arial"/>
                  </a:rPr>
                  <a:t>. The tangent at </a:t>
                </a:r>
                <a:r>
                  <a:rPr lang="en-IN" sz="2400">
                    <a:solidFill>
                      <a:srgbClr val="111827"/>
                    </a:solidFill>
                    <a:latin typeface="Cambria Math" panose="02040503050406030204" pitchFamily="18" charset="0"/>
                  </a:rPr>
                  <a:t>$P$</a:t>
                </a:r>
                <a:r>
                  <a:rPr sz="2400" b="0">
                    <a:solidFill>
                      <a:srgbClr val="111827"/>
                    </a:solidFill>
                    <a:latin typeface="Arial"/>
                  </a:rPr>
                  <a:t> intersects the axis of </a:t>
                </a:r>
                <a:r>
                  <a:rPr lang="en-IN" sz="2400">
                    <a:solidFill>
                      <a:srgbClr val="111827"/>
                    </a:solidFill>
                    <a:latin typeface="Cambria Math" panose="02040503050406030204" pitchFamily="18" charset="0"/>
                  </a:rPr>
                  <a:t>$x$</a:t>
                </a:r>
                <a:r>
                  <a:rPr sz="2400" b="0">
                    <a:solidFill>
                      <a:srgbClr val="111827"/>
                    </a:solidFill>
                    <a:latin typeface="Arial"/>
                  </a:rPr>
                  <a:t> at </a:t>
                </a:r>
                <a:r>
                  <a:rPr lang="en-IN" sz="2400">
                    <a:solidFill>
                      <a:srgbClr val="111827"/>
                    </a:solidFill>
                    <a:latin typeface="Cambria Math" panose="02040503050406030204" pitchFamily="18" charset="0"/>
                  </a:rPr>
                  <a:t>$T$</a:t>
                </a:r>
                <a:r>
                  <a:rPr sz="2400" b="0">
                    <a:solidFill>
                      <a:srgbClr val="111827"/>
                    </a:solidFill>
                    <a:latin typeface="Arial"/>
                  </a:rPr>
                  <a:t>. Match the entries of Column I with the entries of Column II.\nColumn I\n(A) </a:t>
                </a:r>
                <a:r>
                  <a:rPr lang="en-IN" sz="2400">
                    <a:solidFill>
                      <a:srgbClr val="111827"/>
                    </a:solidFill>
                    <a:latin typeface="Cambria Math" panose="02040503050406030204" pitchFamily="18" charset="0"/>
                  </a:rPr>
                  <a:t>$(CA)(CT)$</a:t>
                </a:r>
                <a:r>
                  <a:rPr sz="2400" b="0">
                    <a:solidFill>
                      <a:srgbClr val="111827"/>
                    </a:solidFill>
                    <a:latin typeface="Arial"/>
                  </a:rPr>
                  <a:t> is equal to\n(B) </a:t>
                </a:r>
                <a:r>
                  <a:rPr lang="en-IN" sz="2400">
                    <a:solidFill>
                      <a:srgbClr val="111827"/>
                    </a:solidFill>
                    <a:latin typeface="Cambria Math" panose="02040503050406030204" pitchFamily="18" charset="0"/>
                  </a:rPr>
                  <a:t>$(PN)(PB)$</a:t>
                </a:r>
                <a:r>
                  <a:rPr sz="2400" b="0">
                    <a:solidFill>
                      <a:srgbClr val="111827"/>
                    </a:solidFill>
                    <a:latin typeface="Arial"/>
                  </a:rPr>
                  <a:t> is equal to\n(C) </a:t>
                </a:r>
                <a:r>
                  <a:rPr lang="en-IN" sz="2400">
                    <a:solidFill>
                      <a:srgbClr val="111827"/>
                    </a:solidFill>
                    <a:latin typeface="Cambria Math" panose="02040503050406030204" pitchFamily="18" charset="0"/>
                  </a:rPr>
                  <a:t>$(S_1N_1)(S_2N_2)$</a:t>
                </a:r>
                <a:r>
                  <a:rPr sz="2400" b="0">
                    <a:solidFill>
                      <a:srgbClr val="111827"/>
                    </a:solidFill>
                    <a:latin typeface="Arial"/>
                  </a:rPr>
                  <a:t> is equal to\n(D) </a:t>
                </a:r>
                <a:r>
                  <a:rPr lang="en-IN" sz="2400">
                    <a:solidFill>
                      <a:srgbClr val="111827"/>
                    </a:solidFill>
                    <a:latin typeface="Cambria Math" panose="02040503050406030204" pitchFamily="18" charset="0"/>
                  </a:rPr>
                  <a:t>$(S_1P)(S_2P)$</a:t>
                </a:r>
                <a:r>
                  <a:rPr sz="2400" b="0">
                    <a:solidFill>
                      <a:srgbClr val="111827"/>
                    </a:solidFill>
                    <a:latin typeface="Arial"/>
                  </a:rPr>
                  <a:t> is equal to\nColumn II\n(P) </a:t>
                </a:r>
                <a:r>
                  <a:rPr lang="en-IN" sz="2400">
                    <a:solidFill>
                      <a:srgbClr val="111827"/>
                    </a:solidFill>
                    <a:latin typeface="Cambria Math" panose="02040503050406030204" pitchFamily="18" charset="0"/>
                  </a:rPr>
                  <a:t>$9$</a:t>
                </a:r>
                <a:r>
                  <a:rPr sz="2400" b="0">
                    <a:solidFill>
                      <a:srgbClr val="111827"/>
                    </a:solidFill>
                    <a:latin typeface="Arial"/>
                  </a:rPr>
                  <a:t>\n(Q) </a:t>
                </a:r>
                <a:r>
                  <a:rPr lang="en-IN" sz="2400">
                    <a:solidFill>
                      <a:srgbClr val="111827"/>
                    </a:solidFill>
                    <a:latin typeface="Cambria Math" panose="02040503050406030204" pitchFamily="18" charset="0"/>
                  </a:rPr>
                  <a:t>$16$</a:t>
                </a:r>
                <a:r>
                  <a:rPr sz="2400" b="0">
                    <a:solidFill>
                      <a:srgbClr val="111827"/>
                    </a:solidFill>
                    <a:latin typeface="Arial"/>
                  </a:rPr>
                  <a:t>\n(R) </a:t>
                </a:r>
                <a:r>
                  <a:rPr lang="en-IN" sz="2400">
                    <a:solidFill>
                      <a:srgbClr val="111827"/>
                    </a:solidFill>
                    <a:latin typeface="Cambria Math" panose="02040503050406030204" pitchFamily="18" charset="0"/>
                  </a:rPr>
                  <a:t>$17$</a:t>
                </a:r>
                <a:r>
                  <a:rPr sz="2400" b="0">
                    <a:solidFill>
                      <a:srgbClr val="111827"/>
                    </a:solidFill>
                    <a:latin typeface="Arial"/>
                  </a:rPr>
                  <a:t>\n(S) </a:t>
                </a:r>
                <a:r>
                  <a:rPr lang="en-IN" sz="2400">
                    <a:solidFill>
                      <a:srgbClr val="111827"/>
                    </a:solidFill>
                    <a:latin typeface="Cambria Math" panose="02040503050406030204" pitchFamily="18" charset="0"/>
                  </a:rPr>
                  <a:t>$25$</a:t>
                </a:r>
                <a:endParaRPr sz="2400">
                  <a:solidFill>
                    <a:srgbClr val="111827"/>
                  </a:solidFill>
                </a:endParaRPr>
              </a:p>
            </p:txBody>
          </p:sp>
        </mc:Fallback>
      </mc:AlternateContent>
    </p:spTree>
  </p:cSld>
  <p:clrMapOvr>
    <a:masterClrMapping/>
  </p:clrMapOvr>
</p:sld>
</file>

<file path=ppt/slides/slide3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Normal, tangent and foci properties of an ellipse at an eccentric angle, Focal distances and perpendiculars on a tangent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𝑇</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𝑁</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𝑁</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2</m:t>
                        </m:r>
                      </m:sub>
                    </m:sSub>
                    <m:sSub>
                      <m:e>
                        <m:r>
                          <a:rPr lang="en-IN" sz="2400" i="1">
                            <a:solidFill>
                              <a:srgbClr val="78350F"/>
                            </a:solidFill>
                            <a:latin typeface="Cambria Math" panose="02040503050406030204" pitchFamily="18" charset="0"/>
                          </a:rPr>
                          <m:t>𝑁</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1</m:t>
                        </m:r>
                      </m:sub>
                    </m:sSub>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2</m:t>
                        </m:r>
                      </m:sub>
                    </m:sSub>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sSup>
                      <m:e>
                        <m:r>
                          <m:rPr>
                            <m:sty m:val="p"/>
                          </m:rPr>
                          <a:rPr lang="en-IN" sz="2400">
                            <a:solidFill>
                              <a:srgbClr val="78350F"/>
                            </a:solidFill>
                            <a:latin typeface="Cambria Math" panose="02040503050406030204" pitchFamily="18" charset="0"/>
                          </a:rPr>
                          <m:t>sin</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sSup>
                      <m:e>
                        <m:r>
                          <m:rPr>
                            <m:sty m:val="p"/>
                          </m:rPr>
                          <a:rPr lang="en-IN" sz="2400">
                            <a:solidFill>
                              <a:srgbClr val="78350F"/>
                            </a:solidFill>
                            <a:latin typeface="Cambria Math" panose="02040503050406030204" pitchFamily="18" charset="0"/>
                          </a:rPr>
                          <m:t>cos</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θ</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$(CA)(CT)=a^2-b^2$</a:t>
                </a:r>
                <a:r>
                  <a:rPr sz="2400" b="0">
                    <a:solidFill>
                      <a:srgbClr val="78350F"/>
                    </a:solidFill>
                    <a:latin typeface="Arial"/>
                  </a:rPr>
                  <a:t>, </a:t>
                </a:r>
                <a:r>
                  <a:rPr lang="en-IN" sz="2400">
                    <a:solidFill>
                      <a:srgbClr val="78350F"/>
                    </a:solidFill>
                    <a:latin typeface="Cambria Math" panose="02040503050406030204" pitchFamily="18" charset="0"/>
                  </a:rPr>
                  <a:t>$(PN)(PB)=a^2$</a:t>
                </a:r>
                <a:r>
                  <a:rPr sz="2400" b="0">
                    <a:solidFill>
                      <a:srgbClr val="78350F"/>
                    </a:solidFill>
                    <a:latin typeface="Arial"/>
                  </a:rPr>
                  <a:t>, </a:t>
                </a:r>
                <a:r>
                  <a:rPr lang="en-IN" sz="2400">
                    <a:solidFill>
                      <a:srgbClr val="78350F"/>
                    </a:solidFill>
                    <a:latin typeface="Cambria Math" panose="02040503050406030204" pitchFamily="18" charset="0"/>
                  </a:rPr>
                  <a:t>$(S_1N_1)(S_2N_2)=b^2$</a:t>
                </a:r>
                <a:r>
                  <a:rPr sz="2400" b="0">
                    <a:solidFill>
                      <a:srgbClr val="78350F"/>
                    </a:solidFill>
                    <a:latin typeface="Arial"/>
                  </a:rPr>
                  <a:t> and </a:t>
                </a:r>
                <a:r>
                  <a:rPr lang="en-IN" sz="2400">
                    <a:solidFill>
                      <a:srgbClr val="78350F"/>
                    </a:solidFill>
                    <a:latin typeface="Cambria Math" panose="02040503050406030204" pitchFamily="18" charset="0"/>
                  </a:rPr>
                  <a:t>$(S_1P)(S_2P)=a^2\sin^2\theta+b^2\cos^2\theta$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ellipse and the eccentric angle are grey boxes in the PDF;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are recovered from the printed values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ellipse and the eccentric angle are grey boxes in the PDF; </a:t>
                </a:r>
                <a:r>
                  <a:rPr lang="en-IN" sz="2400">
                    <a:solidFill>
                      <a:srgbClr val="111827"/>
                    </a:solidFill>
                    <a:latin typeface="Cambria Math" panose="02040503050406030204" pitchFamily="18" charset="0"/>
                  </a:rPr>
                  <a:t>$\frac{x^2}{25}+\frac{y^2}{9}=1$</a:t>
                </a:r>
                <a:r>
                  <a:rPr sz="2400" b="0">
                    <a:solidFill>
                      <a:srgbClr val="111827"/>
                    </a:solidFill>
                    <a:latin typeface="Arial"/>
                  </a:rPr>
                  <a:t> and </a:t>
                </a:r>
                <a:r>
                  <a:rPr lang="en-IN" sz="2400">
                    <a:solidFill>
                      <a:srgbClr val="111827"/>
                    </a:solidFill>
                    <a:latin typeface="Cambria Math" panose="02040503050406030204" pitchFamily="18" charset="0"/>
                  </a:rPr>
                  <a:t>$\theta=\frac\pi4$</a:t>
                </a:r>
                <a:r>
                  <a:rPr sz="2400" b="0">
                    <a:solidFill>
                      <a:srgbClr val="111827"/>
                    </a:solidFill>
                    <a:latin typeface="Arial"/>
                  </a:rPr>
                  <a:t> are recovered from the printed values </a:t>
                </a:r>
                <a:r>
                  <a:rPr lang="en-IN" sz="2400">
                    <a:solidFill>
                      <a:srgbClr val="111827"/>
                    </a:solidFill>
                    <a:latin typeface="Cambria Math" panose="02040503050406030204" pitchFamily="18" charset="0"/>
                  </a:rPr>
                  <a:t>$a^2-b^2=16$</a:t>
                </a:r>
                <a:r>
                  <a:rPr sz="2400" b="0">
                    <a:solidFill>
                      <a:srgbClr val="111827"/>
                    </a:solidFill>
                    <a:latin typeface="Arial"/>
                  </a:rPr>
                  <a:t>, </a:t>
                </a:r>
                <a:r>
                  <a:rPr lang="en-IN" sz="2400">
                    <a:solidFill>
                      <a:srgbClr val="111827"/>
                    </a:solidFill>
                    <a:latin typeface="Cambria Math" panose="02040503050406030204" pitchFamily="18" charset="0"/>
                  </a:rPr>
                  <a:t>$a^2=25$</a:t>
                </a:r>
                <a:r>
                  <a:rPr sz="2400" b="0">
                    <a:solidFill>
                      <a:srgbClr val="111827"/>
                    </a:solidFill>
                    <a:latin typeface="Arial"/>
                  </a:rPr>
                  <a:t>, </a:t>
                </a:r>
                <a:r>
                  <a:rPr lang="en-IN" sz="2400">
                    <a:solidFill>
                      <a:srgbClr val="111827"/>
                    </a:solidFill>
                    <a:latin typeface="Cambria Math" panose="02040503050406030204" pitchFamily="18" charset="0"/>
                  </a:rPr>
                  <a:t>$b^2=9$</a:t>
                </a:r>
                <a:r>
                  <a:rPr sz="2400" b="0">
                    <a:solidFill>
                      <a:srgbClr val="111827"/>
                    </a:solidFill>
                    <a:latin typeface="Arial"/>
                  </a:rPr>
                  <a:t> and </a:t>
                </a:r>
                <a:r>
                  <a:rPr lang="en-IN" sz="2400">
                    <a:solidFill>
                      <a:srgbClr val="111827"/>
                    </a:solidFill>
                    <a:latin typeface="Cambria Math" panose="02040503050406030204" pitchFamily="18" charset="0"/>
                  </a:rPr>
                  <a:t>$a^2\sin^2\theta+b^2\cos^2\theta=17$</a:t>
                </a:r>
                <a:r>
                  <a:rPr sz="2400" b="0">
                    <a:solidFill>
                      <a:srgbClr val="111827"/>
                    </a:solidFill>
                    <a:latin typeface="Arial"/>
                  </a:rPr>
                  <a:t>.) Here </a:t>
                </a:r>
                <a:r>
                  <a:rPr lang="en-IN" sz="2400">
                    <a:solidFill>
                      <a:srgbClr val="111827"/>
                    </a:solidFill>
                    <a:latin typeface="Cambria Math" panose="02040503050406030204" pitchFamily="18" charset="0"/>
                  </a:rPr>
                  <a:t>$a=5$</a:t>
                </a:r>
                <a:r>
                  <a:rPr sz="2400" b="0">
                    <a:solidFill>
                      <a:srgbClr val="111827"/>
                    </a:solidFill>
                    <a:latin typeface="Arial"/>
                  </a:rPr>
                  <a:t>, </a:t>
                </a:r>
                <a:r>
                  <a:rPr lang="en-IN" sz="2400">
                    <a:solidFill>
                      <a:srgbClr val="111827"/>
                    </a:solidFill>
                    <a:latin typeface="Cambria Math" panose="02040503050406030204" pitchFamily="18" charset="0"/>
                  </a:rPr>
                  <a:t>$b=3$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normal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meets the major axis at </a:t>
                </a:r>
                <a14:m>
                  <m:oMath xmlns:m="http://schemas.openxmlformats.org/officeDocument/2006/math">
                    <m:r>
                      <a:rPr lang="en-IN" sz="2400" i="1">
                        <a:solidFill>
                          <a:srgbClr val="111827"/>
                        </a:solidFill>
                        <a:latin typeface="Cambria Math" panose="02040503050406030204" pitchFamily="18" charset="0"/>
                      </a:rPr>
                      <m:t>𝐴</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and the tangent meets it at </a:t>
                </a:r>
                <a14:m>
                  <m:oMath xmlns:m="http://schemas.openxmlformats.org/officeDocument/2006/math">
                    <m:r>
                      <a:rPr lang="en-IN" sz="2400" i="1">
                        <a:solidFill>
                          <a:srgbClr val="111827"/>
                        </a:solidFill>
                        <a:latin typeface="Cambria Math" panose="02040503050406030204" pitchFamily="18" charset="0"/>
                      </a:rPr>
                      <m:t>𝑇</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The product of the focal perpendiculars on a tangent: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𝑁</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𝑁</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e>
                    </m:d>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m:t>
                    </m:r>
                  </m:oMath>
                </a14:m>
                <a:r>
                  <a:rPr sz="2400" b="0">
                    <a:solidFill>
                      <a:srgbClr val="111827"/>
                    </a:solidFill>
                    <a:latin typeface="Arial"/>
                  </a:rPr>
                  <a:t>: R.</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normal at </a:t>
                </a:r>
                <a:r>
                  <a:rPr lang="en-IN" sz="2400">
                    <a:solidFill>
                      <a:srgbClr val="111827"/>
                    </a:solidFill>
                    <a:latin typeface="Cambria Math" panose="02040503050406030204" pitchFamily="18" charset="0"/>
                  </a:rPr>
                  <a:t>$P(a\cos\theta,b\sin\theta)$</a:t>
                </a:r>
                <a:r>
                  <a:rPr sz="2400" b="0">
                    <a:solidFill>
                      <a:srgbClr val="111827"/>
                    </a:solidFill>
                    <a:latin typeface="Arial"/>
                  </a:rPr>
                  <a:t> meets the major axis at </a:t>
                </a:r>
                <a:r>
                  <a:rPr lang="en-IN" sz="2400">
                    <a:solidFill>
                      <a:srgbClr val="111827"/>
                    </a:solidFill>
                    <a:latin typeface="Cambria Math" panose="02040503050406030204" pitchFamily="18" charset="0"/>
                  </a:rPr>
                  <a:t>$A\left(\frac{a^2-b^2}{a}\cos\theta,0\right)$</a:t>
                </a:r>
                <a:r>
                  <a:rPr sz="2400" b="0">
                    <a:solidFill>
                      <a:srgbClr val="111827"/>
                    </a:solidFill>
                    <a:latin typeface="Arial"/>
                  </a:rPr>
                  <a:t> and the tangent meets it at </a:t>
                </a:r>
                <a:r>
                  <a:rPr lang="en-IN" sz="2400">
                    <a:solidFill>
                      <a:srgbClr val="111827"/>
                    </a:solidFill>
                    <a:latin typeface="Cambria Math" panose="02040503050406030204" pitchFamily="18" charset="0"/>
                  </a:rPr>
                  <a:t>$T\left(\frac{a}{\cos\theta},0\right)$</a:t>
                </a:r>
                <a:r>
                  <a:rPr sz="2400" b="0">
                    <a:solidFill>
                      <a:srgbClr val="111827"/>
                    </a:solidFill>
                    <a:latin typeface="Arial"/>
                  </a:rPr>
                  <a:t>. </a:t>
                </a:r>
                <a:r>
                  <a:rPr lang="en-IN" sz="2400">
                    <a:solidFill>
                      <a:srgbClr val="111827"/>
                    </a:solidFill>
                    <a:latin typeface="Cambria Math" panose="02040503050406030204" pitchFamily="18" charset="0"/>
                  </a:rPr>
                  <a:t>$(CA)(CT)=a^2-b^2=16$</a:t>
                </a:r>
                <a:r>
                  <a:rPr sz="2400" b="0">
                    <a:solidFill>
                      <a:srgbClr val="111827"/>
                    </a:solidFill>
                    <a:latin typeface="Arial"/>
                  </a:rPr>
                  <a:t>: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$(PN)(PB)=a^2=25$</a:t>
                </a:r>
                <a:r>
                  <a:rPr sz="2400" b="0">
                    <a:solidFill>
                      <a:srgbClr val="111827"/>
                    </a:solidFill>
                    <a:latin typeface="Arial"/>
                  </a:rPr>
                  <a:t>: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The product of the focal perpendiculars on a tangent: </a:t>
                </a:r>
                <a:r>
                  <a:rPr lang="en-IN" sz="2400">
                    <a:solidFill>
                      <a:srgbClr val="111827"/>
                    </a:solidFill>
                    <a:latin typeface="Cambria Math" panose="02040503050406030204" pitchFamily="18" charset="0"/>
                  </a:rPr>
                  <a:t>$(S_1N_1)(S_2N_2)=b^2=9$</a:t>
                </a:r>
                <a:r>
                  <a:rPr sz="2400" b="0">
                    <a:solidFill>
                      <a:srgbClr val="111827"/>
                    </a:solidFill>
                    <a:latin typeface="Arial"/>
                  </a:rPr>
                  <a:t>: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$(S_1P)(S_2P)=\left[a+e(a\cos\theta)\right]\left[a-e(a\cos\theta)\right]=a^2-a^2e^2\cos^2\theta=a^2\sin^2\theta+b^2\cos^2\theta$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$\theta=\frac\pi4$</a:t>
                </a:r>
                <a:r>
                  <a:rPr sz="2400" b="0">
                    <a:solidFill>
                      <a:srgbClr val="111827"/>
                    </a:solidFill>
                    <a:latin typeface="Arial"/>
                  </a:rPr>
                  <a:t>: </a:t>
                </a:r>
                <a:r>
                  <a:rPr lang="en-IN" sz="2400">
                    <a:solidFill>
                      <a:srgbClr val="111827"/>
                    </a:solidFill>
                    <a:latin typeface="Cambria Math" panose="02040503050406030204" pitchFamily="18" charset="0"/>
                  </a:rPr>
                  <a:t>$=\frac{25+9}{2}=17$</a:t>
                </a:r>
                <a:r>
                  <a:rPr sz="2400" b="0">
                    <a:solidFill>
                      <a:srgbClr val="111827"/>
                    </a:solidFill>
                    <a:latin typeface="Arial"/>
                  </a:rPr>
                  <a:t>: R.</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 Q, (B) - S, (C) - P, (D) - R</a:t>
            </a:r>
            <a:endParaRPr sz="2800">
              <a:solidFill>
                <a:srgbClr val="15803D"/>
              </a:solidFill>
            </a:endParaRPr>
          </a:p>
        </p:txBody>
      </p:sp>
    </p:spTree>
  </p:cSld>
  <p:clrMapOvr>
    <a:masterClrMapping/>
  </p:clrMapOvr>
</p:sld>
</file>

<file path=ppt/slides/slide3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Evaluate each product directly at </a:t>
                </a:r>
                <a14:m>
                  <m:oMath xmlns:m="http://schemas.openxmlformats.org/officeDocument/2006/math">
                    <m:r>
                      <a:rPr lang="en-IN" sz="2400" i="1">
                        <a:solidFill>
                          <a:srgbClr val="78350F"/>
                        </a:solidFill>
                        <a:latin typeface="Cambria Math" panose="02040503050406030204" pitchFamily="18" charset="0"/>
                      </a:rPr>
                      <m:t>𝑃</m:t>
                    </m:r>
                    <m:d>
                      <m:dPr>
                        <m:begChr m:val="("/>
                        <m:sepChr m:val=""/>
                        <m:endChr m:val=")"/>
                        <m:grow/>
                        <m:ctrlPr>
                          <a:rPr lang="en-IN" sz="2400" i="1">
                            <a:solidFill>
                              <a:srgbClr val="78350F"/>
                            </a:solidFill>
                            <a:latin typeface="Cambria Math" panose="02040503050406030204" pitchFamily="18" charset="0"/>
                          </a:rPr>
                        </m:ctrlPr>
                      </m:dPr>
                      <m:e>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5</m:t>
                            </m:r>
                          </m:num>
                          <m:den>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num>
                          <m:den>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den>
                        </m:f>
                      </m:e>
                    </m:d>
                  </m:oMath>
                </a14:m>
                <a:r>
                  <a:rPr sz="2400" b="0">
                    <a:solidFill>
                      <a:srgbClr val="78350F"/>
                    </a:solidFill>
                    <a:latin typeface="Arial"/>
                  </a:rPr>
                  <a:t> from coordinates.</a:t>
                </a:r>
                <a:endParaRPr sz="2400">
                  <a:solidFill>
                    <a:srgbClr val="78350F"/>
                  </a:solidFill>
                </a:endParaRPr>
              </a:p>
            </p:txBody>
          </p:sp>
        </mc:Choice>
        <mc:Fallback>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Evaluate each product directly at </a:t>
                </a:r>
                <a:r>
                  <a:rPr lang="en-IN" sz="2400">
                    <a:solidFill>
                      <a:srgbClr val="78350F"/>
                    </a:solidFill>
                    <a:latin typeface="Cambria Math" panose="02040503050406030204" pitchFamily="18" charset="0"/>
                  </a:rPr>
                  <a:t>$P\left(\frac5{\sqrt2},\frac3{\sqrt2}\right)$</a:t>
                </a:r>
                <a:r>
                  <a:rPr sz="2400" b="0">
                    <a:solidFill>
                      <a:srgbClr val="78350F"/>
                    </a:solidFill>
                    <a:latin typeface="Arial"/>
                  </a:rPr>
                  <a:t> from coordinates.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d>
                  </m:oMath>
                </a14:m>
                <a:r>
                  <a:rPr sz="2400" b="0">
                    <a:solidFill>
                      <a:srgbClr val="111827"/>
                    </a:solidFill>
                    <a:latin typeface="Arial"/>
                  </a:rPr>
                  <a:t>. Tangent: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Normal: </a:t>
                </a:r>
                <a14:m>
                  <m:oMath xmlns:m="http://schemas.openxmlformats.org/officeDocument/2006/math">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625</m:t>
                            </m:r>
                          </m:num>
                          <m:den>
                            <m:r>
                              <a:rPr lang="en-IN" sz="2400" i="1">
                                <a:solidFill>
                                  <a:srgbClr val="111827"/>
                                </a:solidFill>
                                <a:latin typeface="Cambria Math" panose="02040503050406030204" pitchFamily="18" charset="0"/>
                              </a:rPr>
                              <m:t>9</m:t>
                            </m:r>
                          </m:den>
                        </m:f>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17</m:t>
                            </m:r>
                          </m:e>
                        </m:rad>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17</m:t>
                        </m:r>
                      </m:e>
                    </m:ra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68</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17</m:t>
                            </m:r>
                          </m:e>
                        </m:rad>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17</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64</m:t>
                            </m:r>
                          </m:num>
                          <m:den>
                            <m:r>
                              <a:rPr lang="en-IN" sz="2400" i="1">
                                <a:solidFill>
                                  <a:srgbClr val="111827"/>
                                </a:solidFill>
                                <a:latin typeface="Cambria Math" panose="02040503050406030204" pitchFamily="18" charset="0"/>
                              </a:rPr>
                              <m:t>17</m:t>
                            </m:r>
                          </m:den>
                        </m:f>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15</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17</m:t>
                            </m:r>
                          </m:e>
                        </m:rad>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S.</a:t>
                </a:r>
                <a:endParaRPr sz="2400">
                  <a:solidFill>
                    <a:srgbClr val="111827"/>
                  </a:solidFill>
                </a:endParaRPr>
              </a:p>
            </p:txBody>
          </p:sp>
        </mc:Choice>
        <mc:Fallback>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$P=\left(\frac{5}{\sqrt2},\frac3{\sqrt2}\right)$</a:t>
                </a:r>
                <a:r>
                  <a:rPr sz="2400" b="0">
                    <a:solidFill>
                      <a:srgbClr val="111827"/>
                    </a:solidFill>
                    <a:latin typeface="Arial"/>
                  </a:rPr>
                  <a:t>. Tangent: </a:t>
                </a:r>
                <a:r>
                  <a:rPr lang="en-IN" sz="2400">
                    <a:solidFill>
                      <a:srgbClr val="111827"/>
                    </a:solidFill>
                    <a:latin typeface="Cambria Math" panose="02040503050406030204" pitchFamily="18" charset="0"/>
                  </a:rPr>
                  <a:t>$\frac{x}{5\sqrt2}+\frac{y}{3\sqrt2}=1$</a:t>
                </a:r>
                <a:r>
                  <a:rPr sz="2400" b="0">
                    <a:solidFill>
                      <a:srgbClr val="111827"/>
                    </a:solidFill>
                    <a:latin typeface="Arial"/>
                  </a:rPr>
                  <a:t>, i.e. </a:t>
                </a:r>
                <a:r>
                  <a:rPr lang="en-IN" sz="2400">
                    <a:solidFill>
                      <a:srgbClr val="111827"/>
                    </a:solidFill>
                    <a:latin typeface="Cambria Math" panose="02040503050406030204" pitchFamily="18" charset="0"/>
                  </a:rPr>
                  <a:t>$3x+5y=15\sqrt2$</a:t>
                </a:r>
                <a:r>
                  <a:rPr sz="2400" b="0">
                    <a:solidFill>
                      <a:srgbClr val="111827"/>
                    </a:solidFill>
                    <a:latin typeface="Arial"/>
                  </a:rPr>
                  <a:t>, so </a:t>
                </a:r>
                <a:r>
                  <a:rPr lang="en-IN" sz="2400">
                    <a:solidFill>
                      <a:srgbClr val="111827"/>
                    </a:solidFill>
                    <a:latin typeface="Cambria Math" panose="02040503050406030204" pitchFamily="18" charset="0"/>
                  </a:rPr>
                  <a:t>$T=(5\sqrt2,0)$</a:t>
                </a:r>
                <a:r>
                  <a:rPr sz="2400" b="0">
                    <a:solidFill>
                      <a:srgbClr val="111827"/>
                    </a:solidFill>
                    <a:latin typeface="Arial"/>
                  </a:rPr>
                  <a:t>. Normal: </a:t>
                </a:r>
                <a:r>
                  <a:rPr lang="en-IN" sz="2400">
                    <a:solidFill>
                      <a:srgbClr val="111827"/>
                    </a:solidFill>
                    <a:latin typeface="Cambria Math" panose="02040503050406030204" pitchFamily="18" charset="0"/>
                  </a:rPr>
                  <a:t>$5\sqrt2x-3\sqrt2y=16$</a:t>
                </a:r>
                <a:r>
                  <a:rPr sz="2400" b="0">
                    <a:solidFill>
                      <a:srgbClr val="111827"/>
                    </a:solidFill>
                    <a:latin typeface="Arial"/>
                  </a:rPr>
                  <a:t>, so </a:t>
                </a:r>
                <a:r>
                  <a:rPr lang="en-IN" sz="2400">
                    <a:solidFill>
                      <a:srgbClr val="111827"/>
                    </a:solidFill>
                    <a:latin typeface="Cambria Math" panose="02040503050406030204" pitchFamily="18" charset="0"/>
                  </a:rPr>
                  <a:t>$A=\left(\frac{16}{5\sqrt2},0\right)$</a:t>
                </a:r>
                <a:r>
                  <a:rPr sz="2400" b="0">
                    <a:solidFill>
                      <a:srgbClr val="111827"/>
                    </a:solidFill>
                    <a:latin typeface="Arial"/>
                  </a:rPr>
                  <a:t> and </a:t>
                </a:r>
                <a:r>
                  <a:rPr lang="en-IN" sz="2400">
                    <a:solidFill>
                      <a:srgbClr val="111827"/>
                    </a:solidFill>
                    <a:latin typeface="Cambria Math" panose="02040503050406030204" pitchFamily="18" charset="0"/>
                  </a:rPr>
                  <a:t>$B=\left(0,-\frac{16}{3\sqrt2}\right)$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$CA\cdot CT=\frac{16}{5\sqrt2}\cdot5\sqrt2=16$</a:t>
                </a:r>
                <a:r>
                  <a:rPr sz="2400" b="0">
                    <a:solidFill>
                      <a:srgbClr val="111827"/>
                    </a:solidFill>
                    <a:latin typeface="Arial"/>
                  </a:rPr>
                  <a:t>: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$PB=\frac{1}{\sqrt2}\sqrt{25+\frac{625}{9}}=\frac{5\sqrt{17}}{3}$</a:t>
                </a:r>
                <a:r>
                  <a:rPr sz="2400" b="0">
                    <a:solidFill>
                      <a:srgbClr val="111827"/>
                    </a:solidFill>
                    <a:latin typeface="Arial"/>
                  </a:rPr>
                  <a:t>; </a:t>
                </a:r>
                <a:r>
                  <a:rPr lang="en-IN" sz="2400">
                    <a:solidFill>
                      <a:srgbClr val="111827"/>
                    </a:solidFill>
                    <a:latin typeface="Cambria Math" panose="02040503050406030204" pitchFamily="18" charset="0"/>
                  </a:rPr>
                  <a:t>$CP=\sqrt{17}$</a:t>
                </a:r>
                <a:r>
                  <a:rPr sz="2400" b="0">
                    <a:solidFill>
                      <a:srgbClr val="111827"/>
                    </a:solidFill>
                    <a:latin typeface="Arial"/>
                  </a:rPr>
                  <a:t> and </a:t>
                </a:r>
                <a:r>
                  <a:rPr lang="en-IN" sz="2400">
                    <a:solidFill>
                      <a:srgbClr val="111827"/>
                    </a:solidFill>
                    <a:latin typeface="Cambria Math" panose="02040503050406030204" pitchFamily="18" charset="0"/>
                  </a:rPr>
                  <a:t>$CN=\frac{16}{\sqrt{68}}=\frac{8}{\sqrt{17}}$</a:t>
                </a:r>
                <a:r>
                  <a:rPr sz="2400" b="0">
                    <a:solidFill>
                      <a:srgbClr val="111827"/>
                    </a:solidFill>
                    <a:latin typeface="Arial"/>
                  </a:rPr>
                  <a:t>, so </a:t>
                </a:r>
                <a:r>
                  <a:rPr lang="en-IN" sz="2400">
                    <a:solidFill>
                      <a:srgbClr val="111827"/>
                    </a:solidFill>
                    <a:latin typeface="Cambria Math" panose="02040503050406030204" pitchFamily="18" charset="0"/>
                  </a:rPr>
                  <a:t>$PN=\sqrt{17-\frac{64}{17}}=\frac{15}{\sqrt{17}}$</a:t>
                </a:r>
                <a:r>
                  <a:rPr sz="2400" b="0">
                    <a:solidFill>
                      <a:srgbClr val="111827"/>
                    </a:solidFill>
                    <a:latin typeface="Arial"/>
                  </a:rPr>
                  <a:t>. </a:t>
                </a:r>
                <a:r>
                  <a:rPr lang="en-IN" sz="2400">
                    <a:solidFill>
                      <a:srgbClr val="111827"/>
                    </a:solidFill>
                    <a:latin typeface="Cambria Math" panose="02040503050406030204" pitchFamily="18" charset="0"/>
                  </a:rPr>
                  <a:t>$PN\cdot PB=25$</a:t>
                </a:r>
                <a:r>
                  <a:rPr sz="2400" b="0">
                    <a:solidFill>
                      <a:srgbClr val="111827"/>
                    </a:solidFill>
                    <a:latin typeface="Arial"/>
                  </a:rPr>
                  <a:t>: S.</a:t>
                </a:r>
                <a:endParaRPr sz="2400">
                  <a:solidFill>
                    <a:srgbClr val="111827"/>
                  </a:solidFill>
                </a:endParaRPr>
              </a:p>
            </p:txBody>
          </p:sp>
        </mc:Fallback>
      </mc:AlternateContent>
    </p:spTree>
  </p:cSld>
  <p:clrMapOvr>
    <a:masterClrMapping/>
  </p:clrMapOvr>
</p:sld>
</file>

<file path=ppt/slides/slide3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Foci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distances to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are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34</m:t>
                            </m:r>
                          </m:e>
                        </m:rad>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34</m:t>
                            </m:r>
                          </m:e>
                        </m:rad>
                      </m:den>
                    </m:f>
                  </m:oMath>
                </a14:m>
                <a:r>
                  <a:rPr sz="2400" b="0">
                    <a:solidFill>
                      <a:srgbClr val="111827"/>
                    </a:solidFill>
                    <a:latin typeface="Arial"/>
                  </a:rPr>
                  <a:t>; product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144</m:t>
                        </m:r>
                      </m:num>
                      <m:den>
                        <m:r>
                          <a:rPr lang="en-IN" sz="2400" i="1">
                            <a:solidFill>
                              <a:srgbClr val="111827"/>
                            </a:solidFill>
                            <a:latin typeface="Cambria Math" panose="02040503050406030204" pitchFamily="18" charset="0"/>
                          </a:rPr>
                          <m:t>34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product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m:t>
                    </m:r>
                  </m:oMath>
                </a14:m>
                <a:r>
                  <a:rPr sz="2400" b="0">
                    <a:solidFill>
                      <a:srgbClr val="111827"/>
                    </a:solidFill>
                    <a:latin typeface="Arial"/>
                  </a:rPr>
                  <a:t>: R.</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Foci </a:t>
                </a:r>
                <a:r>
                  <a:rPr lang="en-IN" sz="2400">
                    <a:solidFill>
                      <a:srgbClr val="111827"/>
                    </a:solidFill>
                    <a:latin typeface="Cambria Math" panose="02040503050406030204" pitchFamily="18" charset="0"/>
                  </a:rPr>
                  <a:t>$(\pm4,0)$</a:t>
                </a:r>
                <a:r>
                  <a:rPr sz="2400" b="0">
                    <a:solidFill>
                      <a:srgbClr val="111827"/>
                    </a:solidFill>
                    <a:latin typeface="Arial"/>
                  </a:rPr>
                  <a:t>: distances to </a:t>
                </a:r>
                <a:r>
                  <a:rPr lang="en-IN" sz="2400">
                    <a:solidFill>
                      <a:srgbClr val="111827"/>
                    </a:solidFill>
                    <a:latin typeface="Cambria Math" panose="02040503050406030204" pitchFamily="18" charset="0"/>
                  </a:rPr>
                  <a:t>$3x+5y-15\sqrt2=0$</a:t>
                </a:r>
                <a:r>
                  <a:rPr sz="2400" b="0">
                    <a:solidFill>
                      <a:srgbClr val="111827"/>
                    </a:solidFill>
                    <a:latin typeface="Arial"/>
                  </a:rPr>
                  <a:t> are </a:t>
                </a:r>
                <a:r>
                  <a:rPr lang="en-IN" sz="2400">
                    <a:solidFill>
                      <a:srgbClr val="111827"/>
                    </a:solidFill>
                    <a:latin typeface="Cambria Math" panose="02040503050406030204" pitchFamily="18" charset="0"/>
                  </a:rPr>
                  <a:t>$\frac{|12-15\sqrt2|}{\sqrt{34}}$</a:t>
                </a:r>
                <a:r>
                  <a:rPr sz="2400" b="0">
                    <a:solidFill>
                      <a:srgbClr val="111827"/>
                    </a:solidFill>
                    <a:latin typeface="Arial"/>
                  </a:rPr>
                  <a:t> and </a:t>
                </a:r>
                <a:r>
                  <a:rPr lang="en-IN" sz="2400">
                    <a:solidFill>
                      <a:srgbClr val="111827"/>
                    </a:solidFill>
                    <a:latin typeface="Cambria Math" panose="02040503050406030204" pitchFamily="18" charset="0"/>
                  </a:rPr>
                  <a:t>$\frac{|12+15\sqrt2|}{\sqrt{34}}$</a:t>
                </a:r>
                <a:r>
                  <a:rPr sz="2400" b="0">
                    <a:solidFill>
                      <a:srgbClr val="111827"/>
                    </a:solidFill>
                    <a:latin typeface="Arial"/>
                  </a:rPr>
                  <a:t>; product </a:t>
                </a:r>
                <a:r>
                  <a:rPr lang="en-IN" sz="2400">
                    <a:solidFill>
                      <a:srgbClr val="111827"/>
                    </a:solidFill>
                    <a:latin typeface="Cambria Math" panose="02040503050406030204" pitchFamily="18" charset="0"/>
                  </a:rPr>
                  <a:t>$=\frac{450-144}{34}=9$</a:t>
                </a:r>
                <a:r>
                  <a:rPr sz="2400" b="0">
                    <a:solidFill>
                      <a:srgbClr val="111827"/>
                    </a:solidFill>
                    <a:latin typeface="Arial"/>
                  </a:rPr>
                  <a:t>: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$S_1P=5-\frac45\cdot\frac5{\sqrt2}=5-2\sqrt2$</a:t>
                </a:r>
                <a:r>
                  <a:rPr sz="2400" b="0">
                    <a:solidFill>
                      <a:srgbClr val="111827"/>
                    </a:solidFill>
                    <a:latin typeface="Arial"/>
                  </a:rPr>
                  <a:t>, </a:t>
                </a:r>
                <a:r>
                  <a:rPr lang="en-IN" sz="2400">
                    <a:solidFill>
                      <a:srgbClr val="111827"/>
                    </a:solidFill>
                    <a:latin typeface="Cambria Math" panose="02040503050406030204" pitchFamily="18" charset="0"/>
                  </a:rPr>
                  <a:t>$S_2P=5+2\sqrt2$</a:t>
                </a:r>
                <a:r>
                  <a:rPr sz="2400" b="0">
                    <a:solidFill>
                      <a:srgbClr val="111827"/>
                    </a:solidFill>
                    <a:latin typeface="Arial"/>
                  </a:rPr>
                  <a:t>; product </a:t>
                </a:r>
                <a:r>
                  <a:rPr lang="en-IN" sz="2400">
                    <a:solidFill>
                      <a:srgbClr val="111827"/>
                    </a:solidFill>
                    <a:latin typeface="Cambria Math" panose="02040503050406030204" pitchFamily="18" charset="0"/>
                  </a:rPr>
                  <a:t>$=25-8=17$</a:t>
                </a:r>
                <a:r>
                  <a:rPr sz="2400" b="0">
                    <a:solidFill>
                      <a:srgbClr val="111827"/>
                    </a:solidFill>
                    <a:latin typeface="Arial"/>
                  </a:rPr>
                  <a:t>: R.</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 Q, (B) - S, (C) - P, (D) - R</a:t>
            </a:r>
            <a:endParaRPr sz="2800">
              <a:solidFill>
                <a:srgbClr val="15803D"/>
              </a:solidFill>
            </a:endParaRPr>
          </a:p>
        </p:txBody>
      </p:sp>
    </p:spTree>
  </p:cSld>
  <p:clrMapOvr>
    <a:masterClrMapping/>
  </p:clrMapOvr>
</p:sld>
</file>

<file path=ppt/slides/slide3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meets the major axis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and the minor axis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e>
                    </m:d>
                  </m:oMath>
                </a14:m>
                <a:r>
                  <a:rPr sz="2400" b="0">
                    <a:solidFill>
                      <a:srgbClr val="111827"/>
                    </a:solidFill>
                    <a:latin typeface="Arial"/>
                  </a:rPr>
                  <a:t>; tangent meets the major axis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normal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hold for any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the foot of the perpendicular from the centre,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the axis intercepts of the normal).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Focal perpendiculars on a tangent: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𝑁</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𝑁</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Focal radii: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Sub>
                  </m:oMath>
                </a14:m>
                <a:r>
                  <a:rPr sz="2400" b="0">
                    <a:solidFill>
                      <a:srgbClr val="111827"/>
                    </a:solidFill>
                    <a:latin typeface="Arial"/>
                  </a:rPr>
                  <a:t>, whose product is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sup>
                    </m:sSup>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𝑃</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at </a:t>
                </a:r>
                <a:r>
                  <a:rPr lang="en-IN" sz="2400">
                    <a:solidFill>
                      <a:srgbClr val="111827"/>
                    </a:solidFill>
                    <a:latin typeface="Cambria Math" panose="02040503050406030204" pitchFamily="18" charset="0"/>
                  </a:rPr>
                  <a:t>$\theta$</a:t>
                </a:r>
                <a:r>
                  <a:rPr sz="2400" b="0">
                    <a:solidFill>
                      <a:srgbClr val="111827"/>
                    </a:solidFill>
                    <a:latin typeface="Arial"/>
                  </a:rPr>
                  <a:t> meets the major axis at </a:t>
                </a:r>
                <a:r>
                  <a:rPr lang="en-IN" sz="2400">
                    <a:solidFill>
                      <a:srgbClr val="111827"/>
                    </a:solidFill>
                    <a:latin typeface="Cambria Math" panose="02040503050406030204" pitchFamily="18" charset="0"/>
                  </a:rPr>
                  <a:t>$\left(\frac{a^2-b^2}{a}\cos\theta,0\right)$</a:t>
                </a:r>
                <a:r>
                  <a:rPr sz="2400" b="0">
                    <a:solidFill>
                      <a:srgbClr val="111827"/>
                    </a:solidFill>
                    <a:latin typeface="Arial"/>
                  </a:rPr>
                  <a:t> and the minor axis at </a:t>
                </a:r>
                <a:r>
                  <a:rPr lang="en-IN" sz="2400">
                    <a:solidFill>
                      <a:srgbClr val="111827"/>
                    </a:solidFill>
                    <a:latin typeface="Cambria Math" panose="02040503050406030204" pitchFamily="18" charset="0"/>
                  </a:rPr>
                  <a:t>$\left(0,-\frac{a^2-b^2}{b}\sin\theta\right)$</a:t>
                </a:r>
                <a:r>
                  <a:rPr sz="2400" b="0">
                    <a:solidFill>
                      <a:srgbClr val="111827"/>
                    </a:solidFill>
                    <a:latin typeface="Arial"/>
                  </a:rPr>
                  <a:t>; tangent meets the major axis at </a:t>
                </a:r>
                <a:r>
                  <a:rPr lang="en-IN" sz="2400">
                    <a:solidFill>
                      <a:srgbClr val="111827"/>
                    </a:solidFill>
                    <a:latin typeface="Cambria Math" panose="02040503050406030204" pitchFamily="18" charset="0"/>
                  </a:rPr>
                  <a:t>$\left(\frac{a}{\cos\theta},0\right)$</a:t>
                </a:r>
                <a:r>
                  <a:rPr sz="2400" b="0">
                    <a:solidFill>
                      <a:srgbClr val="111827"/>
                    </a:solidFill>
                    <a:latin typeface="Arial"/>
                  </a:rPr>
                  <a:t>: so </a:t>
                </a:r>
                <a:r>
                  <a:rPr lang="en-IN" sz="2400">
                    <a:solidFill>
                      <a:srgbClr val="111827"/>
                    </a:solidFill>
                    <a:latin typeface="Cambria Math" panose="02040503050406030204" pitchFamily="18" charset="0"/>
                  </a:rPr>
                  <a:t>$CA\cdot CT=a^2-b^2$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normal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$PN\cdot PB=a^2$</a:t>
                </a:r>
                <a:r>
                  <a:rPr sz="2400" b="0">
                    <a:solidFill>
                      <a:srgbClr val="111827"/>
                    </a:solidFill>
                    <a:latin typeface="Arial"/>
                  </a:rPr>
                  <a:t> and </a:t>
                </a:r>
                <a:r>
                  <a:rPr lang="en-IN" sz="2400">
                    <a:solidFill>
                      <a:srgbClr val="111827"/>
                    </a:solidFill>
                    <a:latin typeface="Cambria Math" panose="02040503050406030204" pitchFamily="18" charset="0"/>
                  </a:rPr>
                  <a:t>$PN\cdot PA=b^2$</a:t>
                </a:r>
                <a:r>
                  <a:rPr sz="2400" b="0">
                    <a:solidFill>
                      <a:srgbClr val="111827"/>
                    </a:solidFill>
                    <a:latin typeface="Arial"/>
                  </a:rPr>
                  <a:t> hold for any point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$N$</a:t>
                </a:r>
                <a:r>
                  <a:rPr sz="2400" b="0">
                    <a:solidFill>
                      <a:srgbClr val="111827"/>
                    </a:solidFill>
                    <a:latin typeface="Arial"/>
                  </a:rPr>
                  <a:t> the foot of the perpendicular from the centre, </a:t>
                </a:r>
                <a:r>
                  <a:rPr lang="en-IN" sz="2400">
                    <a:solidFill>
                      <a:srgbClr val="111827"/>
                    </a:solidFill>
                    <a:latin typeface="Cambria Math" panose="02040503050406030204" pitchFamily="18" charset="0"/>
                  </a:rPr>
                  <a:t>$A,B$</a:t>
                </a:r>
                <a:r>
                  <a:rPr sz="2400" b="0">
                    <a:solidFill>
                      <a:srgbClr val="111827"/>
                    </a:solidFill>
                    <a:latin typeface="Arial"/>
                  </a:rPr>
                  <a:t> the axis intercepts of the normal).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Focal perpendiculars on a tangent: </a:t>
                </a:r>
                <a:r>
                  <a:rPr lang="en-IN" sz="2400">
                    <a:solidFill>
                      <a:srgbClr val="111827"/>
                    </a:solidFill>
                    <a:latin typeface="Cambria Math" panose="02040503050406030204" pitchFamily="18" charset="0"/>
                  </a:rPr>
                  <a:t>$S_1N_1\cdot S_2N_2=b^2$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Focal radii: </a:t>
                </a:r>
                <a:r>
                  <a:rPr lang="en-IN" sz="2400">
                    <a:solidFill>
                      <a:srgbClr val="111827"/>
                    </a:solidFill>
                    <a:latin typeface="Cambria Math" panose="02040503050406030204" pitchFamily="18" charset="0"/>
                  </a:rPr>
                  <a:t>$S_1P=a+ex_P$</a:t>
                </a:r>
                <a:r>
                  <a:rPr sz="2400" b="0">
                    <a:solidFill>
                      <a:srgbClr val="111827"/>
                    </a:solidFill>
                    <a:latin typeface="Arial"/>
                  </a:rPr>
                  <a:t> and </a:t>
                </a:r>
                <a:r>
                  <a:rPr lang="en-IN" sz="2400">
                    <a:solidFill>
                      <a:srgbClr val="111827"/>
                    </a:solidFill>
                    <a:latin typeface="Cambria Math" panose="02040503050406030204" pitchFamily="18" charset="0"/>
                  </a:rPr>
                  <a:t>$S_2P=a-ex_P$</a:t>
                </a:r>
                <a:r>
                  <a:rPr sz="2400" b="0">
                    <a:solidFill>
                      <a:srgbClr val="111827"/>
                    </a:solidFill>
                    <a:latin typeface="Arial"/>
                  </a:rPr>
                  <a:t>, whose product is </a:t>
                </a:r>
                <a:r>
                  <a:rPr lang="en-IN" sz="2400">
                    <a:solidFill>
                      <a:srgbClr val="111827"/>
                    </a:solidFill>
                    <a:latin typeface="Cambria Math" panose="02040503050406030204" pitchFamily="18" charset="0"/>
                  </a:rPr>
                  <a:t>$a^2-e^2x_P^2=a^2\sin^2\theta+b^2\cos^2\theta$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0868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Match the conics in Column I with the statements / expressions in Column II. [JEE-2009]\nColumn I\n(A) Circle\n(B) Parabola\n(C) Ellipse\n(D) Hyperbola\nColumn II\n(P) The locus of the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which the line </a:t>
                </a:r>
                <a14:m>
                  <m:oMath xmlns:m="http://schemas.openxmlformats.org/officeDocument/2006/math">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touches the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\n(Q) Points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in the complex plane satisfying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\n(R) Points of the conic have parametric representation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\n(S) The eccentricity of the conic lies in the interval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\n(T) Points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in the complex plane satisfying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endParaRPr sz="2400">
                  <a:solidFill>
                    <a:srgbClr val="111827"/>
                  </a:solidFill>
                </a:endParaRPr>
              </a:p>
            </p:txBody>
          </p:sp>
        </mc:Choice>
        <mc:Fallback>
          <p:sp>
            <p:nvSpPr>
              <p:cNvPr id="4" name="Rounded Rectangle 3"/>
              <p:cNvSpPr/>
              <p:nvPr/>
            </p:nvSpPr>
            <p:spPr>
              <a:xfrm>
                <a:off x="731520" y="1280160"/>
                <a:ext cx="10725912" cy="40868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Match the conics in Column I with the statements / expressions in Column II. [JEE-2009]\nColumn I\n(A) Circle\n(B) Parabola\n(C) Ellipse\n(D) Hyperbola\nColumn II\n(P) The locus of the point </a:t>
                </a:r>
                <a:r>
                  <a:rPr lang="en-IN" sz="2400">
                    <a:solidFill>
                      <a:srgbClr val="111827"/>
                    </a:solidFill>
                    <a:latin typeface="Cambria Math" panose="02040503050406030204" pitchFamily="18" charset="0"/>
                  </a:rPr>
                  <a:t>$(h,k)$</a:t>
                </a:r>
                <a:r>
                  <a:rPr sz="2400" b="0">
                    <a:solidFill>
                      <a:srgbClr val="111827"/>
                    </a:solidFill>
                    <a:latin typeface="Arial"/>
                  </a:rPr>
                  <a:t> for which the line </a:t>
                </a:r>
                <a:r>
                  <a:rPr lang="en-IN" sz="2400">
                    <a:solidFill>
                      <a:srgbClr val="111827"/>
                    </a:solidFill>
                    <a:latin typeface="Cambria Math" panose="02040503050406030204" pitchFamily="18" charset="0"/>
                  </a:rPr>
                  <a:t>$hx+ky=1$</a:t>
                </a:r>
                <a:r>
                  <a:rPr sz="2400" b="0">
                    <a:solidFill>
                      <a:srgbClr val="111827"/>
                    </a:solidFill>
                    <a:latin typeface="Arial"/>
                  </a:rPr>
                  <a:t> touches the circle </a:t>
                </a:r>
                <a:r>
                  <a:rPr lang="en-IN" sz="2400">
                    <a:solidFill>
                      <a:srgbClr val="111827"/>
                    </a:solidFill>
                    <a:latin typeface="Cambria Math" panose="02040503050406030204" pitchFamily="18" charset="0"/>
                  </a:rPr>
                  <a:t>$x^2+y^2=4$</a:t>
                </a:r>
                <a:r>
                  <a:rPr sz="2400" b="0">
                    <a:solidFill>
                      <a:srgbClr val="111827"/>
                    </a:solidFill>
                    <a:latin typeface="Arial"/>
                  </a:rPr>
                  <a:t>\n(Q) Points </a:t>
                </a:r>
                <a:r>
                  <a:rPr lang="en-IN" sz="2400">
                    <a:solidFill>
                      <a:srgbClr val="111827"/>
                    </a:solidFill>
                    <a:latin typeface="Cambria Math" panose="02040503050406030204" pitchFamily="18" charset="0"/>
                  </a:rPr>
                  <a:t>$z$</a:t>
                </a:r>
                <a:r>
                  <a:rPr sz="2400" b="0">
                    <a:solidFill>
                      <a:srgbClr val="111827"/>
                    </a:solidFill>
                    <a:latin typeface="Arial"/>
                  </a:rPr>
                  <a:t> in the complex plane satisfying </a:t>
                </a:r>
                <a:r>
                  <a:rPr lang="en-IN" sz="2400">
                    <a:solidFill>
                      <a:srgbClr val="111827"/>
                    </a:solidFill>
                    <a:latin typeface="Cambria Math" panose="02040503050406030204" pitchFamily="18" charset="0"/>
                  </a:rPr>
                  <a:t>$|z+2|-|z-2|=\pm3$</a:t>
                </a:r>
                <a:r>
                  <a:rPr sz="2400" b="0">
                    <a:solidFill>
                      <a:srgbClr val="111827"/>
                    </a:solidFill>
                    <a:latin typeface="Arial"/>
                  </a:rPr>
                  <a:t>\n(R) Points of the conic have parametric representation </a:t>
                </a:r>
                <a:r>
                  <a:rPr lang="en-IN" sz="2400">
                    <a:solidFill>
                      <a:srgbClr val="111827"/>
                    </a:solidFill>
                    <a:latin typeface="Cambria Math" panose="02040503050406030204" pitchFamily="18" charset="0"/>
                  </a:rPr>
                  <a:t>$x=\sqrt3\left(\frac{1-t^2}{1+t^2}\right),\ y=\frac{2t}{1+t^2}$</a:t>
                </a:r>
                <a:r>
                  <a:rPr sz="2400" b="0">
                    <a:solidFill>
                      <a:srgbClr val="111827"/>
                    </a:solidFill>
                    <a:latin typeface="Arial"/>
                  </a:rPr>
                  <a:t>\n(S) The eccentricity of the conic lies in the interval </a:t>
                </a:r>
                <a:r>
                  <a:rPr lang="en-IN" sz="2400">
                    <a:solidFill>
                      <a:srgbClr val="111827"/>
                    </a:solidFill>
                    <a:latin typeface="Cambria Math" panose="02040503050406030204" pitchFamily="18" charset="0"/>
                  </a:rPr>
                  <a:t>$1\le x&lt;\infty$</a:t>
                </a:r>
                <a:r>
                  <a:rPr sz="2400" b="0">
                    <a:solidFill>
                      <a:srgbClr val="111827"/>
                    </a:solidFill>
                    <a:latin typeface="Arial"/>
                  </a:rPr>
                  <a:t>\n(T) Points </a:t>
                </a:r>
                <a:r>
                  <a:rPr lang="en-IN" sz="2400">
                    <a:solidFill>
                      <a:srgbClr val="111827"/>
                    </a:solidFill>
                    <a:latin typeface="Cambria Math" panose="02040503050406030204" pitchFamily="18" charset="0"/>
                  </a:rPr>
                  <a:t>$z$</a:t>
                </a:r>
                <a:r>
                  <a:rPr sz="2400" b="0">
                    <a:solidFill>
                      <a:srgbClr val="111827"/>
                    </a:solidFill>
                    <a:latin typeface="Arial"/>
                  </a:rPr>
                  <a:t> in the complex plane satisfying </a:t>
                </a:r>
                <a:r>
                  <a:rPr lang="en-IN" sz="2400">
                    <a:solidFill>
                      <a:srgbClr val="111827"/>
                    </a:solidFill>
                    <a:latin typeface="Cambria Math" panose="02040503050406030204" pitchFamily="18" charset="0"/>
                  </a:rPr>
                  <a:t>$\mathrm{Re}(z+1)^2=|z|^2+1$</a:t>
                </a:r>
                <a:endParaRPr sz="2400">
                  <a:solidFill>
                    <a:srgbClr val="111827"/>
                  </a:solidFill>
                </a:endParaRPr>
              </a:p>
            </p:txBody>
          </p:sp>
        </mc:Fallback>
      </mc:AlternateContent>
    </p:spTree>
  </p:cSld>
  <p:clrMapOvr>
    <a:masterClrMapping/>
  </p:clrMapOvr>
</p:sld>
</file>

<file path=ppt/slides/slide3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Standard descriptions of a circle, parabola, ellipse and hyperbola (loci, parametric forms, eccentricity), Locus of a point in the complex plane (focal definitions)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(P) is the circle </a:t>
                </a:r>
                <a14:m>
                  <m:oMath xmlns:m="http://schemas.openxmlformats.org/officeDocument/2006/math">
                    <m:sSup>
                      <m:e>
                        <m:r>
                          <a:rPr lang="en-IN" sz="2400" i="1">
                            <a:solidFill>
                              <a:srgbClr val="78350F"/>
                            </a:solidFill>
                            <a:latin typeface="Cambria Math" panose="02040503050406030204" pitchFamily="18" charset="0"/>
                          </a:rPr>
                          <m:t>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𝑘</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4</m:t>
                        </m:r>
                      </m:den>
                    </m:f>
                  </m:oMath>
                </a14:m>
                <a:r>
                  <a:rPr sz="2400" b="0">
                    <a:solidFill>
                      <a:srgbClr val="78350F"/>
                    </a:solidFill>
                    <a:latin typeface="Arial"/>
                  </a:rPr>
                  <a:t>, (Q) a hyperbola, (R) the ellipse </a:t>
                </a:r>
                <a14:m>
                  <m:oMath xmlns:m="http://schemas.openxmlformats.org/officeDocument/2006/math">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num>
                      <m:den>
                        <m:r>
                          <a:rPr lang="en-IN" sz="2400" i="1">
                            <a:solidFill>
                              <a:srgbClr val="78350F"/>
                            </a:solidFill>
                            <a:latin typeface="Cambria Math" panose="02040503050406030204" pitchFamily="18" charset="0"/>
                          </a:rPr>
                          <m:t>3</m:t>
                        </m:r>
                      </m:den>
                    </m:f>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(T) the parabola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oMath>
                </a14:m>
                <a:r>
                  <a:rPr sz="2400" b="0">
                    <a:solidFill>
                      <a:srgbClr val="78350F"/>
                    </a:solidFill>
                    <a:latin typeface="Arial"/>
                  </a:rPr>
                  <a:t>, and (S) holds for parabola and hyperbola.</a:t>
                </a:r>
                <a:endParaRPr sz="2400">
                  <a:solidFill>
                    <a:srgbClr val="78350F"/>
                  </a:solidFill>
                </a:endParaRPr>
              </a:p>
            </p:txBody>
          </p:sp>
        </mc:Choice>
        <mc:Fallback>
          <p:sp>
            <p:nvSpPr>
              <p:cNvPr id="5" name="Rounded Rectangle 4"/>
              <p:cNvSpPr/>
              <p:nvPr/>
            </p:nvSpPr>
            <p:spPr>
              <a:xfrm>
                <a:off x="731520" y="365760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(P) is the circle </a:t>
                </a:r>
                <a:r>
                  <a:rPr lang="en-IN" sz="2400">
                    <a:solidFill>
                      <a:srgbClr val="78350F"/>
                    </a:solidFill>
                    <a:latin typeface="Cambria Math" panose="02040503050406030204" pitchFamily="18" charset="0"/>
                  </a:rPr>
                  <a:t>$h^2+k^2=\frac14$</a:t>
                </a:r>
                <a:r>
                  <a:rPr sz="2400" b="0">
                    <a:solidFill>
                      <a:srgbClr val="78350F"/>
                    </a:solidFill>
                    <a:latin typeface="Arial"/>
                  </a:rPr>
                  <a:t>, (Q) a hyperbola, (R) the ellipse </a:t>
                </a:r>
                <a:r>
                  <a:rPr lang="en-IN" sz="2400">
                    <a:solidFill>
                      <a:srgbClr val="78350F"/>
                    </a:solidFill>
                    <a:latin typeface="Cambria Math" panose="02040503050406030204" pitchFamily="18" charset="0"/>
                  </a:rPr>
                  <a:t>$\frac{x^2}{3}+y^2=1$</a:t>
                </a:r>
                <a:r>
                  <a:rPr sz="2400" b="0">
                    <a:solidFill>
                      <a:srgbClr val="78350F"/>
                    </a:solidFill>
                    <a:latin typeface="Arial"/>
                  </a:rPr>
                  <a:t>, (T) the parabola </a:t>
                </a:r>
                <a:r>
                  <a:rPr lang="en-IN" sz="2400">
                    <a:solidFill>
                      <a:srgbClr val="78350F"/>
                    </a:solidFill>
                    <a:latin typeface="Cambria Math" panose="02040503050406030204" pitchFamily="18" charset="0"/>
                  </a:rPr>
                  <a:t>$y^2=x$</a:t>
                </a:r>
                <a:r>
                  <a:rPr sz="2400" b="0">
                    <a:solidFill>
                      <a:srgbClr val="78350F"/>
                    </a:solidFill>
                    <a:latin typeface="Arial"/>
                  </a:rPr>
                  <a:t>, and (S) holds for parabola and hyperbola.</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495544"/>
                <a:ext cx="10725912" cy="117957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 </a:t>
                </a:r>
                <a14:m>
                  <m:oMath xmlns:m="http://schemas.openxmlformats.org/officeDocument/2006/math">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touches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the distance of the line from the origin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 circle. (A) - P.</a:t>
                </a:r>
                <a:endParaRPr sz="2400">
                  <a:solidFill>
                    <a:srgbClr val="111827"/>
                  </a:solidFill>
                </a:endParaRPr>
              </a:p>
            </p:txBody>
          </p:sp>
        </mc:Choice>
        <mc:Fallback>
          <p:sp>
            <p:nvSpPr>
              <p:cNvPr id="6" name="Rectangle 5"/>
              <p:cNvSpPr/>
              <p:nvPr/>
            </p:nvSpPr>
            <p:spPr>
              <a:xfrm>
                <a:off x="731520" y="5495544"/>
                <a:ext cx="10725912" cy="117957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 </a:t>
                </a:r>
                <a:r>
                  <a:rPr lang="en-IN" sz="2400">
                    <a:solidFill>
                      <a:srgbClr val="111827"/>
                    </a:solidFill>
                    <a:latin typeface="Cambria Math" panose="02040503050406030204" pitchFamily="18" charset="0"/>
                  </a:rPr>
                  <a:t>$hx+ky=1$</a:t>
                </a:r>
                <a:r>
                  <a:rPr sz="2400" b="0">
                    <a:solidFill>
                      <a:srgbClr val="111827"/>
                    </a:solidFill>
                    <a:latin typeface="Arial"/>
                  </a:rPr>
                  <a:t> touches </a:t>
                </a:r>
                <a:r>
                  <a:rPr lang="en-IN" sz="2400">
                    <a:solidFill>
                      <a:srgbClr val="111827"/>
                    </a:solidFill>
                    <a:latin typeface="Cambria Math" panose="02040503050406030204" pitchFamily="18" charset="0"/>
                  </a:rPr>
                  <a:t>$x^2+y^2=4$</a:t>
                </a:r>
                <a:r>
                  <a:rPr sz="2400" b="0">
                    <a:solidFill>
                      <a:srgbClr val="111827"/>
                    </a:solidFill>
                    <a:latin typeface="Arial"/>
                  </a:rPr>
                  <a:t>: the distance of the line from the origin is </a:t>
                </a:r>
                <a:r>
                  <a:rPr lang="en-IN" sz="2400">
                    <a:solidFill>
                      <a:srgbClr val="111827"/>
                    </a:solidFill>
                    <a:latin typeface="Cambria Math" panose="02040503050406030204" pitchFamily="18" charset="0"/>
                  </a:rPr>
                  <a:t>$\frac{1}{\sqrt{h^2+k^2}}=2$</a:t>
                </a:r>
                <a:r>
                  <a:rPr sz="2400" b="0">
                    <a:solidFill>
                      <a:srgbClr val="111827"/>
                    </a:solidFill>
                    <a:latin typeface="Arial"/>
                  </a:rPr>
                  <a:t>, so </a:t>
                </a:r>
                <a:r>
                  <a:rPr lang="en-IN" sz="2400">
                    <a:solidFill>
                      <a:srgbClr val="111827"/>
                    </a:solidFill>
                    <a:latin typeface="Cambria Math" panose="02040503050406030204" pitchFamily="18" charset="0"/>
                  </a:rPr>
                  <a:t>$h^2+k^2=\frac14$</a:t>
                </a:r>
                <a:r>
                  <a:rPr sz="2400" b="0">
                    <a:solidFill>
                      <a:srgbClr val="111827"/>
                    </a:solidFill>
                    <a:latin typeface="Arial"/>
                  </a:rPr>
                  <a:t>: a circle. (A) - P.</a:t>
                </a:r>
                <a:endParaRPr sz="2400">
                  <a:solidFill>
                    <a:srgbClr val="111827"/>
                  </a:solidFill>
                </a:endParaRPr>
              </a:p>
            </p:txBody>
          </p:sp>
        </mc:Fallback>
      </mc:AlternateContent>
    </p:spTree>
  </p:cSld>
  <p:clrMapOvr>
    <a:masterClrMapping/>
  </p:clrMapOvr>
</p:sld>
</file>

<file path=ppt/slides/slide3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(Q)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the difference of the distances from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constant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4</m:t>
                    </m:r>
                  </m:oMath>
                </a14:m>
                <a:r>
                  <a:rPr sz="2400" b="0">
                    <a:solidFill>
                      <a:srgbClr val="111827"/>
                    </a:solidFill>
                    <a:latin typeface="Arial"/>
                  </a:rPr>
                  <a:t>: a hyperbola.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Put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oMath>
                </a14:m>
                <a:r>
                  <a:rPr sz="2400" b="0">
                    <a:solidFill>
                      <a:srgbClr val="111827"/>
                    </a:solidFill>
                    <a:latin typeface="Arial"/>
                  </a:rPr>
                  <a:t>, so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 ellipse. (C) -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 The eccentricity lies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 parabola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or a hyperbola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 Let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a parabola.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 - P; (B) - S, T; (C) - R; (D) - Q, 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(Q) </a:t>
                </a:r>
                <a:r>
                  <a:rPr lang="en-IN" sz="2400">
                    <a:solidFill>
                      <a:srgbClr val="111827"/>
                    </a:solidFill>
                    <a:latin typeface="Cambria Math" panose="02040503050406030204" pitchFamily="18" charset="0"/>
                  </a:rPr>
                  <a:t>$\left||z+2|-|z-2|\right|=3$</a:t>
                </a:r>
                <a:r>
                  <a:rPr sz="2400" b="0">
                    <a:solidFill>
                      <a:srgbClr val="111827"/>
                    </a:solidFill>
                    <a:latin typeface="Arial"/>
                  </a:rPr>
                  <a:t>: the difference of the distances from </a:t>
                </a:r>
                <a:r>
                  <a:rPr lang="en-IN" sz="2400">
                    <a:solidFill>
                      <a:srgbClr val="111827"/>
                    </a:solidFill>
                    <a:latin typeface="Cambria Math" panose="02040503050406030204" pitchFamily="18" charset="0"/>
                  </a:rPr>
                  <a:t>$(\pm2,0)$</a:t>
                </a:r>
                <a:r>
                  <a:rPr sz="2400" b="0">
                    <a:solidFill>
                      <a:srgbClr val="111827"/>
                    </a:solidFill>
                    <a:latin typeface="Arial"/>
                  </a:rPr>
                  <a:t> is the constant </a:t>
                </a:r>
                <a:r>
                  <a:rPr lang="en-IN" sz="2400">
                    <a:solidFill>
                      <a:srgbClr val="111827"/>
                    </a:solidFill>
                    <a:latin typeface="Cambria Math" panose="02040503050406030204" pitchFamily="18" charset="0"/>
                  </a:rPr>
                  <a:t>$3&lt;4$</a:t>
                </a:r>
                <a:r>
                  <a:rPr sz="2400" b="0">
                    <a:solidFill>
                      <a:srgbClr val="111827"/>
                    </a:solidFill>
                    <a:latin typeface="Arial"/>
                  </a:rPr>
                  <a:t>: a hyperbola.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 </a:t>
                </a:r>
                <a:r>
                  <a:rPr lang="en-IN" sz="2400">
                    <a:solidFill>
                      <a:srgbClr val="111827"/>
                    </a:solidFill>
                    <a:latin typeface="Cambria Math" panose="02040503050406030204" pitchFamily="18" charset="0"/>
                  </a:rPr>
                  <a:t>$x=\sqrt3\left(\frac{1-t^2}{1+t^2}\right),\ y=\frac{2t}{1+t^2}$</a:t>
                </a:r>
                <a:r>
                  <a:rPr sz="2400" b="0">
                    <a:solidFill>
                      <a:srgbClr val="111827"/>
                    </a:solidFill>
                    <a:latin typeface="Arial"/>
                  </a:rPr>
                  <a:t>. Put </a:t>
                </a:r>
                <a:r>
                  <a:rPr lang="en-IN" sz="2400">
                    <a:solidFill>
                      <a:srgbClr val="111827"/>
                    </a:solidFill>
                    <a:latin typeface="Cambria Math" panose="02040503050406030204" pitchFamily="18" charset="0"/>
                  </a:rPr>
                  <a:t>$t=\tan\theta$</a:t>
                </a:r>
                <a:r>
                  <a:rPr sz="2400" b="0">
                    <a:solidFill>
                      <a:srgbClr val="111827"/>
                    </a:solidFill>
                    <a:latin typeface="Arial"/>
                  </a:rPr>
                  <a:t>: </a:t>
                </a:r>
                <a:r>
                  <a:rPr lang="en-IN" sz="2400">
                    <a:solidFill>
                      <a:srgbClr val="111827"/>
                    </a:solidFill>
                    <a:latin typeface="Cambria Math" panose="02040503050406030204" pitchFamily="18" charset="0"/>
                  </a:rPr>
                  <a:t>$x=\sqrt3\cos2\theta$</a:t>
                </a:r>
                <a:r>
                  <a:rPr sz="2400" b="0">
                    <a:solidFill>
                      <a:srgbClr val="111827"/>
                    </a:solidFill>
                    <a:latin typeface="Arial"/>
                  </a:rPr>
                  <a:t>, </a:t>
                </a:r>
                <a:r>
                  <a:rPr lang="en-IN" sz="2400">
                    <a:solidFill>
                      <a:srgbClr val="111827"/>
                    </a:solidFill>
                    <a:latin typeface="Cambria Math" panose="02040503050406030204" pitchFamily="18" charset="0"/>
                  </a:rPr>
                  <a:t>$y=\sin2\theta$</a:t>
                </a:r>
                <a:r>
                  <a:rPr sz="2400" b="0">
                    <a:solidFill>
                      <a:srgbClr val="111827"/>
                    </a:solidFill>
                    <a:latin typeface="Arial"/>
                  </a:rPr>
                  <a:t>, so </a:t>
                </a:r>
                <a:r>
                  <a:rPr lang="en-IN" sz="2400">
                    <a:solidFill>
                      <a:srgbClr val="111827"/>
                    </a:solidFill>
                    <a:latin typeface="Cambria Math" panose="02040503050406030204" pitchFamily="18" charset="0"/>
                  </a:rPr>
                  <a:t>$\left(\frac{x}{\sqrt3}\right)^2+y^2=1$</a:t>
                </a:r>
                <a:r>
                  <a:rPr sz="2400" b="0">
                    <a:solidFill>
                      <a:srgbClr val="111827"/>
                    </a:solidFill>
                    <a:latin typeface="Arial"/>
                  </a:rPr>
                  <a:t>: an ellipse. (C) -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 The eccentricity lies in </a:t>
                </a:r>
                <a:r>
                  <a:rPr lang="en-IN" sz="2400">
                    <a:solidFill>
                      <a:srgbClr val="111827"/>
                    </a:solidFill>
                    <a:latin typeface="Cambria Math" panose="02040503050406030204" pitchFamily="18" charset="0"/>
                  </a:rPr>
                  <a:t>$[1,\infty)$</a:t>
                </a:r>
                <a:r>
                  <a:rPr sz="2400" b="0">
                    <a:solidFill>
                      <a:srgbClr val="111827"/>
                    </a:solidFill>
                    <a:latin typeface="Arial"/>
                  </a:rPr>
                  <a:t> for a parabola (</a:t>
                </a:r>
                <a:r>
                  <a:rPr lang="en-IN" sz="2400">
                    <a:solidFill>
                      <a:srgbClr val="111827"/>
                    </a:solidFill>
                    <a:latin typeface="Cambria Math" panose="02040503050406030204" pitchFamily="18" charset="0"/>
                  </a:rPr>
                  <a:t>$e=1$</a:t>
                </a:r>
                <a:r>
                  <a:rPr sz="2400" b="0">
                    <a:solidFill>
                      <a:srgbClr val="111827"/>
                    </a:solidFill>
                    <a:latin typeface="Arial"/>
                  </a:rPr>
                  <a:t>) or a hyperbola (</a:t>
                </a:r>
                <a:r>
                  <a:rPr lang="en-IN" sz="2400">
                    <a:solidFill>
                      <a:srgbClr val="111827"/>
                    </a:solidFill>
                    <a:latin typeface="Cambria Math" panose="02040503050406030204" pitchFamily="18" charset="0"/>
                  </a:rPr>
                  <a:t>$e&gt;1$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 Let </a:t>
                </a:r>
                <a:r>
                  <a:rPr lang="en-IN" sz="2400">
                    <a:solidFill>
                      <a:srgbClr val="111827"/>
                    </a:solidFill>
                    <a:latin typeface="Cambria Math" panose="02040503050406030204" pitchFamily="18" charset="0"/>
                  </a:rPr>
                  <a:t>$z=x+iy$</a:t>
                </a:r>
                <a:r>
                  <a:rPr sz="2400" b="0">
                    <a:solidFill>
                      <a:srgbClr val="111827"/>
                    </a:solidFill>
                    <a:latin typeface="Arial"/>
                  </a:rPr>
                  <a:t>: </a:t>
                </a:r>
                <a:r>
                  <a:rPr lang="en-IN" sz="2400">
                    <a:solidFill>
                      <a:srgbClr val="111827"/>
                    </a:solidFill>
                    <a:latin typeface="Cambria Math" panose="02040503050406030204" pitchFamily="18" charset="0"/>
                  </a:rPr>
                  <a:t>$\mathrm{Re}(z+1)^2=(x+1)^2-y^2=x^2+y^2+1$</a:t>
                </a:r>
                <a:r>
                  <a:rPr sz="2400" b="0">
                    <a:solidFill>
                      <a:srgbClr val="111827"/>
                    </a:solidFill>
                    <a:latin typeface="Arial"/>
                  </a:rPr>
                  <a:t>, so </a:t>
                </a:r>
                <a:r>
                  <a:rPr lang="en-IN" sz="2400">
                    <a:solidFill>
                      <a:srgbClr val="111827"/>
                    </a:solidFill>
                    <a:latin typeface="Cambria Math" panose="02040503050406030204" pitchFamily="18" charset="0"/>
                  </a:rPr>
                  <a:t>$2x=2y^2$</a:t>
                </a:r>
                <a:r>
                  <a:rPr sz="2400" b="0">
                    <a:solidFill>
                      <a:srgbClr val="111827"/>
                    </a:solidFill>
                    <a:latin typeface="Arial"/>
                  </a:rPr>
                  <a:t>, i.e. </a:t>
                </a:r>
                <a:r>
                  <a:rPr lang="en-IN" sz="2400">
                    <a:solidFill>
                      <a:srgbClr val="111827"/>
                    </a:solidFill>
                    <a:latin typeface="Cambria Math" panose="02040503050406030204" pitchFamily="18" charset="0"/>
                  </a:rPr>
                  <a:t>$y^2=x$</a:t>
                </a:r>
                <a:r>
                  <a:rPr sz="2400" b="0">
                    <a:solidFill>
                      <a:srgbClr val="111827"/>
                    </a:solidFill>
                    <a:latin typeface="Arial"/>
                  </a:rPr>
                  <a:t>: a parabola.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 - P; (B) - S, T; (C) - R; (D) - Q, S.</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 P; (B) - S, T; (C) - R; (D) - Q, S</a:t>
            </a:r>
            <a:endParaRPr sz="2800">
              <a:solidFill>
                <a:srgbClr val="15803D"/>
              </a:solidFill>
            </a:endParaRPr>
          </a:p>
        </p:txBody>
      </p:sp>
    </p:spTree>
  </p:cSld>
  <p:clrMapOvr>
    <a:masterClrMapping/>
  </p:clrMapOvr>
</p:sld>
</file>

<file path=ppt/slides/slide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Recognise (Q) and (R) without trigonometry: focal difference </a:t>
                </a:r>
                <a14:m>
                  <m:oMath xmlns:m="http://schemas.openxmlformats.org/officeDocument/2006/math">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&lt;</m:t>
                    </m:r>
                    <m:r>
                      <a:rPr lang="en-IN" sz="2400" i="1">
                        <a:solidFill>
                          <a:srgbClr val="78350F"/>
                        </a:solidFill>
                        <a:latin typeface="Cambria Math" panose="02040503050406030204" pitchFamily="18" charset="0"/>
                      </a:rPr>
                      <m:t>4</m:t>
                    </m:r>
                  </m:oMath>
                </a14:m>
                <a:r>
                  <a:rPr sz="2400" b="0">
                    <a:solidFill>
                      <a:srgbClr val="78350F"/>
                    </a:solidFill>
                    <a:latin typeface="Arial"/>
                  </a:rPr>
                  <a:t>; and </a:t>
                </a:r>
                <a14:m>
                  <m:oMath xmlns:m="http://schemas.openxmlformats.org/officeDocument/2006/math">
                    <m:sSup>
                      <m:e>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e>
                        </m:d>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𝑡</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e>
                        </m:d>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gives </a:t>
                </a:r>
                <a14:m>
                  <m:oMath xmlns:m="http://schemas.openxmlformats.org/officeDocument/2006/math">
                    <m:sSup>
                      <m:e>
                        <m:d>
                          <m:dPr>
                            <m:begChr m:val="("/>
                            <m:sepChr m:val=""/>
                            <m:endChr m:val=")"/>
                            <m:grow/>
                            <m:ctrlPr>
                              <a:rPr lang="en-IN" sz="2400" i="1">
                                <a:solidFill>
                                  <a:srgbClr val="78350F"/>
                                </a:solidFill>
                                <a:latin typeface="Cambria Math" panose="02040503050406030204" pitchFamily="18" charset="0"/>
                              </a:rPr>
                            </m:ctrlPr>
                          </m:dPr>
                          <m:e>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𝑥</m:t>
                                </m:r>
                              </m:num>
                              <m:den>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den>
                            </m:f>
                          </m:e>
                        </m:d>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directly.</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Recognise (Q) and (R) without trigonometry: focal difference </a:t>
                </a:r>
                <a:r>
                  <a:rPr lang="en-IN" sz="2400">
                    <a:solidFill>
                      <a:srgbClr val="78350F"/>
                    </a:solidFill>
                    <a:latin typeface="Cambria Math" panose="02040503050406030204" pitchFamily="18" charset="0"/>
                  </a:rPr>
                  <a:t>$3&lt;4$</a:t>
                </a:r>
                <a:r>
                  <a:rPr sz="2400" b="0">
                    <a:solidFill>
                      <a:srgbClr val="78350F"/>
                    </a:solidFill>
                    <a:latin typeface="Arial"/>
                  </a:rPr>
                  <a:t>; and </a:t>
                </a:r>
                <a:r>
                  <a:rPr lang="en-IN" sz="2400">
                    <a:solidFill>
                      <a:srgbClr val="78350F"/>
                    </a:solidFill>
                    <a:latin typeface="Cambria Math" panose="02040503050406030204" pitchFamily="18" charset="0"/>
                  </a:rPr>
                  <a:t>$\left(1-t^2\right)^2+(2t)^2=\left(1+t^2\right)^2$</a:t>
                </a:r>
                <a:r>
                  <a:rPr sz="2400" b="0">
                    <a:solidFill>
                      <a:srgbClr val="78350F"/>
                    </a:solidFill>
                    <a:latin typeface="Arial"/>
                  </a:rPr>
                  <a:t> gives </a:t>
                </a:r>
                <a:r>
                  <a:rPr lang="en-IN" sz="2400">
                    <a:solidFill>
                      <a:srgbClr val="78350F"/>
                    </a:solidFill>
                    <a:latin typeface="Cambria Math" panose="02040503050406030204" pitchFamily="18" charset="0"/>
                  </a:rPr>
                  <a:t>$\left(\frac{x}{\sqrt3}\right)^2+y^2=1$</a:t>
                </a:r>
                <a:r>
                  <a:rPr sz="2400" b="0">
                    <a:solidFill>
                      <a:srgbClr val="78350F"/>
                    </a:solidFill>
                    <a:latin typeface="Arial"/>
                  </a:rPr>
                  <a:t> directly.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 ellipse, with no angle substitution.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is the focal-difference definition with foci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(distance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4</m:t>
                    </m:r>
                  </m:oMath>
                </a14:m>
                <a:r>
                  <a:rPr sz="2400" b="0">
                    <a:solidFill>
                      <a:srgbClr val="111827"/>
                    </a:solidFill>
                    <a:latin typeface="Arial"/>
                  </a:rPr>
                  <a:t>: a hyperbola,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a parabola: it has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(S) applies; similarly the hyperbola has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 </a:t>
                </a:r>
                <a:r>
                  <a:rPr lang="en-IN" sz="2400">
                    <a:solidFill>
                      <a:srgbClr val="111827"/>
                    </a:solidFill>
                    <a:latin typeface="Cambria Math" panose="02040503050406030204" pitchFamily="18" charset="0"/>
                  </a:rPr>
                  <a:t>$\left(\frac{x}{\sqrt3}\right)^2+y^2=\frac{(1-t^2)^2+4t^2}{(1+t^2)^2}=\frac{(1+t^2)^2}{(1+t^2)^2}=1$</a:t>
                </a:r>
                <a:r>
                  <a:rPr sz="2400" b="0">
                    <a:solidFill>
                      <a:srgbClr val="111827"/>
                    </a:solidFill>
                    <a:latin typeface="Arial"/>
                  </a:rPr>
                  <a:t>: an ellipse, with no angle substitution.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 </a:t>
                </a:r>
                <a:r>
                  <a:rPr lang="en-IN" sz="2400">
                    <a:solidFill>
                      <a:srgbClr val="111827"/>
                    </a:solidFill>
                    <a:latin typeface="Cambria Math" panose="02040503050406030204" pitchFamily="18" charset="0"/>
                  </a:rPr>
                  <a:t>$\left||z+2|-|z-2|\right|=3$</a:t>
                </a:r>
                <a:r>
                  <a:rPr sz="2400" b="0">
                    <a:solidFill>
                      <a:srgbClr val="111827"/>
                    </a:solidFill>
                    <a:latin typeface="Arial"/>
                  </a:rPr>
                  <a:t> is the focal-difference definition with foci </a:t>
                </a:r>
                <a:r>
                  <a:rPr lang="en-IN" sz="2400">
                    <a:solidFill>
                      <a:srgbClr val="111827"/>
                    </a:solidFill>
                    <a:latin typeface="Cambria Math" panose="02040503050406030204" pitchFamily="18" charset="0"/>
                  </a:rPr>
                  <a:t>$\pm2$</a:t>
                </a:r>
                <a:r>
                  <a:rPr sz="2400" b="0">
                    <a:solidFill>
                      <a:srgbClr val="111827"/>
                    </a:solidFill>
                    <a:latin typeface="Arial"/>
                  </a:rPr>
                  <a:t> (distance </a:t>
                </a:r>
                <a:r>
                  <a:rPr lang="en-IN" sz="2400">
                    <a:solidFill>
                      <a:srgbClr val="111827"/>
                    </a:solidFill>
                    <a:latin typeface="Cambria Math" panose="02040503050406030204" pitchFamily="18" charset="0"/>
                  </a:rPr>
                  <a:t>$4$</a:t>
                </a:r>
                <a:r>
                  <a:rPr sz="2400" b="0">
                    <a:solidFill>
                      <a:srgbClr val="111827"/>
                    </a:solidFill>
                    <a:latin typeface="Arial"/>
                  </a:rPr>
                  <a:t>) and </a:t>
                </a:r>
                <a:r>
                  <a:rPr lang="en-IN" sz="2400">
                    <a:solidFill>
                      <a:srgbClr val="111827"/>
                    </a:solidFill>
                    <a:latin typeface="Cambria Math" panose="02040503050406030204" pitchFamily="18" charset="0"/>
                  </a:rPr>
                  <a:t>$2a=3&lt;4$</a:t>
                </a:r>
                <a:r>
                  <a:rPr sz="2400" b="0">
                    <a:solidFill>
                      <a:srgbClr val="111827"/>
                    </a:solidFill>
                    <a:latin typeface="Arial"/>
                  </a:rPr>
                  <a:t>: a hyperbola, </a:t>
                </a:r>
                <a:r>
                  <a:rPr lang="en-IN" sz="2400">
                    <a:solidFill>
                      <a:srgbClr val="111827"/>
                    </a:solidFill>
                    <a:latin typeface="Cambria Math" panose="02040503050406030204" pitchFamily="18" charset="0"/>
                  </a:rPr>
                  <a:t>$e=\frac43&gt;1$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 </a:t>
                </a:r>
                <a:r>
                  <a:rPr lang="en-IN" sz="2400">
                    <a:solidFill>
                      <a:srgbClr val="111827"/>
                    </a:solidFill>
                    <a:latin typeface="Cambria Math" panose="02040503050406030204" pitchFamily="18" charset="0"/>
                  </a:rPr>
                  <a:t>$\mathrm{Re}(z+1)^2=(x+1)^2-y^2$</a:t>
                </a:r>
                <a:r>
                  <a:rPr sz="2400" b="0">
                    <a:solidFill>
                      <a:srgbClr val="111827"/>
                    </a:solidFill>
                    <a:latin typeface="Arial"/>
                  </a:rPr>
                  <a:t> and </a:t>
                </a:r>
                <a:r>
                  <a:rPr lang="en-IN" sz="2400">
                    <a:solidFill>
                      <a:srgbClr val="111827"/>
                    </a:solidFill>
                    <a:latin typeface="Cambria Math" panose="02040503050406030204" pitchFamily="18" charset="0"/>
                  </a:rPr>
                  <a:t>$|z|^2+1=x^2+y^2+1$</a:t>
                </a:r>
                <a:r>
                  <a:rPr sz="2400" b="0">
                    <a:solidFill>
                      <a:srgbClr val="111827"/>
                    </a:solidFill>
                    <a:latin typeface="Arial"/>
                  </a:rPr>
                  <a:t> give </a:t>
                </a:r>
                <a:r>
                  <a:rPr lang="en-IN" sz="2400">
                    <a:solidFill>
                      <a:srgbClr val="111827"/>
                    </a:solidFill>
                    <a:latin typeface="Cambria Math" panose="02040503050406030204" pitchFamily="18" charset="0"/>
                  </a:rPr>
                  <a:t>$y^2=x$</a:t>
                </a:r>
                <a:r>
                  <a:rPr sz="2400" b="0">
                    <a:solidFill>
                      <a:srgbClr val="111827"/>
                    </a:solidFill>
                    <a:latin typeface="Arial"/>
                  </a:rPr>
                  <a:t>, a parabola: it has </a:t>
                </a:r>
                <a:r>
                  <a:rPr lang="en-IN" sz="2400">
                    <a:solidFill>
                      <a:srgbClr val="111827"/>
                    </a:solidFill>
                    <a:latin typeface="Cambria Math" panose="02040503050406030204" pitchFamily="18" charset="0"/>
                  </a:rPr>
                  <a:t>$e=1$</a:t>
                </a:r>
                <a:r>
                  <a:rPr sz="2400" b="0">
                    <a:solidFill>
                      <a:srgbClr val="111827"/>
                    </a:solidFill>
                    <a:latin typeface="Arial"/>
                  </a:rPr>
                  <a:t>, so (S) applies; similarly the hyperbola has </a:t>
                </a:r>
                <a:r>
                  <a:rPr lang="en-IN" sz="2400">
                    <a:solidFill>
                      <a:srgbClr val="111827"/>
                    </a:solidFill>
                    <a:latin typeface="Cambria Math" panose="02040503050406030204" pitchFamily="18" charset="0"/>
                  </a:rPr>
                  <a:t>$e&gt;1$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a circle of radius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Matches: (A) P; (B) S, T; (C) R; (D) Q, 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 </a:t>
                </a:r>
                <a:r>
                  <a:rPr lang="en-IN" sz="2400">
                    <a:solidFill>
                      <a:srgbClr val="111827"/>
                    </a:solidFill>
                    <a:latin typeface="Cambria Math" panose="02040503050406030204" pitchFamily="18" charset="0"/>
                  </a:rPr>
                  <a:t>$\frac{1}{\sqrt{h^2+k^2}}=2$</a:t>
                </a:r>
                <a:r>
                  <a:rPr sz="2400" b="0">
                    <a:solidFill>
                      <a:srgbClr val="111827"/>
                    </a:solidFill>
                    <a:latin typeface="Arial"/>
                  </a:rPr>
                  <a:t> is a circle of radius </a:t>
                </a:r>
                <a:r>
                  <a:rPr lang="en-IN" sz="2400">
                    <a:solidFill>
                      <a:srgbClr val="111827"/>
                    </a:solidFill>
                    <a:latin typeface="Cambria Math" panose="02040503050406030204" pitchFamily="18" charset="0"/>
                  </a:rPr>
                  <a:t>$\frac12$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Matches: (A) P; (B) S, T; (C) R; (D) Q, S.</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 P; (B) - S, T; (C) - R; (D) - Q, S</a:t>
            </a:r>
            <a:endParaRPr sz="2800">
              <a:solidFill>
                <a:srgbClr val="15803D"/>
              </a:solidFill>
            </a:endParaRPr>
          </a:p>
        </p:txBody>
      </p:sp>
    </p:spTree>
  </p:cSld>
  <p:clrMapOvr>
    <a:masterClrMapping/>
  </p:clrMapOvr>
</p:sld>
</file>

<file path=ppt/slides/slide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a:t>
                </a:r>
                <a14:m>
                  <m:oMath xmlns:m="http://schemas.openxmlformats.org/officeDocument/2006/math">
                    <m:r>
                      <a:rPr lang="en-IN" sz="2400" i="1">
                        <a:solidFill>
                          <a:srgbClr val="111827"/>
                        </a:solidFill>
                        <a:latin typeface="Cambria Math" panose="02040503050406030204" pitchFamily="18" charset="0"/>
                      </a:rPr>
                      <m:t>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touches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iff </a:t>
                </a:r>
                <a14:m>
                  <m:oMath xmlns:m="http://schemas.openxmlformats.org/officeDocument/2006/math">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is a hyperbola iff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is an ellipse iff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&gt;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Rational parametrisation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traces the unit circle (all of it except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scaling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by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gives an ellipse.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reduces to a parabola because the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coefficients cancel except for one variable.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a:t>
                </a:r>
                <a:r>
                  <a:rPr lang="en-IN" sz="2400">
                    <a:solidFill>
                      <a:srgbClr val="111827"/>
                    </a:solidFill>
                    <a:latin typeface="Cambria Math" panose="02040503050406030204" pitchFamily="18" charset="0"/>
                  </a:rPr>
                  <a:t>$hx+ky=1$</a:t>
                </a:r>
                <a:r>
                  <a:rPr sz="2400" b="0">
                    <a:solidFill>
                      <a:srgbClr val="111827"/>
                    </a:solidFill>
                    <a:latin typeface="Arial"/>
                  </a:rPr>
                  <a:t> touches </a:t>
                </a:r>
                <a:r>
                  <a:rPr lang="en-IN" sz="2400">
                    <a:solidFill>
                      <a:srgbClr val="111827"/>
                    </a:solidFill>
                    <a:latin typeface="Cambria Math" panose="02040503050406030204" pitchFamily="18" charset="0"/>
                  </a:rPr>
                  <a:t>$x^2+y^2=r^2$</a:t>
                </a:r>
                <a:r>
                  <a:rPr sz="2400" b="0">
                    <a:solidFill>
                      <a:srgbClr val="111827"/>
                    </a:solidFill>
                    <a:latin typeface="Arial"/>
                  </a:rPr>
                  <a:t> iff </a:t>
                </a:r>
                <a:r>
                  <a:rPr lang="en-IN" sz="2400">
                    <a:solidFill>
                      <a:srgbClr val="111827"/>
                    </a:solidFill>
                    <a:latin typeface="Cambria Math" panose="02040503050406030204" pitchFamily="18" charset="0"/>
                  </a:rPr>
                  <a:t>$h^2+k^2=\frac{1}{r^2}$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$\left||z-z_1|-|z-z_2|\right|=2a$</a:t>
                </a:r>
                <a:r>
                  <a:rPr sz="2400" b="0">
                    <a:solidFill>
                      <a:srgbClr val="111827"/>
                    </a:solidFill>
                    <a:latin typeface="Arial"/>
                  </a:rPr>
                  <a:t> is a hyperbola iff </a:t>
                </a:r>
                <a:r>
                  <a:rPr lang="en-IN" sz="2400">
                    <a:solidFill>
                      <a:srgbClr val="111827"/>
                    </a:solidFill>
                    <a:latin typeface="Cambria Math" panose="02040503050406030204" pitchFamily="18" charset="0"/>
                  </a:rPr>
                  <a:t>$2a&lt;|z_1-z_2|$</a:t>
                </a:r>
                <a:r>
                  <a:rPr sz="2400" b="0">
                    <a:solidFill>
                      <a:srgbClr val="111827"/>
                    </a:solidFill>
                    <a:latin typeface="Arial"/>
                  </a:rPr>
                  <a:t>; </a:t>
                </a:r>
                <a:r>
                  <a:rPr lang="en-IN" sz="2400">
                    <a:solidFill>
                      <a:srgbClr val="111827"/>
                    </a:solidFill>
                    <a:latin typeface="Cambria Math" panose="02040503050406030204" pitchFamily="18" charset="0"/>
                  </a:rPr>
                  <a:t>$|z-z_1|+|z-z_2|=2a$</a:t>
                </a:r>
                <a:r>
                  <a:rPr sz="2400" b="0">
                    <a:solidFill>
                      <a:srgbClr val="111827"/>
                    </a:solidFill>
                    <a:latin typeface="Arial"/>
                  </a:rPr>
                  <a:t> is an ellipse iff </a:t>
                </a:r>
                <a:r>
                  <a:rPr lang="en-IN" sz="2400">
                    <a:solidFill>
                      <a:srgbClr val="111827"/>
                    </a:solidFill>
                    <a:latin typeface="Cambria Math" panose="02040503050406030204" pitchFamily="18" charset="0"/>
                  </a:rPr>
                  <a:t>$2a&gt;|z_1-z_2|$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Rational parametrisation </a:t>
                </a:r>
                <a:r>
                  <a:rPr lang="en-IN" sz="2400">
                    <a:solidFill>
                      <a:srgbClr val="111827"/>
                    </a:solidFill>
                    <a:latin typeface="Cambria Math" panose="02040503050406030204" pitchFamily="18" charset="0"/>
                  </a:rPr>
                  <a:t>$x=\frac{1-t^2}{1+t^2},\ y=\frac{2t}{1+t^2}$</a:t>
                </a:r>
                <a:r>
                  <a:rPr sz="2400" b="0">
                    <a:solidFill>
                      <a:srgbClr val="111827"/>
                    </a:solidFill>
                    <a:latin typeface="Arial"/>
                  </a:rPr>
                  <a:t> traces the unit circle (all of it except </a:t>
                </a:r>
                <a:r>
                  <a:rPr lang="en-IN" sz="2400">
                    <a:solidFill>
                      <a:srgbClr val="111827"/>
                    </a:solidFill>
                    <a:latin typeface="Cambria Math" panose="02040503050406030204" pitchFamily="18" charset="0"/>
                  </a:rPr>
                  <a:t>$(-1,0)$</a:t>
                </a:r>
                <a:r>
                  <a:rPr sz="2400" b="0">
                    <a:solidFill>
                      <a:srgbClr val="111827"/>
                    </a:solidFill>
                    <a:latin typeface="Arial"/>
                  </a:rPr>
                  <a:t>); scaling </a:t>
                </a:r>
                <a:r>
                  <a:rPr lang="en-IN" sz="2400">
                    <a:solidFill>
                      <a:srgbClr val="111827"/>
                    </a:solidFill>
                    <a:latin typeface="Cambria Math" panose="02040503050406030204" pitchFamily="18" charset="0"/>
                  </a:rPr>
                  <a:t>$x$</a:t>
                </a:r>
                <a:r>
                  <a:rPr sz="2400" b="0">
                    <a:solidFill>
                      <a:srgbClr val="111827"/>
                    </a:solidFill>
                    <a:latin typeface="Arial"/>
                  </a:rPr>
                  <a:t> by </a:t>
                </a:r>
                <a:r>
                  <a:rPr lang="en-IN" sz="2400">
                    <a:solidFill>
                      <a:srgbClr val="111827"/>
                    </a:solidFill>
                    <a:latin typeface="Cambria Math" panose="02040503050406030204" pitchFamily="18" charset="0"/>
                  </a:rPr>
                  <a:t>$\sqrt3$</a:t>
                </a:r>
                <a:r>
                  <a:rPr sz="2400" b="0">
                    <a:solidFill>
                      <a:srgbClr val="111827"/>
                    </a:solidFill>
                    <a:latin typeface="Arial"/>
                  </a:rPr>
                  <a:t> gives an ellipse.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$\mathrm{Re}(z+k)^2=|z|^2+c$</a:t>
                </a:r>
                <a:r>
                  <a:rPr sz="2400" b="0">
                    <a:solidFill>
                      <a:srgbClr val="111827"/>
                    </a:solidFill>
                    <a:latin typeface="Arial"/>
                  </a:rPr>
                  <a:t> reduces to a parabola because the </a:t>
                </a:r>
                <a:r>
                  <a:rPr lang="en-IN" sz="2400">
                    <a:solidFill>
                      <a:srgbClr val="111827"/>
                    </a:solidFill>
                    <a:latin typeface="Cambria Math" panose="02040503050406030204" pitchFamily="18" charset="0"/>
                  </a:rPr>
                  <a:t>$x^2$</a:t>
                </a:r>
                <a:r>
                  <a:rPr sz="2400" b="0">
                    <a:solidFill>
                      <a:srgbClr val="111827"/>
                    </a:solidFill>
                    <a:latin typeface="Arial"/>
                  </a:rPr>
                  <a:t> and </a:t>
                </a:r>
                <a:r>
                  <a:rPr lang="en-IN" sz="2400">
                    <a:solidFill>
                      <a:srgbClr val="111827"/>
                    </a:solidFill>
                    <a:latin typeface="Cambria Math" panose="02040503050406030204" pitchFamily="18" charset="0"/>
                  </a:rPr>
                  <a:t>$y^2$</a:t>
                </a:r>
                <a:r>
                  <a:rPr sz="2400" b="0">
                    <a:solidFill>
                      <a:srgbClr val="111827"/>
                    </a:solidFill>
                    <a:latin typeface="Arial"/>
                  </a:rPr>
                  <a:t> coefficients cancel except for one variable.</a:t>
                </a:r>
                <a:endParaRPr sz="2400">
                  <a:solidFill>
                    <a:srgbClr val="111827"/>
                  </a:solidFill>
                </a:endParaRPr>
              </a:p>
            </p:txBody>
          </p:sp>
        </mc:Fallback>
      </mc:AlternateContent>
    </p:spTree>
  </p:cSld>
  <p:clrMapOvr>
    <a:masterClrMapping/>
  </p:clrMapOvr>
</p:sld>
</file>

<file path=ppt/slides/slide3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01</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02</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03</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04</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05</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(2/13)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06</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07</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08</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09</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10</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(3/13)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11</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12</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13</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14</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15</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(4/13)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16</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17</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18</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19</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20</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(5/13)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21</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22</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23</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24</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25</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(6/13)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26</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27</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28</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29</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30</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(7/13)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31</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32</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33</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34</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35</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bl>
          </a:graphicData>
        </a:graphic>
      </p:graphicFrame>
    </p:spTree>
  </p:cSld>
  <p:clrMapOvr>
    <a:masterClrMapping/>
  </p:clrMapOvr>
</p:sld>
</file>

<file path=ppt/slides/slide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(8/13)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36</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37</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38</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39</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40</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(9/13)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41</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42</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43</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44</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45</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(10/13)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46</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47</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48</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49</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50</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(11/13)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51</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52</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53</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54</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55</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bl>
          </a:graphicData>
        </a:graphic>
      </p:graphicFrame>
    </p:spTree>
  </p:cSld>
  <p:clrMapOvr>
    <a:masterClrMapping/>
  </p:clrMapOvr>
</p:sld>
</file>

<file path=ppt/slides/slide4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(12/13)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56</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57</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58</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59</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60</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(13/13)</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61</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62</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63</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64</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65</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a:t>
            </a:r>
            <a:endParaRPr sz="3200">
              <a:solidFill>
                <a:srgbClr val="FFFFFF"/>
              </a:solidFill>
            </a:endParaRPr>
          </a:p>
        </p:txBody>
      </p:sp>
      <p:sp>
        <p:nvSpPr>
          <p:cNvPr id="3" name="Rounded Rectangle 2"/>
          <p:cNvSpPr/>
          <p:nvPr/>
        </p:nvSpPr>
        <p:spPr>
          <a:xfrm>
            <a:off x="731520" y="1417320"/>
            <a:ext cx="4754880" cy="329184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37160" bIns="73152"/>
          <a:lstStyle>
            <a:lvl1pPr>
              <a:defRPr sz="3000">
                <a:solidFill>
                  <a:srgbClr val="0B1F3A"/>
                </a:solidFill>
              </a:defRPr>
            </a:lvl1pPr>
          </a:lstStyle>
          <a:p>
            <a:pPr algn="ctr">
              <a:defRPr sz="3000">
                <a:solidFill>
                  <a:srgbClr val="0B1F3A"/>
                </a:solidFill>
              </a:defRPr>
            </a:pPr>
            <a:r>
              <a:rPr sz="3000" b="1">
                <a:solidFill>
                  <a:srgbClr val="0B1F3A"/>
                </a:solidFill>
                <a:latin typeface="Arial"/>
              </a:rPr>
              <a:t>Difficulty Index</a:t>
            </a:r>
            <a:endParaRPr sz="3000">
              <a:solidFill>
                <a:srgbClr val="0B1F3A"/>
              </a:solidFill>
            </a:endParaRPr>
          </a:p>
          <a:p>
            <a:pPr algn="ctr">
              <a:defRPr sz="3000">
                <a:solidFill>
                  <a:srgbClr val="0B1F3A"/>
                </a:solidFill>
              </a:defRPr>
            </a:pPr>
            <a:r>
              <a:rPr sz="8800" b="1">
                <a:solidFill>
                  <a:srgbClr val="0B1F3A"/>
                </a:solidFill>
                <a:latin typeface="Arial"/>
              </a:rPr>
              <a:t>2.72</a:t>
            </a:r>
            <a:endParaRPr sz="3000">
              <a:solidFill>
                <a:srgbClr val="0B1F3A"/>
              </a:solidFill>
            </a:endParaRPr>
          </a:p>
          <a:p>
            <a:pPr algn="ctr">
              <a:defRPr sz="3000">
                <a:solidFill>
                  <a:srgbClr val="0B1F3A"/>
                </a:solidFill>
              </a:defRPr>
            </a:pPr>
            <a:r>
              <a:rPr sz="2400" b="0">
                <a:solidFill>
                  <a:srgbClr val="0B1F3A"/>
                </a:solidFill>
                <a:latin typeface="Arial"/>
              </a:rPr>
              <a:t>out of 5</a:t>
            </a:r>
            <a:endParaRPr sz="3000">
              <a:solidFill>
                <a:srgbClr val="0B1F3A"/>
              </a:solidFill>
            </a:endParaRPr>
          </a:p>
        </p:txBody>
      </p:sp>
      <p:sp>
        <p:nvSpPr>
          <p:cNvPr id="4" name="Rectangle 3"/>
          <p:cNvSpPr/>
          <p:nvPr/>
        </p:nvSpPr>
        <p:spPr>
          <a:xfrm>
            <a:off x="5852160" y="1417320"/>
            <a:ext cx="5605272" cy="603504"/>
          </a:xfrm>
          <a:prstGeom prst="rect">
            <a:avLst/>
          </a:prstGeom>
          <a:solidFill>
            <a:srgbClr val="93C47D"/>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JEE Main or easier:  1 question</a:t>
            </a:r>
            <a:endParaRPr sz="2400">
              <a:solidFill>
                <a:srgbClr val="111827"/>
              </a:solidFill>
            </a:endParaRPr>
          </a:p>
        </p:txBody>
      </p:sp>
      <p:sp>
        <p:nvSpPr>
          <p:cNvPr id="5" name="Rectangle 4"/>
          <p:cNvSpPr/>
          <p:nvPr/>
        </p:nvSpPr>
        <p:spPr>
          <a:xfrm>
            <a:off x="5852160" y="2093976"/>
            <a:ext cx="5605272" cy="603504"/>
          </a:xfrm>
          <a:prstGeom prst="rect">
            <a:avLst/>
          </a:prstGeom>
          <a:solidFill>
            <a:srgbClr val="FFD966"/>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Below average:  24 questions</a:t>
            </a:r>
            <a:endParaRPr sz="2400">
              <a:solidFill>
                <a:srgbClr val="111827"/>
              </a:solidFill>
            </a:endParaRPr>
          </a:p>
        </p:txBody>
      </p:sp>
      <p:sp>
        <p:nvSpPr>
          <p:cNvPr id="6" name="Rectangle 5"/>
          <p:cNvSpPr/>
          <p:nvPr/>
        </p:nvSpPr>
        <p:spPr>
          <a:xfrm>
            <a:off x="5852160" y="2770632"/>
            <a:ext cx="5605272" cy="603504"/>
          </a:xfrm>
          <a:prstGeom prst="rect">
            <a:avLst/>
          </a:prstGeom>
          <a:solidFill>
            <a:srgbClr val="F6B26B"/>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Average Advanced:  32 questions</a:t>
            </a:r>
            <a:endParaRPr sz="2400">
              <a:solidFill>
                <a:srgbClr val="111827"/>
              </a:solidFill>
            </a:endParaRPr>
          </a:p>
        </p:txBody>
      </p:sp>
      <p:sp>
        <p:nvSpPr>
          <p:cNvPr id="7" name="Rectangle 6"/>
          <p:cNvSpPr/>
          <p:nvPr/>
        </p:nvSpPr>
        <p:spPr>
          <a:xfrm>
            <a:off x="5852160" y="3447288"/>
            <a:ext cx="5605272" cy="603504"/>
          </a:xfrm>
          <a:prstGeom prst="rect">
            <a:avLst/>
          </a:prstGeom>
          <a:solidFill>
            <a:srgbClr val="E88080"/>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Above average:  8 questions</a:t>
            </a:r>
            <a:endParaRPr sz="2400">
              <a:solidFill>
                <a:srgbClr val="111827"/>
              </a:solidFill>
            </a:endParaRPr>
          </a:p>
        </p:txBody>
      </p:sp>
      <p:sp>
        <p:nvSpPr>
          <p:cNvPr id="8" name="Rectangle 7"/>
          <p:cNvSpPr/>
          <p:nvPr/>
        </p:nvSpPr>
        <p:spPr>
          <a:xfrm>
            <a:off x="5852160" y="4123944"/>
            <a:ext cx="5605272" cy="603504"/>
          </a:xfrm>
          <a:prstGeom prst="rect">
            <a:avLst/>
          </a:prstGeom>
          <a:solidFill>
            <a:srgbClr val="CC4125"/>
          </a:solidFill>
          <a:ln w="19050">
            <a:solidFill>
              <a:srgbClr val="6B7280"/>
            </a:solidFill>
          </a:ln>
          <a:effectLst/>
        </p:spPr>
        <p:style>
          <a:lnRef idx="1">
            <a:schemeClr val="accent1"/>
          </a:lnRef>
          <a:fillRef idx="3">
            <a:schemeClr val="accent1"/>
          </a:fillRef>
          <a:effectRef idx="2">
            <a:schemeClr val="accent1"/>
          </a:effectRef>
          <a:fontRef idx="minor">
            <a:srgbClr val="FFFFFF"/>
          </a:fontRef>
        </p:style>
        <p:txBody>
          <a:bodyPr rtlCol="0" anchor="ctr" wrap="square" lIns="228600" rIns="228600" tIns="18288" bIns="73152"/>
          <a:lstStyle>
            <a:lvl1pPr>
              <a:defRPr sz="2400">
                <a:solidFill>
                  <a:srgbClr val="FFFFFF"/>
                </a:solidFill>
              </a:defRPr>
            </a:lvl1pPr>
          </a:lstStyle>
          <a:p>
            <a:pPr algn="l">
              <a:defRPr sz="2400">
                <a:solidFill>
                  <a:srgbClr val="FFFFFF"/>
                </a:solidFill>
              </a:defRPr>
            </a:pPr>
            <a:r>
              <a:rPr sz="2400" b="1">
                <a:solidFill>
                  <a:srgbClr val="FFFFFF"/>
                </a:solidFill>
                <a:latin typeface="Arial"/>
              </a:rPr>
              <a:t>Very difficult:  0 questions</a:t>
            </a:r>
            <a:endParaRPr sz="2400">
              <a:solidFill>
                <a:srgbClr val="FFFFFF"/>
              </a:solidFill>
            </a:endParaRPr>
          </a:p>
        </p:txBody>
      </p:sp>
      <p:sp>
        <p:nvSpPr>
          <p:cNvPr id="9" name="Rectangle 8"/>
          <p:cNvSpPr/>
          <p:nvPr/>
        </p:nvSpPr>
        <p:spPr>
          <a:xfrm>
            <a:off x="731520" y="5029200"/>
            <a:ext cx="10725912" cy="1097280"/>
          </a:xfrm>
          <a:prstGeom prst="rect">
            <a:avLst/>
          </a:prstGeom>
          <a:solidFill>
            <a:srgbClr val="FFFFFF"/>
          </a:solidFill>
          <a:ln w="19050">
            <a:no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ctr">
              <a:defRPr sz="2400">
                <a:solidFill>
                  <a:srgbClr val="111827"/>
                </a:solidFill>
              </a:defRPr>
            </a:pPr>
            <a:r>
              <a:rPr sz="2400" b="0">
                <a:solidFill>
                  <a:srgbClr val="111827"/>
                </a:solidFill>
                <a:latin typeface="Arial"/>
              </a:rPr>
              <a:t>Total: 65 questions, 250 marks.  Index = Σ(marks × level) ÷ Σ marks, on the 0-5 scale.</a:t>
            </a:r>
            <a:endParaRPr sz="2400">
              <a:solidFill>
                <a:srgbClr val="111827"/>
              </a:solidFill>
            </a:endParaRPr>
          </a:p>
        </p:txBody>
      </p:sp>
    </p:spTree>
  </p:cSld>
  <p:clrMapOvr>
    <a:masterClrMapping/>
  </p:clrMapOvr>
</p:sld>
</file>

<file path=ppt/slides/slide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Difficulty Profile of the Paper</a:t>
            </a:r>
            <a:endParaRPr sz="3200">
              <a:solidFill>
                <a:srgbClr val="FFFFFF"/>
              </a:solidFill>
            </a:endParaRPr>
          </a:p>
        </p:txBody>
      </p:sp>
      <p:graphicFrame>
        <p:nvGraphicFramePr>
          <p:cNvPr id="3" name="Chart 2"/>
          <p:cNvGraphicFramePr>
            <a:graphicFrameLocks noGrp="1"/>
          </p:cNvGraphicFramePr>
          <p:nvPr/>
        </p:nvGraphicFramePr>
        <p:xfrm>
          <a:off x="457200" y="1280160"/>
          <a:ext cx="11274552" cy="5349240"/>
        </p:xfrm>
        <a:graphic>
          <a:graphicData uri="http://schemas.openxmlformats.org/drawingml/2006/chart">
            <c:chart xmlns:c="http://schemas.openxmlformats.org/drawingml/2006/chart" r:id="rId2"/>
          </a:graphicData>
        </a:graphic>
      </p:graphicFrame>
    </p:spTree>
  </p:cSld>
  <p:clrMapOvr>
    <a:masterClrMapping/>
  </p:clrMapOvr>
</p:sld>
</file>

<file path=ppt/slides/slide4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Comparison with JEE Advanced Papers</a:t>
            </a:r>
            <a:endParaRPr sz="3200">
              <a:solidFill>
                <a:srgbClr val="FFFFFF"/>
              </a:solidFill>
            </a:endParaRPr>
          </a:p>
        </p:txBody>
      </p:sp>
      <p:graphicFrame>
        <p:nvGraphicFramePr>
          <p:cNvPr id="3" name="Table 2"/>
          <p:cNvGraphicFramePr>
            <a:graphicFrameLocks noGrp="1"/>
          </p:cNvGraphicFramePr>
          <p:nvPr/>
        </p:nvGraphicFramePr>
        <p:xfrm>
          <a:off x="1661007" y="1371600"/>
          <a:ext cx="8869680" cy="4526280"/>
        </p:xfrm>
        <a:graphic>
          <a:graphicData uri="http://schemas.openxmlformats.org/drawingml/2006/table">
            <a:tbl>
              <a:tblPr firstRow="1" bandRow="1">
                <a:tableStyleId>{5C22544A-7EE6-4342-B048-85BDC9FD1C3A}</a:tableStyleId>
              </a:tblPr>
              <a:tblGrid>
                <a:gridCol w="5760720"/>
                <a:gridCol w="3108960"/>
              </a:tblGrid>
              <a:tr h="685800">
                <a:tc>
                  <a:txBody>
                    <a:bodyPr/>
                    <a:lstStyle/>
                    <a:p>
                      <a:pPr algn="ctr"/>
                      <a:r>
                        <a:rPr sz="2600" b="1">
                          <a:solidFill>
                            <a:srgbClr val="FFFFFF"/>
                          </a:solidFill>
                          <a:latin typeface="Arial"/>
                        </a:rPr>
                        <a:t>Paper</a:t>
                      </a:r>
                    </a:p>
                  </a:txBody>
                  <a:tcPr anchor="ctr" marL="137160" marR="137160">
                    <a:solidFill>
                      <a:srgbClr val="0B1F3A"/>
                    </a:solidFill>
                  </a:tcPr>
                </a:tc>
                <a:tc>
                  <a:txBody>
                    <a:bodyPr/>
                    <a:lstStyle/>
                    <a:p>
                      <a:pPr algn="ctr"/>
                      <a:r>
                        <a:rPr sz="2600" b="1">
                          <a:solidFill>
                            <a:srgbClr val="FFFFFF"/>
                          </a:solidFill>
                          <a:latin typeface="Arial"/>
                        </a:rPr>
                        <a:t>Difficulty Index</a:t>
                      </a:r>
                    </a:p>
                  </a:txBody>
                  <a:tcPr anchor="ctr" marL="137160" marR="137160">
                    <a:solidFill>
                      <a:srgbClr val="0B1F3A"/>
                    </a:solidFill>
                  </a:tcPr>
                </a:tc>
              </a:tr>
              <a:tr h="640080">
                <a:tc>
                  <a:txBody>
                    <a:bodyPr/>
                    <a:lstStyle/>
                    <a:p>
                      <a:pPr algn="l"/>
                      <a:r>
                        <a:rPr sz="2600" b="0">
                          <a:solidFill>
                            <a:srgbClr val="111827"/>
                          </a:solidFill>
                          <a:latin typeface="Arial"/>
                        </a:rPr>
                        <a:t>JEE Advanced 2021</a:t>
                      </a:r>
                    </a:p>
                  </a:txBody>
                  <a:tcPr anchor="ctr" marL="137160" marR="137160">
                    <a:solidFill>
                      <a:srgbClr val="FFFFFF"/>
                    </a:solidFill>
                  </a:tcPr>
                </a:tc>
                <a:tc>
                  <a:txBody>
                    <a:bodyPr/>
                    <a:lstStyle/>
                    <a:p>
                      <a:pPr algn="ctr"/>
                      <a:r>
                        <a:rPr sz="2600" b="1">
                          <a:solidFill>
                            <a:srgbClr val="111827"/>
                          </a:solidFill>
                          <a:latin typeface="Arial"/>
                        </a:rPr>
                        <a:t>2.76</a:t>
                      </a:r>
                    </a:p>
                  </a:txBody>
                  <a:tcPr anchor="ctr" marL="137160" marR="137160">
                    <a:solidFill>
                      <a:srgbClr val="FFFFFF"/>
                    </a:solidFill>
                  </a:tcPr>
                </a:tc>
              </a:tr>
              <a:tr h="640080">
                <a:tc>
                  <a:txBody>
                    <a:bodyPr/>
                    <a:lstStyle/>
                    <a:p>
                      <a:pPr algn="l"/>
                      <a:r>
                        <a:rPr sz="2600" b="0">
                          <a:solidFill>
                            <a:srgbClr val="111827"/>
                          </a:solidFill>
                          <a:latin typeface="Arial"/>
                        </a:rPr>
                        <a:t>JEE Advanced 2023</a:t>
                      </a:r>
                    </a:p>
                  </a:txBody>
                  <a:tcPr anchor="ctr" marL="137160" marR="137160">
                    <a:solidFill>
                      <a:srgbClr val="FFFFFF"/>
                    </a:solidFill>
                  </a:tcPr>
                </a:tc>
                <a:tc>
                  <a:txBody>
                    <a:bodyPr/>
                    <a:lstStyle/>
                    <a:p>
                      <a:pPr algn="ctr"/>
                      <a:r>
                        <a:rPr sz="2600" b="1">
                          <a:solidFill>
                            <a:srgbClr val="111827"/>
                          </a:solidFill>
                          <a:latin typeface="Arial"/>
                        </a:rPr>
                        <a:t>3.19</a:t>
                      </a:r>
                    </a:p>
                  </a:txBody>
                  <a:tcPr anchor="ctr" marL="137160" marR="137160">
                    <a:solidFill>
                      <a:srgbClr val="FFFFFF"/>
                    </a:solidFill>
                  </a:tcPr>
                </a:tc>
              </a:tr>
              <a:tr h="640080">
                <a:tc>
                  <a:txBody>
                    <a:bodyPr/>
                    <a:lstStyle/>
                    <a:p>
                      <a:pPr algn="l"/>
                      <a:r>
                        <a:rPr sz="2600" b="0">
                          <a:solidFill>
                            <a:srgbClr val="111827"/>
                          </a:solidFill>
                          <a:latin typeface="Arial"/>
                        </a:rPr>
                        <a:t>JEE Advanced 2024</a:t>
                      </a:r>
                    </a:p>
                  </a:txBody>
                  <a:tcPr anchor="ctr" marL="137160" marR="137160">
                    <a:solidFill>
                      <a:srgbClr val="FFFFFF"/>
                    </a:solidFill>
                  </a:tcPr>
                </a:tc>
                <a:tc>
                  <a:txBody>
                    <a:bodyPr/>
                    <a:lstStyle/>
                    <a:p>
                      <a:pPr algn="ctr"/>
                      <a:r>
                        <a:rPr sz="2600" b="1">
                          <a:solidFill>
                            <a:srgbClr val="111827"/>
                          </a:solidFill>
                          <a:latin typeface="Arial"/>
                        </a:rPr>
                        <a:t>2.59</a:t>
                      </a:r>
                    </a:p>
                  </a:txBody>
                  <a:tcPr anchor="ctr" marL="137160" marR="137160">
                    <a:solidFill>
                      <a:srgbClr val="FFFFFF"/>
                    </a:solidFill>
                  </a:tcPr>
                </a:tc>
              </a:tr>
              <a:tr h="640080">
                <a:tc>
                  <a:txBody>
                    <a:bodyPr/>
                    <a:lstStyle/>
                    <a:p>
                      <a:pPr algn="l"/>
                      <a:r>
                        <a:rPr sz="2600" b="0">
                          <a:solidFill>
                            <a:srgbClr val="111827"/>
                          </a:solidFill>
                          <a:latin typeface="Arial"/>
                        </a:rPr>
                        <a:t>JEE Advanced 2025</a:t>
                      </a:r>
                    </a:p>
                  </a:txBody>
                  <a:tcPr anchor="ctr" marL="137160" marR="137160">
                    <a:solidFill>
                      <a:srgbClr val="FFFFFF"/>
                    </a:solidFill>
                  </a:tcPr>
                </a:tc>
                <a:tc>
                  <a:txBody>
                    <a:bodyPr/>
                    <a:lstStyle/>
                    <a:p>
                      <a:pPr algn="ctr"/>
                      <a:r>
                        <a:rPr sz="2600" b="1">
                          <a:solidFill>
                            <a:srgbClr val="111827"/>
                          </a:solidFill>
                          <a:latin typeface="Arial"/>
                        </a:rPr>
                        <a:t>3.21</a:t>
                      </a:r>
                    </a:p>
                  </a:txBody>
                  <a:tcPr anchor="ctr" marL="137160" marR="137160">
                    <a:solidFill>
                      <a:srgbClr val="FFFFFF"/>
                    </a:solidFill>
                  </a:tcPr>
                </a:tc>
              </a:tr>
              <a:tr h="640080">
                <a:tc>
                  <a:txBody>
                    <a:bodyPr/>
                    <a:lstStyle/>
                    <a:p>
                      <a:pPr algn="l"/>
                      <a:r>
                        <a:rPr sz="2600" b="0">
                          <a:solidFill>
                            <a:srgbClr val="111827"/>
                          </a:solidFill>
                          <a:latin typeface="Arial"/>
                        </a:rPr>
                        <a:t>JEE Advanced 2026</a:t>
                      </a:r>
                    </a:p>
                  </a:txBody>
                  <a:tcPr anchor="ctr" marL="137160" marR="137160">
                    <a:solidFill>
                      <a:srgbClr val="FFFFFF"/>
                    </a:solidFill>
                  </a:tcPr>
                </a:tc>
                <a:tc>
                  <a:txBody>
                    <a:bodyPr/>
                    <a:lstStyle/>
                    <a:p>
                      <a:pPr algn="ctr"/>
                      <a:r>
                        <a:rPr sz="2600" b="1">
                          <a:solidFill>
                            <a:srgbClr val="111827"/>
                          </a:solidFill>
                          <a:latin typeface="Arial"/>
                        </a:rPr>
                        <a:t>3.02</a:t>
                      </a:r>
                    </a:p>
                  </a:txBody>
                  <a:tcPr anchor="ctr" marL="137160" marR="137160">
                    <a:solidFill>
                      <a:srgbClr val="FFFFFF"/>
                    </a:solidFill>
                  </a:tcPr>
                </a:tc>
              </a:tr>
              <a:tr h="640080">
                <a:tc>
                  <a:txBody>
                    <a:bodyPr/>
                    <a:lstStyle/>
                    <a:p>
                      <a:pPr algn="l"/>
                      <a:r>
                        <a:rPr sz="2600" b="1">
                          <a:solidFill>
                            <a:srgbClr val="0B1F3A"/>
                          </a:solidFill>
                          <a:latin typeface="Arial"/>
                        </a:rPr>
                        <a:t>Conic Section C2</a:t>
                      </a:r>
                    </a:p>
                  </a:txBody>
                  <a:tcPr anchor="ctr" marL="137160" marR="137160">
                    <a:solidFill>
                      <a:srgbClr val="E0ECFF"/>
                    </a:solidFill>
                  </a:tcPr>
                </a:tc>
                <a:tc>
                  <a:txBody>
                    <a:bodyPr/>
                    <a:lstStyle/>
                    <a:p>
                      <a:pPr algn="ctr"/>
                      <a:r>
                        <a:rPr sz="2600" b="1">
                          <a:solidFill>
                            <a:srgbClr val="0B1F3A"/>
                          </a:solidFill>
                          <a:latin typeface="Arial"/>
                        </a:rPr>
                        <a:t>2.72</a:t>
                      </a:r>
                    </a:p>
                  </a:txBody>
                  <a:tcPr anchor="ctr" marL="137160" marR="137160">
                    <a:solidFill>
                      <a:srgbClr val="E0ECFF"/>
                    </a:solidFill>
                  </a:tcPr>
                </a:tc>
              </a:tr>
            </a:tbl>
          </a:graphicData>
        </a:graphic>
      </p:graphicFrame>
      <p:sp>
        <p:nvSpPr>
          <p:cNvPr id="4" name="TextBox 3"/>
          <p:cNvSpPr txBox="1"/>
          <p:nvPr/>
        </p:nvSpPr>
        <p:spPr>
          <a:xfrm>
            <a:off x="731520" y="6080759"/>
            <a:ext cx="10725912" cy="457200"/>
          </a:xfrm>
          <a:prstGeom prst="rect">
            <a:avLst/>
          </a:prstGeom>
          <a:noFill/>
        </p:spPr>
        <p:txBody>
          <a:bodyPr wrap="none">
            <a:spAutoFit/>
          </a:bodyPr>
          <a:lstStyle>
            <a:lvl1pPr>
              <a:defRPr sz="2000">
                <a:solidFill>
                  <a:srgbClr val="111827"/>
                </a:solidFill>
              </a:defRPr>
            </a:lvl1pPr>
          </a:lstStyle>
          <a:p>
            <a:pPr algn="ctr">
              <a:defRPr sz="2000">
                <a:solidFill>
                  <a:srgbClr val="111827"/>
                </a:solidFill>
              </a:defRPr>
            </a:pPr>
            <a:r>
              <a:rPr sz="2000" b="0">
                <a:solidFill>
                  <a:srgbClr val="111827"/>
                </a:solidFill>
                <a:latin typeface="Arial"/>
              </a:rPr>
              <a:t>Marks-weighted difficulty index on the 0-5 scale</a:t>
            </a:r>
            <a:endParaRPr sz="2000">
              <a:solidFill>
                <a:srgbClr val="111827"/>
              </a:solidFill>
            </a:endParaRP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